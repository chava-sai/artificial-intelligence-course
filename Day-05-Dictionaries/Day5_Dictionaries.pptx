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5. Yesterday: collections indexed by POSITION. Today: collections indexed by NAME. Frame it - a row of a spreadsheet is a dictionary, JSON from any web API is a dictionary, and a pandas DataFrame is built from them. This is the most important structure in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is the bridge - {} being a dict is the thing they were told to remember yesterday, and today it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the time for section 3. The counting and grouping idioms are what turn dictionaries from a definition into a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clearly. Students treat dicts as 'another collection'; they are the collection that matters most for data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'what is position 1?' question sells dictionaries in ten seconds. Ask the room before you show the dict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.get() as simply 'better'. The choice carries meaning: brackets say this key is required. That framing sticks.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setdefault is easy to skip but it sets up the grouping pattern later, so introduce it here rather than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88 in marks -&gt; False result surprises everyone. Run it. Then connect the ordering note back to yesterday's dict.fromkeys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view point matters because 'RuntimeError: dictionary changed size during iteration' is a real error they will hit. list(d.keys()) is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KeyError version first, let them feel the problem, then give .get(w, 0). Introducing Counter too early stops them learning the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setdefault().append() slowly, left to right - it is dense. The defaults-then-user-settings merge order is a genuinely useful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.get(k, {}).get(k2) chain looks odd until you say it out loud: 'if the outer key is missing, hand me an empty dict so the next lookup still works'.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finally justifies tuples from yesterday. Students who asked 'why would I ever use a tuple?' get their answer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 slide. Grouping rows 1, 2 and 8 makes eight rows feel like five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book.setdefault(name, {})[subject] = mark is the densest line of the week. Break it into two statements on the board first, then compress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bottom line before releasing them - it pre-answers most questions in the next half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Flag that tomorrow's comprehensions will compress several of today's loops into single lines - they will recognise the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—  looking things up by name instead of by position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used everywhere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5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items does marks[1:4] give?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 —  the stop value is excluded.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nums after nums = nums.sort()?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1518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In-place methods return nothing.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sort() and sorted()?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564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changes the list; sorted() returns a new one.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 = a not a copy?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2976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name, same object. Use a.copy().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write an empty set?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51389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set()  —  because {} is an empty dictionary.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is the door into today: those curly braces belong to the dictionary.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accessing, KeyError and .get()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values, items — and what 'in' checks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patterns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Counting, grouping, merging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dictionaries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shapes, JSON, safe access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gradebook from raw records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3's counting and grouping patterns are the two you will reuse most often all year.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dictionaries and add, update and remove entries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safely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value without crashing when the key is missing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keys, values, or both at once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counting and grouping patterns on real, messy data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most important structure in the module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a spreadsheet is a dictionary. Data returned by any web API is a dictionary. A pandas DataFrame is built out of them, and every model you configure later takes its settings as one. Lists were the warm-up — this is the structure real data actually arrives in.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values, and safe access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delete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THE IDEA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dictionary maps a key to a value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things up by NAME, not by position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21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121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395728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3957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596896"/>
            <a:ext cx="548640" cy="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17520" y="2395728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7520" y="23957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"Ravi"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92608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9260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3127248"/>
            <a:ext cx="548640" cy="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17520" y="2926080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29260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45643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4564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"city"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3657600"/>
            <a:ext cx="548640" cy="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17520" y="3456432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17520" y="34564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"Pune"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39867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unique. Values can be anything, and can repeat.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1572768"/>
            <a:ext cx="4754880" cy="2834640"/>
          </a:xfrm>
          <a:prstGeom prst="roundRect">
            <a:avLst>
              <a:gd name="adj" fmla="val 29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114032" y="171907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list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114032" y="2103120"/>
            <a:ext cx="429768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78624" y="2212848"/>
            <a:ext cx="39684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- by position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["Ravi", 23, "Pune"]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student[1]        # 23, but of what?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14032" y="3182112"/>
            <a:ext cx="4297680" cy="1143000"/>
          </a:xfrm>
          <a:prstGeom prst="roundRect">
            <a:avLst>
              <a:gd name="adj" fmla="val 56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78624" y="3291840"/>
            <a:ext cx="39684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 - by 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"Ravi",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"age": 23,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"city": "Pune"}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student["age"]    # 23, unmistakably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4773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difference is not syntax — it is that the data explains itself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10235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list you must remember that position 1 holds the age. With a dictionary the data says so. Six months from now, reading your own code, that difference is the difference between understanding it and guessing.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ACCESS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dictionary and reading from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create 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600200"/>
          </a:xfrm>
          <a:prstGeom prst="roundRect">
            <a:avLst>
              <a:gd name="adj" fmla="val 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{"Python": 88, "Stats": 71}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= {}                    # empty dict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dict(name="Ravi", age=23) # keyword style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dict([("a", 1), ("b", 2)])# from pairs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dict.fromkeys(["a","b"], 0)  # Day 4!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missing key is a KeyError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600200"/>
          </a:xfrm>
          <a:prstGeom prst="roundRect">
            <a:avLst>
              <a:gd name="adj" fmla="val 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{"Python": 88, "Stats": 71}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marks["Python"]   -&gt;  88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marks["ML"]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KeyError: 'ML'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 stops your program. Not a warning.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16966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 is the safe way to read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535424"/>
            <a:ext cx="5212080" cy="1188720"/>
          </a:xfrm>
          <a:prstGeom prst="roundRect">
            <a:avLst>
              <a:gd name="adj" fmla="val 538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645152"/>
            <a:ext cx="4882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marks.get("ML")          -&gt;  None      no crash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marks.get("ML", 0)       -&gt;  0         your default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marks.get("Python", 0)   -&gt;  88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"ML" in marks            -&gt;  False     check first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517136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square brackets when the key must be there and its absence is a genuine bug you want to hear about. Use .get() with a default when the key is genuinely optional — reading a config setting, or a field a web API may not have sent. Choosing between them deliberately is what separates code that fails loudly from code that fails at 2am.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·  CHANGING A DICT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Adding, updating and removing entries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syntax does both add and update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{"Python": 88}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marks["Stats"] = 71     # key is new -&gt; ADDS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marks["Python"] = 92    # key exists -&gt; UPDATES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{'Python': 92, 'Stats': 71}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There is no warning on overwrite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{"a": 1}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d["a"] = 2        # the 1 is simply gone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 add ONLY if missing: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d.setdefault("a", 99)   # a stays 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d.setdefault("b", 99)   # b becomes 99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3474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key is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 d[key]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the 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d.pop(key)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it and return the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d.pop(key, None)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it, or give the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d.clear()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the whole dictionary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keys, values and pairs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'in' checks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keys · values · items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Looping over a dictionary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directly gives you the KEYS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2057400"/>
          </a:xfrm>
          <a:prstGeom prst="roundRect">
            <a:avLst>
              <a:gd name="adj" fmla="val 311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{"Python": 88, "Stats": 71}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subject in marks:          # keys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print(subject)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 in marks.values():       # values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print(m)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subject, m in marks.items():   # BOTH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print(subject, m)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items() is the one you will use most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371600"/>
          </a:xfrm>
          <a:prstGeom prst="roundRect">
            <a:avLst>
              <a:gd name="adj" fmla="val 4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subject, m in marks.items():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 = "pass" if m &gt;= 40 else "fail"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print(f"{subject:10} {m:3}  {status}")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35661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a (key, value) tuple, and the loop unpacks it — Day 4's tuple unpacking, doing real work. It is the same shape as enumerate() and zip() from Day 2.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" y="4617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'in' checks KEYS, never values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4672" y="4937760"/>
            <a:ext cx="49834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5047488"/>
            <a:ext cx="46542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 in marks           -&gt;  True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 in marks                 -&gt;  False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 in marks.values()        -&gt;  True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448056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65392" y="4617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keep insertion order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91947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Python 3.7, looping a dictionary gives keys back in the order you added them. Older tutorials will tell you dictionaries are unordered — that advice is out of date, and it is why dict.fromkeys() could deduplicate while keeping order yesterday.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&amp; Patterns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idioms you will reuse all year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reference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REFERENCE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 methods worth knowing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480560"/>
                <a:gridCol w="3474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get(k, default)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safely, never raises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d.get("ML", 0)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view of all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list(d.keys())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view of all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sum(d.values())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view of (key, value) pairs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k, v in d.items()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setdefault(k, v)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k, inserting v first if absent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d.setdefault("x", [])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update(other)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another dict in, overwriting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d.update({"a": 1})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pop(k, default)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and return the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d.pop("a", None)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shallow copy — Day 4's lesson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backup = d.copy()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1324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54126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keys(), values() and items() return VIEWS, not lists.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stays connected to the dictionary — add an entry and the view shows it. Wrap it in list() if you need a fixed snapshot, especially before modifying the dictionary you are looping over.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IDIOM ONE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counting pattern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does each item appear?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2057400"/>
          </a:xfrm>
          <a:prstGeom prst="roundRect">
            <a:avLst>
              <a:gd name="adj" fmla="val 3111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["a", "b", "a", "c", "a"]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{}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in words: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counts[w] = counts.get(w, 0) + 1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{'a': 3, 'b': 1, 'c': 1}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743200"/>
          </a:xfrm>
          <a:prstGeom prst="roundRect">
            <a:avLst>
              <a:gd name="adj" fmla="val 3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.get(w, 0) is the whole trick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65392" y="2103120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29984" y="2212848"/>
            <a:ext cx="44714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counts[w] = counts[w] + 1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KeyError on the FIRST time we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see any new word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32918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time a word appears there is nothing to add to. .get(w, 0) supplies a starting value of zero, so the very first count becomes 1. Without it you would need an if/else on every pass to check whether the key exists yet.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6268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a built-in for this — but write the loop first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956048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5065776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Counter(words)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Counter({'a': 3, 'b': 1, 'c': 1})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9377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does the same job in one line, and you should use it in real work. But write the manual loop at least a dozen times first — the pattern of “look up with a default, then update” appears everywhere, and Counter only solves this one instance of 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IDIOM TWO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grouping pattern, and merging dictionaries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items under a shared key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532120" cy="2148840"/>
          </a:xfrm>
          <a:prstGeom prst="roundRect">
            <a:avLst>
              <a:gd name="adj" fmla="val 2979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520293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 = [("maths", "Ravi"), ("cs", "Sara"),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("maths", "Amit")]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 = {}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subject, name in records: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groups.setdefault(subject, []).append(name)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print(groups)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{'maths': ['Ravi', 'Amit'], 'cs': ['Sara']}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572768"/>
            <a:ext cx="4754880" cy="2834640"/>
          </a:xfrm>
          <a:prstGeom prst="roundRect">
            <a:avLst>
              <a:gd name="adj" fmla="val 29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14032" y="171907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that middle line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10312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setdefault(subject, []) returns the list for that subject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subject is new, it inserts an empty list first, then returns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 you get a list back — so .append() always works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replaces a four-line if/else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60350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4700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two dictionaries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" y="4992624"/>
            <a:ext cx="5532120" cy="749808"/>
          </a:xfrm>
          <a:prstGeom prst="roundRect">
            <a:avLst>
              <a:gd name="adj" fmla="val 853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9264" y="5102352"/>
            <a:ext cx="5202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a.update(b)        # changes a in place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= {**a, **b}    # a new dict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merged = a | b         # Python 3.9+, cleanest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4572000"/>
            <a:ext cx="4754880" cy="1280160"/>
          </a:xfrm>
          <a:prstGeom prst="roundRect">
            <a:avLst>
              <a:gd name="adj" fmla="val 6429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14032" y="4700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 a clash, the right-hand side wins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501091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{"a": 1} | {"a": 2} gives {"a": 2}. Merging defaults with user settings? Put the user's dictionary second.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Dictionaries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real data arrives in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 inside dicts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dicts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deep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NESTING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dictionaries — how real data looks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03504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of dictionaries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5532120" cy="2240280"/>
          </a:xfrm>
          <a:prstGeom prst="roundRect">
            <a:avLst>
              <a:gd name="adj" fmla="val 285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520293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{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"ravi": {"age": 23, "marks": [88, 71]},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"sara": {"age": 22, "marks": [91, 84]},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students["ravi"]["age"]        -&gt;  23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students["ravi"]["marks"][0]   -&gt;  88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left to right: one step per bracket.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572768"/>
            <a:ext cx="4754880" cy="2926080"/>
          </a:xfrm>
          <a:prstGeom prst="roundRect">
            <a:avLst>
              <a:gd name="adj" fmla="val 281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14032" y="171907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dictionaries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14032" y="2103120"/>
            <a:ext cx="4297680" cy="1691640"/>
          </a:xfrm>
          <a:prstGeom prst="roundRect">
            <a:avLst>
              <a:gd name="adj" fmla="val 378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78624" y="2212848"/>
            <a:ext cx="39684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"Ravi", "mark": 88},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"Sara", "mark": 91},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rows: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print(r["name"], r["mark"])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387705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shape is what a CSV becomes, what a web API returns, and what pandas turns into a DataFrame.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791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access fails deep — chain .get() to stay safe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5084064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5193792"/>
            <a:ext cx="4882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students["neha"]["age"]      -&gt; KeyError: 'neha'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students.get("neha", {}).get("age")   -&gt; None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065776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{} default is the trick: if “neha” is missing you get an empty dictionary back, and calling .get() on that returns None instead of crashing.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KEY RULES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be a key?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immutable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" y="2103120"/>
            <a:ext cx="4983480" cy="1783080"/>
          </a:xfrm>
          <a:prstGeom prst="roundRect">
            <a:avLst>
              <a:gd name="adj" fmla="val 359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12848"/>
            <a:ext cx="465429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{"name": 1}        # str      ok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{42: 1}            # int      ok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{(3, 7): 1}        # tuple    ok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{True: 1}          # bool     ok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{[1, 2]: 1}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TypeError: unhashable type: 'list'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lists are refused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1031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finds a value by computing a number from the key. If the key could change afterwards, that number would no longer match and the value would be lost inside the dictionary.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30175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Python refuses anything that can change: lists, sets and dictionaries. This is the practical reason tuples exist — and why a tuple containing a list is also refused.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3525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have no such rule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681728"/>
            <a:ext cx="5212080" cy="960120"/>
          </a:xfrm>
          <a:prstGeom prst="roundRect">
            <a:avLst>
              <a:gd name="adj" fmla="val 666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4791456"/>
            <a:ext cx="488289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{"marks":  [88, 71, 64],      # a list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"meta":   {"term": 2},       # a dict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"tags":   {"cs", "maths"}}   # a set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6634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can be absolutely anything, including another dictionary — which is exactly what makes the nested structures on the previous slide possible. Only the keys are constrained.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dictionary bugs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474720"/>
                <a:gridCol w="3749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d["missing"]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KeyError, program stops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d.get("missing", default)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counts[w] = counts[w] + 1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 on the first sighting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counts.get(w, 0) + 1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 in marks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— 'in' checks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88 in marks.values()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= {[1,2]: "x"}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TypeError: unhashable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tuple as the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 = {}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dict, not a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set()  if you wanted a set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k in d: del d[k]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RuntimeError: changed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k in list(d):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=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names change together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= a.copy()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d["a"]["b"]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KeyError deep inside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d.get("a", {}).get("b")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1, 2 and 8 are all the same fix: reach for .get() whenever a key might not be there. All eight are in today's practice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a gradebook from raw records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520440"/>
          </a:xfrm>
          <a:prstGeom prst="roundRect">
            <a:avLst>
              <a:gd name="adj" fmla="val 181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 = [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("ravi", "python", 88), ("sara", "python", 91),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("ravi", "stats", 71),  ("amit", "python", 64),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("sara", "stats", 84),  ("ravi", "ml", 90),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build_gradebook(rows):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"""Group (student, subject, mark) rows by student."""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 = {}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subject, mark in rows:      # unpack the tuple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book.setdefault(name, {})[subject] = mark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book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= build_gradebook(records)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subjects in book.items():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marks = subjects.values()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  = sum(marks) / len(marks)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print(f"{name:6} {len(marks)} subjects   avg {avg:.1f}")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print("Ravi's stats mark:", book["ravi"].get("stats"))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print("Amit's ml mark   :", book["amit"].get("ml", "not taken"))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700784"/>
            <a:ext cx="128016" cy="310896"/>
          </a:xfrm>
          <a:prstGeom prst="roundRect">
            <a:avLst>
              <a:gd name="adj" fmla="val 3571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1627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dict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865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subject → mark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06640" y="2240280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368296"/>
            <a:ext cx="128016" cy="310896"/>
          </a:xfrm>
          <a:prstGeom prst="roundRect">
            <a:avLst>
              <a:gd name="adj" fmla="val 35714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295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setdefault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5328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inner dict on demand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2907792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3035808"/>
            <a:ext cx="128016" cy="310896"/>
          </a:xfrm>
          <a:prstGeom prst="roundRect">
            <a:avLst>
              <a:gd name="adj" fmla="val 3571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962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unpacking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names from one row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0" y="3575304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703320"/>
            <a:ext cx="128016" cy="310896"/>
          </a:xfrm>
          <a:prstGeom prst="roundRect">
            <a:avLst>
              <a:gd name="adj" fmla="val 35714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36301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3867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names and marks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06640" y="4242816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4370832"/>
            <a:ext cx="128016" cy="310896"/>
          </a:xfrm>
          <a:prstGeom prst="roundRect">
            <a:avLst>
              <a:gd name="adj" fmla="val 35714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4297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.values()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4535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straight into sum()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06640" y="4910328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5038344"/>
            <a:ext cx="128016" cy="310896"/>
          </a:xfrm>
          <a:prstGeom prst="roundRect">
            <a:avLst>
              <a:gd name="adj" fmla="val 35714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4965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 default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818120" y="5202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taken” instead of a crash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961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flat rows become a structure you can query by name — the same reshaping pandas does for you later.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KeyError, .get(), 'in', ordering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keys, counting, mutation while looping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Counting, grouping, inverting, filtering, merging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lookup, word frequency report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Day5_Practice_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dict after each step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could this key be missing?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today's errors are one word long: KeyError. Whenever a key might not be there, reach for .get().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maps a unique key to a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d[key] raises KeyError; d.get(key, default) never does.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d[key] = value adds when new, overwrites when not.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a dict gives you the KEYS.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items() gives (key, value) pairs — use it most.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'in' checks keys. Use .values() to search values.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Counting:  counts[k] = counts.get(k, 0) + 1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 d.setdefault(k, []).append(v)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Merging: the right-hand side wins on a clash.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immutable; values can be anything.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keep insertion order (Python 3.7+).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add or delete while looping — loop over list(d).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letters in a sentence  ·  Invert a dictionary so values become keys  ·  Extend the gradebook with a top_student() function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1.6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Comprehensions:  one-line list, dict and set comprehensions, with conditions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5 - Dictionaries</dc:title>
  <dc:subject>PptxGenJS Presentation</dc:subject>
  <dc:creator>Data Science Program</dc:creator>
  <cp:lastModifiedBy>Data Science Program</cp:lastModifiedBy>
  <cp:revision>1</cp:revision>
  <dcterms:created xsi:type="dcterms:W3CDTF">2026-09-07T04:30:38Z</dcterms:created>
  <dcterms:modified xsi:type="dcterms:W3CDTF">2026-09-07T04:30:38Z</dcterms:modified>
</cp:coreProperties>
</file>