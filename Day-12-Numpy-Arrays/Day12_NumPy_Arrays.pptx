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12. The second half of Module 1 begins. Everything from here uses libraries, and NumPy is the foundation every one of them sits on - pandas, scikit-learn, TensorFlow all store their numbers in NumPy arrays.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 the transition. Days 1-11 built the language; from here they use it to drive libraries.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Protect the time for section 3. Views versus copies is the single highest-value idea in this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shift explicitly. Students who keep writing loops over arrays have learned the syntax and missed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timing comparison live - the numbers are more persuasive than the explanation. Then call back to the Day 2 slide explicitly; several students will remember the promise.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silent truncation surprises everyone. Run it. It is the first sign that dtype is something you have to think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double brackets on zeros((2,3)) trip up nearly everyone once. Day 4's tuples, doing real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them to print .shape as a reflex whenever something breaks. It resolves most NumPy and pandas errors in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brisk - it is revision. The time saved goes into the views slide, which is genuinely new.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both versions side by side. The list behaving one way and the array the other is what makes it stick. This is the slide to slow down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Drill m[:, 0] versus m[0]. Row versus column is the most common confusion, and it persists into pandas if not fixed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Day 1's comparison operators applied to a whole array at once. Say that explicitly - the operator is unchanged, only the operand got bigger.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reshape(-1, 1) to make a column is worth flagging - scikit-learn demands that shape constantly in Module 3 and the error message is unhelpful.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 6 is subtle: &amp; has higher precedence than the comparisons, so without brackets Python evaluates 1 &amp; x first. Day 1's precedence lesson, biting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axis is the hardest idea here. axis=0 collapses the rows, axis=1 collapses the columns. Draw the arrow on the board in the direction the axis disappears.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Those two checks cover most of what goes wrong in the next half hour.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twelve lines aloud. Tomorrow explains WHY marks * 2 works on a whole array, which today only demonstrated.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D3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A2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DATA SCIENCE  ·  MODULE 1  ·  TOPIC 1.11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NumPy: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 &amp; Indexing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 —  where the loops start disappearing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4128" y="4626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min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5029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+ live code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452628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67328" y="4626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min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767328" y="5029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notebook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452628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0528" y="4626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5029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import: numpy as np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98280" y="1371600"/>
            <a:ext cx="25146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0" descr="/home/claude/day12/b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1737360"/>
            <a:ext cx="1911096" cy="178308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98280" y="3977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University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5806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&amp; presented by  </a:t>
            </a:r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 ·  5 MINUTES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we start — five questions from Day 11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746504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7393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you start reading a traceback?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77393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  —  it names the error.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14016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587752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6151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wrong with  except: pass  ?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615184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bug becomes invisible. Count it or log it.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255264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429000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45643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specific except blocks go first?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45643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match wins, so a general one hides the rest.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09651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270248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29768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finally run?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429768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 —  even after a return or an uncaught raise.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93776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111496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111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13892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 from x import *  never right?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513892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silently shadows your own names.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8521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closes the pure-Python half of Module 1. From today, every session begins with an import.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today's two hours are structured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3911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8745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NumPy at all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2402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wrong with a plain list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9672" y="203911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9672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18745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arrays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22402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array, arange, linspace, zeros, ones, random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42416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36499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3200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&amp; slicing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566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1-D, 2-D, boolean masks — and views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301752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19672" y="336499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19672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3200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Reshaping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3566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reshape, flatten, transpose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42416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34340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4672" y="4690872"/>
            <a:ext cx="420624" cy="420624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" y="4690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4526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build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1417320" y="4892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analysis without a single loop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709160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63640" y="434340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519672" y="4690872"/>
            <a:ext cx="420624" cy="42062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19672" y="4690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0" y="4526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notebook</a:t>
            </a:r>
            <a:endParaRPr lang="en-US" sz="1550" dirty="0"/>
          </a:p>
        </p:txBody>
      </p:sp>
      <p:sp>
        <p:nvSpPr>
          <p:cNvPr id="39" name="Text 37"/>
          <p:cNvSpPr txBox="1"/>
          <p:nvPr/>
        </p:nvSpPr>
        <p:spPr>
          <a:xfrm>
            <a:off x="7132320" y="4892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code, I walk around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10424160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contains the one NumPy behaviour that will surprise you most — a slice is not a copy.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will be able 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arrays from lists, ranges, and generated values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10712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66744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66744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66744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66744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 array's shape, size and dtype, and know why they matter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2784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28816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28816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28816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28816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and slice in 1-D and 2-D, and filter with a boolean mask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34856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90888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90888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390888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390888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an array's shape without changing its data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70916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68680" y="486460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in thinking today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519379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now, to do something to every number you wrote a loop. From today you describe the operation and NumPy applies it to the whole array at once. The loops do not just get shorter — they disappear. Getting comfortable with that is worth more than memorising any function name.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NumPy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wrong with a plain list  ·  15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ndarray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·  MOTIVATION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list is flexible. That flexibility is the problem.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0" cy="2651760"/>
          </a:xfrm>
          <a:prstGeom prst="roundRect">
            <a:avLst>
              <a:gd name="adj" fmla="val 3103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 a million numbers with a list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4983480" cy="1371600"/>
          </a:xfrm>
          <a:prstGeom prst="roundRect">
            <a:avLst>
              <a:gd name="adj" fmla="val 466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212848"/>
            <a:ext cx="465429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 = list(range(1_000_000))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doubled = []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nums: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doubled.append(n * 2)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5661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checks the type of every single element, one at a time, a million times. Each number is a separate object scattered across memory.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572768"/>
            <a:ext cx="5303520" cy="2651760"/>
          </a:xfrm>
          <a:prstGeom prst="roundRect">
            <a:avLst>
              <a:gd name="adj" fmla="val 3103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65392" y="171907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job in NumPy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565392" y="2103120"/>
            <a:ext cx="4800600" cy="1371600"/>
          </a:xfrm>
          <a:prstGeom prst="roundRect">
            <a:avLst>
              <a:gd name="adj" fmla="val 466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9984" y="2212848"/>
            <a:ext cx="44714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 = np.arange(1_000_000)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doubled = nums * 2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565392" y="35661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line, no loop — and typically 20 to 50 times faster. Every element is the same type, stored in one continuous block, so the work happens in compiled C.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1106424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2960" y="44988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Day 2's warning about nested loops?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809744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nested loops over 1,000 items is a million iterations, and three levels is a billion. That slide ended with “this is exactly why NumPy's vectorised operations exist”. This is that moment. The loop has not been made faster — it has been moved out of Python entirely.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·  WHAT AN ARRAY IS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ndarray — one type, one block of memory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can hold anything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4983480" cy="822960"/>
          </a:xfrm>
          <a:prstGeom prst="roundRect">
            <a:avLst>
              <a:gd name="adj" fmla="val 7778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212848"/>
            <a:ext cx="4654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"two", 3.0, True, None]     # all fine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017520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holds ONE type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" y="3383280"/>
            <a:ext cx="4983480" cy="685800"/>
          </a:xfrm>
          <a:prstGeom prst="roundRect">
            <a:avLst>
              <a:gd name="adj" fmla="val 9333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9264" y="3493008"/>
            <a:ext cx="46542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np.array([1, 2, 3])      dtype: int64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np.array([1, 2, 3.5])    dtype: float64  &lt;- all promoted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572768"/>
            <a:ext cx="5303520" cy="2377440"/>
          </a:xfrm>
          <a:prstGeom prst="roundRect">
            <a:avLst>
              <a:gd name="adj" fmla="val 3462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65392" y="171907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that buys you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210312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per-element type checking — the type is known once, for the whole array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Contiguous memory, so the processor can work on many values at a time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written in C, not in Python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11064240" cy="1645920"/>
          </a:xfrm>
          <a:prstGeom prst="roundRect">
            <a:avLst>
              <a:gd name="adj" fmla="val 5000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68680" y="435254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cost of that speed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8680" y="4681728"/>
            <a:ext cx="5212080" cy="1005840"/>
          </a:xfrm>
          <a:prstGeom prst="roundRect">
            <a:avLst>
              <a:gd name="adj" fmla="val 6364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33272" y="4791456"/>
            <a:ext cx="48828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np.array([1, 2, 3])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a[0] = 3.9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         -&gt;  array([3, 2, 3])   truncated!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a.append(4)  -&gt;  AttributeError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66344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 array stores integers, so assigning 3.9 silently truncates it to 3 — no warning at all. And an array has a fixed size: there is no append. If you need to grow a collection, build a Python list first and convert it once at the end.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Arrays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ways in  ·  25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list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arange &amp; linspace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zeros, ones, full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dtype &amp; attributes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·  CREATION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ways to make an array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  <a:gridCol w="4663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np.array([1, 2, 3])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[1 2 3]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you already have in a 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np.arange(0, 10, 2)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[0 2 4 6 8]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range — stop is EXCLUDED, like range()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np.linspace(0, 1, 5)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[0. 0.25 0.5 0.75 1.]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evenly spaced points — stop INCLUDED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np.zeros((2, 3))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2x3 of 0.0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container to fill in later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np.ones((2, 3))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2x3 of 1.0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same, or a starting multiplier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np.random.rand(3)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 values in [0, 1)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data and simulations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617720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4672" y="4754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arange excludes, linspace includes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04672" y="5047488"/>
            <a:ext cx="4983480" cy="658368"/>
          </a:xfrm>
          <a:prstGeom prst="roundRect">
            <a:avLst>
              <a:gd name="adj" fmla="val 9722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9264" y="5157216"/>
            <a:ext cx="4654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np.arange(0, 1, 0.25)   -&gt; [0.   0.25 0.5  0.75]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np.linspace(0, 1, 5)    -&gt; [0.   0.25 0.5  0.75 1.  ]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309360" y="4617720"/>
            <a:ext cx="5303520" cy="1234440"/>
          </a:xfrm>
          <a:prstGeom prst="roundRect">
            <a:avLst>
              <a:gd name="adj" fmla="val 6667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565392" y="4754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 are TUPLES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565392" y="5047488"/>
            <a:ext cx="4800600" cy="658368"/>
          </a:xfrm>
          <a:prstGeom prst="roundRect">
            <a:avLst>
              <a:gd name="adj" fmla="val 9722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729984" y="5157216"/>
            <a:ext cx="4471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np.zeros((2, 3))     correct  - one tuple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np.zeros(2, 3)       TypeError - two arguments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·  ATTRIBUTES &amp; dtype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every array can tell you about itself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76072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783080"/>
            <a:ext cx="5257800" cy="914400"/>
          </a:xfrm>
          <a:prstGeom prst="roundRect">
            <a:avLst>
              <a:gd name="adj" fmla="val 700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9264" y="1892808"/>
            <a:ext cx="49286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np.array([[1, 2, 3],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[4, 5, 6]])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2834640"/>
          <a:ext cx="52578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234440"/>
                <a:gridCol w="24688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a.shape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(2, 3)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rows, 3 columns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a.ndim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dimensions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a.size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elements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a.dtype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int64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of every element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583680" y="1572768"/>
            <a:ext cx="5029200" cy="2743200"/>
          </a:xfrm>
          <a:prstGeom prst="roundRect">
            <a:avLst>
              <a:gd name="adj" fmla="val 3000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839712" y="1719072"/>
            <a:ext cx="4480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is the one you will use most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6839712" y="210312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error you meet in the next six weeks will be a shape mismatch — two things you tried to combine that were not the same size. Printing .shape is the first thing to do when something does not work.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839712" y="3108960"/>
            <a:ext cx="4526280" cy="1097280"/>
          </a:xfrm>
          <a:prstGeom prst="roundRect">
            <a:avLst>
              <a:gd name="adj" fmla="val 5833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004304" y="3218688"/>
            <a:ext cx="41970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print(a.shape)      # (2, 3)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print(b.shape)      # (3, 2)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b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ValueError: operands could not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be broadcast together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4526280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68680" y="46634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type: astype makes a COPY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68680" y="4956048"/>
            <a:ext cx="5212080" cy="731520"/>
          </a:xfrm>
          <a:prstGeom prst="roundRect">
            <a:avLst>
              <a:gd name="adj" fmla="val 875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33272" y="5065776"/>
            <a:ext cx="4882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np.array([1.7, 2.9])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a.astype(int)    -&gt;  [1 2]   truncated, new array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np.array([1, 2], dtype=float)  # set it up front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0" y="493776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astype returns a new array and leaves the original alone — unlike almost everything else today. Setting dtype at creation is usually cleaner than converting afterwards, and it makes your intent obvious to a reader.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Indexing &amp; Slicing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the one that surprises everyone  ·  30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not copies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masks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Fancy indexing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·  ONE DIMENSION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1-D indexing works exactly like a list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np.array([10, 20, 30, 40, 50])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371600" y="2194560"/>
            <a:ext cx="960120" cy="548640"/>
          </a:xfrm>
          <a:prstGeom prst="roundRect">
            <a:avLst>
              <a:gd name="adj" fmla="val 8333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21945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386584" y="2194560"/>
            <a:ext cx="960120" cy="548640"/>
          </a:xfrm>
          <a:prstGeom prst="roundRect">
            <a:avLst>
              <a:gd name="adj" fmla="val 8333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86584" y="21945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01568" y="2194560"/>
            <a:ext cx="960120" cy="548640"/>
          </a:xfrm>
          <a:prstGeom prst="roundRect">
            <a:avLst>
              <a:gd name="adj" fmla="val 8333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01568" y="21945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16552" y="2194560"/>
            <a:ext cx="960120" cy="548640"/>
          </a:xfrm>
          <a:prstGeom prst="roundRect">
            <a:avLst>
              <a:gd name="adj" fmla="val 8333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16552" y="21945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31536" y="2194560"/>
            <a:ext cx="960120" cy="548640"/>
          </a:xfrm>
          <a:prstGeom prst="roundRect">
            <a:avLst>
              <a:gd name="adj" fmla="val 8333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31536" y="21945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277977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298094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386584" y="277977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2386584" y="298094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401568" y="277977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401568" y="298094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416552" y="277977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416552" y="298094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431536" y="277977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431536" y="298094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949440" y="2194560"/>
            <a:ext cx="4389120" cy="1280160"/>
          </a:xfrm>
          <a:prstGeom prst="roundRect">
            <a:avLst>
              <a:gd name="adj" fmla="val 500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14032" y="2304288"/>
            <a:ext cx="405993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a[0]      -&gt;  10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a[-1]     -&gt;  50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a[1:4]    -&gt;  [20 30 40]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a[::2]    -&gt;  [10 30 50]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a[::-1]   -&gt;  [50 40 30 20 10]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886200"/>
            <a:ext cx="11064240" cy="1965960"/>
          </a:xfrm>
          <a:prstGeom prst="roundRect">
            <a:avLst>
              <a:gd name="adj" fmla="val 4186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68680" y="404164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Day 4 carries over unchanged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" y="437083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Zero-based positions, negative indexes from the end, start:stop:step with the stop excluded, and [::-1] to reverse. You already know all of it — which is why this slide is short and the next one is not.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68680" y="4956048"/>
            <a:ext cx="10424160" cy="731520"/>
          </a:xfrm>
          <a:prstGeom prst="roundRect">
            <a:avLst>
              <a:gd name="adj" fmla="val 875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33272" y="5065776"/>
            <a:ext cx="10094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a[7]        -&gt;  IndexError: index 7 is out of bounds for axis 0 with size 5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a[1:99]     -&gt;  [20 30 40 50]        slicing still never raises, exactly as with a list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·  THE ONE THAT SURPRISES EVERYONE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NumPy slice is a VIEW, not a copy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0" cy="2606040"/>
          </a:xfrm>
          <a:prstGeom prst="roundRect">
            <a:avLst>
              <a:gd name="adj" fmla="val 3158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how lists behave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4983480" cy="960120"/>
          </a:xfrm>
          <a:prstGeom prst="roundRect">
            <a:avLst>
              <a:gd name="adj" fmla="val 666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212848"/>
            <a:ext cx="465429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 = [1, 2, 3, 4]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= lst[1:3]      # a COPY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part[0] = 99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    -&gt;  [1, 2, 3, 4]     unchanged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04672" y="3154680"/>
            <a:ext cx="4983480" cy="960120"/>
          </a:xfrm>
          <a:prstGeom prst="roundRect">
            <a:avLst>
              <a:gd name="adj" fmla="val 666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9264" y="3264408"/>
            <a:ext cx="465429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 = np.array([1, 2, 3, 4])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= arr[1:3]      # a VIEW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part[0] = 99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    -&gt;  [ 1 99  3  4]    CHANGED!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1572768"/>
            <a:ext cx="5303520" cy="2606040"/>
          </a:xfrm>
          <a:prstGeom prst="roundRect">
            <a:avLst>
              <a:gd name="adj" fmla="val 3158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65392" y="171907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NumPy does this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65392" y="21031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Copying a slice of a 10 GB array would mean copying gigabytes of data. A view is just a new window onto the same memory — it costs nothing and is instant.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565392" y="2926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want a real copy, say so: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65392" y="3218688"/>
            <a:ext cx="4800600" cy="868680"/>
          </a:xfrm>
          <a:prstGeom prst="roundRect">
            <a:avLst>
              <a:gd name="adj" fmla="val 7368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29984" y="3328416"/>
            <a:ext cx="447141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= arr[1:3].copy()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arr.base is None      # True for an original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part.base is arr      # True for a view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11064240" cy="1554480"/>
          </a:xfrm>
          <a:prstGeom prst="roundRect">
            <a:avLst>
              <a:gd name="adj" fmla="val 5294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68680" y="444398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sixth appearance of one idea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773168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1's  c = a  ·  Day 3's mutable default argument  ·  Day 3's mutable argument  ·  Day 4's  b = a  ·  Day 7's shared class attribute  ·  and now a NumPy view. Every one is the same sentence: two names, one piece of data. What is new today is that even SLICING now shares — so the habit of writing .copy() when you mean a copy matters more here than anywhere else in the course.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·  2-D INDEXING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dimensions: [row, column]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76072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np.array([[1,2,3], [4,5,6], [7,8,9]])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37360" y="2103120"/>
            <a:ext cx="658368" cy="457200"/>
          </a:xfrm>
          <a:prstGeom prst="roundRect">
            <a:avLst>
              <a:gd name="adj" fmla="val 10000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37360" y="210312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50592" y="2103120"/>
            <a:ext cx="658368" cy="457200"/>
          </a:xfrm>
          <a:prstGeom prst="roundRect">
            <a:avLst>
              <a:gd name="adj" fmla="val 10000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50592" y="210312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63824" y="2103120"/>
            <a:ext cx="658368" cy="457200"/>
          </a:xfrm>
          <a:prstGeom prst="roundRect">
            <a:avLst>
              <a:gd name="adj" fmla="val 10000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63824" y="210312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737360" y="2615184"/>
            <a:ext cx="658368" cy="457200"/>
          </a:xfrm>
          <a:prstGeom prst="roundRect">
            <a:avLst>
              <a:gd name="adj" fmla="val 10000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737360" y="2615184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50592" y="2615184"/>
            <a:ext cx="658368" cy="457200"/>
          </a:xfrm>
          <a:prstGeom prst="roundRect">
            <a:avLst>
              <a:gd name="adj" fmla="val 10000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450592" y="2615184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63824" y="2615184"/>
            <a:ext cx="658368" cy="457200"/>
          </a:xfrm>
          <a:prstGeom prst="roundRect">
            <a:avLst>
              <a:gd name="adj" fmla="val 10000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63824" y="2615184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737360" y="3127248"/>
            <a:ext cx="658368" cy="457200"/>
          </a:xfrm>
          <a:prstGeom prst="roundRect">
            <a:avLst>
              <a:gd name="adj" fmla="val 10000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737360" y="3127248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450592" y="3127248"/>
            <a:ext cx="658368" cy="457200"/>
          </a:xfrm>
          <a:prstGeom prst="roundRect">
            <a:avLst>
              <a:gd name="adj" fmla="val 10000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450592" y="3127248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163824" y="3127248"/>
            <a:ext cx="658368" cy="457200"/>
          </a:xfrm>
          <a:prstGeom prst="roundRect">
            <a:avLst>
              <a:gd name="adj" fmla="val 10000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163824" y="3127248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737360" y="182880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221284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2450592" y="182880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272491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163824" y="182880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323697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3977640" y="2606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m[1, 1] is 5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04672" y="3703320"/>
            <a:ext cx="5257800" cy="658368"/>
          </a:xfrm>
          <a:prstGeom prst="roundRect">
            <a:avLst>
              <a:gd name="adj" fmla="val 9722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69264" y="3813048"/>
            <a:ext cx="4928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m[1, 1]     -&gt;  5        preferred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m[1][1]     -&gt;  5        works, but slower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583680" y="1572768"/>
            <a:ext cx="5029200" cy="2834640"/>
          </a:xfrm>
          <a:prstGeom prst="roundRect">
            <a:avLst>
              <a:gd name="adj" fmla="val 2903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6839712" y="1719072"/>
            <a:ext cx="4480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both axes at once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6839712" y="2103120"/>
            <a:ext cx="4526280" cy="2194560"/>
          </a:xfrm>
          <a:prstGeom prst="roundRect">
            <a:avLst>
              <a:gd name="adj" fmla="val 291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004304" y="2212848"/>
            <a:ext cx="419709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m[0]        -&gt;  [1 2 3]      first row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m[:, 0]     -&gt;  [1 4 7]      first COLUMN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m[0:2, 1:]  -&gt;  [[2 3]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[5 6]]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m[-1, -1]   -&gt;  9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the comma separates the axes: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m[rows, columns]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a bare : means 'all of this axis'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" y="4526280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868680" y="47091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colon is the part to practise.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m[:, 0] reads as “every row, column 0” — which is how you pull a single column out of a table. In three sessions that becomes df["age"] in pandas, and it is the same idea underneath. If you can read m[1:3, :2] aloud correctly, 2-D indexing is done.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 ·  FILTERING WITHOUT A LOOP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Boolean masking — the payoff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np.array([88, 35, 71, 22, 64])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88720" y="210312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57984" y="210312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D8DE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57984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9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27248" y="210312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27248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96512" y="210312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D8DE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096512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9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65776" y="210312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65776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11880" y="2670048"/>
            <a:ext cx="0" cy="228600"/>
          </a:xfrm>
          <a:prstGeom prst="line">
            <a:avLst/>
          </a:prstGeom>
          <a:noFill/>
          <a:ln w="25400">
            <a:solidFill>
              <a:srgbClr val="8FA0B6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1188720" y="26517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&gt;= 40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188720" y="2971800"/>
            <a:ext cx="914400" cy="411480"/>
          </a:xfrm>
          <a:prstGeom prst="roundRect">
            <a:avLst>
              <a:gd name="adj" fmla="val 11111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88720" y="2971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157984" y="2971800"/>
            <a:ext cx="914400" cy="411480"/>
          </a:xfrm>
          <a:prstGeom prst="roundRect">
            <a:avLst>
              <a:gd name="adj" fmla="val 11111"/>
            </a:avLst>
          </a:prstGeom>
          <a:solidFill>
            <a:srgbClr val="E867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157984" y="2971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127248" y="2971800"/>
            <a:ext cx="914400" cy="411480"/>
          </a:xfrm>
          <a:prstGeom prst="roundRect">
            <a:avLst>
              <a:gd name="adj" fmla="val 11111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127248" y="2971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096512" y="2971800"/>
            <a:ext cx="914400" cy="411480"/>
          </a:xfrm>
          <a:prstGeom prst="roundRect">
            <a:avLst>
              <a:gd name="adj" fmla="val 11111"/>
            </a:avLst>
          </a:prstGeom>
          <a:solidFill>
            <a:srgbClr val="E867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096512" y="2971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65776" y="2971800"/>
            <a:ext cx="914400" cy="411480"/>
          </a:xfrm>
          <a:prstGeom prst="roundRect">
            <a:avLst>
              <a:gd name="adj" fmla="val 11111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65776" y="2971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0" y="2103120"/>
            <a:ext cx="4937760" cy="1371600"/>
          </a:xfrm>
          <a:prstGeom prst="roundRect">
            <a:avLst>
              <a:gd name="adj" fmla="val 466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65392" y="2212848"/>
            <a:ext cx="460857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&gt;= 40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 [ True False  True False  True]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marks[marks &gt;= 40]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 [88 71 64]      only the passes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023360"/>
            <a:ext cx="5486400" cy="1828800"/>
          </a:xfrm>
          <a:prstGeom prst="roundRect">
            <a:avLst>
              <a:gd name="adj" fmla="val 4500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804672" y="4169664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conditions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804672" y="4535424"/>
            <a:ext cx="4983480" cy="1143000"/>
          </a:xfrm>
          <a:prstGeom prst="roundRect">
            <a:avLst>
              <a:gd name="adj" fmla="val 560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69264" y="4645152"/>
            <a:ext cx="465429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marks[(marks &gt;= 40) &amp; (marks &lt; 80)]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 [71 64]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&amp;  is and      |  is or      ~  is not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BRACKETS around each condition are required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09360" y="4023360"/>
            <a:ext cx="5303520" cy="1828800"/>
          </a:xfrm>
          <a:prstGeom prst="roundRect">
            <a:avLst>
              <a:gd name="adj" fmla="val 4500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6565392" y="4169664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Not  and  /  or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6565392" y="4535424"/>
            <a:ext cx="4800600" cy="777240"/>
          </a:xfrm>
          <a:prstGeom prst="roundRect">
            <a:avLst>
              <a:gd name="adj" fmla="val 823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729984" y="4645152"/>
            <a:ext cx="44714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marks[(marks &gt;= 40) and (marks &lt; 80)]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ValueError: truth value of an array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with more than one element is ambiguous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6565392" y="53949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and/or want a single True or False. An array of five booleans is neither, so NumPy refuses to guess.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Reshaping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different shape  ·  15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-1 trick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&amp; ravel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transpose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·  RESHAPE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Changing shape without changing data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np.arange(6)          a.reshape(2, 3)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148840"/>
            <a:ext cx="566928" cy="411480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14884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536192" y="2148840"/>
            <a:ext cx="566928" cy="411480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36192" y="214884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57984" y="2148840"/>
            <a:ext cx="566928" cy="411480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57984" y="214884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79776" y="2148840"/>
            <a:ext cx="566928" cy="411480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79776" y="214884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01568" y="2148840"/>
            <a:ext cx="566928" cy="411480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01568" y="214884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23360" y="2148840"/>
            <a:ext cx="566928" cy="411480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23360" y="214884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20640" y="2359152"/>
            <a:ext cx="640080" cy="0"/>
          </a:xfrm>
          <a:prstGeom prst="line">
            <a:avLst/>
          </a:prstGeom>
          <a:noFill/>
          <a:ln w="25400">
            <a:solidFill>
              <a:srgbClr val="8FA0B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35040" y="2148840"/>
            <a:ext cx="566928" cy="411480"/>
          </a:xfrm>
          <a:prstGeom prst="roundRect">
            <a:avLst>
              <a:gd name="adj" fmla="val 11111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35040" y="214884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56832" y="2148840"/>
            <a:ext cx="566928" cy="411480"/>
          </a:xfrm>
          <a:prstGeom prst="roundRect">
            <a:avLst>
              <a:gd name="adj" fmla="val 11111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56832" y="214884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78624" y="2148840"/>
            <a:ext cx="566928" cy="411480"/>
          </a:xfrm>
          <a:prstGeom prst="roundRect">
            <a:avLst>
              <a:gd name="adj" fmla="val 11111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78624" y="214884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2615184"/>
            <a:ext cx="566928" cy="411480"/>
          </a:xfrm>
          <a:prstGeom prst="roundRect">
            <a:avLst>
              <a:gd name="adj" fmla="val 11111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35040" y="2615184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56832" y="2615184"/>
            <a:ext cx="566928" cy="411480"/>
          </a:xfrm>
          <a:prstGeom prst="roundRect">
            <a:avLst>
              <a:gd name="adj" fmla="val 11111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56832" y="2615184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278624" y="2615184"/>
            <a:ext cx="566928" cy="411480"/>
          </a:xfrm>
          <a:prstGeom prst="roundRect">
            <a:avLst>
              <a:gd name="adj" fmla="val 11111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278624" y="2615184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14400" y="2633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(6,)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035040" y="306324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(2, 3)  —  same six numbers, read row by row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2960" y="3017520"/>
            <a:ext cx="4754880" cy="777240"/>
          </a:xfrm>
          <a:prstGeom prst="roundRect">
            <a:avLst>
              <a:gd name="adj" fmla="val 823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87552" y="3127248"/>
            <a:ext cx="44256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a.reshape(2, 3)     rows x columns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a.reshape(3, 2)     also fine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a.reshape(4, 2)     ValueError - 6 != 8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4023360"/>
            <a:ext cx="5486400" cy="1828800"/>
          </a:xfrm>
          <a:prstGeom prst="roundRect">
            <a:avLst>
              <a:gd name="adj" fmla="val 4500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804672" y="4169664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-1 trick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804672" y="4535424"/>
            <a:ext cx="4983480" cy="1143000"/>
          </a:xfrm>
          <a:prstGeom prst="roundRect">
            <a:avLst>
              <a:gd name="adj" fmla="val 560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69264" y="4645152"/>
            <a:ext cx="465429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a.reshape(2, -1)    -&gt;  (2, 3)   work it out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a.reshape(-1, 1)    -&gt;  (6, 1)   a column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a.reshape(-1)       -&gt;  (6,)     flat again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-1 means 'you figure out this one'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309360" y="4023360"/>
            <a:ext cx="53035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6565392" y="4169664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Flattening and transposing</a:t>
            </a:r>
            <a:endParaRPr lang="en-US" sz="1450" dirty="0"/>
          </a:p>
        </p:txBody>
      </p:sp>
      <p:sp>
        <p:nvSpPr>
          <p:cNvPr id="42" name="Shape 40"/>
          <p:cNvSpPr/>
          <p:nvPr/>
        </p:nvSpPr>
        <p:spPr>
          <a:xfrm>
            <a:off x="6565392" y="4535424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729984" y="4645152"/>
            <a:ext cx="447141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m.flatten()   1-D, always a COPY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m.ravel()     1-D, a VIEW when it can be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m.T           transpose: rows become columns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reshape also returns a VIEW when possible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corner — eight NumPy bugs</a:t>
            </a:r>
            <a:endParaRPr lang="en-US" sz="3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3657600"/>
                <a:gridCol w="32918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wrote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np.zeros(2, 3)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np.zeros((2, 3))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part = arr[1:3]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changing part changes arr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arr[1:3].copy()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arr.append(4)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AttributeError — fixed 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 list, convert at the 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a[0] = 3.9  on an int array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silently stores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dtype=float  at creation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(x &gt; 1) and (x &lt; 5)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ValueError: ambiguous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(x &gt; 1) &amp; (x &lt; 5)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&gt; 1 &amp; x &lt; 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answer — &amp; binds tighter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bracket each condition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m[1][1]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works, but slower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m[1, 1]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a.reshape(4, 2)  on 6 items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ValueError — size must match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a.reshape(2, -1)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5955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56875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2 is the one that will cost you an afternoon. All eight are in today's practice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·  MINI BUILD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 — marks analysis, no loops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58368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783080"/>
            <a:ext cx="6080760" cy="3931920"/>
          </a:xfrm>
          <a:prstGeom prst="roundRect">
            <a:avLst>
              <a:gd name="adj" fmla="val 1628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9264" y="1892808"/>
            <a:ext cx="5751576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 students x 3 subjects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np.array([[88, 71, 64],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[91, 84, 79],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[45, 38, 52],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[67, 73, 70],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[95, 88, 92],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[30, 41, 35]])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print("shape        :", marks.shape)      # (6, 3)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student_avg = marks.mean(axis=1)          # across COLUMNS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subject_avg = marks.mean(axis=0)          # down ROWS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print("per student  :", student_avg.round(1))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print("per subject  :", subject_avg.round(1))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 = student_avg &gt;= 40                # a boolean mask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print("pass count   :", passed.sum())     # True counts as 1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print("top average  :", student_avg.max().round(1))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python_marks = marks[:, 0]                # first column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print("python &gt; 80  :", python_marks[python_marks &gt; 80])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406640" y="1572768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62088" y="1673352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90688" y="1609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array, no loops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90688" y="182880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rows handled at once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06640" y="2148840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562088" y="2249424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90688" y="21854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axis=1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790688" y="240487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columns — per student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0" y="2724912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62088" y="2825496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90688" y="27614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axis=0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790688" y="298094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the rows — per subject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06640" y="3300984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62088" y="3401568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90688" y="33375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mask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790688" y="355701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1's &gt;= on a whole array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406640" y="3877056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62088" y="3977640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90688" y="3913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.sum() on booleans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790688" y="413308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 True counts as 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406640" y="4453128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62088" y="4553712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90688" y="448970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m[:, 0]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790688" y="470916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row, column 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406640" y="5029200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562088" y="5129784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90688" y="50657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Chained filter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790688" y="528523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a column you extracted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9984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Day 2 this would have been four nested loops. Remember axis=1 as “across” and axis=0 as “down”.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TO YOU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session — 30 minutes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38528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013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output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148840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Creation, dtype, views, masks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9476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questions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715768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962656"/>
            <a:ext cx="420624" cy="420624"/>
          </a:xfrm>
          <a:prstGeom prst="ellipse">
            <a:avLst/>
          </a:prstGeom>
          <a:solidFill>
            <a:srgbClr val="E8674C"/>
          </a:solidFill>
          <a:ln w="12700">
            <a:solidFill>
              <a:srgbClr val="E867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962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8254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&amp; fix the bug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17296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tuples, views, and/or, reshape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questions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39896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3986784"/>
            <a:ext cx="420624" cy="420624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38496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code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197096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slice, filter, reshape, columns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39959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tasks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764024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5010912"/>
            <a:ext cx="420624" cy="42062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010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4873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5221224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 class, normalise a matrix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50200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tasks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12480" y="1691640"/>
            <a:ext cx="3200400" cy="2971800"/>
          </a:xfrm>
          <a:prstGeom prst="roundRect">
            <a:avLst>
              <a:gd name="adj" fmla="val 2769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686800" y="18470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notebook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0" y="221284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E7C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Day12_Practice_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E7C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Questions.ipynb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796528" y="2926080"/>
            <a:ext cx="2651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.shape when stuck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view or copy?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 hand — I am walking around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shared after class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68680" y="5120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array changed and you did not expect it to, you were holding a view. If shapes will not combine, print both .shape values first.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9966960" y="4480560"/>
            <a:ext cx="3840480" cy="3840480"/>
          </a:xfrm>
          <a:prstGeom prst="ellipse">
            <a:avLst/>
          </a:prstGeom>
          <a:solidFill>
            <a:srgbClr val="1A2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IN TWELVE LINES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5361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numpy as np — always that alias.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121408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1031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holds ONE type, in one block of memory.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688336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26700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why it is fast, and why it cannot grow.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255264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323697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np.zeros((2, 3)) — the shape is a TUPLE.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arange excludes the stop; linspace includes it.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389120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43708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shape, ndim, size, dtype describe any array.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1554480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6364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39128" y="15361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slice is a VIEW — changing it changes the original.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2121408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364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739128" y="21031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.copy() when you actually want a copy.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2688336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6364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739128" y="26700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m[row, column]; a bare : means all of that axis.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63640" y="3255264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6364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739128" y="323697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m[:, 0] is a column; m[0] is a row.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63640" y="3822192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63640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739128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Masks filter without a loop. Use &amp; | ~, not and or not.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63640" y="4389120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6364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739128" y="43708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keeps the data; -1 means 'work it out'.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0080" y="5230368"/>
            <a:ext cx="5349240" cy="1097280"/>
          </a:xfrm>
          <a:prstGeom prst="roundRect">
            <a:avLst>
              <a:gd name="adj" fmla="val 7500"/>
            </a:avLst>
          </a:prstGeom>
          <a:solidFill>
            <a:srgbClr val="1E3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68680" y="5358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868680" y="5632704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Day 2's times table with np.arange and reshape  ·  Take a 5x4 array and print each row's max without a loop  ·  Prove a slice is a view, then break the link with .copy()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63640" y="5230368"/>
            <a:ext cx="5349240" cy="1097280"/>
          </a:xfrm>
          <a:prstGeom prst="roundRect">
            <a:avLst>
              <a:gd name="adj" fmla="val 7500"/>
            </a:avLst>
          </a:prstGeom>
          <a:solidFill>
            <a:srgbClr val="1E3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92240" y="5358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  —  Topic 1.12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492240" y="5632704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 &amp; vectorised operations:  arithmetic between arrays of different shapes, and why the loop disappears entirely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12 - NumPy Arrays</dc:title>
  <dc:subject>PptxGenJS Presentation</dc:subject>
  <dc:creator>Data Science Program</dc:creator>
  <cp:lastModifiedBy>Data Science Program</cp:lastModifiedBy>
  <cp:revision>1</cp:revision>
  <dcterms:created xsi:type="dcterms:W3CDTF">2026-09-17T12:37:36Z</dcterms:created>
  <dcterms:modified xsi:type="dcterms:W3CDTF">2026-09-17T12:37:36Z</dcterms:modified>
</cp:coreProperties>
</file>