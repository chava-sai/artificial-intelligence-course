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29. Everyone already knows the slogan 'correlation is not causation'. Almost nobody can name the four things that produce a correlation. That gap is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claims are demonstrated on real computed data later in the deck. Promising them up front turns the session into a series of payoffs.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Yesterday's multiplicity lesson reappears today in its most common real-world form: scanning a correlation matrix.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contains two things most introductory courses skip entirely: collider bias and Simpson's paradox. They are the ones students will actually be fooled by.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to guess r for each panel before you reveal the labels. Most people badly overestimate weak correlations and underestimate strong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common confusion in practice: people report r when the question needs a slope. Flag it now, because Module 3 is regression.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field-dependence caveat matters - students who memorise 'r&gt;0.7 is strong' will misjudge results in every field that does not match that convention.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numbers first, ask whether the four datasets are the same, then reveal the pictures. The gap between the two moments is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real-world examples matter more than the shapes. U-shaped dose responses are the standard case in medicine and the standard way r misleads.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that Spearman is not a general fix. It handles monotonic curves and outliers. Nothing that goes up and then down is rescued by ranking.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p-value of 5e-13 from a single typo is the number to dwell on. It shows a tiny p is no protection against a data-quality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routinely compute r on 12 rows and report it to three decimals. This slide is the antidote.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it to yesterday explicitly. This is the same 'significant but trivial' slide in a new costume.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is titled 'four reasons' and lists five on purpose - the fifth is the one they came in assuming. If anyone notices the mismatch, that is the moment to make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0.82 -&gt; 0.05 collapse is the payoff. It also previews why multiple regression exists, which is where Module 3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hospital example is the one that makes people uncomfortable, which is why it works. It has been used to argue for closing hospitals.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almost no introductory course teaches, and it is the one that quietly ruins analyses of customer, patient and admissions data. Conditioning on a common effect of two variables induces a correlation between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the 1973 Berkeley admissions case. The lesson is not 'always split by subgroup' - it is that you must decide which grouping answers your actual question, and that decision is not statistical.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them to photograph this. It is the practical output of the whole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student will run df.corr().  Make sure they leave knowing it is 190 silent hypothesis tests, not one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how short the caveat sentence is. Honesty about causation costs one clause, not a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row matters: when the relationship is non-monotonic, no correlation coefficient is the right tool, and saying so is the correct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 1 really does catch most of the others. Say so explicitly - a single enforceable habit beats eight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disagreement warning between Pearson and Spearman is the cheapest outlier detector there is, and almost nobody uses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D is a diagnosis exercise rather than a computation one, which is the right final test for this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checklist rather than the formula. r takes a minute to teach; knowing what it cannot tell you is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238"/>
        </a:solidFill>
      </p:bgPr>
    </p:bg>
    <p:spTree>
      <p:nvGrpSpPr>
        <p:cNvPr id="1" name=""/>
        <p:cNvGrpSpPr/>
        <p:nvPr/>
      </p:nvGrpSpPr>
      <p:grpSpPr>
        <a:xfrm>
          <a:off x="0" y="0"/>
          <a:ext cx="0" cy="0"/>
          <a:chOff x="0" y="0"/>
          <a:chExt cx="0" cy="0"/>
        </a:xfrm>
      </p:grpSpPr>
      <p:sp>
        <p:nvSpPr>
          <p:cNvPr id="2" name="Shape 0"/>
          <p:cNvSpPr/>
          <p:nvPr/>
        </p:nvSpPr>
        <p:spPr>
          <a:xfrm>
            <a:off x="9509760" y="-1371600"/>
            <a:ext cx="4754880" cy="4754880"/>
          </a:xfrm>
          <a:prstGeom prst="ellipse">
            <a:avLst/>
          </a:prstGeom>
          <a:solidFill>
            <a:srgbClr val="1D3050"/>
          </a:solidFill>
          <a:ln w="12700">
            <a:solidFill>
              <a:srgbClr val="333333"/>
            </a:solidFill>
            <a:prstDash val="solid"/>
          </a:ln>
        </p:spPr>
      </p:sp>
      <p:sp>
        <p:nvSpPr>
          <p:cNvPr id="3" name="Shape 1"/>
          <p:cNvSpPr/>
          <p:nvPr/>
        </p:nvSpPr>
        <p:spPr>
          <a:xfrm>
            <a:off x="10607040" y="4206240"/>
            <a:ext cx="3108960" cy="3108960"/>
          </a:xfrm>
          <a:prstGeom prst="ellipse">
            <a:avLst/>
          </a:prstGeom>
          <a:solidFill>
            <a:srgbClr val="1A2A46"/>
          </a:solidFill>
          <a:ln w="12700">
            <a:solidFill>
              <a:srgbClr val="333333"/>
            </a:solidFill>
            <a:prstDash val="solid"/>
          </a:ln>
        </p:spPr>
      </p:sp>
      <p:sp>
        <p:nvSpPr>
          <p:cNvPr id="4" name="Text 2"/>
          <p:cNvSpPr txBox="1"/>
          <p:nvPr/>
        </p:nvSpPr>
        <p:spPr>
          <a:xfrm>
            <a:off x="822960" y="1371600"/>
            <a:ext cx="8686800" cy="320040"/>
          </a:xfrm>
          <a:prstGeom prst="rect">
            <a:avLst/>
          </a:prstGeom>
          <a:noFill/>
          <a:ln/>
        </p:spPr>
        <p:txBody>
          <a:bodyPr wrap="square" lIns="0" tIns="0" rIns="0" bIns="0" rtlCol="0" anchor="ctr"/>
          <a:lstStyle/>
          <a:p>
            <a:pPr indent="0" marL="0">
              <a:buNone/>
            </a:pPr>
            <a:r>
              <a:rPr lang="en-US" sz="1300" b="1" spc="200" kern="0" dirty="0">
                <a:solidFill>
                  <a:srgbClr val="FFC145"/>
                </a:solidFill>
                <a:latin typeface="Calibri" pitchFamily="34" charset="0"/>
                <a:ea typeface="Calibri" pitchFamily="34" charset="-122"/>
                <a:cs typeface="Calibri" pitchFamily="34" charset="-120"/>
              </a:rPr>
              <a:t>MODULE 2  ·  STATISTICS &amp; PROBABILITY  ·  TOPIC 2.9</a:t>
            </a:r>
            <a:endParaRPr lang="en-US" sz="1300" dirty="0"/>
          </a:p>
        </p:txBody>
      </p:sp>
      <p:sp>
        <p:nvSpPr>
          <p:cNvPr id="5" name="Text 3"/>
          <p:cNvSpPr txBox="1"/>
          <p:nvPr/>
        </p:nvSpPr>
        <p:spPr>
          <a:xfrm>
            <a:off x="822960" y="1920240"/>
            <a:ext cx="8412480" cy="118872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Correlation</a:t>
            </a:r>
            <a:endParaRPr lang="en-US" sz="4600" dirty="0"/>
          </a:p>
        </p:txBody>
      </p:sp>
      <p:sp>
        <p:nvSpPr>
          <p:cNvPr id="6" name="Text 4"/>
          <p:cNvSpPr txBox="1"/>
          <p:nvPr/>
        </p:nvSpPr>
        <p:spPr>
          <a:xfrm>
            <a:off x="841248" y="3291840"/>
            <a:ext cx="8229600" cy="365760"/>
          </a:xfrm>
          <a:prstGeom prst="rect">
            <a:avLst/>
          </a:prstGeom>
          <a:noFill/>
          <a:ln/>
        </p:spPr>
        <p:txBody>
          <a:bodyPr wrap="square" lIns="0" tIns="0" rIns="0" bIns="0" rtlCol="0" anchor="ctr"/>
          <a:lstStyle/>
          <a:p>
            <a:pPr indent="0" marL="0">
              <a:buNone/>
            </a:pPr>
            <a:r>
              <a:rPr lang="en-US" sz="1500" i="1" dirty="0">
                <a:solidFill>
                  <a:srgbClr val="AFC2DC"/>
                </a:solidFill>
                <a:latin typeface="Calibri" pitchFamily="34" charset="0"/>
                <a:ea typeface="Calibri" pitchFamily="34" charset="-122"/>
                <a:cs typeface="Calibri" pitchFamily="34" charset="-120"/>
              </a:rPr>
              <a:t>Day 29  —  one number for “do these move together?”, and four ways it misleads you</a:t>
            </a:r>
            <a:endParaRPr lang="en-US" sz="1500" dirty="0"/>
          </a:p>
        </p:txBody>
      </p:sp>
      <p:sp>
        <p:nvSpPr>
          <p:cNvPr id="7" name="Shape 5"/>
          <p:cNvSpPr/>
          <p:nvPr/>
        </p:nvSpPr>
        <p:spPr>
          <a:xfrm>
            <a:off x="822960" y="4023360"/>
            <a:ext cx="2468880" cy="1051560"/>
          </a:xfrm>
          <a:prstGeom prst="roundRect">
            <a:avLst>
              <a:gd name="adj" fmla="val 7826"/>
            </a:avLst>
          </a:prstGeom>
          <a:solidFill>
            <a:srgbClr val="1E3151"/>
          </a:solidFill>
          <a:ln w="12700">
            <a:solidFill>
              <a:srgbClr val="1E3151"/>
            </a:solidFill>
            <a:prstDash val="solid"/>
          </a:ln>
        </p:spPr>
      </p:sp>
      <p:sp>
        <p:nvSpPr>
          <p:cNvPr id="8" name="Text 6"/>
          <p:cNvSpPr txBox="1"/>
          <p:nvPr/>
        </p:nvSpPr>
        <p:spPr>
          <a:xfrm>
            <a:off x="1024128" y="4114800"/>
            <a:ext cx="2148840" cy="384048"/>
          </a:xfrm>
          <a:prstGeom prst="rect">
            <a:avLst/>
          </a:prstGeom>
          <a:noFill/>
          <a:ln/>
        </p:spPr>
        <p:txBody>
          <a:bodyPr wrap="square" lIns="0" tIns="0" rIns="0" bIns="0" rtlCol="0" anchor="ctr"/>
          <a:lstStyle/>
          <a:p>
            <a:pPr indent="0" marL="0">
              <a:buNone/>
            </a:pPr>
            <a:r>
              <a:rPr lang="en-US" sz="2200" b="1" dirty="0">
                <a:solidFill>
                  <a:srgbClr val="FFC145"/>
                </a:solidFill>
                <a:latin typeface="Cambria" pitchFamily="34" charset="0"/>
                <a:ea typeface="Cambria" pitchFamily="34" charset="-122"/>
                <a:cs typeface="Cambria" pitchFamily="34" charset="-120"/>
              </a:rPr>
              <a:t>1</a:t>
            </a:r>
            <a:endParaRPr lang="en-US" sz="2200" dirty="0"/>
          </a:p>
        </p:txBody>
      </p:sp>
      <p:sp>
        <p:nvSpPr>
          <p:cNvPr id="9" name="Text 7"/>
          <p:cNvSpPr txBox="1"/>
          <p:nvPr/>
        </p:nvSpPr>
        <p:spPr>
          <a:xfrm>
            <a:off x="1024128" y="4517136"/>
            <a:ext cx="2194560" cy="502920"/>
          </a:xfrm>
          <a:prstGeom prst="rect">
            <a:avLst/>
          </a:prstGeom>
          <a:noFill/>
          <a:ln/>
        </p:spPr>
        <p:txBody>
          <a:bodyPr wrap="square" lIns="0" tIns="0" rIns="0" bIns="0" rtlCol="0" anchor="ctr"/>
          <a:lstStyle/>
          <a:p>
            <a:pPr indent="0" marL="0">
              <a:lnSpc>
                <a:spcPct val="110000"/>
              </a:lnSpc>
              <a:buNone/>
            </a:pPr>
            <a:r>
              <a:rPr lang="en-US" sz="1050" dirty="0">
                <a:solidFill>
                  <a:srgbClr val="9DB2CE"/>
                </a:solidFill>
                <a:latin typeface="Calibri" pitchFamily="34" charset="0"/>
                <a:ea typeface="Calibri" pitchFamily="34" charset="-122"/>
                <a:cs typeface="Calibri" pitchFamily="34" charset="-120"/>
              </a:rPr>
              <a:t>Number, measuring one thing only</a:t>
            </a:r>
            <a:endParaRPr lang="en-US" sz="1050" dirty="0"/>
          </a:p>
        </p:txBody>
      </p:sp>
      <p:sp>
        <p:nvSpPr>
          <p:cNvPr id="10" name="Shape 8"/>
          <p:cNvSpPr/>
          <p:nvPr/>
        </p:nvSpPr>
        <p:spPr>
          <a:xfrm>
            <a:off x="3566160" y="4023360"/>
            <a:ext cx="2468880" cy="1051560"/>
          </a:xfrm>
          <a:prstGeom prst="roundRect">
            <a:avLst>
              <a:gd name="adj" fmla="val 7826"/>
            </a:avLst>
          </a:prstGeom>
          <a:solidFill>
            <a:srgbClr val="1E3151"/>
          </a:solidFill>
          <a:ln w="12700">
            <a:solidFill>
              <a:srgbClr val="1E3151"/>
            </a:solidFill>
            <a:prstDash val="solid"/>
          </a:ln>
        </p:spPr>
      </p:sp>
      <p:sp>
        <p:nvSpPr>
          <p:cNvPr id="11" name="Text 9"/>
          <p:cNvSpPr txBox="1"/>
          <p:nvPr/>
        </p:nvSpPr>
        <p:spPr>
          <a:xfrm>
            <a:off x="3767328" y="4114800"/>
            <a:ext cx="2148840" cy="384048"/>
          </a:xfrm>
          <a:prstGeom prst="rect">
            <a:avLst/>
          </a:prstGeom>
          <a:noFill/>
          <a:ln/>
        </p:spPr>
        <p:txBody>
          <a:bodyPr wrap="square" lIns="0" tIns="0" rIns="0" bIns="0" rtlCol="0" anchor="ctr"/>
          <a:lstStyle/>
          <a:p>
            <a:pPr indent="0" marL="0">
              <a:buNone/>
            </a:pPr>
            <a:r>
              <a:rPr lang="en-US" sz="2200" b="1" dirty="0">
                <a:solidFill>
                  <a:srgbClr val="FFC145"/>
                </a:solidFill>
                <a:latin typeface="Cambria" pitchFamily="34" charset="0"/>
                <a:ea typeface="Cambria" pitchFamily="34" charset="-122"/>
                <a:cs typeface="Cambria" pitchFamily="34" charset="-120"/>
              </a:rPr>
              <a:t>4</a:t>
            </a:r>
            <a:endParaRPr lang="en-US" sz="2200" dirty="0"/>
          </a:p>
        </p:txBody>
      </p:sp>
      <p:sp>
        <p:nvSpPr>
          <p:cNvPr id="12" name="Text 10"/>
          <p:cNvSpPr txBox="1"/>
          <p:nvPr/>
        </p:nvSpPr>
        <p:spPr>
          <a:xfrm>
            <a:off x="3767328" y="4517136"/>
            <a:ext cx="2194560" cy="502920"/>
          </a:xfrm>
          <a:prstGeom prst="rect">
            <a:avLst/>
          </a:prstGeom>
          <a:noFill/>
          <a:ln/>
        </p:spPr>
        <p:txBody>
          <a:bodyPr wrap="square" lIns="0" tIns="0" rIns="0" bIns="0" rtlCol="0" anchor="ctr"/>
          <a:lstStyle/>
          <a:p>
            <a:pPr indent="0" marL="0">
              <a:lnSpc>
                <a:spcPct val="110000"/>
              </a:lnSpc>
              <a:buNone/>
            </a:pPr>
            <a:r>
              <a:rPr lang="en-US" sz="1050" dirty="0">
                <a:solidFill>
                  <a:srgbClr val="9DB2CE"/>
                </a:solidFill>
                <a:latin typeface="Calibri" pitchFamily="34" charset="0"/>
                <a:ea typeface="Calibri" pitchFamily="34" charset="-122"/>
                <a:cs typeface="Calibri" pitchFamily="34" charset="-120"/>
              </a:rPr>
              <a:t>Pictures it cannot tell apart</a:t>
            </a:r>
            <a:endParaRPr lang="en-US" sz="1050" dirty="0"/>
          </a:p>
        </p:txBody>
      </p:sp>
      <p:sp>
        <p:nvSpPr>
          <p:cNvPr id="13" name="Shape 11"/>
          <p:cNvSpPr/>
          <p:nvPr/>
        </p:nvSpPr>
        <p:spPr>
          <a:xfrm>
            <a:off x="6309360" y="4023360"/>
            <a:ext cx="2468880" cy="1051560"/>
          </a:xfrm>
          <a:prstGeom prst="roundRect">
            <a:avLst>
              <a:gd name="adj" fmla="val 7826"/>
            </a:avLst>
          </a:prstGeom>
          <a:solidFill>
            <a:srgbClr val="1E3151"/>
          </a:solidFill>
          <a:ln w="12700">
            <a:solidFill>
              <a:srgbClr val="1E3151"/>
            </a:solidFill>
            <a:prstDash val="solid"/>
          </a:ln>
        </p:spPr>
      </p:sp>
      <p:sp>
        <p:nvSpPr>
          <p:cNvPr id="14" name="Text 12"/>
          <p:cNvSpPr txBox="1"/>
          <p:nvPr/>
        </p:nvSpPr>
        <p:spPr>
          <a:xfrm>
            <a:off x="6510528" y="4114800"/>
            <a:ext cx="2148840" cy="384048"/>
          </a:xfrm>
          <a:prstGeom prst="rect">
            <a:avLst/>
          </a:prstGeom>
          <a:noFill/>
          <a:ln/>
        </p:spPr>
        <p:txBody>
          <a:bodyPr wrap="square" lIns="0" tIns="0" rIns="0" bIns="0" rtlCol="0" anchor="ctr"/>
          <a:lstStyle/>
          <a:p>
            <a:pPr indent="0" marL="0">
              <a:buNone/>
            </a:pPr>
            <a:r>
              <a:rPr lang="en-US" sz="2200" b="1" dirty="0">
                <a:solidFill>
                  <a:srgbClr val="FFC145"/>
                </a:solidFill>
                <a:latin typeface="Cambria" pitchFamily="34" charset="0"/>
                <a:ea typeface="Cambria" pitchFamily="34" charset="-122"/>
                <a:cs typeface="Cambria" pitchFamily="34" charset="-120"/>
              </a:rPr>
              <a:t>4</a:t>
            </a:r>
            <a:endParaRPr lang="en-US" sz="2200" dirty="0"/>
          </a:p>
        </p:txBody>
      </p:sp>
      <p:sp>
        <p:nvSpPr>
          <p:cNvPr id="15" name="Text 13"/>
          <p:cNvSpPr txBox="1"/>
          <p:nvPr/>
        </p:nvSpPr>
        <p:spPr>
          <a:xfrm>
            <a:off x="6510528" y="4517136"/>
            <a:ext cx="2194560" cy="502920"/>
          </a:xfrm>
          <a:prstGeom prst="rect">
            <a:avLst/>
          </a:prstGeom>
          <a:noFill/>
          <a:ln/>
        </p:spPr>
        <p:txBody>
          <a:bodyPr wrap="square" lIns="0" tIns="0" rIns="0" bIns="0" rtlCol="0" anchor="ctr"/>
          <a:lstStyle/>
          <a:p>
            <a:pPr indent="0" marL="0">
              <a:lnSpc>
                <a:spcPct val="110000"/>
              </a:lnSpc>
              <a:buNone/>
            </a:pPr>
            <a:r>
              <a:rPr lang="en-US" sz="1050" dirty="0">
                <a:solidFill>
                  <a:srgbClr val="9DB2CE"/>
                </a:solidFill>
                <a:latin typeface="Calibri" pitchFamily="34" charset="0"/>
                <a:ea typeface="Calibri" pitchFamily="34" charset="-122"/>
                <a:cs typeface="Calibri" pitchFamily="34" charset="-120"/>
              </a:rPr>
              <a:t>Reasons for a correlation, one of which is cause</a:t>
            </a:r>
            <a:endParaRPr lang="en-US" sz="1050" dirty="0"/>
          </a:p>
        </p:txBody>
      </p:sp>
      <p:sp>
        <p:nvSpPr>
          <p:cNvPr id="16" name="Shape 14"/>
          <p:cNvSpPr/>
          <p:nvPr/>
        </p:nvSpPr>
        <p:spPr>
          <a:xfrm>
            <a:off x="9098280" y="1371600"/>
            <a:ext cx="2514600" cy="2514600"/>
          </a:xfrm>
          <a:prstGeom prst="roundRect">
            <a:avLst>
              <a:gd name="adj" fmla="val 3636"/>
            </a:avLst>
          </a:prstGeom>
          <a:solidFill>
            <a:srgbClr val="FFFFFF"/>
          </a:solidFill>
          <a:ln w="12700">
            <a:solidFill>
              <a:srgbClr val="333333"/>
            </a:solidFill>
            <a:prstDash val="solid"/>
          </a:ln>
          <a:effectLst>
            <a:outerShdw sx="100000" sy="100000" kx="0" ky="0" algn="bl" rotWithShape="0" blurRad="177800" dist="38100" dir="5400000">
              <a:srgbClr val="000000">
                <a:alpha val="35000"/>
              </a:srgbClr>
            </a:outerShdw>
          </a:effectLst>
        </p:spPr>
      </p:sp>
      <p:pic>
        <p:nvPicPr>
          <p:cNvPr id="17" name="Image 0" descr="/home/claude/day29/bu_logo.png">    </p:cNvPr>
          <p:cNvPicPr>
            <a:picLocks noChangeAspect="1"/>
          </p:cNvPicPr>
          <p:nvPr/>
        </p:nvPicPr>
        <p:blipFill>
          <a:blip r:embed="rId1"/>
          <a:stretch>
            <a:fillRect/>
          </a:stretch>
        </p:blipFill>
        <p:spPr>
          <a:xfrm>
            <a:off x="9400032" y="1737360"/>
            <a:ext cx="1911096" cy="1783080"/>
          </a:xfrm>
          <a:prstGeom prst="rect">
            <a:avLst/>
          </a:prstGeom>
        </p:spPr>
      </p:pic>
      <p:sp>
        <p:nvSpPr>
          <p:cNvPr id="18" name="Text 15"/>
          <p:cNvSpPr txBox="1"/>
          <p:nvPr/>
        </p:nvSpPr>
        <p:spPr>
          <a:xfrm>
            <a:off x="9098280" y="3977640"/>
            <a:ext cx="2514600" cy="274320"/>
          </a:xfrm>
          <a:prstGeom prst="rect">
            <a:avLst/>
          </a:prstGeom>
          <a:noFill/>
          <a:ln/>
        </p:spPr>
        <p:txBody>
          <a:bodyPr wrap="square" lIns="0" tIns="0" rIns="0" bIns="0" rtlCol="0" anchor="ctr"/>
          <a:lstStyle/>
          <a:p>
            <a:pPr algn="ctr" indent="0" marL="0">
              <a:buNone/>
            </a:pPr>
            <a:r>
              <a:rPr lang="en-US" sz="1200" b="1" dirty="0">
                <a:solidFill>
                  <a:srgbClr val="AFC2DC"/>
                </a:solidFill>
                <a:latin typeface="Calibri" pitchFamily="34" charset="0"/>
                <a:ea typeface="Calibri" pitchFamily="34" charset="-122"/>
                <a:cs typeface="Calibri" pitchFamily="34" charset="-120"/>
              </a:rPr>
              <a:t>Boston University</a:t>
            </a:r>
            <a:endParaRPr lang="en-US" sz="1200" dirty="0"/>
          </a:p>
        </p:txBody>
      </p:sp>
      <p:sp>
        <p:nvSpPr>
          <p:cNvPr id="19" name="Text 16"/>
          <p:cNvSpPr txBox="1"/>
          <p:nvPr/>
        </p:nvSpPr>
        <p:spPr>
          <a:xfrm>
            <a:off x="841248" y="5806440"/>
            <a:ext cx="7315200" cy="292608"/>
          </a:xfrm>
          <a:prstGeom prst="rect">
            <a:avLst/>
          </a:prstGeom>
          <a:noFill/>
          <a:ln/>
        </p:spPr>
        <p:txBody>
          <a:bodyPr wrap="square" lIns="0" tIns="0" rIns="0" bIns="0" rtlCol="0" anchor="ctr"/>
          <a:lstStyle/>
          <a:p>
            <a:pPr indent="0" marL="0">
              <a:buNone/>
            </a:pPr>
            <a:r>
              <a:rPr lang="en-US" sz="1300" dirty="0">
                <a:solidFill>
                  <a:srgbClr val="8FA6C4"/>
                </a:solidFill>
                <a:latin typeface="Calibri" pitchFamily="34" charset="0"/>
                <a:ea typeface="Calibri" pitchFamily="34" charset="-122"/>
                <a:cs typeface="Calibri" pitchFamily="34" charset="-120"/>
              </a:rPr>
              <a:t>Prepared &amp; presented by  </a:t>
            </a:r>
            <a:pPr indent="0" marL="0">
              <a:buNone/>
            </a:pPr>
            <a:r>
              <a:rPr lang="en-US" sz="1300" b="1" dirty="0">
                <a:solidFill>
                  <a:srgbClr val="FFC145"/>
                </a:solidFill>
                <a:latin typeface="Calibri" pitchFamily="34" charset="0"/>
                <a:ea typeface="Calibri" pitchFamily="34" charset="-122"/>
                <a:cs typeface="Calibri" pitchFamily="34" charset="-120"/>
              </a:rPr>
              <a:t>Srinivasa Sai Chava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WHY THIS SESSION</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Everyone knows the slogan. Almost nobody knows the four reasons.</a:t>
            </a:r>
            <a:endParaRPr lang="en-US" sz="3200" dirty="0"/>
          </a:p>
        </p:txBody>
      </p:sp>
      <p:sp>
        <p:nvSpPr>
          <p:cNvPr id="5" name="Shape 3"/>
          <p:cNvSpPr/>
          <p:nvPr/>
        </p:nvSpPr>
        <p:spPr>
          <a:xfrm>
            <a:off x="548640" y="1600200"/>
            <a:ext cx="5486400" cy="2103120"/>
          </a:xfrm>
          <a:prstGeom prst="roundRect">
            <a:avLst>
              <a:gd name="adj" fmla="val 3913"/>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22960" y="1764792"/>
            <a:ext cx="4937760" cy="292608"/>
          </a:xfrm>
          <a:prstGeom prst="rect">
            <a:avLst/>
          </a:prstGeom>
          <a:noFill/>
          <a:ln/>
        </p:spPr>
        <p:txBody>
          <a:bodyPr wrap="square" lIns="0" tIns="0" rIns="0" bIns="0" rtlCol="0" anchor="ctr"/>
          <a:lstStyle/>
          <a:p>
            <a:pPr indent="0" marL="0">
              <a:buNone/>
            </a:pPr>
            <a:r>
              <a:rPr lang="en-US" sz="1450" b="1" dirty="0">
                <a:solidFill>
                  <a:srgbClr val="1F3A5F"/>
                </a:solidFill>
                <a:latin typeface="Calibri" pitchFamily="34" charset="0"/>
                <a:ea typeface="Calibri" pitchFamily="34" charset="-122"/>
                <a:cs typeface="Calibri" pitchFamily="34" charset="-120"/>
              </a:rPr>
              <a:t>“Correlation is not causation”</a:t>
            </a:r>
            <a:endParaRPr lang="en-US" sz="1450" dirty="0"/>
          </a:p>
        </p:txBody>
      </p:sp>
      <p:sp>
        <p:nvSpPr>
          <p:cNvPr id="7" name="Text 5"/>
          <p:cNvSpPr txBox="1"/>
          <p:nvPr/>
        </p:nvSpPr>
        <p:spPr>
          <a:xfrm>
            <a:off x="822960" y="2176272"/>
            <a:ext cx="4983480" cy="1371600"/>
          </a:xfrm>
          <a:prstGeom prst="rect">
            <a:avLst/>
          </a:prstGeom>
          <a:noFill/>
          <a:ln/>
        </p:spPr>
        <p:txBody>
          <a:bodyPr wrap="square" lIns="0" tIns="0" rIns="0" bIns="0" rtlCol="0" anchor="ctr"/>
          <a:lstStyle/>
          <a:p>
            <a:pPr indent="0" marL="0">
              <a:lnSpc>
                <a:spcPct val="125000"/>
              </a:lnSpc>
              <a:buNone/>
            </a:pPr>
            <a:r>
              <a:rPr lang="en-US" sz="1250" dirty="0">
                <a:solidFill>
                  <a:srgbClr val="2B3445"/>
                </a:solidFill>
                <a:latin typeface="Calibri" pitchFamily="34" charset="0"/>
                <a:ea typeface="Calibri" pitchFamily="34" charset="-122"/>
                <a:cs typeface="Calibri" pitchFamily="34" charset="-120"/>
              </a:rPr>
              <a:t>True, and almost useless on its own. It tells you what the answer is NOT. It does not tell you what else could be going on, so people repeat it and then quietly believe the causal story anyway.</a:t>
            </a:r>
            <a:endParaRPr lang="en-US" sz="1250" dirty="0"/>
          </a:p>
        </p:txBody>
      </p:sp>
      <p:sp>
        <p:nvSpPr>
          <p:cNvPr id="8" name="Shape 6"/>
          <p:cNvSpPr/>
          <p:nvPr/>
        </p:nvSpPr>
        <p:spPr>
          <a:xfrm>
            <a:off x="6309360" y="1600200"/>
            <a:ext cx="5303520" cy="2103120"/>
          </a:xfrm>
          <a:prstGeom prst="roundRect">
            <a:avLst>
              <a:gd name="adj" fmla="val 3913"/>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9" name="Text 7"/>
          <p:cNvSpPr txBox="1"/>
          <p:nvPr/>
        </p:nvSpPr>
        <p:spPr>
          <a:xfrm>
            <a:off x="6565392" y="1764792"/>
            <a:ext cx="4754880" cy="292608"/>
          </a:xfrm>
          <a:prstGeom prst="rect">
            <a:avLst/>
          </a:prstGeom>
          <a:noFill/>
          <a:ln/>
        </p:spPr>
        <p:txBody>
          <a:bodyPr wrap="square" lIns="0" tIns="0" rIns="0" bIns="0" rtlCol="0" anchor="ctr"/>
          <a:lstStyle/>
          <a:p>
            <a:pPr indent="0" marL="0">
              <a:buNone/>
            </a:pPr>
            <a:r>
              <a:rPr lang="en-US" sz="1450" b="1" dirty="0">
                <a:solidFill>
                  <a:srgbClr val="1C6F5C"/>
                </a:solidFill>
                <a:latin typeface="Calibri" pitchFamily="34" charset="0"/>
                <a:ea typeface="Calibri" pitchFamily="34" charset="-122"/>
                <a:cs typeface="Calibri" pitchFamily="34" charset="-120"/>
              </a:rPr>
              <a:t>The useful version</a:t>
            </a:r>
            <a:endParaRPr lang="en-US" sz="1450" dirty="0"/>
          </a:p>
        </p:txBody>
      </p:sp>
      <p:sp>
        <p:nvSpPr>
          <p:cNvPr id="10" name="Text 8"/>
          <p:cNvSpPr txBox="1"/>
          <p:nvPr/>
        </p:nvSpPr>
        <p:spPr>
          <a:xfrm>
            <a:off x="6565392" y="2176272"/>
            <a:ext cx="4800600" cy="1371600"/>
          </a:xfrm>
          <a:prstGeom prst="rect">
            <a:avLst/>
          </a:prstGeom>
          <a:noFill/>
          <a:ln/>
        </p:spPr>
        <p:txBody>
          <a:bodyPr wrap="square" lIns="0" tIns="0" rIns="0" bIns="0" rtlCol="0" anchor="ctr"/>
          <a:lstStyle/>
          <a:p>
            <a:pPr indent="0" marL="0">
              <a:lnSpc>
                <a:spcPct val="125000"/>
              </a:lnSpc>
              <a:buNone/>
            </a:pPr>
            <a:r>
              <a:rPr lang="en-US" sz="1250" dirty="0">
                <a:solidFill>
                  <a:srgbClr val="2B3445"/>
                </a:solidFill>
                <a:latin typeface="Calibri" pitchFamily="34" charset="0"/>
                <a:ea typeface="Calibri" pitchFamily="34" charset="-122"/>
                <a:cs typeface="Calibri" pitchFamily="34" charset="-120"/>
              </a:rPr>
              <a:t>If X and Y are correlated, there are exactly four explanations, and you should be able to name all four and argue about which applies.</a:t>
            </a:r>
            <a:endParaRPr lang="en-US" sz="1250" dirty="0"/>
          </a:p>
          <a:p>
            <a:pPr indent="0" marL="0">
              <a:lnSpc>
                <a:spcPct val="125000"/>
              </a:lnSpc>
              <a:buNone/>
            </a:pPr>
            <a:endParaRPr lang="en-US" sz="1250" dirty="0"/>
          </a:p>
          <a:p>
            <a:pPr indent="0" marL="0">
              <a:lnSpc>
                <a:spcPct val="125000"/>
              </a:lnSpc>
              <a:buNone/>
            </a:pPr>
            <a:r>
              <a:rPr lang="en-US" sz="1250" dirty="0">
                <a:solidFill>
                  <a:srgbClr val="2B3445"/>
                </a:solidFill>
                <a:latin typeface="Calibri" pitchFamily="34" charset="0"/>
                <a:ea typeface="Calibri" pitchFamily="34" charset="-122"/>
                <a:cs typeface="Calibri" pitchFamily="34" charset="-120"/>
              </a:rPr>
              <a:t>By the end of today you will be able to. Only one of the four is “X causes Y”.</a:t>
            </a:r>
            <a:endParaRPr lang="en-US" sz="1250" dirty="0"/>
          </a:p>
        </p:txBody>
      </p:sp>
      <p:sp>
        <p:nvSpPr>
          <p:cNvPr id="11" name="Shape 9"/>
          <p:cNvSpPr/>
          <p:nvPr/>
        </p:nvSpPr>
        <p:spPr>
          <a:xfrm>
            <a:off x="548640" y="3840480"/>
            <a:ext cx="11064240" cy="2011680"/>
          </a:xfrm>
          <a:prstGeom prst="roundRect">
            <a:avLst>
              <a:gd name="adj" fmla="val 4091"/>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2" name="Text 10"/>
          <p:cNvSpPr txBox="1"/>
          <p:nvPr/>
        </p:nvSpPr>
        <p:spPr>
          <a:xfrm>
            <a:off x="868680" y="3995928"/>
            <a:ext cx="8229600" cy="274320"/>
          </a:xfrm>
          <a:prstGeom prst="rect">
            <a:avLst/>
          </a:prstGeom>
          <a:noFill/>
          <a:ln/>
        </p:spPr>
        <p:txBody>
          <a:bodyPr wrap="square" lIns="0" tIns="0" rIns="0" bIns="0" rtlCol="0" anchor="ctr"/>
          <a:lstStyle/>
          <a:p>
            <a:pPr indent="0" marL="0">
              <a:buNone/>
            </a:pPr>
            <a:r>
              <a:rPr lang="en-US" sz="1450" b="1" dirty="0">
                <a:solidFill>
                  <a:srgbClr val="8A5B00"/>
                </a:solidFill>
                <a:latin typeface="Calibri" pitchFamily="34" charset="0"/>
                <a:ea typeface="Calibri" pitchFamily="34" charset="-122"/>
                <a:cs typeface="Calibri" pitchFamily="34" charset="-120"/>
              </a:rPr>
              <a:t>Four things that will happen today</a:t>
            </a:r>
            <a:endParaRPr lang="en-US" sz="1450" dirty="0"/>
          </a:p>
        </p:txBody>
      </p:sp>
      <p:sp>
        <p:nvSpPr>
          <p:cNvPr id="13" name="Shape 11"/>
          <p:cNvSpPr/>
          <p:nvPr/>
        </p:nvSpPr>
        <p:spPr>
          <a:xfrm>
            <a:off x="914400" y="4361688"/>
            <a:ext cx="301752" cy="301752"/>
          </a:xfrm>
          <a:prstGeom prst="ellipse">
            <a:avLst/>
          </a:prstGeom>
          <a:solidFill>
            <a:srgbClr val="3E7CB1"/>
          </a:solidFill>
          <a:ln w="12700">
            <a:solidFill>
              <a:srgbClr val="3E7CB1"/>
            </a:solidFill>
            <a:prstDash val="solid"/>
          </a:ln>
        </p:spPr>
      </p:sp>
      <p:sp>
        <p:nvSpPr>
          <p:cNvPr id="14" name="Text 12"/>
          <p:cNvSpPr txBox="1"/>
          <p:nvPr/>
        </p:nvSpPr>
        <p:spPr>
          <a:xfrm>
            <a:off x="914400" y="4361688"/>
            <a:ext cx="301752" cy="3017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5" name="Text 13"/>
          <p:cNvSpPr txBox="1"/>
          <p:nvPr/>
        </p:nvSpPr>
        <p:spPr>
          <a:xfrm>
            <a:off x="1371600" y="4352544"/>
            <a:ext cx="9966960" cy="320040"/>
          </a:xfrm>
          <a:prstGeom prst="rect">
            <a:avLst/>
          </a:prstGeom>
          <a:noFill/>
          <a:ln/>
        </p:spPr>
        <p:txBody>
          <a:bodyPr wrap="square" lIns="0" tIns="0" rIns="0" bIns="0" rtlCol="0" anchor="ctr"/>
          <a:lstStyle/>
          <a:p>
            <a:pPr indent="0" marL="0">
              <a:buNone/>
            </a:pPr>
            <a:r>
              <a:rPr lang="en-US" sz="1250" dirty="0">
                <a:solidFill>
                  <a:srgbClr val="2B3445"/>
                </a:solidFill>
                <a:latin typeface="Calibri" pitchFamily="34" charset="0"/>
                <a:ea typeface="Calibri" pitchFamily="34" charset="-122"/>
                <a:cs typeface="Calibri" pitchFamily="34" charset="-120"/>
              </a:rPr>
              <a:t>Four completely different pictures will produce the identical r = 0.816</a:t>
            </a:r>
            <a:endParaRPr lang="en-US" sz="1250" dirty="0"/>
          </a:p>
        </p:txBody>
      </p:sp>
      <p:sp>
        <p:nvSpPr>
          <p:cNvPr id="16" name="Shape 14"/>
          <p:cNvSpPr/>
          <p:nvPr/>
        </p:nvSpPr>
        <p:spPr>
          <a:xfrm>
            <a:off x="914400" y="4736592"/>
            <a:ext cx="301752" cy="301752"/>
          </a:xfrm>
          <a:prstGeom prst="ellipse">
            <a:avLst/>
          </a:prstGeom>
          <a:solidFill>
            <a:srgbClr val="E8674C"/>
          </a:solidFill>
          <a:ln w="12700">
            <a:solidFill>
              <a:srgbClr val="E8674C"/>
            </a:solidFill>
            <a:prstDash val="solid"/>
          </a:ln>
        </p:spPr>
      </p:sp>
      <p:sp>
        <p:nvSpPr>
          <p:cNvPr id="17" name="Text 15"/>
          <p:cNvSpPr txBox="1"/>
          <p:nvPr/>
        </p:nvSpPr>
        <p:spPr>
          <a:xfrm>
            <a:off x="914400" y="4736592"/>
            <a:ext cx="301752" cy="3017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6"/>
          <p:cNvSpPr txBox="1"/>
          <p:nvPr/>
        </p:nvSpPr>
        <p:spPr>
          <a:xfrm>
            <a:off x="1371600" y="4727448"/>
            <a:ext cx="9966960" cy="320040"/>
          </a:xfrm>
          <a:prstGeom prst="rect">
            <a:avLst/>
          </a:prstGeom>
          <a:noFill/>
          <a:ln/>
        </p:spPr>
        <p:txBody>
          <a:bodyPr wrap="square" lIns="0" tIns="0" rIns="0" bIns="0" rtlCol="0" anchor="ctr"/>
          <a:lstStyle/>
          <a:p>
            <a:pPr indent="0" marL="0">
              <a:buNone/>
            </a:pPr>
            <a:r>
              <a:rPr lang="en-US" sz="1250" dirty="0">
                <a:solidFill>
                  <a:srgbClr val="2B3445"/>
                </a:solidFill>
                <a:latin typeface="Calibri" pitchFamily="34" charset="0"/>
                <a:ea typeface="Calibri" pitchFamily="34" charset="-122"/>
                <a:cs typeface="Calibri" pitchFamily="34" charset="-120"/>
              </a:rPr>
              <a:t>One extra data point will turn r = −0.14 into r = +0.64, with p = 0.00000000000047</a:t>
            </a:r>
            <a:endParaRPr lang="en-US" sz="1250" dirty="0"/>
          </a:p>
        </p:txBody>
      </p:sp>
      <p:sp>
        <p:nvSpPr>
          <p:cNvPr id="19" name="Shape 17"/>
          <p:cNvSpPr/>
          <p:nvPr/>
        </p:nvSpPr>
        <p:spPr>
          <a:xfrm>
            <a:off x="914400" y="5111496"/>
            <a:ext cx="301752" cy="301752"/>
          </a:xfrm>
          <a:prstGeom prst="ellipse">
            <a:avLst/>
          </a:prstGeom>
          <a:solidFill>
            <a:srgbClr val="E8674C"/>
          </a:solidFill>
          <a:ln w="12700">
            <a:solidFill>
              <a:srgbClr val="E8674C"/>
            </a:solidFill>
            <a:prstDash val="solid"/>
          </a:ln>
        </p:spPr>
      </p:sp>
      <p:sp>
        <p:nvSpPr>
          <p:cNvPr id="20" name="Text 18"/>
          <p:cNvSpPr txBox="1"/>
          <p:nvPr/>
        </p:nvSpPr>
        <p:spPr>
          <a:xfrm>
            <a:off x="914400" y="5111496"/>
            <a:ext cx="301752" cy="3017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9"/>
          <p:cNvSpPr txBox="1"/>
          <p:nvPr/>
        </p:nvSpPr>
        <p:spPr>
          <a:xfrm>
            <a:off x="1371600" y="5102352"/>
            <a:ext cx="9966960" cy="320040"/>
          </a:xfrm>
          <a:prstGeom prst="rect">
            <a:avLst/>
          </a:prstGeom>
          <a:noFill/>
          <a:ln/>
        </p:spPr>
        <p:txBody>
          <a:bodyPr wrap="square" lIns="0" tIns="0" rIns="0" bIns="0" rtlCol="0" anchor="ctr"/>
          <a:lstStyle/>
          <a:p>
            <a:pPr indent="0" marL="0">
              <a:buNone/>
            </a:pPr>
            <a:r>
              <a:rPr lang="en-US" sz="1250" dirty="0">
                <a:solidFill>
                  <a:srgbClr val="2B3445"/>
                </a:solidFill>
                <a:latin typeface="Calibri" pitchFamily="34" charset="0"/>
                <a:ea typeface="Calibri" pitchFamily="34" charset="-122"/>
                <a:cs typeface="Calibri" pitchFamily="34" charset="-120"/>
              </a:rPr>
              <a:t>Two variables with zero relationship will correlate at −0.73</a:t>
            </a:r>
            <a:endParaRPr lang="en-US" sz="1250" dirty="0"/>
          </a:p>
        </p:txBody>
      </p:sp>
      <p:sp>
        <p:nvSpPr>
          <p:cNvPr id="22" name="Shape 20"/>
          <p:cNvSpPr/>
          <p:nvPr/>
        </p:nvSpPr>
        <p:spPr>
          <a:xfrm>
            <a:off x="914400" y="5486400"/>
            <a:ext cx="301752" cy="301752"/>
          </a:xfrm>
          <a:prstGeom prst="ellipse">
            <a:avLst/>
          </a:prstGeom>
          <a:solidFill>
            <a:srgbClr val="FFC145"/>
          </a:solidFill>
          <a:ln w="12700">
            <a:solidFill>
              <a:srgbClr val="FFC145"/>
            </a:solidFill>
            <a:prstDash val="solid"/>
          </a:ln>
        </p:spPr>
      </p:sp>
      <p:sp>
        <p:nvSpPr>
          <p:cNvPr id="23" name="Text 21"/>
          <p:cNvSpPr txBox="1"/>
          <p:nvPr/>
        </p:nvSpPr>
        <p:spPr>
          <a:xfrm>
            <a:off x="914400" y="5486400"/>
            <a:ext cx="301752" cy="301752"/>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4</a:t>
            </a:r>
            <a:endParaRPr lang="en-US" sz="1300" dirty="0"/>
          </a:p>
        </p:txBody>
      </p:sp>
      <p:sp>
        <p:nvSpPr>
          <p:cNvPr id="24" name="Text 22"/>
          <p:cNvSpPr txBox="1"/>
          <p:nvPr/>
        </p:nvSpPr>
        <p:spPr>
          <a:xfrm>
            <a:off x="1371600" y="5477256"/>
            <a:ext cx="9966960" cy="320040"/>
          </a:xfrm>
          <a:prstGeom prst="rect">
            <a:avLst/>
          </a:prstGeom>
          <a:noFill/>
          <a:ln/>
        </p:spPr>
        <p:txBody>
          <a:bodyPr wrap="square" lIns="0" tIns="0" rIns="0" bIns="0" rtlCol="0" anchor="ctr"/>
          <a:lstStyle/>
          <a:p>
            <a:pPr indent="0" marL="0">
              <a:buNone/>
            </a:pPr>
            <a:r>
              <a:rPr lang="en-US" sz="1250" dirty="0">
                <a:solidFill>
                  <a:srgbClr val="2B3445"/>
                </a:solidFill>
                <a:latin typeface="Calibri" pitchFamily="34" charset="0"/>
                <a:ea typeface="Calibri" pitchFamily="34" charset="-122"/>
                <a:cs typeface="Calibri" pitchFamily="34" charset="-120"/>
              </a:rPr>
              <a:t>Women will be admitted more often in every department, and less often overall</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WARM-UP  ·  5 MINUTES</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Four questions from Day 28</a:t>
            </a:r>
            <a:endParaRPr lang="en-US" sz="3200" dirty="0"/>
          </a:p>
        </p:txBody>
      </p:sp>
      <p:sp>
        <p:nvSpPr>
          <p:cNvPr id="5" name="Shape 3"/>
          <p:cNvSpPr/>
          <p:nvPr/>
        </p:nvSpPr>
        <p:spPr>
          <a:xfrm>
            <a:off x="548640" y="1627632"/>
            <a:ext cx="11064240" cy="676656"/>
          </a:xfrm>
          <a:prstGeom prst="roundRect">
            <a:avLst>
              <a:gd name="adj" fmla="val 12162"/>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777240" y="1783080"/>
            <a:ext cx="365760" cy="365760"/>
          </a:xfrm>
          <a:prstGeom prst="ellipse">
            <a:avLst/>
          </a:prstGeom>
          <a:solidFill>
            <a:srgbClr val="3E7CB1"/>
          </a:solidFill>
          <a:ln w="12700">
            <a:solidFill>
              <a:srgbClr val="3E7CB1"/>
            </a:solidFill>
            <a:prstDash val="solid"/>
          </a:ln>
        </p:spPr>
      </p:sp>
      <p:sp>
        <p:nvSpPr>
          <p:cNvPr id="7" name="Text 5"/>
          <p:cNvSpPr txBox="1"/>
          <p:nvPr/>
        </p:nvSpPr>
        <p:spPr>
          <a:xfrm>
            <a:off x="777240" y="17830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298448" y="1792224"/>
            <a:ext cx="4846320" cy="310896"/>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What is a p-value, exactly?</a:t>
            </a:r>
            <a:endParaRPr lang="en-US" sz="1300" dirty="0"/>
          </a:p>
        </p:txBody>
      </p:sp>
      <p:sp>
        <p:nvSpPr>
          <p:cNvPr id="9" name="Text 7"/>
          <p:cNvSpPr txBox="1"/>
          <p:nvPr/>
        </p:nvSpPr>
        <p:spPr>
          <a:xfrm>
            <a:off x="6217920" y="1792224"/>
            <a:ext cx="5212080" cy="310896"/>
          </a:xfrm>
          <a:prstGeom prst="rect">
            <a:avLst/>
          </a:prstGeom>
          <a:noFill/>
          <a:ln/>
        </p:spPr>
        <p:txBody>
          <a:bodyPr wrap="square" lIns="0" tIns="0" rIns="0" bIns="0" rtlCol="0" anchor="ctr"/>
          <a:lstStyle/>
          <a:p>
            <a:pPr indent="0" marL="0">
              <a:buNone/>
            </a:pPr>
            <a:r>
              <a:rPr lang="en-US" sz="1250" b="1" dirty="0">
                <a:solidFill>
                  <a:srgbClr val="2FA98C"/>
                </a:solidFill>
                <a:latin typeface="Calibri" pitchFamily="34" charset="0"/>
                <a:ea typeface="Calibri" pitchFamily="34" charset="-122"/>
                <a:cs typeface="Calibri" pitchFamily="34" charset="-120"/>
              </a:rPr>
              <a:t>→   </a:t>
            </a:r>
            <a:pPr indent="0" marL="0">
              <a:buNone/>
            </a:pPr>
            <a:r>
              <a:rPr lang="en-US" sz="1250" dirty="0">
                <a:solidFill>
                  <a:srgbClr val="2B3445"/>
                </a:solidFill>
                <a:latin typeface="Calibri" pitchFamily="34" charset="0"/>
                <a:ea typeface="Calibri" pitchFamily="34" charset="-122"/>
                <a:cs typeface="Calibri" pitchFamily="34" charset="-120"/>
              </a:rPr>
              <a:t>P(data this extreme | nothing is happening).</a:t>
            </a:r>
            <a:endParaRPr lang="en-US" sz="1250" dirty="0"/>
          </a:p>
        </p:txBody>
      </p:sp>
      <p:sp>
        <p:nvSpPr>
          <p:cNvPr id="10" name="Shape 8"/>
          <p:cNvSpPr/>
          <p:nvPr/>
        </p:nvSpPr>
        <p:spPr>
          <a:xfrm>
            <a:off x="548640" y="2414016"/>
            <a:ext cx="11064240" cy="676656"/>
          </a:xfrm>
          <a:prstGeom prst="roundRect">
            <a:avLst>
              <a:gd name="adj" fmla="val 12162"/>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1" name="Shape 9"/>
          <p:cNvSpPr/>
          <p:nvPr/>
        </p:nvSpPr>
        <p:spPr>
          <a:xfrm>
            <a:off x="777240" y="2569464"/>
            <a:ext cx="365760" cy="365760"/>
          </a:xfrm>
          <a:prstGeom prst="ellipse">
            <a:avLst/>
          </a:prstGeom>
          <a:solidFill>
            <a:srgbClr val="3E7CB1"/>
          </a:solidFill>
          <a:ln w="12700">
            <a:solidFill>
              <a:srgbClr val="3E7CB1"/>
            </a:solidFill>
            <a:prstDash val="solid"/>
          </a:ln>
        </p:spPr>
      </p:sp>
      <p:sp>
        <p:nvSpPr>
          <p:cNvPr id="12" name="Text 10"/>
          <p:cNvSpPr txBox="1"/>
          <p:nvPr/>
        </p:nvSpPr>
        <p:spPr>
          <a:xfrm>
            <a:off x="777240" y="256946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1298448" y="2578608"/>
            <a:ext cx="4846320" cy="310896"/>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Which scipy default is dangerous?</a:t>
            </a:r>
            <a:endParaRPr lang="en-US" sz="1300" dirty="0"/>
          </a:p>
        </p:txBody>
      </p:sp>
      <p:sp>
        <p:nvSpPr>
          <p:cNvPr id="14" name="Text 12"/>
          <p:cNvSpPr txBox="1"/>
          <p:nvPr/>
        </p:nvSpPr>
        <p:spPr>
          <a:xfrm>
            <a:off x="6217920" y="2578608"/>
            <a:ext cx="5212080" cy="310896"/>
          </a:xfrm>
          <a:prstGeom prst="rect">
            <a:avLst/>
          </a:prstGeom>
          <a:noFill/>
          <a:ln/>
        </p:spPr>
        <p:txBody>
          <a:bodyPr wrap="square" lIns="0" tIns="0" rIns="0" bIns="0" rtlCol="0" anchor="ctr"/>
          <a:lstStyle/>
          <a:p>
            <a:pPr indent="0" marL="0">
              <a:buNone/>
            </a:pPr>
            <a:r>
              <a:rPr lang="en-US" sz="1250" b="1" dirty="0">
                <a:solidFill>
                  <a:srgbClr val="2FA98C"/>
                </a:solidFill>
                <a:latin typeface="Calibri" pitchFamily="34" charset="0"/>
                <a:ea typeface="Calibri" pitchFamily="34" charset="-122"/>
                <a:cs typeface="Calibri" pitchFamily="34" charset="-120"/>
              </a:rPr>
              <a:t>→   </a:t>
            </a:r>
            <a:pPr indent="0" marL="0">
              <a:buNone/>
            </a:pPr>
            <a:r>
              <a:rPr lang="en-US" sz="1250" dirty="0">
                <a:solidFill>
                  <a:srgbClr val="2B3445"/>
                </a:solidFill>
                <a:latin typeface="Calibri" pitchFamily="34" charset="0"/>
                <a:ea typeface="Calibri" pitchFamily="34" charset="-122"/>
                <a:cs typeface="Calibri" pitchFamily="34" charset="-120"/>
              </a:rPr>
              <a:t>equal_var=True. Use Welch.</a:t>
            </a:r>
            <a:endParaRPr lang="en-US" sz="1250" dirty="0"/>
          </a:p>
        </p:txBody>
      </p:sp>
      <p:sp>
        <p:nvSpPr>
          <p:cNvPr id="15" name="Shape 13"/>
          <p:cNvSpPr/>
          <p:nvPr/>
        </p:nvSpPr>
        <p:spPr>
          <a:xfrm>
            <a:off x="548640" y="3200400"/>
            <a:ext cx="11064240" cy="676656"/>
          </a:xfrm>
          <a:prstGeom prst="roundRect">
            <a:avLst>
              <a:gd name="adj" fmla="val 12162"/>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6" name="Shape 14"/>
          <p:cNvSpPr/>
          <p:nvPr/>
        </p:nvSpPr>
        <p:spPr>
          <a:xfrm>
            <a:off x="777240" y="3355848"/>
            <a:ext cx="365760" cy="365760"/>
          </a:xfrm>
          <a:prstGeom prst="ellipse">
            <a:avLst/>
          </a:prstGeom>
          <a:solidFill>
            <a:srgbClr val="3E7CB1"/>
          </a:solidFill>
          <a:ln w="12700">
            <a:solidFill>
              <a:srgbClr val="3E7CB1"/>
            </a:solidFill>
            <a:prstDash val="solid"/>
          </a:ln>
        </p:spPr>
      </p:sp>
      <p:sp>
        <p:nvSpPr>
          <p:cNvPr id="17" name="Text 15"/>
          <p:cNvSpPr txBox="1"/>
          <p:nvPr/>
        </p:nvSpPr>
        <p:spPr>
          <a:xfrm>
            <a:off x="777240" y="335584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1298448" y="3364992"/>
            <a:ext cx="4846320" cy="310896"/>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20 tests on noise — chance of a “finding”?</a:t>
            </a:r>
            <a:endParaRPr lang="en-US" sz="1300" dirty="0"/>
          </a:p>
        </p:txBody>
      </p:sp>
      <p:sp>
        <p:nvSpPr>
          <p:cNvPr id="19" name="Text 17"/>
          <p:cNvSpPr txBox="1"/>
          <p:nvPr/>
        </p:nvSpPr>
        <p:spPr>
          <a:xfrm>
            <a:off x="6217920" y="3364992"/>
            <a:ext cx="5212080" cy="310896"/>
          </a:xfrm>
          <a:prstGeom prst="rect">
            <a:avLst/>
          </a:prstGeom>
          <a:noFill/>
          <a:ln/>
        </p:spPr>
        <p:txBody>
          <a:bodyPr wrap="square" lIns="0" tIns="0" rIns="0" bIns="0" rtlCol="0" anchor="ctr"/>
          <a:lstStyle/>
          <a:p>
            <a:pPr indent="0" marL="0">
              <a:buNone/>
            </a:pPr>
            <a:r>
              <a:rPr lang="en-US" sz="1250" b="1" dirty="0">
                <a:solidFill>
                  <a:srgbClr val="2FA98C"/>
                </a:solidFill>
                <a:latin typeface="Calibri" pitchFamily="34" charset="0"/>
                <a:ea typeface="Calibri" pitchFamily="34" charset="-122"/>
                <a:cs typeface="Calibri" pitchFamily="34" charset="-120"/>
              </a:rPr>
              <a:t>→   </a:t>
            </a:r>
            <a:pPr indent="0" marL="0">
              <a:buNone/>
            </a:pPr>
            <a:r>
              <a:rPr lang="en-US" sz="1250" dirty="0">
                <a:solidFill>
                  <a:srgbClr val="2B3445"/>
                </a:solidFill>
                <a:latin typeface="Calibri" pitchFamily="34" charset="0"/>
                <a:ea typeface="Calibri" pitchFamily="34" charset="-122"/>
                <a:cs typeface="Calibri" pitchFamily="34" charset="-120"/>
              </a:rPr>
              <a:t>64%.</a:t>
            </a:r>
            <a:endParaRPr lang="en-US" sz="1250" dirty="0"/>
          </a:p>
        </p:txBody>
      </p:sp>
      <p:sp>
        <p:nvSpPr>
          <p:cNvPr id="20" name="Shape 18"/>
          <p:cNvSpPr/>
          <p:nvPr/>
        </p:nvSpPr>
        <p:spPr>
          <a:xfrm>
            <a:off x="548640" y="3986784"/>
            <a:ext cx="11064240" cy="676656"/>
          </a:xfrm>
          <a:prstGeom prst="roundRect">
            <a:avLst>
              <a:gd name="adj" fmla="val 12162"/>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1" name="Shape 19"/>
          <p:cNvSpPr/>
          <p:nvPr/>
        </p:nvSpPr>
        <p:spPr>
          <a:xfrm>
            <a:off x="777240" y="4142232"/>
            <a:ext cx="365760" cy="365760"/>
          </a:xfrm>
          <a:prstGeom prst="ellipse">
            <a:avLst/>
          </a:prstGeom>
          <a:solidFill>
            <a:srgbClr val="3E7CB1"/>
          </a:solidFill>
          <a:ln w="12700">
            <a:solidFill>
              <a:srgbClr val="3E7CB1"/>
            </a:solidFill>
            <a:prstDash val="solid"/>
          </a:ln>
        </p:spPr>
      </p:sp>
      <p:sp>
        <p:nvSpPr>
          <p:cNvPr id="22" name="Text 20"/>
          <p:cNvSpPr txBox="1"/>
          <p:nvPr/>
        </p:nvSpPr>
        <p:spPr>
          <a:xfrm>
            <a:off x="777240" y="41422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txBox="1"/>
          <p:nvPr/>
        </p:nvSpPr>
        <p:spPr>
          <a:xfrm>
            <a:off x="1298448" y="4151376"/>
            <a:ext cx="4846320" cy="310896"/>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What should you report besides p?</a:t>
            </a:r>
            <a:endParaRPr lang="en-US" sz="1300" dirty="0"/>
          </a:p>
        </p:txBody>
      </p:sp>
      <p:sp>
        <p:nvSpPr>
          <p:cNvPr id="24" name="Text 22"/>
          <p:cNvSpPr txBox="1"/>
          <p:nvPr/>
        </p:nvSpPr>
        <p:spPr>
          <a:xfrm>
            <a:off x="6217920" y="4151376"/>
            <a:ext cx="5212080" cy="310896"/>
          </a:xfrm>
          <a:prstGeom prst="rect">
            <a:avLst/>
          </a:prstGeom>
          <a:noFill/>
          <a:ln/>
        </p:spPr>
        <p:txBody>
          <a:bodyPr wrap="square" lIns="0" tIns="0" rIns="0" bIns="0" rtlCol="0" anchor="ctr"/>
          <a:lstStyle/>
          <a:p>
            <a:pPr indent="0" marL="0">
              <a:buNone/>
            </a:pPr>
            <a:r>
              <a:rPr lang="en-US" sz="1250" b="1" dirty="0">
                <a:solidFill>
                  <a:srgbClr val="2FA98C"/>
                </a:solidFill>
                <a:latin typeface="Calibri" pitchFamily="34" charset="0"/>
                <a:ea typeface="Calibri" pitchFamily="34" charset="-122"/>
                <a:cs typeface="Calibri" pitchFamily="34" charset="-120"/>
              </a:rPr>
              <a:t>→   </a:t>
            </a:r>
            <a:pPr indent="0" marL="0">
              <a:buNone/>
            </a:pPr>
            <a:r>
              <a:rPr lang="en-US" sz="1250" dirty="0">
                <a:solidFill>
                  <a:srgbClr val="2B3445"/>
                </a:solidFill>
                <a:latin typeface="Calibri" pitchFamily="34" charset="0"/>
                <a:ea typeface="Calibri" pitchFamily="34" charset="-122"/>
                <a:cs typeface="Calibri" pitchFamily="34" charset="-120"/>
              </a:rPr>
              <a:t>Effect size, interval, n, and how many tests.</a:t>
            </a:r>
            <a:endParaRPr lang="en-US" sz="1250" dirty="0"/>
          </a:p>
        </p:txBody>
      </p:sp>
      <p:sp>
        <p:nvSpPr>
          <p:cNvPr id="25" name="Shape 23"/>
          <p:cNvSpPr/>
          <p:nvPr/>
        </p:nvSpPr>
        <p:spPr>
          <a:xfrm>
            <a:off x="548640" y="4937760"/>
            <a:ext cx="11064240" cy="914400"/>
          </a:xfrm>
          <a:prstGeom prst="roundRect">
            <a:avLst>
              <a:gd name="adj" fmla="val 900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6" name="Text 24"/>
          <p:cNvSpPr txBox="1"/>
          <p:nvPr/>
        </p:nvSpPr>
        <p:spPr>
          <a:xfrm>
            <a:off x="868680" y="5120640"/>
            <a:ext cx="10424160" cy="548640"/>
          </a:xfrm>
          <a:prstGeom prst="rect">
            <a:avLst/>
          </a:prstGeom>
          <a:noFill/>
          <a:ln/>
        </p:spPr>
        <p:txBody>
          <a:bodyPr wrap="square" lIns="0" tIns="0" rIns="0" bIns="0" rtlCol="0" anchor="ctr"/>
          <a:lstStyle/>
          <a:p>
            <a:pPr indent="0" marL="0">
              <a:buNone/>
            </a:pPr>
            <a:r>
              <a:rPr lang="en-US" sz="1300" i="1" dirty="0">
                <a:solidFill>
                  <a:srgbClr val="8A5B00"/>
                </a:solidFill>
                <a:latin typeface="Calibri" pitchFamily="34" charset="0"/>
                <a:ea typeface="Calibri" pitchFamily="34" charset="-122"/>
                <a:cs typeface="Calibri" pitchFamily="34" charset="-120"/>
              </a:rPr>
              <a:t>Hold on to question 3. A dataframe with 20 numeric columns contains 190 possible correlations, and today you will watch someone “discover” one in data that has nothing in it.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SESSION PLAN</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How today's two hours are structured</a:t>
            </a:r>
            <a:endParaRPr lang="en-US" sz="3200" dirty="0"/>
          </a:p>
        </p:txBody>
      </p:sp>
      <p:sp>
        <p:nvSpPr>
          <p:cNvPr id="5" name="Shape 3"/>
          <p:cNvSpPr/>
          <p:nvPr/>
        </p:nvSpPr>
        <p:spPr>
          <a:xfrm>
            <a:off x="548640" y="169164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804672" y="2039112"/>
            <a:ext cx="420624" cy="420624"/>
          </a:xfrm>
          <a:prstGeom prst="ellipse">
            <a:avLst/>
          </a:prstGeom>
          <a:solidFill>
            <a:srgbClr val="3E7CB1"/>
          </a:solidFill>
          <a:ln w="12700">
            <a:solidFill>
              <a:srgbClr val="3E7CB1"/>
            </a:solidFill>
            <a:prstDash val="solid"/>
          </a:ln>
        </p:spPr>
      </p:sp>
      <p:sp>
        <p:nvSpPr>
          <p:cNvPr id="7" name="Text 5"/>
          <p:cNvSpPr txBox="1"/>
          <p:nvPr/>
        </p:nvSpPr>
        <p:spPr>
          <a:xfrm>
            <a:off x="804672" y="203911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417320" y="1874520"/>
            <a:ext cx="3291840" cy="347472"/>
          </a:xfrm>
          <a:prstGeom prst="rect">
            <a:avLst/>
          </a:prstGeom>
          <a:noFill/>
          <a:ln/>
        </p:spPr>
        <p:txBody>
          <a:bodyPr wrap="square" lIns="0" tIns="0" rIns="0" bIns="0" rtlCol="0" anchor="ctr"/>
          <a:lstStyle/>
          <a:p>
            <a:pPr indent="0" marL="0">
              <a:buNone/>
            </a:pPr>
            <a:r>
              <a:rPr lang="en-US" sz="1550" b="1" dirty="0">
                <a:solidFill>
                  <a:srgbClr val="1F3A5F"/>
                </a:solidFill>
                <a:latin typeface="Calibri" pitchFamily="34" charset="0"/>
                <a:ea typeface="Calibri" pitchFamily="34" charset="-122"/>
                <a:cs typeface="Calibri" pitchFamily="34" charset="-120"/>
              </a:rPr>
              <a:t>What r measures</a:t>
            </a:r>
            <a:endParaRPr lang="en-US" sz="1550" dirty="0"/>
          </a:p>
        </p:txBody>
      </p:sp>
      <p:sp>
        <p:nvSpPr>
          <p:cNvPr id="9" name="Text 7"/>
          <p:cNvSpPr txBox="1"/>
          <p:nvPr/>
        </p:nvSpPr>
        <p:spPr>
          <a:xfrm>
            <a:off x="1417320" y="224028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And the two things it does not</a:t>
            </a:r>
            <a:endParaRPr lang="en-US" sz="1250" dirty="0"/>
          </a:p>
        </p:txBody>
      </p:sp>
      <p:sp>
        <p:nvSpPr>
          <p:cNvPr id="10" name="Text 8"/>
          <p:cNvSpPr txBox="1"/>
          <p:nvPr/>
        </p:nvSpPr>
        <p:spPr>
          <a:xfrm>
            <a:off x="4709160" y="1874520"/>
            <a:ext cx="109728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15 min</a:t>
            </a:r>
            <a:endParaRPr lang="en-US" sz="1300" dirty="0"/>
          </a:p>
        </p:txBody>
      </p:sp>
      <p:sp>
        <p:nvSpPr>
          <p:cNvPr id="11" name="Shape 9"/>
          <p:cNvSpPr/>
          <p:nvPr/>
        </p:nvSpPr>
        <p:spPr>
          <a:xfrm>
            <a:off x="6263640" y="169164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2" name="Shape 10"/>
          <p:cNvSpPr/>
          <p:nvPr/>
        </p:nvSpPr>
        <p:spPr>
          <a:xfrm>
            <a:off x="6519672" y="2039112"/>
            <a:ext cx="420624" cy="420624"/>
          </a:xfrm>
          <a:prstGeom prst="ellipse">
            <a:avLst/>
          </a:prstGeom>
          <a:solidFill>
            <a:srgbClr val="E8674C"/>
          </a:solidFill>
          <a:ln w="12700">
            <a:solidFill>
              <a:srgbClr val="E8674C"/>
            </a:solidFill>
            <a:prstDash val="solid"/>
          </a:ln>
        </p:spPr>
      </p:sp>
      <p:sp>
        <p:nvSpPr>
          <p:cNvPr id="13" name="Text 11"/>
          <p:cNvSpPr txBox="1"/>
          <p:nvPr/>
        </p:nvSpPr>
        <p:spPr>
          <a:xfrm>
            <a:off x="6519672" y="203911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7132320" y="1874520"/>
            <a:ext cx="3291840" cy="347472"/>
          </a:xfrm>
          <a:prstGeom prst="rect">
            <a:avLst/>
          </a:prstGeom>
          <a:noFill/>
          <a:ln/>
        </p:spPr>
        <p:txBody>
          <a:bodyPr wrap="square" lIns="0" tIns="0" rIns="0" bIns="0" rtlCol="0" anchor="ctr"/>
          <a:lstStyle/>
          <a:p>
            <a:pPr indent="0" marL="0">
              <a:buNone/>
            </a:pPr>
            <a:r>
              <a:rPr lang="en-US" sz="1550" b="1" dirty="0">
                <a:solidFill>
                  <a:srgbClr val="1F3A5F"/>
                </a:solidFill>
                <a:latin typeface="Calibri" pitchFamily="34" charset="0"/>
                <a:ea typeface="Calibri" pitchFamily="34" charset="-122"/>
                <a:cs typeface="Calibri" pitchFamily="34" charset="-120"/>
              </a:rPr>
              <a:t>What r cannot see</a:t>
            </a:r>
            <a:endParaRPr lang="en-US" sz="1550" dirty="0"/>
          </a:p>
        </p:txBody>
      </p:sp>
      <p:sp>
        <p:nvSpPr>
          <p:cNvPr id="15" name="Text 13"/>
          <p:cNvSpPr txBox="1"/>
          <p:nvPr/>
        </p:nvSpPr>
        <p:spPr>
          <a:xfrm>
            <a:off x="7132320" y="224028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Curves, outliers, and Anscombe</a:t>
            </a:r>
            <a:endParaRPr lang="en-US" sz="1250" dirty="0"/>
          </a:p>
        </p:txBody>
      </p:sp>
      <p:sp>
        <p:nvSpPr>
          <p:cNvPr id="16" name="Text 14"/>
          <p:cNvSpPr txBox="1"/>
          <p:nvPr/>
        </p:nvSpPr>
        <p:spPr>
          <a:xfrm>
            <a:off x="10424160" y="1874520"/>
            <a:ext cx="109728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25 min</a:t>
            </a:r>
            <a:endParaRPr lang="en-US" sz="1300" dirty="0"/>
          </a:p>
        </p:txBody>
      </p:sp>
      <p:sp>
        <p:nvSpPr>
          <p:cNvPr id="17" name="Shape 15"/>
          <p:cNvSpPr/>
          <p:nvPr/>
        </p:nvSpPr>
        <p:spPr>
          <a:xfrm>
            <a:off x="548640" y="301752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8" name="Shape 16"/>
          <p:cNvSpPr/>
          <p:nvPr/>
        </p:nvSpPr>
        <p:spPr>
          <a:xfrm>
            <a:off x="804672" y="3364992"/>
            <a:ext cx="420624" cy="420624"/>
          </a:xfrm>
          <a:prstGeom prst="ellipse">
            <a:avLst/>
          </a:prstGeom>
          <a:solidFill>
            <a:srgbClr val="FFC145"/>
          </a:solidFill>
          <a:ln w="12700">
            <a:solidFill>
              <a:srgbClr val="FFC145"/>
            </a:solidFill>
            <a:prstDash val="solid"/>
          </a:ln>
        </p:spPr>
      </p:sp>
      <p:sp>
        <p:nvSpPr>
          <p:cNvPr id="19" name="Text 17"/>
          <p:cNvSpPr txBox="1"/>
          <p:nvPr/>
        </p:nvSpPr>
        <p:spPr>
          <a:xfrm>
            <a:off x="804672" y="3364992"/>
            <a:ext cx="420624" cy="42062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1417320" y="3200400"/>
            <a:ext cx="3291840" cy="347472"/>
          </a:xfrm>
          <a:prstGeom prst="rect">
            <a:avLst/>
          </a:prstGeom>
          <a:noFill/>
          <a:ln/>
        </p:spPr>
        <p:txBody>
          <a:bodyPr wrap="square" lIns="0" tIns="0" rIns="0" bIns="0" rtlCol="0" anchor="ctr"/>
          <a:lstStyle/>
          <a:p>
            <a:pPr indent="0" marL="0">
              <a:buNone/>
            </a:pPr>
            <a:r>
              <a:rPr lang="en-US" sz="1550" b="1" dirty="0">
                <a:solidFill>
                  <a:srgbClr val="1F3A5F"/>
                </a:solidFill>
                <a:latin typeface="Calibri" pitchFamily="34" charset="0"/>
                <a:ea typeface="Calibri" pitchFamily="34" charset="-122"/>
                <a:cs typeface="Calibri" pitchFamily="34" charset="-120"/>
              </a:rPr>
              <a:t>How well do you know r?</a:t>
            </a:r>
            <a:endParaRPr lang="en-US" sz="1550" dirty="0"/>
          </a:p>
        </p:txBody>
      </p:sp>
      <p:sp>
        <p:nvSpPr>
          <p:cNvPr id="21" name="Text 19"/>
          <p:cNvSpPr txBox="1"/>
          <p:nvPr/>
        </p:nvSpPr>
        <p:spPr>
          <a:xfrm>
            <a:off x="1417320" y="356616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The interval, and tiny r at big n</a:t>
            </a:r>
            <a:endParaRPr lang="en-US" sz="1250" dirty="0"/>
          </a:p>
        </p:txBody>
      </p:sp>
      <p:sp>
        <p:nvSpPr>
          <p:cNvPr id="22" name="Text 20"/>
          <p:cNvSpPr txBox="1"/>
          <p:nvPr/>
        </p:nvSpPr>
        <p:spPr>
          <a:xfrm>
            <a:off x="4709160" y="3200400"/>
            <a:ext cx="1097280" cy="320040"/>
          </a:xfrm>
          <a:prstGeom prst="rect">
            <a:avLst/>
          </a:prstGeom>
          <a:noFill/>
          <a:ln/>
        </p:spPr>
        <p:txBody>
          <a:bodyPr wrap="square" lIns="0" tIns="0" rIns="0" bIns="0" rtlCol="0" anchor="ctr"/>
          <a:lstStyle/>
          <a:p>
            <a:pPr algn="r" indent="0" marL="0">
              <a:buNone/>
            </a:pPr>
            <a:r>
              <a:rPr lang="en-US" sz="1300" b="1" dirty="0">
                <a:solidFill>
                  <a:srgbClr val="E8674C"/>
                </a:solidFill>
                <a:latin typeface="Calibri" pitchFamily="34" charset="0"/>
                <a:ea typeface="Calibri" pitchFamily="34" charset="-122"/>
                <a:cs typeface="Calibri" pitchFamily="34" charset="-120"/>
              </a:rPr>
              <a:t>15 min</a:t>
            </a:r>
            <a:endParaRPr lang="en-US" sz="1300" dirty="0"/>
          </a:p>
        </p:txBody>
      </p:sp>
      <p:sp>
        <p:nvSpPr>
          <p:cNvPr id="23" name="Shape 21"/>
          <p:cNvSpPr/>
          <p:nvPr/>
        </p:nvSpPr>
        <p:spPr>
          <a:xfrm>
            <a:off x="6263640" y="301752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4" name="Shape 22"/>
          <p:cNvSpPr/>
          <p:nvPr/>
        </p:nvSpPr>
        <p:spPr>
          <a:xfrm>
            <a:off x="6519672" y="3364992"/>
            <a:ext cx="420624" cy="420624"/>
          </a:xfrm>
          <a:prstGeom prst="ellipse">
            <a:avLst/>
          </a:prstGeom>
          <a:solidFill>
            <a:srgbClr val="E8674C"/>
          </a:solidFill>
          <a:ln w="12700">
            <a:solidFill>
              <a:srgbClr val="E8674C"/>
            </a:solidFill>
            <a:prstDash val="solid"/>
          </a:ln>
        </p:spPr>
      </p:sp>
      <p:sp>
        <p:nvSpPr>
          <p:cNvPr id="25" name="Text 23"/>
          <p:cNvSpPr txBox="1"/>
          <p:nvPr/>
        </p:nvSpPr>
        <p:spPr>
          <a:xfrm>
            <a:off x="6519672" y="336499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4"/>
          <p:cNvSpPr txBox="1"/>
          <p:nvPr/>
        </p:nvSpPr>
        <p:spPr>
          <a:xfrm>
            <a:off x="7132320" y="3200400"/>
            <a:ext cx="3291840" cy="347472"/>
          </a:xfrm>
          <a:prstGeom prst="rect">
            <a:avLst/>
          </a:prstGeom>
          <a:noFill/>
          <a:ln/>
        </p:spPr>
        <p:txBody>
          <a:bodyPr wrap="square" lIns="0" tIns="0" rIns="0" bIns="0" rtlCol="0" anchor="ctr"/>
          <a:lstStyle/>
          <a:p>
            <a:pPr indent="0" marL="0">
              <a:buNone/>
            </a:pPr>
            <a:r>
              <a:rPr lang="en-US" sz="1550" b="1" dirty="0">
                <a:solidFill>
                  <a:srgbClr val="1F3A5F"/>
                </a:solidFill>
                <a:latin typeface="Calibri" pitchFamily="34" charset="0"/>
                <a:ea typeface="Calibri" pitchFamily="34" charset="-122"/>
                <a:cs typeface="Calibri" pitchFamily="34" charset="-120"/>
              </a:rPr>
              <a:t>The four explanations</a:t>
            </a:r>
            <a:endParaRPr lang="en-US" sz="1550" dirty="0"/>
          </a:p>
        </p:txBody>
      </p:sp>
      <p:sp>
        <p:nvSpPr>
          <p:cNvPr id="27" name="Text 25"/>
          <p:cNvSpPr txBox="1"/>
          <p:nvPr/>
        </p:nvSpPr>
        <p:spPr>
          <a:xfrm>
            <a:off x="7132320" y="356616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Only one of them is cause</a:t>
            </a:r>
            <a:endParaRPr lang="en-US" sz="1250" dirty="0"/>
          </a:p>
        </p:txBody>
      </p:sp>
      <p:sp>
        <p:nvSpPr>
          <p:cNvPr id="28" name="Text 26"/>
          <p:cNvSpPr txBox="1"/>
          <p:nvPr/>
        </p:nvSpPr>
        <p:spPr>
          <a:xfrm>
            <a:off x="10424160" y="3200400"/>
            <a:ext cx="109728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25 min</a:t>
            </a:r>
            <a:endParaRPr lang="en-US" sz="1300" dirty="0"/>
          </a:p>
        </p:txBody>
      </p:sp>
      <p:sp>
        <p:nvSpPr>
          <p:cNvPr id="29" name="Shape 27"/>
          <p:cNvSpPr/>
          <p:nvPr/>
        </p:nvSpPr>
        <p:spPr>
          <a:xfrm>
            <a:off x="548640" y="434340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0" name="Shape 28"/>
          <p:cNvSpPr/>
          <p:nvPr/>
        </p:nvSpPr>
        <p:spPr>
          <a:xfrm>
            <a:off x="804672" y="4690872"/>
            <a:ext cx="420624" cy="420624"/>
          </a:xfrm>
          <a:prstGeom prst="ellipse">
            <a:avLst/>
          </a:prstGeom>
          <a:solidFill>
            <a:srgbClr val="3E7CB1"/>
          </a:solidFill>
          <a:ln w="12700">
            <a:solidFill>
              <a:srgbClr val="3E7CB1"/>
            </a:solidFill>
            <a:prstDash val="solid"/>
          </a:ln>
        </p:spPr>
      </p:sp>
      <p:sp>
        <p:nvSpPr>
          <p:cNvPr id="31" name="Text 29"/>
          <p:cNvSpPr txBox="1"/>
          <p:nvPr/>
        </p:nvSpPr>
        <p:spPr>
          <a:xfrm>
            <a:off x="804672" y="469087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2" name="Text 30"/>
          <p:cNvSpPr txBox="1"/>
          <p:nvPr/>
        </p:nvSpPr>
        <p:spPr>
          <a:xfrm>
            <a:off x="1417320" y="4526280"/>
            <a:ext cx="3291840" cy="347472"/>
          </a:xfrm>
          <a:prstGeom prst="rect">
            <a:avLst/>
          </a:prstGeom>
          <a:noFill/>
          <a:ln/>
        </p:spPr>
        <p:txBody>
          <a:bodyPr wrap="square" lIns="0" tIns="0" rIns="0" bIns="0" rtlCol="0" anchor="ctr"/>
          <a:lstStyle/>
          <a:p>
            <a:pPr indent="0" marL="0">
              <a:buNone/>
            </a:pPr>
            <a:r>
              <a:rPr lang="en-US" sz="1550" b="1" dirty="0">
                <a:solidFill>
                  <a:srgbClr val="1F3A5F"/>
                </a:solidFill>
                <a:latin typeface="Calibri" pitchFamily="34" charset="0"/>
                <a:ea typeface="Calibri" pitchFamily="34" charset="-122"/>
                <a:cs typeface="Calibri" pitchFamily="34" charset="-120"/>
              </a:rPr>
              <a:t>Searching for correlations</a:t>
            </a:r>
            <a:endParaRPr lang="en-US" sz="1550" dirty="0"/>
          </a:p>
        </p:txBody>
      </p:sp>
      <p:sp>
        <p:nvSpPr>
          <p:cNvPr id="33" name="Text 31"/>
          <p:cNvSpPr txBox="1"/>
          <p:nvPr/>
        </p:nvSpPr>
        <p:spPr>
          <a:xfrm>
            <a:off x="1417320" y="489204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190 pairs and nothing real</a:t>
            </a:r>
            <a:endParaRPr lang="en-US" sz="1250" dirty="0"/>
          </a:p>
        </p:txBody>
      </p:sp>
      <p:sp>
        <p:nvSpPr>
          <p:cNvPr id="34" name="Text 32"/>
          <p:cNvSpPr txBox="1"/>
          <p:nvPr/>
        </p:nvSpPr>
        <p:spPr>
          <a:xfrm>
            <a:off x="4709160" y="4526280"/>
            <a:ext cx="109728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10 min</a:t>
            </a:r>
            <a:endParaRPr lang="en-US" sz="1300" dirty="0"/>
          </a:p>
        </p:txBody>
      </p:sp>
      <p:sp>
        <p:nvSpPr>
          <p:cNvPr id="35" name="Shape 33"/>
          <p:cNvSpPr/>
          <p:nvPr/>
        </p:nvSpPr>
        <p:spPr>
          <a:xfrm>
            <a:off x="6263640" y="434340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6" name="Shape 34"/>
          <p:cNvSpPr/>
          <p:nvPr/>
        </p:nvSpPr>
        <p:spPr>
          <a:xfrm>
            <a:off x="6519672" y="4690872"/>
            <a:ext cx="420624" cy="420624"/>
          </a:xfrm>
          <a:prstGeom prst="ellipse">
            <a:avLst/>
          </a:prstGeom>
          <a:solidFill>
            <a:srgbClr val="FFC145"/>
          </a:solidFill>
          <a:ln w="12700">
            <a:solidFill>
              <a:srgbClr val="FFC145"/>
            </a:solidFill>
            <a:prstDash val="solid"/>
          </a:ln>
        </p:spPr>
      </p:sp>
      <p:sp>
        <p:nvSpPr>
          <p:cNvPr id="37" name="Text 35"/>
          <p:cNvSpPr txBox="1"/>
          <p:nvPr/>
        </p:nvSpPr>
        <p:spPr>
          <a:xfrm>
            <a:off x="6519672" y="4690872"/>
            <a:ext cx="420624" cy="42062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6</a:t>
            </a:r>
            <a:endParaRPr lang="en-US" sz="1300" dirty="0"/>
          </a:p>
        </p:txBody>
      </p:sp>
      <p:sp>
        <p:nvSpPr>
          <p:cNvPr id="38" name="Text 36"/>
          <p:cNvSpPr txBox="1"/>
          <p:nvPr/>
        </p:nvSpPr>
        <p:spPr>
          <a:xfrm>
            <a:off x="7132320" y="4526280"/>
            <a:ext cx="3291840" cy="347472"/>
          </a:xfrm>
          <a:prstGeom prst="rect">
            <a:avLst/>
          </a:prstGeom>
          <a:noFill/>
          <a:ln/>
        </p:spPr>
        <p:txBody>
          <a:bodyPr wrap="square" lIns="0" tIns="0" rIns="0" bIns="0" rtlCol="0" anchor="ctr"/>
          <a:lstStyle/>
          <a:p>
            <a:pPr indent="0" marL="0">
              <a:buNone/>
            </a:pPr>
            <a:r>
              <a:rPr lang="en-US" sz="1550" b="1" dirty="0">
                <a:solidFill>
                  <a:srgbClr val="1F3A5F"/>
                </a:solidFill>
                <a:latin typeface="Calibri" pitchFamily="34" charset="0"/>
                <a:ea typeface="Calibri" pitchFamily="34" charset="-122"/>
                <a:cs typeface="Calibri" pitchFamily="34" charset="-120"/>
              </a:rPr>
              <a:t>Practice notebook</a:t>
            </a:r>
            <a:endParaRPr lang="en-US" sz="1550" dirty="0"/>
          </a:p>
        </p:txBody>
      </p:sp>
      <p:sp>
        <p:nvSpPr>
          <p:cNvPr id="39" name="Text 37"/>
          <p:cNvSpPr txBox="1"/>
          <p:nvPr/>
        </p:nvSpPr>
        <p:spPr>
          <a:xfrm>
            <a:off x="7132320" y="489204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You code, I walk around</a:t>
            </a:r>
            <a:endParaRPr lang="en-US" sz="1250" dirty="0"/>
          </a:p>
        </p:txBody>
      </p:sp>
      <p:sp>
        <p:nvSpPr>
          <p:cNvPr id="40" name="Text 38"/>
          <p:cNvSpPr txBox="1"/>
          <p:nvPr/>
        </p:nvSpPr>
        <p:spPr>
          <a:xfrm>
            <a:off x="10424160" y="4526280"/>
            <a:ext cx="1097280" cy="320040"/>
          </a:xfrm>
          <a:prstGeom prst="rect">
            <a:avLst/>
          </a:prstGeom>
          <a:noFill/>
          <a:ln/>
        </p:spPr>
        <p:txBody>
          <a:bodyPr wrap="square" lIns="0" tIns="0" rIns="0" bIns="0" rtlCol="0" anchor="ctr"/>
          <a:lstStyle/>
          <a:p>
            <a:pPr algn="r" indent="0" marL="0">
              <a:buNone/>
            </a:pPr>
            <a:r>
              <a:rPr lang="en-US" sz="1300" b="1" dirty="0">
                <a:solidFill>
                  <a:srgbClr val="E8674C"/>
                </a:solidFill>
                <a:latin typeface="Calibri" pitchFamily="34" charset="0"/>
                <a:ea typeface="Calibri" pitchFamily="34" charset="-122"/>
                <a:cs typeface="Calibri" pitchFamily="34" charset="-120"/>
              </a:rPr>
              <a:t>30 min</a:t>
            </a:r>
            <a:endParaRPr lang="en-US" sz="1300" dirty="0"/>
          </a:p>
        </p:txBody>
      </p:sp>
      <p:sp>
        <p:nvSpPr>
          <p:cNvPr id="41" name="Text 39"/>
          <p:cNvSpPr txBox="1"/>
          <p:nvPr/>
        </p:nvSpPr>
        <p:spPr>
          <a:xfrm>
            <a:off x="548640" y="5806440"/>
            <a:ext cx="11064240" cy="320040"/>
          </a:xfrm>
          <a:prstGeom prst="rect">
            <a:avLst/>
          </a:prstGeom>
          <a:noFill/>
          <a:ln/>
        </p:spPr>
        <p:txBody>
          <a:bodyPr wrap="square" lIns="0" tIns="0" rIns="0" bIns="0" rtlCol="0" anchor="ctr"/>
          <a:lstStyle/>
          <a:p>
            <a:pPr indent="0" marL="0">
              <a:buNone/>
            </a:pPr>
            <a:r>
              <a:rPr lang="en-US" sz="1300" i="1" dirty="0">
                <a:solidFill>
                  <a:srgbClr val="6B7789"/>
                </a:solidFill>
                <a:latin typeface="Calibri" pitchFamily="34" charset="0"/>
                <a:ea typeface="Calibri" pitchFamily="34" charset="-122"/>
                <a:cs typeface="Calibri" pitchFamily="34" charset="-120"/>
              </a:rPr>
              <a:t>Section 4 is the one worth the whole session. It is the difference between repeating a slogan and being able to argue about a causal claim.</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822960" y="2057400"/>
            <a:ext cx="777240" cy="777240"/>
          </a:xfrm>
          <a:prstGeom prst="ellipse">
            <a:avLst/>
          </a:prstGeom>
          <a:solidFill>
            <a:srgbClr val="FFC145"/>
          </a:solidFill>
          <a:ln w="12700">
            <a:solidFill>
              <a:srgbClr val="FFC145"/>
            </a:solidFill>
            <a:prstDash val="solid"/>
          </a:ln>
        </p:spPr>
      </p:sp>
      <p:sp>
        <p:nvSpPr>
          <p:cNvPr id="4" name="Text 2"/>
          <p:cNvSpPr txBox="1"/>
          <p:nvPr/>
        </p:nvSpPr>
        <p:spPr>
          <a:xfrm>
            <a:off x="822960" y="2057400"/>
            <a:ext cx="777240" cy="777240"/>
          </a:xfrm>
          <a:prstGeom prst="rect">
            <a:avLst/>
          </a:prstGeom>
          <a:noFill/>
          <a:ln/>
        </p:spPr>
        <p:txBody>
          <a:bodyPr wrap="square" lIns="0" tIns="0" rIns="0" bIns="0" rtlCol="0" anchor="ctr"/>
          <a:lstStyle/>
          <a:p>
            <a:pPr algn="ctr" indent="0" marL="0">
              <a:buNone/>
            </a:pPr>
            <a:r>
              <a:rPr lang="en-US" sz="3000" b="1" dirty="0">
                <a:solidFill>
                  <a:srgbClr val="152238"/>
                </a:solidFill>
                <a:latin typeface="Calibri" pitchFamily="34" charset="0"/>
                <a:ea typeface="Calibri" pitchFamily="34" charset="-122"/>
                <a:cs typeface="Calibri" pitchFamily="34" charset="-120"/>
              </a:rPr>
              <a:t>1</a:t>
            </a:r>
            <a:endParaRPr lang="en-US" sz="3000" dirty="0"/>
          </a:p>
        </p:txBody>
      </p:sp>
      <p:sp>
        <p:nvSpPr>
          <p:cNvPr id="5" name="Text 3"/>
          <p:cNvSpPr txBox="1"/>
          <p:nvPr/>
        </p:nvSpPr>
        <p:spPr>
          <a:xfrm>
            <a:off x="1920240" y="1965960"/>
            <a:ext cx="676656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What r Measures</a:t>
            </a:r>
            <a:endParaRPr lang="en-US" sz="4000" dirty="0"/>
          </a:p>
        </p:txBody>
      </p:sp>
      <p:sp>
        <p:nvSpPr>
          <p:cNvPr id="6" name="Text 4"/>
          <p:cNvSpPr txBox="1"/>
          <p:nvPr/>
        </p:nvSpPr>
        <p:spPr>
          <a:xfrm>
            <a:off x="1947672" y="2788920"/>
            <a:ext cx="6949440" cy="457200"/>
          </a:xfrm>
          <a:prstGeom prst="rect">
            <a:avLst/>
          </a:prstGeom>
          <a:noFill/>
          <a:ln/>
        </p:spPr>
        <p:txBody>
          <a:bodyPr wrap="square" lIns="0" tIns="0" rIns="0" bIns="0" rtlCol="0" anchor="ctr"/>
          <a:lstStyle/>
          <a:p>
            <a:pPr indent="0" marL="0">
              <a:buNone/>
            </a:pPr>
            <a:r>
              <a:rPr lang="en-US" sz="1600" dirty="0">
                <a:solidFill>
                  <a:srgbClr val="AFC2DC"/>
                </a:solidFill>
                <a:latin typeface="Calibri" pitchFamily="34" charset="0"/>
                <a:ea typeface="Calibri" pitchFamily="34" charset="-122"/>
                <a:cs typeface="Calibri" pitchFamily="34" charset="-120"/>
              </a:rPr>
              <a:t>One number, one job  ·  15 minutes</a:t>
            </a:r>
            <a:endParaRPr lang="en-US" sz="1600" dirty="0"/>
          </a:p>
        </p:txBody>
      </p:sp>
      <p:sp>
        <p:nvSpPr>
          <p:cNvPr id="7" name="Text 5"/>
          <p:cNvSpPr txBox="1"/>
          <p:nvPr/>
        </p:nvSpPr>
        <p:spPr>
          <a:xfrm>
            <a:off x="9144000" y="2011680"/>
            <a:ext cx="2468880" cy="21945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What the values look like</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r is not a slope</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r squared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1.1  ·  THE GALLERY</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What the numbers actually look like</a:t>
            </a:r>
            <a:endParaRPr lang="en-US" sz="3200" dirty="0"/>
          </a:p>
        </p:txBody>
      </p:sp>
      <p:pic>
        <p:nvPicPr>
          <p:cNvPr id="5" name="Image 0" descr="/home/claude/day29/fig/r_gallery.png">    </p:cNvPr>
          <p:cNvPicPr>
            <a:picLocks noChangeAspect="1"/>
          </p:cNvPicPr>
          <p:nvPr/>
        </p:nvPicPr>
        <p:blipFill>
          <a:blip r:embed="rId1"/>
          <a:stretch>
            <a:fillRect/>
          </a:stretch>
        </p:blipFill>
        <p:spPr>
          <a:xfrm>
            <a:off x="1874520" y="1517904"/>
            <a:ext cx="8412480" cy="3551068"/>
          </a:xfrm>
          <a:prstGeom prst="rect">
            <a:avLst/>
          </a:prstGeom>
        </p:spPr>
      </p:pic>
      <p:sp>
        <p:nvSpPr>
          <p:cNvPr id="6" name="Shape 3"/>
          <p:cNvSpPr/>
          <p:nvPr/>
        </p:nvSpPr>
        <p:spPr>
          <a:xfrm>
            <a:off x="548640" y="5166360"/>
            <a:ext cx="11064240" cy="868680"/>
          </a:xfrm>
          <a:prstGeom prst="roundRect">
            <a:avLst>
              <a:gd name="adj" fmla="val 9474"/>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68680" y="5321808"/>
            <a:ext cx="10424160" cy="594360"/>
          </a:xfrm>
          <a:prstGeom prst="rect">
            <a:avLst/>
          </a:prstGeom>
          <a:noFill/>
          <a:ln/>
        </p:spPr>
        <p:txBody>
          <a:bodyPr wrap="square" lIns="0" tIns="0" rIns="0" bIns="0" rtlCol="0" anchor="ctr"/>
          <a:lstStyle/>
          <a:p>
            <a:pPr indent="0" marL="0">
              <a:lnSpc>
                <a:spcPct val="115000"/>
              </a:lnSpc>
              <a:buNone/>
            </a:pPr>
            <a:r>
              <a:rPr lang="en-US" sz="1250" dirty="0">
                <a:solidFill>
                  <a:srgbClr val="1F3A5F"/>
                </a:solidFill>
                <a:latin typeface="Calibri" pitchFamily="34" charset="0"/>
                <a:ea typeface="Calibri" pitchFamily="34" charset="-122"/>
                <a:cs typeface="Calibri" pitchFamily="34" charset="-120"/>
              </a:rPr>
              <a:t>Pearson's r runs from −1 to +1. The sign says which way the cloud leans; the size says how tightly it hugs a straight line. r = 0 is a shapeless blob and r = ±1 is a perfect line. Note that r = 0.3 — which sounds like “some relationship” — looks like almost nothing.</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1.2  ·  NOT A SLOPE</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 r tells you nothing about how big the effect is</a:t>
            </a:r>
            <a:endParaRPr lang="en-US" sz="3200" dirty="0"/>
          </a:p>
        </p:txBody>
      </p:sp>
      <p:pic>
        <p:nvPicPr>
          <p:cNvPr id="5" name="Image 0" descr="/home/claude/day29/fig/r_not_slope.png">    </p:cNvPr>
          <p:cNvPicPr>
            <a:picLocks noChangeAspect="1"/>
          </p:cNvPicPr>
          <p:nvPr/>
        </p:nvPicPr>
        <p:blipFill>
          <a:blip r:embed="rId1"/>
          <a:stretch>
            <a:fillRect/>
          </a:stretch>
        </p:blipFill>
        <p:spPr>
          <a:xfrm>
            <a:off x="731520" y="1572768"/>
            <a:ext cx="10698480" cy="2669281"/>
          </a:xfrm>
          <a:prstGeom prst="rect">
            <a:avLst/>
          </a:prstGeom>
        </p:spPr>
      </p:pic>
      <p:sp>
        <p:nvSpPr>
          <p:cNvPr id="6" name="Shape 3"/>
          <p:cNvSpPr/>
          <p:nvPr/>
        </p:nvSpPr>
        <p:spPr>
          <a:xfrm>
            <a:off x="548640" y="4315968"/>
            <a:ext cx="5486400" cy="1536192"/>
          </a:xfrm>
          <a:prstGeom prst="roundRect">
            <a:avLst>
              <a:gd name="adj" fmla="val 5357"/>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04672" y="4443984"/>
            <a:ext cx="4937760" cy="274320"/>
          </a:xfrm>
          <a:prstGeom prst="rect">
            <a:avLst/>
          </a:prstGeom>
          <a:noFill/>
          <a:ln/>
        </p:spPr>
        <p:txBody>
          <a:bodyPr wrap="square" lIns="0" tIns="0" rIns="0" bIns="0" rtlCol="0" anchor="ctr"/>
          <a:lstStyle/>
          <a:p>
            <a:pPr indent="0" marL="0">
              <a:buNone/>
            </a:pPr>
            <a:r>
              <a:rPr lang="en-US" sz="1350" b="1" dirty="0">
                <a:solidFill>
                  <a:srgbClr val="A63B24"/>
                </a:solidFill>
                <a:latin typeface="Calibri" pitchFamily="34" charset="0"/>
                <a:ea typeface="Calibri" pitchFamily="34" charset="-122"/>
                <a:cs typeface="Calibri" pitchFamily="34" charset="-120"/>
              </a:rPr>
              <a:t>Same r, slopes spanning 1000×</a:t>
            </a:r>
            <a:endParaRPr lang="en-US" sz="1350" dirty="0"/>
          </a:p>
        </p:txBody>
      </p:sp>
      <p:sp>
        <p:nvSpPr>
          <p:cNvPr id="8" name="Text 5"/>
          <p:cNvSpPr txBox="1"/>
          <p:nvPr/>
        </p:nvSpPr>
        <p:spPr>
          <a:xfrm>
            <a:off x="804672" y="4754880"/>
            <a:ext cx="4983480" cy="1024128"/>
          </a:xfrm>
          <a:prstGeom prst="rect">
            <a:avLst/>
          </a:prstGeom>
          <a:noFill/>
          <a:ln/>
        </p:spPr>
        <p:txBody>
          <a:bodyPr wrap="square" lIns="0" tIns="0" rIns="0" bIns="0" rtlCol="0" anchor="ctr"/>
          <a:lstStyle/>
          <a:p>
            <a:pPr indent="0" marL="0">
              <a:lnSpc>
                <a:spcPct val="120000"/>
              </a:lnSpc>
              <a:buNone/>
            </a:pPr>
            <a:r>
              <a:rPr lang="en-US" sz="1200" dirty="0">
                <a:solidFill>
                  <a:srgbClr val="6B4A0B"/>
                </a:solidFill>
                <a:latin typeface="Calibri" pitchFamily="34" charset="0"/>
                <a:ea typeface="Calibri" pitchFamily="34" charset="-122"/>
                <a:cs typeface="Calibri" pitchFamily="34" charset="-120"/>
              </a:rPr>
              <a:t>All four panels have r = 0.697. One of them gains 0.09 units of y per unit of x; another gains 90. r cannot tell them apart, because it is computed after both variables are standardised.</a:t>
            </a:r>
            <a:endParaRPr lang="en-US" sz="1200" dirty="0"/>
          </a:p>
        </p:txBody>
      </p:sp>
      <p:sp>
        <p:nvSpPr>
          <p:cNvPr id="9" name="Shape 6"/>
          <p:cNvSpPr/>
          <p:nvPr/>
        </p:nvSpPr>
        <p:spPr>
          <a:xfrm>
            <a:off x="6309360" y="4315968"/>
            <a:ext cx="5303520" cy="1536192"/>
          </a:xfrm>
          <a:prstGeom prst="roundRect">
            <a:avLst>
              <a:gd name="adj" fmla="val 5357"/>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7"/>
          <p:cNvSpPr txBox="1"/>
          <p:nvPr/>
        </p:nvSpPr>
        <p:spPr>
          <a:xfrm>
            <a:off x="6565392" y="4443984"/>
            <a:ext cx="4754880" cy="274320"/>
          </a:xfrm>
          <a:prstGeom prst="rect">
            <a:avLst/>
          </a:prstGeom>
          <a:noFill/>
          <a:ln/>
        </p:spPr>
        <p:txBody>
          <a:bodyPr wrap="square" lIns="0" tIns="0" rIns="0" bIns="0" rtlCol="0" anchor="ctr"/>
          <a:lstStyle/>
          <a:p>
            <a:pPr indent="0" marL="0">
              <a:buNone/>
            </a:pPr>
            <a:r>
              <a:rPr lang="en-US" sz="1350" b="1" dirty="0">
                <a:solidFill>
                  <a:srgbClr val="1C6F5C"/>
                </a:solidFill>
                <a:latin typeface="Calibri" pitchFamily="34" charset="0"/>
                <a:ea typeface="Calibri" pitchFamily="34" charset="-122"/>
                <a:cs typeface="Calibri" pitchFamily="34" charset="-120"/>
              </a:rPr>
              <a:t>So what does r mean?</a:t>
            </a:r>
            <a:endParaRPr lang="en-US" sz="1350" dirty="0"/>
          </a:p>
        </p:txBody>
      </p:sp>
      <p:sp>
        <p:nvSpPr>
          <p:cNvPr id="11" name="Text 8"/>
          <p:cNvSpPr txBox="1"/>
          <p:nvPr/>
        </p:nvSpPr>
        <p:spPr>
          <a:xfrm>
            <a:off x="6565392" y="4754880"/>
            <a:ext cx="4800600" cy="1024128"/>
          </a:xfrm>
          <a:prstGeom prst="rect">
            <a:avLst/>
          </a:prstGeom>
          <a:noFill/>
          <a:ln/>
        </p:spPr>
        <p:txBody>
          <a:bodyPr wrap="square" lIns="0" tIns="0" rIns="0" bIns="0" rtlCol="0" anchor="ctr"/>
          <a:lstStyle/>
          <a:p>
            <a:pPr indent="0" marL="0">
              <a:lnSpc>
                <a:spcPct val="120000"/>
              </a:lnSpc>
              <a:buNone/>
            </a:pPr>
            <a:r>
              <a:rPr lang="en-US" sz="1200" dirty="0">
                <a:solidFill>
                  <a:srgbClr val="2B3445"/>
                </a:solidFill>
                <a:latin typeface="Calibri" pitchFamily="34" charset="0"/>
                <a:ea typeface="Calibri" pitchFamily="34" charset="-122"/>
                <a:cs typeface="Calibri" pitchFamily="34" charset="-120"/>
              </a:rPr>
              <a:t>Only: how predictable y is from x. Not how much y changes. If someone asks “how much does revenue rise per extra salesperson?”, r is the wrong number — you want the slope, which is Module 3.</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1.3  ·  r SQUARED</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r² — the number that keeps you honest</a:t>
            </a:r>
            <a:endParaRPr lang="en-US" sz="3200" dirty="0"/>
          </a:p>
        </p:txBody>
      </p:sp>
      <p:sp>
        <p:nvSpPr>
          <p:cNvPr id="5" name="Shape 3"/>
          <p:cNvSpPr/>
          <p:nvPr/>
        </p:nvSpPr>
        <p:spPr>
          <a:xfrm>
            <a:off x="548640" y="1572768"/>
            <a:ext cx="5486400" cy="2377440"/>
          </a:xfrm>
          <a:prstGeom prst="roundRect">
            <a:avLst>
              <a:gd name="adj" fmla="val 3462"/>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37360"/>
            <a:ext cx="4937760" cy="292608"/>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Square it, and it becomes meaningful</a:t>
            </a:r>
            <a:endParaRPr lang="en-US" sz="1400" dirty="0"/>
          </a:p>
        </p:txBody>
      </p:sp>
      <p:sp>
        <p:nvSpPr>
          <p:cNvPr id="7" name="Text 5"/>
          <p:cNvSpPr txBox="1"/>
          <p:nvPr/>
        </p:nvSpPr>
        <p:spPr>
          <a:xfrm>
            <a:off x="804672" y="2148840"/>
            <a:ext cx="4983480" cy="777240"/>
          </a:xfrm>
          <a:prstGeom prst="rect">
            <a:avLst/>
          </a:prstGeom>
          <a:noFill/>
          <a:ln/>
        </p:spPr>
        <p:txBody>
          <a:bodyPr wrap="square" lIns="0" tIns="0" rIns="0" bIns="0" rtlCol="0" anchor="ctr"/>
          <a:lstStyle/>
          <a:p>
            <a:pPr indent="0" marL="0">
              <a:lnSpc>
                <a:spcPct val="120000"/>
              </a:lnSpc>
              <a:buNone/>
            </a:pPr>
            <a:r>
              <a:rPr lang="en-US" sz="1250" dirty="0">
                <a:solidFill>
                  <a:srgbClr val="2B3445"/>
                </a:solidFill>
                <a:latin typeface="Calibri" pitchFamily="34" charset="0"/>
                <a:ea typeface="Calibri" pitchFamily="34" charset="-122"/>
                <a:cs typeface="Calibri" pitchFamily="34" charset="-120"/>
              </a:rPr>
              <a:t>r² is the share of the variation in y that x accounts for. It is the number to quote when somebody sounds impressed by a correlation.</a:t>
            </a:r>
            <a:endParaRPr lang="en-US" sz="1250" dirty="0"/>
          </a:p>
        </p:txBody>
      </p:sp>
      <p:sp>
        <p:nvSpPr>
          <p:cNvPr id="8" name="Text 6"/>
          <p:cNvSpPr txBox="1"/>
          <p:nvPr/>
        </p:nvSpPr>
        <p:spPr>
          <a:xfrm>
            <a:off x="804672" y="2971800"/>
            <a:ext cx="4983480" cy="822960"/>
          </a:xfrm>
          <a:prstGeom prst="rect">
            <a:avLst/>
          </a:prstGeom>
          <a:noFill/>
          <a:ln/>
        </p:spPr>
        <p:txBody>
          <a:bodyPr wrap="square" lIns="0" tIns="0" rIns="0" bIns="0" rtlCol="0" anchor="ctr"/>
          <a:lstStyle/>
          <a:p>
            <a:pPr indent="0" marL="0">
              <a:lnSpc>
                <a:spcPct val="125000"/>
              </a:lnSpc>
              <a:buNone/>
            </a:pPr>
            <a:r>
              <a:rPr lang="en-US" sz="1250" b="1" dirty="0">
                <a:solidFill>
                  <a:srgbClr val="3E7CB1"/>
                </a:solidFill>
                <a:latin typeface="Calibri" pitchFamily="34" charset="0"/>
                <a:ea typeface="Calibri" pitchFamily="34" charset="-122"/>
                <a:cs typeface="Calibri" pitchFamily="34" charset="-120"/>
              </a:rPr>
              <a:t>r = 0.5 sounds like half a relationship.</a:t>
            </a:r>
            <a:endParaRPr lang="en-US" sz="1250" dirty="0"/>
          </a:p>
          <a:p>
            <a:pPr indent="0" marL="0">
              <a:lnSpc>
                <a:spcPct val="125000"/>
              </a:lnSpc>
              <a:buNone/>
            </a:pPr>
            <a:r>
              <a:rPr lang="en-US" sz="1250" b="1" dirty="0">
                <a:solidFill>
                  <a:srgbClr val="3E7CB1"/>
                </a:solidFill>
                <a:latin typeface="Calibri" pitchFamily="34" charset="0"/>
                <a:ea typeface="Calibri" pitchFamily="34" charset="-122"/>
                <a:cs typeface="Calibri" pitchFamily="34" charset="-120"/>
              </a:rPr>
              <a:t>It accounts for 25% of the variation,</a:t>
            </a:r>
            <a:endParaRPr lang="en-US" sz="1250" dirty="0"/>
          </a:p>
          <a:p>
            <a:pPr indent="0" marL="0">
              <a:lnSpc>
                <a:spcPct val="125000"/>
              </a:lnSpc>
              <a:buNone/>
            </a:pPr>
            <a:r>
              <a:rPr lang="en-US" sz="1250" b="1" dirty="0">
                <a:solidFill>
                  <a:srgbClr val="3E7CB1"/>
                </a:solidFill>
                <a:latin typeface="Calibri" pitchFamily="34" charset="0"/>
                <a:ea typeface="Calibri" pitchFamily="34" charset="-122"/>
                <a:cs typeface="Calibri" pitchFamily="34" charset="-120"/>
              </a:rPr>
              <a:t>which leaves 75% unexplained.</a:t>
            </a:r>
            <a:endParaRPr lang="en-US" sz="1250" dirty="0"/>
          </a:p>
        </p:txBody>
      </p:sp>
      <p:sp>
        <p:nvSpPr>
          <p:cNvPr id="9" name="Shape 7"/>
          <p:cNvSpPr/>
          <p:nvPr/>
        </p:nvSpPr>
        <p:spPr>
          <a:xfrm>
            <a:off x="6309360" y="1572768"/>
            <a:ext cx="5303520" cy="2377440"/>
          </a:xfrm>
          <a:prstGeom prst="roundRect">
            <a:avLst>
              <a:gd name="adj" fmla="val 3462"/>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565392" y="1737360"/>
          <a:ext cx="4800600" cy="914400"/>
        </p:xfrm>
        <a:graphic>
          <a:graphicData uri="http://schemas.openxmlformats.org/drawingml/2006/table">
            <a:tbl>
              <a:tblPr/>
              <a:tblGrid>
                <a:gridCol w="1097280"/>
                <a:gridCol w="1188720"/>
                <a:gridCol w="2514600"/>
              </a:tblGrid>
              <a:tr h="347472">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r²</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reads as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r>
              <a:tr h="347472">
                <a:tc>
                  <a:txBody>
                    <a:bodyPr/>
                    <a:lstStyle/>
                    <a:p>
                      <a:pPr indent="0" marL="0">
                        <a:buNone/>
                      </a:pPr>
                      <a:r>
                        <a:rPr lang="en-US" sz="1100" dirty="0">
                          <a:solidFill>
                            <a:srgbClr val="2B3445"/>
                          </a:solidFill>
                          <a:latin typeface="Calibri" pitchFamily="34" charset="0"/>
                          <a:ea typeface="Calibri" pitchFamily="34" charset="-122"/>
                          <a:cs typeface="Calibri" pitchFamily="34" charset="-120"/>
                        </a:rPr>
                        <a:t>0.10</a:t>
                      </a:r>
                      <a:endParaRPr lang="en-US" sz="11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100" dirty="0">
                          <a:solidFill>
                            <a:srgbClr val="2B3445"/>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100" dirty="0">
                          <a:solidFill>
                            <a:srgbClr val="2B3445"/>
                          </a:solidFill>
                          <a:latin typeface="Calibri" pitchFamily="34" charset="0"/>
                          <a:ea typeface="Calibri" pitchFamily="34" charset="-122"/>
                          <a:cs typeface="Calibri" pitchFamily="34" charset="-120"/>
                        </a:rPr>
                        <a:t>essentially nothing</a:t>
                      </a:r>
                      <a:endParaRPr lang="en-US" sz="11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347472">
                <a:tc>
                  <a:txBody>
                    <a:bodyPr/>
                    <a:lstStyle/>
                    <a:p>
                      <a:pPr indent="0" marL="0">
                        <a:buNone/>
                      </a:pPr>
                      <a:r>
                        <a:rPr lang="en-US" sz="1100" dirty="0">
                          <a:solidFill>
                            <a:srgbClr val="2B3445"/>
                          </a:solidFill>
                          <a:latin typeface="Calibri" pitchFamily="34" charset="0"/>
                          <a:ea typeface="Calibri" pitchFamily="34" charset="-122"/>
                          <a:cs typeface="Calibri" pitchFamily="34" charset="-120"/>
                        </a:rPr>
                        <a:t>0.30</a:t>
                      </a:r>
                      <a:endParaRPr lang="en-US" sz="11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100" dirty="0">
                          <a:solidFill>
                            <a:srgbClr val="2B3445"/>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100" dirty="0">
                          <a:solidFill>
                            <a:srgbClr val="2B3445"/>
                          </a:solidFill>
                          <a:latin typeface="Calibri" pitchFamily="34" charset="0"/>
                          <a:ea typeface="Calibri" pitchFamily="34" charset="-122"/>
                          <a:cs typeface="Calibri" pitchFamily="34" charset="-120"/>
                        </a:rPr>
                        <a:t>weak</a:t>
                      </a:r>
                      <a:endParaRPr lang="en-US" sz="11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347472">
                <a:tc>
                  <a:txBody>
                    <a:bodyPr/>
                    <a:lstStyle/>
                    <a:p>
                      <a:pPr indent="0" marL="0">
                        <a:buNone/>
                      </a:pPr>
                      <a:r>
                        <a:rPr lang="en-US" sz="1100" dirty="0">
                          <a:solidFill>
                            <a:srgbClr val="2B3445"/>
                          </a:solidFill>
                          <a:latin typeface="Calibri" pitchFamily="34" charset="0"/>
                          <a:ea typeface="Calibri" pitchFamily="34" charset="-122"/>
                          <a:cs typeface="Calibri" pitchFamily="34" charset="-120"/>
                        </a:rPr>
                        <a:t>0.50</a:t>
                      </a:r>
                      <a:endParaRPr lang="en-US" sz="11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100" dirty="0">
                          <a:solidFill>
                            <a:srgbClr val="2B3445"/>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100" dirty="0">
                          <a:solidFill>
                            <a:srgbClr val="2B3445"/>
                          </a:solidFill>
                          <a:latin typeface="Calibri" pitchFamily="34" charset="0"/>
                          <a:ea typeface="Calibri" pitchFamily="34" charset="-122"/>
                          <a:cs typeface="Calibri" pitchFamily="34" charset="-120"/>
                        </a:rPr>
                        <a:t>moderate</a:t>
                      </a:r>
                      <a:endParaRPr lang="en-US" sz="11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347472">
                <a:tc>
                  <a:txBody>
                    <a:bodyPr/>
                    <a:lstStyle/>
                    <a:p>
                      <a:pPr indent="0" marL="0">
                        <a:buNone/>
                      </a:pPr>
                      <a:r>
                        <a:rPr lang="en-US" sz="1100" dirty="0">
                          <a:solidFill>
                            <a:srgbClr val="2B3445"/>
                          </a:solidFill>
                          <a:latin typeface="Calibri" pitchFamily="34" charset="0"/>
                          <a:ea typeface="Calibri" pitchFamily="34" charset="-122"/>
                          <a:cs typeface="Calibri" pitchFamily="34" charset="-120"/>
                        </a:rPr>
                        <a:t>0.70</a:t>
                      </a:r>
                      <a:endParaRPr lang="en-US" sz="11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100" dirty="0">
                          <a:solidFill>
                            <a:srgbClr val="2B3445"/>
                          </a:solidFill>
                          <a:latin typeface="Calibri" pitchFamily="34" charset="0"/>
                          <a:ea typeface="Calibri" pitchFamily="34" charset="-122"/>
                          <a:cs typeface="Calibri" pitchFamily="34" charset="-120"/>
                        </a:rPr>
                        <a:t>49%</a:t>
                      </a:r>
                      <a:endParaRPr lang="en-US" sz="11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100" dirty="0">
                          <a:solidFill>
                            <a:srgbClr val="2B3445"/>
                          </a:solidFill>
                          <a:latin typeface="Calibri" pitchFamily="34" charset="0"/>
                          <a:ea typeface="Calibri" pitchFamily="34" charset="-122"/>
                          <a:cs typeface="Calibri" pitchFamily="34" charset="-120"/>
                        </a:rPr>
                        <a:t>strong</a:t>
                      </a:r>
                      <a:endParaRPr lang="en-US" sz="11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347472">
                <a:tc>
                  <a:txBody>
                    <a:bodyPr/>
                    <a:lstStyle/>
                    <a:p>
                      <a:pPr indent="0" marL="0">
                        <a:buNone/>
                      </a:pPr>
                      <a:r>
                        <a:rPr lang="en-US" sz="1100" dirty="0">
                          <a:solidFill>
                            <a:srgbClr val="2B3445"/>
                          </a:solidFill>
                          <a:latin typeface="Calibri" pitchFamily="34" charset="0"/>
                          <a:ea typeface="Calibri" pitchFamily="34" charset="-122"/>
                          <a:cs typeface="Calibri" pitchFamily="34" charset="-120"/>
                        </a:rPr>
                        <a:t>0.90</a:t>
                      </a:r>
                      <a:endParaRPr lang="en-US" sz="11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100" dirty="0">
                          <a:solidFill>
                            <a:srgbClr val="2B3445"/>
                          </a:solidFill>
                          <a:latin typeface="Calibri" pitchFamily="34" charset="0"/>
                          <a:ea typeface="Calibri" pitchFamily="34" charset="-122"/>
                          <a:cs typeface="Calibri" pitchFamily="34" charset="-120"/>
                        </a:rPr>
                        <a:t>81%</a:t>
                      </a:r>
                      <a:endParaRPr lang="en-US" sz="11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100" dirty="0">
                          <a:solidFill>
                            <a:srgbClr val="2B3445"/>
                          </a:solidFill>
                          <a:latin typeface="Calibri" pitchFamily="34" charset="0"/>
                          <a:ea typeface="Calibri" pitchFamily="34" charset="-122"/>
                          <a:cs typeface="Calibri" pitchFamily="34" charset="-120"/>
                        </a:rPr>
                        <a:t>very strong</a:t>
                      </a:r>
                      <a:endParaRPr lang="en-US" sz="11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bl>
          </a:graphicData>
        </a:graphic>
      </p:graphicFrame>
      <p:sp>
        <p:nvSpPr>
          <p:cNvPr id="11" name="Shape 8"/>
          <p:cNvSpPr/>
          <p:nvPr/>
        </p:nvSpPr>
        <p:spPr>
          <a:xfrm>
            <a:off x="548640" y="4069080"/>
            <a:ext cx="11064240" cy="1783080"/>
          </a:xfrm>
          <a:prstGeom prst="roundRect">
            <a:avLst>
              <a:gd name="adj" fmla="val 4615"/>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2" name="Text 9"/>
          <p:cNvSpPr txBox="1"/>
          <p:nvPr/>
        </p:nvSpPr>
        <p:spPr>
          <a:xfrm>
            <a:off x="868680" y="4224528"/>
            <a:ext cx="7315200" cy="274320"/>
          </a:xfrm>
          <a:prstGeom prst="rect">
            <a:avLst/>
          </a:prstGeom>
          <a:noFill/>
          <a:ln/>
        </p:spPr>
        <p:txBody>
          <a:bodyPr wrap="square" lIns="0" tIns="0" rIns="0" bIns="0" rtlCol="0" anchor="ctr"/>
          <a:lstStyle/>
          <a:p>
            <a:pPr indent="0" marL="0">
              <a:buNone/>
            </a:pPr>
            <a:r>
              <a:rPr lang="en-US" sz="1450" b="1" dirty="0">
                <a:solidFill>
                  <a:srgbClr val="8A5B00"/>
                </a:solidFill>
                <a:latin typeface="Calibri" pitchFamily="34" charset="0"/>
                <a:ea typeface="Calibri" pitchFamily="34" charset="-122"/>
                <a:cs typeface="Calibri" pitchFamily="34" charset="-120"/>
              </a:rPr>
              <a:t>The honest habit</a:t>
            </a:r>
            <a:endParaRPr lang="en-US" sz="1450" dirty="0"/>
          </a:p>
        </p:txBody>
      </p:sp>
      <p:sp>
        <p:nvSpPr>
          <p:cNvPr id="13" name="Text 10"/>
          <p:cNvSpPr txBox="1"/>
          <p:nvPr/>
        </p:nvSpPr>
        <p:spPr>
          <a:xfrm>
            <a:off x="868680" y="4553712"/>
            <a:ext cx="10424160" cy="1188720"/>
          </a:xfrm>
          <a:prstGeom prst="rect">
            <a:avLst/>
          </a:prstGeom>
          <a:noFill/>
          <a:ln/>
        </p:spPr>
        <p:txBody>
          <a:bodyPr wrap="square" lIns="0" tIns="0" rIns="0" bIns="0" rtlCol="0" anchor="ctr"/>
          <a:lstStyle/>
          <a:p>
            <a:pPr indent="0" marL="0">
              <a:lnSpc>
                <a:spcPct val="120000"/>
              </a:lnSpc>
              <a:buNone/>
            </a:pPr>
            <a:r>
              <a:rPr lang="en-US" sz="1250" dirty="0">
                <a:solidFill>
                  <a:srgbClr val="6B4A0B"/>
                </a:solidFill>
                <a:latin typeface="Calibri" pitchFamily="34" charset="0"/>
                <a:ea typeface="Calibri" pitchFamily="34" charset="-122"/>
                <a:cs typeface="Calibri" pitchFamily="34" charset="-120"/>
              </a:rPr>
              <a:t>Whenever you report an r, report r² next to it. “Hours studied correlates with marks at r = 0.3” sounds like a finding worth acting on. “Hours studied accounts for 9% of the variation in marks” is the same fact, and it is the version that stops anyone redesigning a syllabus around it.</a:t>
            </a:r>
            <a:endParaRPr lang="en-US" sz="1250" dirty="0"/>
          </a:p>
          <a:p>
            <a:pPr indent="0" marL="0">
              <a:lnSpc>
                <a:spcPct val="120000"/>
              </a:lnSpc>
              <a:buNone/>
            </a:pPr>
            <a:endParaRPr lang="en-US" sz="1250" dirty="0"/>
          </a:p>
          <a:p>
            <a:pPr indent="0" marL="0">
              <a:lnSpc>
                <a:spcPct val="120000"/>
              </a:lnSpc>
              <a:buNone/>
            </a:pPr>
            <a:r>
              <a:rPr lang="en-US" sz="1250" dirty="0">
                <a:solidFill>
                  <a:srgbClr val="6B4A0B"/>
                </a:solidFill>
                <a:latin typeface="Calibri" pitchFamily="34" charset="0"/>
                <a:ea typeface="Calibri" pitchFamily="34" charset="-122"/>
                <a:cs typeface="Calibri" pitchFamily="34" charset="-120"/>
              </a:rPr>
              <a:t>These adjectives are conventions, not laws — in physics r = 0.9 is disappointing, and in psychology r = 0.3 is a strong result. What counts as strong depends entirely on the field.</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822960" y="2057400"/>
            <a:ext cx="777240" cy="777240"/>
          </a:xfrm>
          <a:prstGeom prst="ellipse">
            <a:avLst/>
          </a:prstGeom>
          <a:solidFill>
            <a:srgbClr val="FFC145"/>
          </a:solidFill>
          <a:ln w="12700">
            <a:solidFill>
              <a:srgbClr val="FFC145"/>
            </a:solidFill>
            <a:prstDash val="solid"/>
          </a:ln>
        </p:spPr>
      </p:sp>
      <p:sp>
        <p:nvSpPr>
          <p:cNvPr id="4" name="Text 2"/>
          <p:cNvSpPr txBox="1"/>
          <p:nvPr/>
        </p:nvSpPr>
        <p:spPr>
          <a:xfrm>
            <a:off x="822960" y="2057400"/>
            <a:ext cx="777240" cy="777240"/>
          </a:xfrm>
          <a:prstGeom prst="rect">
            <a:avLst/>
          </a:prstGeom>
          <a:noFill/>
          <a:ln/>
        </p:spPr>
        <p:txBody>
          <a:bodyPr wrap="square" lIns="0" tIns="0" rIns="0" bIns="0" rtlCol="0" anchor="ctr"/>
          <a:lstStyle/>
          <a:p>
            <a:pPr algn="ctr" indent="0" marL="0">
              <a:buNone/>
            </a:pPr>
            <a:r>
              <a:rPr lang="en-US" sz="3000" b="1" dirty="0">
                <a:solidFill>
                  <a:srgbClr val="152238"/>
                </a:solidFill>
                <a:latin typeface="Calibri" pitchFamily="34" charset="0"/>
                <a:ea typeface="Calibri" pitchFamily="34" charset="-122"/>
                <a:cs typeface="Calibri" pitchFamily="34" charset="-120"/>
              </a:rPr>
              <a:t>2</a:t>
            </a:r>
            <a:endParaRPr lang="en-US" sz="3000" dirty="0"/>
          </a:p>
        </p:txBody>
      </p:sp>
      <p:sp>
        <p:nvSpPr>
          <p:cNvPr id="5" name="Text 3"/>
          <p:cNvSpPr txBox="1"/>
          <p:nvPr/>
        </p:nvSpPr>
        <p:spPr>
          <a:xfrm>
            <a:off x="1920240" y="1965960"/>
            <a:ext cx="676656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What r Cannot See</a:t>
            </a:r>
            <a:endParaRPr lang="en-US" sz="4000" dirty="0"/>
          </a:p>
        </p:txBody>
      </p:sp>
      <p:sp>
        <p:nvSpPr>
          <p:cNvPr id="6" name="Text 4"/>
          <p:cNvSpPr txBox="1"/>
          <p:nvPr/>
        </p:nvSpPr>
        <p:spPr>
          <a:xfrm>
            <a:off x="1947672" y="2788920"/>
            <a:ext cx="6949440" cy="457200"/>
          </a:xfrm>
          <a:prstGeom prst="rect">
            <a:avLst/>
          </a:prstGeom>
          <a:noFill/>
          <a:ln/>
        </p:spPr>
        <p:txBody>
          <a:bodyPr wrap="square" lIns="0" tIns="0" rIns="0" bIns="0" rtlCol="0" anchor="ctr"/>
          <a:lstStyle/>
          <a:p>
            <a:pPr indent="0" marL="0">
              <a:buNone/>
            </a:pPr>
            <a:r>
              <a:rPr lang="en-US" sz="1600" dirty="0">
                <a:solidFill>
                  <a:srgbClr val="AFC2DC"/>
                </a:solidFill>
                <a:latin typeface="Calibri" pitchFamily="34" charset="0"/>
                <a:ea typeface="Calibri" pitchFamily="34" charset="-122"/>
                <a:cs typeface="Calibri" pitchFamily="34" charset="-120"/>
              </a:rPr>
              <a:t>Four pictures, one number  ·  25 minutes</a:t>
            </a:r>
            <a:endParaRPr lang="en-US" sz="1600" dirty="0"/>
          </a:p>
        </p:txBody>
      </p:sp>
      <p:sp>
        <p:nvSpPr>
          <p:cNvPr id="7" name="Text 5"/>
          <p:cNvSpPr txBox="1"/>
          <p:nvPr/>
        </p:nvSpPr>
        <p:spPr>
          <a:xfrm>
            <a:off x="9144000" y="2011680"/>
            <a:ext cx="2468880" cy="21945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Anscombe's quartet</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Curves</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Ranks</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One bad point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2.1  ·  ANSCOMBE</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 Four datasets. Every summary statistic identical.</a:t>
            </a:r>
            <a:endParaRPr lang="en-US" sz="3200" dirty="0"/>
          </a:p>
        </p:txBody>
      </p:sp>
      <p:pic>
        <p:nvPicPr>
          <p:cNvPr id="5" name="Image 0" descr="/home/claude/day29/fig/anscombe.png">    </p:cNvPr>
          <p:cNvPicPr>
            <a:picLocks noChangeAspect="1"/>
          </p:cNvPicPr>
          <p:nvPr/>
        </p:nvPicPr>
        <p:blipFill>
          <a:blip r:embed="rId1"/>
          <a:stretch>
            <a:fillRect/>
          </a:stretch>
        </p:blipFill>
        <p:spPr>
          <a:xfrm>
            <a:off x="731520" y="1572768"/>
            <a:ext cx="10698480" cy="2783163"/>
          </a:xfrm>
          <a:prstGeom prst="rect">
            <a:avLst/>
          </a:prstGeom>
        </p:spPr>
      </p:pic>
      <p:sp>
        <p:nvSpPr>
          <p:cNvPr id="6" name="Shape 3"/>
          <p:cNvSpPr/>
          <p:nvPr/>
        </p:nvSpPr>
        <p:spPr>
          <a:xfrm>
            <a:off x="548640" y="4480560"/>
            <a:ext cx="11064240" cy="1371600"/>
          </a:xfrm>
          <a:prstGeom prst="roundRect">
            <a:avLst>
              <a:gd name="adj" fmla="val 6000"/>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68680" y="4617720"/>
            <a:ext cx="7315200" cy="274320"/>
          </a:xfrm>
          <a:prstGeom prst="rect">
            <a:avLst/>
          </a:prstGeom>
          <a:noFill/>
          <a:ln/>
        </p:spPr>
        <p:txBody>
          <a:bodyPr wrap="square" lIns="0" tIns="0" rIns="0" bIns="0" rtlCol="0" anchor="ctr"/>
          <a:lstStyle/>
          <a:p>
            <a:pPr indent="0" marL="0">
              <a:buNone/>
            </a:pPr>
            <a:r>
              <a:rPr lang="en-US" sz="1400" b="1" dirty="0">
                <a:solidFill>
                  <a:srgbClr val="A63B24"/>
                </a:solidFill>
                <a:latin typeface="Calibri" pitchFamily="34" charset="0"/>
                <a:ea typeface="Calibri" pitchFamily="34" charset="-122"/>
                <a:cs typeface="Calibri" pitchFamily="34" charset="-120"/>
              </a:rPr>
              <a:t>What is the same in all four</a:t>
            </a:r>
            <a:endParaRPr lang="en-US" sz="1400" dirty="0"/>
          </a:p>
        </p:txBody>
      </p:sp>
      <p:sp>
        <p:nvSpPr>
          <p:cNvPr id="8" name="Text 5"/>
          <p:cNvSpPr txBox="1"/>
          <p:nvPr/>
        </p:nvSpPr>
        <p:spPr>
          <a:xfrm>
            <a:off x="868680" y="4937760"/>
            <a:ext cx="10424160" cy="822960"/>
          </a:xfrm>
          <a:prstGeom prst="rect">
            <a:avLst/>
          </a:prstGeom>
          <a:noFill/>
          <a:ln/>
        </p:spPr>
        <p:txBody>
          <a:bodyPr wrap="square" lIns="0" tIns="0" rIns="0" bIns="0" rtlCol="0" anchor="ctr"/>
          <a:lstStyle/>
          <a:p>
            <a:pPr indent="0" marL="0">
              <a:lnSpc>
                <a:spcPct val="120000"/>
              </a:lnSpc>
              <a:buNone/>
            </a:pPr>
            <a:r>
              <a:rPr lang="en-US" sz="1250" dirty="0">
                <a:solidFill>
                  <a:srgbClr val="6B4A0B"/>
                </a:solidFill>
                <a:latin typeface="Calibri" pitchFamily="34" charset="0"/>
                <a:ea typeface="Calibri" pitchFamily="34" charset="-122"/>
                <a:cs typeface="Calibri" pitchFamily="34" charset="-120"/>
              </a:rPr>
              <a:t>Mean of x = 9.00. Mean of y = 7.50. sd of y = 2.03. Regression line y = 3 + 0.5x. And r = 0.816 in all four (they differ in the fourth decimal place).</a:t>
            </a:r>
            <a:endParaRPr lang="en-US" sz="1250" dirty="0"/>
          </a:p>
          <a:p>
            <a:pPr indent="0" marL="0">
              <a:lnSpc>
                <a:spcPct val="120000"/>
              </a:lnSpc>
              <a:buNone/>
            </a:pPr>
            <a:endParaRPr lang="en-US" sz="1250" dirty="0"/>
          </a:p>
          <a:p>
            <a:pPr indent="0" marL="0">
              <a:lnSpc>
                <a:spcPct val="120000"/>
              </a:lnSpc>
              <a:buNone/>
            </a:pPr>
            <a:r>
              <a:rPr lang="en-US" sz="1250" dirty="0">
                <a:solidFill>
                  <a:srgbClr val="6B4A0B"/>
                </a:solidFill>
                <a:latin typeface="Calibri" pitchFamily="34" charset="0"/>
                <a:ea typeface="Calibri" pitchFamily="34" charset="-122"/>
                <a:cs typeface="Calibri" pitchFamily="34" charset="-120"/>
              </a:rPr>
              <a:t>Only one of them is a relationship you would want to model. Francis Anscombe built these in 1973 to make a single point: ALWAYS PLOT THE DATA. Every number you could compute agrees, and the pictures do not.</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2.2  ·  CURVES</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r only ever asks about straight lines</a:t>
            </a:r>
            <a:endParaRPr lang="en-US" sz="3200" dirty="0"/>
          </a:p>
        </p:txBody>
      </p:sp>
      <p:pic>
        <p:nvPicPr>
          <p:cNvPr id="5" name="Image 0" descr="/home/claude/day29/fig/nonlinear.png">    </p:cNvPr>
          <p:cNvPicPr>
            <a:picLocks noChangeAspect="1"/>
          </p:cNvPicPr>
          <p:nvPr/>
        </p:nvPicPr>
        <p:blipFill>
          <a:blip r:embed="rId1"/>
          <a:stretch>
            <a:fillRect/>
          </a:stretch>
        </p:blipFill>
        <p:spPr>
          <a:xfrm>
            <a:off x="731520" y="1572768"/>
            <a:ext cx="10698480" cy="2695510"/>
          </a:xfrm>
          <a:prstGeom prst="rect">
            <a:avLst/>
          </a:prstGeom>
        </p:spPr>
      </p:pic>
      <p:sp>
        <p:nvSpPr>
          <p:cNvPr id="6" name="Shape 3"/>
          <p:cNvSpPr/>
          <p:nvPr/>
        </p:nvSpPr>
        <p:spPr>
          <a:xfrm>
            <a:off x="548640" y="4343400"/>
            <a:ext cx="5486400" cy="1508760"/>
          </a:xfrm>
          <a:prstGeom prst="roundRect">
            <a:avLst>
              <a:gd name="adj" fmla="val 5455"/>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04672" y="4489704"/>
            <a:ext cx="4937760" cy="274320"/>
          </a:xfrm>
          <a:prstGeom prst="rect">
            <a:avLst/>
          </a:prstGeom>
          <a:noFill/>
          <a:ln/>
        </p:spPr>
        <p:txBody>
          <a:bodyPr wrap="square" lIns="0" tIns="0" rIns="0" bIns="0" rtlCol="0" anchor="ctr"/>
          <a:lstStyle/>
          <a:p>
            <a:pPr indent="0" marL="0">
              <a:buNone/>
            </a:pPr>
            <a:r>
              <a:rPr lang="en-US" sz="1350" b="1" dirty="0">
                <a:solidFill>
                  <a:srgbClr val="A63B24"/>
                </a:solidFill>
                <a:latin typeface="Calibri" pitchFamily="34" charset="0"/>
                <a:ea typeface="Calibri" pitchFamily="34" charset="-122"/>
                <a:cs typeface="Calibri" pitchFamily="34" charset="-120"/>
              </a:rPr>
              <a:t>All four are near-perfect relationships</a:t>
            </a:r>
            <a:endParaRPr lang="en-US" sz="1350" dirty="0"/>
          </a:p>
        </p:txBody>
      </p:sp>
      <p:sp>
        <p:nvSpPr>
          <p:cNvPr id="8" name="Text 5"/>
          <p:cNvSpPr txBox="1"/>
          <p:nvPr/>
        </p:nvSpPr>
        <p:spPr>
          <a:xfrm>
            <a:off x="804672" y="4809744"/>
            <a:ext cx="4983480" cy="914400"/>
          </a:xfrm>
          <a:prstGeom prst="rect">
            <a:avLst/>
          </a:prstGeom>
          <a:noFill/>
          <a:ln/>
        </p:spPr>
        <p:txBody>
          <a:bodyPr wrap="square" lIns="0" tIns="0" rIns="0" bIns="0" rtlCol="0" anchor="ctr"/>
          <a:lstStyle/>
          <a:p>
            <a:pPr indent="0" marL="0">
              <a:lnSpc>
                <a:spcPct val="120000"/>
              </a:lnSpc>
              <a:buNone/>
            </a:pPr>
            <a:r>
              <a:rPr lang="en-US" sz="1200" dirty="0">
                <a:solidFill>
                  <a:srgbClr val="6B4A0B"/>
                </a:solidFill>
                <a:latin typeface="Calibri" pitchFamily="34" charset="0"/>
                <a:ea typeface="Calibri" pitchFamily="34" charset="-122"/>
                <a:cs typeface="Calibri" pitchFamily="34" charset="-120"/>
              </a:rPr>
              <a:t>In every panel, x pins y down to one or two values. Every r comes back under 0.07, because r asks one narrow question: as x goes up, does y go up in a STRAIGHT LINE?</a:t>
            </a:r>
            <a:endParaRPr lang="en-US" sz="1200" dirty="0"/>
          </a:p>
        </p:txBody>
      </p:sp>
      <p:sp>
        <p:nvSpPr>
          <p:cNvPr id="9" name="Shape 6"/>
          <p:cNvSpPr/>
          <p:nvPr/>
        </p:nvSpPr>
        <p:spPr>
          <a:xfrm>
            <a:off x="6309360" y="4343400"/>
            <a:ext cx="5303520" cy="1508760"/>
          </a:xfrm>
          <a:prstGeom prst="roundRect">
            <a:avLst>
              <a:gd name="adj" fmla="val 5455"/>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7"/>
          <p:cNvSpPr txBox="1"/>
          <p:nvPr/>
        </p:nvSpPr>
        <p:spPr>
          <a:xfrm>
            <a:off x="6565392" y="4489704"/>
            <a:ext cx="4754880" cy="274320"/>
          </a:xfrm>
          <a:prstGeom prst="rect">
            <a:avLst/>
          </a:prstGeom>
          <a:noFill/>
          <a:ln/>
        </p:spPr>
        <p:txBody>
          <a:bodyPr wrap="square" lIns="0" tIns="0" rIns="0" bIns="0" rtlCol="0" anchor="ctr"/>
          <a:lstStyle/>
          <a:p>
            <a:pPr indent="0" marL="0">
              <a:buNone/>
            </a:pPr>
            <a:r>
              <a:rPr lang="en-US" sz="1350" b="1" dirty="0">
                <a:solidFill>
                  <a:srgbClr val="8A5B00"/>
                </a:solidFill>
                <a:latin typeface="Calibri" pitchFamily="34" charset="0"/>
                <a:ea typeface="Calibri" pitchFamily="34" charset="-122"/>
                <a:cs typeface="Calibri" pitchFamily="34" charset="-120"/>
              </a:rPr>
              <a:t>Where you meet this for real</a:t>
            </a:r>
            <a:endParaRPr lang="en-US" sz="1350" dirty="0"/>
          </a:p>
        </p:txBody>
      </p:sp>
      <p:sp>
        <p:nvSpPr>
          <p:cNvPr id="11" name="Text 8"/>
          <p:cNvSpPr txBox="1"/>
          <p:nvPr/>
        </p:nvSpPr>
        <p:spPr>
          <a:xfrm>
            <a:off x="6565392" y="4809744"/>
            <a:ext cx="4800600" cy="960120"/>
          </a:xfrm>
          <a:prstGeom prst="rect">
            <a:avLst/>
          </a:prstGeom>
          <a:noFill/>
          <a:ln/>
        </p:spPr>
        <p:txBody>
          <a:bodyPr wrap="square" lIns="0" tIns="0" rIns="0" bIns="0" rtlCol="0" anchor="ctr"/>
          <a:lstStyle/>
          <a:p>
            <a:pPr indent="0" marL="0">
              <a:lnSpc>
                <a:spcPct val="120000"/>
              </a:lnSpc>
              <a:buNone/>
            </a:pPr>
            <a:r>
              <a:rPr lang="en-US" sz="1200" dirty="0">
                <a:solidFill>
                  <a:srgbClr val="6B4A0B"/>
                </a:solidFill>
                <a:latin typeface="Calibri" pitchFamily="34" charset="0"/>
                <a:ea typeface="Calibri" pitchFamily="34" charset="-122"/>
                <a:cs typeface="Calibri" pitchFamily="34" charset="-120"/>
              </a:rPr>
              <a:t>Dose and effect (too little does nothing, too much harms). Price and demand. Practice and performance. Age and almost anything. U-shapes are everywhere, and r = 0.01 on a U-shape reads as “no relationship”.</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2.3  ·  RANKS</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Spearman: the fix when the curve only goes one way</a:t>
            </a:r>
            <a:endParaRPr lang="en-US" sz="3200" dirty="0"/>
          </a:p>
        </p:txBody>
      </p:sp>
      <p:pic>
        <p:nvPicPr>
          <p:cNvPr id="5" name="Image 0" descr="/home/claude/day29/fig/spearman.png">    </p:cNvPr>
          <p:cNvPicPr>
            <a:picLocks noChangeAspect="1"/>
          </p:cNvPicPr>
          <p:nvPr/>
        </p:nvPicPr>
        <p:blipFill>
          <a:blip r:embed="rId1"/>
          <a:stretch>
            <a:fillRect/>
          </a:stretch>
        </p:blipFill>
        <p:spPr>
          <a:xfrm>
            <a:off x="548640" y="1572768"/>
            <a:ext cx="7406640" cy="2742184"/>
          </a:xfrm>
          <a:prstGeom prst="rect">
            <a:avLst/>
          </a:prstGeom>
        </p:spPr>
      </p:pic>
      <p:sp>
        <p:nvSpPr>
          <p:cNvPr id="6" name="Shape 3"/>
          <p:cNvSpPr/>
          <p:nvPr/>
        </p:nvSpPr>
        <p:spPr>
          <a:xfrm>
            <a:off x="8183880" y="1572768"/>
            <a:ext cx="3429000" cy="2743200"/>
          </a:xfrm>
          <a:prstGeom prst="roundRect">
            <a:avLst>
              <a:gd name="adj" fmla="val 3000"/>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430768" y="1737360"/>
            <a:ext cx="2926080" cy="320040"/>
          </a:xfrm>
          <a:prstGeom prst="rect">
            <a:avLst/>
          </a:prstGeom>
          <a:noFill/>
          <a:ln/>
        </p:spPr>
        <p:txBody>
          <a:bodyPr wrap="square" lIns="0" tIns="0" rIns="0" bIns="0" rtlCol="0" anchor="ctr"/>
          <a:lstStyle/>
          <a:p>
            <a:pPr indent="0" marL="0">
              <a:buNone/>
            </a:pPr>
            <a:r>
              <a:rPr lang="en-US" sz="1700" b="1" dirty="0">
                <a:solidFill>
                  <a:srgbClr val="1F3A5F"/>
                </a:solidFill>
                <a:latin typeface="Calibri" pitchFamily="34" charset="0"/>
                <a:ea typeface="Calibri" pitchFamily="34" charset="-122"/>
                <a:cs typeface="Calibri" pitchFamily="34" charset="-120"/>
              </a:rPr>
              <a:t>Spearman</a:t>
            </a:r>
            <a:endParaRPr lang="en-US" sz="1700" dirty="0"/>
          </a:p>
        </p:txBody>
      </p:sp>
      <p:sp>
        <p:nvSpPr>
          <p:cNvPr id="8" name="Text 5"/>
          <p:cNvSpPr txBox="1"/>
          <p:nvPr/>
        </p:nvSpPr>
        <p:spPr>
          <a:xfrm>
            <a:off x="8430768" y="2121408"/>
            <a:ext cx="2926080" cy="731520"/>
          </a:xfrm>
          <a:prstGeom prst="rect">
            <a:avLst/>
          </a:prstGeom>
          <a:noFill/>
          <a:ln/>
        </p:spPr>
        <p:txBody>
          <a:bodyPr wrap="square" lIns="0" tIns="0" rIns="0" bIns="0" rtlCol="0" anchor="ctr"/>
          <a:lstStyle/>
          <a:p>
            <a:pPr indent="0" marL="0">
              <a:lnSpc>
                <a:spcPct val="125000"/>
              </a:lnSpc>
              <a:buNone/>
            </a:pPr>
            <a:r>
              <a:rPr lang="en-US" sz="1250" dirty="0">
                <a:solidFill>
                  <a:srgbClr val="2B3445"/>
                </a:solidFill>
                <a:latin typeface="Calibri" pitchFamily="34" charset="0"/>
                <a:ea typeface="Calibri" pitchFamily="34" charset="-122"/>
                <a:cs typeface="Calibri" pitchFamily="34" charset="-120"/>
              </a:rPr>
              <a:t>= Pearson's r, computed on the RANKS instead of the values.</a:t>
            </a:r>
            <a:endParaRPr lang="en-US" sz="1250" dirty="0"/>
          </a:p>
        </p:txBody>
      </p:sp>
      <p:sp>
        <p:nvSpPr>
          <p:cNvPr id="9" name="Text 6"/>
          <p:cNvSpPr txBox="1"/>
          <p:nvPr/>
        </p:nvSpPr>
        <p:spPr>
          <a:xfrm>
            <a:off x="8430768" y="2834640"/>
            <a:ext cx="2926080" cy="548640"/>
          </a:xfrm>
          <a:prstGeom prst="rect">
            <a:avLst/>
          </a:prstGeom>
          <a:noFill/>
          <a:ln/>
        </p:spPr>
        <p:txBody>
          <a:bodyPr wrap="square" lIns="0" tIns="0" rIns="0" bIns="0" rtlCol="0" anchor="ctr"/>
          <a:lstStyle/>
          <a:p>
            <a:pPr indent="0" marL="0">
              <a:lnSpc>
                <a:spcPct val="125000"/>
              </a:lnSpc>
              <a:buNone/>
            </a:pPr>
            <a:r>
              <a:rPr lang="en-US" sz="1250" b="1" dirty="0">
                <a:solidFill>
                  <a:srgbClr val="3E7CB1"/>
                </a:solidFill>
                <a:latin typeface="Calibri" pitchFamily="34" charset="0"/>
                <a:ea typeface="Calibri" pitchFamily="34" charset="-122"/>
                <a:cs typeface="Calibri" pitchFamily="34" charset="-120"/>
              </a:rPr>
              <a:t>It asks: when x goes up, does y go up?</a:t>
            </a:r>
            <a:endParaRPr lang="en-US" sz="1250" dirty="0"/>
          </a:p>
        </p:txBody>
      </p:sp>
      <p:sp>
        <p:nvSpPr>
          <p:cNvPr id="10" name="Text 7"/>
          <p:cNvSpPr txBox="1"/>
          <p:nvPr/>
        </p:nvSpPr>
        <p:spPr>
          <a:xfrm>
            <a:off x="8430768" y="3401568"/>
            <a:ext cx="2926080" cy="548640"/>
          </a:xfrm>
          <a:prstGeom prst="rect">
            <a:avLst/>
          </a:prstGeom>
          <a:noFill/>
          <a:ln/>
        </p:spPr>
        <p:txBody>
          <a:bodyPr wrap="square" lIns="0" tIns="0" rIns="0" bIns="0" rtlCol="0" anchor="ctr"/>
          <a:lstStyle/>
          <a:p>
            <a:pPr indent="0" marL="0">
              <a:lnSpc>
                <a:spcPct val="125000"/>
              </a:lnSpc>
              <a:buNone/>
            </a:pPr>
            <a:r>
              <a:rPr lang="en-US" sz="1250" i="1" dirty="0">
                <a:solidFill>
                  <a:srgbClr val="6B7789"/>
                </a:solidFill>
                <a:latin typeface="Calibri" pitchFamily="34" charset="0"/>
                <a:ea typeface="Calibri" pitchFamily="34" charset="-122"/>
                <a:cs typeface="Calibri" pitchFamily="34" charset="-120"/>
              </a:rPr>
              <a:t>Not: does it go up in a straight line?</a:t>
            </a:r>
            <a:endParaRPr lang="en-US" sz="1250" dirty="0"/>
          </a:p>
        </p:txBody>
      </p:sp>
      <p:sp>
        <p:nvSpPr>
          <p:cNvPr id="11" name="Text 8"/>
          <p:cNvSpPr txBox="1"/>
          <p:nvPr/>
        </p:nvSpPr>
        <p:spPr>
          <a:xfrm>
            <a:off x="8430768" y="3931920"/>
            <a:ext cx="2926080" cy="274320"/>
          </a:xfrm>
          <a:prstGeom prst="rect">
            <a:avLst/>
          </a:prstGeom>
          <a:noFill/>
          <a:ln/>
        </p:spPr>
        <p:txBody>
          <a:bodyPr wrap="square" lIns="0" tIns="0" rIns="0" bIns="0" rtlCol="0" anchor="ctr"/>
          <a:lstStyle/>
          <a:p>
            <a:pPr indent="0" marL="0">
              <a:buNone/>
            </a:pPr>
            <a:r>
              <a:rPr lang="en-US" sz="1050" dirty="0">
                <a:solidFill>
                  <a:srgbClr val="E8674C"/>
                </a:solidFill>
                <a:latin typeface="Courier New" pitchFamily="34" charset="0"/>
                <a:ea typeface="Courier New" pitchFamily="34" charset="-122"/>
                <a:cs typeface="Courier New" pitchFamily="34" charset="-120"/>
              </a:rPr>
              <a:t>stats.spearmanr(x, y)</a:t>
            </a:r>
            <a:endParaRPr lang="en-US" sz="1050" dirty="0"/>
          </a:p>
        </p:txBody>
      </p:sp>
      <p:sp>
        <p:nvSpPr>
          <p:cNvPr id="12" name="Shape 9"/>
          <p:cNvSpPr/>
          <p:nvPr/>
        </p:nvSpPr>
        <p:spPr>
          <a:xfrm>
            <a:off x="548640" y="4434840"/>
            <a:ext cx="5486400" cy="1417320"/>
          </a:xfrm>
          <a:prstGeom prst="roundRect">
            <a:avLst>
              <a:gd name="adj" fmla="val 5806"/>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3" name="Text 10"/>
          <p:cNvSpPr txBox="1"/>
          <p:nvPr/>
        </p:nvSpPr>
        <p:spPr>
          <a:xfrm>
            <a:off x="804672" y="4572000"/>
            <a:ext cx="4937760" cy="274320"/>
          </a:xfrm>
          <a:prstGeom prst="rect">
            <a:avLst/>
          </a:prstGeom>
          <a:noFill/>
          <a:ln/>
        </p:spPr>
        <p:txBody>
          <a:bodyPr wrap="square" lIns="0" tIns="0" rIns="0" bIns="0" rtlCol="0" anchor="ctr"/>
          <a:lstStyle/>
          <a:p>
            <a:pPr indent="0" marL="0">
              <a:buNone/>
            </a:pPr>
            <a:r>
              <a:rPr lang="en-US" sz="1350" b="1" dirty="0">
                <a:solidFill>
                  <a:srgbClr val="1C6F5C"/>
                </a:solidFill>
                <a:latin typeface="Calibri" pitchFamily="34" charset="0"/>
                <a:ea typeface="Calibri" pitchFamily="34" charset="-122"/>
                <a:cs typeface="Calibri" pitchFamily="34" charset="-120"/>
              </a:rPr>
              <a:t>What ranking does</a:t>
            </a:r>
            <a:endParaRPr lang="en-US" sz="1350" dirty="0"/>
          </a:p>
        </p:txBody>
      </p:sp>
      <p:sp>
        <p:nvSpPr>
          <p:cNvPr id="14" name="Text 11"/>
          <p:cNvSpPr txBox="1"/>
          <p:nvPr/>
        </p:nvSpPr>
        <p:spPr>
          <a:xfrm>
            <a:off x="804672" y="4892040"/>
            <a:ext cx="4983480" cy="868680"/>
          </a:xfrm>
          <a:prstGeom prst="rect">
            <a:avLst/>
          </a:prstGeom>
          <a:noFill/>
          <a:ln/>
        </p:spPr>
        <p:txBody>
          <a:bodyPr wrap="square" lIns="0" tIns="0" rIns="0" bIns="0" rtlCol="0" anchor="ctr"/>
          <a:lstStyle/>
          <a:p>
            <a:pPr indent="0" marL="0">
              <a:lnSpc>
                <a:spcPct val="120000"/>
              </a:lnSpc>
              <a:buNone/>
            </a:pPr>
            <a:r>
              <a:rPr lang="en-US" sz="1200" dirty="0">
                <a:solidFill>
                  <a:srgbClr val="2B3445"/>
                </a:solidFill>
                <a:latin typeface="Calibri" pitchFamily="34" charset="0"/>
                <a:ea typeface="Calibri" pitchFamily="34" charset="-122"/>
                <a:cs typeface="Calibri" pitchFamily="34" charset="-120"/>
              </a:rPr>
              <a:t>Replace every value by its position in the order. Pearson saw 0.877 on the curve; r on the ranks comes out at 0.997 — the relationship is essentially perfectly monotonic, and ranking is what reveals that.</a:t>
            </a:r>
            <a:endParaRPr lang="en-US" sz="1200" dirty="0"/>
          </a:p>
        </p:txBody>
      </p:sp>
      <p:sp>
        <p:nvSpPr>
          <p:cNvPr id="15" name="Shape 12"/>
          <p:cNvSpPr/>
          <p:nvPr/>
        </p:nvSpPr>
        <p:spPr>
          <a:xfrm>
            <a:off x="6309360" y="4434840"/>
            <a:ext cx="5303520" cy="1417320"/>
          </a:xfrm>
          <a:prstGeom prst="roundRect">
            <a:avLst>
              <a:gd name="adj" fmla="val 5806"/>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6" name="Text 13"/>
          <p:cNvSpPr txBox="1"/>
          <p:nvPr/>
        </p:nvSpPr>
        <p:spPr>
          <a:xfrm>
            <a:off x="6565392" y="4572000"/>
            <a:ext cx="4754880" cy="274320"/>
          </a:xfrm>
          <a:prstGeom prst="rect">
            <a:avLst/>
          </a:prstGeom>
          <a:noFill/>
          <a:ln/>
        </p:spPr>
        <p:txBody>
          <a:bodyPr wrap="square" lIns="0" tIns="0" rIns="0" bIns="0" rtlCol="0" anchor="ctr"/>
          <a:lstStyle/>
          <a:p>
            <a:pPr indent="0" marL="0">
              <a:buNone/>
            </a:pPr>
            <a:r>
              <a:rPr lang="en-US" sz="1350" b="1" dirty="0">
                <a:solidFill>
                  <a:srgbClr val="1F3A5F"/>
                </a:solidFill>
                <a:latin typeface="Calibri" pitchFamily="34" charset="0"/>
                <a:ea typeface="Calibri" pitchFamily="34" charset="-122"/>
                <a:cs typeface="Calibri" pitchFamily="34" charset="-120"/>
              </a:rPr>
              <a:t>When to reach for it</a:t>
            </a:r>
            <a:endParaRPr lang="en-US" sz="1350" dirty="0"/>
          </a:p>
        </p:txBody>
      </p:sp>
      <p:sp>
        <p:nvSpPr>
          <p:cNvPr id="17" name="Text 14"/>
          <p:cNvSpPr txBox="1"/>
          <p:nvPr/>
        </p:nvSpPr>
        <p:spPr>
          <a:xfrm>
            <a:off x="6565392" y="4892040"/>
            <a:ext cx="4800600" cy="868680"/>
          </a:xfrm>
          <a:prstGeom prst="rect">
            <a:avLst/>
          </a:prstGeom>
          <a:noFill/>
          <a:ln/>
        </p:spPr>
        <p:txBody>
          <a:bodyPr wrap="square" lIns="0" tIns="0" rIns="0" bIns="0" rtlCol="0" anchor="ctr"/>
          <a:lstStyle/>
          <a:p>
            <a:pPr indent="0" marL="0">
              <a:lnSpc>
                <a:spcPct val="120000"/>
              </a:lnSpc>
              <a:buNone/>
            </a:pPr>
            <a:r>
              <a:rPr lang="en-US" sz="1200" dirty="0">
                <a:solidFill>
                  <a:srgbClr val="2B3445"/>
                </a:solidFill>
                <a:latin typeface="Calibri" pitchFamily="34" charset="0"/>
                <a:ea typeface="Calibri" pitchFamily="34" charset="-122"/>
                <a:cs typeface="Calibri" pitchFamily="34" charset="-120"/>
              </a:rPr>
              <a:t>A curved but one-directional relationship · heavy outliers · ordinal data like star ratings. But Spearman still cannot see a U-shape: it goes up then down, so the ranks do not line up either.</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2.4  ·  OUTLIERS</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 One point can manufacture a correlation, or erase one</a:t>
            </a:r>
            <a:endParaRPr lang="en-US" sz="3200" dirty="0"/>
          </a:p>
        </p:txBody>
      </p:sp>
      <p:pic>
        <p:nvPicPr>
          <p:cNvPr id="5" name="Image 0" descr="/home/claude/day29/fig/outlier.png">    </p:cNvPr>
          <p:cNvPicPr>
            <a:picLocks noChangeAspect="1"/>
          </p:cNvPicPr>
          <p:nvPr/>
        </p:nvPicPr>
        <p:blipFill>
          <a:blip r:embed="rId1"/>
          <a:stretch>
            <a:fillRect/>
          </a:stretch>
        </p:blipFill>
        <p:spPr>
          <a:xfrm>
            <a:off x="731520" y="1554480"/>
            <a:ext cx="10698480" cy="2783163"/>
          </a:xfrm>
          <a:prstGeom prst="rect">
            <a:avLst/>
          </a:prstGeom>
        </p:spPr>
      </p:pic>
      <p:sp>
        <p:nvSpPr>
          <p:cNvPr id="6" name="Shape 3"/>
          <p:cNvSpPr/>
          <p:nvPr/>
        </p:nvSpPr>
        <p:spPr>
          <a:xfrm>
            <a:off x="548640" y="4434840"/>
            <a:ext cx="5486400" cy="1417320"/>
          </a:xfrm>
          <a:prstGeom prst="roundRect">
            <a:avLst>
              <a:gd name="adj" fmla="val 5806"/>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04672" y="4572000"/>
            <a:ext cx="4937760" cy="274320"/>
          </a:xfrm>
          <a:prstGeom prst="rect">
            <a:avLst/>
          </a:prstGeom>
          <a:noFill/>
          <a:ln/>
        </p:spPr>
        <p:txBody>
          <a:bodyPr wrap="square" lIns="0" tIns="0" rIns="0" bIns="0" rtlCol="0" anchor="ctr"/>
          <a:lstStyle/>
          <a:p>
            <a:pPr indent="0" marL="0">
              <a:buNone/>
            </a:pPr>
            <a:r>
              <a:rPr lang="en-US" sz="1350" b="1" dirty="0">
                <a:solidFill>
                  <a:srgbClr val="A63B24"/>
                </a:solidFill>
                <a:latin typeface="Calibri" pitchFamily="34" charset="0"/>
                <a:ea typeface="Calibri" pitchFamily="34" charset="-122"/>
                <a:cs typeface="Calibri" pitchFamily="34" charset="-120"/>
              </a:rPr>
              <a:t>Left pair: inventing a relationship</a:t>
            </a:r>
            <a:endParaRPr lang="en-US" sz="1350" dirty="0"/>
          </a:p>
        </p:txBody>
      </p:sp>
      <p:sp>
        <p:nvSpPr>
          <p:cNvPr id="8" name="Text 5"/>
          <p:cNvSpPr txBox="1"/>
          <p:nvPr/>
        </p:nvSpPr>
        <p:spPr>
          <a:xfrm>
            <a:off x="804672" y="4892040"/>
            <a:ext cx="4983480" cy="868680"/>
          </a:xfrm>
          <a:prstGeom prst="rect">
            <a:avLst/>
          </a:prstGeom>
          <a:noFill/>
          <a:ln/>
        </p:spPr>
        <p:txBody>
          <a:bodyPr wrap="square" lIns="0" tIns="0" rIns="0" bIns="0" rtlCol="0" anchor="ctr"/>
          <a:lstStyle/>
          <a:p>
            <a:pPr indent="0" marL="0">
              <a:lnSpc>
                <a:spcPct val="120000"/>
              </a:lnSpc>
              <a:buNone/>
            </a:pPr>
            <a:r>
              <a:rPr lang="en-US" sz="1200" dirty="0">
                <a:solidFill>
                  <a:srgbClr val="6B4A0B"/>
                </a:solidFill>
                <a:latin typeface="Calibri" pitchFamily="34" charset="0"/>
                <a:ea typeface="Calibri" pitchFamily="34" charset="-122"/>
                <a:cs typeface="Calibri" pitchFamily="34" charset="-120"/>
              </a:rPr>
              <a:t>100 unrelated points give r = −0.14. Add one point at (200, 200) — a typo, a different unit, a test record — and r becomes +0.64 with p = 0.00000000000047.</a:t>
            </a:r>
            <a:endParaRPr lang="en-US" sz="1200" dirty="0"/>
          </a:p>
        </p:txBody>
      </p:sp>
      <p:sp>
        <p:nvSpPr>
          <p:cNvPr id="9" name="Shape 6"/>
          <p:cNvSpPr/>
          <p:nvPr/>
        </p:nvSpPr>
        <p:spPr>
          <a:xfrm>
            <a:off x="6309360" y="4434840"/>
            <a:ext cx="5303520" cy="1417320"/>
          </a:xfrm>
          <a:prstGeom prst="roundRect">
            <a:avLst>
              <a:gd name="adj" fmla="val 5806"/>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7"/>
          <p:cNvSpPr txBox="1"/>
          <p:nvPr/>
        </p:nvSpPr>
        <p:spPr>
          <a:xfrm>
            <a:off x="6565392" y="4572000"/>
            <a:ext cx="4754880" cy="274320"/>
          </a:xfrm>
          <a:prstGeom prst="rect">
            <a:avLst/>
          </a:prstGeom>
          <a:noFill/>
          <a:ln/>
        </p:spPr>
        <p:txBody>
          <a:bodyPr wrap="square" lIns="0" tIns="0" rIns="0" bIns="0" rtlCol="0" anchor="ctr"/>
          <a:lstStyle/>
          <a:p>
            <a:pPr indent="0" marL="0">
              <a:buNone/>
            </a:pPr>
            <a:r>
              <a:rPr lang="en-US" sz="1350" b="1" dirty="0">
                <a:solidFill>
                  <a:srgbClr val="1C6F5C"/>
                </a:solidFill>
                <a:latin typeface="Calibri" pitchFamily="34" charset="0"/>
                <a:ea typeface="Calibri" pitchFamily="34" charset="-122"/>
                <a:cs typeface="Calibri" pitchFamily="34" charset="-120"/>
              </a:rPr>
              <a:t>Right pair, and the fix</a:t>
            </a:r>
            <a:endParaRPr lang="en-US" sz="1350" dirty="0"/>
          </a:p>
        </p:txBody>
      </p:sp>
      <p:sp>
        <p:nvSpPr>
          <p:cNvPr id="11" name="Text 8"/>
          <p:cNvSpPr txBox="1"/>
          <p:nvPr/>
        </p:nvSpPr>
        <p:spPr>
          <a:xfrm>
            <a:off x="6565392" y="4892040"/>
            <a:ext cx="4800600" cy="868680"/>
          </a:xfrm>
          <a:prstGeom prst="rect">
            <a:avLst/>
          </a:prstGeom>
          <a:noFill/>
          <a:ln/>
        </p:spPr>
        <p:txBody>
          <a:bodyPr wrap="square" lIns="0" tIns="0" rIns="0" bIns="0" rtlCol="0" anchor="ctr"/>
          <a:lstStyle/>
          <a:p>
            <a:pPr indent="0" marL="0">
              <a:lnSpc>
                <a:spcPct val="120000"/>
              </a:lnSpc>
              <a:buNone/>
            </a:pPr>
            <a:r>
              <a:rPr lang="en-US" sz="1200" dirty="0">
                <a:solidFill>
                  <a:srgbClr val="2B3445"/>
                </a:solidFill>
                <a:latin typeface="Calibri" pitchFamily="34" charset="0"/>
                <a:ea typeface="Calibri" pitchFamily="34" charset="-122"/>
                <a:cs typeface="Calibri" pitchFamily="34" charset="-120"/>
              </a:rPr>
              <a:t>A genuine r = 0.96 collapses to −0.20 from one bad point. Spearman barely moves in either case, because a rank cannot run away. Plot first; compare Pearson and Spearman second.</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822960" y="2057400"/>
            <a:ext cx="777240" cy="777240"/>
          </a:xfrm>
          <a:prstGeom prst="ellipse">
            <a:avLst/>
          </a:prstGeom>
          <a:solidFill>
            <a:srgbClr val="FFC145"/>
          </a:solidFill>
          <a:ln w="12700">
            <a:solidFill>
              <a:srgbClr val="FFC145"/>
            </a:solidFill>
            <a:prstDash val="solid"/>
          </a:ln>
        </p:spPr>
      </p:sp>
      <p:sp>
        <p:nvSpPr>
          <p:cNvPr id="4" name="Text 2"/>
          <p:cNvSpPr txBox="1"/>
          <p:nvPr/>
        </p:nvSpPr>
        <p:spPr>
          <a:xfrm>
            <a:off x="822960" y="2057400"/>
            <a:ext cx="777240" cy="777240"/>
          </a:xfrm>
          <a:prstGeom prst="rect">
            <a:avLst/>
          </a:prstGeom>
          <a:noFill/>
          <a:ln/>
        </p:spPr>
        <p:txBody>
          <a:bodyPr wrap="square" lIns="0" tIns="0" rIns="0" bIns="0" rtlCol="0" anchor="ctr"/>
          <a:lstStyle/>
          <a:p>
            <a:pPr algn="ctr" indent="0" marL="0">
              <a:buNone/>
            </a:pPr>
            <a:r>
              <a:rPr lang="en-US" sz="3000" b="1" dirty="0">
                <a:solidFill>
                  <a:srgbClr val="152238"/>
                </a:solidFill>
                <a:latin typeface="Calibri" pitchFamily="34" charset="0"/>
                <a:ea typeface="Calibri" pitchFamily="34" charset="-122"/>
                <a:cs typeface="Calibri" pitchFamily="34" charset="-120"/>
              </a:rPr>
              <a:t>3</a:t>
            </a:r>
            <a:endParaRPr lang="en-US" sz="3000" dirty="0"/>
          </a:p>
        </p:txBody>
      </p:sp>
      <p:sp>
        <p:nvSpPr>
          <p:cNvPr id="5" name="Text 3"/>
          <p:cNvSpPr txBox="1"/>
          <p:nvPr/>
        </p:nvSpPr>
        <p:spPr>
          <a:xfrm>
            <a:off x="1920240" y="1965960"/>
            <a:ext cx="676656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How Well Do You Know r?</a:t>
            </a:r>
            <a:endParaRPr lang="en-US" sz="4000" dirty="0"/>
          </a:p>
        </p:txBody>
      </p:sp>
      <p:sp>
        <p:nvSpPr>
          <p:cNvPr id="6" name="Text 4"/>
          <p:cNvSpPr txBox="1"/>
          <p:nvPr/>
        </p:nvSpPr>
        <p:spPr>
          <a:xfrm>
            <a:off x="1947672" y="2788920"/>
            <a:ext cx="6949440" cy="457200"/>
          </a:xfrm>
          <a:prstGeom prst="rect">
            <a:avLst/>
          </a:prstGeom>
          <a:noFill/>
          <a:ln/>
        </p:spPr>
        <p:txBody>
          <a:bodyPr wrap="square" lIns="0" tIns="0" rIns="0" bIns="0" rtlCol="0" anchor="ctr"/>
          <a:lstStyle/>
          <a:p>
            <a:pPr indent="0" marL="0">
              <a:buNone/>
            </a:pPr>
            <a:r>
              <a:rPr lang="en-US" sz="1600" dirty="0">
                <a:solidFill>
                  <a:srgbClr val="AFC2DC"/>
                </a:solidFill>
                <a:latin typeface="Calibri" pitchFamily="34" charset="0"/>
                <a:ea typeface="Calibri" pitchFamily="34" charset="-122"/>
                <a:cs typeface="Calibri" pitchFamily="34" charset="-120"/>
              </a:rPr>
              <a:t>The number has error bars too  ·  15 minutes</a:t>
            </a:r>
            <a:endParaRPr lang="en-US" sz="1600" dirty="0"/>
          </a:p>
        </p:txBody>
      </p:sp>
      <p:sp>
        <p:nvSpPr>
          <p:cNvPr id="7" name="Text 5"/>
          <p:cNvSpPr txBox="1"/>
          <p:nvPr/>
        </p:nvSpPr>
        <p:spPr>
          <a:xfrm>
            <a:off x="9144000" y="2011680"/>
            <a:ext cx="2468880" cy="21945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The interval for r</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Tiny r at large n</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3.1  ·  THE INTERVAL</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r is an estimate, and estimates have intervals</a:t>
            </a:r>
            <a:endParaRPr lang="en-US" sz="3200" dirty="0"/>
          </a:p>
        </p:txBody>
      </p:sp>
      <p:pic>
        <p:nvPicPr>
          <p:cNvPr id="5" name="Image 0" descr="/home/claude/day29/fig/r_ci.png">    </p:cNvPr>
          <p:cNvPicPr>
            <a:picLocks noChangeAspect="1"/>
          </p:cNvPicPr>
          <p:nvPr/>
        </p:nvPicPr>
        <p:blipFill>
          <a:blip r:embed="rId1"/>
          <a:stretch>
            <a:fillRect/>
          </a:stretch>
        </p:blipFill>
        <p:spPr>
          <a:xfrm>
            <a:off x="685800" y="1554480"/>
            <a:ext cx="6400800" cy="3040760"/>
          </a:xfrm>
          <a:prstGeom prst="rect">
            <a:avLst/>
          </a:prstGeom>
        </p:spPr>
      </p:pic>
      <p:sp>
        <p:nvSpPr>
          <p:cNvPr id="6" name="Shape 3"/>
          <p:cNvSpPr/>
          <p:nvPr/>
        </p:nvSpPr>
        <p:spPr>
          <a:xfrm>
            <a:off x="7406640" y="1572768"/>
            <a:ext cx="4206240" cy="2286000"/>
          </a:xfrm>
          <a:prstGeom prst="roundRect">
            <a:avLst>
              <a:gd name="adj" fmla="val 3600"/>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7662672" y="1737360"/>
            <a:ext cx="3749040" cy="274320"/>
          </a:xfrm>
          <a:prstGeom prst="rect">
            <a:avLst/>
          </a:prstGeom>
          <a:noFill/>
          <a:ln/>
        </p:spPr>
        <p:txBody>
          <a:bodyPr wrap="square" lIns="0" tIns="0" rIns="0" bIns="0" rtlCol="0" anchor="ctr"/>
          <a:lstStyle/>
          <a:p>
            <a:pPr indent="0" marL="0">
              <a:buNone/>
            </a:pPr>
            <a:r>
              <a:rPr lang="en-US" sz="1400" b="1" dirty="0">
                <a:solidFill>
                  <a:srgbClr val="A63B24"/>
                </a:solidFill>
                <a:latin typeface="Calibri" pitchFamily="34" charset="0"/>
                <a:ea typeface="Calibri" pitchFamily="34" charset="-122"/>
                <a:cs typeface="Calibri" pitchFamily="34" charset="-120"/>
              </a:rPr>
              <a:t>r = 0.50 from 10 points</a:t>
            </a:r>
            <a:endParaRPr lang="en-US" sz="1400" dirty="0"/>
          </a:p>
        </p:txBody>
      </p:sp>
      <p:sp>
        <p:nvSpPr>
          <p:cNvPr id="8" name="Text 5"/>
          <p:cNvSpPr txBox="1"/>
          <p:nvPr/>
        </p:nvSpPr>
        <p:spPr>
          <a:xfrm>
            <a:off x="7662672" y="2103120"/>
            <a:ext cx="3749040" cy="1645920"/>
          </a:xfrm>
          <a:prstGeom prst="rect">
            <a:avLst/>
          </a:prstGeom>
          <a:noFill/>
          <a:ln/>
        </p:spPr>
        <p:txBody>
          <a:bodyPr wrap="square" lIns="0" tIns="0" rIns="0" bIns="0" rtlCol="0" anchor="ctr"/>
          <a:lstStyle/>
          <a:p>
            <a:pPr indent="0" marL="0">
              <a:lnSpc>
                <a:spcPct val="120000"/>
              </a:lnSpc>
              <a:buNone/>
            </a:pPr>
            <a:r>
              <a:rPr lang="en-US" sz="1200" dirty="0">
                <a:solidFill>
                  <a:srgbClr val="6B4A0B"/>
                </a:solidFill>
                <a:latin typeface="Calibri" pitchFamily="34" charset="0"/>
                <a:ea typeface="Calibri" pitchFamily="34" charset="-122"/>
                <a:cs typeface="Calibri" pitchFamily="34" charset="-120"/>
              </a:rPr>
              <a:t>is compatible with the true correlation being anywhere from −0.19 to +0.86. It includes zero, and it includes almost perfect.</a:t>
            </a:r>
            <a:endParaRPr lang="en-US" sz="1200" dirty="0"/>
          </a:p>
          <a:p>
            <a:pPr indent="0" marL="0">
              <a:lnSpc>
                <a:spcPct val="120000"/>
              </a:lnSpc>
              <a:buNone/>
            </a:pPr>
            <a:endParaRPr lang="en-US" sz="1200" dirty="0"/>
          </a:p>
          <a:p>
            <a:pPr indent="0" marL="0">
              <a:lnSpc>
                <a:spcPct val="120000"/>
              </a:lnSpc>
              <a:buNone/>
            </a:pPr>
            <a:r>
              <a:rPr lang="en-US" sz="1200" dirty="0">
                <a:solidFill>
                  <a:srgbClr val="6B4A0B"/>
                </a:solidFill>
                <a:latin typeface="Calibri" pitchFamily="34" charset="0"/>
                <a:ea typeface="Calibri" pitchFamily="34" charset="-122"/>
                <a:cs typeface="Calibri" pitchFamily="34" charset="-120"/>
              </a:rPr>
              <a:t>You have learned essentially nothing, and the number 0.50 hides that completely.</a:t>
            </a:r>
            <a:endParaRPr lang="en-US" sz="1200" dirty="0"/>
          </a:p>
        </p:txBody>
      </p:sp>
      <p:sp>
        <p:nvSpPr>
          <p:cNvPr id="9" name="Shape 6"/>
          <p:cNvSpPr/>
          <p:nvPr/>
        </p:nvSpPr>
        <p:spPr>
          <a:xfrm>
            <a:off x="7406640" y="3977640"/>
            <a:ext cx="4206240" cy="1874520"/>
          </a:xfrm>
          <a:prstGeom prst="roundRect">
            <a:avLst>
              <a:gd name="adj" fmla="val 4390"/>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7"/>
          <p:cNvSpPr txBox="1"/>
          <p:nvPr/>
        </p:nvSpPr>
        <p:spPr>
          <a:xfrm>
            <a:off x="7662672" y="4133088"/>
            <a:ext cx="3749040" cy="274320"/>
          </a:xfrm>
          <a:prstGeom prst="rect">
            <a:avLst/>
          </a:prstGeom>
          <a:noFill/>
          <a:ln/>
        </p:spPr>
        <p:txBody>
          <a:bodyPr wrap="square" lIns="0" tIns="0" rIns="0" bIns="0" rtlCol="0" anchor="ctr"/>
          <a:lstStyle/>
          <a:p>
            <a:pPr indent="0" marL="0">
              <a:buNone/>
            </a:pPr>
            <a:r>
              <a:rPr lang="en-US" sz="1400" b="1" dirty="0">
                <a:solidFill>
                  <a:srgbClr val="1C6F5C"/>
                </a:solidFill>
                <a:latin typeface="Calibri" pitchFamily="34" charset="0"/>
                <a:ea typeface="Calibri" pitchFamily="34" charset="-122"/>
                <a:cs typeface="Calibri" pitchFamily="34" charset="-120"/>
              </a:rPr>
              <a:t>How to get it</a:t>
            </a:r>
            <a:endParaRPr lang="en-US" sz="1400" dirty="0"/>
          </a:p>
        </p:txBody>
      </p:sp>
      <p:sp>
        <p:nvSpPr>
          <p:cNvPr id="11" name="Shape 8"/>
          <p:cNvSpPr/>
          <p:nvPr/>
        </p:nvSpPr>
        <p:spPr>
          <a:xfrm>
            <a:off x="7662672" y="4462272"/>
            <a:ext cx="3749040" cy="868680"/>
          </a:xfrm>
          <a:prstGeom prst="roundRect">
            <a:avLst>
              <a:gd name="adj" fmla="val 7368"/>
            </a:avLst>
          </a:prstGeom>
          <a:solidFill>
            <a:srgbClr val="1B2B45"/>
          </a:solidFill>
          <a:ln w="12700">
            <a:solidFill>
              <a:srgbClr val="1B2B45"/>
            </a:solidFill>
            <a:prstDash val="solid"/>
          </a:ln>
        </p:spPr>
      </p:sp>
      <p:sp>
        <p:nvSpPr>
          <p:cNvPr id="12" name="Text 9"/>
          <p:cNvSpPr txBox="1"/>
          <p:nvPr/>
        </p:nvSpPr>
        <p:spPr>
          <a:xfrm>
            <a:off x="7827264" y="4572000"/>
            <a:ext cx="3419856" cy="649224"/>
          </a:xfrm>
          <a:prstGeom prst="rect">
            <a:avLst/>
          </a:prstGeom>
          <a:noFill/>
          <a:ln/>
        </p:spPr>
        <p:txBody>
          <a:bodyPr wrap="square" lIns="0" tIns="0" rIns="0" bIns="0" rtlCol="0" anchor="t"/>
          <a:lstStyle/>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res = stats.pearsonr(x, y)</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res.confidence_interval()</a:t>
            </a:r>
            <a:endParaRPr lang="en-US" sz="1000" dirty="0"/>
          </a:p>
        </p:txBody>
      </p:sp>
      <p:sp>
        <p:nvSpPr>
          <p:cNvPr id="13" name="Text 10"/>
          <p:cNvSpPr txBox="1"/>
          <p:nvPr/>
        </p:nvSpPr>
        <p:spPr>
          <a:xfrm>
            <a:off x="7662672" y="5413248"/>
            <a:ext cx="3749040" cy="365760"/>
          </a:xfrm>
          <a:prstGeom prst="rect">
            <a:avLst/>
          </a:prstGeom>
          <a:noFill/>
          <a:ln/>
        </p:spPr>
        <p:txBody>
          <a:bodyPr wrap="square" lIns="0" tIns="0" rIns="0" bIns="0" rtlCol="0" anchor="ctr"/>
          <a:lstStyle/>
          <a:p>
            <a:pPr indent="0" marL="0">
              <a:lnSpc>
                <a:spcPct val="110000"/>
              </a:lnSpc>
              <a:buNone/>
            </a:pPr>
            <a:r>
              <a:rPr lang="en-US" sz="1100" dirty="0">
                <a:solidFill>
                  <a:srgbClr val="2B3445"/>
                </a:solidFill>
                <a:latin typeface="Calibri" pitchFamily="34" charset="0"/>
                <a:ea typeface="Calibri" pitchFamily="34" charset="-122"/>
                <a:cs typeface="Calibri" pitchFamily="34" charset="-120"/>
              </a:rPr>
              <a:t>Built into scipy. One extra line, and it stops you over-reading a small sample.</a:t>
            </a:r>
            <a:endParaRPr lang="en-US" sz="1100" dirty="0"/>
          </a:p>
        </p:txBody>
      </p:sp>
      <p:sp>
        <p:nvSpPr>
          <p:cNvPr id="14" name="Shape 11"/>
          <p:cNvSpPr/>
          <p:nvPr/>
        </p:nvSpPr>
        <p:spPr>
          <a:xfrm>
            <a:off x="548640" y="5029200"/>
            <a:ext cx="6675120" cy="822960"/>
          </a:xfrm>
          <a:prstGeom prst="roundRect">
            <a:avLst>
              <a:gd name="adj" fmla="val 1000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5" name="Text 12"/>
          <p:cNvSpPr txBox="1"/>
          <p:nvPr/>
        </p:nvSpPr>
        <p:spPr>
          <a:xfrm>
            <a:off x="822960" y="5193792"/>
            <a:ext cx="6217920" cy="548640"/>
          </a:xfrm>
          <a:prstGeom prst="rect">
            <a:avLst/>
          </a:prstGeom>
          <a:noFill/>
          <a:ln/>
        </p:spPr>
        <p:txBody>
          <a:bodyPr wrap="square" lIns="0" tIns="0" rIns="0" bIns="0" rtlCol="0" anchor="ctr"/>
          <a:lstStyle/>
          <a:p>
            <a:pPr indent="0" marL="0">
              <a:lnSpc>
                <a:spcPct val="115000"/>
              </a:lnSpc>
              <a:buNone/>
            </a:pPr>
            <a:r>
              <a:rPr lang="en-US" sz="1150" b="1" dirty="0">
                <a:solidFill>
                  <a:srgbClr val="8A5B00"/>
                </a:solidFill>
                <a:latin typeface="Calibri" pitchFamily="34" charset="0"/>
                <a:ea typeface="Calibri" pitchFamily="34" charset="-122"/>
                <a:cs typeface="Calibri" pitchFamily="34" charset="-120"/>
              </a:rPr>
              <a:t>Correlations from small samples are far less stable than they look. Below about n = 30, treat any r as a hint rather than a measurement — and always print the interval beside it.</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3.2  ·  THE OTHER END</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 At large n, a meaningless r is “significant”</a:t>
            </a:r>
            <a:endParaRPr lang="en-US" sz="3200" dirty="0"/>
          </a:p>
        </p:txBody>
      </p:sp>
      <p:pic>
        <p:nvPicPr>
          <p:cNvPr id="5" name="Image 0" descr="/home/claude/day29/fig/tiny_r.png">    </p:cNvPr>
          <p:cNvPicPr>
            <a:picLocks noChangeAspect="1"/>
          </p:cNvPicPr>
          <p:nvPr/>
        </p:nvPicPr>
        <p:blipFill>
          <a:blip r:embed="rId1"/>
          <a:stretch>
            <a:fillRect/>
          </a:stretch>
        </p:blipFill>
        <p:spPr>
          <a:xfrm>
            <a:off x="685800" y="1554480"/>
            <a:ext cx="6492240" cy="2582434"/>
          </a:xfrm>
          <a:prstGeom prst="rect">
            <a:avLst/>
          </a:prstGeom>
        </p:spPr>
      </p:pic>
      <p:sp>
        <p:nvSpPr>
          <p:cNvPr id="6" name="Shape 3"/>
          <p:cNvSpPr/>
          <p:nvPr/>
        </p:nvSpPr>
        <p:spPr>
          <a:xfrm>
            <a:off x="7498080" y="1572768"/>
            <a:ext cx="4114800" cy="2286000"/>
          </a:xfrm>
          <a:prstGeom prst="roundRect">
            <a:avLst>
              <a:gd name="adj" fmla="val 3600"/>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7754112" y="1737360"/>
            <a:ext cx="3657600" cy="274320"/>
          </a:xfrm>
          <a:prstGeom prst="rect">
            <a:avLst/>
          </a:prstGeom>
          <a:noFill/>
          <a:ln/>
        </p:spPr>
        <p:txBody>
          <a:bodyPr wrap="square" lIns="0" tIns="0" rIns="0" bIns="0" rtlCol="0" anchor="ctr"/>
          <a:lstStyle/>
          <a:p>
            <a:pPr indent="0" marL="0">
              <a:buNone/>
            </a:pPr>
            <a:r>
              <a:rPr lang="en-US" sz="1400" b="1" dirty="0">
                <a:solidFill>
                  <a:srgbClr val="A63B24"/>
                </a:solidFill>
                <a:latin typeface="Calibri" pitchFamily="34" charset="0"/>
                <a:ea typeface="Calibri" pitchFamily="34" charset="-122"/>
                <a:cs typeface="Calibri" pitchFamily="34" charset="-120"/>
              </a:rPr>
              <a:t>The same trap as yesterday</a:t>
            </a:r>
            <a:endParaRPr lang="en-US" sz="1400" dirty="0"/>
          </a:p>
        </p:txBody>
      </p:sp>
      <p:sp>
        <p:nvSpPr>
          <p:cNvPr id="8" name="Text 5"/>
          <p:cNvSpPr txBox="1"/>
          <p:nvPr/>
        </p:nvSpPr>
        <p:spPr>
          <a:xfrm>
            <a:off x="7754112" y="2103120"/>
            <a:ext cx="3657600" cy="1691640"/>
          </a:xfrm>
          <a:prstGeom prst="rect">
            <a:avLst/>
          </a:prstGeom>
          <a:noFill/>
          <a:ln/>
        </p:spPr>
        <p:txBody>
          <a:bodyPr wrap="square" lIns="0" tIns="0" rIns="0" bIns="0" rtlCol="0" anchor="ctr"/>
          <a:lstStyle/>
          <a:p>
            <a:pPr indent="0" marL="0">
              <a:lnSpc>
                <a:spcPct val="120000"/>
              </a:lnSpc>
              <a:buNone/>
            </a:pPr>
            <a:r>
              <a:rPr lang="en-US" sz="1150" dirty="0">
                <a:solidFill>
                  <a:srgbClr val="6B4A0B"/>
                </a:solidFill>
                <a:latin typeface="Calibri" pitchFamily="34" charset="0"/>
                <a:ea typeface="Calibri" pitchFamily="34" charset="-122"/>
                <a:cs typeface="Calibri" pitchFamily="34" charset="-120"/>
              </a:rPr>
              <a:t>With 100,000 rows, any correlation above 0.006 reaches p &lt; 0.05. That is an r² of 0.004% — a relationship so faint it is indistinguishable from nothing.</a:t>
            </a:r>
            <a:endParaRPr lang="en-US" sz="1150" dirty="0"/>
          </a:p>
          <a:p>
            <a:pPr indent="0" marL="0">
              <a:lnSpc>
                <a:spcPct val="120000"/>
              </a:lnSpc>
              <a:buNone/>
            </a:pPr>
            <a:endParaRPr lang="en-US" sz="1150" dirty="0"/>
          </a:p>
          <a:p>
            <a:pPr indent="0" marL="0">
              <a:lnSpc>
                <a:spcPct val="120000"/>
              </a:lnSpc>
              <a:buNone/>
            </a:pPr>
            <a:r>
              <a:rPr lang="en-US" sz="1150" dirty="0">
                <a:solidFill>
                  <a:srgbClr val="6B4A0B"/>
                </a:solidFill>
                <a:latin typeface="Calibri" pitchFamily="34" charset="0"/>
                <a:ea typeface="Calibri" pitchFamily="34" charset="-122"/>
                <a:cs typeface="Calibri" pitchFamily="34" charset="-120"/>
              </a:rPr>
              <a:t>The p-value says “real”. The r² says “irrelevant”. Both are right.</a:t>
            </a:r>
            <a:endParaRPr lang="en-US" sz="1150" dirty="0"/>
          </a:p>
        </p:txBody>
      </p:sp>
      <p:sp>
        <p:nvSpPr>
          <p:cNvPr id="9" name="Shape 6"/>
          <p:cNvSpPr/>
          <p:nvPr/>
        </p:nvSpPr>
        <p:spPr>
          <a:xfrm>
            <a:off x="7498080" y="3977640"/>
            <a:ext cx="4114800" cy="1874520"/>
          </a:xfrm>
          <a:prstGeom prst="roundRect">
            <a:avLst>
              <a:gd name="adj" fmla="val 4390"/>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7"/>
          <p:cNvSpPr txBox="1"/>
          <p:nvPr/>
        </p:nvSpPr>
        <p:spPr>
          <a:xfrm>
            <a:off x="7754112" y="4133088"/>
            <a:ext cx="3657600" cy="274320"/>
          </a:xfrm>
          <a:prstGeom prst="rect">
            <a:avLst/>
          </a:prstGeom>
          <a:noFill/>
          <a:ln/>
        </p:spPr>
        <p:txBody>
          <a:bodyPr wrap="square" lIns="0" tIns="0" rIns="0" bIns="0" rtlCol="0" anchor="ctr"/>
          <a:lstStyle/>
          <a:p>
            <a:pPr indent="0" marL="0">
              <a:buNone/>
            </a:pPr>
            <a:r>
              <a:rPr lang="en-US" sz="1350" b="1" dirty="0">
                <a:solidFill>
                  <a:srgbClr val="1C6F5C"/>
                </a:solidFill>
                <a:latin typeface="Calibri" pitchFamily="34" charset="0"/>
                <a:ea typeface="Calibri" pitchFamily="34" charset="-122"/>
                <a:cs typeface="Calibri" pitchFamily="34" charset="-120"/>
              </a:rPr>
              <a:t>Which is why r² goes next to p</a:t>
            </a:r>
            <a:endParaRPr lang="en-US" sz="1350" dirty="0"/>
          </a:p>
        </p:txBody>
      </p:sp>
      <p:sp>
        <p:nvSpPr>
          <p:cNvPr id="11" name="Text 8"/>
          <p:cNvSpPr txBox="1"/>
          <p:nvPr/>
        </p:nvSpPr>
        <p:spPr>
          <a:xfrm>
            <a:off x="7754112" y="4480560"/>
            <a:ext cx="3657600" cy="1280160"/>
          </a:xfrm>
          <a:prstGeom prst="rect">
            <a:avLst/>
          </a:prstGeom>
          <a:noFill/>
          <a:ln/>
        </p:spPr>
        <p:txBody>
          <a:bodyPr wrap="square" lIns="0" tIns="0" rIns="0" bIns="0" rtlCol="0" anchor="ctr"/>
          <a:lstStyle/>
          <a:p>
            <a:pPr indent="0" marL="0">
              <a:lnSpc>
                <a:spcPct val="120000"/>
              </a:lnSpc>
              <a:buNone/>
            </a:pPr>
            <a:r>
              <a:rPr lang="en-US" sz="1200" dirty="0">
                <a:solidFill>
                  <a:srgbClr val="2B3445"/>
                </a:solidFill>
                <a:latin typeface="Calibri" pitchFamily="34" charset="0"/>
                <a:ea typeface="Calibri" pitchFamily="34" charset="-122"/>
                <a:cs typeface="Calibri" pitchFamily="34" charset="-120"/>
              </a:rPr>
              <a:t>In a dataset of any real size, “statistically significant correlation” carries almost no information. The question that matters is how much of the variation it accounts for — and that is r².</a:t>
            </a:r>
            <a:endParaRPr lang="en-US" sz="1200" dirty="0"/>
          </a:p>
        </p:txBody>
      </p:sp>
      <p:sp>
        <p:nvSpPr>
          <p:cNvPr id="12" name="Shape 9"/>
          <p:cNvSpPr/>
          <p:nvPr/>
        </p:nvSpPr>
        <p:spPr>
          <a:xfrm>
            <a:off x="548640" y="5029200"/>
            <a:ext cx="6766560" cy="822960"/>
          </a:xfrm>
          <a:prstGeom prst="roundRect">
            <a:avLst>
              <a:gd name="adj" fmla="val 10000"/>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3" name="Text 10"/>
          <p:cNvSpPr txBox="1"/>
          <p:nvPr/>
        </p:nvSpPr>
        <p:spPr>
          <a:xfrm>
            <a:off x="822960" y="5193792"/>
            <a:ext cx="6309360" cy="548640"/>
          </a:xfrm>
          <a:prstGeom prst="rect">
            <a:avLst/>
          </a:prstGeom>
          <a:noFill/>
          <a:ln/>
        </p:spPr>
        <p:txBody>
          <a:bodyPr wrap="square" lIns="0" tIns="0" rIns="0" bIns="0" rtlCol="0" anchor="ctr"/>
          <a:lstStyle/>
          <a:p>
            <a:pPr indent="0" marL="0">
              <a:lnSpc>
                <a:spcPct val="115000"/>
              </a:lnSpc>
              <a:buNone/>
            </a:pPr>
            <a:r>
              <a:rPr lang="en-US" sz="1150" b="1" dirty="0">
                <a:solidFill>
                  <a:srgbClr val="1F3A5F"/>
                </a:solidFill>
                <a:latin typeface="Calibri" pitchFamily="34" charset="0"/>
                <a:ea typeface="Calibri" pitchFamily="34" charset="-122"/>
                <a:cs typeface="Calibri" pitchFamily="34" charset="-120"/>
              </a:rPr>
              <a:t>Note the two ends of this section together: with too little data r is unstable, and with a great deal of data its p-value stops meaning anything. Neither problem is solved by looking harder at r itself.</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822960" y="2057400"/>
            <a:ext cx="777240" cy="777240"/>
          </a:xfrm>
          <a:prstGeom prst="ellipse">
            <a:avLst/>
          </a:prstGeom>
          <a:solidFill>
            <a:srgbClr val="FFC145"/>
          </a:solidFill>
          <a:ln w="12700">
            <a:solidFill>
              <a:srgbClr val="FFC145"/>
            </a:solidFill>
            <a:prstDash val="solid"/>
          </a:ln>
        </p:spPr>
      </p:sp>
      <p:sp>
        <p:nvSpPr>
          <p:cNvPr id="4" name="Text 2"/>
          <p:cNvSpPr txBox="1"/>
          <p:nvPr/>
        </p:nvSpPr>
        <p:spPr>
          <a:xfrm>
            <a:off x="822960" y="2057400"/>
            <a:ext cx="777240" cy="777240"/>
          </a:xfrm>
          <a:prstGeom prst="rect">
            <a:avLst/>
          </a:prstGeom>
          <a:noFill/>
          <a:ln/>
        </p:spPr>
        <p:txBody>
          <a:bodyPr wrap="square" lIns="0" tIns="0" rIns="0" bIns="0" rtlCol="0" anchor="ctr"/>
          <a:lstStyle/>
          <a:p>
            <a:pPr algn="ctr" indent="0" marL="0">
              <a:buNone/>
            </a:pPr>
            <a:r>
              <a:rPr lang="en-US" sz="3000" b="1" dirty="0">
                <a:solidFill>
                  <a:srgbClr val="152238"/>
                </a:solidFill>
                <a:latin typeface="Calibri" pitchFamily="34" charset="0"/>
                <a:ea typeface="Calibri" pitchFamily="34" charset="-122"/>
                <a:cs typeface="Calibri" pitchFamily="34" charset="-120"/>
              </a:rPr>
              <a:t>4</a:t>
            </a:r>
            <a:endParaRPr lang="en-US" sz="3000" dirty="0"/>
          </a:p>
        </p:txBody>
      </p:sp>
      <p:sp>
        <p:nvSpPr>
          <p:cNvPr id="5" name="Text 3"/>
          <p:cNvSpPr txBox="1"/>
          <p:nvPr/>
        </p:nvSpPr>
        <p:spPr>
          <a:xfrm>
            <a:off x="1920240" y="1965960"/>
            <a:ext cx="676656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The Four Explanations</a:t>
            </a:r>
            <a:endParaRPr lang="en-US" sz="4000" dirty="0"/>
          </a:p>
        </p:txBody>
      </p:sp>
      <p:sp>
        <p:nvSpPr>
          <p:cNvPr id="6" name="Text 4"/>
          <p:cNvSpPr txBox="1"/>
          <p:nvPr/>
        </p:nvSpPr>
        <p:spPr>
          <a:xfrm>
            <a:off x="1947672" y="2788920"/>
            <a:ext cx="6949440" cy="457200"/>
          </a:xfrm>
          <a:prstGeom prst="rect">
            <a:avLst/>
          </a:prstGeom>
          <a:noFill/>
          <a:ln/>
        </p:spPr>
        <p:txBody>
          <a:bodyPr wrap="square" lIns="0" tIns="0" rIns="0" bIns="0" rtlCol="0" anchor="ctr"/>
          <a:lstStyle/>
          <a:p>
            <a:pPr indent="0" marL="0">
              <a:buNone/>
            </a:pPr>
            <a:r>
              <a:rPr lang="en-US" sz="1600" dirty="0">
                <a:solidFill>
                  <a:srgbClr val="AFC2DC"/>
                </a:solidFill>
                <a:latin typeface="Calibri" pitchFamily="34" charset="0"/>
                <a:ea typeface="Calibri" pitchFamily="34" charset="-122"/>
                <a:cs typeface="Calibri" pitchFamily="34" charset="-120"/>
              </a:rPr>
              <a:t>Only one of them is cause  ·  25 minutes</a:t>
            </a:r>
            <a:endParaRPr lang="en-US" sz="1600" dirty="0"/>
          </a:p>
        </p:txBody>
      </p:sp>
      <p:sp>
        <p:nvSpPr>
          <p:cNvPr id="7" name="Text 5"/>
          <p:cNvSpPr txBox="1"/>
          <p:nvPr/>
        </p:nvSpPr>
        <p:spPr>
          <a:xfrm>
            <a:off x="9144000" y="2011680"/>
            <a:ext cx="2468880" cy="21945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Chance</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Confounding</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Reverse causation</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Selection</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4.1  ·  THE LIST</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X and Y are correlated. There are four reasons.</a:t>
            </a:r>
            <a:endParaRPr lang="en-US" sz="3200" dirty="0"/>
          </a:p>
        </p:txBody>
      </p:sp>
      <p:sp>
        <p:nvSpPr>
          <p:cNvPr id="5" name="Shape 3"/>
          <p:cNvSpPr/>
          <p:nvPr/>
        </p:nvSpPr>
        <p:spPr>
          <a:xfrm>
            <a:off x="548640" y="1627632"/>
            <a:ext cx="11064240" cy="731520"/>
          </a:xfrm>
          <a:prstGeom prst="roundRect">
            <a:avLst>
              <a:gd name="adj" fmla="val 1125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804672" y="1792224"/>
            <a:ext cx="402336" cy="402336"/>
          </a:xfrm>
          <a:prstGeom prst="ellipse">
            <a:avLst/>
          </a:prstGeom>
          <a:solidFill>
            <a:srgbClr val="3E7CB1"/>
          </a:solidFill>
          <a:ln w="12700">
            <a:solidFill>
              <a:srgbClr val="3E7CB1"/>
            </a:solidFill>
            <a:prstDash val="solid"/>
          </a:ln>
        </p:spPr>
      </p:sp>
      <p:sp>
        <p:nvSpPr>
          <p:cNvPr id="7" name="Text 5"/>
          <p:cNvSpPr txBox="1"/>
          <p:nvPr/>
        </p:nvSpPr>
        <p:spPr>
          <a:xfrm>
            <a:off x="804672" y="17922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371600" y="1719072"/>
            <a:ext cx="3566160" cy="292608"/>
          </a:xfrm>
          <a:prstGeom prst="rect">
            <a:avLst/>
          </a:prstGeom>
          <a:noFill/>
          <a:ln/>
        </p:spPr>
        <p:txBody>
          <a:bodyPr wrap="square" lIns="0" tIns="0" rIns="0" bIns="0" rtlCol="0" anchor="ctr"/>
          <a:lstStyle/>
          <a:p>
            <a:pPr indent="0" marL="0">
              <a:buNone/>
            </a:pPr>
            <a:r>
              <a:rPr lang="en-US" sz="1450" b="1" dirty="0">
                <a:solidFill>
                  <a:srgbClr val="1F3A5F"/>
                </a:solidFill>
                <a:latin typeface="Calibri" pitchFamily="34" charset="0"/>
                <a:ea typeface="Calibri" pitchFamily="34" charset="-122"/>
                <a:cs typeface="Calibri" pitchFamily="34" charset="-120"/>
              </a:rPr>
              <a:t>Chance</a:t>
            </a:r>
            <a:endParaRPr lang="en-US" sz="1450" dirty="0"/>
          </a:p>
        </p:txBody>
      </p:sp>
      <p:sp>
        <p:nvSpPr>
          <p:cNvPr id="9" name="Text 7"/>
          <p:cNvSpPr txBox="1"/>
          <p:nvPr/>
        </p:nvSpPr>
        <p:spPr>
          <a:xfrm>
            <a:off x="5120640" y="1847088"/>
            <a:ext cx="6217920" cy="329184"/>
          </a:xfrm>
          <a:prstGeom prst="rect">
            <a:avLst/>
          </a:prstGeom>
          <a:noFill/>
          <a:ln/>
        </p:spPr>
        <p:txBody>
          <a:bodyPr wrap="square" lIns="0" tIns="0" rIns="0" bIns="0" rtlCol="0" anchor="ctr"/>
          <a:lstStyle/>
          <a:p>
            <a:pPr indent="0" marL="0">
              <a:buNone/>
            </a:pPr>
            <a:r>
              <a:rPr lang="en-US" sz="1250" dirty="0">
                <a:solidFill>
                  <a:srgbClr val="2B3445"/>
                </a:solidFill>
                <a:latin typeface="Calibri" pitchFamily="34" charset="0"/>
                <a:ea typeface="Calibri" pitchFamily="34" charset="-122"/>
                <a:cs typeface="Calibri" pitchFamily="34" charset="-120"/>
              </a:rPr>
              <a:t>You looked at enough pairs that one came up. Section 5.</a:t>
            </a:r>
            <a:endParaRPr lang="en-US" sz="1250" dirty="0"/>
          </a:p>
        </p:txBody>
      </p:sp>
      <p:sp>
        <p:nvSpPr>
          <p:cNvPr id="10" name="Shape 8"/>
          <p:cNvSpPr/>
          <p:nvPr/>
        </p:nvSpPr>
        <p:spPr>
          <a:xfrm>
            <a:off x="548640" y="2468880"/>
            <a:ext cx="11064240" cy="731520"/>
          </a:xfrm>
          <a:prstGeom prst="roundRect">
            <a:avLst>
              <a:gd name="adj" fmla="val 1125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1" name="Shape 9"/>
          <p:cNvSpPr/>
          <p:nvPr/>
        </p:nvSpPr>
        <p:spPr>
          <a:xfrm>
            <a:off x="804672" y="2633472"/>
            <a:ext cx="402336" cy="402336"/>
          </a:xfrm>
          <a:prstGeom prst="ellipse">
            <a:avLst/>
          </a:prstGeom>
          <a:solidFill>
            <a:srgbClr val="FFC145"/>
          </a:solidFill>
          <a:ln w="12700">
            <a:solidFill>
              <a:srgbClr val="FFC145"/>
            </a:solidFill>
            <a:prstDash val="solid"/>
          </a:ln>
        </p:spPr>
      </p:sp>
      <p:sp>
        <p:nvSpPr>
          <p:cNvPr id="12" name="Text 10"/>
          <p:cNvSpPr txBox="1"/>
          <p:nvPr/>
        </p:nvSpPr>
        <p:spPr>
          <a:xfrm>
            <a:off x="804672" y="2633472"/>
            <a:ext cx="402336" cy="402336"/>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1371600" y="2560320"/>
            <a:ext cx="3566160" cy="292608"/>
          </a:xfrm>
          <a:prstGeom prst="rect">
            <a:avLst/>
          </a:prstGeom>
          <a:noFill/>
          <a:ln/>
        </p:spPr>
        <p:txBody>
          <a:bodyPr wrap="square" lIns="0" tIns="0" rIns="0" bIns="0" rtlCol="0" anchor="ctr"/>
          <a:lstStyle/>
          <a:p>
            <a:pPr indent="0" marL="0">
              <a:buNone/>
            </a:pPr>
            <a:r>
              <a:rPr lang="en-US" sz="1450" b="1" dirty="0">
                <a:solidFill>
                  <a:srgbClr val="1F3A5F"/>
                </a:solidFill>
                <a:latin typeface="Calibri" pitchFamily="34" charset="0"/>
                <a:ea typeface="Calibri" pitchFamily="34" charset="-122"/>
                <a:cs typeface="Calibri" pitchFamily="34" charset="-120"/>
              </a:rPr>
              <a:t>Confounding</a:t>
            </a:r>
            <a:endParaRPr lang="en-US" sz="1450" dirty="0"/>
          </a:p>
        </p:txBody>
      </p:sp>
      <p:sp>
        <p:nvSpPr>
          <p:cNvPr id="14" name="Text 12"/>
          <p:cNvSpPr txBox="1"/>
          <p:nvPr/>
        </p:nvSpPr>
        <p:spPr>
          <a:xfrm>
            <a:off x="5120640" y="2688336"/>
            <a:ext cx="6217920" cy="329184"/>
          </a:xfrm>
          <a:prstGeom prst="rect">
            <a:avLst/>
          </a:prstGeom>
          <a:noFill/>
          <a:ln/>
        </p:spPr>
        <p:txBody>
          <a:bodyPr wrap="square" lIns="0" tIns="0" rIns="0" bIns="0" rtlCol="0" anchor="ctr"/>
          <a:lstStyle/>
          <a:p>
            <a:pPr indent="0" marL="0">
              <a:buNone/>
            </a:pPr>
            <a:r>
              <a:rPr lang="en-US" sz="1250" dirty="0">
                <a:solidFill>
                  <a:srgbClr val="2B3445"/>
                </a:solidFill>
                <a:latin typeface="Calibri" pitchFamily="34" charset="0"/>
                <a:ea typeface="Calibri" pitchFamily="34" charset="-122"/>
                <a:cs typeface="Calibri" pitchFamily="34" charset="-120"/>
              </a:rPr>
              <a:t>Something else causes both. Ice cream and drownings.</a:t>
            </a:r>
            <a:endParaRPr lang="en-US" sz="1250" dirty="0"/>
          </a:p>
        </p:txBody>
      </p:sp>
      <p:sp>
        <p:nvSpPr>
          <p:cNvPr id="15" name="Shape 13"/>
          <p:cNvSpPr/>
          <p:nvPr/>
        </p:nvSpPr>
        <p:spPr>
          <a:xfrm>
            <a:off x="548640" y="3310128"/>
            <a:ext cx="11064240" cy="731520"/>
          </a:xfrm>
          <a:prstGeom prst="roundRect">
            <a:avLst>
              <a:gd name="adj" fmla="val 1125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6" name="Shape 14"/>
          <p:cNvSpPr/>
          <p:nvPr/>
        </p:nvSpPr>
        <p:spPr>
          <a:xfrm>
            <a:off x="804672" y="3474720"/>
            <a:ext cx="402336" cy="402336"/>
          </a:xfrm>
          <a:prstGeom prst="ellipse">
            <a:avLst/>
          </a:prstGeom>
          <a:solidFill>
            <a:srgbClr val="E8674C"/>
          </a:solidFill>
          <a:ln w="12700">
            <a:solidFill>
              <a:srgbClr val="E8674C"/>
            </a:solidFill>
            <a:prstDash val="solid"/>
          </a:ln>
        </p:spPr>
      </p:sp>
      <p:sp>
        <p:nvSpPr>
          <p:cNvPr id="17" name="Text 15"/>
          <p:cNvSpPr txBox="1"/>
          <p:nvPr/>
        </p:nvSpPr>
        <p:spPr>
          <a:xfrm>
            <a:off x="804672" y="347472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1371600" y="3401568"/>
            <a:ext cx="3566160" cy="292608"/>
          </a:xfrm>
          <a:prstGeom prst="rect">
            <a:avLst/>
          </a:prstGeom>
          <a:noFill/>
          <a:ln/>
        </p:spPr>
        <p:txBody>
          <a:bodyPr wrap="square" lIns="0" tIns="0" rIns="0" bIns="0" rtlCol="0" anchor="ctr"/>
          <a:lstStyle/>
          <a:p>
            <a:pPr indent="0" marL="0">
              <a:buNone/>
            </a:pPr>
            <a:r>
              <a:rPr lang="en-US" sz="1450" b="1" dirty="0">
                <a:solidFill>
                  <a:srgbClr val="1F3A5F"/>
                </a:solidFill>
                <a:latin typeface="Calibri" pitchFamily="34" charset="0"/>
                <a:ea typeface="Calibri" pitchFamily="34" charset="-122"/>
                <a:cs typeface="Calibri" pitchFamily="34" charset="-120"/>
              </a:rPr>
              <a:t>Reverse causation</a:t>
            </a:r>
            <a:endParaRPr lang="en-US" sz="1450" dirty="0"/>
          </a:p>
        </p:txBody>
      </p:sp>
      <p:sp>
        <p:nvSpPr>
          <p:cNvPr id="19" name="Text 17"/>
          <p:cNvSpPr txBox="1"/>
          <p:nvPr/>
        </p:nvSpPr>
        <p:spPr>
          <a:xfrm>
            <a:off x="5120640" y="3529584"/>
            <a:ext cx="6217920" cy="329184"/>
          </a:xfrm>
          <a:prstGeom prst="rect">
            <a:avLst/>
          </a:prstGeom>
          <a:noFill/>
          <a:ln/>
        </p:spPr>
        <p:txBody>
          <a:bodyPr wrap="square" lIns="0" tIns="0" rIns="0" bIns="0" rtlCol="0" anchor="ctr"/>
          <a:lstStyle/>
          <a:p>
            <a:pPr indent="0" marL="0">
              <a:buNone/>
            </a:pPr>
            <a:r>
              <a:rPr lang="en-US" sz="1250" dirty="0">
                <a:solidFill>
                  <a:srgbClr val="2B3445"/>
                </a:solidFill>
                <a:latin typeface="Calibri" pitchFamily="34" charset="0"/>
                <a:ea typeface="Calibri" pitchFamily="34" charset="-122"/>
                <a:cs typeface="Calibri" pitchFamily="34" charset="-120"/>
              </a:rPr>
              <a:t>Y causes X, not the other way round.</a:t>
            </a:r>
            <a:endParaRPr lang="en-US" sz="1250" dirty="0"/>
          </a:p>
        </p:txBody>
      </p:sp>
      <p:sp>
        <p:nvSpPr>
          <p:cNvPr id="20" name="Shape 18"/>
          <p:cNvSpPr/>
          <p:nvPr/>
        </p:nvSpPr>
        <p:spPr>
          <a:xfrm>
            <a:off x="548640" y="4151376"/>
            <a:ext cx="11064240" cy="731520"/>
          </a:xfrm>
          <a:prstGeom prst="roundRect">
            <a:avLst>
              <a:gd name="adj" fmla="val 1125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1" name="Shape 19"/>
          <p:cNvSpPr/>
          <p:nvPr/>
        </p:nvSpPr>
        <p:spPr>
          <a:xfrm>
            <a:off x="804672" y="4315968"/>
            <a:ext cx="402336" cy="402336"/>
          </a:xfrm>
          <a:prstGeom prst="ellipse">
            <a:avLst/>
          </a:prstGeom>
          <a:solidFill>
            <a:srgbClr val="E8674C"/>
          </a:solidFill>
          <a:ln w="12700">
            <a:solidFill>
              <a:srgbClr val="E8674C"/>
            </a:solidFill>
            <a:prstDash val="solid"/>
          </a:ln>
        </p:spPr>
      </p:sp>
      <p:sp>
        <p:nvSpPr>
          <p:cNvPr id="22" name="Text 20"/>
          <p:cNvSpPr txBox="1"/>
          <p:nvPr/>
        </p:nvSpPr>
        <p:spPr>
          <a:xfrm>
            <a:off x="804672" y="43159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txBox="1"/>
          <p:nvPr/>
        </p:nvSpPr>
        <p:spPr>
          <a:xfrm>
            <a:off x="1371600" y="4242816"/>
            <a:ext cx="3566160" cy="292608"/>
          </a:xfrm>
          <a:prstGeom prst="rect">
            <a:avLst/>
          </a:prstGeom>
          <a:noFill/>
          <a:ln/>
        </p:spPr>
        <p:txBody>
          <a:bodyPr wrap="square" lIns="0" tIns="0" rIns="0" bIns="0" rtlCol="0" anchor="ctr"/>
          <a:lstStyle/>
          <a:p>
            <a:pPr indent="0" marL="0">
              <a:buNone/>
            </a:pPr>
            <a:r>
              <a:rPr lang="en-US" sz="1450" b="1" dirty="0">
                <a:solidFill>
                  <a:srgbClr val="1F3A5F"/>
                </a:solidFill>
                <a:latin typeface="Calibri" pitchFamily="34" charset="0"/>
                <a:ea typeface="Calibri" pitchFamily="34" charset="-122"/>
                <a:cs typeface="Calibri" pitchFamily="34" charset="-120"/>
              </a:rPr>
              <a:t>Selection</a:t>
            </a:r>
            <a:endParaRPr lang="en-US" sz="1450" dirty="0"/>
          </a:p>
        </p:txBody>
      </p:sp>
      <p:sp>
        <p:nvSpPr>
          <p:cNvPr id="24" name="Text 22"/>
          <p:cNvSpPr txBox="1"/>
          <p:nvPr/>
        </p:nvSpPr>
        <p:spPr>
          <a:xfrm>
            <a:off x="5120640" y="4370832"/>
            <a:ext cx="6217920" cy="329184"/>
          </a:xfrm>
          <a:prstGeom prst="rect">
            <a:avLst/>
          </a:prstGeom>
          <a:noFill/>
          <a:ln/>
        </p:spPr>
        <p:txBody>
          <a:bodyPr wrap="square" lIns="0" tIns="0" rIns="0" bIns="0" rtlCol="0" anchor="ctr"/>
          <a:lstStyle/>
          <a:p>
            <a:pPr indent="0" marL="0">
              <a:buNone/>
            </a:pPr>
            <a:r>
              <a:rPr lang="en-US" sz="1250" dirty="0">
                <a:solidFill>
                  <a:srgbClr val="2B3445"/>
                </a:solidFill>
                <a:latin typeface="Calibri" pitchFamily="34" charset="0"/>
                <a:ea typeface="Calibri" pitchFamily="34" charset="-122"/>
                <a:cs typeface="Calibri" pitchFamily="34" charset="-120"/>
              </a:rPr>
              <a:t>The way the data was collected created the link.</a:t>
            </a:r>
            <a:endParaRPr lang="en-US" sz="1250" dirty="0"/>
          </a:p>
        </p:txBody>
      </p:sp>
      <p:sp>
        <p:nvSpPr>
          <p:cNvPr id="25" name="Shape 23"/>
          <p:cNvSpPr/>
          <p:nvPr/>
        </p:nvSpPr>
        <p:spPr>
          <a:xfrm>
            <a:off x="548640" y="4992624"/>
            <a:ext cx="11064240" cy="731520"/>
          </a:xfrm>
          <a:prstGeom prst="roundRect">
            <a:avLst>
              <a:gd name="adj" fmla="val 1125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6" name="Shape 24"/>
          <p:cNvSpPr/>
          <p:nvPr/>
        </p:nvSpPr>
        <p:spPr>
          <a:xfrm>
            <a:off x="804672" y="5157216"/>
            <a:ext cx="402336" cy="402336"/>
          </a:xfrm>
          <a:prstGeom prst="ellipse">
            <a:avLst/>
          </a:prstGeom>
          <a:solidFill>
            <a:srgbClr val="2FA98C"/>
          </a:solidFill>
          <a:ln w="12700">
            <a:solidFill>
              <a:srgbClr val="2FA98C"/>
            </a:solidFill>
            <a:prstDash val="solid"/>
          </a:ln>
        </p:spPr>
      </p:sp>
      <p:sp>
        <p:nvSpPr>
          <p:cNvPr id="27" name="Text 25"/>
          <p:cNvSpPr txBox="1"/>
          <p:nvPr/>
        </p:nvSpPr>
        <p:spPr>
          <a:xfrm>
            <a:off x="804672" y="515721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Text 26"/>
          <p:cNvSpPr txBox="1"/>
          <p:nvPr/>
        </p:nvSpPr>
        <p:spPr>
          <a:xfrm>
            <a:off x="1371600" y="5084064"/>
            <a:ext cx="3566160" cy="292608"/>
          </a:xfrm>
          <a:prstGeom prst="rect">
            <a:avLst/>
          </a:prstGeom>
          <a:noFill/>
          <a:ln/>
        </p:spPr>
        <p:txBody>
          <a:bodyPr wrap="square" lIns="0" tIns="0" rIns="0" bIns="0" rtlCol="0" anchor="ctr"/>
          <a:lstStyle/>
          <a:p>
            <a:pPr indent="0" marL="0">
              <a:buNone/>
            </a:pPr>
            <a:r>
              <a:rPr lang="en-US" sz="1450" b="1" dirty="0">
                <a:solidFill>
                  <a:srgbClr val="1F3A5F"/>
                </a:solidFill>
                <a:latin typeface="Calibri" pitchFamily="34" charset="0"/>
                <a:ea typeface="Calibri" pitchFamily="34" charset="-122"/>
                <a:cs typeface="Calibri" pitchFamily="34" charset="-120"/>
              </a:rPr>
              <a:t>X really does cause Y</a:t>
            </a:r>
            <a:endParaRPr lang="en-US" sz="1450" dirty="0"/>
          </a:p>
        </p:txBody>
      </p:sp>
      <p:sp>
        <p:nvSpPr>
          <p:cNvPr id="29" name="Text 27"/>
          <p:cNvSpPr txBox="1"/>
          <p:nvPr/>
        </p:nvSpPr>
        <p:spPr>
          <a:xfrm>
            <a:off x="5120640" y="5212080"/>
            <a:ext cx="6217920" cy="329184"/>
          </a:xfrm>
          <a:prstGeom prst="rect">
            <a:avLst/>
          </a:prstGeom>
          <a:noFill/>
          <a:ln/>
        </p:spPr>
        <p:txBody>
          <a:bodyPr wrap="square" lIns="0" tIns="0" rIns="0" bIns="0" rtlCol="0" anchor="ctr"/>
          <a:lstStyle/>
          <a:p>
            <a:pPr indent="0" marL="0">
              <a:buNone/>
            </a:pPr>
            <a:r>
              <a:rPr lang="en-US" sz="1250" dirty="0">
                <a:solidFill>
                  <a:srgbClr val="2B3445"/>
                </a:solidFill>
                <a:latin typeface="Calibri" pitchFamily="34" charset="0"/>
                <a:ea typeface="Calibri" pitchFamily="34" charset="-122"/>
                <a:cs typeface="Calibri" pitchFamily="34" charset="-120"/>
              </a:rPr>
              <a:t>The one everybody assumes. Last on the list for a reason.</a:t>
            </a:r>
            <a:endParaRPr lang="en-US" sz="1250" dirty="0"/>
          </a:p>
        </p:txBody>
      </p:sp>
      <p:sp>
        <p:nvSpPr>
          <p:cNvPr id="30" name="Text 28"/>
          <p:cNvSpPr txBox="1"/>
          <p:nvPr/>
        </p:nvSpPr>
        <p:spPr>
          <a:xfrm>
            <a:off x="548640" y="5852160"/>
            <a:ext cx="11064240" cy="365760"/>
          </a:xfrm>
          <a:prstGeom prst="rect">
            <a:avLst/>
          </a:prstGeom>
          <a:noFill/>
          <a:ln/>
        </p:spPr>
        <p:txBody>
          <a:bodyPr wrap="square" lIns="0" tIns="0" rIns="0" bIns="0" rtlCol="0" anchor="ctr"/>
          <a:lstStyle/>
          <a:p>
            <a:pPr indent="0" marL="0">
              <a:buNone/>
            </a:pPr>
            <a:r>
              <a:rPr lang="en-US" sz="1300" b="1" i="1" dirty="0">
                <a:solidFill>
                  <a:srgbClr val="E8674C"/>
                </a:solidFill>
                <a:latin typeface="Calibri" pitchFamily="34" charset="0"/>
                <a:ea typeface="Calibri" pitchFamily="34" charset="-122"/>
                <a:cs typeface="Calibri" pitchFamily="34" charset="-120"/>
              </a:rPr>
              <a:t>Five, not four — because “X causes Y” is one item on the list, not the default. When you meet a correlation, your job is to argue about which of these it is.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4.2  ·  CONFOUNDING</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Confounding: something else causes both</a:t>
            </a:r>
            <a:endParaRPr lang="en-US" sz="3200" dirty="0"/>
          </a:p>
        </p:txBody>
      </p:sp>
      <p:pic>
        <p:nvPicPr>
          <p:cNvPr id="5" name="Image 0" descr="/home/claude/day29/fig/confound.png">    </p:cNvPr>
          <p:cNvPicPr>
            <a:picLocks noChangeAspect="1"/>
          </p:cNvPicPr>
          <p:nvPr/>
        </p:nvPicPr>
        <p:blipFill>
          <a:blip r:embed="rId1"/>
          <a:stretch>
            <a:fillRect/>
          </a:stretch>
        </p:blipFill>
        <p:spPr>
          <a:xfrm>
            <a:off x="731520" y="1572768"/>
            <a:ext cx="10698480" cy="2799916"/>
          </a:xfrm>
          <a:prstGeom prst="rect">
            <a:avLst/>
          </a:prstGeom>
        </p:spPr>
      </p:pic>
      <p:sp>
        <p:nvSpPr>
          <p:cNvPr id="6" name="Shape 3"/>
          <p:cNvSpPr/>
          <p:nvPr/>
        </p:nvSpPr>
        <p:spPr>
          <a:xfrm>
            <a:off x="548640" y="4434840"/>
            <a:ext cx="5486400" cy="1417320"/>
          </a:xfrm>
          <a:prstGeom prst="roundRect">
            <a:avLst>
              <a:gd name="adj" fmla="val 5806"/>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04672" y="4572000"/>
            <a:ext cx="4937760" cy="274320"/>
          </a:xfrm>
          <a:prstGeom prst="rect">
            <a:avLst/>
          </a:prstGeom>
          <a:noFill/>
          <a:ln/>
        </p:spPr>
        <p:txBody>
          <a:bodyPr wrap="square" lIns="0" tIns="0" rIns="0" bIns="0" rtlCol="0" anchor="ctr"/>
          <a:lstStyle/>
          <a:p>
            <a:pPr indent="0" marL="0">
              <a:buNone/>
            </a:pPr>
            <a:r>
              <a:rPr lang="en-US" sz="1350" b="1" dirty="0">
                <a:solidFill>
                  <a:srgbClr val="1F3A5F"/>
                </a:solidFill>
                <a:latin typeface="Calibri" pitchFamily="34" charset="0"/>
                <a:ea typeface="Calibri" pitchFamily="34" charset="-122"/>
                <a:cs typeface="Calibri" pitchFamily="34" charset="-120"/>
              </a:rPr>
              <a:t>r = 0.82, p = 3 × 10⁻⁹¹</a:t>
            </a:r>
            <a:endParaRPr lang="en-US" sz="1350" dirty="0"/>
          </a:p>
        </p:txBody>
      </p:sp>
      <p:sp>
        <p:nvSpPr>
          <p:cNvPr id="8" name="Text 5"/>
          <p:cNvSpPr txBox="1"/>
          <p:nvPr/>
        </p:nvSpPr>
        <p:spPr>
          <a:xfrm>
            <a:off x="804672" y="4892040"/>
            <a:ext cx="4983480" cy="868680"/>
          </a:xfrm>
          <a:prstGeom prst="rect">
            <a:avLst/>
          </a:prstGeom>
          <a:noFill/>
          <a:ln/>
        </p:spPr>
        <p:txBody>
          <a:bodyPr wrap="square" lIns="0" tIns="0" rIns="0" bIns="0" rtlCol="0" anchor="ctr"/>
          <a:lstStyle/>
          <a:p>
            <a:pPr indent="0" marL="0">
              <a:lnSpc>
                <a:spcPct val="120000"/>
              </a:lnSpc>
              <a:buNone/>
            </a:pPr>
            <a:r>
              <a:rPr lang="en-US" sz="1200" dirty="0">
                <a:solidFill>
                  <a:srgbClr val="2B3445"/>
                </a:solidFill>
                <a:latin typeface="Calibri" pitchFamily="34" charset="0"/>
                <a:ea typeface="Calibri" pitchFamily="34" charset="-122"/>
                <a:cs typeface="Calibri" pitchFamily="34" charset="-120"/>
              </a:rPr>
              <a:t>That is about as strong and as significant as correlations get in real data. Ice cream does not drown anyone. Hot days sell ice cream and hot days put people in the water.</a:t>
            </a:r>
            <a:endParaRPr lang="en-US" sz="1200" dirty="0"/>
          </a:p>
        </p:txBody>
      </p:sp>
      <p:sp>
        <p:nvSpPr>
          <p:cNvPr id="9" name="Shape 6"/>
          <p:cNvSpPr/>
          <p:nvPr/>
        </p:nvSpPr>
        <p:spPr>
          <a:xfrm>
            <a:off x="6309360" y="4434840"/>
            <a:ext cx="5303520" cy="1417320"/>
          </a:xfrm>
          <a:prstGeom prst="roundRect">
            <a:avLst>
              <a:gd name="adj" fmla="val 5806"/>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7"/>
          <p:cNvSpPr txBox="1"/>
          <p:nvPr/>
        </p:nvSpPr>
        <p:spPr>
          <a:xfrm>
            <a:off x="6565392" y="4572000"/>
            <a:ext cx="4754880" cy="274320"/>
          </a:xfrm>
          <a:prstGeom prst="rect">
            <a:avLst/>
          </a:prstGeom>
          <a:noFill/>
          <a:ln/>
        </p:spPr>
        <p:txBody>
          <a:bodyPr wrap="square" lIns="0" tIns="0" rIns="0" bIns="0" rtlCol="0" anchor="ctr"/>
          <a:lstStyle/>
          <a:p>
            <a:pPr indent="0" marL="0">
              <a:buNone/>
            </a:pPr>
            <a:r>
              <a:rPr lang="en-US" sz="1350" b="1" dirty="0">
                <a:solidFill>
                  <a:srgbClr val="1C6F5C"/>
                </a:solidFill>
                <a:latin typeface="Calibri" pitchFamily="34" charset="0"/>
                <a:ea typeface="Calibri" pitchFamily="34" charset="-122"/>
                <a:cs typeface="Calibri" pitchFamily="34" charset="-120"/>
              </a:rPr>
              <a:t>What to do about it</a:t>
            </a:r>
            <a:endParaRPr lang="en-US" sz="1350" dirty="0"/>
          </a:p>
        </p:txBody>
      </p:sp>
      <p:sp>
        <p:nvSpPr>
          <p:cNvPr id="11" name="Text 8"/>
          <p:cNvSpPr txBox="1"/>
          <p:nvPr/>
        </p:nvSpPr>
        <p:spPr>
          <a:xfrm>
            <a:off x="6565392" y="4892040"/>
            <a:ext cx="4800600" cy="896112"/>
          </a:xfrm>
          <a:prstGeom prst="rect">
            <a:avLst/>
          </a:prstGeom>
          <a:noFill/>
          <a:ln/>
        </p:spPr>
        <p:txBody>
          <a:bodyPr wrap="square" lIns="0" tIns="0" rIns="0" bIns="0" rtlCol="0" anchor="ctr"/>
          <a:lstStyle/>
          <a:p>
            <a:pPr indent="0" marL="0">
              <a:lnSpc>
                <a:spcPct val="120000"/>
              </a:lnSpc>
              <a:buNone/>
            </a:pPr>
            <a:r>
              <a:rPr lang="en-US" sz="1200" dirty="0">
                <a:solidFill>
                  <a:srgbClr val="2B3445"/>
                </a:solidFill>
                <a:latin typeface="Calibri" pitchFamily="34" charset="0"/>
                <a:ea typeface="Calibri" pitchFamily="34" charset="-122"/>
                <a:cs typeface="Calibri" pitchFamily="34" charset="-120"/>
              </a:rPr>
              <a:t>Hold the confounder still. Compare ice cream and drownings WITHIN days of the same temperature and the correlation drops from 0.82 to 0.05. That is a partial correlation, and it is Module 3's main business.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4.3  ·  REVERSE</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Reverse causation: the arrow points the other way</a:t>
            </a:r>
            <a:endParaRPr lang="en-US" sz="3200" dirty="0"/>
          </a:p>
        </p:txBody>
      </p:sp>
      <p:sp>
        <p:nvSpPr>
          <p:cNvPr id="5" name="Shape 3"/>
          <p:cNvSpPr/>
          <p:nvPr/>
        </p:nvSpPr>
        <p:spPr>
          <a:xfrm>
            <a:off x="548640" y="1600200"/>
            <a:ext cx="11064240" cy="914400"/>
          </a:xfrm>
          <a:prstGeom prst="roundRect">
            <a:avLst>
              <a:gd name="adj" fmla="val 9000"/>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68680" y="1783080"/>
            <a:ext cx="10424160" cy="548640"/>
          </a:xfrm>
          <a:prstGeom prst="rect">
            <a:avLst/>
          </a:prstGeom>
          <a:noFill/>
          <a:ln/>
        </p:spPr>
        <p:txBody>
          <a:bodyPr wrap="square" lIns="0" tIns="0" rIns="0" bIns="0" rtlCol="0" anchor="ctr"/>
          <a:lstStyle/>
          <a:p>
            <a:pPr algn="ctr" indent="0" marL="0">
              <a:buNone/>
            </a:pPr>
            <a:r>
              <a:rPr lang="en-US" sz="1400" dirty="0">
                <a:solidFill>
                  <a:srgbClr val="1F3A5F"/>
                </a:solidFill>
                <a:latin typeface="Calibri" pitchFamily="34" charset="0"/>
                <a:ea typeface="Calibri" pitchFamily="34" charset="-122"/>
                <a:cs typeface="Calibri" pitchFamily="34" charset="-120"/>
              </a:rPr>
              <a:t>A correlation is symmetric. r(x, y) = r(y, x), exactly. The data cannot tell you which way the arrow points — that information is simply not in it.</a:t>
            </a:r>
            <a:endParaRPr lang="en-US" sz="1400" dirty="0"/>
          </a:p>
        </p:txBody>
      </p:sp>
      <p:sp>
        <p:nvSpPr>
          <p:cNvPr id="7" name="Shape 5"/>
          <p:cNvSpPr/>
          <p:nvPr/>
        </p:nvSpPr>
        <p:spPr>
          <a:xfrm>
            <a:off x="548640" y="2743200"/>
            <a:ext cx="11064240" cy="676656"/>
          </a:xfrm>
          <a:prstGeom prst="roundRect">
            <a:avLst>
              <a:gd name="adj" fmla="val 12162"/>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8" name="Text 6"/>
          <p:cNvSpPr txBox="1"/>
          <p:nvPr/>
        </p:nvSpPr>
        <p:spPr>
          <a:xfrm>
            <a:off x="868680" y="2907792"/>
            <a:ext cx="5120640" cy="329184"/>
          </a:xfrm>
          <a:prstGeom prst="rect">
            <a:avLst/>
          </a:prstGeom>
          <a:noFill/>
          <a:ln/>
        </p:spPr>
        <p:txBody>
          <a:bodyPr wrap="square" lIns="0" tIns="0" rIns="0" bIns="0" rtlCol="0" anchor="ctr"/>
          <a:lstStyle/>
          <a:p>
            <a:pPr indent="0" marL="0">
              <a:buNone/>
            </a:pPr>
            <a:r>
              <a:rPr lang="en-US" sz="1250" b="1" dirty="0">
                <a:solidFill>
                  <a:srgbClr val="1F3A5F"/>
                </a:solidFill>
                <a:latin typeface="Calibri" pitchFamily="34" charset="0"/>
                <a:ea typeface="Calibri" pitchFamily="34" charset="-122"/>
                <a:cs typeface="Calibri" pitchFamily="34" charset="-120"/>
              </a:rPr>
              <a:t>“Hospitals with more staff have more deaths”</a:t>
            </a:r>
            <a:endParaRPr lang="en-US" sz="1250" dirty="0"/>
          </a:p>
        </p:txBody>
      </p:sp>
      <p:sp>
        <p:nvSpPr>
          <p:cNvPr id="9" name="Text 7"/>
          <p:cNvSpPr txBox="1"/>
          <p:nvPr/>
        </p:nvSpPr>
        <p:spPr>
          <a:xfrm>
            <a:off x="6126480" y="2907792"/>
            <a:ext cx="5303520" cy="329184"/>
          </a:xfrm>
          <a:prstGeom prst="rect">
            <a:avLst/>
          </a:prstGeom>
          <a:noFill/>
          <a:ln/>
        </p:spPr>
        <p:txBody>
          <a:bodyPr wrap="square" lIns="0" tIns="0" rIns="0" bIns="0" rtlCol="0" anchor="ctr"/>
          <a:lstStyle/>
          <a:p>
            <a:pPr indent="0" marL="0">
              <a:buNone/>
            </a:pPr>
            <a:r>
              <a:rPr lang="en-US" sz="1200" b="1" dirty="0">
                <a:solidFill>
                  <a:srgbClr val="E8674C"/>
                </a:solidFill>
                <a:latin typeface="Calibri" pitchFamily="34" charset="0"/>
                <a:ea typeface="Calibri" pitchFamily="34" charset="-122"/>
                <a:cs typeface="Calibri" pitchFamily="34" charset="-120"/>
              </a:rPr>
              <a:t>→   </a:t>
            </a:r>
            <a:pPr indent="0" marL="0">
              <a:buNone/>
            </a:pPr>
            <a:r>
              <a:rPr lang="en-US" sz="1200" dirty="0">
                <a:solidFill>
                  <a:srgbClr val="2B3445"/>
                </a:solidFill>
                <a:latin typeface="Calibri" pitchFamily="34" charset="0"/>
                <a:ea typeface="Calibri" pitchFamily="34" charset="-122"/>
                <a:cs typeface="Calibri" pitchFamily="34" charset="-120"/>
              </a:rPr>
              <a:t>Bigger hospitals take the sicker patients. Severity drives both.</a:t>
            </a:r>
            <a:endParaRPr lang="en-US" sz="1200" dirty="0"/>
          </a:p>
        </p:txBody>
      </p:sp>
      <p:sp>
        <p:nvSpPr>
          <p:cNvPr id="10" name="Shape 8"/>
          <p:cNvSpPr/>
          <p:nvPr/>
        </p:nvSpPr>
        <p:spPr>
          <a:xfrm>
            <a:off x="548640" y="3529584"/>
            <a:ext cx="11064240" cy="676656"/>
          </a:xfrm>
          <a:prstGeom prst="roundRect">
            <a:avLst>
              <a:gd name="adj" fmla="val 12162"/>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1" name="Text 9"/>
          <p:cNvSpPr txBox="1"/>
          <p:nvPr/>
        </p:nvSpPr>
        <p:spPr>
          <a:xfrm>
            <a:off x="868680" y="3694176"/>
            <a:ext cx="5120640" cy="329184"/>
          </a:xfrm>
          <a:prstGeom prst="rect">
            <a:avLst/>
          </a:prstGeom>
          <a:noFill/>
          <a:ln/>
        </p:spPr>
        <p:txBody>
          <a:bodyPr wrap="square" lIns="0" tIns="0" rIns="0" bIns="0" rtlCol="0" anchor="ctr"/>
          <a:lstStyle/>
          <a:p>
            <a:pPr indent="0" marL="0">
              <a:buNone/>
            </a:pPr>
            <a:r>
              <a:rPr lang="en-US" sz="1250" b="1" dirty="0">
                <a:solidFill>
                  <a:srgbClr val="1F3A5F"/>
                </a:solidFill>
                <a:latin typeface="Calibri" pitchFamily="34" charset="0"/>
                <a:ea typeface="Calibri" pitchFamily="34" charset="-122"/>
                <a:cs typeface="Calibri" pitchFamily="34" charset="-120"/>
              </a:rPr>
              <a:t>“People who diet weigh more”</a:t>
            </a:r>
            <a:endParaRPr lang="en-US" sz="1250" dirty="0"/>
          </a:p>
        </p:txBody>
      </p:sp>
      <p:sp>
        <p:nvSpPr>
          <p:cNvPr id="12" name="Text 10"/>
          <p:cNvSpPr txBox="1"/>
          <p:nvPr/>
        </p:nvSpPr>
        <p:spPr>
          <a:xfrm>
            <a:off x="6126480" y="3694176"/>
            <a:ext cx="5303520" cy="329184"/>
          </a:xfrm>
          <a:prstGeom prst="rect">
            <a:avLst/>
          </a:prstGeom>
          <a:noFill/>
          <a:ln/>
        </p:spPr>
        <p:txBody>
          <a:bodyPr wrap="square" lIns="0" tIns="0" rIns="0" bIns="0" rtlCol="0" anchor="ctr"/>
          <a:lstStyle/>
          <a:p>
            <a:pPr indent="0" marL="0">
              <a:buNone/>
            </a:pPr>
            <a:r>
              <a:rPr lang="en-US" sz="1200" b="1" dirty="0">
                <a:solidFill>
                  <a:srgbClr val="E8674C"/>
                </a:solidFill>
                <a:latin typeface="Calibri" pitchFamily="34" charset="0"/>
                <a:ea typeface="Calibri" pitchFamily="34" charset="-122"/>
                <a:cs typeface="Calibri" pitchFamily="34" charset="-120"/>
              </a:rPr>
              <a:t>→   </a:t>
            </a:r>
            <a:pPr indent="0" marL="0">
              <a:buNone/>
            </a:pPr>
            <a:r>
              <a:rPr lang="en-US" sz="1200" dirty="0">
                <a:solidFill>
                  <a:srgbClr val="2B3445"/>
                </a:solidFill>
                <a:latin typeface="Calibri" pitchFamily="34" charset="0"/>
                <a:ea typeface="Calibri" pitchFamily="34" charset="-122"/>
                <a:cs typeface="Calibri" pitchFamily="34" charset="-120"/>
              </a:rPr>
              <a:t>Weighing more is why they started dieting.</a:t>
            </a:r>
            <a:endParaRPr lang="en-US" sz="1200" dirty="0"/>
          </a:p>
        </p:txBody>
      </p:sp>
      <p:sp>
        <p:nvSpPr>
          <p:cNvPr id="13" name="Shape 11"/>
          <p:cNvSpPr/>
          <p:nvPr/>
        </p:nvSpPr>
        <p:spPr>
          <a:xfrm>
            <a:off x="548640" y="4315968"/>
            <a:ext cx="11064240" cy="676656"/>
          </a:xfrm>
          <a:prstGeom prst="roundRect">
            <a:avLst>
              <a:gd name="adj" fmla="val 12162"/>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4" name="Text 12"/>
          <p:cNvSpPr txBox="1"/>
          <p:nvPr/>
        </p:nvSpPr>
        <p:spPr>
          <a:xfrm>
            <a:off x="868680" y="4480560"/>
            <a:ext cx="5120640" cy="329184"/>
          </a:xfrm>
          <a:prstGeom prst="rect">
            <a:avLst/>
          </a:prstGeom>
          <a:noFill/>
          <a:ln/>
        </p:spPr>
        <p:txBody>
          <a:bodyPr wrap="square" lIns="0" tIns="0" rIns="0" bIns="0" rtlCol="0" anchor="ctr"/>
          <a:lstStyle/>
          <a:p>
            <a:pPr indent="0" marL="0">
              <a:buNone/>
            </a:pPr>
            <a:r>
              <a:rPr lang="en-US" sz="1250" b="1" dirty="0">
                <a:solidFill>
                  <a:srgbClr val="1F3A5F"/>
                </a:solidFill>
                <a:latin typeface="Calibri" pitchFamily="34" charset="0"/>
                <a:ea typeface="Calibri" pitchFamily="34" charset="-122"/>
                <a:cs typeface="Calibri" pitchFamily="34" charset="-120"/>
              </a:rPr>
              <a:t>“Firms using more consultants perform worse”</a:t>
            </a:r>
            <a:endParaRPr lang="en-US" sz="1250" dirty="0"/>
          </a:p>
        </p:txBody>
      </p:sp>
      <p:sp>
        <p:nvSpPr>
          <p:cNvPr id="15" name="Text 13"/>
          <p:cNvSpPr txBox="1"/>
          <p:nvPr/>
        </p:nvSpPr>
        <p:spPr>
          <a:xfrm>
            <a:off x="6126480" y="4480560"/>
            <a:ext cx="5303520" cy="329184"/>
          </a:xfrm>
          <a:prstGeom prst="rect">
            <a:avLst/>
          </a:prstGeom>
          <a:noFill/>
          <a:ln/>
        </p:spPr>
        <p:txBody>
          <a:bodyPr wrap="square" lIns="0" tIns="0" rIns="0" bIns="0" rtlCol="0" anchor="ctr"/>
          <a:lstStyle/>
          <a:p>
            <a:pPr indent="0" marL="0">
              <a:buNone/>
            </a:pPr>
            <a:r>
              <a:rPr lang="en-US" sz="1200" b="1" dirty="0">
                <a:solidFill>
                  <a:srgbClr val="E8674C"/>
                </a:solidFill>
                <a:latin typeface="Calibri" pitchFamily="34" charset="0"/>
                <a:ea typeface="Calibri" pitchFamily="34" charset="-122"/>
                <a:cs typeface="Calibri" pitchFamily="34" charset="-120"/>
              </a:rPr>
              <a:t>→   </a:t>
            </a:r>
            <a:pPr indent="0" marL="0">
              <a:buNone/>
            </a:pPr>
            <a:r>
              <a:rPr lang="en-US" sz="1200" dirty="0">
                <a:solidFill>
                  <a:srgbClr val="2B3445"/>
                </a:solidFill>
                <a:latin typeface="Calibri" pitchFamily="34" charset="0"/>
                <a:ea typeface="Calibri" pitchFamily="34" charset="-122"/>
                <a:cs typeface="Calibri" pitchFamily="34" charset="-120"/>
              </a:rPr>
              <a:t>Struggling firms hire consultants.</a:t>
            </a:r>
            <a:endParaRPr lang="en-US" sz="1200" dirty="0"/>
          </a:p>
        </p:txBody>
      </p:sp>
      <p:sp>
        <p:nvSpPr>
          <p:cNvPr id="16" name="Shape 14"/>
          <p:cNvSpPr/>
          <p:nvPr/>
        </p:nvSpPr>
        <p:spPr>
          <a:xfrm>
            <a:off x="548640" y="5102352"/>
            <a:ext cx="11064240" cy="676656"/>
          </a:xfrm>
          <a:prstGeom prst="roundRect">
            <a:avLst>
              <a:gd name="adj" fmla="val 12162"/>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7" name="Text 15"/>
          <p:cNvSpPr txBox="1"/>
          <p:nvPr/>
        </p:nvSpPr>
        <p:spPr>
          <a:xfrm>
            <a:off x="868680" y="5266944"/>
            <a:ext cx="5120640" cy="329184"/>
          </a:xfrm>
          <a:prstGeom prst="rect">
            <a:avLst/>
          </a:prstGeom>
          <a:noFill/>
          <a:ln/>
        </p:spPr>
        <p:txBody>
          <a:bodyPr wrap="square" lIns="0" tIns="0" rIns="0" bIns="0" rtlCol="0" anchor="ctr"/>
          <a:lstStyle/>
          <a:p>
            <a:pPr indent="0" marL="0">
              <a:buNone/>
            </a:pPr>
            <a:r>
              <a:rPr lang="en-US" sz="1250" b="1" dirty="0">
                <a:solidFill>
                  <a:srgbClr val="1F3A5F"/>
                </a:solidFill>
                <a:latin typeface="Calibri" pitchFamily="34" charset="0"/>
                <a:ea typeface="Calibri" pitchFamily="34" charset="-122"/>
                <a:cs typeface="Calibri" pitchFamily="34" charset="-120"/>
              </a:rPr>
              <a:t>“Heavier police presence, more crime”</a:t>
            </a:r>
            <a:endParaRPr lang="en-US" sz="1250" dirty="0"/>
          </a:p>
        </p:txBody>
      </p:sp>
      <p:sp>
        <p:nvSpPr>
          <p:cNvPr id="18" name="Text 16"/>
          <p:cNvSpPr txBox="1"/>
          <p:nvPr/>
        </p:nvSpPr>
        <p:spPr>
          <a:xfrm>
            <a:off x="6126480" y="5266944"/>
            <a:ext cx="5303520" cy="329184"/>
          </a:xfrm>
          <a:prstGeom prst="rect">
            <a:avLst/>
          </a:prstGeom>
          <a:noFill/>
          <a:ln/>
        </p:spPr>
        <p:txBody>
          <a:bodyPr wrap="square" lIns="0" tIns="0" rIns="0" bIns="0" rtlCol="0" anchor="ctr"/>
          <a:lstStyle/>
          <a:p>
            <a:pPr indent="0" marL="0">
              <a:buNone/>
            </a:pPr>
            <a:r>
              <a:rPr lang="en-US" sz="1200" b="1" dirty="0">
                <a:solidFill>
                  <a:srgbClr val="E8674C"/>
                </a:solidFill>
                <a:latin typeface="Calibri" pitchFamily="34" charset="0"/>
                <a:ea typeface="Calibri" pitchFamily="34" charset="-122"/>
                <a:cs typeface="Calibri" pitchFamily="34" charset="-120"/>
              </a:rPr>
              <a:t>→   </a:t>
            </a:r>
            <a:pPr indent="0" marL="0">
              <a:buNone/>
            </a:pPr>
            <a:r>
              <a:rPr lang="en-US" sz="1200" dirty="0">
                <a:solidFill>
                  <a:srgbClr val="2B3445"/>
                </a:solidFill>
                <a:latin typeface="Calibri" pitchFamily="34" charset="0"/>
                <a:ea typeface="Calibri" pitchFamily="34" charset="-122"/>
                <a:cs typeface="Calibri" pitchFamily="34" charset="-120"/>
              </a:rPr>
              <a:t>Crime draws police to the area.</a:t>
            </a:r>
            <a:endParaRPr lang="en-US" sz="1200" dirty="0"/>
          </a:p>
        </p:txBody>
      </p:sp>
      <p:sp>
        <p:nvSpPr>
          <p:cNvPr id="19" name="Text 17"/>
          <p:cNvSpPr txBox="1"/>
          <p:nvPr/>
        </p:nvSpPr>
        <p:spPr>
          <a:xfrm>
            <a:off x="548640" y="5943600"/>
            <a:ext cx="11064240" cy="365760"/>
          </a:xfrm>
          <a:prstGeom prst="rect">
            <a:avLst/>
          </a:prstGeom>
          <a:noFill/>
          <a:ln/>
        </p:spPr>
        <p:txBody>
          <a:bodyPr wrap="square" lIns="0" tIns="0" rIns="0" bIns="0" rtlCol="0" anchor="ctr"/>
          <a:lstStyle/>
          <a:p>
            <a:pPr indent="0" marL="0">
              <a:buNone/>
            </a:pPr>
            <a:r>
              <a:rPr lang="en-US" sz="1250" i="1" dirty="0">
                <a:solidFill>
                  <a:srgbClr val="6B7789"/>
                </a:solidFill>
                <a:latin typeface="Calibri" pitchFamily="34" charset="0"/>
                <a:ea typeface="Calibri" pitchFamily="34" charset="-122"/>
                <a:cs typeface="Calibri" pitchFamily="34" charset="-120"/>
              </a:rPr>
              <a:t>The test: ask whether the story works just as well backwards. If it does, your data cannot distinguish them, and you need either a time ordering or an experiment.</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4.4  ·  COLLIDER BIAS</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 Selection: when collecting the data creates the link</a:t>
            </a:r>
            <a:endParaRPr lang="en-US" sz="3200" dirty="0"/>
          </a:p>
        </p:txBody>
      </p:sp>
      <p:pic>
        <p:nvPicPr>
          <p:cNvPr id="5" name="Image 0" descr="/home/claude/day29/fig/collider.png">    </p:cNvPr>
          <p:cNvPicPr>
            <a:picLocks noChangeAspect="1"/>
          </p:cNvPicPr>
          <p:nvPr/>
        </p:nvPicPr>
        <p:blipFill>
          <a:blip r:embed="rId1"/>
          <a:stretch>
            <a:fillRect/>
          </a:stretch>
        </p:blipFill>
        <p:spPr>
          <a:xfrm>
            <a:off x="960120" y="1536192"/>
            <a:ext cx="10241280" cy="3153103"/>
          </a:xfrm>
          <a:prstGeom prst="rect">
            <a:avLst/>
          </a:prstGeom>
        </p:spPr>
      </p:pic>
      <p:sp>
        <p:nvSpPr>
          <p:cNvPr id="6" name="Shape 3"/>
          <p:cNvSpPr/>
          <p:nvPr/>
        </p:nvSpPr>
        <p:spPr>
          <a:xfrm>
            <a:off x="548640" y="4846320"/>
            <a:ext cx="5486400" cy="1005840"/>
          </a:xfrm>
          <a:prstGeom prst="roundRect">
            <a:avLst>
              <a:gd name="adj" fmla="val 8182"/>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04672" y="4956048"/>
            <a:ext cx="4937760" cy="274320"/>
          </a:xfrm>
          <a:prstGeom prst="rect">
            <a:avLst/>
          </a:prstGeom>
          <a:noFill/>
          <a:ln/>
        </p:spPr>
        <p:txBody>
          <a:bodyPr wrap="square" lIns="0" tIns="0" rIns="0" bIns="0" rtlCol="0" anchor="ctr"/>
          <a:lstStyle/>
          <a:p>
            <a:pPr indent="0" marL="0">
              <a:buNone/>
            </a:pPr>
            <a:r>
              <a:rPr lang="en-US" sz="1350" b="1" dirty="0">
                <a:solidFill>
                  <a:srgbClr val="A63B24"/>
                </a:solidFill>
                <a:latin typeface="Calibri" pitchFamily="34" charset="0"/>
                <a:ea typeface="Calibri" pitchFamily="34" charset="-122"/>
                <a:cs typeface="Calibri" pitchFamily="34" charset="-120"/>
              </a:rPr>
              <a:t>Nobody caused anything</a:t>
            </a:r>
            <a:endParaRPr lang="en-US" sz="1350" dirty="0"/>
          </a:p>
        </p:txBody>
      </p:sp>
      <p:sp>
        <p:nvSpPr>
          <p:cNvPr id="8" name="Text 5"/>
          <p:cNvSpPr txBox="1"/>
          <p:nvPr/>
        </p:nvSpPr>
        <p:spPr>
          <a:xfrm>
            <a:off x="804672" y="5266944"/>
            <a:ext cx="4983480" cy="548640"/>
          </a:xfrm>
          <a:prstGeom prst="rect">
            <a:avLst/>
          </a:prstGeom>
          <a:noFill/>
          <a:ln/>
        </p:spPr>
        <p:txBody>
          <a:bodyPr wrap="square" lIns="0" tIns="0" rIns="0" bIns="0" rtlCol="0" anchor="ctr"/>
          <a:lstStyle/>
          <a:p>
            <a:pPr indent="0" marL="0">
              <a:lnSpc>
                <a:spcPct val="115000"/>
              </a:lnSpc>
              <a:buNone/>
            </a:pPr>
            <a:r>
              <a:rPr lang="en-US" sz="1150" dirty="0">
                <a:solidFill>
                  <a:srgbClr val="6B4A0B"/>
                </a:solidFill>
                <a:latin typeface="Calibri" pitchFamily="34" charset="0"/>
                <a:ea typeface="Calibri" pitchFamily="34" charset="-122"/>
                <a:cs typeface="Calibri" pitchFamily="34" charset="-120"/>
              </a:rPr>
              <a:t>Talent and looks are independent in the population. Among famous people they correlate at −0.73, because you need enough of one or the other to get in.</a:t>
            </a:r>
            <a:endParaRPr lang="en-US" sz="1150" dirty="0"/>
          </a:p>
        </p:txBody>
      </p:sp>
      <p:sp>
        <p:nvSpPr>
          <p:cNvPr id="9" name="Shape 6"/>
          <p:cNvSpPr/>
          <p:nvPr/>
        </p:nvSpPr>
        <p:spPr>
          <a:xfrm>
            <a:off x="6309360" y="4846320"/>
            <a:ext cx="5303520" cy="1005840"/>
          </a:xfrm>
          <a:prstGeom prst="roundRect">
            <a:avLst>
              <a:gd name="adj" fmla="val 8182"/>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7"/>
          <p:cNvSpPr txBox="1"/>
          <p:nvPr/>
        </p:nvSpPr>
        <p:spPr>
          <a:xfrm>
            <a:off x="6565392" y="4956048"/>
            <a:ext cx="4754880" cy="274320"/>
          </a:xfrm>
          <a:prstGeom prst="rect">
            <a:avLst/>
          </a:prstGeom>
          <a:noFill/>
          <a:ln/>
        </p:spPr>
        <p:txBody>
          <a:bodyPr wrap="square" lIns="0" tIns="0" rIns="0" bIns="0" rtlCol="0" anchor="ctr"/>
          <a:lstStyle/>
          <a:p>
            <a:pPr indent="0" marL="0">
              <a:buNone/>
            </a:pPr>
            <a:r>
              <a:rPr lang="en-US" sz="1350" b="1" dirty="0">
                <a:solidFill>
                  <a:srgbClr val="8A5B00"/>
                </a:solidFill>
                <a:latin typeface="Calibri" pitchFamily="34" charset="0"/>
                <a:ea typeface="Calibri" pitchFamily="34" charset="-122"/>
                <a:cs typeface="Calibri" pitchFamily="34" charset="-120"/>
              </a:rPr>
              <a:t>Where it bites you</a:t>
            </a:r>
            <a:endParaRPr lang="en-US" sz="1350" dirty="0"/>
          </a:p>
        </p:txBody>
      </p:sp>
      <p:sp>
        <p:nvSpPr>
          <p:cNvPr id="11" name="Text 8"/>
          <p:cNvSpPr txBox="1"/>
          <p:nvPr/>
        </p:nvSpPr>
        <p:spPr>
          <a:xfrm>
            <a:off x="6565392" y="5266944"/>
            <a:ext cx="4800600" cy="548640"/>
          </a:xfrm>
          <a:prstGeom prst="rect">
            <a:avLst/>
          </a:prstGeom>
          <a:noFill/>
          <a:ln/>
        </p:spPr>
        <p:txBody>
          <a:bodyPr wrap="square" lIns="0" tIns="0" rIns="0" bIns="0" rtlCol="0" anchor="ctr"/>
          <a:lstStyle/>
          <a:p>
            <a:pPr indent="0" marL="0">
              <a:lnSpc>
                <a:spcPct val="115000"/>
              </a:lnSpc>
              <a:buNone/>
            </a:pPr>
            <a:r>
              <a:rPr lang="en-US" sz="1150" dirty="0">
                <a:solidFill>
                  <a:srgbClr val="6B4A0B"/>
                </a:solidFill>
                <a:latin typeface="Calibri" pitchFamily="34" charset="0"/>
                <a:ea typeface="Calibri" pitchFamily="34" charset="-122"/>
                <a:cs typeface="Calibri" pitchFamily="34" charset="-120"/>
              </a:rPr>
              <a:t>Any analysis on people who were admitted, hired, diagnosed, subscribed or survived. The selection rule itself writes correlations into the data.</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4.5  ·  SIMPSON</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 Simpson's paradox: the reversal</a:t>
            </a:r>
            <a:endParaRPr lang="en-US" sz="3200" dirty="0"/>
          </a:p>
        </p:txBody>
      </p:sp>
      <p:pic>
        <p:nvPicPr>
          <p:cNvPr id="5" name="Image 0" descr="/home/claude/day29/fig/simpson.png">    </p:cNvPr>
          <p:cNvPicPr>
            <a:picLocks noChangeAspect="1"/>
          </p:cNvPicPr>
          <p:nvPr/>
        </p:nvPicPr>
        <p:blipFill>
          <a:blip r:embed="rId1"/>
          <a:stretch>
            <a:fillRect/>
          </a:stretch>
        </p:blipFill>
        <p:spPr>
          <a:xfrm>
            <a:off x="822960" y="1554480"/>
            <a:ext cx="10515600" cy="3101032"/>
          </a:xfrm>
          <a:prstGeom prst="rect">
            <a:avLst/>
          </a:prstGeom>
        </p:spPr>
      </p:pic>
      <p:sp>
        <p:nvSpPr>
          <p:cNvPr id="6" name="Shape 3"/>
          <p:cNvSpPr/>
          <p:nvPr/>
        </p:nvSpPr>
        <p:spPr>
          <a:xfrm>
            <a:off x="548640" y="4754880"/>
            <a:ext cx="5486400" cy="1097280"/>
          </a:xfrm>
          <a:prstGeom prst="roundRect">
            <a:avLst>
              <a:gd name="adj" fmla="val 7500"/>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04672" y="4873752"/>
            <a:ext cx="4937760" cy="274320"/>
          </a:xfrm>
          <a:prstGeom prst="rect">
            <a:avLst/>
          </a:prstGeom>
          <a:noFill/>
          <a:ln/>
        </p:spPr>
        <p:txBody>
          <a:bodyPr wrap="square" lIns="0" tIns="0" rIns="0" bIns="0" rtlCol="0" anchor="ctr"/>
          <a:lstStyle/>
          <a:p>
            <a:pPr indent="0" marL="0">
              <a:buNone/>
            </a:pPr>
            <a:r>
              <a:rPr lang="en-US" sz="1350" b="1" dirty="0">
                <a:solidFill>
                  <a:srgbClr val="A63B24"/>
                </a:solidFill>
                <a:latin typeface="Calibri" pitchFamily="34" charset="0"/>
                <a:ea typeface="Calibri" pitchFamily="34" charset="-122"/>
                <a:cs typeface="Calibri" pitchFamily="34" charset="-120"/>
              </a:rPr>
              <a:t>Both statements are true</a:t>
            </a:r>
            <a:endParaRPr lang="en-US" sz="1350" dirty="0"/>
          </a:p>
        </p:txBody>
      </p:sp>
      <p:sp>
        <p:nvSpPr>
          <p:cNvPr id="8" name="Text 5"/>
          <p:cNvSpPr txBox="1"/>
          <p:nvPr/>
        </p:nvSpPr>
        <p:spPr>
          <a:xfrm>
            <a:off x="804672" y="5184648"/>
            <a:ext cx="4983480" cy="621792"/>
          </a:xfrm>
          <a:prstGeom prst="rect">
            <a:avLst/>
          </a:prstGeom>
          <a:noFill/>
          <a:ln/>
        </p:spPr>
        <p:txBody>
          <a:bodyPr wrap="square" lIns="0" tIns="0" rIns="0" bIns="0" rtlCol="0" anchor="ctr"/>
          <a:lstStyle/>
          <a:p>
            <a:pPr indent="0" marL="0">
              <a:lnSpc>
                <a:spcPct val="115000"/>
              </a:lnSpc>
              <a:buNone/>
            </a:pPr>
            <a:r>
              <a:rPr lang="en-US" sz="1150" dirty="0">
                <a:solidFill>
                  <a:srgbClr val="6B4A0B"/>
                </a:solidFill>
                <a:latin typeface="Calibri" pitchFamily="34" charset="0"/>
                <a:ea typeface="Calibri" pitchFamily="34" charset="-122"/>
                <a:cs typeface="Calibri" pitchFamily="34" charset="-120"/>
              </a:rPr>
              <a:t>Women are admitted at a higher rate in every single department, and at a lower rate overall (34.3% vs 55.0%). Both come from the same table, with no arithmetic error anywhere.</a:t>
            </a:r>
            <a:endParaRPr lang="en-US" sz="1150" dirty="0"/>
          </a:p>
        </p:txBody>
      </p:sp>
      <p:sp>
        <p:nvSpPr>
          <p:cNvPr id="9" name="Shape 6"/>
          <p:cNvSpPr/>
          <p:nvPr/>
        </p:nvSpPr>
        <p:spPr>
          <a:xfrm>
            <a:off x="6309360" y="4754880"/>
            <a:ext cx="5303520" cy="1097280"/>
          </a:xfrm>
          <a:prstGeom prst="roundRect">
            <a:avLst>
              <a:gd name="adj" fmla="val 7500"/>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7"/>
          <p:cNvSpPr txBox="1"/>
          <p:nvPr/>
        </p:nvSpPr>
        <p:spPr>
          <a:xfrm>
            <a:off x="6565392" y="4873752"/>
            <a:ext cx="4754880" cy="274320"/>
          </a:xfrm>
          <a:prstGeom prst="rect">
            <a:avLst/>
          </a:prstGeom>
          <a:noFill/>
          <a:ln/>
        </p:spPr>
        <p:txBody>
          <a:bodyPr wrap="square" lIns="0" tIns="0" rIns="0" bIns="0" rtlCol="0" anchor="ctr"/>
          <a:lstStyle/>
          <a:p>
            <a:pPr indent="0" marL="0">
              <a:buNone/>
            </a:pPr>
            <a:r>
              <a:rPr lang="en-US" sz="1350" b="1" dirty="0">
                <a:solidFill>
                  <a:srgbClr val="1C6F5C"/>
                </a:solidFill>
                <a:latin typeface="Calibri" pitchFamily="34" charset="0"/>
                <a:ea typeface="Calibri" pitchFamily="34" charset="-122"/>
                <a:cs typeface="Calibri" pitchFamily="34" charset="-120"/>
              </a:rPr>
              <a:t>Why: where people applied</a:t>
            </a:r>
            <a:endParaRPr lang="en-US" sz="1350" dirty="0"/>
          </a:p>
        </p:txBody>
      </p:sp>
      <p:sp>
        <p:nvSpPr>
          <p:cNvPr id="11" name="Text 8"/>
          <p:cNvSpPr txBox="1"/>
          <p:nvPr/>
        </p:nvSpPr>
        <p:spPr>
          <a:xfrm>
            <a:off x="6565392" y="5184648"/>
            <a:ext cx="4800600" cy="621792"/>
          </a:xfrm>
          <a:prstGeom prst="rect">
            <a:avLst/>
          </a:prstGeom>
          <a:noFill/>
          <a:ln/>
        </p:spPr>
        <p:txBody>
          <a:bodyPr wrap="square" lIns="0" tIns="0" rIns="0" bIns="0" rtlCol="0" anchor="ctr"/>
          <a:lstStyle/>
          <a:p>
            <a:pPr indent="0" marL="0">
              <a:lnSpc>
                <a:spcPct val="115000"/>
              </a:lnSpc>
              <a:buNone/>
            </a:pPr>
            <a:r>
              <a:rPr lang="en-US" sz="1150" dirty="0">
                <a:solidFill>
                  <a:srgbClr val="2B3445"/>
                </a:solidFill>
                <a:latin typeface="Calibri" pitchFamily="34" charset="0"/>
                <a:ea typeface="Calibri" pitchFamily="34" charset="-122"/>
                <a:cs typeface="Calibri" pitchFamily="34" charset="-120"/>
              </a:rPr>
              <a:t>85% of the men applied to the easy departments; only 14% of the women did. The overall rate mostly measures which doors people knocked on, not what happened at the door.</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4.6  ·  THE CHECKLIST</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What to ask before believing any correlation</a:t>
            </a:r>
            <a:endParaRPr lang="en-US" sz="3200" dirty="0"/>
          </a:p>
        </p:txBody>
      </p:sp>
      <p:sp>
        <p:nvSpPr>
          <p:cNvPr id="5" name="Shape 3"/>
          <p:cNvSpPr/>
          <p:nvPr/>
        </p:nvSpPr>
        <p:spPr>
          <a:xfrm>
            <a:off x="548640" y="1627632"/>
            <a:ext cx="11064240" cy="603504"/>
          </a:xfrm>
          <a:prstGeom prst="roundRect">
            <a:avLst>
              <a:gd name="adj" fmla="val 13636"/>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804672" y="1746504"/>
            <a:ext cx="365760" cy="365760"/>
          </a:xfrm>
          <a:prstGeom prst="ellipse">
            <a:avLst/>
          </a:prstGeom>
          <a:solidFill>
            <a:srgbClr val="3E7CB1"/>
          </a:solidFill>
          <a:ln w="12700">
            <a:solidFill>
              <a:srgbClr val="3E7CB1"/>
            </a:solidFill>
            <a:prstDash val="solid"/>
          </a:ln>
        </p:spPr>
      </p:sp>
      <p:sp>
        <p:nvSpPr>
          <p:cNvPr id="7" name="Text 5"/>
          <p:cNvSpPr txBox="1"/>
          <p:nvPr/>
        </p:nvSpPr>
        <p:spPr>
          <a:xfrm>
            <a:off x="804672" y="174650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316736" y="1773936"/>
            <a:ext cx="4023360" cy="292608"/>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Did I plot it?</a:t>
            </a:r>
            <a:endParaRPr lang="en-US" sz="1300" dirty="0"/>
          </a:p>
        </p:txBody>
      </p:sp>
      <p:sp>
        <p:nvSpPr>
          <p:cNvPr id="9" name="Text 7"/>
          <p:cNvSpPr txBox="1"/>
          <p:nvPr/>
        </p:nvSpPr>
        <p:spPr>
          <a:xfrm>
            <a:off x="5486400" y="1783080"/>
            <a:ext cx="5852160" cy="292608"/>
          </a:xfrm>
          <a:prstGeom prst="rect">
            <a:avLst/>
          </a:prstGeom>
          <a:noFill/>
          <a:ln/>
        </p:spPr>
        <p:txBody>
          <a:bodyPr wrap="square" lIns="0" tIns="0" rIns="0" bIns="0" rtlCol="0" anchor="ctr"/>
          <a:lstStyle/>
          <a:p>
            <a:pPr indent="0" marL="0">
              <a:buNone/>
            </a:pPr>
            <a:r>
              <a:rPr lang="en-US" sz="1150" dirty="0">
                <a:solidFill>
                  <a:srgbClr val="2B3445"/>
                </a:solidFill>
                <a:latin typeface="Calibri" pitchFamily="34" charset="0"/>
                <a:ea typeface="Calibri" pitchFamily="34" charset="-122"/>
                <a:cs typeface="Calibri" pitchFamily="34" charset="-120"/>
              </a:rPr>
              <a:t>Anscombe. Non-negotiable, and it takes four seconds.</a:t>
            </a:r>
            <a:endParaRPr lang="en-US" sz="1150" dirty="0"/>
          </a:p>
        </p:txBody>
      </p:sp>
      <p:sp>
        <p:nvSpPr>
          <p:cNvPr id="10" name="Shape 8"/>
          <p:cNvSpPr/>
          <p:nvPr/>
        </p:nvSpPr>
        <p:spPr>
          <a:xfrm>
            <a:off x="548640" y="2331720"/>
            <a:ext cx="11064240" cy="603504"/>
          </a:xfrm>
          <a:prstGeom prst="roundRect">
            <a:avLst>
              <a:gd name="adj" fmla="val 13636"/>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1" name="Shape 9"/>
          <p:cNvSpPr/>
          <p:nvPr/>
        </p:nvSpPr>
        <p:spPr>
          <a:xfrm>
            <a:off x="804672" y="2450592"/>
            <a:ext cx="365760" cy="365760"/>
          </a:xfrm>
          <a:prstGeom prst="ellipse">
            <a:avLst/>
          </a:prstGeom>
          <a:solidFill>
            <a:srgbClr val="E8674C"/>
          </a:solidFill>
          <a:ln w="12700">
            <a:solidFill>
              <a:srgbClr val="E8674C"/>
            </a:solidFill>
            <a:prstDash val="solid"/>
          </a:ln>
        </p:spPr>
      </p:sp>
      <p:sp>
        <p:nvSpPr>
          <p:cNvPr id="12" name="Text 10"/>
          <p:cNvSpPr txBox="1"/>
          <p:nvPr/>
        </p:nvSpPr>
        <p:spPr>
          <a:xfrm>
            <a:off x="804672" y="245059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1316736" y="2478024"/>
            <a:ext cx="4023360" cy="292608"/>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How many pairs did I look at?</a:t>
            </a:r>
            <a:endParaRPr lang="en-US" sz="1300" dirty="0"/>
          </a:p>
        </p:txBody>
      </p:sp>
      <p:sp>
        <p:nvSpPr>
          <p:cNvPr id="14" name="Text 12"/>
          <p:cNvSpPr txBox="1"/>
          <p:nvPr/>
        </p:nvSpPr>
        <p:spPr>
          <a:xfrm>
            <a:off x="5486400" y="2487168"/>
            <a:ext cx="5852160" cy="292608"/>
          </a:xfrm>
          <a:prstGeom prst="rect">
            <a:avLst/>
          </a:prstGeom>
          <a:noFill/>
          <a:ln/>
        </p:spPr>
        <p:txBody>
          <a:bodyPr wrap="square" lIns="0" tIns="0" rIns="0" bIns="0" rtlCol="0" anchor="ctr"/>
          <a:lstStyle/>
          <a:p>
            <a:pPr indent="0" marL="0">
              <a:buNone/>
            </a:pPr>
            <a:r>
              <a:rPr lang="en-US" sz="1150" dirty="0">
                <a:solidFill>
                  <a:srgbClr val="2B3445"/>
                </a:solidFill>
                <a:latin typeface="Calibri" pitchFamily="34" charset="0"/>
                <a:ea typeface="Calibri" pitchFamily="34" charset="-122"/>
                <a:cs typeface="Calibri" pitchFamily="34" charset="-120"/>
              </a:rPr>
              <a:t>If it was 190, this one means nothing on its own.</a:t>
            </a:r>
            <a:endParaRPr lang="en-US" sz="1150" dirty="0"/>
          </a:p>
        </p:txBody>
      </p:sp>
      <p:sp>
        <p:nvSpPr>
          <p:cNvPr id="15" name="Shape 13"/>
          <p:cNvSpPr/>
          <p:nvPr/>
        </p:nvSpPr>
        <p:spPr>
          <a:xfrm>
            <a:off x="548640" y="3035808"/>
            <a:ext cx="11064240" cy="603504"/>
          </a:xfrm>
          <a:prstGeom prst="roundRect">
            <a:avLst>
              <a:gd name="adj" fmla="val 13636"/>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6" name="Shape 14"/>
          <p:cNvSpPr/>
          <p:nvPr/>
        </p:nvSpPr>
        <p:spPr>
          <a:xfrm>
            <a:off x="804672" y="3154680"/>
            <a:ext cx="365760" cy="365760"/>
          </a:xfrm>
          <a:prstGeom prst="ellipse">
            <a:avLst/>
          </a:prstGeom>
          <a:solidFill>
            <a:srgbClr val="FFC145"/>
          </a:solidFill>
          <a:ln w="12700">
            <a:solidFill>
              <a:srgbClr val="FFC145"/>
            </a:solidFill>
            <a:prstDash val="solid"/>
          </a:ln>
        </p:spPr>
      </p:sp>
      <p:sp>
        <p:nvSpPr>
          <p:cNvPr id="17" name="Text 15"/>
          <p:cNvSpPr txBox="1"/>
          <p:nvPr/>
        </p:nvSpPr>
        <p:spPr>
          <a:xfrm>
            <a:off x="804672" y="3154680"/>
            <a:ext cx="365760" cy="365760"/>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1316736" y="3182112"/>
            <a:ext cx="4023360" cy="292608"/>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What is r², and the interval?</a:t>
            </a:r>
            <a:endParaRPr lang="en-US" sz="1300" dirty="0"/>
          </a:p>
        </p:txBody>
      </p:sp>
      <p:sp>
        <p:nvSpPr>
          <p:cNvPr id="19" name="Text 17"/>
          <p:cNvSpPr txBox="1"/>
          <p:nvPr/>
        </p:nvSpPr>
        <p:spPr>
          <a:xfrm>
            <a:off x="5486400" y="3191256"/>
            <a:ext cx="5852160" cy="292608"/>
          </a:xfrm>
          <a:prstGeom prst="rect">
            <a:avLst/>
          </a:prstGeom>
          <a:noFill/>
          <a:ln/>
        </p:spPr>
        <p:txBody>
          <a:bodyPr wrap="square" lIns="0" tIns="0" rIns="0" bIns="0" rtlCol="0" anchor="ctr"/>
          <a:lstStyle/>
          <a:p>
            <a:pPr indent="0" marL="0">
              <a:buNone/>
            </a:pPr>
            <a:r>
              <a:rPr lang="en-US" sz="1150" dirty="0">
                <a:solidFill>
                  <a:srgbClr val="2B3445"/>
                </a:solidFill>
                <a:latin typeface="Calibri" pitchFamily="34" charset="0"/>
                <a:ea typeface="Calibri" pitchFamily="34" charset="-122"/>
                <a:cs typeface="Calibri" pitchFamily="34" charset="-120"/>
              </a:rPr>
              <a:t>Not just r. Both ends: is it big, and do I know it?</a:t>
            </a:r>
            <a:endParaRPr lang="en-US" sz="1150" dirty="0"/>
          </a:p>
        </p:txBody>
      </p:sp>
      <p:sp>
        <p:nvSpPr>
          <p:cNvPr id="20" name="Shape 18"/>
          <p:cNvSpPr/>
          <p:nvPr/>
        </p:nvSpPr>
        <p:spPr>
          <a:xfrm>
            <a:off x="548640" y="3739896"/>
            <a:ext cx="11064240" cy="603504"/>
          </a:xfrm>
          <a:prstGeom prst="roundRect">
            <a:avLst>
              <a:gd name="adj" fmla="val 13636"/>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1" name="Shape 19"/>
          <p:cNvSpPr/>
          <p:nvPr/>
        </p:nvSpPr>
        <p:spPr>
          <a:xfrm>
            <a:off x="804672" y="3858768"/>
            <a:ext cx="365760" cy="365760"/>
          </a:xfrm>
          <a:prstGeom prst="ellipse">
            <a:avLst/>
          </a:prstGeom>
          <a:solidFill>
            <a:srgbClr val="FFC145"/>
          </a:solidFill>
          <a:ln w="12700">
            <a:solidFill>
              <a:srgbClr val="FFC145"/>
            </a:solidFill>
            <a:prstDash val="solid"/>
          </a:ln>
        </p:spPr>
      </p:sp>
      <p:sp>
        <p:nvSpPr>
          <p:cNvPr id="22" name="Text 20"/>
          <p:cNvSpPr txBox="1"/>
          <p:nvPr/>
        </p:nvSpPr>
        <p:spPr>
          <a:xfrm>
            <a:off x="804672" y="3858768"/>
            <a:ext cx="365760" cy="365760"/>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4</a:t>
            </a:r>
            <a:endParaRPr lang="en-US" sz="1300" dirty="0"/>
          </a:p>
        </p:txBody>
      </p:sp>
      <p:sp>
        <p:nvSpPr>
          <p:cNvPr id="23" name="Text 21"/>
          <p:cNvSpPr txBox="1"/>
          <p:nvPr/>
        </p:nvSpPr>
        <p:spPr>
          <a:xfrm>
            <a:off x="1316736" y="3886200"/>
            <a:ext cx="4023360" cy="292608"/>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What else could cause both?</a:t>
            </a:r>
            <a:endParaRPr lang="en-US" sz="1300" dirty="0"/>
          </a:p>
        </p:txBody>
      </p:sp>
      <p:sp>
        <p:nvSpPr>
          <p:cNvPr id="24" name="Text 22"/>
          <p:cNvSpPr txBox="1"/>
          <p:nvPr/>
        </p:nvSpPr>
        <p:spPr>
          <a:xfrm>
            <a:off x="5486400" y="3895344"/>
            <a:ext cx="5852160" cy="292608"/>
          </a:xfrm>
          <a:prstGeom prst="rect">
            <a:avLst/>
          </a:prstGeom>
          <a:noFill/>
          <a:ln/>
        </p:spPr>
        <p:txBody>
          <a:bodyPr wrap="square" lIns="0" tIns="0" rIns="0" bIns="0" rtlCol="0" anchor="ctr"/>
          <a:lstStyle/>
          <a:p>
            <a:pPr indent="0" marL="0">
              <a:buNone/>
            </a:pPr>
            <a:r>
              <a:rPr lang="en-US" sz="1150" dirty="0">
                <a:solidFill>
                  <a:srgbClr val="2B3445"/>
                </a:solidFill>
                <a:latin typeface="Calibri" pitchFamily="34" charset="0"/>
                <a:ea typeface="Calibri" pitchFamily="34" charset="-122"/>
                <a:cs typeface="Calibri" pitchFamily="34" charset="-120"/>
              </a:rPr>
              <a:t>Name a specific confounder, then try to control for it.</a:t>
            </a:r>
            <a:endParaRPr lang="en-US" sz="1150" dirty="0"/>
          </a:p>
        </p:txBody>
      </p:sp>
      <p:sp>
        <p:nvSpPr>
          <p:cNvPr id="25" name="Shape 23"/>
          <p:cNvSpPr/>
          <p:nvPr/>
        </p:nvSpPr>
        <p:spPr>
          <a:xfrm>
            <a:off x="548640" y="4443984"/>
            <a:ext cx="11064240" cy="603504"/>
          </a:xfrm>
          <a:prstGeom prst="roundRect">
            <a:avLst>
              <a:gd name="adj" fmla="val 13636"/>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6" name="Shape 24"/>
          <p:cNvSpPr/>
          <p:nvPr/>
        </p:nvSpPr>
        <p:spPr>
          <a:xfrm>
            <a:off x="804672" y="4562856"/>
            <a:ext cx="365760" cy="365760"/>
          </a:xfrm>
          <a:prstGeom prst="ellipse">
            <a:avLst/>
          </a:prstGeom>
          <a:solidFill>
            <a:srgbClr val="E8674C"/>
          </a:solidFill>
          <a:ln w="12700">
            <a:solidFill>
              <a:srgbClr val="E8674C"/>
            </a:solidFill>
            <a:prstDash val="solid"/>
          </a:ln>
        </p:spPr>
      </p:sp>
      <p:sp>
        <p:nvSpPr>
          <p:cNvPr id="27" name="Text 25"/>
          <p:cNvSpPr txBox="1"/>
          <p:nvPr/>
        </p:nvSpPr>
        <p:spPr>
          <a:xfrm>
            <a:off x="804672" y="456285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Text 26"/>
          <p:cNvSpPr txBox="1"/>
          <p:nvPr/>
        </p:nvSpPr>
        <p:spPr>
          <a:xfrm>
            <a:off x="1316736" y="4590288"/>
            <a:ext cx="4023360" cy="292608"/>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Does the story work backwards?</a:t>
            </a:r>
            <a:endParaRPr lang="en-US" sz="1300" dirty="0"/>
          </a:p>
        </p:txBody>
      </p:sp>
      <p:sp>
        <p:nvSpPr>
          <p:cNvPr id="29" name="Text 27"/>
          <p:cNvSpPr txBox="1"/>
          <p:nvPr/>
        </p:nvSpPr>
        <p:spPr>
          <a:xfrm>
            <a:off x="5486400" y="4599432"/>
            <a:ext cx="5852160" cy="292608"/>
          </a:xfrm>
          <a:prstGeom prst="rect">
            <a:avLst/>
          </a:prstGeom>
          <a:noFill/>
          <a:ln/>
        </p:spPr>
        <p:txBody>
          <a:bodyPr wrap="square" lIns="0" tIns="0" rIns="0" bIns="0" rtlCol="0" anchor="ctr"/>
          <a:lstStyle/>
          <a:p>
            <a:pPr indent="0" marL="0">
              <a:buNone/>
            </a:pPr>
            <a:r>
              <a:rPr lang="en-US" sz="1150" dirty="0">
                <a:solidFill>
                  <a:srgbClr val="2B3445"/>
                </a:solidFill>
                <a:latin typeface="Calibri" pitchFamily="34" charset="0"/>
                <a:ea typeface="Calibri" pitchFamily="34" charset="-122"/>
                <a:cs typeface="Calibri" pitchFamily="34" charset="-120"/>
              </a:rPr>
              <a:t>If yes, the data cannot tell you which way it goes.</a:t>
            </a:r>
            <a:endParaRPr lang="en-US" sz="1150" dirty="0"/>
          </a:p>
        </p:txBody>
      </p:sp>
      <p:sp>
        <p:nvSpPr>
          <p:cNvPr id="30" name="Shape 28"/>
          <p:cNvSpPr/>
          <p:nvPr/>
        </p:nvSpPr>
        <p:spPr>
          <a:xfrm>
            <a:off x="548640" y="5148072"/>
            <a:ext cx="11064240" cy="603504"/>
          </a:xfrm>
          <a:prstGeom prst="roundRect">
            <a:avLst>
              <a:gd name="adj" fmla="val 13636"/>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1" name="Shape 29"/>
          <p:cNvSpPr/>
          <p:nvPr/>
        </p:nvSpPr>
        <p:spPr>
          <a:xfrm>
            <a:off x="804672" y="5266944"/>
            <a:ext cx="365760" cy="365760"/>
          </a:xfrm>
          <a:prstGeom prst="ellipse">
            <a:avLst/>
          </a:prstGeom>
          <a:solidFill>
            <a:srgbClr val="E8674C"/>
          </a:solidFill>
          <a:ln w="12700">
            <a:solidFill>
              <a:srgbClr val="E8674C"/>
            </a:solidFill>
            <a:prstDash val="solid"/>
          </a:ln>
        </p:spPr>
      </p:sp>
      <p:sp>
        <p:nvSpPr>
          <p:cNvPr id="32" name="Text 30"/>
          <p:cNvSpPr txBox="1"/>
          <p:nvPr/>
        </p:nvSpPr>
        <p:spPr>
          <a:xfrm>
            <a:off x="804672" y="526694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3" name="Text 31"/>
          <p:cNvSpPr txBox="1"/>
          <p:nvPr/>
        </p:nvSpPr>
        <p:spPr>
          <a:xfrm>
            <a:off x="1316736" y="5294376"/>
            <a:ext cx="4023360" cy="292608"/>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Who is in this dataset, and why?</a:t>
            </a:r>
            <a:endParaRPr lang="en-US" sz="1300" dirty="0"/>
          </a:p>
        </p:txBody>
      </p:sp>
      <p:sp>
        <p:nvSpPr>
          <p:cNvPr id="34" name="Text 32"/>
          <p:cNvSpPr txBox="1"/>
          <p:nvPr/>
        </p:nvSpPr>
        <p:spPr>
          <a:xfrm>
            <a:off x="5486400" y="5303520"/>
            <a:ext cx="5852160" cy="292608"/>
          </a:xfrm>
          <a:prstGeom prst="rect">
            <a:avLst/>
          </a:prstGeom>
          <a:noFill/>
          <a:ln/>
        </p:spPr>
        <p:txBody>
          <a:bodyPr wrap="square" lIns="0" tIns="0" rIns="0" bIns="0" rtlCol="0" anchor="ctr"/>
          <a:lstStyle/>
          <a:p>
            <a:pPr indent="0" marL="0">
              <a:buNone/>
            </a:pPr>
            <a:r>
              <a:rPr lang="en-US" sz="1150" dirty="0">
                <a:solidFill>
                  <a:srgbClr val="2B3445"/>
                </a:solidFill>
                <a:latin typeface="Calibri" pitchFamily="34" charset="0"/>
                <a:ea typeface="Calibri" pitchFamily="34" charset="-122"/>
                <a:cs typeface="Calibri" pitchFamily="34" charset="-120"/>
              </a:rPr>
              <a:t>Selection. Admitted, hired, survived, subscribed.</a:t>
            </a:r>
            <a:endParaRPr lang="en-US" sz="1150" dirty="0"/>
          </a:p>
        </p:txBody>
      </p:sp>
      <p:sp>
        <p:nvSpPr>
          <p:cNvPr id="35" name="Text 33"/>
          <p:cNvSpPr txBox="1"/>
          <p:nvPr/>
        </p:nvSpPr>
        <p:spPr>
          <a:xfrm>
            <a:off x="548640" y="5870448"/>
            <a:ext cx="11064240" cy="365760"/>
          </a:xfrm>
          <a:prstGeom prst="rect">
            <a:avLst/>
          </a:prstGeom>
          <a:noFill/>
          <a:ln/>
        </p:spPr>
        <p:txBody>
          <a:bodyPr wrap="square" lIns="0" tIns="0" rIns="0" bIns="0" rtlCol="0" anchor="ctr"/>
          <a:lstStyle/>
          <a:p>
            <a:pPr indent="0" marL="0">
              <a:buNone/>
            </a:pPr>
            <a:r>
              <a:rPr lang="en-US" sz="1250" b="1" i="1" dirty="0">
                <a:solidFill>
                  <a:srgbClr val="1F3A5F"/>
                </a:solidFill>
                <a:latin typeface="Calibri" pitchFamily="34" charset="0"/>
                <a:ea typeface="Calibri" pitchFamily="34" charset="-122"/>
                <a:cs typeface="Calibri" pitchFamily="34" charset="-120"/>
              </a:rPr>
              <a:t>Questions 4, 5 and 6 cannot be answered from the data. They need you to know where the numbers came from — which is why a domain expert beats a bigger dataset.</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822960" y="2057400"/>
            <a:ext cx="777240" cy="777240"/>
          </a:xfrm>
          <a:prstGeom prst="ellipse">
            <a:avLst/>
          </a:prstGeom>
          <a:solidFill>
            <a:srgbClr val="FFC145"/>
          </a:solidFill>
          <a:ln w="12700">
            <a:solidFill>
              <a:srgbClr val="FFC145"/>
            </a:solidFill>
            <a:prstDash val="solid"/>
          </a:ln>
        </p:spPr>
      </p:sp>
      <p:sp>
        <p:nvSpPr>
          <p:cNvPr id="4" name="Text 2"/>
          <p:cNvSpPr txBox="1"/>
          <p:nvPr/>
        </p:nvSpPr>
        <p:spPr>
          <a:xfrm>
            <a:off x="822960" y="2057400"/>
            <a:ext cx="777240" cy="777240"/>
          </a:xfrm>
          <a:prstGeom prst="rect">
            <a:avLst/>
          </a:prstGeom>
          <a:noFill/>
          <a:ln/>
        </p:spPr>
        <p:txBody>
          <a:bodyPr wrap="square" lIns="0" tIns="0" rIns="0" bIns="0" rtlCol="0" anchor="ctr"/>
          <a:lstStyle/>
          <a:p>
            <a:pPr algn="ctr" indent="0" marL="0">
              <a:buNone/>
            </a:pPr>
            <a:r>
              <a:rPr lang="en-US" sz="3000" b="1" dirty="0">
                <a:solidFill>
                  <a:srgbClr val="152238"/>
                </a:solidFill>
                <a:latin typeface="Calibri" pitchFamily="34" charset="0"/>
                <a:ea typeface="Calibri" pitchFamily="34" charset="-122"/>
                <a:cs typeface="Calibri" pitchFamily="34" charset="-120"/>
              </a:rPr>
              <a:t>5</a:t>
            </a:r>
            <a:endParaRPr lang="en-US" sz="3000" dirty="0"/>
          </a:p>
        </p:txBody>
      </p:sp>
      <p:sp>
        <p:nvSpPr>
          <p:cNvPr id="5" name="Text 3"/>
          <p:cNvSpPr txBox="1"/>
          <p:nvPr/>
        </p:nvSpPr>
        <p:spPr>
          <a:xfrm>
            <a:off x="1920240" y="1965960"/>
            <a:ext cx="676656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Searching for Correlations</a:t>
            </a:r>
            <a:endParaRPr lang="en-US" sz="4000" dirty="0"/>
          </a:p>
        </p:txBody>
      </p:sp>
      <p:sp>
        <p:nvSpPr>
          <p:cNvPr id="6" name="Text 4"/>
          <p:cNvSpPr txBox="1"/>
          <p:nvPr/>
        </p:nvSpPr>
        <p:spPr>
          <a:xfrm>
            <a:off x="1947672" y="2788920"/>
            <a:ext cx="6949440" cy="457200"/>
          </a:xfrm>
          <a:prstGeom prst="rect">
            <a:avLst/>
          </a:prstGeom>
          <a:noFill/>
          <a:ln/>
        </p:spPr>
        <p:txBody>
          <a:bodyPr wrap="square" lIns="0" tIns="0" rIns="0" bIns="0" rtlCol="0" anchor="ctr"/>
          <a:lstStyle/>
          <a:p>
            <a:pPr indent="0" marL="0">
              <a:buNone/>
            </a:pPr>
            <a:r>
              <a:rPr lang="en-US" sz="1600" dirty="0">
                <a:solidFill>
                  <a:srgbClr val="AFC2DC"/>
                </a:solidFill>
                <a:latin typeface="Calibri" pitchFamily="34" charset="0"/>
                <a:ea typeface="Calibri" pitchFamily="34" charset="-122"/>
                <a:cs typeface="Calibri" pitchFamily="34" charset="-120"/>
              </a:rPr>
              <a:t>Yesterday's lesson, today's costume  ·  10 minutes</a:t>
            </a:r>
            <a:endParaRPr lang="en-US" sz="1600" dirty="0"/>
          </a:p>
        </p:txBody>
      </p:sp>
      <p:sp>
        <p:nvSpPr>
          <p:cNvPr id="7" name="Text 5"/>
          <p:cNvSpPr txBox="1"/>
          <p:nvPr/>
        </p:nvSpPr>
        <p:spPr>
          <a:xfrm>
            <a:off x="9144000" y="2011680"/>
            <a:ext cx="2468880" cy="21945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190 pairs</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What to report</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5.1  ·  THE MATRIX</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 df.corr() on 20 columns runs 190 tests</a:t>
            </a:r>
            <a:endParaRPr lang="en-US" sz="3200" dirty="0"/>
          </a:p>
        </p:txBody>
      </p:sp>
      <p:pic>
        <p:nvPicPr>
          <p:cNvPr id="5" name="Image 0" descr="/home/claude/day29/fig/search.png">    </p:cNvPr>
          <p:cNvPicPr>
            <a:picLocks noChangeAspect="1"/>
          </p:cNvPicPr>
          <p:nvPr/>
        </p:nvPicPr>
        <p:blipFill>
          <a:blip r:embed="rId1"/>
          <a:stretch>
            <a:fillRect/>
          </a:stretch>
        </p:blipFill>
        <p:spPr>
          <a:xfrm>
            <a:off x="731520" y="1572768"/>
            <a:ext cx="10698480" cy="3094730"/>
          </a:xfrm>
          <a:prstGeom prst="rect">
            <a:avLst/>
          </a:prstGeom>
        </p:spPr>
      </p:pic>
      <p:sp>
        <p:nvSpPr>
          <p:cNvPr id="6" name="Shape 3"/>
          <p:cNvSpPr/>
          <p:nvPr/>
        </p:nvSpPr>
        <p:spPr>
          <a:xfrm>
            <a:off x="548640" y="4736592"/>
            <a:ext cx="5486400" cy="1115568"/>
          </a:xfrm>
          <a:prstGeom prst="roundRect">
            <a:avLst>
              <a:gd name="adj" fmla="val 7377"/>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04672" y="4846320"/>
            <a:ext cx="4937760" cy="274320"/>
          </a:xfrm>
          <a:prstGeom prst="rect">
            <a:avLst/>
          </a:prstGeom>
          <a:noFill/>
          <a:ln/>
        </p:spPr>
        <p:txBody>
          <a:bodyPr wrap="square" lIns="0" tIns="0" rIns="0" bIns="0" rtlCol="0" anchor="ctr"/>
          <a:lstStyle/>
          <a:p>
            <a:pPr indent="0" marL="0">
              <a:buNone/>
            </a:pPr>
            <a:r>
              <a:rPr lang="en-US" sz="1350" b="1" dirty="0">
                <a:solidFill>
                  <a:srgbClr val="A63B24"/>
                </a:solidFill>
                <a:latin typeface="Calibri" pitchFamily="34" charset="0"/>
                <a:ea typeface="Calibri" pitchFamily="34" charset="-122"/>
                <a:cs typeface="Calibri" pitchFamily="34" charset="-120"/>
              </a:rPr>
              <a:t>There is nothing in this data</a:t>
            </a:r>
            <a:endParaRPr lang="en-US" sz="1350" dirty="0"/>
          </a:p>
        </p:txBody>
      </p:sp>
      <p:sp>
        <p:nvSpPr>
          <p:cNvPr id="8" name="Text 5"/>
          <p:cNvSpPr txBox="1"/>
          <p:nvPr/>
        </p:nvSpPr>
        <p:spPr>
          <a:xfrm>
            <a:off x="804672" y="5157216"/>
            <a:ext cx="4983480" cy="658368"/>
          </a:xfrm>
          <a:prstGeom prst="rect">
            <a:avLst/>
          </a:prstGeom>
          <a:noFill/>
          <a:ln/>
        </p:spPr>
        <p:txBody>
          <a:bodyPr wrap="square" lIns="0" tIns="0" rIns="0" bIns="0" rtlCol="0" anchor="ctr"/>
          <a:lstStyle/>
          <a:p>
            <a:pPr indent="0" marL="0">
              <a:lnSpc>
                <a:spcPct val="115000"/>
              </a:lnSpc>
              <a:buNone/>
            </a:pPr>
            <a:r>
              <a:rPr lang="en-US" sz="1150" dirty="0">
                <a:solidFill>
                  <a:srgbClr val="6B4A0B"/>
                </a:solidFill>
                <a:latin typeface="Calibri" pitchFamily="34" charset="0"/>
                <a:ea typeface="Calibri" pitchFamily="34" charset="-122"/>
                <a:cs typeface="Calibri" pitchFamily="34" charset="-120"/>
              </a:rPr>
              <a:t>20 independent random columns, 40 rows. Seven pairs came back p &lt; 0.05, and the strongest reached r = 0.45 with p = 0.003. It looks like a finding.</a:t>
            </a:r>
            <a:endParaRPr lang="en-US" sz="1150" dirty="0"/>
          </a:p>
        </p:txBody>
      </p:sp>
      <p:sp>
        <p:nvSpPr>
          <p:cNvPr id="9" name="Shape 6"/>
          <p:cNvSpPr/>
          <p:nvPr/>
        </p:nvSpPr>
        <p:spPr>
          <a:xfrm>
            <a:off x="6309360" y="4736592"/>
            <a:ext cx="5303520" cy="1115568"/>
          </a:xfrm>
          <a:prstGeom prst="roundRect">
            <a:avLst>
              <a:gd name="adj" fmla="val 7377"/>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7"/>
          <p:cNvSpPr txBox="1"/>
          <p:nvPr/>
        </p:nvSpPr>
        <p:spPr>
          <a:xfrm>
            <a:off x="6565392" y="4846320"/>
            <a:ext cx="4754880" cy="274320"/>
          </a:xfrm>
          <a:prstGeom prst="rect">
            <a:avLst/>
          </a:prstGeom>
          <a:noFill/>
          <a:ln/>
        </p:spPr>
        <p:txBody>
          <a:bodyPr wrap="square" lIns="0" tIns="0" rIns="0" bIns="0" rtlCol="0" anchor="ctr"/>
          <a:lstStyle/>
          <a:p>
            <a:pPr indent="0" marL="0">
              <a:buNone/>
            </a:pPr>
            <a:r>
              <a:rPr lang="en-US" sz="1350" b="1" dirty="0">
                <a:solidFill>
                  <a:srgbClr val="1C6F5C"/>
                </a:solidFill>
                <a:latin typeface="Calibri" pitchFamily="34" charset="0"/>
                <a:ea typeface="Calibri" pitchFamily="34" charset="-122"/>
                <a:cs typeface="Calibri" pitchFamily="34" charset="-120"/>
              </a:rPr>
              <a:t>The honest handling</a:t>
            </a:r>
            <a:endParaRPr lang="en-US" sz="1350" dirty="0"/>
          </a:p>
        </p:txBody>
      </p:sp>
      <p:sp>
        <p:nvSpPr>
          <p:cNvPr id="11" name="Text 8"/>
          <p:cNvSpPr txBox="1"/>
          <p:nvPr/>
        </p:nvSpPr>
        <p:spPr>
          <a:xfrm>
            <a:off x="6565392" y="5157216"/>
            <a:ext cx="4800600" cy="658368"/>
          </a:xfrm>
          <a:prstGeom prst="rect">
            <a:avLst/>
          </a:prstGeom>
          <a:noFill/>
          <a:ln/>
        </p:spPr>
        <p:txBody>
          <a:bodyPr wrap="square" lIns="0" tIns="0" rIns="0" bIns="0" rtlCol="0" anchor="ctr"/>
          <a:lstStyle/>
          <a:p>
            <a:pPr indent="0" marL="0">
              <a:lnSpc>
                <a:spcPct val="115000"/>
              </a:lnSpc>
              <a:buNone/>
            </a:pPr>
            <a:r>
              <a:rPr lang="en-US" sz="1150" dirty="0">
                <a:solidFill>
                  <a:srgbClr val="2B3445"/>
                </a:solidFill>
                <a:latin typeface="Calibri" pitchFamily="34" charset="0"/>
                <a:ea typeface="Calibri" pitchFamily="34" charset="-122"/>
                <a:cs typeface="Calibri" pitchFamily="34" charset="-120"/>
              </a:rPr>
              <a:t>The Bonferroni threshold for 190 pairs is 0.00026. Nothing survives it, correctly. A heatmap is a tool for generating hypotheses — never for confirming one.</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5.2  ·  A FULL EXAMPLE</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Worked through: study hours and exam scores</a:t>
            </a:r>
            <a:endParaRPr lang="en-US" sz="3200" dirty="0"/>
          </a:p>
        </p:txBody>
      </p:sp>
      <p:pic>
        <p:nvPicPr>
          <p:cNvPr id="5" name="Image 0" descr="/home/claude/day29/fig/worked.png">    </p:cNvPr>
          <p:cNvPicPr>
            <a:picLocks noChangeAspect="1"/>
          </p:cNvPicPr>
          <p:nvPr/>
        </p:nvPicPr>
        <p:blipFill>
          <a:blip r:embed="rId1"/>
          <a:stretch>
            <a:fillRect/>
          </a:stretch>
        </p:blipFill>
        <p:spPr>
          <a:xfrm>
            <a:off x="685800" y="1554480"/>
            <a:ext cx="6400800" cy="3137647"/>
          </a:xfrm>
          <a:prstGeom prst="rect">
            <a:avLst/>
          </a:prstGeom>
        </p:spPr>
      </p:pic>
      <p:sp>
        <p:nvSpPr>
          <p:cNvPr id="6" name="Shape 3"/>
          <p:cNvSpPr/>
          <p:nvPr/>
        </p:nvSpPr>
        <p:spPr>
          <a:xfrm>
            <a:off x="7406640" y="1572768"/>
            <a:ext cx="4206240" cy="2286000"/>
          </a:xfrm>
          <a:prstGeom prst="roundRect">
            <a:avLst>
              <a:gd name="adj" fmla="val 3600"/>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7662672" y="1737360"/>
            <a:ext cx="3749040" cy="274320"/>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What we can say</a:t>
            </a:r>
            <a:endParaRPr lang="en-US" sz="1400" dirty="0"/>
          </a:p>
        </p:txBody>
      </p:sp>
      <p:sp>
        <p:nvSpPr>
          <p:cNvPr id="8" name="Text 5"/>
          <p:cNvSpPr txBox="1"/>
          <p:nvPr/>
        </p:nvSpPr>
        <p:spPr>
          <a:xfrm>
            <a:off x="7662672" y="2103120"/>
            <a:ext cx="3749040" cy="1691640"/>
          </a:xfrm>
          <a:prstGeom prst="rect">
            <a:avLst/>
          </a:prstGeom>
          <a:noFill/>
          <a:ln/>
        </p:spPr>
        <p:txBody>
          <a:bodyPr wrap="square" lIns="0" tIns="0" rIns="0" bIns="0" rtlCol="0" anchor="ctr"/>
          <a:lstStyle/>
          <a:p>
            <a:pPr indent="0" marL="0">
              <a:lnSpc>
                <a:spcPct val="120000"/>
              </a:lnSpc>
              <a:buNone/>
            </a:pPr>
            <a:r>
              <a:rPr lang="en-US" sz="1150" dirty="0">
                <a:solidFill>
                  <a:srgbClr val="2B3445"/>
                </a:solidFill>
                <a:latin typeface="Calibri" pitchFamily="34" charset="0"/>
                <a:ea typeface="Calibri" pitchFamily="34" charset="-122"/>
                <a:cs typeface="Calibri" pitchFamily="34" charset="-120"/>
              </a:rPr>
              <a:t>r = 0.873, 95% CI 0.81 to 0.92, n = 80. Spearman agrees at 0.883, so it is not an outlier artefact. r² = 76% of the variation in scores.</a:t>
            </a:r>
            <a:endParaRPr lang="en-US" sz="1150" dirty="0"/>
          </a:p>
          <a:p>
            <a:pPr indent="0" marL="0">
              <a:lnSpc>
                <a:spcPct val="120000"/>
              </a:lnSpc>
              <a:buNone/>
            </a:pPr>
            <a:endParaRPr lang="en-US" sz="1150" dirty="0"/>
          </a:p>
          <a:p>
            <a:pPr indent="0" marL="0">
              <a:lnSpc>
                <a:spcPct val="120000"/>
              </a:lnSpc>
              <a:buNone/>
            </a:pPr>
            <a:r>
              <a:rPr lang="en-US" sz="1150" dirty="0">
                <a:solidFill>
                  <a:srgbClr val="2B3445"/>
                </a:solidFill>
                <a:latin typeface="Calibri" pitchFamily="34" charset="0"/>
                <a:ea typeface="Calibri" pitchFamily="34" charset="-122"/>
                <a:cs typeface="Calibri" pitchFamily="34" charset="-120"/>
              </a:rPr>
              <a:t>The slope says about 2.9 marks per extra hour.</a:t>
            </a:r>
            <a:endParaRPr lang="en-US" sz="1150" dirty="0"/>
          </a:p>
        </p:txBody>
      </p:sp>
      <p:sp>
        <p:nvSpPr>
          <p:cNvPr id="9" name="Shape 6"/>
          <p:cNvSpPr/>
          <p:nvPr/>
        </p:nvSpPr>
        <p:spPr>
          <a:xfrm>
            <a:off x="7406640" y="3977640"/>
            <a:ext cx="4206240" cy="1874520"/>
          </a:xfrm>
          <a:prstGeom prst="roundRect">
            <a:avLst>
              <a:gd name="adj" fmla="val 4390"/>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7"/>
          <p:cNvSpPr txBox="1"/>
          <p:nvPr/>
        </p:nvSpPr>
        <p:spPr>
          <a:xfrm>
            <a:off x="7662672" y="4133088"/>
            <a:ext cx="3749040" cy="274320"/>
          </a:xfrm>
          <a:prstGeom prst="rect">
            <a:avLst/>
          </a:prstGeom>
          <a:noFill/>
          <a:ln/>
        </p:spPr>
        <p:txBody>
          <a:bodyPr wrap="square" lIns="0" tIns="0" rIns="0" bIns="0" rtlCol="0" anchor="ctr"/>
          <a:lstStyle/>
          <a:p>
            <a:pPr indent="0" marL="0">
              <a:buNone/>
            </a:pPr>
            <a:r>
              <a:rPr lang="en-US" sz="1400" b="1" dirty="0">
                <a:solidFill>
                  <a:srgbClr val="A63B24"/>
                </a:solidFill>
                <a:latin typeface="Calibri" pitchFamily="34" charset="0"/>
                <a:ea typeface="Calibri" pitchFamily="34" charset="-122"/>
                <a:cs typeface="Calibri" pitchFamily="34" charset="-120"/>
              </a:rPr>
              <a:t>⚠ What we cannot say</a:t>
            </a:r>
            <a:endParaRPr lang="en-US" sz="1400" dirty="0"/>
          </a:p>
        </p:txBody>
      </p:sp>
      <p:sp>
        <p:nvSpPr>
          <p:cNvPr id="11" name="Text 8"/>
          <p:cNvSpPr txBox="1"/>
          <p:nvPr/>
        </p:nvSpPr>
        <p:spPr>
          <a:xfrm>
            <a:off x="7662672" y="4480560"/>
            <a:ext cx="3749040" cy="1325880"/>
          </a:xfrm>
          <a:prstGeom prst="rect">
            <a:avLst/>
          </a:prstGeom>
          <a:noFill/>
          <a:ln/>
        </p:spPr>
        <p:txBody>
          <a:bodyPr wrap="square" lIns="0" tIns="0" rIns="0" bIns="0" rtlCol="0" anchor="ctr"/>
          <a:lstStyle/>
          <a:p>
            <a:pPr indent="0" marL="0">
              <a:lnSpc>
                <a:spcPct val="120000"/>
              </a:lnSpc>
              <a:buNone/>
            </a:pPr>
            <a:r>
              <a:rPr lang="en-US" sz="1150" dirty="0">
                <a:solidFill>
                  <a:srgbClr val="6B4A0B"/>
                </a:solidFill>
                <a:latin typeface="Calibri" pitchFamily="34" charset="0"/>
                <a:ea typeface="Calibri" pitchFamily="34" charset="-122"/>
                <a:cs typeface="Calibri" pitchFamily="34" charset="-120"/>
              </a:rPr>
              <a:t>That studying causes the marks. Motivation plausibly drives both (confounding). Students who find it easy may study more because it is rewarding (reverse). And this is one class — who dropped out before the exam?</a:t>
            </a:r>
            <a:endParaRPr lang="en-US" sz="1150" dirty="0"/>
          </a:p>
        </p:txBody>
      </p:sp>
      <p:sp>
        <p:nvSpPr>
          <p:cNvPr id="12" name="Shape 9"/>
          <p:cNvSpPr/>
          <p:nvPr/>
        </p:nvSpPr>
        <p:spPr>
          <a:xfrm>
            <a:off x="548640" y="4937760"/>
            <a:ext cx="6766560" cy="914400"/>
          </a:xfrm>
          <a:prstGeom prst="roundRect">
            <a:avLst>
              <a:gd name="adj" fmla="val 9000"/>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3" name="Text 10"/>
          <p:cNvSpPr txBox="1"/>
          <p:nvPr/>
        </p:nvSpPr>
        <p:spPr>
          <a:xfrm>
            <a:off x="822960" y="5102352"/>
            <a:ext cx="6309360" cy="621792"/>
          </a:xfrm>
          <a:prstGeom prst="rect">
            <a:avLst/>
          </a:prstGeom>
          <a:noFill/>
          <a:ln/>
        </p:spPr>
        <p:txBody>
          <a:bodyPr wrap="square" lIns="0" tIns="0" rIns="0" bIns="0" rtlCol="0" anchor="ctr"/>
          <a:lstStyle/>
          <a:p>
            <a:pPr indent="0" marL="0">
              <a:lnSpc>
                <a:spcPct val="115000"/>
              </a:lnSpc>
              <a:buNone/>
            </a:pPr>
            <a:r>
              <a:rPr lang="en-US" sz="1150" b="1" dirty="0">
                <a:solidFill>
                  <a:srgbClr val="1C6F5C"/>
                </a:solidFill>
                <a:latin typeface="Calibri" pitchFamily="34" charset="0"/>
                <a:ea typeface="Calibri" pitchFamily="34" charset="-122"/>
                <a:cs typeface="Calibri" pitchFamily="34" charset="-120"/>
              </a:rPr>
              <a:t>The sentence to write: “Hours studied and exam score are strongly related (r = 0.87, 95% CI 0.81–0.92, n = 80; r² = 0.76). This is observational, so we cannot separate studying from the motivation that drives it.”</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5.3  ·  REFERENCE</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Which correlation, and what to report</a:t>
            </a:r>
            <a:endParaRPr lang="en-US" sz="3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1064240" cy="914400"/>
        </p:xfrm>
        <a:graphic>
          <a:graphicData uri="http://schemas.openxmlformats.org/drawingml/2006/table">
            <a:tbl>
              <a:tblPr/>
              <a:tblGrid>
                <a:gridCol w="4572000"/>
                <a:gridCol w="2743200"/>
                <a:gridCol w="3749040"/>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Situation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Use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scipy</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r>
              <a:tr h="411480">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Straight-line relationship, no wild outliers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Pearson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stats.pearsonr(x, y)</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11480">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Curved but always one direction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Spearman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stats.spearmanr(x, y)</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11480">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Heavy outliers you cannot remove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Spearman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stats.spearmanr(x, y)</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11480">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Ordinal data (star ratings, grades)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Spearman or Kendall</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stats.kendalltau(x, y)</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11480">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Small sample with many ties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Kendall's tau</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stats.kendalltau(x, y)</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11480">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U-shaped or non-monotonic</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none of them — plot it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plt.scatter(x, y)</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11480">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Need the size of the effect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regression slope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np.polyfit(x, y, 1)</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bl>
          </a:graphicData>
        </a:graphic>
      </p:graphicFrame>
      <p:sp>
        <p:nvSpPr>
          <p:cNvPr id="6" name="Shape 3"/>
          <p:cNvSpPr/>
          <p:nvPr/>
        </p:nvSpPr>
        <p:spPr>
          <a:xfrm>
            <a:off x="548640" y="5029200"/>
            <a:ext cx="11064240" cy="914400"/>
          </a:xfrm>
          <a:prstGeom prst="roundRect">
            <a:avLst>
              <a:gd name="adj" fmla="val 900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68680" y="5212080"/>
            <a:ext cx="10424160" cy="548640"/>
          </a:xfrm>
          <a:prstGeom prst="rect">
            <a:avLst/>
          </a:prstGeom>
          <a:noFill/>
          <a:ln/>
        </p:spPr>
        <p:txBody>
          <a:bodyPr wrap="square" lIns="0" tIns="0" rIns="0" bIns="0" rtlCol="0" anchor="ctr"/>
          <a:lstStyle/>
          <a:p>
            <a:pPr indent="0" marL="0">
              <a:buNone/>
            </a:pPr>
            <a:r>
              <a:rPr lang="en-US" sz="1250" b="1" dirty="0">
                <a:solidFill>
                  <a:srgbClr val="8A5B00"/>
                </a:solidFill>
                <a:latin typeface="Calibri" pitchFamily="34" charset="0"/>
                <a:ea typeface="Calibri" pitchFamily="34" charset="-122"/>
                <a:cs typeface="Calibri" pitchFamily="34" charset="-120"/>
              </a:rPr>
              <a:t>Always report together: r, its 95% confidence interval, r², n, and whether you checked Spearman. Five numbers, one line of output, and a reader can judge everything that matters.</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RECAP</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Debug corner — eight correlation mistakes</a:t>
            </a:r>
            <a:endParaRPr lang="en-US" sz="32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1064240" cy="914400"/>
        </p:xfrm>
        <a:graphic>
          <a:graphicData uri="http://schemas.openxmlformats.org/drawingml/2006/table">
            <a:tbl>
              <a:tblPr/>
              <a:tblGrid>
                <a:gridCol w="3840480"/>
                <a:gridCol w="3840480"/>
                <a:gridCol w="3383280"/>
              </a:tblGrid>
              <a:tr h="42976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You did</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goes wrong</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Fix</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r>
              <a:tr h="429768">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computed r without plotting</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Anscombe: four pictures, one r</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plot it, every time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read r as the size of the effect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slopes 0.09 and 90 share r = 0.697</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report the slope too</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reported r = 0.3 as a relationship</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that is 9% of the variation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report r² beside it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used Pearson on a U-shape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r ≈ 0 on a perfect relationship</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plot it; Spearman will not help either</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left one typo in the data</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r went from −0.14 to +0.64</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compare Pearson with Spearman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computed r on 10 rows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95% CI was −0.19 to +0.86</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report the interval</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scanned df.corr() for the biggest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190 silent tests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Bonferroni, or pre-specify the pair</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concluded X causes Y</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four other explanations exist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work the checklist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bl>
          </a:graphicData>
        </a:graphic>
      </p:graphicFrame>
      <p:sp>
        <p:nvSpPr>
          <p:cNvPr id="6" name="Shape 3"/>
          <p:cNvSpPr/>
          <p:nvPr/>
        </p:nvSpPr>
        <p:spPr>
          <a:xfrm>
            <a:off x="548640" y="5559552"/>
            <a:ext cx="11064240" cy="731520"/>
          </a:xfrm>
          <a:prstGeom prst="roundRect">
            <a:avLst>
              <a:gd name="adj" fmla="val 11250"/>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68680" y="5687568"/>
            <a:ext cx="10424160" cy="457200"/>
          </a:xfrm>
          <a:prstGeom prst="rect">
            <a:avLst/>
          </a:prstGeom>
          <a:noFill/>
          <a:ln/>
        </p:spPr>
        <p:txBody>
          <a:bodyPr wrap="square" lIns="0" tIns="0" rIns="0" bIns="0" rtlCol="0" anchor="ctr"/>
          <a:lstStyle/>
          <a:p>
            <a:pPr indent="0" marL="0">
              <a:buNone/>
            </a:pPr>
            <a:r>
              <a:rPr lang="en-US" sz="1300" i="1" dirty="0">
                <a:solidFill>
                  <a:srgbClr val="1F3A5F"/>
                </a:solidFill>
                <a:latin typeface="Calibri" pitchFamily="34" charset="0"/>
                <a:ea typeface="Calibri" pitchFamily="34" charset="-122"/>
                <a:cs typeface="Calibri" pitchFamily="34" charset="-120"/>
              </a:rPr>
              <a:t>Row 1 prevents rows 2, 4 and 5 on its own. If your students only change one habit this session, make it that one.</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6  ·  MINI BUILD</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Putting it together — a correlation you can trust</a:t>
            </a:r>
            <a:endParaRPr lang="en-US" sz="3200" dirty="0"/>
          </a:p>
        </p:txBody>
      </p:sp>
      <p:sp>
        <p:nvSpPr>
          <p:cNvPr id="5" name="Shape 3"/>
          <p:cNvSpPr/>
          <p:nvPr/>
        </p:nvSpPr>
        <p:spPr>
          <a:xfrm>
            <a:off x="548640" y="1572768"/>
            <a:ext cx="6583680" cy="4343400"/>
          </a:xfrm>
          <a:prstGeom prst="roundRect">
            <a:avLst>
              <a:gd name="adj" fmla="val 1895"/>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804672" y="1783080"/>
            <a:ext cx="6080760" cy="3931920"/>
          </a:xfrm>
          <a:prstGeom prst="roundRect">
            <a:avLst>
              <a:gd name="adj" fmla="val 1628"/>
            </a:avLst>
          </a:prstGeom>
          <a:solidFill>
            <a:srgbClr val="1B2B45"/>
          </a:solidFill>
          <a:ln w="12700">
            <a:solidFill>
              <a:srgbClr val="1B2B45"/>
            </a:solidFill>
            <a:prstDash val="solid"/>
          </a:ln>
        </p:spPr>
      </p:sp>
      <p:sp>
        <p:nvSpPr>
          <p:cNvPr id="7" name="Text 5"/>
          <p:cNvSpPr txBox="1"/>
          <p:nvPr/>
        </p:nvSpPr>
        <p:spPr>
          <a:xfrm>
            <a:off x="969264" y="1892808"/>
            <a:ext cx="5751576" cy="3712464"/>
          </a:xfrm>
          <a:prstGeom prst="rect">
            <a:avLst/>
          </a:prstGeom>
          <a:noFill/>
          <a:ln/>
        </p:spPr>
        <p:txBody>
          <a:bodyPr wrap="square" lIns="0" tIns="0" rIns="0" bIns="0" rtlCol="0" anchor="t"/>
          <a:lstStyle/>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import numpy as np</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import matplotlib.pyplot as plt</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from scipy import stats</a:t>
            </a:r>
            <a:endParaRPr lang="en-US" sz="750" dirty="0"/>
          </a:p>
          <a:p>
            <a:pPr indent="0" marL="0">
              <a:lnSpc>
                <a:spcPct val="112000"/>
              </a:lnSpc>
              <a:buNone/>
            </a:pP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def correlate(x, y, n_pairs=1, labels=("x", "y")):</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"""Report a correlation with everything needed to judge it."""</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x, y = np.asarray(x, float), np.asarray(y, float)</a:t>
            </a:r>
            <a:endParaRPr lang="en-US" sz="750" dirty="0"/>
          </a:p>
          <a:p>
            <a:pPr indent="0" marL="0">
              <a:lnSpc>
                <a:spcPct val="112000"/>
              </a:lnSpc>
              <a:buNone/>
            </a:pP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  1. always plot. This single line prevents most mistakes.</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plt.scatter(x, y, s=18, alpha=.7)</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plt.xlabel(labels[0]); plt.ylabel(labels[1]); plt.show()</a:t>
            </a:r>
            <a:endParaRPr lang="en-US" sz="750" dirty="0"/>
          </a:p>
          <a:p>
            <a:pPr indent="0" marL="0">
              <a:lnSpc>
                <a:spcPct val="112000"/>
              </a:lnSpc>
              <a:buNone/>
            </a:pP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  2. both coefficients - a gap between them means outliers</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pe = stats.pearsonr(x, y)</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sp = stats.spearmanr(x, y)</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lo, hi = pe.confidence_interval()</a:t>
            </a:r>
            <a:endParaRPr lang="en-US" sz="750" dirty="0"/>
          </a:p>
          <a:p>
            <a:pPr indent="0" marL="0">
              <a:lnSpc>
                <a:spcPct val="112000"/>
              </a:lnSpc>
              <a:buNone/>
            </a:pP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print(f"n = {len(x)}")</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print(f"Pearson  r = {pe.statistic:+.3f}  95% CI [{lo:+.3f}, {hi:+.3f}]")</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print(f"Spearman r = {sp.statistic:+.3f}")</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print(f"r^2 = {pe.statistic**2:.1%} of the variance")</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print(f"slope = {np.polyfit(x, y, 1)[0]:+.3f} {labels[1]} per {labels[0]}")</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print(f"p = {pe.pvalue:.4f}   threshold {0.05/n_pairs:.5f} "</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f"({n_pairs} pair(s) examined)")</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if abs(pe.statistic - sp.statistic) &gt; 0.15:</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print("  !! Pearson and Spearman disagree - check for outliers")</a:t>
            </a:r>
            <a:endParaRPr lang="en-US" sz="750" dirty="0"/>
          </a:p>
        </p:txBody>
      </p:sp>
      <p:sp>
        <p:nvSpPr>
          <p:cNvPr id="8" name="Shape 6"/>
          <p:cNvSpPr/>
          <p:nvPr/>
        </p:nvSpPr>
        <p:spPr>
          <a:xfrm>
            <a:off x="7406640" y="1691640"/>
            <a:ext cx="4206240" cy="585216"/>
          </a:xfrm>
          <a:prstGeom prst="roundRect">
            <a:avLst>
              <a:gd name="adj" fmla="val 1406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9" name="Shape 7"/>
          <p:cNvSpPr/>
          <p:nvPr/>
        </p:nvSpPr>
        <p:spPr>
          <a:xfrm>
            <a:off x="7562088" y="1819656"/>
            <a:ext cx="118872" cy="329184"/>
          </a:xfrm>
          <a:prstGeom prst="roundRect">
            <a:avLst>
              <a:gd name="adj" fmla="val 38462"/>
            </a:avLst>
          </a:prstGeom>
          <a:solidFill>
            <a:srgbClr val="E8674C"/>
          </a:solidFill>
          <a:ln w="12700">
            <a:solidFill>
              <a:srgbClr val="333333"/>
            </a:solidFill>
            <a:prstDash val="solid"/>
          </a:ln>
        </p:spPr>
      </p:sp>
      <p:sp>
        <p:nvSpPr>
          <p:cNvPr id="10" name="Text 8"/>
          <p:cNvSpPr txBox="1"/>
          <p:nvPr/>
        </p:nvSpPr>
        <p:spPr>
          <a:xfrm>
            <a:off x="7790688" y="1746504"/>
            <a:ext cx="3566160" cy="256032"/>
          </a:xfrm>
          <a:prstGeom prst="rect">
            <a:avLst/>
          </a:prstGeom>
          <a:noFill/>
          <a:ln/>
        </p:spPr>
        <p:txBody>
          <a:bodyPr wrap="square" lIns="0" tIns="0" rIns="0" bIns="0" rtlCol="0" anchor="ctr"/>
          <a:lstStyle/>
          <a:p>
            <a:pPr indent="0" marL="0">
              <a:buNone/>
            </a:pPr>
            <a:r>
              <a:rPr lang="en-US" sz="1050" b="1" dirty="0">
                <a:solidFill>
                  <a:srgbClr val="1F3A5F"/>
                </a:solidFill>
                <a:latin typeface="Calibri" pitchFamily="34" charset="0"/>
                <a:ea typeface="Calibri" pitchFamily="34" charset="-122"/>
                <a:cs typeface="Calibri" pitchFamily="34" charset="-120"/>
              </a:rPr>
              <a:t>It plots before it prints</a:t>
            </a:r>
            <a:endParaRPr lang="en-US" sz="1050" dirty="0"/>
          </a:p>
        </p:txBody>
      </p:sp>
      <p:sp>
        <p:nvSpPr>
          <p:cNvPr id="11" name="Text 9"/>
          <p:cNvSpPr txBox="1"/>
          <p:nvPr/>
        </p:nvSpPr>
        <p:spPr>
          <a:xfrm>
            <a:off x="7790688" y="1993392"/>
            <a:ext cx="3703320" cy="237744"/>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the habit that catches Anscombe</a:t>
            </a:r>
            <a:endParaRPr lang="en-US" sz="950" dirty="0"/>
          </a:p>
        </p:txBody>
      </p:sp>
      <p:sp>
        <p:nvSpPr>
          <p:cNvPr id="12" name="Shape 10"/>
          <p:cNvSpPr/>
          <p:nvPr/>
        </p:nvSpPr>
        <p:spPr>
          <a:xfrm>
            <a:off x="7406640" y="2377440"/>
            <a:ext cx="4206240" cy="585216"/>
          </a:xfrm>
          <a:prstGeom prst="roundRect">
            <a:avLst>
              <a:gd name="adj" fmla="val 1406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3" name="Shape 11"/>
          <p:cNvSpPr/>
          <p:nvPr/>
        </p:nvSpPr>
        <p:spPr>
          <a:xfrm>
            <a:off x="7562088" y="2505456"/>
            <a:ext cx="118872" cy="329184"/>
          </a:xfrm>
          <a:prstGeom prst="roundRect">
            <a:avLst>
              <a:gd name="adj" fmla="val 38462"/>
            </a:avLst>
          </a:prstGeom>
          <a:solidFill>
            <a:srgbClr val="E8674C"/>
          </a:solidFill>
          <a:ln w="12700">
            <a:solidFill>
              <a:srgbClr val="333333"/>
            </a:solidFill>
            <a:prstDash val="solid"/>
          </a:ln>
        </p:spPr>
      </p:sp>
      <p:sp>
        <p:nvSpPr>
          <p:cNvPr id="14" name="Text 12"/>
          <p:cNvSpPr txBox="1"/>
          <p:nvPr/>
        </p:nvSpPr>
        <p:spPr>
          <a:xfrm>
            <a:off x="7790688" y="2432304"/>
            <a:ext cx="3566160" cy="256032"/>
          </a:xfrm>
          <a:prstGeom prst="rect">
            <a:avLst/>
          </a:prstGeom>
          <a:noFill/>
          <a:ln/>
        </p:spPr>
        <p:txBody>
          <a:bodyPr wrap="square" lIns="0" tIns="0" rIns="0" bIns="0" rtlCol="0" anchor="ctr"/>
          <a:lstStyle/>
          <a:p>
            <a:pPr indent="0" marL="0">
              <a:buNone/>
            </a:pPr>
            <a:r>
              <a:rPr lang="en-US" sz="1050" b="1" dirty="0">
                <a:solidFill>
                  <a:srgbClr val="1F3A5F"/>
                </a:solidFill>
                <a:latin typeface="Calibri" pitchFamily="34" charset="0"/>
                <a:ea typeface="Calibri" pitchFamily="34" charset="-122"/>
                <a:cs typeface="Calibri" pitchFamily="34" charset="-120"/>
              </a:rPr>
              <a:t>Both coefficients, always</a:t>
            </a:r>
            <a:endParaRPr lang="en-US" sz="1050" dirty="0"/>
          </a:p>
        </p:txBody>
      </p:sp>
      <p:sp>
        <p:nvSpPr>
          <p:cNvPr id="15" name="Text 13"/>
          <p:cNvSpPr txBox="1"/>
          <p:nvPr/>
        </p:nvSpPr>
        <p:spPr>
          <a:xfrm>
            <a:off x="7790688" y="2679192"/>
            <a:ext cx="3703320" cy="237744"/>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a gap between them IS the warning</a:t>
            </a:r>
            <a:endParaRPr lang="en-US" sz="950" dirty="0"/>
          </a:p>
        </p:txBody>
      </p:sp>
      <p:sp>
        <p:nvSpPr>
          <p:cNvPr id="16" name="Shape 14"/>
          <p:cNvSpPr/>
          <p:nvPr/>
        </p:nvSpPr>
        <p:spPr>
          <a:xfrm>
            <a:off x="7406640" y="3063240"/>
            <a:ext cx="4206240" cy="585216"/>
          </a:xfrm>
          <a:prstGeom prst="roundRect">
            <a:avLst>
              <a:gd name="adj" fmla="val 1406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7" name="Shape 15"/>
          <p:cNvSpPr/>
          <p:nvPr/>
        </p:nvSpPr>
        <p:spPr>
          <a:xfrm>
            <a:off x="7562088" y="3191256"/>
            <a:ext cx="118872" cy="329184"/>
          </a:xfrm>
          <a:prstGeom prst="roundRect">
            <a:avLst>
              <a:gd name="adj" fmla="val 38462"/>
            </a:avLst>
          </a:prstGeom>
          <a:solidFill>
            <a:srgbClr val="FFC145"/>
          </a:solidFill>
          <a:ln w="12700">
            <a:solidFill>
              <a:srgbClr val="333333"/>
            </a:solidFill>
            <a:prstDash val="solid"/>
          </a:ln>
        </p:spPr>
      </p:sp>
      <p:sp>
        <p:nvSpPr>
          <p:cNvPr id="18" name="Text 16"/>
          <p:cNvSpPr txBox="1"/>
          <p:nvPr/>
        </p:nvSpPr>
        <p:spPr>
          <a:xfrm>
            <a:off x="7790688" y="3118104"/>
            <a:ext cx="3566160" cy="256032"/>
          </a:xfrm>
          <a:prstGeom prst="rect">
            <a:avLst/>
          </a:prstGeom>
          <a:noFill/>
          <a:ln/>
        </p:spPr>
        <p:txBody>
          <a:bodyPr wrap="square" lIns="0" tIns="0" rIns="0" bIns="0" rtlCol="0" anchor="ctr"/>
          <a:lstStyle/>
          <a:p>
            <a:pPr indent="0" marL="0">
              <a:buNone/>
            </a:pPr>
            <a:r>
              <a:rPr lang="en-US" sz="1050" b="1" dirty="0">
                <a:solidFill>
                  <a:srgbClr val="1F3A5F"/>
                </a:solidFill>
                <a:latin typeface="Calibri" pitchFamily="34" charset="0"/>
                <a:ea typeface="Calibri" pitchFamily="34" charset="-122"/>
                <a:cs typeface="Calibri" pitchFamily="34" charset="-120"/>
              </a:rPr>
              <a:t>The interval, not just r</a:t>
            </a:r>
            <a:endParaRPr lang="en-US" sz="1050" dirty="0"/>
          </a:p>
        </p:txBody>
      </p:sp>
      <p:sp>
        <p:nvSpPr>
          <p:cNvPr id="19" name="Text 17"/>
          <p:cNvSpPr txBox="1"/>
          <p:nvPr/>
        </p:nvSpPr>
        <p:spPr>
          <a:xfrm>
            <a:off x="7790688" y="3364992"/>
            <a:ext cx="3703320" cy="237744"/>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n = 10 is a hint, not a number</a:t>
            </a:r>
            <a:endParaRPr lang="en-US" sz="950" dirty="0"/>
          </a:p>
        </p:txBody>
      </p:sp>
      <p:sp>
        <p:nvSpPr>
          <p:cNvPr id="20" name="Shape 18"/>
          <p:cNvSpPr/>
          <p:nvPr/>
        </p:nvSpPr>
        <p:spPr>
          <a:xfrm>
            <a:off x="7406640" y="3749040"/>
            <a:ext cx="4206240" cy="585216"/>
          </a:xfrm>
          <a:prstGeom prst="roundRect">
            <a:avLst>
              <a:gd name="adj" fmla="val 1406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1" name="Shape 19"/>
          <p:cNvSpPr/>
          <p:nvPr/>
        </p:nvSpPr>
        <p:spPr>
          <a:xfrm>
            <a:off x="7562088" y="3877056"/>
            <a:ext cx="118872" cy="329184"/>
          </a:xfrm>
          <a:prstGeom prst="roundRect">
            <a:avLst>
              <a:gd name="adj" fmla="val 38462"/>
            </a:avLst>
          </a:prstGeom>
          <a:solidFill>
            <a:srgbClr val="FFC145"/>
          </a:solidFill>
          <a:ln w="12700">
            <a:solidFill>
              <a:srgbClr val="333333"/>
            </a:solidFill>
            <a:prstDash val="solid"/>
          </a:ln>
        </p:spPr>
      </p:sp>
      <p:sp>
        <p:nvSpPr>
          <p:cNvPr id="22" name="Text 20"/>
          <p:cNvSpPr txBox="1"/>
          <p:nvPr/>
        </p:nvSpPr>
        <p:spPr>
          <a:xfrm>
            <a:off x="7790688" y="3803904"/>
            <a:ext cx="3566160" cy="256032"/>
          </a:xfrm>
          <a:prstGeom prst="rect">
            <a:avLst/>
          </a:prstGeom>
          <a:noFill/>
          <a:ln/>
        </p:spPr>
        <p:txBody>
          <a:bodyPr wrap="square" lIns="0" tIns="0" rIns="0" bIns="0" rtlCol="0" anchor="ctr"/>
          <a:lstStyle/>
          <a:p>
            <a:pPr indent="0" marL="0">
              <a:buNone/>
            </a:pPr>
            <a:r>
              <a:rPr lang="en-US" sz="1050" b="1" dirty="0">
                <a:solidFill>
                  <a:srgbClr val="1F3A5F"/>
                </a:solidFill>
                <a:latin typeface="Calibri" pitchFamily="34" charset="0"/>
                <a:ea typeface="Calibri" pitchFamily="34" charset="-122"/>
                <a:cs typeface="Calibri" pitchFamily="34" charset="-120"/>
              </a:rPr>
              <a:t>r² next to r</a:t>
            </a:r>
            <a:endParaRPr lang="en-US" sz="1050" dirty="0"/>
          </a:p>
        </p:txBody>
      </p:sp>
      <p:sp>
        <p:nvSpPr>
          <p:cNvPr id="23" name="Text 21"/>
          <p:cNvSpPr txBox="1"/>
          <p:nvPr/>
        </p:nvSpPr>
        <p:spPr>
          <a:xfrm>
            <a:off x="7790688" y="4050792"/>
            <a:ext cx="3703320" cy="237744"/>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9% sounds different to 0.3</a:t>
            </a:r>
            <a:endParaRPr lang="en-US" sz="950" dirty="0"/>
          </a:p>
        </p:txBody>
      </p:sp>
      <p:sp>
        <p:nvSpPr>
          <p:cNvPr id="24" name="Shape 22"/>
          <p:cNvSpPr/>
          <p:nvPr/>
        </p:nvSpPr>
        <p:spPr>
          <a:xfrm>
            <a:off x="7406640" y="4434840"/>
            <a:ext cx="4206240" cy="585216"/>
          </a:xfrm>
          <a:prstGeom prst="roundRect">
            <a:avLst>
              <a:gd name="adj" fmla="val 1406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5" name="Shape 23"/>
          <p:cNvSpPr/>
          <p:nvPr/>
        </p:nvSpPr>
        <p:spPr>
          <a:xfrm>
            <a:off x="7562088" y="4562856"/>
            <a:ext cx="118872" cy="329184"/>
          </a:xfrm>
          <a:prstGeom prst="roundRect">
            <a:avLst>
              <a:gd name="adj" fmla="val 38462"/>
            </a:avLst>
          </a:prstGeom>
          <a:solidFill>
            <a:srgbClr val="2FA98C"/>
          </a:solidFill>
          <a:ln w="12700">
            <a:solidFill>
              <a:srgbClr val="333333"/>
            </a:solidFill>
            <a:prstDash val="solid"/>
          </a:ln>
        </p:spPr>
      </p:sp>
      <p:sp>
        <p:nvSpPr>
          <p:cNvPr id="26" name="Text 24"/>
          <p:cNvSpPr txBox="1"/>
          <p:nvPr/>
        </p:nvSpPr>
        <p:spPr>
          <a:xfrm>
            <a:off x="7790688" y="4489704"/>
            <a:ext cx="3566160" cy="256032"/>
          </a:xfrm>
          <a:prstGeom prst="rect">
            <a:avLst/>
          </a:prstGeom>
          <a:noFill/>
          <a:ln/>
        </p:spPr>
        <p:txBody>
          <a:bodyPr wrap="square" lIns="0" tIns="0" rIns="0" bIns="0" rtlCol="0" anchor="ctr"/>
          <a:lstStyle/>
          <a:p>
            <a:pPr indent="0" marL="0">
              <a:buNone/>
            </a:pPr>
            <a:r>
              <a:rPr lang="en-US" sz="1050" b="1" dirty="0">
                <a:solidFill>
                  <a:srgbClr val="1F3A5F"/>
                </a:solidFill>
                <a:latin typeface="Calibri" pitchFamily="34" charset="0"/>
                <a:ea typeface="Calibri" pitchFamily="34" charset="-122"/>
                <a:cs typeface="Calibri" pitchFamily="34" charset="-120"/>
              </a:rPr>
              <a:t>The slope, for size</a:t>
            </a:r>
            <a:endParaRPr lang="en-US" sz="1050" dirty="0"/>
          </a:p>
        </p:txBody>
      </p:sp>
      <p:sp>
        <p:nvSpPr>
          <p:cNvPr id="27" name="Text 25"/>
          <p:cNvSpPr txBox="1"/>
          <p:nvPr/>
        </p:nvSpPr>
        <p:spPr>
          <a:xfrm>
            <a:off x="7790688" y="4736592"/>
            <a:ext cx="3703320" cy="237744"/>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r cannot answer “how much?”</a:t>
            </a:r>
            <a:endParaRPr lang="en-US" sz="950" dirty="0"/>
          </a:p>
        </p:txBody>
      </p:sp>
      <p:sp>
        <p:nvSpPr>
          <p:cNvPr id="28" name="Shape 26"/>
          <p:cNvSpPr/>
          <p:nvPr/>
        </p:nvSpPr>
        <p:spPr>
          <a:xfrm>
            <a:off x="7406640" y="5120640"/>
            <a:ext cx="4206240" cy="585216"/>
          </a:xfrm>
          <a:prstGeom prst="roundRect">
            <a:avLst>
              <a:gd name="adj" fmla="val 1406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9" name="Shape 27"/>
          <p:cNvSpPr/>
          <p:nvPr/>
        </p:nvSpPr>
        <p:spPr>
          <a:xfrm>
            <a:off x="7562088" y="5248656"/>
            <a:ext cx="118872" cy="329184"/>
          </a:xfrm>
          <a:prstGeom prst="roundRect">
            <a:avLst>
              <a:gd name="adj" fmla="val 38462"/>
            </a:avLst>
          </a:prstGeom>
          <a:solidFill>
            <a:srgbClr val="2FA98C"/>
          </a:solidFill>
          <a:ln w="12700">
            <a:solidFill>
              <a:srgbClr val="333333"/>
            </a:solidFill>
            <a:prstDash val="solid"/>
          </a:ln>
        </p:spPr>
      </p:sp>
      <p:sp>
        <p:nvSpPr>
          <p:cNvPr id="30" name="Text 28"/>
          <p:cNvSpPr txBox="1"/>
          <p:nvPr/>
        </p:nvSpPr>
        <p:spPr>
          <a:xfrm>
            <a:off x="7790688" y="5175504"/>
            <a:ext cx="3566160" cy="256032"/>
          </a:xfrm>
          <a:prstGeom prst="rect">
            <a:avLst/>
          </a:prstGeom>
          <a:noFill/>
          <a:ln/>
        </p:spPr>
        <p:txBody>
          <a:bodyPr wrap="square" lIns="0" tIns="0" rIns="0" bIns="0" rtlCol="0" anchor="ctr"/>
          <a:lstStyle/>
          <a:p>
            <a:pPr indent="0" marL="0">
              <a:buNone/>
            </a:pPr>
            <a:r>
              <a:rPr lang="en-US" sz="1050" b="1" dirty="0">
                <a:solidFill>
                  <a:srgbClr val="1F3A5F"/>
                </a:solidFill>
                <a:latin typeface="Calibri" pitchFamily="34" charset="0"/>
                <a:ea typeface="Calibri" pitchFamily="34" charset="-122"/>
                <a:cs typeface="Calibri" pitchFamily="34" charset="-120"/>
              </a:rPr>
              <a:t>n_pairs is a required thought</a:t>
            </a:r>
            <a:endParaRPr lang="en-US" sz="1050" dirty="0"/>
          </a:p>
        </p:txBody>
      </p:sp>
      <p:sp>
        <p:nvSpPr>
          <p:cNvPr id="31" name="Text 29"/>
          <p:cNvSpPr txBox="1"/>
          <p:nvPr/>
        </p:nvSpPr>
        <p:spPr>
          <a:xfrm>
            <a:off x="7790688" y="5422392"/>
            <a:ext cx="3703320" cy="237744"/>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df.corr() is 190 tests</a:t>
            </a:r>
            <a:endParaRPr lang="en-US" sz="950" dirty="0"/>
          </a:p>
        </p:txBody>
      </p:sp>
      <p:sp>
        <p:nvSpPr>
          <p:cNvPr id="32" name="Text 30"/>
          <p:cNvSpPr txBox="1"/>
          <p:nvPr/>
        </p:nvSpPr>
        <p:spPr>
          <a:xfrm>
            <a:off x="548640" y="5998464"/>
            <a:ext cx="6766560" cy="365760"/>
          </a:xfrm>
          <a:prstGeom prst="rect">
            <a:avLst/>
          </a:prstGeom>
          <a:noFill/>
          <a:ln/>
        </p:spPr>
        <p:txBody>
          <a:bodyPr wrap="square" lIns="0" tIns="0" rIns="0" bIns="0" rtlCol="0" anchor="ctr"/>
          <a:lstStyle/>
          <a:p>
            <a:pPr indent="0" marL="0">
              <a:buNone/>
            </a:pPr>
            <a:r>
              <a:rPr lang="en-US" sz="1150" i="1" dirty="0">
                <a:solidFill>
                  <a:srgbClr val="6B7789"/>
                </a:solidFill>
                <a:latin typeface="Calibri" pitchFamily="34" charset="0"/>
                <a:ea typeface="Calibri" pitchFamily="34" charset="-122"/>
                <a:cs typeface="Calibri" pitchFamily="34" charset="-120"/>
              </a:rPr>
              <a:t>What it cannot do is tell you whether X causes Y. No function can. That is the checklist, and it needs you.</a:t>
            </a:r>
            <a:endParaRPr lang="en-US" sz="11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OVER TO YOU</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Practice session — 30 minutes</a:t>
            </a:r>
            <a:endParaRPr lang="en-US" sz="3200" dirty="0"/>
          </a:p>
        </p:txBody>
      </p:sp>
      <p:sp>
        <p:nvSpPr>
          <p:cNvPr id="5" name="Shape 3"/>
          <p:cNvSpPr/>
          <p:nvPr/>
        </p:nvSpPr>
        <p:spPr>
          <a:xfrm>
            <a:off x="548640" y="1645920"/>
            <a:ext cx="7589520" cy="804672"/>
          </a:xfrm>
          <a:prstGeom prst="roundRect">
            <a:avLst>
              <a:gd name="adj" fmla="val 1022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777240" y="1847088"/>
            <a:ext cx="420624" cy="420624"/>
          </a:xfrm>
          <a:prstGeom prst="ellipse">
            <a:avLst/>
          </a:prstGeom>
          <a:solidFill>
            <a:srgbClr val="3E7CB1"/>
          </a:solidFill>
          <a:ln w="12700">
            <a:solidFill>
              <a:srgbClr val="3E7CB1"/>
            </a:solidFill>
            <a:prstDash val="solid"/>
          </a:ln>
        </p:spPr>
      </p:sp>
      <p:sp>
        <p:nvSpPr>
          <p:cNvPr id="7" name="Text 5"/>
          <p:cNvSpPr txBox="1"/>
          <p:nvPr/>
        </p:nvSpPr>
        <p:spPr>
          <a:xfrm>
            <a:off x="777240" y="184708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8" name="Text 6"/>
          <p:cNvSpPr txBox="1"/>
          <p:nvPr/>
        </p:nvSpPr>
        <p:spPr>
          <a:xfrm>
            <a:off x="1371600" y="1728216"/>
            <a:ext cx="3017520" cy="3200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Predict the output</a:t>
            </a:r>
            <a:endParaRPr lang="en-US" sz="1500" dirty="0"/>
          </a:p>
        </p:txBody>
      </p:sp>
      <p:sp>
        <p:nvSpPr>
          <p:cNvPr id="9" name="Text 7"/>
          <p:cNvSpPr txBox="1"/>
          <p:nvPr/>
        </p:nvSpPr>
        <p:spPr>
          <a:xfrm>
            <a:off x="1371600" y="2066544"/>
            <a:ext cx="5669280" cy="301752"/>
          </a:xfrm>
          <a:prstGeom prst="rect">
            <a:avLst/>
          </a:prstGeom>
          <a:noFill/>
          <a:ln/>
        </p:spPr>
        <p:txBody>
          <a:bodyPr wrap="square" lIns="0" tIns="0" rIns="0" bIns="0" rtlCol="0" anchor="ctr"/>
          <a:lstStyle/>
          <a:p>
            <a:pPr indent="0" marL="0">
              <a:buNone/>
            </a:pPr>
            <a:r>
              <a:rPr lang="en-US" sz="1150" dirty="0">
                <a:solidFill>
                  <a:srgbClr val="6B7789"/>
                </a:solidFill>
                <a:latin typeface="Calibri" pitchFamily="34" charset="0"/>
                <a:ea typeface="Calibri" pitchFamily="34" charset="-122"/>
                <a:cs typeface="Calibri" pitchFamily="34" charset="-120"/>
              </a:rPr>
              <a:t>r vs slope, curves, ranks, outliers</a:t>
            </a:r>
            <a:endParaRPr lang="en-US" sz="1150" dirty="0"/>
          </a:p>
        </p:txBody>
      </p:sp>
      <p:sp>
        <p:nvSpPr>
          <p:cNvPr id="10" name="Text 8"/>
          <p:cNvSpPr txBox="1"/>
          <p:nvPr/>
        </p:nvSpPr>
        <p:spPr>
          <a:xfrm>
            <a:off x="6583680" y="1865376"/>
            <a:ext cx="137160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8 questions</a:t>
            </a:r>
            <a:endParaRPr lang="en-US" sz="1300" dirty="0"/>
          </a:p>
        </p:txBody>
      </p:sp>
      <p:sp>
        <p:nvSpPr>
          <p:cNvPr id="11" name="Shape 9"/>
          <p:cNvSpPr/>
          <p:nvPr/>
        </p:nvSpPr>
        <p:spPr>
          <a:xfrm>
            <a:off x="548640" y="2560320"/>
            <a:ext cx="7589520" cy="804672"/>
          </a:xfrm>
          <a:prstGeom prst="roundRect">
            <a:avLst>
              <a:gd name="adj" fmla="val 1022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2" name="Shape 10"/>
          <p:cNvSpPr/>
          <p:nvPr/>
        </p:nvSpPr>
        <p:spPr>
          <a:xfrm>
            <a:off x="777240" y="2761488"/>
            <a:ext cx="420624" cy="420624"/>
          </a:xfrm>
          <a:prstGeom prst="ellipse">
            <a:avLst/>
          </a:prstGeom>
          <a:solidFill>
            <a:srgbClr val="E8674C"/>
          </a:solidFill>
          <a:ln w="12700">
            <a:solidFill>
              <a:srgbClr val="E8674C"/>
            </a:solidFill>
            <a:prstDash val="solid"/>
          </a:ln>
        </p:spPr>
      </p:sp>
      <p:sp>
        <p:nvSpPr>
          <p:cNvPr id="13" name="Text 11"/>
          <p:cNvSpPr txBox="1"/>
          <p:nvPr/>
        </p:nvSpPr>
        <p:spPr>
          <a:xfrm>
            <a:off x="777240" y="276148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4" name="Text 12"/>
          <p:cNvSpPr txBox="1"/>
          <p:nvPr/>
        </p:nvSpPr>
        <p:spPr>
          <a:xfrm>
            <a:off x="1371600" y="2642616"/>
            <a:ext cx="3017520" cy="3200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Spot &amp; fix the bug</a:t>
            </a:r>
            <a:endParaRPr lang="en-US" sz="1500" dirty="0"/>
          </a:p>
        </p:txBody>
      </p:sp>
      <p:sp>
        <p:nvSpPr>
          <p:cNvPr id="15" name="Text 13"/>
          <p:cNvSpPr txBox="1"/>
          <p:nvPr/>
        </p:nvSpPr>
        <p:spPr>
          <a:xfrm>
            <a:off x="1371600" y="2980944"/>
            <a:ext cx="5669280" cy="301752"/>
          </a:xfrm>
          <a:prstGeom prst="rect">
            <a:avLst/>
          </a:prstGeom>
          <a:noFill/>
          <a:ln/>
        </p:spPr>
        <p:txBody>
          <a:bodyPr wrap="square" lIns="0" tIns="0" rIns="0" bIns="0" rtlCol="0" anchor="ctr"/>
          <a:lstStyle/>
          <a:p>
            <a:pPr indent="0" marL="0">
              <a:buNone/>
            </a:pPr>
            <a:r>
              <a:rPr lang="en-US" sz="1150" dirty="0">
                <a:solidFill>
                  <a:srgbClr val="6B7789"/>
                </a:solidFill>
                <a:latin typeface="Calibri" pitchFamily="34" charset="0"/>
                <a:ea typeface="Calibri" pitchFamily="34" charset="-122"/>
                <a:cs typeface="Calibri" pitchFamily="34" charset="-120"/>
              </a:rPr>
              <a:t>The unplotted r, the matrix scan, a causal leap</a:t>
            </a:r>
            <a:endParaRPr lang="en-US" sz="1150" dirty="0"/>
          </a:p>
        </p:txBody>
      </p:sp>
      <p:sp>
        <p:nvSpPr>
          <p:cNvPr id="16" name="Text 14"/>
          <p:cNvSpPr txBox="1"/>
          <p:nvPr/>
        </p:nvSpPr>
        <p:spPr>
          <a:xfrm>
            <a:off x="6583680" y="2779776"/>
            <a:ext cx="137160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4 questions</a:t>
            </a:r>
            <a:endParaRPr lang="en-US" sz="1300" dirty="0"/>
          </a:p>
        </p:txBody>
      </p:sp>
      <p:sp>
        <p:nvSpPr>
          <p:cNvPr id="17" name="Shape 15"/>
          <p:cNvSpPr/>
          <p:nvPr/>
        </p:nvSpPr>
        <p:spPr>
          <a:xfrm>
            <a:off x="548640" y="3474720"/>
            <a:ext cx="7589520" cy="804672"/>
          </a:xfrm>
          <a:prstGeom prst="roundRect">
            <a:avLst>
              <a:gd name="adj" fmla="val 1022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8" name="Shape 16"/>
          <p:cNvSpPr/>
          <p:nvPr/>
        </p:nvSpPr>
        <p:spPr>
          <a:xfrm>
            <a:off x="777240" y="3675888"/>
            <a:ext cx="420624" cy="420624"/>
          </a:xfrm>
          <a:prstGeom prst="ellipse">
            <a:avLst/>
          </a:prstGeom>
          <a:solidFill>
            <a:srgbClr val="2FA98C"/>
          </a:solidFill>
          <a:ln w="12700">
            <a:solidFill>
              <a:srgbClr val="2FA98C"/>
            </a:solidFill>
            <a:prstDash val="solid"/>
          </a:ln>
        </p:spPr>
      </p:sp>
      <p:sp>
        <p:nvSpPr>
          <p:cNvPr id="19" name="Text 17"/>
          <p:cNvSpPr txBox="1"/>
          <p:nvPr/>
        </p:nvSpPr>
        <p:spPr>
          <a:xfrm>
            <a:off x="777240" y="367588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0" name="Text 18"/>
          <p:cNvSpPr txBox="1"/>
          <p:nvPr/>
        </p:nvSpPr>
        <p:spPr>
          <a:xfrm>
            <a:off x="1371600" y="3557016"/>
            <a:ext cx="3017520" cy="3200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Write the code</a:t>
            </a:r>
            <a:endParaRPr lang="en-US" sz="1500" dirty="0"/>
          </a:p>
        </p:txBody>
      </p:sp>
      <p:sp>
        <p:nvSpPr>
          <p:cNvPr id="21" name="Text 19"/>
          <p:cNvSpPr txBox="1"/>
          <p:nvPr/>
        </p:nvSpPr>
        <p:spPr>
          <a:xfrm>
            <a:off x="1371600" y="3895344"/>
            <a:ext cx="5669280" cy="301752"/>
          </a:xfrm>
          <a:prstGeom prst="rect">
            <a:avLst/>
          </a:prstGeom>
          <a:noFill/>
          <a:ln/>
        </p:spPr>
        <p:txBody>
          <a:bodyPr wrap="square" lIns="0" tIns="0" rIns="0" bIns="0" rtlCol="0" anchor="ctr"/>
          <a:lstStyle/>
          <a:p>
            <a:pPr indent="0" marL="0">
              <a:buNone/>
            </a:pPr>
            <a:r>
              <a:rPr lang="en-US" sz="1150" dirty="0">
                <a:solidFill>
                  <a:srgbClr val="6B7789"/>
                </a:solidFill>
                <a:latin typeface="Calibri" pitchFamily="34" charset="0"/>
                <a:ea typeface="Calibri" pitchFamily="34" charset="-122"/>
                <a:cs typeface="Calibri" pitchFamily="34" charset="-120"/>
              </a:rPr>
              <a:t>Diagnose, control, and report</a:t>
            </a:r>
            <a:endParaRPr lang="en-US" sz="1150" dirty="0"/>
          </a:p>
        </p:txBody>
      </p:sp>
      <p:sp>
        <p:nvSpPr>
          <p:cNvPr id="22" name="Text 20"/>
          <p:cNvSpPr txBox="1"/>
          <p:nvPr/>
        </p:nvSpPr>
        <p:spPr>
          <a:xfrm>
            <a:off x="6583680" y="3694176"/>
            <a:ext cx="137160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5 tasks</a:t>
            </a:r>
            <a:endParaRPr lang="en-US" sz="1300" dirty="0"/>
          </a:p>
        </p:txBody>
      </p:sp>
      <p:sp>
        <p:nvSpPr>
          <p:cNvPr id="23" name="Shape 21"/>
          <p:cNvSpPr/>
          <p:nvPr/>
        </p:nvSpPr>
        <p:spPr>
          <a:xfrm>
            <a:off x="548640" y="4389120"/>
            <a:ext cx="7589520" cy="804672"/>
          </a:xfrm>
          <a:prstGeom prst="roundRect">
            <a:avLst>
              <a:gd name="adj" fmla="val 1022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4" name="Shape 22"/>
          <p:cNvSpPr/>
          <p:nvPr/>
        </p:nvSpPr>
        <p:spPr>
          <a:xfrm>
            <a:off x="777240" y="4590288"/>
            <a:ext cx="420624" cy="420624"/>
          </a:xfrm>
          <a:prstGeom prst="ellipse">
            <a:avLst/>
          </a:prstGeom>
          <a:solidFill>
            <a:srgbClr val="FFC145"/>
          </a:solidFill>
          <a:ln w="12700">
            <a:solidFill>
              <a:srgbClr val="FFC145"/>
            </a:solidFill>
            <a:prstDash val="solid"/>
          </a:ln>
        </p:spPr>
      </p:sp>
      <p:sp>
        <p:nvSpPr>
          <p:cNvPr id="25" name="Text 23"/>
          <p:cNvSpPr txBox="1"/>
          <p:nvPr/>
        </p:nvSpPr>
        <p:spPr>
          <a:xfrm>
            <a:off x="777240" y="4590288"/>
            <a:ext cx="420624" cy="42062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D</a:t>
            </a:r>
            <a:endParaRPr lang="en-US" sz="1300" dirty="0"/>
          </a:p>
        </p:txBody>
      </p:sp>
      <p:sp>
        <p:nvSpPr>
          <p:cNvPr id="26" name="Text 24"/>
          <p:cNvSpPr txBox="1"/>
          <p:nvPr/>
        </p:nvSpPr>
        <p:spPr>
          <a:xfrm>
            <a:off x="1371600" y="4471416"/>
            <a:ext cx="3017520" cy="3200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Challenge</a:t>
            </a:r>
            <a:endParaRPr lang="en-US" sz="1500" dirty="0"/>
          </a:p>
        </p:txBody>
      </p:sp>
      <p:sp>
        <p:nvSpPr>
          <p:cNvPr id="27" name="Text 25"/>
          <p:cNvSpPr txBox="1"/>
          <p:nvPr/>
        </p:nvSpPr>
        <p:spPr>
          <a:xfrm>
            <a:off x="1371600" y="4809744"/>
            <a:ext cx="5669280" cy="301752"/>
          </a:xfrm>
          <a:prstGeom prst="rect">
            <a:avLst/>
          </a:prstGeom>
          <a:noFill/>
          <a:ln/>
        </p:spPr>
        <p:txBody>
          <a:bodyPr wrap="square" lIns="0" tIns="0" rIns="0" bIns="0" rtlCol="0" anchor="ctr"/>
          <a:lstStyle/>
          <a:p>
            <a:pPr indent="0" marL="0">
              <a:buNone/>
            </a:pPr>
            <a:r>
              <a:rPr lang="en-US" sz="1150" dirty="0">
                <a:solidFill>
                  <a:srgbClr val="6B7789"/>
                </a:solidFill>
                <a:latin typeface="Calibri" pitchFamily="34" charset="0"/>
                <a:ea typeface="Calibri" pitchFamily="34" charset="-122"/>
                <a:cs typeface="Calibri" pitchFamily="34" charset="-120"/>
              </a:rPr>
              <a:t>Build a fake finding, then break a real one</a:t>
            </a:r>
            <a:endParaRPr lang="en-US" sz="1150" dirty="0"/>
          </a:p>
        </p:txBody>
      </p:sp>
      <p:sp>
        <p:nvSpPr>
          <p:cNvPr id="28" name="Text 26"/>
          <p:cNvSpPr txBox="1"/>
          <p:nvPr/>
        </p:nvSpPr>
        <p:spPr>
          <a:xfrm>
            <a:off x="6583680" y="4608576"/>
            <a:ext cx="137160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2 tasks</a:t>
            </a:r>
            <a:endParaRPr lang="en-US" sz="1300" dirty="0"/>
          </a:p>
        </p:txBody>
      </p:sp>
      <p:sp>
        <p:nvSpPr>
          <p:cNvPr id="29" name="Shape 27"/>
          <p:cNvSpPr/>
          <p:nvPr/>
        </p:nvSpPr>
        <p:spPr>
          <a:xfrm>
            <a:off x="8412480" y="1645920"/>
            <a:ext cx="3200400" cy="2907792"/>
          </a:xfrm>
          <a:prstGeom prst="roundRect">
            <a:avLst>
              <a:gd name="adj" fmla="val 2830"/>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0" name="Text 28"/>
          <p:cNvSpPr txBox="1"/>
          <p:nvPr/>
        </p:nvSpPr>
        <p:spPr>
          <a:xfrm>
            <a:off x="8686800" y="1801368"/>
            <a:ext cx="2743200" cy="301752"/>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Your notebook</a:t>
            </a:r>
            <a:endParaRPr lang="en-US" sz="1500" dirty="0"/>
          </a:p>
        </p:txBody>
      </p:sp>
      <p:sp>
        <p:nvSpPr>
          <p:cNvPr id="31" name="Text 29"/>
          <p:cNvSpPr txBox="1"/>
          <p:nvPr/>
        </p:nvSpPr>
        <p:spPr>
          <a:xfrm>
            <a:off x="8686800" y="2167128"/>
            <a:ext cx="2743200" cy="594360"/>
          </a:xfrm>
          <a:prstGeom prst="rect">
            <a:avLst/>
          </a:prstGeom>
          <a:noFill/>
          <a:ln/>
        </p:spPr>
        <p:txBody>
          <a:bodyPr wrap="square" lIns="0" tIns="0" rIns="0" bIns="0" rtlCol="0" anchor="ctr"/>
          <a:lstStyle/>
          <a:p>
            <a:pPr indent="0" marL="0">
              <a:lnSpc>
                <a:spcPct val="115000"/>
              </a:lnSpc>
              <a:buNone/>
            </a:pPr>
            <a:r>
              <a:rPr lang="en-US" sz="1250" b="1" dirty="0">
                <a:solidFill>
                  <a:srgbClr val="3E7CB1"/>
                </a:solidFill>
                <a:latin typeface="Courier New" pitchFamily="34" charset="0"/>
                <a:ea typeface="Courier New" pitchFamily="34" charset="-122"/>
                <a:cs typeface="Courier New" pitchFamily="34" charset="-120"/>
              </a:rPr>
              <a:t>Day29_Practice_</a:t>
            </a:r>
            <a:endParaRPr lang="en-US" sz="1250" dirty="0"/>
          </a:p>
          <a:p>
            <a:pPr indent="0" marL="0">
              <a:lnSpc>
                <a:spcPct val="115000"/>
              </a:lnSpc>
              <a:buNone/>
            </a:pPr>
            <a:r>
              <a:rPr lang="en-US" sz="1250" b="1" dirty="0">
                <a:solidFill>
                  <a:srgbClr val="3E7CB1"/>
                </a:solidFill>
                <a:latin typeface="Courier New" pitchFamily="34" charset="0"/>
                <a:ea typeface="Courier New" pitchFamily="34" charset="-122"/>
                <a:cs typeface="Courier New" pitchFamily="34" charset="-120"/>
              </a:rPr>
              <a:t>Questions.ipynb</a:t>
            </a:r>
            <a:endParaRPr lang="en-US" sz="1250" dirty="0"/>
          </a:p>
        </p:txBody>
      </p:sp>
      <p:sp>
        <p:nvSpPr>
          <p:cNvPr id="32" name="Text 30"/>
          <p:cNvSpPr txBox="1"/>
          <p:nvPr/>
        </p:nvSpPr>
        <p:spPr>
          <a:xfrm>
            <a:off x="8796528" y="2880360"/>
            <a:ext cx="2651760" cy="160020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2B3445"/>
                </a:solidFill>
                <a:latin typeface="Calibri" pitchFamily="34" charset="0"/>
                <a:ea typeface="Calibri" pitchFamily="34" charset="-122"/>
                <a:cs typeface="Calibri" pitchFamily="34" charset="-120"/>
              </a:rPr>
              <a:t>Plot it before you compute it</a:t>
            </a:r>
            <a:endParaRPr lang="en-US" sz="1150" dirty="0"/>
          </a:p>
          <a:p>
            <a:pPr marL="342900" indent="-342900">
              <a:spcAft>
                <a:spcPts val="800"/>
              </a:spcAft>
              <a:buSzPct val="100000"/>
              <a:buChar char="•"/>
            </a:pPr>
            <a:r>
              <a:rPr lang="en-US" sz="1150" dirty="0">
                <a:solidFill>
                  <a:srgbClr val="2B3445"/>
                </a:solidFill>
                <a:latin typeface="Calibri" pitchFamily="34" charset="0"/>
                <a:ea typeface="Calibri" pitchFamily="34" charset="-122"/>
                <a:cs typeface="Calibri" pitchFamily="34" charset="-120"/>
              </a:rPr>
              <a:t>Pearson AND Spearman</a:t>
            </a:r>
            <a:endParaRPr lang="en-US" sz="1150" dirty="0"/>
          </a:p>
          <a:p>
            <a:pPr marL="342900" indent="-342900">
              <a:spcAft>
                <a:spcPts val="800"/>
              </a:spcAft>
              <a:buSzPct val="100000"/>
              <a:buChar char="•"/>
            </a:pPr>
            <a:r>
              <a:rPr lang="en-US" sz="1150" dirty="0">
                <a:solidFill>
                  <a:srgbClr val="2B3445"/>
                </a:solidFill>
                <a:latin typeface="Calibri" pitchFamily="34" charset="0"/>
                <a:ea typeface="Calibri" pitchFamily="34" charset="-122"/>
                <a:cs typeface="Calibri" pitchFamily="34" charset="-120"/>
              </a:rPr>
              <a:t>How many pairs did I look at?</a:t>
            </a:r>
            <a:endParaRPr lang="en-US" sz="1150" dirty="0"/>
          </a:p>
          <a:p>
            <a:pPr marL="342900" indent="-342900">
              <a:spcAft>
                <a:spcPts val="800"/>
              </a:spcAft>
              <a:buSzPct val="100000"/>
              <a:buChar char="•"/>
            </a:pPr>
            <a:r>
              <a:rPr lang="en-US" sz="1150" dirty="0">
                <a:solidFill>
                  <a:srgbClr val="2B3445"/>
                </a:solidFill>
                <a:latin typeface="Calibri" pitchFamily="34" charset="0"/>
                <a:ea typeface="Calibri" pitchFamily="34" charset="-122"/>
                <a:cs typeface="Calibri" pitchFamily="34" charset="-120"/>
              </a:rPr>
              <a:t>Solutions shared after class</a:t>
            </a:r>
            <a:endParaRPr lang="en-US" sz="1150" dirty="0"/>
          </a:p>
        </p:txBody>
      </p:sp>
      <p:sp>
        <p:nvSpPr>
          <p:cNvPr id="33" name="Shape 31"/>
          <p:cNvSpPr/>
          <p:nvPr/>
        </p:nvSpPr>
        <p:spPr>
          <a:xfrm>
            <a:off x="548640" y="5394960"/>
            <a:ext cx="11064240" cy="868680"/>
          </a:xfrm>
          <a:prstGeom prst="roundRect">
            <a:avLst>
              <a:gd name="adj" fmla="val 9474"/>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4" name="Text 32"/>
          <p:cNvSpPr txBox="1"/>
          <p:nvPr/>
        </p:nvSpPr>
        <p:spPr>
          <a:xfrm>
            <a:off x="868680" y="5550408"/>
            <a:ext cx="10424160" cy="548640"/>
          </a:xfrm>
          <a:prstGeom prst="rect">
            <a:avLst/>
          </a:prstGeom>
          <a:noFill/>
          <a:ln/>
        </p:spPr>
        <p:txBody>
          <a:bodyPr wrap="square" lIns="0" tIns="0" rIns="0" bIns="0" rtlCol="0" anchor="ctr"/>
          <a:lstStyle/>
          <a:p>
            <a:pPr indent="0" marL="0">
              <a:buNone/>
            </a:pPr>
            <a:r>
              <a:rPr lang="en-US" sz="1350" b="1" i="1" dirty="0">
                <a:solidFill>
                  <a:srgbClr val="8A5B00"/>
                </a:solidFill>
                <a:latin typeface="Calibri" pitchFamily="34" charset="0"/>
                <a:ea typeface="Calibri" pitchFamily="34" charset="-122"/>
                <a:cs typeface="Calibri" pitchFamily="34" charset="-120"/>
              </a:rPr>
              <a:t>Part D gives you a dataset with a strong, highly significant correlation in it and asks you to work out which of the five explanations it is. There is a right answer, and it is not “X causes Y”.</a:t>
            </a:r>
            <a:endParaRPr lang="en-US" sz="13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9966960" y="4480560"/>
            <a:ext cx="3840480" cy="3840480"/>
          </a:xfrm>
          <a:prstGeom prst="ellipse">
            <a:avLst/>
          </a:prstGeom>
          <a:solidFill>
            <a:srgbClr val="1A2A46"/>
          </a:solidFill>
          <a:ln w="12700">
            <a:solidFill>
              <a:srgbClr val="333333"/>
            </a:solidFill>
            <a:prstDash val="solid"/>
          </a:ln>
        </p:spPr>
      </p:sp>
      <p:sp>
        <p:nvSpPr>
          <p:cNvPr id="4" name="Text 2"/>
          <p:cNvSpPr txBox="1"/>
          <p:nvPr/>
        </p:nvSpPr>
        <p:spPr>
          <a:xfrm>
            <a:off x="640080" y="457200"/>
            <a:ext cx="7315200" cy="274320"/>
          </a:xfrm>
          <a:prstGeom prst="rect">
            <a:avLst/>
          </a:prstGeom>
          <a:noFill/>
          <a:ln/>
        </p:spPr>
        <p:txBody>
          <a:bodyPr wrap="square" lIns="0" tIns="0" rIns="0" bIns="0" rtlCol="0" anchor="ctr"/>
          <a:lstStyle/>
          <a:p>
            <a:pPr indent="0" marL="0">
              <a:buNone/>
            </a:pPr>
            <a:r>
              <a:rPr lang="en-US" sz="1200" b="1" spc="200" kern="0" dirty="0">
                <a:solidFill>
                  <a:srgbClr val="FFC145"/>
                </a:solidFill>
                <a:latin typeface="Calibri" pitchFamily="34" charset="0"/>
                <a:ea typeface="Calibri" pitchFamily="34" charset="-122"/>
                <a:cs typeface="Calibri" pitchFamily="34" charset="-120"/>
              </a:rPr>
              <a:t>TODAY IN TWELVE LINES</a:t>
            </a:r>
            <a:endParaRPr lang="en-US" sz="1200" dirty="0"/>
          </a:p>
        </p:txBody>
      </p:sp>
      <p:sp>
        <p:nvSpPr>
          <p:cNvPr id="5" name="Text 3"/>
          <p:cNvSpPr txBox="1"/>
          <p:nvPr/>
        </p:nvSpPr>
        <p:spPr>
          <a:xfrm>
            <a:off x="640080" y="749808"/>
            <a:ext cx="7315200" cy="5943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Recap</a:t>
            </a:r>
            <a:endParaRPr lang="en-US" sz="3400" dirty="0"/>
          </a:p>
        </p:txBody>
      </p:sp>
      <p:sp>
        <p:nvSpPr>
          <p:cNvPr id="6" name="Shape 4"/>
          <p:cNvSpPr/>
          <p:nvPr/>
        </p:nvSpPr>
        <p:spPr>
          <a:xfrm>
            <a:off x="640080" y="1554480"/>
            <a:ext cx="329184" cy="329184"/>
          </a:xfrm>
          <a:prstGeom prst="ellipse">
            <a:avLst/>
          </a:prstGeom>
          <a:solidFill>
            <a:srgbClr val="FFC145"/>
          </a:solidFill>
          <a:ln w="12700">
            <a:solidFill>
              <a:srgbClr val="FFC145"/>
            </a:solidFill>
            <a:prstDash val="solid"/>
          </a:ln>
        </p:spPr>
      </p:sp>
      <p:sp>
        <p:nvSpPr>
          <p:cNvPr id="7" name="Text 5"/>
          <p:cNvSpPr txBox="1"/>
          <p:nvPr/>
        </p:nvSpPr>
        <p:spPr>
          <a:xfrm>
            <a:off x="640080" y="1554480"/>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115568" y="1536192"/>
            <a:ext cx="4892040" cy="411480"/>
          </a:xfrm>
          <a:prstGeom prst="rect">
            <a:avLst/>
          </a:prstGeom>
          <a:noFill/>
          <a:ln/>
        </p:spPr>
        <p:txBody>
          <a:bodyPr wrap="square" lIns="0" tIns="0" rIns="0" bIns="0" rtlCol="0" anchor="ctr"/>
          <a:lstStyle/>
          <a:p>
            <a:pPr indent="0" marL="0">
              <a:buNone/>
            </a:pPr>
            <a:r>
              <a:rPr lang="en-US" sz="950" dirty="0">
                <a:solidFill>
                  <a:srgbClr val="DCE6F3"/>
                </a:solidFill>
                <a:latin typeface="Calibri" pitchFamily="34" charset="0"/>
                <a:ea typeface="Calibri" pitchFamily="34" charset="-122"/>
                <a:cs typeface="Calibri" pitchFamily="34" charset="-120"/>
              </a:rPr>
              <a:t>r runs −1 to +1 and measures one thing: tightness around a STRAIGHT line.</a:t>
            </a:r>
            <a:endParaRPr lang="en-US" sz="950" dirty="0"/>
          </a:p>
        </p:txBody>
      </p:sp>
      <p:sp>
        <p:nvSpPr>
          <p:cNvPr id="9" name="Shape 7"/>
          <p:cNvSpPr/>
          <p:nvPr/>
        </p:nvSpPr>
        <p:spPr>
          <a:xfrm>
            <a:off x="640080" y="2121408"/>
            <a:ext cx="329184" cy="329184"/>
          </a:xfrm>
          <a:prstGeom prst="ellipse">
            <a:avLst/>
          </a:prstGeom>
          <a:solidFill>
            <a:srgbClr val="FFC145"/>
          </a:solidFill>
          <a:ln w="12700">
            <a:solidFill>
              <a:srgbClr val="FFC145"/>
            </a:solidFill>
            <a:prstDash val="solid"/>
          </a:ln>
        </p:spPr>
      </p:sp>
      <p:sp>
        <p:nvSpPr>
          <p:cNvPr id="10" name="Text 8"/>
          <p:cNvSpPr txBox="1"/>
          <p:nvPr/>
        </p:nvSpPr>
        <p:spPr>
          <a:xfrm>
            <a:off x="640080" y="2121408"/>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115568" y="2103120"/>
            <a:ext cx="4892040" cy="411480"/>
          </a:xfrm>
          <a:prstGeom prst="rect">
            <a:avLst/>
          </a:prstGeom>
          <a:noFill/>
          <a:ln/>
        </p:spPr>
        <p:txBody>
          <a:bodyPr wrap="square" lIns="0" tIns="0" rIns="0" bIns="0" rtlCol="0" anchor="ctr"/>
          <a:lstStyle/>
          <a:p>
            <a:pPr indent="0" marL="0">
              <a:buNone/>
            </a:pPr>
            <a:r>
              <a:rPr lang="en-US" sz="950" dirty="0">
                <a:solidFill>
                  <a:srgbClr val="DCE6F3"/>
                </a:solidFill>
                <a:latin typeface="Calibri" pitchFamily="34" charset="0"/>
                <a:ea typeface="Calibri" pitchFamily="34" charset="-122"/>
                <a:cs typeface="Calibri" pitchFamily="34" charset="-120"/>
              </a:rPr>
              <a:t>⚠ r is not a slope. Slopes of 0.09 and 90 both gave r = 0.697.</a:t>
            </a:r>
            <a:endParaRPr lang="en-US" sz="950" dirty="0"/>
          </a:p>
        </p:txBody>
      </p:sp>
      <p:sp>
        <p:nvSpPr>
          <p:cNvPr id="12" name="Shape 10"/>
          <p:cNvSpPr/>
          <p:nvPr/>
        </p:nvSpPr>
        <p:spPr>
          <a:xfrm>
            <a:off x="640080" y="2688336"/>
            <a:ext cx="329184" cy="329184"/>
          </a:xfrm>
          <a:prstGeom prst="ellipse">
            <a:avLst/>
          </a:prstGeom>
          <a:solidFill>
            <a:srgbClr val="FFC145"/>
          </a:solidFill>
          <a:ln w="12700">
            <a:solidFill>
              <a:srgbClr val="FFC145"/>
            </a:solidFill>
            <a:prstDash val="solid"/>
          </a:ln>
        </p:spPr>
      </p:sp>
      <p:sp>
        <p:nvSpPr>
          <p:cNvPr id="13" name="Text 11"/>
          <p:cNvSpPr txBox="1"/>
          <p:nvPr/>
        </p:nvSpPr>
        <p:spPr>
          <a:xfrm>
            <a:off x="640080" y="2688336"/>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115568" y="2670048"/>
            <a:ext cx="4892040" cy="411480"/>
          </a:xfrm>
          <a:prstGeom prst="rect">
            <a:avLst/>
          </a:prstGeom>
          <a:noFill/>
          <a:ln/>
        </p:spPr>
        <p:txBody>
          <a:bodyPr wrap="square" lIns="0" tIns="0" rIns="0" bIns="0" rtlCol="0" anchor="ctr"/>
          <a:lstStyle/>
          <a:p>
            <a:pPr indent="0" marL="0">
              <a:buNone/>
            </a:pPr>
            <a:r>
              <a:rPr lang="en-US" sz="950" dirty="0">
                <a:solidFill>
                  <a:srgbClr val="DCE6F3"/>
                </a:solidFill>
                <a:latin typeface="Calibri" pitchFamily="34" charset="0"/>
                <a:ea typeface="Calibri" pitchFamily="34" charset="-122"/>
                <a:cs typeface="Calibri" pitchFamily="34" charset="-120"/>
              </a:rPr>
              <a:t>r² is the share of variance. r = 0.3 is 9%, which is almost nothing.</a:t>
            </a:r>
            <a:endParaRPr lang="en-US" sz="950" dirty="0"/>
          </a:p>
        </p:txBody>
      </p:sp>
      <p:sp>
        <p:nvSpPr>
          <p:cNvPr id="15" name="Shape 13"/>
          <p:cNvSpPr/>
          <p:nvPr/>
        </p:nvSpPr>
        <p:spPr>
          <a:xfrm>
            <a:off x="640080" y="3255264"/>
            <a:ext cx="329184" cy="329184"/>
          </a:xfrm>
          <a:prstGeom prst="ellipse">
            <a:avLst/>
          </a:prstGeom>
          <a:solidFill>
            <a:srgbClr val="FFC145"/>
          </a:solidFill>
          <a:ln w="12700">
            <a:solidFill>
              <a:srgbClr val="FFC145"/>
            </a:solidFill>
            <a:prstDash val="solid"/>
          </a:ln>
        </p:spPr>
      </p:sp>
      <p:sp>
        <p:nvSpPr>
          <p:cNvPr id="16" name="Text 14"/>
          <p:cNvSpPr txBox="1"/>
          <p:nvPr/>
        </p:nvSpPr>
        <p:spPr>
          <a:xfrm>
            <a:off x="640080" y="3255264"/>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4</a:t>
            </a:r>
            <a:endParaRPr lang="en-US" sz="1300" dirty="0"/>
          </a:p>
        </p:txBody>
      </p:sp>
      <p:sp>
        <p:nvSpPr>
          <p:cNvPr id="17" name="Text 15"/>
          <p:cNvSpPr txBox="1"/>
          <p:nvPr/>
        </p:nvSpPr>
        <p:spPr>
          <a:xfrm>
            <a:off x="1115568" y="3236976"/>
            <a:ext cx="4892040" cy="411480"/>
          </a:xfrm>
          <a:prstGeom prst="rect">
            <a:avLst/>
          </a:prstGeom>
          <a:noFill/>
          <a:ln/>
        </p:spPr>
        <p:txBody>
          <a:bodyPr wrap="square" lIns="0" tIns="0" rIns="0" bIns="0" rtlCol="0" anchor="ctr"/>
          <a:lstStyle/>
          <a:p>
            <a:pPr indent="0" marL="0">
              <a:buNone/>
            </a:pPr>
            <a:r>
              <a:rPr lang="en-US" sz="950" dirty="0">
                <a:solidFill>
                  <a:srgbClr val="DCE6F3"/>
                </a:solidFill>
                <a:latin typeface="Calibri" pitchFamily="34" charset="0"/>
                <a:ea typeface="Calibri" pitchFamily="34" charset="-122"/>
                <a:cs typeface="Calibri" pitchFamily="34" charset="-120"/>
              </a:rPr>
              <a:t>⭐ Anscombe: four different pictures, all with r = 0.816. Plot the data.</a:t>
            </a:r>
            <a:endParaRPr lang="en-US" sz="950" dirty="0"/>
          </a:p>
        </p:txBody>
      </p:sp>
      <p:sp>
        <p:nvSpPr>
          <p:cNvPr id="18" name="Shape 16"/>
          <p:cNvSpPr/>
          <p:nvPr/>
        </p:nvSpPr>
        <p:spPr>
          <a:xfrm>
            <a:off x="640080" y="3822192"/>
            <a:ext cx="329184" cy="329184"/>
          </a:xfrm>
          <a:prstGeom prst="ellipse">
            <a:avLst/>
          </a:prstGeom>
          <a:solidFill>
            <a:srgbClr val="FFC145"/>
          </a:solidFill>
          <a:ln w="12700">
            <a:solidFill>
              <a:srgbClr val="FFC145"/>
            </a:solidFill>
            <a:prstDash val="solid"/>
          </a:ln>
        </p:spPr>
      </p:sp>
      <p:sp>
        <p:nvSpPr>
          <p:cNvPr id="19" name="Text 17"/>
          <p:cNvSpPr txBox="1"/>
          <p:nvPr/>
        </p:nvSpPr>
        <p:spPr>
          <a:xfrm>
            <a:off x="640080" y="3822192"/>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5</a:t>
            </a:r>
            <a:endParaRPr lang="en-US" sz="1300" dirty="0"/>
          </a:p>
        </p:txBody>
      </p:sp>
      <p:sp>
        <p:nvSpPr>
          <p:cNvPr id="20" name="Text 18"/>
          <p:cNvSpPr txBox="1"/>
          <p:nvPr/>
        </p:nvSpPr>
        <p:spPr>
          <a:xfrm>
            <a:off x="1115568" y="3803904"/>
            <a:ext cx="4892040" cy="411480"/>
          </a:xfrm>
          <a:prstGeom prst="rect">
            <a:avLst/>
          </a:prstGeom>
          <a:noFill/>
          <a:ln/>
        </p:spPr>
        <p:txBody>
          <a:bodyPr wrap="square" lIns="0" tIns="0" rIns="0" bIns="0" rtlCol="0" anchor="ctr"/>
          <a:lstStyle/>
          <a:p>
            <a:pPr indent="0" marL="0">
              <a:buNone/>
            </a:pPr>
            <a:r>
              <a:rPr lang="en-US" sz="950" dirty="0">
                <a:solidFill>
                  <a:srgbClr val="DCE6F3"/>
                </a:solidFill>
                <a:latin typeface="Calibri" pitchFamily="34" charset="0"/>
                <a:ea typeface="Calibri" pitchFamily="34" charset="-122"/>
                <a:cs typeface="Calibri" pitchFamily="34" charset="-120"/>
              </a:rPr>
              <a:t>⚠ r sees only straight lines. A perfect U-shape gives r ≈ 0.</a:t>
            </a:r>
            <a:endParaRPr lang="en-US" sz="950" dirty="0"/>
          </a:p>
        </p:txBody>
      </p:sp>
      <p:sp>
        <p:nvSpPr>
          <p:cNvPr id="21" name="Shape 19"/>
          <p:cNvSpPr/>
          <p:nvPr/>
        </p:nvSpPr>
        <p:spPr>
          <a:xfrm>
            <a:off x="640080" y="4389120"/>
            <a:ext cx="329184" cy="329184"/>
          </a:xfrm>
          <a:prstGeom prst="ellipse">
            <a:avLst/>
          </a:prstGeom>
          <a:solidFill>
            <a:srgbClr val="FFC145"/>
          </a:solidFill>
          <a:ln w="12700">
            <a:solidFill>
              <a:srgbClr val="FFC145"/>
            </a:solidFill>
            <a:prstDash val="solid"/>
          </a:ln>
        </p:spPr>
      </p:sp>
      <p:sp>
        <p:nvSpPr>
          <p:cNvPr id="22" name="Text 20"/>
          <p:cNvSpPr txBox="1"/>
          <p:nvPr/>
        </p:nvSpPr>
        <p:spPr>
          <a:xfrm>
            <a:off x="640080" y="4389120"/>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6</a:t>
            </a:r>
            <a:endParaRPr lang="en-US" sz="1300" dirty="0"/>
          </a:p>
        </p:txBody>
      </p:sp>
      <p:sp>
        <p:nvSpPr>
          <p:cNvPr id="23" name="Text 21"/>
          <p:cNvSpPr txBox="1"/>
          <p:nvPr/>
        </p:nvSpPr>
        <p:spPr>
          <a:xfrm>
            <a:off x="1115568" y="4370832"/>
            <a:ext cx="4892040" cy="411480"/>
          </a:xfrm>
          <a:prstGeom prst="rect">
            <a:avLst/>
          </a:prstGeom>
          <a:noFill/>
          <a:ln/>
        </p:spPr>
        <p:txBody>
          <a:bodyPr wrap="square" lIns="0" tIns="0" rIns="0" bIns="0" rtlCol="0" anchor="ctr"/>
          <a:lstStyle/>
          <a:p>
            <a:pPr indent="0" marL="0">
              <a:buNone/>
            </a:pPr>
            <a:r>
              <a:rPr lang="en-US" sz="950" dirty="0">
                <a:solidFill>
                  <a:srgbClr val="DCE6F3"/>
                </a:solidFill>
                <a:latin typeface="Calibri" pitchFamily="34" charset="0"/>
                <a:ea typeface="Calibri" pitchFamily="34" charset="-122"/>
                <a:cs typeface="Calibri" pitchFamily="34" charset="-120"/>
              </a:rPr>
              <a:t>Spearman = r on the ranks. Fixes curves and outliers, not U-shapes.</a:t>
            </a:r>
            <a:endParaRPr lang="en-US" sz="950" dirty="0"/>
          </a:p>
        </p:txBody>
      </p:sp>
      <p:sp>
        <p:nvSpPr>
          <p:cNvPr id="24" name="Shape 22"/>
          <p:cNvSpPr/>
          <p:nvPr/>
        </p:nvSpPr>
        <p:spPr>
          <a:xfrm>
            <a:off x="6263640" y="1554480"/>
            <a:ext cx="329184" cy="329184"/>
          </a:xfrm>
          <a:prstGeom prst="ellipse">
            <a:avLst/>
          </a:prstGeom>
          <a:solidFill>
            <a:srgbClr val="3E7CB1"/>
          </a:solidFill>
          <a:ln w="12700">
            <a:solidFill>
              <a:srgbClr val="3E7CB1"/>
            </a:solidFill>
            <a:prstDash val="solid"/>
          </a:ln>
        </p:spPr>
      </p:sp>
      <p:sp>
        <p:nvSpPr>
          <p:cNvPr id="25" name="Text 23"/>
          <p:cNvSpPr txBox="1"/>
          <p:nvPr/>
        </p:nvSpPr>
        <p:spPr>
          <a:xfrm>
            <a:off x="6263640" y="155448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26" name="Text 24"/>
          <p:cNvSpPr txBox="1"/>
          <p:nvPr/>
        </p:nvSpPr>
        <p:spPr>
          <a:xfrm>
            <a:off x="6739128" y="1536192"/>
            <a:ext cx="4892040" cy="411480"/>
          </a:xfrm>
          <a:prstGeom prst="rect">
            <a:avLst/>
          </a:prstGeom>
          <a:noFill/>
          <a:ln/>
        </p:spPr>
        <p:txBody>
          <a:bodyPr wrap="square" lIns="0" tIns="0" rIns="0" bIns="0" rtlCol="0" anchor="ctr"/>
          <a:lstStyle/>
          <a:p>
            <a:pPr indent="0" marL="0">
              <a:buNone/>
            </a:pPr>
            <a:r>
              <a:rPr lang="en-US" sz="950" dirty="0">
                <a:solidFill>
                  <a:srgbClr val="DCE6F3"/>
                </a:solidFill>
                <a:latin typeface="Calibri" pitchFamily="34" charset="0"/>
                <a:ea typeface="Calibri" pitchFamily="34" charset="-122"/>
                <a:cs typeface="Calibri" pitchFamily="34" charset="-120"/>
              </a:rPr>
              <a:t>⚠ One point moved r from −0.14 to +0.64, at p = 4.7e-13.</a:t>
            </a:r>
            <a:endParaRPr lang="en-US" sz="950" dirty="0"/>
          </a:p>
        </p:txBody>
      </p:sp>
      <p:sp>
        <p:nvSpPr>
          <p:cNvPr id="27" name="Shape 25"/>
          <p:cNvSpPr/>
          <p:nvPr/>
        </p:nvSpPr>
        <p:spPr>
          <a:xfrm>
            <a:off x="6263640" y="2121408"/>
            <a:ext cx="329184" cy="329184"/>
          </a:xfrm>
          <a:prstGeom prst="ellipse">
            <a:avLst/>
          </a:prstGeom>
          <a:solidFill>
            <a:srgbClr val="3E7CB1"/>
          </a:solidFill>
          <a:ln w="12700">
            <a:solidFill>
              <a:srgbClr val="3E7CB1"/>
            </a:solidFill>
            <a:prstDash val="solid"/>
          </a:ln>
        </p:spPr>
      </p:sp>
      <p:sp>
        <p:nvSpPr>
          <p:cNvPr id="28" name="Text 26"/>
          <p:cNvSpPr txBox="1"/>
          <p:nvPr/>
        </p:nvSpPr>
        <p:spPr>
          <a:xfrm>
            <a:off x="6263640" y="212140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29" name="Text 27"/>
          <p:cNvSpPr txBox="1"/>
          <p:nvPr/>
        </p:nvSpPr>
        <p:spPr>
          <a:xfrm>
            <a:off x="6739128" y="2103120"/>
            <a:ext cx="4892040" cy="411480"/>
          </a:xfrm>
          <a:prstGeom prst="rect">
            <a:avLst/>
          </a:prstGeom>
          <a:noFill/>
          <a:ln/>
        </p:spPr>
        <p:txBody>
          <a:bodyPr wrap="square" lIns="0" tIns="0" rIns="0" bIns="0" rtlCol="0" anchor="ctr"/>
          <a:lstStyle/>
          <a:p>
            <a:pPr indent="0" marL="0">
              <a:buNone/>
            </a:pPr>
            <a:r>
              <a:rPr lang="en-US" sz="950" dirty="0">
                <a:solidFill>
                  <a:srgbClr val="DCE6F3"/>
                </a:solidFill>
                <a:latin typeface="Calibri" pitchFamily="34" charset="0"/>
                <a:ea typeface="Calibri" pitchFamily="34" charset="-122"/>
                <a:cs typeface="Calibri" pitchFamily="34" charset="-120"/>
              </a:rPr>
              <a:t>⚠ r = 0.5 from n = 10 has a CI of −0.19 to +0.86. You learned nothing.</a:t>
            </a:r>
            <a:endParaRPr lang="en-US" sz="950" dirty="0"/>
          </a:p>
        </p:txBody>
      </p:sp>
      <p:sp>
        <p:nvSpPr>
          <p:cNvPr id="30" name="Shape 28"/>
          <p:cNvSpPr/>
          <p:nvPr/>
        </p:nvSpPr>
        <p:spPr>
          <a:xfrm>
            <a:off x="6263640" y="2688336"/>
            <a:ext cx="329184" cy="329184"/>
          </a:xfrm>
          <a:prstGeom prst="ellipse">
            <a:avLst/>
          </a:prstGeom>
          <a:solidFill>
            <a:srgbClr val="3E7CB1"/>
          </a:solidFill>
          <a:ln w="12700">
            <a:solidFill>
              <a:srgbClr val="3E7CB1"/>
            </a:solidFill>
            <a:prstDash val="solid"/>
          </a:ln>
        </p:spPr>
      </p:sp>
      <p:sp>
        <p:nvSpPr>
          <p:cNvPr id="31" name="Text 29"/>
          <p:cNvSpPr txBox="1"/>
          <p:nvPr/>
        </p:nvSpPr>
        <p:spPr>
          <a:xfrm>
            <a:off x="6263640" y="268833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32" name="Text 30"/>
          <p:cNvSpPr txBox="1"/>
          <p:nvPr/>
        </p:nvSpPr>
        <p:spPr>
          <a:xfrm>
            <a:off x="6739128" y="2670048"/>
            <a:ext cx="4892040" cy="411480"/>
          </a:xfrm>
          <a:prstGeom prst="rect">
            <a:avLst/>
          </a:prstGeom>
          <a:noFill/>
          <a:ln/>
        </p:spPr>
        <p:txBody>
          <a:bodyPr wrap="square" lIns="0" tIns="0" rIns="0" bIns="0" rtlCol="0" anchor="ctr"/>
          <a:lstStyle/>
          <a:p>
            <a:pPr indent="0" marL="0">
              <a:buNone/>
            </a:pPr>
            <a:r>
              <a:rPr lang="en-US" sz="950" dirty="0">
                <a:solidFill>
                  <a:srgbClr val="DCE6F3"/>
                </a:solidFill>
                <a:latin typeface="Calibri" pitchFamily="34" charset="0"/>
                <a:ea typeface="Calibri" pitchFamily="34" charset="-122"/>
                <a:cs typeface="Calibri" pitchFamily="34" charset="-120"/>
              </a:rPr>
              <a:t>⚠ At n = 100,000, r = 0.006 is “significant” and explains 0.004%.</a:t>
            </a:r>
            <a:endParaRPr lang="en-US" sz="950" dirty="0"/>
          </a:p>
        </p:txBody>
      </p:sp>
      <p:sp>
        <p:nvSpPr>
          <p:cNvPr id="33" name="Shape 31"/>
          <p:cNvSpPr/>
          <p:nvPr/>
        </p:nvSpPr>
        <p:spPr>
          <a:xfrm>
            <a:off x="6263640" y="3255264"/>
            <a:ext cx="329184" cy="329184"/>
          </a:xfrm>
          <a:prstGeom prst="ellipse">
            <a:avLst/>
          </a:prstGeom>
          <a:solidFill>
            <a:srgbClr val="3E7CB1"/>
          </a:solidFill>
          <a:ln w="12700">
            <a:solidFill>
              <a:srgbClr val="3E7CB1"/>
            </a:solidFill>
            <a:prstDash val="solid"/>
          </a:ln>
        </p:spPr>
      </p:sp>
      <p:sp>
        <p:nvSpPr>
          <p:cNvPr id="34" name="Text 32"/>
          <p:cNvSpPr txBox="1"/>
          <p:nvPr/>
        </p:nvSpPr>
        <p:spPr>
          <a:xfrm>
            <a:off x="6263640" y="325526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35" name="Text 33"/>
          <p:cNvSpPr txBox="1"/>
          <p:nvPr/>
        </p:nvSpPr>
        <p:spPr>
          <a:xfrm>
            <a:off x="6739128" y="3236976"/>
            <a:ext cx="4892040" cy="411480"/>
          </a:xfrm>
          <a:prstGeom prst="rect">
            <a:avLst/>
          </a:prstGeom>
          <a:noFill/>
          <a:ln/>
        </p:spPr>
        <p:txBody>
          <a:bodyPr wrap="square" lIns="0" tIns="0" rIns="0" bIns="0" rtlCol="0" anchor="ctr"/>
          <a:lstStyle/>
          <a:p>
            <a:pPr indent="0" marL="0">
              <a:buNone/>
            </a:pPr>
            <a:r>
              <a:rPr lang="en-US" sz="950" dirty="0">
                <a:solidFill>
                  <a:srgbClr val="DCE6F3"/>
                </a:solidFill>
                <a:latin typeface="Calibri" pitchFamily="34" charset="0"/>
                <a:ea typeface="Calibri" pitchFamily="34" charset="-122"/>
                <a:cs typeface="Calibri" pitchFamily="34" charset="-120"/>
              </a:rPr>
              <a:t>Five explanations: chance, confounding, reverse, selection — and cause.</a:t>
            </a:r>
            <a:endParaRPr lang="en-US" sz="950" dirty="0"/>
          </a:p>
        </p:txBody>
      </p:sp>
      <p:sp>
        <p:nvSpPr>
          <p:cNvPr id="36" name="Shape 34"/>
          <p:cNvSpPr/>
          <p:nvPr/>
        </p:nvSpPr>
        <p:spPr>
          <a:xfrm>
            <a:off x="6263640" y="3822192"/>
            <a:ext cx="329184" cy="329184"/>
          </a:xfrm>
          <a:prstGeom prst="ellipse">
            <a:avLst/>
          </a:prstGeom>
          <a:solidFill>
            <a:srgbClr val="3E7CB1"/>
          </a:solidFill>
          <a:ln w="12700">
            <a:solidFill>
              <a:srgbClr val="3E7CB1"/>
            </a:solidFill>
            <a:prstDash val="solid"/>
          </a:ln>
        </p:spPr>
      </p:sp>
      <p:sp>
        <p:nvSpPr>
          <p:cNvPr id="37" name="Text 35"/>
          <p:cNvSpPr txBox="1"/>
          <p:nvPr/>
        </p:nvSpPr>
        <p:spPr>
          <a:xfrm>
            <a:off x="6263640" y="382219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38" name="Text 36"/>
          <p:cNvSpPr txBox="1"/>
          <p:nvPr/>
        </p:nvSpPr>
        <p:spPr>
          <a:xfrm>
            <a:off x="6739128" y="3803904"/>
            <a:ext cx="4892040" cy="411480"/>
          </a:xfrm>
          <a:prstGeom prst="rect">
            <a:avLst/>
          </a:prstGeom>
          <a:noFill/>
          <a:ln/>
        </p:spPr>
        <p:txBody>
          <a:bodyPr wrap="square" lIns="0" tIns="0" rIns="0" bIns="0" rtlCol="0" anchor="ctr"/>
          <a:lstStyle/>
          <a:p>
            <a:pPr indent="0" marL="0">
              <a:buNone/>
            </a:pPr>
            <a:r>
              <a:rPr lang="en-US" sz="950" dirty="0">
                <a:solidFill>
                  <a:srgbClr val="DCE6F3"/>
                </a:solidFill>
                <a:latin typeface="Calibri" pitchFamily="34" charset="0"/>
                <a:ea typeface="Calibri" pitchFamily="34" charset="-122"/>
                <a:cs typeface="Calibri" pitchFamily="34" charset="-120"/>
              </a:rPr>
              <a:t>⚠ Selection manufactured r = −0.73 between two independent variables.</a:t>
            </a:r>
            <a:endParaRPr lang="en-US" sz="950" dirty="0"/>
          </a:p>
        </p:txBody>
      </p:sp>
      <p:sp>
        <p:nvSpPr>
          <p:cNvPr id="39" name="Shape 37"/>
          <p:cNvSpPr/>
          <p:nvPr/>
        </p:nvSpPr>
        <p:spPr>
          <a:xfrm>
            <a:off x="6263640" y="4389120"/>
            <a:ext cx="329184" cy="329184"/>
          </a:xfrm>
          <a:prstGeom prst="ellipse">
            <a:avLst/>
          </a:prstGeom>
          <a:solidFill>
            <a:srgbClr val="3E7CB1"/>
          </a:solidFill>
          <a:ln w="12700">
            <a:solidFill>
              <a:srgbClr val="3E7CB1"/>
            </a:solidFill>
            <a:prstDash val="solid"/>
          </a:ln>
        </p:spPr>
      </p:sp>
      <p:sp>
        <p:nvSpPr>
          <p:cNvPr id="40" name="Text 38"/>
          <p:cNvSpPr txBox="1"/>
          <p:nvPr/>
        </p:nvSpPr>
        <p:spPr>
          <a:xfrm>
            <a:off x="6263640" y="438912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1" name="Text 39"/>
          <p:cNvSpPr txBox="1"/>
          <p:nvPr/>
        </p:nvSpPr>
        <p:spPr>
          <a:xfrm>
            <a:off x="6739128" y="4370832"/>
            <a:ext cx="4892040" cy="411480"/>
          </a:xfrm>
          <a:prstGeom prst="rect">
            <a:avLst/>
          </a:prstGeom>
          <a:noFill/>
          <a:ln/>
        </p:spPr>
        <p:txBody>
          <a:bodyPr wrap="square" lIns="0" tIns="0" rIns="0" bIns="0" rtlCol="0" anchor="ctr"/>
          <a:lstStyle/>
          <a:p>
            <a:pPr indent="0" marL="0">
              <a:buNone/>
            </a:pPr>
            <a:r>
              <a:rPr lang="en-US" sz="950" dirty="0">
                <a:solidFill>
                  <a:srgbClr val="DCE6F3"/>
                </a:solidFill>
                <a:latin typeface="Calibri" pitchFamily="34" charset="0"/>
                <a:ea typeface="Calibri" pitchFamily="34" charset="-122"/>
                <a:cs typeface="Calibri" pitchFamily="34" charset="-120"/>
              </a:rPr>
              <a:t>⚠ df.corr() on 20 columns is 190 hypothesis tests, not one picture.</a:t>
            </a:r>
            <a:endParaRPr lang="en-US" sz="950" dirty="0"/>
          </a:p>
        </p:txBody>
      </p:sp>
      <p:sp>
        <p:nvSpPr>
          <p:cNvPr id="42" name="Shape 40"/>
          <p:cNvSpPr/>
          <p:nvPr/>
        </p:nvSpPr>
        <p:spPr>
          <a:xfrm>
            <a:off x="640080" y="5230368"/>
            <a:ext cx="5349240" cy="1097280"/>
          </a:xfrm>
          <a:prstGeom prst="roundRect">
            <a:avLst>
              <a:gd name="adj" fmla="val 7500"/>
            </a:avLst>
          </a:prstGeom>
          <a:solidFill>
            <a:srgbClr val="1E3151"/>
          </a:solidFill>
          <a:ln w="12700">
            <a:solidFill>
              <a:srgbClr val="333333"/>
            </a:solidFill>
            <a:prstDash val="solid"/>
          </a:ln>
        </p:spPr>
      </p:sp>
      <p:sp>
        <p:nvSpPr>
          <p:cNvPr id="43" name="Text 41"/>
          <p:cNvSpPr txBox="1"/>
          <p:nvPr/>
        </p:nvSpPr>
        <p:spPr>
          <a:xfrm>
            <a:off x="868680" y="5358384"/>
            <a:ext cx="4846320" cy="274320"/>
          </a:xfrm>
          <a:prstGeom prst="rect">
            <a:avLst/>
          </a:prstGeom>
          <a:noFill/>
          <a:ln/>
        </p:spPr>
        <p:txBody>
          <a:bodyPr wrap="square" lIns="0" tIns="0" rIns="0" bIns="0" rtlCol="0" anchor="ctr"/>
          <a:lstStyle/>
          <a:p>
            <a:pPr indent="0" marL="0">
              <a:buNone/>
            </a:pPr>
            <a:r>
              <a:rPr lang="en-US" sz="1300" b="1" dirty="0">
                <a:solidFill>
                  <a:srgbClr val="FFC145"/>
                </a:solidFill>
                <a:latin typeface="Calibri" pitchFamily="34" charset="0"/>
                <a:ea typeface="Calibri" pitchFamily="34" charset="-122"/>
                <a:cs typeface="Calibri" pitchFamily="34" charset="-120"/>
              </a:rPr>
              <a:t>Homework</a:t>
            </a:r>
            <a:endParaRPr lang="en-US" sz="1300" dirty="0"/>
          </a:p>
        </p:txBody>
      </p:sp>
      <p:sp>
        <p:nvSpPr>
          <p:cNvPr id="44" name="Text 42"/>
          <p:cNvSpPr txBox="1"/>
          <p:nvPr/>
        </p:nvSpPr>
        <p:spPr>
          <a:xfrm>
            <a:off x="868680" y="5632704"/>
            <a:ext cx="4892040" cy="658368"/>
          </a:xfrm>
          <a:prstGeom prst="rect">
            <a:avLst/>
          </a:prstGeom>
          <a:noFill/>
          <a:ln/>
        </p:spPr>
        <p:txBody>
          <a:bodyPr wrap="square" lIns="0" tIns="0" rIns="0" bIns="0" rtlCol="0" anchor="ctr"/>
          <a:lstStyle/>
          <a:p>
            <a:pPr indent="0" marL="0">
              <a:lnSpc>
                <a:spcPct val="110000"/>
              </a:lnSpc>
              <a:buNone/>
            </a:pPr>
            <a:r>
              <a:rPr lang="en-US" sz="950" dirty="0">
                <a:solidFill>
                  <a:srgbClr val="AFC2DC"/>
                </a:solidFill>
                <a:latin typeface="Calibri" pitchFamily="34" charset="0"/>
                <a:ea typeface="Calibri" pitchFamily="34" charset="-122"/>
                <a:cs typeface="Calibri" pitchFamily="34" charset="-120"/>
              </a:rPr>
              <a:t>Run correlate() on three pairs of columns from your Day 21 project and report all five numbers  ·  Find a news headline built on a correlation and work the checklist on it  ·  Take one correlation you believe is causal and name the confounder you would need to rule out</a:t>
            </a:r>
            <a:endParaRPr lang="en-US" sz="950" dirty="0"/>
          </a:p>
        </p:txBody>
      </p:sp>
      <p:sp>
        <p:nvSpPr>
          <p:cNvPr id="45" name="Shape 43"/>
          <p:cNvSpPr/>
          <p:nvPr/>
        </p:nvSpPr>
        <p:spPr>
          <a:xfrm>
            <a:off x="6263640" y="5230368"/>
            <a:ext cx="5349240" cy="1097280"/>
          </a:xfrm>
          <a:prstGeom prst="roundRect">
            <a:avLst>
              <a:gd name="adj" fmla="val 7500"/>
            </a:avLst>
          </a:prstGeom>
          <a:solidFill>
            <a:srgbClr val="1E3151"/>
          </a:solidFill>
          <a:ln w="12700">
            <a:solidFill>
              <a:srgbClr val="333333"/>
            </a:solidFill>
            <a:prstDash val="solid"/>
          </a:ln>
        </p:spPr>
      </p:sp>
      <p:sp>
        <p:nvSpPr>
          <p:cNvPr id="46" name="Text 44"/>
          <p:cNvSpPr txBox="1"/>
          <p:nvPr/>
        </p:nvSpPr>
        <p:spPr>
          <a:xfrm>
            <a:off x="6492240" y="5358384"/>
            <a:ext cx="4846320" cy="274320"/>
          </a:xfrm>
          <a:prstGeom prst="rect">
            <a:avLst/>
          </a:prstGeom>
          <a:noFill/>
          <a:ln/>
        </p:spPr>
        <p:txBody>
          <a:bodyPr wrap="square" lIns="0" tIns="0" rIns="0" bIns="0" rtlCol="0" anchor="ctr"/>
          <a:lstStyle/>
          <a:p>
            <a:pPr indent="0" marL="0">
              <a:buNone/>
            </a:pPr>
            <a:r>
              <a:rPr lang="en-US" sz="1300" b="1" dirty="0">
                <a:solidFill>
                  <a:srgbClr val="FFC145"/>
                </a:solidFill>
                <a:latin typeface="Calibri" pitchFamily="34" charset="0"/>
                <a:ea typeface="Calibri" pitchFamily="34" charset="-122"/>
                <a:cs typeface="Calibri" pitchFamily="34" charset="-120"/>
              </a:rPr>
              <a:t>Next class  —  Topic 2.10</a:t>
            </a:r>
            <a:endParaRPr lang="en-US" sz="1300" dirty="0"/>
          </a:p>
        </p:txBody>
      </p:sp>
      <p:sp>
        <p:nvSpPr>
          <p:cNvPr id="47" name="Text 45"/>
          <p:cNvSpPr txBox="1"/>
          <p:nvPr/>
        </p:nvSpPr>
        <p:spPr>
          <a:xfrm>
            <a:off x="6492240" y="5632704"/>
            <a:ext cx="4892040" cy="658368"/>
          </a:xfrm>
          <a:prstGeom prst="rect">
            <a:avLst/>
          </a:prstGeom>
          <a:noFill/>
          <a:ln/>
        </p:spPr>
        <p:txBody>
          <a:bodyPr wrap="square" lIns="0" tIns="0" rIns="0" bIns="0" rtlCol="0" anchor="ctr"/>
          <a:lstStyle/>
          <a:p>
            <a:pPr indent="0" marL="0">
              <a:lnSpc>
                <a:spcPct val="110000"/>
              </a:lnSpc>
              <a:buNone/>
            </a:pPr>
            <a:r>
              <a:rPr lang="en-US" sz="950" dirty="0">
                <a:solidFill>
                  <a:srgbClr val="AFC2DC"/>
                </a:solidFill>
                <a:latin typeface="Calibri" pitchFamily="34" charset="0"/>
                <a:ea typeface="Calibri" pitchFamily="34" charset="-122"/>
                <a:cs typeface="Calibri" pitchFamily="34" charset="-120"/>
              </a:rPr>
              <a:t>The statistics mini project. Everything from Day 23 onwards, applied end to end on a real dataset — describe it, test something, and report it honestly enough that someone could check you.</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29 - Correlation</dc:title>
  <dc:subject>PptxGenJS Presentation</dc:subject>
  <dc:creator>Data Science Program</dc:creator>
  <cp:lastModifiedBy>Data Science Program</cp:lastModifiedBy>
  <cp:revision>1</cp:revision>
  <dcterms:created xsi:type="dcterms:W3CDTF">2026-10-15T04:55:40Z</dcterms:created>
  <dcterms:modified xsi:type="dcterms:W3CDTF">2026-10-15T04:55:40Z</dcterms:modified>
</cp:coreProperties>
</file>