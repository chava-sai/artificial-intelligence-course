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Day 11, and the last topic of the Python module. Two halves that belong together: handling failure properly, and pulling in code written by other people. From tomorrow every session begins with an import.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the Google Form's response summary and project the three lowest-scoring questions. Do not name individuals. The 'redo those specific notebooks' advice is far more actionable than 'revise everything'.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topics in one session because they are both short. Do not let modules get squeezed - it is what every later module depends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principle is the spine of the session. Repeat it whenever a student asks 'should I catch this?'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Deliberately trigger an error in a nested function live and read the traceback out loud, bottom-up. This is the highest-value ten minutes of the day for debugging speed.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Students are often surprised exceptions are just classes. Saying 'except is an isinstance check' makes the ordering rule on the next slide obvious rather than arbitrary.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elif-ordering callback lands well - it is literally the same rule, and they got it wrong in Day 2 practice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else is the least-used block and that is fine - mention it, do not dwell. finally matters more, and the with callback makes it concrete.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a student cannot answer all three, they should not be writing the except block yet. That is a genuinely useful gate.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'return an error string' anti-pattern is extremely common in beginner code. Show how the failure surfaces far from the cause - that is the argument for raising.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'Logging is not handling' is a line worth repeating. Many students think printing the error counts as dealing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Flagging the np/pd aliases now means they arrive at Module 1.11 already knowing the idiom. Small thing, saves confusion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statistics is worth calling out - they will meet mean and median properly in Module 2, and it is nice for them to know Python ships with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students will never need pip in Colab - almost everything is preinstalled. Mention it so the ! prefix is not a mystery when they see it online.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Row 6 is subtle - a class not inheriting from Exception cannot be raised. Worth demonstrating.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closing line is the session in one sentence. Say it slowly and point at both except blocks.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Making this a hard rule for the practice session builds the right instinct. Relax it later when they meet genuine top-level catch-alls.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twelve lines aloud. This closes Module 1's pure-Python half. From tomorrow every session starts with an import, and the loops they wrote on Day 2 start disappearing into vectorised operations.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Shape 0"/>
          <p:cNvSpPr/>
          <p:nvPr/>
        </p:nvSpPr>
        <p:spPr>
          <a:xfrm>
            <a:off x="9509760" y="-1371600"/>
            <a:ext cx="4754880" cy="4754880"/>
          </a:xfrm>
          <a:prstGeom prst="ellipse">
            <a:avLst/>
          </a:prstGeom>
          <a:solidFill>
            <a:srgbClr val="1D3050"/>
          </a:solidFill>
          <a:ln w="12700">
            <a:solidFill>
              <a:srgbClr val="333333"/>
            </a:solidFill>
            <a:prstDash val="solid"/>
          </a:ln>
        </p:spPr>
      </p:sp>
      <p:sp>
        <p:nvSpPr>
          <p:cNvPr id="3" name="Shape 1"/>
          <p:cNvSpPr/>
          <p:nvPr/>
        </p:nvSpPr>
        <p:spPr>
          <a:xfrm>
            <a:off x="10607040" y="4206240"/>
            <a:ext cx="3108960" cy="3108960"/>
          </a:xfrm>
          <a:prstGeom prst="ellipse">
            <a:avLst/>
          </a:prstGeom>
          <a:solidFill>
            <a:srgbClr val="1A2A46"/>
          </a:solidFill>
          <a:ln w="12700">
            <a:solidFill>
              <a:srgbClr val="333333"/>
            </a:solidFill>
            <a:prstDash val="solid"/>
          </a:ln>
        </p:spPr>
      </p:sp>
      <p:sp>
        <p:nvSpPr>
          <p:cNvPr id="4" name="Text 2"/>
          <p:cNvSpPr txBox="1"/>
          <p:nvPr/>
        </p:nvSpPr>
        <p:spPr>
          <a:xfrm>
            <a:off x="822960" y="1417320"/>
            <a:ext cx="8686800" cy="320040"/>
          </a:xfrm>
          <a:prstGeom prst="rect">
            <a:avLst/>
          </a:prstGeom>
          <a:noFill/>
          <a:ln/>
        </p:spPr>
        <p:txBody>
          <a:bodyPr wrap="square" lIns="0" tIns="0" rIns="0" bIns="0" rtlCol="0" anchor="ctr"/>
          <a:lstStyle/>
          <a:p>
            <a:pPr indent="0" marL="0">
              <a:buNone/>
            </a:pPr>
            <a:r>
              <a:rPr lang="en-US" sz="1300" b="1" spc="200" kern="0" dirty="0">
                <a:solidFill>
                  <a:srgbClr val="FFC145"/>
                </a:solidFill>
                <a:latin typeface="Calibri" pitchFamily="34" charset="0"/>
                <a:ea typeface="Calibri" pitchFamily="34" charset="-122"/>
                <a:cs typeface="Calibri" pitchFamily="34" charset="-120"/>
              </a:rPr>
              <a:t>PYTHON FOR DATA SCIENCE  ·  MODULE 1  ·  TOPIC 1.10</a:t>
            </a:r>
            <a:endParaRPr lang="en-US" sz="1300" dirty="0"/>
          </a:p>
        </p:txBody>
      </p:sp>
      <p:sp>
        <p:nvSpPr>
          <p:cNvPr id="5" name="Text 3"/>
          <p:cNvSpPr txBox="1"/>
          <p:nvPr/>
        </p:nvSpPr>
        <p:spPr>
          <a:xfrm>
            <a:off x="822960" y="1874520"/>
            <a:ext cx="8412480" cy="1737360"/>
          </a:xfrm>
          <a:prstGeom prst="rect">
            <a:avLst/>
          </a:prstGeom>
          <a:noFill/>
          <a:ln/>
        </p:spPr>
        <p:txBody>
          <a:bodyPr wrap="square" lIns="0" tIns="0" rIns="0" bIns="0" rtlCol="0" anchor="ctr"/>
          <a:lstStyle/>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Exceptions</a:t>
            </a:r>
            <a:endParaRPr lang="en-US" sz="4600" dirty="0"/>
          </a:p>
          <a:p>
            <a:pPr indent="0" marL="0">
              <a:lnSpc>
                <a:spcPct val="105000"/>
              </a:lnSpc>
              <a:buNone/>
            </a:pPr>
            <a:r>
              <a:rPr lang="en-US" sz="4600" b="1" dirty="0">
                <a:solidFill>
                  <a:srgbClr val="FFFFFF"/>
                </a:solidFill>
                <a:latin typeface="Cambria" pitchFamily="34" charset="0"/>
                <a:ea typeface="Cambria" pitchFamily="34" charset="-122"/>
                <a:cs typeface="Cambria" pitchFamily="34" charset="-120"/>
              </a:rPr>
              <a:t>&amp; Modules</a:t>
            </a:r>
            <a:endParaRPr lang="en-US" sz="4600" dirty="0"/>
          </a:p>
        </p:txBody>
      </p:sp>
      <p:sp>
        <p:nvSpPr>
          <p:cNvPr id="6" name="Text 4"/>
          <p:cNvSpPr txBox="1"/>
          <p:nvPr/>
        </p:nvSpPr>
        <p:spPr>
          <a:xfrm>
            <a:off x="841248" y="3703320"/>
            <a:ext cx="8229600" cy="365760"/>
          </a:xfrm>
          <a:prstGeom prst="rect">
            <a:avLst/>
          </a:prstGeom>
          <a:noFill/>
          <a:ln/>
        </p:spPr>
        <p:txBody>
          <a:bodyPr wrap="square" lIns="0" tIns="0" rIns="0" bIns="0" rtlCol="0" anchor="ctr"/>
          <a:lstStyle/>
          <a:p>
            <a:pPr indent="0" marL="0">
              <a:buNone/>
            </a:pPr>
            <a:r>
              <a:rPr lang="en-US" sz="1800" i="1" dirty="0">
                <a:solidFill>
                  <a:srgbClr val="AFC2DC"/>
                </a:solidFill>
                <a:latin typeface="Calibri" pitchFamily="34" charset="0"/>
                <a:ea typeface="Calibri" pitchFamily="34" charset="-122"/>
                <a:cs typeface="Calibri" pitchFamily="34" charset="-120"/>
              </a:rPr>
              <a:t>Day 11  —  failing well, and using code other people wrote</a:t>
            </a:r>
            <a:endParaRPr lang="en-US" sz="1800" dirty="0"/>
          </a:p>
        </p:txBody>
      </p:sp>
      <p:sp>
        <p:nvSpPr>
          <p:cNvPr id="7" name="Shape 5"/>
          <p:cNvSpPr/>
          <p:nvPr/>
        </p:nvSpPr>
        <p:spPr>
          <a:xfrm>
            <a:off x="822960" y="4526280"/>
            <a:ext cx="2468880" cy="960120"/>
          </a:xfrm>
          <a:prstGeom prst="roundRect">
            <a:avLst>
              <a:gd name="adj" fmla="val 8571"/>
            </a:avLst>
          </a:prstGeom>
          <a:solidFill>
            <a:srgbClr val="1E3151"/>
          </a:solidFill>
          <a:ln w="12700">
            <a:solidFill>
              <a:srgbClr val="1E3151"/>
            </a:solidFill>
            <a:prstDash val="solid"/>
          </a:ln>
        </p:spPr>
      </p:sp>
      <p:sp>
        <p:nvSpPr>
          <p:cNvPr id="8" name="Text 6"/>
          <p:cNvSpPr txBox="1"/>
          <p:nvPr/>
        </p:nvSpPr>
        <p:spPr>
          <a:xfrm>
            <a:off x="10241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90 min</a:t>
            </a:r>
            <a:endParaRPr lang="en-US" sz="2200" dirty="0"/>
          </a:p>
        </p:txBody>
      </p:sp>
      <p:sp>
        <p:nvSpPr>
          <p:cNvPr id="9" name="Text 7"/>
          <p:cNvSpPr txBox="1"/>
          <p:nvPr/>
        </p:nvSpPr>
        <p:spPr>
          <a:xfrm>
            <a:off x="1024128" y="5029200"/>
            <a:ext cx="2103120" cy="320040"/>
          </a:xfrm>
          <a:prstGeom prst="rect">
            <a:avLst/>
          </a:prstGeom>
          <a:noFill/>
          <a:ln/>
        </p:spPr>
        <p:txBody>
          <a:bodyPr wrap="square" lIns="0" tIns="0" rIns="0" bIns="0" rtlCol="0" anchor="ctr"/>
          <a:lstStyle/>
          <a:p>
            <a:pPr indent="0" marL="0">
              <a:buNone/>
            </a:pPr>
            <a:r>
              <a:rPr lang="en-US" sz="1150" dirty="0">
                <a:solidFill>
                  <a:srgbClr val="9DB2CE"/>
                </a:solidFill>
                <a:latin typeface="Calibri" pitchFamily="34" charset="0"/>
                <a:ea typeface="Calibri" pitchFamily="34" charset="-122"/>
                <a:cs typeface="Calibri" pitchFamily="34" charset="-120"/>
              </a:rPr>
              <a:t>Concepts + live code</a:t>
            </a:r>
            <a:endParaRPr lang="en-US" sz="1150" dirty="0"/>
          </a:p>
        </p:txBody>
      </p:sp>
      <p:sp>
        <p:nvSpPr>
          <p:cNvPr id="10" name="Shape 8"/>
          <p:cNvSpPr/>
          <p:nvPr/>
        </p:nvSpPr>
        <p:spPr>
          <a:xfrm>
            <a:off x="3566160" y="4526280"/>
            <a:ext cx="2468880" cy="960120"/>
          </a:xfrm>
          <a:prstGeom prst="roundRect">
            <a:avLst>
              <a:gd name="adj" fmla="val 8571"/>
            </a:avLst>
          </a:prstGeom>
          <a:solidFill>
            <a:srgbClr val="1E3151"/>
          </a:solidFill>
          <a:ln w="12700">
            <a:solidFill>
              <a:srgbClr val="1E3151"/>
            </a:solidFill>
            <a:prstDash val="solid"/>
          </a:ln>
        </p:spPr>
      </p:sp>
      <p:sp>
        <p:nvSpPr>
          <p:cNvPr id="11" name="Text 9"/>
          <p:cNvSpPr txBox="1"/>
          <p:nvPr/>
        </p:nvSpPr>
        <p:spPr>
          <a:xfrm>
            <a:off x="37673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30 min</a:t>
            </a:r>
            <a:endParaRPr lang="en-US" sz="2200" dirty="0"/>
          </a:p>
        </p:txBody>
      </p:sp>
      <p:sp>
        <p:nvSpPr>
          <p:cNvPr id="12" name="Text 10"/>
          <p:cNvSpPr txBox="1"/>
          <p:nvPr/>
        </p:nvSpPr>
        <p:spPr>
          <a:xfrm>
            <a:off x="3767328" y="5029200"/>
            <a:ext cx="2103120" cy="320040"/>
          </a:xfrm>
          <a:prstGeom prst="rect">
            <a:avLst/>
          </a:prstGeom>
          <a:noFill/>
          <a:ln/>
        </p:spPr>
        <p:txBody>
          <a:bodyPr wrap="square" lIns="0" tIns="0" rIns="0" bIns="0" rtlCol="0" anchor="ctr"/>
          <a:lstStyle/>
          <a:p>
            <a:pPr indent="0" marL="0">
              <a:buNone/>
            </a:pPr>
            <a:r>
              <a:rPr lang="en-US" sz="1150" dirty="0">
                <a:solidFill>
                  <a:srgbClr val="9DB2CE"/>
                </a:solidFill>
                <a:latin typeface="Calibri" pitchFamily="34" charset="0"/>
                <a:ea typeface="Calibri" pitchFamily="34" charset="-122"/>
                <a:cs typeface="Calibri" pitchFamily="34" charset="-120"/>
              </a:rPr>
              <a:t>Practice notebook</a:t>
            </a:r>
            <a:endParaRPr lang="en-US" sz="1150" dirty="0"/>
          </a:p>
        </p:txBody>
      </p:sp>
      <p:sp>
        <p:nvSpPr>
          <p:cNvPr id="13" name="Shape 11"/>
          <p:cNvSpPr/>
          <p:nvPr/>
        </p:nvSpPr>
        <p:spPr>
          <a:xfrm>
            <a:off x="6309360" y="4526280"/>
            <a:ext cx="2468880" cy="960120"/>
          </a:xfrm>
          <a:prstGeom prst="roundRect">
            <a:avLst>
              <a:gd name="adj" fmla="val 8571"/>
            </a:avLst>
          </a:prstGeom>
          <a:solidFill>
            <a:srgbClr val="1E3151"/>
          </a:solidFill>
          <a:ln w="12700">
            <a:solidFill>
              <a:srgbClr val="1E3151"/>
            </a:solidFill>
            <a:prstDash val="solid"/>
          </a:ln>
        </p:spPr>
      </p:sp>
      <p:sp>
        <p:nvSpPr>
          <p:cNvPr id="14" name="Text 12"/>
          <p:cNvSpPr txBox="1"/>
          <p:nvPr/>
        </p:nvSpPr>
        <p:spPr>
          <a:xfrm>
            <a:off x="6510528" y="4626864"/>
            <a:ext cx="2103120" cy="384048"/>
          </a:xfrm>
          <a:prstGeom prst="rect">
            <a:avLst/>
          </a:prstGeom>
          <a:noFill/>
          <a:ln/>
        </p:spPr>
        <p:txBody>
          <a:bodyPr wrap="square" lIns="0" tIns="0" rIns="0" bIns="0" rtlCol="0" anchor="ctr"/>
          <a:lstStyle/>
          <a:p>
            <a:pPr indent="0" marL="0">
              <a:buNone/>
            </a:pPr>
            <a:r>
              <a:rPr lang="en-US" sz="2200" b="1" dirty="0">
                <a:solidFill>
                  <a:srgbClr val="FFC145"/>
                </a:solidFill>
                <a:latin typeface="Cambria" pitchFamily="34" charset="0"/>
                <a:ea typeface="Cambria" pitchFamily="34" charset="-122"/>
                <a:cs typeface="Cambria" pitchFamily="34" charset="-120"/>
              </a:rPr>
              <a:t>2</a:t>
            </a:r>
            <a:endParaRPr lang="en-US" sz="2200" dirty="0"/>
          </a:p>
        </p:txBody>
      </p:sp>
      <p:sp>
        <p:nvSpPr>
          <p:cNvPr id="15" name="Text 13"/>
          <p:cNvSpPr txBox="1"/>
          <p:nvPr/>
        </p:nvSpPr>
        <p:spPr>
          <a:xfrm>
            <a:off x="6510528" y="5029200"/>
            <a:ext cx="2103120" cy="320040"/>
          </a:xfrm>
          <a:prstGeom prst="rect">
            <a:avLst/>
          </a:prstGeom>
          <a:noFill/>
          <a:ln/>
        </p:spPr>
        <p:txBody>
          <a:bodyPr wrap="square" lIns="0" tIns="0" rIns="0" bIns="0" rtlCol="0" anchor="ctr"/>
          <a:lstStyle/>
          <a:p>
            <a:pPr indent="0" marL="0">
              <a:buNone/>
            </a:pPr>
            <a:r>
              <a:rPr lang="en-US" sz="1150" dirty="0">
                <a:solidFill>
                  <a:srgbClr val="9DB2CE"/>
                </a:solidFill>
                <a:latin typeface="Calibri" pitchFamily="34" charset="0"/>
                <a:ea typeface="Calibri" pitchFamily="34" charset="-122"/>
                <a:cs typeface="Calibri" pitchFamily="34" charset="-120"/>
              </a:rPr>
              <a:t>Topics in one session</a:t>
            </a:r>
            <a:endParaRPr lang="en-US" sz="1150" dirty="0"/>
          </a:p>
        </p:txBody>
      </p:sp>
      <p:sp>
        <p:nvSpPr>
          <p:cNvPr id="16" name="Shape 14"/>
          <p:cNvSpPr/>
          <p:nvPr/>
        </p:nvSpPr>
        <p:spPr>
          <a:xfrm>
            <a:off x="9098280" y="1371600"/>
            <a:ext cx="2514600" cy="2514600"/>
          </a:xfrm>
          <a:prstGeom prst="roundRect">
            <a:avLst>
              <a:gd name="adj" fmla="val 3636"/>
            </a:avLst>
          </a:prstGeom>
          <a:solidFill>
            <a:srgbClr val="FFFFFF"/>
          </a:solidFill>
          <a:ln w="12700">
            <a:solidFill>
              <a:srgbClr val="333333"/>
            </a:solidFill>
            <a:prstDash val="solid"/>
          </a:ln>
          <a:effectLst>
            <a:outerShdw sx="100000" sy="100000" kx="0" ky="0" algn="bl" rotWithShape="0" blurRad="177800" dist="38100" dir="5400000">
              <a:srgbClr val="000000">
                <a:alpha val="35000"/>
              </a:srgbClr>
            </a:outerShdw>
          </a:effectLst>
        </p:spPr>
      </p:sp>
      <p:pic>
        <p:nvPicPr>
          <p:cNvPr id="17" name="Image 0" descr="/home/claude/day11/bu_logo.png">    </p:cNvPr>
          <p:cNvPicPr>
            <a:picLocks noChangeAspect="1"/>
          </p:cNvPicPr>
          <p:nvPr/>
        </p:nvPicPr>
        <p:blipFill>
          <a:blip r:embed="rId1"/>
          <a:stretch>
            <a:fillRect/>
          </a:stretch>
        </p:blipFill>
        <p:spPr>
          <a:xfrm>
            <a:off x="9400032" y="1737360"/>
            <a:ext cx="1911096" cy="1783080"/>
          </a:xfrm>
          <a:prstGeom prst="rect">
            <a:avLst/>
          </a:prstGeom>
        </p:spPr>
      </p:pic>
      <p:sp>
        <p:nvSpPr>
          <p:cNvPr id="18" name="Text 15"/>
          <p:cNvSpPr txBox="1"/>
          <p:nvPr/>
        </p:nvSpPr>
        <p:spPr>
          <a:xfrm>
            <a:off x="9098280" y="3977640"/>
            <a:ext cx="2514600" cy="274320"/>
          </a:xfrm>
          <a:prstGeom prst="rect">
            <a:avLst/>
          </a:prstGeom>
          <a:noFill/>
          <a:ln/>
        </p:spPr>
        <p:txBody>
          <a:bodyPr wrap="square" lIns="0" tIns="0" rIns="0" bIns="0" rtlCol="0" anchor="ctr"/>
          <a:lstStyle/>
          <a:p>
            <a:pPr algn="ctr" indent="0" marL="0">
              <a:buNone/>
            </a:pPr>
            <a:r>
              <a:rPr lang="en-US" sz="1200" b="1" dirty="0">
                <a:solidFill>
                  <a:srgbClr val="AFC2DC"/>
                </a:solidFill>
                <a:latin typeface="Calibri" pitchFamily="34" charset="0"/>
                <a:ea typeface="Calibri" pitchFamily="34" charset="-122"/>
                <a:cs typeface="Calibri" pitchFamily="34" charset="-120"/>
              </a:rPr>
              <a:t>Boston University</a:t>
            </a:r>
            <a:endParaRPr lang="en-US" sz="1200" dirty="0"/>
          </a:p>
        </p:txBody>
      </p:sp>
      <p:sp>
        <p:nvSpPr>
          <p:cNvPr id="19" name="Text 16"/>
          <p:cNvSpPr txBox="1"/>
          <p:nvPr/>
        </p:nvSpPr>
        <p:spPr>
          <a:xfrm>
            <a:off x="841248" y="5806440"/>
            <a:ext cx="7315200" cy="292608"/>
          </a:xfrm>
          <a:prstGeom prst="rect">
            <a:avLst/>
          </a:prstGeom>
          <a:noFill/>
          <a:ln/>
        </p:spPr>
        <p:txBody>
          <a:bodyPr wrap="square" lIns="0" tIns="0" rIns="0" bIns="0" rtlCol="0" anchor="ctr"/>
          <a:lstStyle/>
          <a:p>
            <a:pPr indent="0" marL="0">
              <a:buNone/>
            </a:pPr>
            <a:r>
              <a:rPr lang="en-US" sz="1300" dirty="0">
                <a:solidFill>
                  <a:srgbClr val="8FA6C4"/>
                </a:solidFill>
                <a:latin typeface="Calibri" pitchFamily="34" charset="0"/>
                <a:ea typeface="Calibri" pitchFamily="34" charset="-122"/>
                <a:cs typeface="Calibri" pitchFamily="34" charset="-120"/>
              </a:rPr>
              <a:t>Prepared &amp; presented by  </a:t>
            </a:r>
            <a:pPr indent="0" marL="0">
              <a:buNone/>
            </a:pPr>
            <a:r>
              <a:rPr lang="en-US" sz="1300" b="1" dirty="0">
                <a:solidFill>
                  <a:srgbClr val="FFC145"/>
                </a:solidFill>
                <a:latin typeface="Calibri" pitchFamily="34" charset="0"/>
                <a:ea typeface="Calibri" pitchFamily="34" charset="-122"/>
                <a:cs typeface="Calibri" pitchFamily="34" charset="-120"/>
              </a:rPr>
              <a:t>Srinivasa Sai Chava</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AFTER THE ASSESSMENT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Where we are</a:t>
            </a:r>
            <a:endParaRPr lang="en-US" sz="3200" dirty="0"/>
          </a:p>
        </p:txBody>
      </p:sp>
      <p:sp>
        <p:nvSpPr>
          <p:cNvPr id="5" name="Shape 3"/>
          <p:cNvSpPr/>
          <p:nvPr/>
        </p:nvSpPr>
        <p:spPr>
          <a:xfrm>
            <a:off x="548640" y="1572768"/>
            <a:ext cx="5486400" cy="2286000"/>
          </a:xfrm>
          <a:prstGeom prst="roundRect">
            <a:avLst>
              <a:gd name="adj" fmla="val 360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You have already met eight exception types</a:t>
            </a:r>
            <a:endParaRPr lang="en-US" sz="1500" dirty="0"/>
          </a:p>
        </p:txBody>
      </p:sp>
      <p:sp>
        <p:nvSpPr>
          <p:cNvPr id="7" name="Shape 5"/>
          <p:cNvSpPr/>
          <p:nvPr/>
        </p:nvSpPr>
        <p:spPr>
          <a:xfrm>
            <a:off x="804672" y="2103120"/>
            <a:ext cx="4983480" cy="1600200"/>
          </a:xfrm>
          <a:prstGeom prst="roundRect">
            <a:avLst>
              <a:gd name="adj" fmla="val 4000"/>
            </a:avLst>
          </a:prstGeom>
          <a:solidFill>
            <a:srgbClr val="1B2B45"/>
          </a:solidFill>
          <a:ln w="12700">
            <a:solidFill>
              <a:srgbClr val="1B2B45"/>
            </a:solidFill>
            <a:prstDash val="solid"/>
          </a:ln>
        </p:spPr>
      </p:sp>
      <p:sp>
        <p:nvSpPr>
          <p:cNvPr id="8" name="Text 6"/>
          <p:cNvSpPr txBox="1"/>
          <p:nvPr/>
        </p:nvSpPr>
        <p:spPr>
          <a:xfrm>
            <a:off x="969264" y="2212848"/>
            <a:ext cx="4654296" cy="138074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ValueError          Day 1  int("abc")</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TypeError           Day 1  "10" + 5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NameError           Day 3  a variable that is not there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UnboundLocalError   Day 3  count = count + 1</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IndexError          Day 4  marks[99]</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KeyError            Day 5  d["missing"]</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AttributeError      Day 7  a missing self.name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FileNotFoundError   Day 9  a file that is not there</a:t>
            </a:r>
            <a:endParaRPr lang="en-US" sz="950" dirty="0"/>
          </a:p>
        </p:txBody>
      </p:sp>
      <p:sp>
        <p:nvSpPr>
          <p:cNvPr id="9" name="Shape 7"/>
          <p:cNvSpPr/>
          <p:nvPr/>
        </p:nvSpPr>
        <p:spPr>
          <a:xfrm>
            <a:off x="6309360" y="1572768"/>
            <a:ext cx="5303520" cy="2286000"/>
          </a:xfrm>
          <a:prstGeom prst="roundRect">
            <a:avLst>
              <a:gd name="adj" fmla="val 36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Today you stop being their victim</a:t>
            </a:r>
            <a:endParaRPr lang="en-US" sz="1500" dirty="0"/>
          </a:p>
        </p:txBody>
      </p:sp>
      <p:sp>
        <p:nvSpPr>
          <p:cNvPr id="11" name="Text 9"/>
          <p:cNvSpPr txBox="1"/>
          <p:nvPr/>
        </p:nvSpPr>
        <p:spPr>
          <a:xfrm>
            <a:off x="6565392" y="2103120"/>
            <a:ext cx="4800600" cy="96012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So far an exception has meant your program stops and you go back to fix the code. That is right during development. But a program that reads a file the user chose, or takes input you cannot control, has to keep working when something goes wrong.</a:t>
            </a:r>
            <a:endParaRPr lang="en-US" sz="1250" dirty="0"/>
          </a:p>
        </p:txBody>
      </p:sp>
      <p:sp>
        <p:nvSpPr>
          <p:cNvPr id="12" name="Text 10"/>
          <p:cNvSpPr txBox="1"/>
          <p:nvPr/>
        </p:nvSpPr>
        <p:spPr>
          <a:xfrm>
            <a:off x="6565392" y="3108960"/>
            <a:ext cx="4800600" cy="640080"/>
          </a:xfrm>
          <a:prstGeom prst="rect">
            <a:avLst/>
          </a:prstGeom>
          <a:noFill/>
          <a:ln/>
        </p:spPr>
        <p:txBody>
          <a:bodyPr wrap="square" lIns="0" tIns="0" rIns="0" bIns="0" rtlCol="0" anchor="ctr"/>
          <a:lstStyle/>
          <a:p>
            <a:pPr indent="0" marL="0">
              <a:lnSpc>
                <a:spcPct val="115000"/>
              </a:lnSpc>
              <a:buNone/>
            </a:pPr>
            <a:r>
              <a:rPr lang="en-US" sz="1250" b="1" dirty="0">
                <a:solidFill>
                  <a:srgbClr val="1F3A5F"/>
                </a:solidFill>
                <a:latin typeface="Calibri" pitchFamily="34" charset="0"/>
                <a:ea typeface="Calibri" pitchFamily="34" charset="-122"/>
                <a:cs typeface="Calibri" pitchFamily="34" charset="-120"/>
              </a:rPr>
              <a:t>Today: decide what should happen instead of crashing — and raise your own errors when something is genuinely wrong.</a:t>
            </a:r>
            <a:endParaRPr lang="en-US" sz="1250" dirty="0"/>
          </a:p>
        </p:txBody>
      </p:sp>
      <p:sp>
        <p:nvSpPr>
          <p:cNvPr id="13" name="Shape 11"/>
          <p:cNvSpPr/>
          <p:nvPr/>
        </p:nvSpPr>
        <p:spPr>
          <a:xfrm>
            <a:off x="548640" y="4114800"/>
            <a:ext cx="11064240" cy="1737360"/>
          </a:xfrm>
          <a:prstGeom prst="roundRect">
            <a:avLst>
              <a:gd name="adj" fmla="val 4737"/>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261104"/>
            <a:ext cx="6400800" cy="292608"/>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Five minutes on the assessment first</a:t>
            </a:r>
            <a:endParaRPr lang="en-US" sz="1450" dirty="0"/>
          </a:p>
        </p:txBody>
      </p:sp>
      <p:sp>
        <p:nvSpPr>
          <p:cNvPr id="15" name="Text 13"/>
          <p:cNvSpPr txBox="1"/>
          <p:nvPr/>
        </p:nvSpPr>
        <p:spPr>
          <a:xfrm>
            <a:off x="868680" y="4590288"/>
            <a:ext cx="10424160" cy="1051560"/>
          </a:xfrm>
          <a:prstGeom prst="rect">
            <a:avLst/>
          </a:prstGeom>
          <a:noFill/>
          <a:ln/>
        </p:spPr>
        <p:txBody>
          <a:bodyPr wrap="square" lIns="0" tIns="0" rIns="0" bIns="0" rtlCol="0" anchor="ctr"/>
          <a:lstStyle/>
          <a:p>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Before we start, we will go through the three questions the class found hardest. If you scored below the class average, the fix is almost never “study more” — it is redoing the practice notebooks for the two or three days those questions came from. Come and see me at the break and I will tell you which ones.</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SESSION PLAN</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How today's two hours are structured</a:t>
            </a:r>
            <a:endParaRPr lang="en-US" sz="3200" dirty="0"/>
          </a:p>
        </p:txBody>
      </p:sp>
      <p:sp>
        <p:nvSpPr>
          <p:cNvPr id="5" name="Shape 3"/>
          <p:cNvSpPr/>
          <p:nvPr/>
        </p:nvSpPr>
        <p:spPr>
          <a:xfrm>
            <a:off x="548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39112"/>
            <a:ext cx="420624" cy="420624"/>
          </a:xfrm>
          <a:prstGeom prst="ellipse">
            <a:avLst/>
          </a:prstGeom>
          <a:solidFill>
            <a:srgbClr val="3E7CB1"/>
          </a:solidFill>
          <a:ln w="12700">
            <a:solidFill>
              <a:srgbClr val="3E7CB1"/>
            </a:solidFill>
            <a:prstDash val="solid"/>
          </a:ln>
        </p:spPr>
      </p:sp>
      <p:sp>
        <p:nvSpPr>
          <p:cNvPr id="7" name="Text 5"/>
          <p:cNvSpPr txBox="1"/>
          <p:nvPr/>
        </p:nvSpPr>
        <p:spPr>
          <a:xfrm>
            <a:off x="804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417320" y="1874520"/>
            <a:ext cx="356616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Reading a traceback</a:t>
            </a:r>
            <a:endParaRPr lang="en-US" sz="1550" dirty="0"/>
          </a:p>
        </p:txBody>
      </p:sp>
      <p:sp>
        <p:nvSpPr>
          <p:cNvPr id="9" name="Text 7"/>
          <p:cNvSpPr txBox="1"/>
          <p:nvPr/>
        </p:nvSpPr>
        <p:spPr>
          <a:xfrm>
            <a:off x="1417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What Python is actually telling you</a:t>
            </a:r>
            <a:endParaRPr lang="en-US" sz="1250" dirty="0"/>
          </a:p>
        </p:txBody>
      </p:sp>
      <p:sp>
        <p:nvSpPr>
          <p:cNvPr id="10" name="Text 8"/>
          <p:cNvSpPr txBox="1"/>
          <p:nvPr/>
        </p:nvSpPr>
        <p:spPr>
          <a:xfrm>
            <a:off x="4709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15 min</a:t>
            </a:r>
            <a:endParaRPr lang="en-US" sz="1300" dirty="0"/>
          </a:p>
        </p:txBody>
      </p:sp>
      <p:sp>
        <p:nvSpPr>
          <p:cNvPr id="11" name="Shape 9"/>
          <p:cNvSpPr/>
          <p:nvPr/>
        </p:nvSpPr>
        <p:spPr>
          <a:xfrm>
            <a:off x="6263640" y="169164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6519672" y="2039112"/>
            <a:ext cx="420624" cy="420624"/>
          </a:xfrm>
          <a:prstGeom prst="ellipse">
            <a:avLst/>
          </a:prstGeom>
          <a:solidFill>
            <a:srgbClr val="3E7CB1"/>
          </a:solidFill>
          <a:ln w="12700">
            <a:solidFill>
              <a:srgbClr val="3E7CB1"/>
            </a:solidFill>
            <a:prstDash val="solid"/>
          </a:ln>
        </p:spPr>
      </p:sp>
      <p:sp>
        <p:nvSpPr>
          <p:cNvPr id="13" name="Text 11"/>
          <p:cNvSpPr txBox="1"/>
          <p:nvPr/>
        </p:nvSpPr>
        <p:spPr>
          <a:xfrm>
            <a:off x="6519672" y="203911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4" name="Text 12"/>
          <p:cNvSpPr txBox="1"/>
          <p:nvPr/>
        </p:nvSpPr>
        <p:spPr>
          <a:xfrm>
            <a:off x="7132320" y="1874520"/>
            <a:ext cx="356616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try / except / else / finally</a:t>
            </a:r>
            <a:endParaRPr lang="en-US" sz="1550" dirty="0"/>
          </a:p>
        </p:txBody>
      </p:sp>
      <p:sp>
        <p:nvSpPr>
          <p:cNvPr id="15" name="Text 13"/>
          <p:cNvSpPr txBox="1"/>
          <p:nvPr/>
        </p:nvSpPr>
        <p:spPr>
          <a:xfrm>
            <a:off x="7132320" y="224028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Catching the right thing, and only that</a:t>
            </a:r>
            <a:endParaRPr lang="en-US" sz="1250" dirty="0"/>
          </a:p>
        </p:txBody>
      </p:sp>
      <p:sp>
        <p:nvSpPr>
          <p:cNvPr id="16" name="Text 14"/>
          <p:cNvSpPr txBox="1"/>
          <p:nvPr/>
        </p:nvSpPr>
        <p:spPr>
          <a:xfrm>
            <a:off x="10424160" y="187452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17" name="Shape 15"/>
          <p:cNvSpPr/>
          <p:nvPr/>
        </p:nvSpPr>
        <p:spPr>
          <a:xfrm>
            <a:off x="548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804672" y="3364992"/>
            <a:ext cx="420624" cy="420624"/>
          </a:xfrm>
          <a:prstGeom prst="ellipse">
            <a:avLst/>
          </a:prstGeom>
          <a:solidFill>
            <a:srgbClr val="3E7CB1"/>
          </a:solidFill>
          <a:ln w="12700">
            <a:solidFill>
              <a:srgbClr val="3E7CB1"/>
            </a:solidFill>
            <a:prstDash val="solid"/>
          </a:ln>
        </p:spPr>
      </p:sp>
      <p:sp>
        <p:nvSpPr>
          <p:cNvPr id="19" name="Text 17"/>
          <p:cNvSpPr txBox="1"/>
          <p:nvPr/>
        </p:nvSpPr>
        <p:spPr>
          <a:xfrm>
            <a:off x="804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0" name="Text 18"/>
          <p:cNvSpPr txBox="1"/>
          <p:nvPr/>
        </p:nvSpPr>
        <p:spPr>
          <a:xfrm>
            <a:off x="1417320" y="3200400"/>
            <a:ext cx="356616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Raising your own</a:t>
            </a:r>
            <a:endParaRPr lang="en-US" sz="1550" dirty="0"/>
          </a:p>
        </p:txBody>
      </p:sp>
      <p:sp>
        <p:nvSpPr>
          <p:cNvPr id="21" name="Text 19"/>
          <p:cNvSpPr txBox="1"/>
          <p:nvPr/>
        </p:nvSpPr>
        <p:spPr>
          <a:xfrm>
            <a:off x="1417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raise, and custom exception classes</a:t>
            </a:r>
            <a:endParaRPr lang="en-US" sz="1250" dirty="0"/>
          </a:p>
        </p:txBody>
      </p:sp>
      <p:sp>
        <p:nvSpPr>
          <p:cNvPr id="22" name="Text 20"/>
          <p:cNvSpPr txBox="1"/>
          <p:nvPr/>
        </p:nvSpPr>
        <p:spPr>
          <a:xfrm>
            <a:off x="4709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20 min</a:t>
            </a:r>
            <a:endParaRPr lang="en-US" sz="1300" dirty="0"/>
          </a:p>
        </p:txBody>
      </p:sp>
      <p:sp>
        <p:nvSpPr>
          <p:cNvPr id="23" name="Shape 21"/>
          <p:cNvSpPr/>
          <p:nvPr/>
        </p:nvSpPr>
        <p:spPr>
          <a:xfrm>
            <a:off x="6263640" y="301752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6519672" y="3364992"/>
            <a:ext cx="420624" cy="420624"/>
          </a:xfrm>
          <a:prstGeom prst="ellipse">
            <a:avLst/>
          </a:prstGeom>
          <a:solidFill>
            <a:srgbClr val="3E7CB1"/>
          </a:solidFill>
          <a:ln w="12700">
            <a:solidFill>
              <a:srgbClr val="3E7CB1"/>
            </a:solidFill>
            <a:prstDash val="solid"/>
          </a:ln>
        </p:spPr>
      </p:sp>
      <p:sp>
        <p:nvSpPr>
          <p:cNvPr id="25" name="Text 23"/>
          <p:cNvSpPr txBox="1"/>
          <p:nvPr/>
        </p:nvSpPr>
        <p:spPr>
          <a:xfrm>
            <a:off x="6519672" y="336499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6" name="Text 24"/>
          <p:cNvSpPr txBox="1"/>
          <p:nvPr/>
        </p:nvSpPr>
        <p:spPr>
          <a:xfrm>
            <a:off x="7132320" y="3200400"/>
            <a:ext cx="356616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Modules &amp; packages</a:t>
            </a:r>
            <a:endParaRPr lang="en-US" sz="1550" dirty="0"/>
          </a:p>
        </p:txBody>
      </p:sp>
      <p:sp>
        <p:nvSpPr>
          <p:cNvPr id="27" name="Text 25"/>
          <p:cNvSpPr txBox="1"/>
          <p:nvPr/>
        </p:nvSpPr>
        <p:spPr>
          <a:xfrm>
            <a:off x="7132320" y="356616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import, the standard library, pip</a:t>
            </a:r>
            <a:endParaRPr lang="en-US" sz="1250" dirty="0"/>
          </a:p>
        </p:txBody>
      </p:sp>
      <p:sp>
        <p:nvSpPr>
          <p:cNvPr id="28" name="Text 26"/>
          <p:cNvSpPr txBox="1"/>
          <p:nvPr/>
        </p:nvSpPr>
        <p:spPr>
          <a:xfrm>
            <a:off x="10424160" y="320040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25 min</a:t>
            </a:r>
            <a:endParaRPr lang="en-US" sz="1300" dirty="0"/>
          </a:p>
        </p:txBody>
      </p:sp>
      <p:sp>
        <p:nvSpPr>
          <p:cNvPr id="29" name="Shape 27"/>
          <p:cNvSpPr/>
          <p:nvPr/>
        </p:nvSpPr>
        <p:spPr>
          <a:xfrm>
            <a:off x="548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Shape 28"/>
          <p:cNvSpPr/>
          <p:nvPr/>
        </p:nvSpPr>
        <p:spPr>
          <a:xfrm>
            <a:off x="804672" y="4690872"/>
            <a:ext cx="420624" cy="420624"/>
          </a:xfrm>
          <a:prstGeom prst="ellipse">
            <a:avLst/>
          </a:prstGeom>
          <a:solidFill>
            <a:srgbClr val="2FA98C"/>
          </a:solidFill>
          <a:ln w="12700">
            <a:solidFill>
              <a:srgbClr val="2FA98C"/>
            </a:solidFill>
            <a:prstDash val="solid"/>
          </a:ln>
        </p:spPr>
      </p:sp>
      <p:sp>
        <p:nvSpPr>
          <p:cNvPr id="31" name="Text 29"/>
          <p:cNvSpPr txBox="1"/>
          <p:nvPr/>
        </p:nvSpPr>
        <p:spPr>
          <a:xfrm>
            <a:off x="804672" y="4690872"/>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32" name="Text 30"/>
          <p:cNvSpPr txBox="1"/>
          <p:nvPr/>
        </p:nvSpPr>
        <p:spPr>
          <a:xfrm>
            <a:off x="1417320" y="4526280"/>
            <a:ext cx="356616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Mini build</a:t>
            </a:r>
            <a:endParaRPr lang="en-US" sz="1550" dirty="0"/>
          </a:p>
        </p:txBody>
      </p:sp>
      <p:sp>
        <p:nvSpPr>
          <p:cNvPr id="33" name="Text 31"/>
          <p:cNvSpPr txBox="1"/>
          <p:nvPr/>
        </p:nvSpPr>
        <p:spPr>
          <a:xfrm>
            <a:off x="1417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A robust CSV loader</a:t>
            </a:r>
            <a:endParaRPr lang="en-US" sz="1250" dirty="0"/>
          </a:p>
        </p:txBody>
      </p:sp>
      <p:sp>
        <p:nvSpPr>
          <p:cNvPr id="34" name="Text 32"/>
          <p:cNvSpPr txBox="1"/>
          <p:nvPr/>
        </p:nvSpPr>
        <p:spPr>
          <a:xfrm>
            <a:off x="4709160" y="4526280"/>
            <a:ext cx="109728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min</a:t>
            </a:r>
            <a:endParaRPr lang="en-US" sz="1300" dirty="0"/>
          </a:p>
        </p:txBody>
      </p:sp>
      <p:sp>
        <p:nvSpPr>
          <p:cNvPr id="35" name="Shape 33"/>
          <p:cNvSpPr/>
          <p:nvPr/>
        </p:nvSpPr>
        <p:spPr>
          <a:xfrm>
            <a:off x="6263640" y="4343400"/>
            <a:ext cx="5440680" cy="1115568"/>
          </a:xfrm>
          <a:prstGeom prst="roundRect">
            <a:avLst>
              <a:gd name="adj" fmla="val 737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6519672" y="4690872"/>
            <a:ext cx="420624" cy="420624"/>
          </a:xfrm>
          <a:prstGeom prst="ellipse">
            <a:avLst/>
          </a:prstGeom>
          <a:solidFill>
            <a:srgbClr val="FFC145"/>
          </a:solidFill>
          <a:ln w="12700">
            <a:solidFill>
              <a:srgbClr val="FFC145"/>
            </a:solidFill>
            <a:prstDash val="solid"/>
          </a:ln>
        </p:spPr>
      </p:sp>
      <p:sp>
        <p:nvSpPr>
          <p:cNvPr id="37" name="Text 35"/>
          <p:cNvSpPr txBox="1"/>
          <p:nvPr/>
        </p:nvSpPr>
        <p:spPr>
          <a:xfrm>
            <a:off x="6519672" y="469087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38" name="Text 36"/>
          <p:cNvSpPr txBox="1"/>
          <p:nvPr/>
        </p:nvSpPr>
        <p:spPr>
          <a:xfrm>
            <a:off x="7132320" y="4526280"/>
            <a:ext cx="3566160" cy="347472"/>
          </a:xfrm>
          <a:prstGeom prst="rect">
            <a:avLst/>
          </a:prstGeom>
          <a:noFill/>
          <a:ln/>
        </p:spPr>
        <p:txBody>
          <a:bodyPr wrap="square" lIns="0" tIns="0" rIns="0" bIns="0" rtlCol="0" anchor="ctr"/>
          <a:lstStyle/>
          <a:p>
            <a:pPr indent="0" marL="0">
              <a:buNone/>
            </a:pPr>
            <a:r>
              <a:rPr lang="en-US" sz="1550" b="1" dirty="0">
                <a:solidFill>
                  <a:srgbClr val="1F3A5F"/>
                </a:solidFill>
                <a:latin typeface="Calibri" pitchFamily="34" charset="0"/>
                <a:ea typeface="Calibri" pitchFamily="34" charset="-122"/>
                <a:cs typeface="Calibri" pitchFamily="34" charset="-120"/>
              </a:rPr>
              <a:t>Practice notebook</a:t>
            </a:r>
            <a:endParaRPr lang="en-US" sz="1550" dirty="0"/>
          </a:p>
        </p:txBody>
      </p:sp>
      <p:sp>
        <p:nvSpPr>
          <p:cNvPr id="39" name="Text 37"/>
          <p:cNvSpPr txBox="1"/>
          <p:nvPr/>
        </p:nvSpPr>
        <p:spPr>
          <a:xfrm>
            <a:off x="7132320" y="4892040"/>
            <a:ext cx="4389120" cy="384048"/>
          </a:xfrm>
          <a:prstGeom prst="rect">
            <a:avLst/>
          </a:prstGeom>
          <a:noFill/>
          <a:ln/>
        </p:spPr>
        <p:txBody>
          <a:bodyPr wrap="square" lIns="0" tIns="0" rIns="0" bIns="0" rtlCol="0" anchor="ctr"/>
          <a:lstStyle/>
          <a:p>
            <a:pPr indent="0" marL="0">
              <a:buNone/>
            </a:pPr>
            <a:r>
              <a:rPr lang="en-US" sz="1250" dirty="0">
                <a:solidFill>
                  <a:srgbClr val="6B7789"/>
                </a:solidFill>
                <a:latin typeface="Calibri" pitchFamily="34" charset="0"/>
                <a:ea typeface="Calibri" pitchFamily="34" charset="-122"/>
                <a:cs typeface="Calibri" pitchFamily="34" charset="-120"/>
              </a:rPr>
              <a:t>You code, I walk around</a:t>
            </a:r>
            <a:endParaRPr lang="en-US" sz="1250" dirty="0"/>
          </a:p>
        </p:txBody>
      </p:sp>
      <p:sp>
        <p:nvSpPr>
          <p:cNvPr id="40" name="Text 38"/>
          <p:cNvSpPr txBox="1"/>
          <p:nvPr/>
        </p:nvSpPr>
        <p:spPr>
          <a:xfrm>
            <a:off x="10424160" y="4526280"/>
            <a:ext cx="1097280" cy="320040"/>
          </a:xfrm>
          <a:prstGeom prst="rect">
            <a:avLst/>
          </a:prstGeom>
          <a:noFill/>
          <a:ln/>
        </p:spPr>
        <p:txBody>
          <a:bodyPr wrap="square" lIns="0" tIns="0" rIns="0" bIns="0" rtlCol="0" anchor="ctr"/>
          <a:lstStyle/>
          <a:p>
            <a:pPr algn="r" indent="0" marL="0">
              <a:buNone/>
            </a:pPr>
            <a:r>
              <a:rPr lang="en-US" sz="1300" b="1" dirty="0">
                <a:solidFill>
                  <a:srgbClr val="E8674C"/>
                </a:solidFill>
                <a:latin typeface="Calibri" pitchFamily="34" charset="0"/>
                <a:ea typeface="Calibri" pitchFamily="34" charset="-122"/>
                <a:cs typeface="Calibri" pitchFamily="34" charset="-120"/>
              </a:rPr>
              <a:t>30 min</a:t>
            </a:r>
            <a:endParaRPr lang="en-US" sz="1300" dirty="0"/>
          </a:p>
        </p:txBody>
      </p:sp>
      <p:sp>
        <p:nvSpPr>
          <p:cNvPr id="41" name="Text 39"/>
          <p:cNvSpPr txBox="1"/>
          <p:nvPr/>
        </p:nvSpPr>
        <p:spPr>
          <a:xfrm>
            <a:off x="548640" y="5806440"/>
            <a:ext cx="11064240" cy="320040"/>
          </a:xfrm>
          <a:prstGeom prst="rect">
            <a:avLst/>
          </a:prstGeom>
          <a:noFill/>
          <a:ln/>
        </p:spPr>
        <p:txBody>
          <a:bodyPr wrap="square" lIns="0" tIns="0" rIns="0" bIns="0" rtlCol="0" anchor="ctr"/>
          <a:lstStyle/>
          <a:p>
            <a:pPr indent="0" marL="0">
              <a:buNone/>
            </a:pPr>
            <a:r>
              <a:rPr lang="en-US" sz="1300" i="1" dirty="0">
                <a:solidFill>
                  <a:srgbClr val="6B7789"/>
                </a:solidFill>
                <a:latin typeface="Calibri" pitchFamily="34" charset="0"/>
                <a:ea typeface="Calibri" pitchFamily="34" charset="-122"/>
                <a:cs typeface="Calibri" pitchFamily="34" charset="-120"/>
              </a:rPr>
              <a:t>The single most useful habit today: catch the SPECIFIC exception you expected, never everything.</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LEARNING OUTCOMES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By the end of today you will be able to</a:t>
            </a:r>
            <a:endParaRPr lang="en-US" sz="3200" dirty="0"/>
          </a:p>
        </p:txBody>
      </p:sp>
      <p:sp>
        <p:nvSpPr>
          <p:cNvPr id="5" name="Shape 3"/>
          <p:cNvSpPr/>
          <p:nvPr/>
        </p:nvSpPr>
        <p:spPr>
          <a:xfrm>
            <a:off x="548640"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2084832"/>
            <a:ext cx="438912" cy="438912"/>
          </a:xfrm>
          <a:prstGeom prst="ellipse">
            <a:avLst/>
          </a:prstGeom>
          <a:solidFill>
            <a:srgbClr val="FFC145"/>
          </a:solidFill>
          <a:ln w="12700">
            <a:solidFill>
              <a:srgbClr val="FFC145"/>
            </a:solidFill>
            <a:prstDash val="solid"/>
          </a:ln>
        </p:spPr>
      </p:sp>
      <p:sp>
        <p:nvSpPr>
          <p:cNvPr id="7" name="Text 5"/>
          <p:cNvSpPr txBox="1"/>
          <p:nvPr/>
        </p:nvSpPr>
        <p:spPr>
          <a:xfrm>
            <a:off x="804672"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804672"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Read</a:t>
            </a:r>
            <a:endParaRPr lang="en-US" sz="1600" dirty="0"/>
          </a:p>
        </p:txBody>
      </p:sp>
      <p:sp>
        <p:nvSpPr>
          <p:cNvPr id="9" name="Text 7"/>
          <p:cNvSpPr txBox="1"/>
          <p:nvPr/>
        </p:nvSpPr>
        <p:spPr>
          <a:xfrm>
            <a:off x="804672"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Work out what a traceback is telling you, and where to look</a:t>
            </a:r>
            <a:endParaRPr lang="en-US" sz="1250" dirty="0"/>
          </a:p>
        </p:txBody>
      </p:sp>
      <p:sp>
        <p:nvSpPr>
          <p:cNvPr id="10" name="Shape 8"/>
          <p:cNvSpPr/>
          <p:nvPr/>
        </p:nvSpPr>
        <p:spPr>
          <a:xfrm>
            <a:off x="3410712"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3666744" y="2084832"/>
            <a:ext cx="438912" cy="438912"/>
          </a:xfrm>
          <a:prstGeom prst="ellipse">
            <a:avLst/>
          </a:prstGeom>
          <a:solidFill>
            <a:srgbClr val="FFC145"/>
          </a:solidFill>
          <a:ln w="12700">
            <a:solidFill>
              <a:srgbClr val="FFC145"/>
            </a:solidFill>
            <a:prstDash val="solid"/>
          </a:ln>
        </p:spPr>
      </p:sp>
      <p:sp>
        <p:nvSpPr>
          <p:cNvPr id="12" name="Text 10"/>
          <p:cNvSpPr txBox="1"/>
          <p:nvPr/>
        </p:nvSpPr>
        <p:spPr>
          <a:xfrm>
            <a:off x="3666744"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3" name="Text 11"/>
          <p:cNvSpPr txBox="1"/>
          <p:nvPr/>
        </p:nvSpPr>
        <p:spPr>
          <a:xfrm>
            <a:off x="3666744"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Handle</a:t>
            </a:r>
            <a:endParaRPr lang="en-US" sz="1600" dirty="0"/>
          </a:p>
        </p:txBody>
      </p:sp>
      <p:sp>
        <p:nvSpPr>
          <p:cNvPr id="14" name="Text 12"/>
          <p:cNvSpPr txBox="1"/>
          <p:nvPr/>
        </p:nvSpPr>
        <p:spPr>
          <a:xfrm>
            <a:off x="3666744"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Catch the exceptions you expect and let the rest through</a:t>
            </a:r>
            <a:endParaRPr lang="en-US" sz="1250" dirty="0"/>
          </a:p>
        </p:txBody>
      </p:sp>
      <p:sp>
        <p:nvSpPr>
          <p:cNvPr id="15" name="Shape 13"/>
          <p:cNvSpPr/>
          <p:nvPr/>
        </p:nvSpPr>
        <p:spPr>
          <a:xfrm>
            <a:off x="6272784"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6528816" y="2084832"/>
            <a:ext cx="438912" cy="438912"/>
          </a:xfrm>
          <a:prstGeom prst="ellipse">
            <a:avLst/>
          </a:prstGeom>
          <a:solidFill>
            <a:srgbClr val="FFC145"/>
          </a:solidFill>
          <a:ln w="12700">
            <a:solidFill>
              <a:srgbClr val="FFC145"/>
            </a:solidFill>
            <a:prstDash val="solid"/>
          </a:ln>
        </p:spPr>
      </p:sp>
      <p:sp>
        <p:nvSpPr>
          <p:cNvPr id="17" name="Text 15"/>
          <p:cNvSpPr txBox="1"/>
          <p:nvPr/>
        </p:nvSpPr>
        <p:spPr>
          <a:xfrm>
            <a:off x="6528816"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8" name="Text 16"/>
          <p:cNvSpPr txBox="1"/>
          <p:nvPr/>
        </p:nvSpPr>
        <p:spPr>
          <a:xfrm>
            <a:off x="6528816"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Raise</a:t>
            </a:r>
            <a:endParaRPr lang="en-US" sz="1600" dirty="0"/>
          </a:p>
        </p:txBody>
      </p:sp>
      <p:sp>
        <p:nvSpPr>
          <p:cNvPr id="19" name="Text 17"/>
          <p:cNvSpPr txBox="1"/>
          <p:nvPr/>
        </p:nvSpPr>
        <p:spPr>
          <a:xfrm>
            <a:off x="6528816"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Signal a problem yourself, with your own exception types</a:t>
            </a:r>
            <a:endParaRPr lang="en-US" sz="1250" dirty="0"/>
          </a:p>
        </p:txBody>
      </p:sp>
      <p:sp>
        <p:nvSpPr>
          <p:cNvPr id="20" name="Shape 18"/>
          <p:cNvSpPr/>
          <p:nvPr/>
        </p:nvSpPr>
        <p:spPr>
          <a:xfrm>
            <a:off x="9134856" y="1828800"/>
            <a:ext cx="2606040" cy="2514600"/>
          </a:xfrm>
          <a:prstGeom prst="roundRect">
            <a:avLst>
              <a:gd name="adj" fmla="val 327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9390888" y="2084832"/>
            <a:ext cx="438912" cy="438912"/>
          </a:xfrm>
          <a:prstGeom prst="ellipse">
            <a:avLst/>
          </a:prstGeom>
          <a:solidFill>
            <a:srgbClr val="FFC145"/>
          </a:solidFill>
          <a:ln w="12700">
            <a:solidFill>
              <a:srgbClr val="FFC145"/>
            </a:solidFill>
            <a:prstDash val="solid"/>
          </a:ln>
        </p:spPr>
      </p:sp>
      <p:sp>
        <p:nvSpPr>
          <p:cNvPr id="22" name="Text 20"/>
          <p:cNvSpPr txBox="1"/>
          <p:nvPr/>
        </p:nvSpPr>
        <p:spPr>
          <a:xfrm>
            <a:off x="9390888" y="2084832"/>
            <a:ext cx="438912" cy="438912"/>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23" name="Text 21"/>
          <p:cNvSpPr txBox="1"/>
          <p:nvPr/>
        </p:nvSpPr>
        <p:spPr>
          <a:xfrm>
            <a:off x="9390888" y="2697480"/>
            <a:ext cx="2103120" cy="411480"/>
          </a:xfrm>
          <a:prstGeom prst="rect">
            <a:avLst/>
          </a:prstGeom>
          <a:noFill/>
          <a:ln/>
        </p:spPr>
        <p:txBody>
          <a:bodyPr wrap="square" lIns="0" tIns="0" rIns="0" bIns="0" rtlCol="0" anchor="ctr"/>
          <a:lstStyle/>
          <a:p>
            <a:pPr indent="0" marL="0">
              <a:buNone/>
            </a:pPr>
            <a:r>
              <a:rPr lang="en-US" sz="1600" b="1" dirty="0">
                <a:solidFill>
                  <a:srgbClr val="1F3A5F"/>
                </a:solidFill>
                <a:latin typeface="Calibri" pitchFamily="34" charset="0"/>
                <a:ea typeface="Calibri" pitchFamily="34" charset="-122"/>
                <a:cs typeface="Calibri" pitchFamily="34" charset="-120"/>
              </a:rPr>
              <a:t>Import</a:t>
            </a:r>
            <a:endParaRPr lang="en-US" sz="1600" dirty="0"/>
          </a:p>
        </p:txBody>
      </p:sp>
      <p:sp>
        <p:nvSpPr>
          <p:cNvPr id="24" name="Text 22"/>
          <p:cNvSpPr txBox="1"/>
          <p:nvPr/>
        </p:nvSpPr>
        <p:spPr>
          <a:xfrm>
            <a:off x="9390888" y="3154680"/>
            <a:ext cx="2121408" cy="1097280"/>
          </a:xfrm>
          <a:prstGeom prst="rect">
            <a:avLst/>
          </a:prstGeom>
          <a:noFill/>
          <a:ln/>
        </p:spPr>
        <p:txBody>
          <a:bodyPr wrap="square" lIns="0" tIns="0" rIns="0" bIns="0" rtlCol="0" anchor="ctr"/>
          <a:lstStyle/>
          <a:p>
            <a:pPr indent="0" marL="0">
              <a:lnSpc>
                <a:spcPct val="115000"/>
              </a:lnSpc>
              <a:buNone/>
            </a:pPr>
            <a:r>
              <a:rPr lang="en-US" sz="1250" dirty="0">
                <a:solidFill>
                  <a:srgbClr val="2B3445"/>
                </a:solidFill>
                <a:latin typeface="Calibri" pitchFamily="34" charset="0"/>
                <a:ea typeface="Calibri" pitchFamily="34" charset="-122"/>
                <a:cs typeface="Calibri" pitchFamily="34" charset="-120"/>
              </a:rPr>
              <a:t>Use the standard library and organise code into modules</a:t>
            </a:r>
            <a:endParaRPr lang="en-US" sz="1250" dirty="0"/>
          </a:p>
        </p:txBody>
      </p:sp>
      <p:sp>
        <p:nvSpPr>
          <p:cNvPr id="25" name="Shape 23"/>
          <p:cNvSpPr/>
          <p:nvPr/>
        </p:nvSpPr>
        <p:spPr>
          <a:xfrm>
            <a:off x="548640" y="4709160"/>
            <a:ext cx="11064240" cy="1097280"/>
          </a:xfrm>
          <a:prstGeom prst="roundRect">
            <a:avLst>
              <a:gd name="adj" fmla="val 75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Text 24"/>
          <p:cNvSpPr txBox="1"/>
          <p:nvPr/>
        </p:nvSpPr>
        <p:spPr>
          <a:xfrm>
            <a:off x="868680" y="4864608"/>
            <a:ext cx="5943600" cy="292608"/>
          </a:xfrm>
          <a:prstGeom prst="rect">
            <a:avLst/>
          </a:prstGeom>
          <a:noFill/>
          <a:ln/>
        </p:spPr>
        <p:txBody>
          <a:bodyPr wrap="square" lIns="0" tIns="0" rIns="0" bIns="0" rtlCol="0" anchor="ctr"/>
          <a:lstStyle/>
          <a:p>
            <a:pPr indent="0" marL="0">
              <a:buNone/>
            </a:pPr>
            <a:r>
              <a:rPr lang="en-US" sz="1400" b="1" dirty="0">
                <a:solidFill>
                  <a:srgbClr val="8A5B00"/>
                </a:solidFill>
                <a:latin typeface="Calibri" pitchFamily="34" charset="0"/>
                <a:ea typeface="Calibri" pitchFamily="34" charset="-122"/>
                <a:cs typeface="Calibri" pitchFamily="34" charset="-120"/>
              </a:rPr>
              <a:t>The principle behind all of it</a:t>
            </a:r>
            <a:endParaRPr lang="en-US" sz="1400" dirty="0"/>
          </a:p>
        </p:txBody>
      </p:sp>
      <p:sp>
        <p:nvSpPr>
          <p:cNvPr id="27" name="Text 25"/>
          <p:cNvSpPr txBox="1"/>
          <p:nvPr/>
        </p:nvSpPr>
        <p:spPr>
          <a:xfrm>
            <a:off x="868680" y="5193792"/>
            <a:ext cx="10424160" cy="502920"/>
          </a:xfrm>
          <a:prstGeom prst="rect">
            <a:avLst/>
          </a:prstGeom>
          <a:noFill/>
          <a:ln/>
        </p:spPr>
        <p:txBody>
          <a:bodyPr wrap="square" lIns="0" tIns="0" rIns="0" bIns="0" rtlCol="0" anchor="ctr"/>
          <a:lstStyle/>
          <a:p>
            <a:pPr indent="0" marL="0">
              <a:buNone/>
            </a:pPr>
            <a:r>
              <a:rPr lang="en-US" sz="1300" dirty="0">
                <a:solidFill>
                  <a:srgbClr val="6B4A0B"/>
                </a:solidFill>
                <a:latin typeface="Calibri" pitchFamily="34" charset="0"/>
                <a:ea typeface="Calibri" pitchFamily="34" charset="-122"/>
                <a:cs typeface="Calibri" pitchFamily="34" charset="-120"/>
              </a:rPr>
              <a:t>An exception you did not expect should stop the program loudly, so you find out about it. An exception you DID expect should be handled quietly, so the program carries on. Most bad error handling comes from confusing the two — usually by catching everything and hiding a real bug for months.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1</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Reading a Traceback</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What Python is telling you  ·  15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shape of a traceback</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Read it bottom-up</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exception hierarchy</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1.1  ·  READING ERRORS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A traceback is a map, not a telling-off</a:t>
            </a:r>
            <a:endParaRPr lang="en-US" sz="3200" dirty="0"/>
          </a:p>
        </p:txBody>
      </p:sp>
      <p:sp>
        <p:nvSpPr>
          <p:cNvPr id="5" name="Shape 3"/>
          <p:cNvSpPr/>
          <p:nvPr/>
        </p:nvSpPr>
        <p:spPr>
          <a:xfrm>
            <a:off x="548640" y="1572768"/>
            <a:ext cx="6400800" cy="2743200"/>
          </a:xfrm>
          <a:prstGeom prst="roundRect">
            <a:avLst>
              <a:gd name="adj" fmla="val 3000"/>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5897880" cy="2331720"/>
          </a:xfrm>
          <a:prstGeom prst="roundRect">
            <a:avLst>
              <a:gd name="adj" fmla="val 2745"/>
            </a:avLst>
          </a:prstGeom>
          <a:solidFill>
            <a:srgbClr val="1B2B45"/>
          </a:solidFill>
          <a:ln w="12700">
            <a:solidFill>
              <a:srgbClr val="1B2B45"/>
            </a:solidFill>
            <a:prstDash val="solid"/>
          </a:ln>
        </p:spPr>
      </p:sp>
      <p:sp>
        <p:nvSpPr>
          <p:cNvPr id="7" name="Text 5"/>
          <p:cNvSpPr txBox="1"/>
          <p:nvPr/>
        </p:nvSpPr>
        <p:spPr>
          <a:xfrm>
            <a:off x="969264" y="1892808"/>
            <a:ext cx="5568696" cy="211226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Traceback (most recent call last):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File "analysis.py", line 12, in &lt;module&gt;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result = average(marks)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File "analysis.py", line 7, in average</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    return total / len(values)</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ZeroDivisionError: division by zero</a:t>
            </a:r>
            <a:endParaRPr lang="en-US" sz="1100" dirty="0"/>
          </a:p>
        </p:txBody>
      </p:sp>
      <p:sp>
        <p:nvSpPr>
          <p:cNvPr id="8" name="Shape 6"/>
          <p:cNvSpPr/>
          <p:nvPr/>
        </p:nvSpPr>
        <p:spPr>
          <a:xfrm>
            <a:off x="7223760" y="1691640"/>
            <a:ext cx="4389120" cy="502920"/>
          </a:xfrm>
          <a:prstGeom prst="roundRect">
            <a:avLst>
              <a:gd name="adj" fmla="val 1636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379208" y="1792224"/>
            <a:ext cx="118872" cy="301752"/>
          </a:xfrm>
          <a:prstGeom prst="roundRect">
            <a:avLst>
              <a:gd name="adj" fmla="val 38462"/>
            </a:avLst>
          </a:prstGeom>
          <a:solidFill>
            <a:srgbClr val="E8674C"/>
          </a:solidFill>
          <a:ln w="12700">
            <a:solidFill>
              <a:srgbClr val="333333"/>
            </a:solidFill>
            <a:prstDash val="solid"/>
          </a:ln>
        </p:spPr>
      </p:sp>
      <p:sp>
        <p:nvSpPr>
          <p:cNvPr id="10" name="Text 8"/>
          <p:cNvSpPr txBox="1"/>
          <p:nvPr/>
        </p:nvSpPr>
        <p:spPr>
          <a:xfrm>
            <a:off x="7607808" y="1719072"/>
            <a:ext cx="228600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Start at the BOTTOM</a:t>
            </a:r>
            <a:endParaRPr lang="en-US" sz="1100" dirty="0"/>
          </a:p>
        </p:txBody>
      </p:sp>
      <p:sp>
        <p:nvSpPr>
          <p:cNvPr id="11" name="Text 9"/>
          <p:cNvSpPr txBox="1"/>
          <p:nvPr/>
        </p:nvSpPr>
        <p:spPr>
          <a:xfrm>
            <a:off x="7607808" y="1947672"/>
            <a:ext cx="388620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last line names the error and describes it</a:t>
            </a:r>
            <a:endParaRPr lang="en-US" sz="950" dirty="0"/>
          </a:p>
        </p:txBody>
      </p:sp>
      <p:sp>
        <p:nvSpPr>
          <p:cNvPr id="12" name="Shape 10"/>
          <p:cNvSpPr/>
          <p:nvPr/>
        </p:nvSpPr>
        <p:spPr>
          <a:xfrm>
            <a:off x="7223760" y="2267712"/>
            <a:ext cx="4389120" cy="502920"/>
          </a:xfrm>
          <a:prstGeom prst="roundRect">
            <a:avLst>
              <a:gd name="adj" fmla="val 1636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379208" y="2368296"/>
            <a:ext cx="118872" cy="301752"/>
          </a:xfrm>
          <a:prstGeom prst="roundRect">
            <a:avLst>
              <a:gd name="adj" fmla="val 38462"/>
            </a:avLst>
          </a:prstGeom>
          <a:solidFill>
            <a:srgbClr val="FFC145"/>
          </a:solidFill>
          <a:ln w="12700">
            <a:solidFill>
              <a:srgbClr val="333333"/>
            </a:solidFill>
            <a:prstDash val="solid"/>
          </a:ln>
        </p:spPr>
      </p:sp>
      <p:sp>
        <p:nvSpPr>
          <p:cNvPr id="14" name="Text 12"/>
          <p:cNvSpPr txBox="1"/>
          <p:nvPr/>
        </p:nvSpPr>
        <p:spPr>
          <a:xfrm>
            <a:off x="7607808" y="2295144"/>
            <a:ext cx="228600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ZeroDivisionError</a:t>
            </a:r>
            <a:endParaRPr lang="en-US" sz="1100" dirty="0"/>
          </a:p>
        </p:txBody>
      </p:sp>
      <p:sp>
        <p:nvSpPr>
          <p:cNvPr id="15" name="Text 13"/>
          <p:cNvSpPr txBox="1"/>
          <p:nvPr/>
        </p:nvSpPr>
        <p:spPr>
          <a:xfrm>
            <a:off x="7607808" y="2523744"/>
            <a:ext cx="388620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TYPE — this is what you would catch</a:t>
            </a:r>
            <a:endParaRPr lang="en-US" sz="950" dirty="0"/>
          </a:p>
        </p:txBody>
      </p:sp>
      <p:sp>
        <p:nvSpPr>
          <p:cNvPr id="16" name="Shape 14"/>
          <p:cNvSpPr/>
          <p:nvPr/>
        </p:nvSpPr>
        <p:spPr>
          <a:xfrm>
            <a:off x="7223760" y="2843784"/>
            <a:ext cx="4389120" cy="502920"/>
          </a:xfrm>
          <a:prstGeom prst="roundRect">
            <a:avLst>
              <a:gd name="adj" fmla="val 1636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379208" y="2944368"/>
            <a:ext cx="118872" cy="301752"/>
          </a:xfrm>
          <a:prstGeom prst="roundRect">
            <a:avLst>
              <a:gd name="adj" fmla="val 38462"/>
            </a:avLst>
          </a:prstGeom>
          <a:solidFill>
            <a:srgbClr val="FFC145"/>
          </a:solidFill>
          <a:ln w="12700">
            <a:solidFill>
              <a:srgbClr val="333333"/>
            </a:solidFill>
            <a:prstDash val="solid"/>
          </a:ln>
        </p:spPr>
      </p:sp>
      <p:sp>
        <p:nvSpPr>
          <p:cNvPr id="18" name="Text 16"/>
          <p:cNvSpPr txBox="1"/>
          <p:nvPr/>
        </p:nvSpPr>
        <p:spPr>
          <a:xfrm>
            <a:off x="7607808" y="2871216"/>
            <a:ext cx="228600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division by zero</a:t>
            </a:r>
            <a:endParaRPr lang="en-US" sz="1100" dirty="0"/>
          </a:p>
        </p:txBody>
      </p:sp>
      <p:sp>
        <p:nvSpPr>
          <p:cNvPr id="19" name="Text 17"/>
          <p:cNvSpPr txBox="1"/>
          <p:nvPr/>
        </p:nvSpPr>
        <p:spPr>
          <a:xfrm>
            <a:off x="7607808" y="3099816"/>
            <a:ext cx="388620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the message — what actually went wrong</a:t>
            </a:r>
            <a:endParaRPr lang="en-US" sz="950" dirty="0"/>
          </a:p>
        </p:txBody>
      </p:sp>
      <p:sp>
        <p:nvSpPr>
          <p:cNvPr id="20" name="Shape 18"/>
          <p:cNvSpPr/>
          <p:nvPr/>
        </p:nvSpPr>
        <p:spPr>
          <a:xfrm>
            <a:off x="7223760" y="3419856"/>
            <a:ext cx="4389120" cy="502920"/>
          </a:xfrm>
          <a:prstGeom prst="roundRect">
            <a:avLst>
              <a:gd name="adj" fmla="val 1636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379208" y="3520440"/>
            <a:ext cx="118872" cy="301752"/>
          </a:xfrm>
          <a:prstGeom prst="roundRect">
            <a:avLst>
              <a:gd name="adj" fmla="val 38462"/>
            </a:avLst>
          </a:prstGeom>
          <a:solidFill>
            <a:srgbClr val="3E7CB1"/>
          </a:solidFill>
          <a:ln w="12700">
            <a:solidFill>
              <a:srgbClr val="333333"/>
            </a:solidFill>
            <a:prstDash val="solid"/>
          </a:ln>
        </p:spPr>
      </p:sp>
      <p:sp>
        <p:nvSpPr>
          <p:cNvPr id="22" name="Text 20"/>
          <p:cNvSpPr txBox="1"/>
          <p:nvPr/>
        </p:nvSpPr>
        <p:spPr>
          <a:xfrm>
            <a:off x="7607808" y="3447288"/>
            <a:ext cx="228600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line 7, in average</a:t>
            </a:r>
            <a:endParaRPr lang="en-US" sz="1100" dirty="0"/>
          </a:p>
        </p:txBody>
      </p:sp>
      <p:sp>
        <p:nvSpPr>
          <p:cNvPr id="23" name="Text 21"/>
          <p:cNvSpPr txBox="1"/>
          <p:nvPr/>
        </p:nvSpPr>
        <p:spPr>
          <a:xfrm>
            <a:off x="7607808" y="3675888"/>
            <a:ext cx="388620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where it broke</a:t>
            </a:r>
            <a:endParaRPr lang="en-US" sz="950" dirty="0"/>
          </a:p>
        </p:txBody>
      </p:sp>
      <p:sp>
        <p:nvSpPr>
          <p:cNvPr id="24" name="Shape 22"/>
          <p:cNvSpPr/>
          <p:nvPr/>
        </p:nvSpPr>
        <p:spPr>
          <a:xfrm>
            <a:off x="7223760" y="3995928"/>
            <a:ext cx="4389120" cy="502920"/>
          </a:xfrm>
          <a:prstGeom prst="roundRect">
            <a:avLst>
              <a:gd name="adj" fmla="val 1636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379208" y="4096512"/>
            <a:ext cx="118872" cy="301752"/>
          </a:xfrm>
          <a:prstGeom prst="roundRect">
            <a:avLst>
              <a:gd name="adj" fmla="val 38462"/>
            </a:avLst>
          </a:prstGeom>
          <a:solidFill>
            <a:srgbClr val="3E7CB1"/>
          </a:solidFill>
          <a:ln w="12700">
            <a:solidFill>
              <a:srgbClr val="333333"/>
            </a:solidFill>
            <a:prstDash val="solid"/>
          </a:ln>
        </p:spPr>
      </p:sp>
      <p:sp>
        <p:nvSpPr>
          <p:cNvPr id="26" name="Text 24"/>
          <p:cNvSpPr txBox="1"/>
          <p:nvPr/>
        </p:nvSpPr>
        <p:spPr>
          <a:xfrm>
            <a:off x="7607808" y="4023360"/>
            <a:ext cx="228600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line 12, in &lt;module&gt;</a:t>
            </a:r>
            <a:endParaRPr lang="en-US" sz="1100" dirty="0"/>
          </a:p>
        </p:txBody>
      </p:sp>
      <p:sp>
        <p:nvSpPr>
          <p:cNvPr id="27" name="Text 25"/>
          <p:cNvSpPr txBox="1"/>
          <p:nvPr/>
        </p:nvSpPr>
        <p:spPr>
          <a:xfrm>
            <a:off x="7607808" y="4251960"/>
            <a:ext cx="388620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who called that — read upwards to trace it back</a:t>
            </a:r>
            <a:endParaRPr lang="en-US" sz="950" dirty="0"/>
          </a:p>
        </p:txBody>
      </p:sp>
      <p:sp>
        <p:nvSpPr>
          <p:cNvPr id="28" name="Shape 26"/>
          <p:cNvSpPr/>
          <p:nvPr/>
        </p:nvSpPr>
        <p:spPr>
          <a:xfrm>
            <a:off x="548640" y="4572000"/>
            <a:ext cx="11064240" cy="1280160"/>
          </a:xfrm>
          <a:prstGeom prst="roundRect">
            <a:avLst>
              <a:gd name="adj" fmla="val 6429"/>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Text 27"/>
          <p:cNvSpPr txBox="1"/>
          <p:nvPr/>
        </p:nvSpPr>
        <p:spPr>
          <a:xfrm>
            <a:off x="868680" y="4718304"/>
            <a:ext cx="68580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“Most recent call last” is the instruction, not a description</a:t>
            </a:r>
            <a:endParaRPr lang="en-US" sz="1450" dirty="0"/>
          </a:p>
        </p:txBody>
      </p:sp>
      <p:sp>
        <p:nvSpPr>
          <p:cNvPr id="30" name="Text 28"/>
          <p:cNvSpPr txBox="1"/>
          <p:nvPr/>
        </p:nvSpPr>
        <p:spPr>
          <a:xfrm>
            <a:off x="868680" y="5029200"/>
            <a:ext cx="10424160" cy="731520"/>
          </a:xfrm>
          <a:prstGeom prst="rect">
            <a:avLst/>
          </a:prstGeom>
          <a:noFill/>
          <a:ln/>
        </p:spPr>
        <p:txBody>
          <a:bodyPr wrap="square" lIns="0" tIns="0" rIns="0" bIns="0" rtlCol="0" anchor="ctr"/>
          <a:lstStyle/>
          <a:p>
            <a:pPr indent="0" marL="0">
              <a:lnSpc>
                <a:spcPct val="115000"/>
              </a:lnSpc>
              <a:buNone/>
            </a:pPr>
            <a:r>
              <a:rPr lang="en-US" sz="1250" dirty="0">
                <a:solidFill>
                  <a:srgbClr val="6B4A0B"/>
                </a:solidFill>
                <a:latin typeface="Calibri" pitchFamily="34" charset="0"/>
                <a:ea typeface="Calibri" pitchFamily="34" charset="-122"/>
                <a:cs typeface="Calibri" pitchFamily="34" charset="-120"/>
              </a:rPr>
              <a:t>The frames are printed oldest first, so the line that actually failed is at the bottom, just above the error. Read the last line, then work upwards only if you need to know who called it. Students who read tracebacks top-down waste a great deal of time on files they never wrote.</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1.2  ·  THE HIERARCHY</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Exceptions are classes — and they inherit</a:t>
            </a:r>
            <a:endParaRPr lang="en-US" sz="3200" dirty="0"/>
          </a:p>
        </p:txBody>
      </p:sp>
      <p:sp>
        <p:nvSpPr>
          <p:cNvPr id="5" name="Shape 3"/>
          <p:cNvSpPr/>
          <p:nvPr/>
        </p:nvSpPr>
        <p:spPr>
          <a:xfrm>
            <a:off x="548640" y="1572768"/>
            <a:ext cx="6035040" cy="2926080"/>
          </a:xfrm>
          <a:prstGeom prst="roundRect">
            <a:avLst>
              <a:gd name="adj" fmla="val 281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548640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A simplified family tree</a:t>
            </a:r>
            <a:endParaRPr lang="en-US" sz="1450" dirty="0"/>
          </a:p>
        </p:txBody>
      </p:sp>
      <p:sp>
        <p:nvSpPr>
          <p:cNvPr id="7" name="Shape 5"/>
          <p:cNvSpPr/>
          <p:nvPr/>
        </p:nvSpPr>
        <p:spPr>
          <a:xfrm>
            <a:off x="2377440" y="2103120"/>
            <a:ext cx="2194560" cy="411480"/>
          </a:xfrm>
          <a:prstGeom prst="roundRect">
            <a:avLst>
              <a:gd name="adj" fmla="val 17778"/>
            </a:avLst>
          </a:prstGeom>
          <a:solidFill>
            <a:srgbClr val="E8674C"/>
          </a:solidFill>
          <a:ln w="12700">
            <a:solidFill>
              <a:srgbClr val="333333"/>
            </a:solidFill>
            <a:prstDash val="solid"/>
          </a:ln>
        </p:spPr>
      </p:sp>
      <p:sp>
        <p:nvSpPr>
          <p:cNvPr id="8" name="Text 6"/>
          <p:cNvSpPr txBox="1"/>
          <p:nvPr/>
        </p:nvSpPr>
        <p:spPr>
          <a:xfrm>
            <a:off x="2377440" y="2103120"/>
            <a:ext cx="2194560" cy="411480"/>
          </a:xfrm>
          <a:prstGeom prst="rect">
            <a:avLst/>
          </a:prstGeom>
          <a:noFill/>
          <a:ln/>
        </p:spPr>
        <p:txBody>
          <a:bodyPr wrap="square" lIns="0" tIns="0" rIns="0" bIns="0" rtlCol="0" anchor="ctr"/>
          <a:lstStyle/>
          <a:p>
            <a:pPr algn="ctr" indent="0" marL="0">
              <a:buNone/>
            </a:pPr>
            <a:r>
              <a:rPr lang="en-US" sz="1100" b="1" dirty="0">
                <a:solidFill>
                  <a:srgbClr val="FFFFFF"/>
                </a:solidFill>
                <a:latin typeface="Courier New" pitchFamily="34" charset="0"/>
                <a:ea typeface="Courier New" pitchFamily="34" charset="-122"/>
                <a:cs typeface="Courier New" pitchFamily="34" charset="-120"/>
              </a:rPr>
              <a:t>BaseException</a:t>
            </a:r>
            <a:endParaRPr lang="en-US" sz="1100" dirty="0"/>
          </a:p>
        </p:txBody>
      </p:sp>
      <p:sp>
        <p:nvSpPr>
          <p:cNvPr id="9" name="Shape 7"/>
          <p:cNvSpPr/>
          <p:nvPr/>
        </p:nvSpPr>
        <p:spPr>
          <a:xfrm>
            <a:off x="3474720" y="2514600"/>
            <a:ext cx="0" cy="182880"/>
          </a:xfrm>
          <a:prstGeom prst="line">
            <a:avLst/>
          </a:prstGeom>
          <a:noFill/>
          <a:ln w="25400">
            <a:solidFill>
              <a:srgbClr val="8FA0B6"/>
            </a:solidFill>
            <a:prstDash val="solid"/>
            <a:tailEnd type="triangle"/>
          </a:ln>
        </p:spPr>
      </p:sp>
      <p:sp>
        <p:nvSpPr>
          <p:cNvPr id="10" name="Shape 8"/>
          <p:cNvSpPr/>
          <p:nvPr/>
        </p:nvSpPr>
        <p:spPr>
          <a:xfrm>
            <a:off x="2377440" y="2697480"/>
            <a:ext cx="2194560" cy="411480"/>
          </a:xfrm>
          <a:prstGeom prst="roundRect">
            <a:avLst>
              <a:gd name="adj" fmla="val 17778"/>
            </a:avLst>
          </a:prstGeom>
          <a:solidFill>
            <a:srgbClr val="FFC145"/>
          </a:solidFill>
          <a:ln w="12700">
            <a:solidFill>
              <a:srgbClr val="333333"/>
            </a:solidFill>
            <a:prstDash val="solid"/>
          </a:ln>
        </p:spPr>
      </p:sp>
      <p:sp>
        <p:nvSpPr>
          <p:cNvPr id="11" name="Text 9"/>
          <p:cNvSpPr txBox="1"/>
          <p:nvPr/>
        </p:nvSpPr>
        <p:spPr>
          <a:xfrm>
            <a:off x="2377440" y="2697480"/>
            <a:ext cx="2194560" cy="411480"/>
          </a:xfrm>
          <a:prstGeom prst="rect">
            <a:avLst/>
          </a:prstGeom>
          <a:noFill/>
          <a:ln/>
        </p:spPr>
        <p:txBody>
          <a:bodyPr wrap="square" lIns="0" tIns="0" rIns="0" bIns="0" rtlCol="0" anchor="ctr"/>
          <a:lstStyle/>
          <a:p>
            <a:pPr algn="ctr" indent="0" marL="0">
              <a:buNone/>
            </a:pPr>
            <a:r>
              <a:rPr lang="en-US" sz="1100" b="1" dirty="0">
                <a:solidFill>
                  <a:srgbClr val="152238"/>
                </a:solidFill>
                <a:latin typeface="Courier New" pitchFamily="34" charset="0"/>
                <a:ea typeface="Courier New" pitchFamily="34" charset="-122"/>
                <a:cs typeface="Courier New" pitchFamily="34" charset="-120"/>
              </a:rPr>
              <a:t>Exception</a:t>
            </a:r>
            <a:endParaRPr lang="en-US" sz="1100" dirty="0"/>
          </a:p>
        </p:txBody>
      </p:sp>
      <p:sp>
        <p:nvSpPr>
          <p:cNvPr id="12" name="Shape 10"/>
          <p:cNvSpPr/>
          <p:nvPr/>
        </p:nvSpPr>
        <p:spPr>
          <a:xfrm>
            <a:off x="3474720" y="3108960"/>
            <a:ext cx="-1737360" cy="274320"/>
          </a:xfrm>
          <a:prstGeom prst="line">
            <a:avLst/>
          </a:prstGeom>
          <a:noFill/>
          <a:ln w="25400">
            <a:solidFill>
              <a:srgbClr val="8FA0B6"/>
            </a:solidFill>
            <a:prstDash val="solid"/>
            <a:tailEnd type="triangle"/>
          </a:ln>
        </p:spPr>
      </p:sp>
      <p:sp>
        <p:nvSpPr>
          <p:cNvPr id="13" name="Shape 11"/>
          <p:cNvSpPr/>
          <p:nvPr/>
        </p:nvSpPr>
        <p:spPr>
          <a:xfrm>
            <a:off x="3474720" y="3108960"/>
            <a:ext cx="0" cy="274320"/>
          </a:xfrm>
          <a:prstGeom prst="line">
            <a:avLst/>
          </a:prstGeom>
          <a:noFill/>
          <a:ln w="25400">
            <a:solidFill>
              <a:srgbClr val="8FA0B6"/>
            </a:solidFill>
            <a:prstDash val="solid"/>
            <a:tailEnd type="triangle"/>
          </a:ln>
        </p:spPr>
      </p:sp>
      <p:sp>
        <p:nvSpPr>
          <p:cNvPr id="14" name="Shape 12"/>
          <p:cNvSpPr/>
          <p:nvPr/>
        </p:nvSpPr>
        <p:spPr>
          <a:xfrm>
            <a:off x="3474720" y="3108960"/>
            <a:ext cx="1737360" cy="274320"/>
          </a:xfrm>
          <a:prstGeom prst="line">
            <a:avLst/>
          </a:prstGeom>
          <a:noFill/>
          <a:ln w="25400">
            <a:solidFill>
              <a:srgbClr val="8FA0B6"/>
            </a:solidFill>
            <a:prstDash val="solid"/>
            <a:tailEnd type="triangle"/>
          </a:ln>
        </p:spPr>
      </p:sp>
      <p:sp>
        <p:nvSpPr>
          <p:cNvPr id="15" name="Shape 13"/>
          <p:cNvSpPr/>
          <p:nvPr/>
        </p:nvSpPr>
        <p:spPr>
          <a:xfrm>
            <a:off x="868680" y="3383280"/>
            <a:ext cx="1554480" cy="384048"/>
          </a:xfrm>
          <a:prstGeom prst="roundRect">
            <a:avLst>
              <a:gd name="adj" fmla="val 19048"/>
            </a:avLst>
          </a:prstGeom>
          <a:solidFill>
            <a:srgbClr val="3E7CB1"/>
          </a:solidFill>
          <a:ln w="12700">
            <a:solidFill>
              <a:srgbClr val="333333"/>
            </a:solidFill>
            <a:prstDash val="solid"/>
          </a:ln>
        </p:spPr>
      </p:sp>
      <p:sp>
        <p:nvSpPr>
          <p:cNvPr id="16" name="Text 14"/>
          <p:cNvSpPr txBox="1"/>
          <p:nvPr/>
        </p:nvSpPr>
        <p:spPr>
          <a:xfrm>
            <a:off x="868680" y="3383280"/>
            <a:ext cx="15544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ValueError</a:t>
            </a:r>
            <a:endParaRPr lang="en-US" sz="950" dirty="0"/>
          </a:p>
        </p:txBody>
      </p:sp>
      <p:sp>
        <p:nvSpPr>
          <p:cNvPr id="17" name="Shape 15"/>
          <p:cNvSpPr/>
          <p:nvPr/>
        </p:nvSpPr>
        <p:spPr>
          <a:xfrm>
            <a:off x="2697480" y="3383280"/>
            <a:ext cx="1554480" cy="384048"/>
          </a:xfrm>
          <a:prstGeom prst="roundRect">
            <a:avLst>
              <a:gd name="adj" fmla="val 19048"/>
            </a:avLst>
          </a:prstGeom>
          <a:solidFill>
            <a:srgbClr val="3E7CB1"/>
          </a:solidFill>
          <a:ln w="12700">
            <a:solidFill>
              <a:srgbClr val="333333"/>
            </a:solidFill>
            <a:prstDash val="solid"/>
          </a:ln>
        </p:spPr>
      </p:sp>
      <p:sp>
        <p:nvSpPr>
          <p:cNvPr id="18" name="Text 16"/>
          <p:cNvSpPr txBox="1"/>
          <p:nvPr/>
        </p:nvSpPr>
        <p:spPr>
          <a:xfrm>
            <a:off x="2697480" y="3383280"/>
            <a:ext cx="15544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LookupError</a:t>
            </a:r>
            <a:endParaRPr lang="en-US" sz="950" dirty="0"/>
          </a:p>
        </p:txBody>
      </p:sp>
      <p:sp>
        <p:nvSpPr>
          <p:cNvPr id="19" name="Shape 17"/>
          <p:cNvSpPr/>
          <p:nvPr/>
        </p:nvSpPr>
        <p:spPr>
          <a:xfrm>
            <a:off x="4526280" y="3383280"/>
            <a:ext cx="1554480" cy="384048"/>
          </a:xfrm>
          <a:prstGeom prst="roundRect">
            <a:avLst>
              <a:gd name="adj" fmla="val 19048"/>
            </a:avLst>
          </a:prstGeom>
          <a:solidFill>
            <a:srgbClr val="3E7CB1"/>
          </a:solidFill>
          <a:ln w="12700">
            <a:solidFill>
              <a:srgbClr val="333333"/>
            </a:solidFill>
            <a:prstDash val="solid"/>
          </a:ln>
        </p:spPr>
      </p:sp>
      <p:sp>
        <p:nvSpPr>
          <p:cNvPr id="20" name="Text 18"/>
          <p:cNvSpPr txBox="1"/>
          <p:nvPr/>
        </p:nvSpPr>
        <p:spPr>
          <a:xfrm>
            <a:off x="4526280" y="3383280"/>
            <a:ext cx="1554480" cy="384048"/>
          </a:xfrm>
          <a:prstGeom prst="rect">
            <a:avLst/>
          </a:prstGeom>
          <a:noFill/>
          <a:ln/>
        </p:spPr>
        <p:txBody>
          <a:bodyPr wrap="square" lIns="0" tIns="0" rIns="0" bIns="0" rtlCol="0" anchor="ctr"/>
          <a:lstStyle/>
          <a:p>
            <a:pPr algn="ctr" indent="0" marL="0">
              <a:buNone/>
            </a:pPr>
            <a:r>
              <a:rPr lang="en-US" sz="950" b="1" dirty="0">
                <a:solidFill>
                  <a:srgbClr val="FFFFFF"/>
                </a:solidFill>
                <a:latin typeface="Courier New" pitchFamily="34" charset="0"/>
                <a:ea typeface="Courier New" pitchFamily="34" charset="-122"/>
                <a:cs typeface="Courier New" pitchFamily="34" charset="-120"/>
              </a:rPr>
              <a:t>OSError</a:t>
            </a:r>
            <a:endParaRPr lang="en-US" sz="950" dirty="0"/>
          </a:p>
        </p:txBody>
      </p:sp>
      <p:sp>
        <p:nvSpPr>
          <p:cNvPr id="21" name="Shape 19"/>
          <p:cNvSpPr/>
          <p:nvPr/>
        </p:nvSpPr>
        <p:spPr>
          <a:xfrm>
            <a:off x="3474720" y="3767328"/>
            <a:ext cx="-731520" cy="182880"/>
          </a:xfrm>
          <a:prstGeom prst="line">
            <a:avLst/>
          </a:prstGeom>
          <a:noFill/>
          <a:ln w="25400">
            <a:solidFill>
              <a:srgbClr val="8FA0B6"/>
            </a:solidFill>
            <a:prstDash val="solid"/>
            <a:tailEnd type="triangle"/>
          </a:ln>
        </p:spPr>
      </p:sp>
      <p:sp>
        <p:nvSpPr>
          <p:cNvPr id="22" name="Shape 20"/>
          <p:cNvSpPr/>
          <p:nvPr/>
        </p:nvSpPr>
        <p:spPr>
          <a:xfrm>
            <a:off x="3474720" y="3767328"/>
            <a:ext cx="685800" cy="182880"/>
          </a:xfrm>
          <a:prstGeom prst="line">
            <a:avLst/>
          </a:prstGeom>
          <a:noFill/>
          <a:ln w="25400">
            <a:solidFill>
              <a:srgbClr val="8FA0B6"/>
            </a:solidFill>
            <a:prstDash val="solid"/>
            <a:tailEnd type="triangle"/>
          </a:ln>
        </p:spPr>
      </p:sp>
      <p:sp>
        <p:nvSpPr>
          <p:cNvPr id="23" name="Shape 21"/>
          <p:cNvSpPr/>
          <p:nvPr/>
        </p:nvSpPr>
        <p:spPr>
          <a:xfrm>
            <a:off x="5303520" y="3767328"/>
            <a:ext cx="347472" cy="182880"/>
          </a:xfrm>
          <a:prstGeom prst="line">
            <a:avLst/>
          </a:prstGeom>
          <a:noFill/>
          <a:ln w="25400">
            <a:solidFill>
              <a:srgbClr val="8FA0B6"/>
            </a:solidFill>
            <a:prstDash val="solid"/>
            <a:tailEnd type="triangle"/>
          </a:ln>
        </p:spPr>
      </p:sp>
      <p:sp>
        <p:nvSpPr>
          <p:cNvPr id="24" name="Shape 22"/>
          <p:cNvSpPr/>
          <p:nvPr/>
        </p:nvSpPr>
        <p:spPr>
          <a:xfrm>
            <a:off x="2103120" y="3950208"/>
            <a:ext cx="1280160" cy="347472"/>
          </a:xfrm>
          <a:prstGeom prst="roundRect">
            <a:avLst>
              <a:gd name="adj" fmla="val 21053"/>
            </a:avLst>
          </a:prstGeom>
          <a:solidFill>
            <a:srgbClr val="5C93BE"/>
          </a:solidFill>
          <a:ln w="12700">
            <a:solidFill>
              <a:srgbClr val="333333"/>
            </a:solidFill>
            <a:prstDash val="solid"/>
          </a:ln>
        </p:spPr>
      </p:sp>
      <p:sp>
        <p:nvSpPr>
          <p:cNvPr id="25" name="Text 23"/>
          <p:cNvSpPr txBox="1"/>
          <p:nvPr/>
        </p:nvSpPr>
        <p:spPr>
          <a:xfrm>
            <a:off x="2103120" y="3950208"/>
            <a:ext cx="12801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KeyError</a:t>
            </a:r>
            <a:endParaRPr lang="en-US" sz="900" dirty="0"/>
          </a:p>
        </p:txBody>
      </p:sp>
      <p:sp>
        <p:nvSpPr>
          <p:cNvPr id="26" name="Shape 24"/>
          <p:cNvSpPr/>
          <p:nvPr/>
        </p:nvSpPr>
        <p:spPr>
          <a:xfrm>
            <a:off x="3520440" y="3950208"/>
            <a:ext cx="1280160" cy="347472"/>
          </a:xfrm>
          <a:prstGeom prst="roundRect">
            <a:avLst>
              <a:gd name="adj" fmla="val 21053"/>
            </a:avLst>
          </a:prstGeom>
          <a:solidFill>
            <a:srgbClr val="5C93BE"/>
          </a:solidFill>
          <a:ln w="12700">
            <a:solidFill>
              <a:srgbClr val="333333"/>
            </a:solidFill>
            <a:prstDash val="solid"/>
          </a:ln>
        </p:spPr>
      </p:sp>
      <p:sp>
        <p:nvSpPr>
          <p:cNvPr id="27" name="Text 25"/>
          <p:cNvSpPr txBox="1"/>
          <p:nvPr/>
        </p:nvSpPr>
        <p:spPr>
          <a:xfrm>
            <a:off x="3520440" y="3950208"/>
            <a:ext cx="1280160"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ourier New" pitchFamily="34" charset="0"/>
                <a:ea typeface="Courier New" pitchFamily="34" charset="-122"/>
                <a:cs typeface="Courier New" pitchFamily="34" charset="-120"/>
              </a:rPr>
              <a:t>IndexError</a:t>
            </a:r>
            <a:endParaRPr lang="en-US" sz="900" dirty="0"/>
          </a:p>
        </p:txBody>
      </p:sp>
      <p:sp>
        <p:nvSpPr>
          <p:cNvPr id="28" name="Shape 26"/>
          <p:cNvSpPr/>
          <p:nvPr/>
        </p:nvSpPr>
        <p:spPr>
          <a:xfrm>
            <a:off x="4937760" y="3950208"/>
            <a:ext cx="1417320" cy="347472"/>
          </a:xfrm>
          <a:prstGeom prst="roundRect">
            <a:avLst>
              <a:gd name="adj" fmla="val 21053"/>
            </a:avLst>
          </a:prstGeom>
          <a:solidFill>
            <a:srgbClr val="5C93BE"/>
          </a:solidFill>
          <a:ln w="12700">
            <a:solidFill>
              <a:srgbClr val="333333"/>
            </a:solidFill>
            <a:prstDash val="solid"/>
          </a:ln>
        </p:spPr>
      </p:sp>
      <p:sp>
        <p:nvSpPr>
          <p:cNvPr id="29" name="Text 27"/>
          <p:cNvSpPr txBox="1"/>
          <p:nvPr/>
        </p:nvSpPr>
        <p:spPr>
          <a:xfrm>
            <a:off x="4937760" y="3950208"/>
            <a:ext cx="1417320" cy="347472"/>
          </a:xfrm>
          <a:prstGeom prst="rect">
            <a:avLst/>
          </a:prstGeom>
          <a:noFill/>
          <a:ln/>
        </p:spPr>
        <p:txBody>
          <a:bodyPr wrap="square" lIns="0" tIns="0" rIns="0" bIns="0" rtlCol="0" anchor="ctr"/>
          <a:lstStyle/>
          <a:p>
            <a:pPr algn="ctr" indent="0" marL="0">
              <a:buNone/>
            </a:pPr>
            <a:r>
              <a:rPr lang="en-US" sz="850" b="1" dirty="0">
                <a:solidFill>
                  <a:srgbClr val="FFFFFF"/>
                </a:solidFill>
                <a:latin typeface="Courier New" pitchFamily="34" charset="0"/>
                <a:ea typeface="Courier New" pitchFamily="34" charset="-122"/>
                <a:cs typeface="Courier New" pitchFamily="34" charset="-120"/>
              </a:rPr>
              <a:t>FileNotFound</a:t>
            </a:r>
            <a:endParaRPr lang="en-US" sz="850" dirty="0"/>
          </a:p>
        </p:txBody>
      </p:sp>
      <p:sp>
        <p:nvSpPr>
          <p:cNvPr id="30" name="Shape 28"/>
          <p:cNvSpPr/>
          <p:nvPr/>
        </p:nvSpPr>
        <p:spPr>
          <a:xfrm>
            <a:off x="6858000" y="1572768"/>
            <a:ext cx="4754880" cy="2926080"/>
          </a:xfrm>
          <a:prstGeom prst="roundRect">
            <a:avLst>
              <a:gd name="adj" fmla="val 281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1" name="Text 29"/>
          <p:cNvSpPr txBox="1"/>
          <p:nvPr/>
        </p:nvSpPr>
        <p:spPr>
          <a:xfrm>
            <a:off x="7114032" y="1719072"/>
            <a:ext cx="420624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Why the tree matters</a:t>
            </a:r>
            <a:endParaRPr lang="en-US" sz="1450" dirty="0"/>
          </a:p>
        </p:txBody>
      </p:sp>
      <p:sp>
        <p:nvSpPr>
          <p:cNvPr id="32" name="Shape 30"/>
          <p:cNvSpPr/>
          <p:nvPr/>
        </p:nvSpPr>
        <p:spPr>
          <a:xfrm>
            <a:off x="7114032" y="2103120"/>
            <a:ext cx="4297680" cy="1234440"/>
          </a:xfrm>
          <a:prstGeom prst="roundRect">
            <a:avLst>
              <a:gd name="adj" fmla="val 5185"/>
            </a:avLst>
          </a:prstGeom>
          <a:solidFill>
            <a:srgbClr val="1B2B45"/>
          </a:solidFill>
          <a:ln w="12700">
            <a:solidFill>
              <a:srgbClr val="1B2B45"/>
            </a:solidFill>
            <a:prstDash val="solid"/>
          </a:ln>
        </p:spPr>
      </p:sp>
      <p:sp>
        <p:nvSpPr>
          <p:cNvPr id="33" name="Text 31"/>
          <p:cNvSpPr txBox="1"/>
          <p:nvPr/>
        </p:nvSpPr>
        <p:spPr>
          <a:xfrm>
            <a:off x="7278624" y="2212848"/>
            <a:ext cx="3968496" cy="10149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LookupError: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catches KeyError AND IndexError,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because both inherit from it</a:t>
            </a:r>
            <a:endParaRPr lang="en-US" sz="1000" dirty="0"/>
          </a:p>
        </p:txBody>
      </p:sp>
      <p:sp>
        <p:nvSpPr>
          <p:cNvPr id="34" name="Text 32"/>
          <p:cNvSpPr txBox="1"/>
          <p:nvPr/>
        </p:nvSpPr>
        <p:spPr>
          <a:xfrm>
            <a:off x="7114032" y="3474720"/>
            <a:ext cx="4297680" cy="96012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Catching a parent catches every child. That is useful when you genuinely mean “any lookup failure” — and dangerous when you write  except Exception  and accidentally swallow bugs you never considered.</a:t>
            </a:r>
            <a:endParaRPr lang="en-US" sz="1200" dirty="0"/>
          </a:p>
        </p:txBody>
      </p:sp>
      <p:sp>
        <p:nvSpPr>
          <p:cNvPr id="35" name="Shape 33"/>
          <p:cNvSpPr/>
          <p:nvPr/>
        </p:nvSpPr>
        <p:spPr>
          <a:xfrm>
            <a:off x="548640" y="4663440"/>
            <a:ext cx="11064240" cy="1188720"/>
          </a:xfrm>
          <a:prstGeom prst="roundRect">
            <a:avLst>
              <a:gd name="adj" fmla="val 6923"/>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Text 34"/>
          <p:cNvSpPr txBox="1"/>
          <p:nvPr/>
        </p:nvSpPr>
        <p:spPr>
          <a:xfrm>
            <a:off x="868680" y="4846320"/>
            <a:ext cx="10424160" cy="822960"/>
          </a:xfrm>
          <a:prstGeom prst="rect">
            <a:avLst/>
          </a:prstGeom>
          <a:noFill/>
          <a:ln/>
        </p:spPr>
        <p:txBody>
          <a:bodyPr wrap="square" lIns="0" tIns="0" rIns="0" bIns="0" rtlCol="0" anchor="ctr"/>
          <a:lstStyle/>
          <a:p>
            <a:pPr indent="0" marL="0">
              <a:lnSpc>
                <a:spcPct val="115000"/>
              </a:lnSpc>
              <a:buNone/>
            </a:pPr>
            <a:r>
              <a:rPr lang="en-US" sz="1300" b="1" dirty="0">
                <a:solidFill>
                  <a:srgbClr val="8A5B00"/>
                </a:solidFill>
                <a:latin typeface="Calibri" pitchFamily="34" charset="0"/>
                <a:ea typeface="Calibri" pitchFamily="34" charset="-122"/>
                <a:cs typeface="Calibri" pitchFamily="34" charset="-120"/>
              </a:rPr>
              <a:t>This is Day 8, applied.  </a:t>
            </a:r>
            <a:pPr indent="0" marL="0">
              <a:lnSpc>
                <a:spcPct val="115000"/>
              </a:lnSpc>
              <a:buNone/>
            </a:pPr>
            <a:r>
              <a:rPr lang="en-US" sz="1300" dirty="0">
                <a:solidFill>
                  <a:srgbClr val="6B4A0B"/>
                </a:solidFill>
                <a:latin typeface="Calibri" pitchFamily="34" charset="0"/>
                <a:ea typeface="Calibri" pitchFamily="34" charset="-122"/>
                <a:cs typeface="Calibri" pitchFamily="34" charset="-120"/>
              </a:rPr>
              <a:t>An exception is an object built from a class, and  except ValueError  is really an isinstance check. Everything you learned about inheritance — that a child IS its parent — is exactly what decides which except block catches what.</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2</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try / except</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Catching the right thing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try / except</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Specific exceptions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else and finally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What not to catch</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2.1  ·  CATCHING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try / except — and catching the RIGHT thing</a:t>
            </a:r>
            <a:endParaRPr lang="en-US" sz="3200" dirty="0"/>
          </a:p>
        </p:txBody>
      </p:sp>
      <p:sp>
        <p:nvSpPr>
          <p:cNvPr id="5" name="Shape 3"/>
          <p:cNvSpPr/>
          <p:nvPr/>
        </p:nvSpPr>
        <p:spPr>
          <a:xfrm>
            <a:off x="548640" y="1572768"/>
            <a:ext cx="5486400" cy="2377440"/>
          </a:xfrm>
          <a:prstGeom prst="roundRect">
            <a:avLst>
              <a:gd name="adj" fmla="val 3462"/>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The basic shape</a:t>
            </a:r>
            <a:endParaRPr lang="en-US" sz="1500" dirty="0"/>
          </a:p>
        </p:txBody>
      </p:sp>
      <p:sp>
        <p:nvSpPr>
          <p:cNvPr id="7" name="Shape 5"/>
          <p:cNvSpPr/>
          <p:nvPr/>
        </p:nvSpPr>
        <p:spPr>
          <a:xfrm>
            <a:off x="804672" y="2103120"/>
            <a:ext cx="4983480" cy="1691640"/>
          </a:xfrm>
          <a:prstGeom prst="roundRect">
            <a:avLst>
              <a:gd name="adj" fmla="val 3784"/>
            </a:avLst>
          </a:prstGeom>
          <a:solidFill>
            <a:srgbClr val="1B2B45"/>
          </a:solidFill>
          <a:ln w="12700">
            <a:solidFill>
              <a:srgbClr val="1B2B45"/>
            </a:solidFill>
            <a:prstDash val="solid"/>
          </a:ln>
        </p:spPr>
      </p:sp>
      <p:sp>
        <p:nvSpPr>
          <p:cNvPr id="8" name="Text 6"/>
          <p:cNvSpPr txBox="1"/>
          <p:nvPr/>
        </p:nvSpPr>
        <p:spPr>
          <a:xfrm>
            <a:off x="969264" y="2212848"/>
            <a:ext cx="4654296" cy="14721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try: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marks = int(raw)</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except ValueError: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print("That was not a number")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marks = 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the except block only runs if THAT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exception was raised</a:t>
            </a:r>
            <a:endParaRPr lang="en-US" sz="1050" dirty="0"/>
          </a:p>
        </p:txBody>
      </p:sp>
      <p:sp>
        <p:nvSpPr>
          <p:cNvPr id="9" name="Shape 7"/>
          <p:cNvSpPr/>
          <p:nvPr/>
        </p:nvSpPr>
        <p:spPr>
          <a:xfrm>
            <a:off x="6309360" y="1572768"/>
            <a:ext cx="5303520" cy="2377440"/>
          </a:xfrm>
          <a:prstGeom prst="roundRect">
            <a:avLst>
              <a:gd name="adj" fmla="val 3462"/>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Catching several, and seeing the message</a:t>
            </a:r>
            <a:endParaRPr lang="en-US" sz="1450" dirty="0"/>
          </a:p>
        </p:txBody>
      </p:sp>
      <p:sp>
        <p:nvSpPr>
          <p:cNvPr id="11" name="Shape 9"/>
          <p:cNvSpPr/>
          <p:nvPr/>
        </p:nvSpPr>
        <p:spPr>
          <a:xfrm>
            <a:off x="6565392" y="2103120"/>
            <a:ext cx="4800600" cy="1691640"/>
          </a:xfrm>
          <a:prstGeom prst="roundRect">
            <a:avLst>
              <a:gd name="adj" fmla="val 3784"/>
            </a:avLst>
          </a:prstGeom>
          <a:solidFill>
            <a:srgbClr val="1B2B45"/>
          </a:solidFill>
          <a:ln w="12700">
            <a:solidFill>
              <a:srgbClr val="1B2B45"/>
            </a:solidFill>
            <a:prstDash val="solid"/>
          </a:ln>
        </p:spPr>
      </p:sp>
      <p:sp>
        <p:nvSpPr>
          <p:cNvPr id="12" name="Text 10"/>
          <p:cNvSpPr txBox="1"/>
          <p:nvPr/>
        </p:nvSpPr>
        <p:spPr>
          <a:xfrm>
            <a:off x="6729984" y="2212848"/>
            <a:ext cx="4471416" cy="14721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(ValueError, TypeError):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                 # one block, two types</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ValueError as 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print(f"Bad value: {e}")</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KeyError:  ...   # separate blocks</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IndexError: ...  # for different handling</a:t>
            </a:r>
            <a:endParaRPr lang="en-US" sz="1000" dirty="0"/>
          </a:p>
        </p:txBody>
      </p:sp>
      <p:sp>
        <p:nvSpPr>
          <p:cNvPr id="13" name="Shape 11"/>
          <p:cNvSpPr/>
          <p:nvPr/>
        </p:nvSpPr>
        <p:spPr>
          <a:xfrm>
            <a:off x="548640" y="4206240"/>
            <a:ext cx="11064240" cy="1645920"/>
          </a:xfrm>
          <a:prstGeom prst="roundRect">
            <a:avLst>
              <a:gd name="adj" fmla="val 500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352544"/>
            <a:ext cx="6400800" cy="292608"/>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Order matters — specific first, general last</a:t>
            </a:r>
            <a:endParaRPr lang="en-US" sz="1500" dirty="0"/>
          </a:p>
        </p:txBody>
      </p:sp>
      <p:sp>
        <p:nvSpPr>
          <p:cNvPr id="15" name="Shape 13"/>
          <p:cNvSpPr/>
          <p:nvPr/>
        </p:nvSpPr>
        <p:spPr>
          <a:xfrm>
            <a:off x="868680" y="4681728"/>
            <a:ext cx="5212080" cy="1005840"/>
          </a:xfrm>
          <a:prstGeom prst="roundRect">
            <a:avLst>
              <a:gd name="adj" fmla="val 6364"/>
            </a:avLst>
          </a:prstGeom>
          <a:solidFill>
            <a:srgbClr val="1B2B45"/>
          </a:solidFill>
          <a:ln w="12700">
            <a:solidFill>
              <a:srgbClr val="1B2B45"/>
            </a:solidFill>
            <a:prstDash val="solid"/>
          </a:ln>
        </p:spPr>
      </p:sp>
      <p:sp>
        <p:nvSpPr>
          <p:cNvPr id="16" name="Text 14"/>
          <p:cNvSpPr txBox="1"/>
          <p:nvPr/>
        </p:nvSpPr>
        <p:spPr>
          <a:xfrm>
            <a:off x="1033272" y="4791456"/>
            <a:ext cx="4882896" cy="7863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try:    ...</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except Exception:   # catches EVERYTHING first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except ValueError:  # unreachable - never runs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t>
            </a:r>
            <a:endParaRPr lang="en-US" sz="1050" dirty="0"/>
          </a:p>
        </p:txBody>
      </p:sp>
      <p:sp>
        <p:nvSpPr>
          <p:cNvPr id="17" name="Text 15"/>
          <p:cNvSpPr txBox="1"/>
          <p:nvPr/>
        </p:nvSpPr>
        <p:spPr>
          <a:xfrm>
            <a:off x="6400800" y="4663440"/>
            <a:ext cx="4983480" cy="105156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Python tries each except block in order and takes the first one that matches. Because ValueError inherits from Exception, a general block written first swallows everything below it. Put the specific types first and the general one last, exactly as you would order an elif chain from Day 2.</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2.2  ·  ALL FOUR BLOCKS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full form: try / except / else / finally</a:t>
            </a:r>
            <a:endParaRPr lang="en-US" sz="3200" dirty="0"/>
          </a:p>
        </p:txBody>
      </p:sp>
      <p:sp>
        <p:nvSpPr>
          <p:cNvPr id="5" name="Shape 3"/>
          <p:cNvSpPr/>
          <p:nvPr/>
        </p:nvSpPr>
        <p:spPr>
          <a:xfrm>
            <a:off x="548640" y="1572768"/>
            <a:ext cx="5486400" cy="2834640"/>
          </a:xfrm>
          <a:prstGeom prst="roundRect">
            <a:avLst>
              <a:gd name="adj" fmla="val 29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4983480" cy="2011680"/>
          </a:xfrm>
          <a:prstGeom prst="roundRect">
            <a:avLst>
              <a:gd name="adj" fmla="val 3182"/>
            </a:avLst>
          </a:prstGeom>
          <a:solidFill>
            <a:srgbClr val="1B2B45"/>
          </a:solidFill>
          <a:ln w="12700">
            <a:solidFill>
              <a:srgbClr val="1B2B45"/>
            </a:solidFill>
            <a:prstDash val="solid"/>
          </a:ln>
        </p:spPr>
      </p:sp>
      <p:sp>
        <p:nvSpPr>
          <p:cNvPr id="7" name="Text 5"/>
          <p:cNvSpPr txBox="1"/>
          <p:nvPr/>
        </p:nvSpPr>
        <p:spPr>
          <a:xfrm>
            <a:off x="969264" y="1892808"/>
            <a:ext cx="4654296" cy="179222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try: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f = open("data.csv")</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except FileNotFoundError: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print("no file")        # only if it failed</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else: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print("opened fine")    # only if it did NOT</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finally: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print("done")           # ALWAYS runs</a:t>
            </a:r>
            <a:endParaRPr lang="en-US" sz="1050" dirty="0"/>
          </a:p>
        </p:txBody>
      </p:sp>
      <p:sp>
        <p:nvSpPr>
          <p:cNvPr id="8" name="Text 6"/>
          <p:cNvSpPr txBox="1"/>
          <p:nvPr/>
        </p:nvSpPr>
        <p:spPr>
          <a:xfrm>
            <a:off x="804672" y="3886200"/>
            <a:ext cx="4983480" cy="50292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Keep the try block as SHORT as possible — only the line that might fail. Anything else in there can raise an exception you did not mean to catch.</a:t>
            </a:r>
            <a:endParaRPr lang="en-US" sz="1200" dirty="0"/>
          </a:p>
        </p:txBody>
      </p:sp>
      <p:sp>
        <p:nvSpPr>
          <p:cNvPr id="9" name="Shape 7"/>
          <p:cNvSpPr/>
          <p:nvPr/>
        </p:nvSpPr>
        <p:spPr>
          <a:xfrm>
            <a:off x="6309360" y="1572768"/>
            <a:ext cx="5303520" cy="2834640"/>
          </a:xfrm>
          <a:prstGeom prst="roundRect">
            <a:avLst>
              <a:gd name="adj" fmla="val 29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Which block runs when</a:t>
            </a:r>
            <a:endParaRPr lang="en-US" sz="145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565392" y="2103120"/>
          <a:ext cx="4800600" cy="914400"/>
        </p:xfrm>
        <a:graphic>
          <a:graphicData uri="http://schemas.openxmlformats.org/drawingml/2006/table">
            <a:tbl>
              <a:tblPr/>
              <a:tblGrid>
                <a:gridCol w="1417320"/>
                <a:gridCol w="1691640"/>
                <a:gridCol w="1691640"/>
              </a:tblGrid>
              <a:tr h="347472">
                <a:tc>
                  <a:txBody>
                    <a:bodyPr/>
                    <a:lstStyle/>
                    <a:p>
                      <a:pPr indent="0" marL="0">
                        <a:buNone/>
                      </a:pP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No error</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Error caught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347472">
                <a:tc>
                  <a:txBody>
                    <a:bodyPr/>
                    <a:lstStyle/>
                    <a:p>
                      <a:pPr indent="0" marL="0">
                        <a:buNone/>
                      </a:pPr>
                      <a:r>
                        <a:rPr lang="en-US" sz="1100" b="1" dirty="0">
                          <a:solidFill>
                            <a:srgbClr val="1F3A5F"/>
                          </a:solidFill>
                          <a:latin typeface="Courier New" pitchFamily="34" charset="0"/>
                          <a:ea typeface="Courier New" pitchFamily="34" charset="-122"/>
                          <a:cs typeface="Courier New" pitchFamily="34" charset="-120"/>
                        </a:rPr>
                        <a:t>try</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runs fully</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stops at the error</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b="1" dirty="0">
                          <a:solidFill>
                            <a:srgbClr val="1F3A5F"/>
                          </a:solidFill>
                          <a:latin typeface="Courier New" pitchFamily="34" charset="0"/>
                          <a:ea typeface="Courier New" pitchFamily="34" charset="-122"/>
                          <a:cs typeface="Courier New" pitchFamily="34" charset="-120"/>
                        </a:rPr>
                        <a:t>except</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skipped</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b="1" dirty="0">
                          <a:solidFill>
                            <a:srgbClr val="1F3A5F"/>
                          </a:solidFill>
                          <a:latin typeface="Courier New" pitchFamily="34" charset="0"/>
                          <a:ea typeface="Courier New" pitchFamily="34" charset="-122"/>
                          <a:cs typeface="Courier New" pitchFamily="34" charset="-120"/>
                        </a:rPr>
                        <a:t>else</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skipped</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347472">
                <a:tc>
                  <a:txBody>
                    <a:bodyPr/>
                    <a:lstStyle/>
                    <a:p>
                      <a:pPr indent="0" marL="0">
                        <a:buNone/>
                      </a:pPr>
                      <a:r>
                        <a:rPr lang="en-US" sz="1100" b="1" dirty="0">
                          <a:solidFill>
                            <a:srgbClr val="1F3A5F"/>
                          </a:solidFill>
                          <a:latin typeface="Courier New" pitchFamily="34" charset="0"/>
                          <a:ea typeface="Courier New" pitchFamily="34" charset="-122"/>
                          <a:cs typeface="Courier New" pitchFamily="34" charset="-120"/>
                        </a:rPr>
                        <a:t>finally</a:t>
                      </a:r>
                      <a:endParaRPr lang="en-US" sz="11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100" dirty="0">
                          <a:solidFill>
                            <a:srgbClr val="2B3445"/>
                          </a:solidFill>
                          <a:latin typeface="Calibri" pitchFamily="34" charset="0"/>
                          <a:ea typeface="Calibri" pitchFamily="34" charset="-122"/>
                          <a:cs typeface="Calibri" pitchFamily="34" charset="-120"/>
                        </a:rPr>
                        <a:t>runs</a:t>
                      </a:r>
                      <a:endParaRPr lang="en-US" sz="11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12" name="Text 9"/>
          <p:cNvSpPr txBox="1"/>
          <p:nvPr/>
        </p:nvSpPr>
        <p:spPr>
          <a:xfrm>
            <a:off x="6565392" y="3913632"/>
            <a:ext cx="4800600" cy="50292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finally runs even if the try block executes a return, or raises something nothing caught. That is what makes it the right place for cleanup.</a:t>
            </a:r>
            <a:endParaRPr lang="en-US" sz="1200" dirty="0"/>
          </a:p>
        </p:txBody>
      </p:sp>
      <p:sp>
        <p:nvSpPr>
          <p:cNvPr id="13" name="Shape 10"/>
          <p:cNvSpPr/>
          <p:nvPr/>
        </p:nvSpPr>
        <p:spPr>
          <a:xfrm>
            <a:off x="548640" y="4572000"/>
            <a:ext cx="11064240" cy="1280160"/>
          </a:xfrm>
          <a:prstGeom prst="roundRect">
            <a:avLst>
              <a:gd name="adj" fmla="val 6429"/>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1"/>
          <p:cNvSpPr txBox="1"/>
          <p:nvPr/>
        </p:nvSpPr>
        <p:spPr>
          <a:xfrm>
            <a:off x="868680" y="4754880"/>
            <a:ext cx="10424160" cy="914400"/>
          </a:xfrm>
          <a:prstGeom prst="rect">
            <a:avLst/>
          </a:prstGeom>
          <a:noFill/>
          <a:ln/>
        </p:spPr>
        <p:txBody>
          <a:bodyPr wrap="square" lIns="0" tIns="0" rIns="0" bIns="0" rtlCol="0" anchor="ctr"/>
          <a:lstStyle/>
          <a:p>
            <a:pPr indent="0" marL="0">
              <a:lnSpc>
                <a:spcPct val="115000"/>
              </a:lnSpc>
              <a:buNone/>
            </a:pPr>
            <a:r>
              <a:rPr lang="en-US" sz="1300" b="1" dirty="0">
                <a:solidFill>
                  <a:srgbClr val="1C6F5C"/>
                </a:solidFill>
                <a:latin typeface="Calibri" pitchFamily="34" charset="0"/>
                <a:ea typeface="Calibri" pitchFamily="34" charset="-122"/>
                <a:cs typeface="Calibri" pitchFamily="34" charset="-120"/>
              </a:rPr>
              <a:t>You already use finally every day.  </a:t>
            </a:r>
            <a:pPr indent="0" marL="0">
              <a:lnSpc>
                <a:spcPct val="115000"/>
              </a:lnSpc>
              <a:buNone/>
            </a:pPr>
            <a:r>
              <a:rPr lang="en-US" sz="1300" dirty="0">
                <a:solidFill>
                  <a:srgbClr val="2B3445"/>
                </a:solidFill>
                <a:latin typeface="Calibri" pitchFamily="34" charset="0"/>
                <a:ea typeface="Calibri" pitchFamily="34" charset="-122"/>
                <a:cs typeface="Calibri" pitchFamily="34" charset="-120"/>
              </a:rPr>
              <a:t>Day 9's  with open(...)  is built on exactly this mechanism — the file closes whether the block succeeds, raises, or returns early. When a with statement exists for something, prefer it; write try/finally yourself only when one does not.</a:t>
            </a:r>
            <a:endParaRPr lang="en-US" sz="1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2.3  ·  ANTI-PATTERNS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two ways error handling goes wrong</a:t>
            </a:r>
            <a:endParaRPr lang="en-US" sz="3200" dirty="0"/>
          </a:p>
        </p:txBody>
      </p:sp>
      <p:sp>
        <p:nvSpPr>
          <p:cNvPr id="5" name="Shape 3"/>
          <p:cNvSpPr/>
          <p:nvPr/>
        </p:nvSpPr>
        <p:spPr>
          <a:xfrm>
            <a:off x="548640" y="1572768"/>
            <a:ext cx="548640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1. The bare except</a:t>
            </a:r>
            <a:endParaRPr lang="en-US" sz="1500" dirty="0"/>
          </a:p>
        </p:txBody>
      </p:sp>
      <p:sp>
        <p:nvSpPr>
          <p:cNvPr id="7" name="Shape 5"/>
          <p:cNvSpPr/>
          <p:nvPr/>
        </p:nvSpPr>
        <p:spPr>
          <a:xfrm>
            <a:off x="804672" y="2103120"/>
            <a:ext cx="4983480" cy="1371600"/>
          </a:xfrm>
          <a:prstGeom prst="roundRect">
            <a:avLst>
              <a:gd name="adj" fmla="val 4667"/>
            </a:avLst>
          </a:prstGeom>
          <a:solidFill>
            <a:srgbClr val="1B2B45"/>
          </a:solidFill>
          <a:ln w="12700">
            <a:solidFill>
              <a:srgbClr val="1B2B45"/>
            </a:solidFill>
            <a:prstDash val="solid"/>
          </a:ln>
        </p:spPr>
      </p:sp>
      <p:sp>
        <p:nvSpPr>
          <p:cNvPr id="8" name="Text 6"/>
          <p:cNvSpPr txBox="1"/>
          <p:nvPr/>
        </p:nvSpPr>
        <p:spPr>
          <a:xfrm>
            <a:off x="969264" y="2212848"/>
            <a:ext cx="4654296" cy="11521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try: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process(data)</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 catches ABSOLUTELY everything</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print("something went wrong")</a:t>
            </a:r>
            <a:endParaRPr lang="en-US" sz="1000" dirty="0"/>
          </a:p>
        </p:txBody>
      </p:sp>
      <p:sp>
        <p:nvSpPr>
          <p:cNvPr id="9" name="Text 7"/>
          <p:cNvSpPr txBox="1"/>
          <p:nvPr/>
        </p:nvSpPr>
        <p:spPr>
          <a:xfrm>
            <a:off x="804672" y="3566160"/>
            <a:ext cx="4983480" cy="54864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This catches your typos, your NameErrors, and even Ctrl+C — so the program cannot be stopped and the real bug is invisible. If you truly need a catch-all, write  except Exception  , which at least leaves KeyboardInterrupt alone.</a:t>
            </a:r>
            <a:endParaRPr lang="en-US" sz="1150" dirty="0"/>
          </a:p>
        </p:txBody>
      </p:sp>
      <p:sp>
        <p:nvSpPr>
          <p:cNvPr id="10" name="Shape 8"/>
          <p:cNvSpPr/>
          <p:nvPr/>
        </p:nvSpPr>
        <p:spPr>
          <a:xfrm>
            <a:off x="6309360" y="1572768"/>
            <a:ext cx="530352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A63B24"/>
                </a:solidFill>
                <a:latin typeface="Calibri" pitchFamily="34" charset="0"/>
                <a:ea typeface="Calibri" pitchFamily="34" charset="-122"/>
                <a:cs typeface="Calibri" pitchFamily="34" charset="-120"/>
              </a:rPr>
              <a:t>⚠  2. The silent pass</a:t>
            </a:r>
            <a:endParaRPr lang="en-US" sz="1500" dirty="0"/>
          </a:p>
        </p:txBody>
      </p:sp>
      <p:sp>
        <p:nvSpPr>
          <p:cNvPr id="12" name="Shape 10"/>
          <p:cNvSpPr/>
          <p:nvPr/>
        </p:nvSpPr>
        <p:spPr>
          <a:xfrm>
            <a:off x="6565392" y="2103120"/>
            <a:ext cx="4800600" cy="1371600"/>
          </a:xfrm>
          <a:prstGeom prst="roundRect">
            <a:avLst>
              <a:gd name="adj" fmla="val 4667"/>
            </a:avLst>
          </a:prstGeom>
          <a:solidFill>
            <a:srgbClr val="1B2B45"/>
          </a:solidFill>
          <a:ln w="12700">
            <a:solidFill>
              <a:srgbClr val="1B2B45"/>
            </a:solidFill>
            <a:prstDash val="solid"/>
          </a:ln>
        </p:spPr>
      </p:sp>
      <p:sp>
        <p:nvSpPr>
          <p:cNvPr id="13" name="Text 11"/>
          <p:cNvSpPr txBox="1"/>
          <p:nvPr/>
        </p:nvSpPr>
        <p:spPr>
          <a:xfrm>
            <a:off x="6729984" y="2212848"/>
            <a:ext cx="4471416" cy="11521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try: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value = int(row["mark"])</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ValueError: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pass             # the row is silently skipped</a:t>
            </a:r>
            <a:endParaRPr lang="en-US" sz="1000" dirty="0"/>
          </a:p>
        </p:txBody>
      </p:sp>
      <p:sp>
        <p:nvSpPr>
          <p:cNvPr id="14" name="Text 12"/>
          <p:cNvSpPr txBox="1"/>
          <p:nvPr/>
        </p:nvSpPr>
        <p:spPr>
          <a:xfrm>
            <a:off x="6565392" y="3566160"/>
            <a:ext cx="4800600" cy="54864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Six months later someone notices the totals are wrong and nobody knows why. If you deliberately ignore something, say so in a comment and count it: bad_rows += 1. Silence is the enemy of debugging.</a:t>
            </a:r>
            <a:endParaRPr lang="en-US" sz="1150" dirty="0"/>
          </a:p>
        </p:txBody>
      </p:sp>
      <p:sp>
        <p:nvSpPr>
          <p:cNvPr id="15" name="Shape 13"/>
          <p:cNvSpPr/>
          <p:nvPr/>
        </p:nvSpPr>
        <p:spPr>
          <a:xfrm>
            <a:off x="548640" y="4434840"/>
            <a:ext cx="11064240" cy="1417320"/>
          </a:xfrm>
          <a:prstGeom prst="roundRect">
            <a:avLst>
              <a:gd name="adj" fmla="val 5806"/>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Text 14"/>
          <p:cNvSpPr txBox="1"/>
          <p:nvPr/>
        </p:nvSpPr>
        <p:spPr>
          <a:xfrm>
            <a:off x="868680" y="4590288"/>
            <a:ext cx="6400800" cy="274320"/>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Three questions to ask before you write except</a:t>
            </a:r>
            <a:endParaRPr lang="en-US" sz="1450" dirty="0"/>
          </a:p>
        </p:txBody>
      </p:sp>
      <p:sp>
        <p:nvSpPr>
          <p:cNvPr id="17" name="Text 15"/>
          <p:cNvSpPr txBox="1"/>
          <p:nvPr/>
        </p:nvSpPr>
        <p:spPr>
          <a:xfrm>
            <a:off x="868680" y="4937760"/>
            <a:ext cx="329184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Which exception exactly?</a:t>
            </a:r>
            <a:endParaRPr lang="en-US" sz="1250" dirty="0"/>
          </a:p>
        </p:txBody>
      </p:sp>
      <p:sp>
        <p:nvSpPr>
          <p:cNvPr id="18" name="Text 16"/>
          <p:cNvSpPr txBox="1"/>
          <p:nvPr/>
        </p:nvSpPr>
        <p:spPr>
          <a:xfrm>
            <a:off x="868680" y="5212080"/>
            <a:ext cx="3337560" cy="457200"/>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  name it</a:t>
            </a:r>
            <a:endParaRPr lang="en-US" sz="1200" dirty="0"/>
          </a:p>
        </p:txBody>
      </p:sp>
      <p:sp>
        <p:nvSpPr>
          <p:cNvPr id="19" name="Text 17"/>
          <p:cNvSpPr txBox="1"/>
          <p:nvPr/>
        </p:nvSpPr>
        <p:spPr>
          <a:xfrm>
            <a:off x="4389120" y="4937760"/>
            <a:ext cx="329184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What should happen instead?</a:t>
            </a:r>
            <a:endParaRPr lang="en-US" sz="1250" dirty="0"/>
          </a:p>
        </p:txBody>
      </p:sp>
      <p:sp>
        <p:nvSpPr>
          <p:cNvPr id="20" name="Text 18"/>
          <p:cNvSpPr txBox="1"/>
          <p:nvPr/>
        </p:nvSpPr>
        <p:spPr>
          <a:xfrm>
            <a:off x="4389120" y="5212080"/>
            <a:ext cx="3337560" cy="457200"/>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  a default, a retry, a message</a:t>
            </a:r>
            <a:endParaRPr lang="en-US" sz="1200" dirty="0"/>
          </a:p>
        </p:txBody>
      </p:sp>
      <p:sp>
        <p:nvSpPr>
          <p:cNvPr id="21" name="Text 19"/>
          <p:cNvSpPr txBox="1"/>
          <p:nvPr/>
        </p:nvSpPr>
        <p:spPr>
          <a:xfrm>
            <a:off x="7909560" y="4937760"/>
            <a:ext cx="3291840" cy="274320"/>
          </a:xfrm>
          <a:prstGeom prst="rect">
            <a:avLst/>
          </a:prstGeom>
          <a:noFill/>
          <a:ln/>
        </p:spPr>
        <p:txBody>
          <a:bodyPr wrap="square" lIns="0" tIns="0" rIns="0" bIns="0" rtlCol="0" anchor="ctr"/>
          <a:lstStyle/>
          <a:p>
            <a:pPr indent="0" marL="0">
              <a:buNone/>
            </a:pPr>
            <a:r>
              <a:rPr lang="en-US" sz="1250" b="1" dirty="0">
                <a:solidFill>
                  <a:srgbClr val="1F3A5F"/>
                </a:solidFill>
                <a:latin typeface="Calibri" pitchFamily="34" charset="0"/>
                <a:ea typeface="Calibri" pitchFamily="34" charset="-122"/>
                <a:cs typeface="Calibri" pitchFamily="34" charset="-120"/>
              </a:rPr>
              <a:t>Would I want to know?</a:t>
            </a:r>
            <a:endParaRPr lang="en-US" sz="1250" dirty="0"/>
          </a:p>
        </p:txBody>
      </p:sp>
      <p:sp>
        <p:nvSpPr>
          <p:cNvPr id="22" name="Text 20"/>
          <p:cNvSpPr txBox="1"/>
          <p:nvPr/>
        </p:nvSpPr>
        <p:spPr>
          <a:xfrm>
            <a:off x="7909560" y="5212080"/>
            <a:ext cx="3337560" cy="457200"/>
          </a:xfrm>
          <a:prstGeom prst="rect">
            <a:avLst/>
          </a:prstGeom>
          <a:noFill/>
          <a:ln/>
        </p:spPr>
        <p:txBody>
          <a:bodyPr wrap="square" lIns="0" tIns="0" rIns="0" bIns="0" rtlCol="0" anchor="ctr"/>
          <a:lstStyle/>
          <a:p>
            <a:pPr indent="0" marL="0">
              <a:buNone/>
            </a:pPr>
            <a:r>
              <a:rPr lang="en-US" sz="1200" dirty="0">
                <a:solidFill>
                  <a:srgbClr val="2B3445"/>
                </a:solidFill>
                <a:latin typeface="Calibri" pitchFamily="34" charset="0"/>
                <a:ea typeface="Calibri" pitchFamily="34" charset="-122"/>
                <a:cs typeface="Calibri" pitchFamily="34" charset="-120"/>
              </a:rPr>
              <a:t>→  if yes, log it or re-raise</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3</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Raising Your Own</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Signalling a problem  ·  20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raise</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Custom exceptions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Re-raising</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3.1  ·  RAISING</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raise — reporting a problem yourself</a:t>
            </a:r>
            <a:endParaRPr lang="en-US" sz="3200" dirty="0"/>
          </a:p>
        </p:txBody>
      </p:sp>
      <p:sp>
        <p:nvSpPr>
          <p:cNvPr id="5" name="Shape 3"/>
          <p:cNvSpPr/>
          <p:nvPr/>
        </p:nvSpPr>
        <p:spPr>
          <a:xfrm>
            <a:off x="548640" y="1572768"/>
            <a:ext cx="5486400" cy="2651760"/>
          </a:xfrm>
          <a:prstGeom prst="roundRect">
            <a:avLst>
              <a:gd name="adj" fmla="val 3103"/>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Returning an error message does not work</a:t>
            </a:r>
            <a:endParaRPr lang="en-US" sz="1450" dirty="0"/>
          </a:p>
        </p:txBody>
      </p:sp>
      <p:sp>
        <p:nvSpPr>
          <p:cNvPr id="7" name="Shape 5"/>
          <p:cNvSpPr/>
          <p:nvPr/>
        </p:nvSpPr>
        <p:spPr>
          <a:xfrm>
            <a:off x="804672" y="2103120"/>
            <a:ext cx="4983480" cy="1691640"/>
          </a:xfrm>
          <a:prstGeom prst="roundRect">
            <a:avLst>
              <a:gd name="adj" fmla="val 3784"/>
            </a:avLst>
          </a:prstGeom>
          <a:solidFill>
            <a:srgbClr val="1B2B45"/>
          </a:solidFill>
          <a:ln w="12700">
            <a:solidFill>
              <a:srgbClr val="1B2B45"/>
            </a:solidFill>
            <a:prstDash val="solid"/>
          </a:ln>
        </p:spPr>
      </p:sp>
      <p:sp>
        <p:nvSpPr>
          <p:cNvPr id="8" name="Text 6"/>
          <p:cNvSpPr txBox="1"/>
          <p:nvPr/>
        </p:nvSpPr>
        <p:spPr>
          <a:xfrm>
            <a:off x="969264" y="2212848"/>
            <a:ext cx="4654296" cy="147218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def set_age(age):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if age &lt; 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return "age cannot be negative"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return age</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total = set_age(-5) + 10</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-&gt; TypeError, far away from the real</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problem, with a confusing message</a:t>
            </a:r>
            <a:endParaRPr lang="en-US" sz="1000" dirty="0"/>
          </a:p>
        </p:txBody>
      </p:sp>
      <p:sp>
        <p:nvSpPr>
          <p:cNvPr id="9" name="Shape 7"/>
          <p:cNvSpPr/>
          <p:nvPr/>
        </p:nvSpPr>
        <p:spPr>
          <a:xfrm>
            <a:off x="6309360" y="1572768"/>
            <a:ext cx="530352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0" name="Text 8"/>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raise stops it at the source</a:t>
            </a:r>
            <a:endParaRPr lang="en-US" sz="1450" dirty="0"/>
          </a:p>
        </p:txBody>
      </p:sp>
      <p:sp>
        <p:nvSpPr>
          <p:cNvPr id="11" name="Shape 9"/>
          <p:cNvSpPr/>
          <p:nvPr/>
        </p:nvSpPr>
        <p:spPr>
          <a:xfrm>
            <a:off x="6565392" y="2103120"/>
            <a:ext cx="4800600" cy="1691640"/>
          </a:xfrm>
          <a:prstGeom prst="roundRect">
            <a:avLst>
              <a:gd name="adj" fmla="val 3784"/>
            </a:avLst>
          </a:prstGeom>
          <a:solidFill>
            <a:srgbClr val="1B2B45"/>
          </a:solidFill>
          <a:ln w="12700">
            <a:solidFill>
              <a:srgbClr val="1B2B45"/>
            </a:solidFill>
            <a:prstDash val="solid"/>
          </a:ln>
        </p:spPr>
      </p:sp>
      <p:sp>
        <p:nvSpPr>
          <p:cNvPr id="12" name="Text 10"/>
          <p:cNvSpPr txBox="1"/>
          <p:nvPr/>
        </p:nvSpPr>
        <p:spPr>
          <a:xfrm>
            <a:off x="6729984" y="2212848"/>
            <a:ext cx="4471416" cy="14721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def set_age(age):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if age &lt; 0:</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raise ValueError("age cannot be negative")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return age</a:t>
            </a:r>
            <a:endParaRPr lang="en-US" sz="950" dirty="0"/>
          </a:p>
          <a:p>
            <a:pPr indent="0" marL="0">
              <a:lnSpc>
                <a:spcPct val="112000"/>
              </a:lnSpc>
              <a:buNone/>
            </a:pP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set_age(-5)</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-&gt; ValueError: age cannot be negative</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pointing at the line that was wrong</a:t>
            </a:r>
            <a:endParaRPr lang="en-US" sz="950" dirty="0"/>
          </a:p>
        </p:txBody>
      </p:sp>
      <p:sp>
        <p:nvSpPr>
          <p:cNvPr id="13" name="Shape 11"/>
          <p:cNvSpPr/>
          <p:nvPr/>
        </p:nvSpPr>
        <p:spPr>
          <a:xfrm>
            <a:off x="548640" y="4343400"/>
            <a:ext cx="11064240" cy="1508760"/>
          </a:xfrm>
          <a:prstGeom prst="roundRect">
            <a:avLst>
              <a:gd name="adj" fmla="val 5455"/>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68680" y="4498848"/>
            <a:ext cx="6400800" cy="274320"/>
          </a:xfrm>
          <a:prstGeom prst="rect">
            <a:avLst/>
          </a:prstGeom>
          <a:noFill/>
          <a:ln/>
        </p:spPr>
        <p:txBody>
          <a:bodyPr wrap="square" lIns="0" tIns="0" rIns="0" bIns="0" rtlCol="0" anchor="ctr"/>
          <a:lstStyle/>
          <a:p>
            <a:pPr indent="0" marL="0">
              <a:buNone/>
            </a:pPr>
            <a:r>
              <a:rPr lang="en-US" sz="1450" b="1" dirty="0">
                <a:solidFill>
                  <a:srgbClr val="8A5B00"/>
                </a:solidFill>
                <a:latin typeface="Calibri" pitchFamily="34" charset="0"/>
                <a:ea typeface="Calibri" pitchFamily="34" charset="-122"/>
                <a:cs typeface="Calibri" pitchFamily="34" charset="-120"/>
              </a:rPr>
              <a:t>Pick the type that already describes the problem</a:t>
            </a:r>
            <a:endParaRPr lang="en-US" sz="1450" dirty="0"/>
          </a:p>
        </p:txBody>
      </p:sp>
      <p:sp>
        <p:nvSpPr>
          <p:cNvPr id="15" name="Shape 13"/>
          <p:cNvSpPr/>
          <p:nvPr/>
        </p:nvSpPr>
        <p:spPr>
          <a:xfrm>
            <a:off x="868680" y="4809744"/>
            <a:ext cx="5212080" cy="868680"/>
          </a:xfrm>
          <a:prstGeom prst="roundRect">
            <a:avLst>
              <a:gd name="adj" fmla="val 7368"/>
            </a:avLst>
          </a:prstGeom>
          <a:solidFill>
            <a:srgbClr val="1B2B45"/>
          </a:solidFill>
          <a:ln w="12700">
            <a:solidFill>
              <a:srgbClr val="1B2B45"/>
            </a:solidFill>
            <a:prstDash val="solid"/>
          </a:ln>
        </p:spPr>
      </p:sp>
      <p:sp>
        <p:nvSpPr>
          <p:cNvPr id="16" name="Text 14"/>
          <p:cNvSpPr txBox="1"/>
          <p:nvPr/>
        </p:nvSpPr>
        <p:spPr>
          <a:xfrm>
            <a:off x="1033272" y="4919472"/>
            <a:ext cx="4882896" cy="6492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ValueError   right type, unacceptable value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TypeError    wrong type altogether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KeyError     a missing key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FileNotFoundError   a missing file</a:t>
            </a:r>
            <a:endParaRPr lang="en-US" sz="1000" dirty="0"/>
          </a:p>
        </p:txBody>
      </p:sp>
      <p:sp>
        <p:nvSpPr>
          <p:cNvPr id="17" name="Text 15"/>
          <p:cNvSpPr txBox="1"/>
          <p:nvPr/>
        </p:nvSpPr>
        <p:spPr>
          <a:xfrm>
            <a:off x="6400800" y="4791456"/>
            <a:ext cx="4983480" cy="91440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Reusing a built-in type means anyone reading your code — and any code already catching ValueError — understands it immediately. Always include a message that says what was wrong AND what was expected. “Invalid input” helps nobody.</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3.2  ·  CUSTOM EXCEPTIONS</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Your own exception types</a:t>
            </a:r>
            <a:endParaRPr lang="en-US" sz="3200" dirty="0"/>
          </a:p>
        </p:txBody>
      </p:sp>
      <p:sp>
        <p:nvSpPr>
          <p:cNvPr id="5" name="Shape 3"/>
          <p:cNvSpPr/>
          <p:nvPr/>
        </p:nvSpPr>
        <p:spPr>
          <a:xfrm>
            <a:off x="548640" y="1572768"/>
            <a:ext cx="5486400" cy="2560320"/>
          </a:xfrm>
          <a:prstGeom prst="roundRect">
            <a:avLst>
              <a:gd name="adj" fmla="val 321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class that inherits from Exception</a:t>
            </a:r>
            <a:endParaRPr lang="en-US" sz="1500" dirty="0"/>
          </a:p>
        </p:txBody>
      </p:sp>
      <p:sp>
        <p:nvSpPr>
          <p:cNvPr id="7" name="Shape 5"/>
          <p:cNvSpPr/>
          <p:nvPr/>
        </p:nvSpPr>
        <p:spPr>
          <a:xfrm>
            <a:off x="804672" y="2103120"/>
            <a:ext cx="4983480" cy="1828800"/>
          </a:xfrm>
          <a:prstGeom prst="roundRect">
            <a:avLst>
              <a:gd name="adj" fmla="val 3500"/>
            </a:avLst>
          </a:prstGeom>
          <a:solidFill>
            <a:srgbClr val="1B2B45"/>
          </a:solidFill>
          <a:ln w="12700">
            <a:solidFill>
              <a:srgbClr val="1B2B45"/>
            </a:solidFill>
            <a:prstDash val="solid"/>
          </a:ln>
        </p:spPr>
      </p:sp>
      <p:sp>
        <p:nvSpPr>
          <p:cNvPr id="8" name="Text 6"/>
          <p:cNvSpPr txBox="1"/>
          <p:nvPr/>
        </p:nvSpPr>
        <p:spPr>
          <a:xfrm>
            <a:off x="969264" y="2212848"/>
            <a:ext cx="4654296" cy="160934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class InvalidMarkError(Exception):</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"""A mark outside 0-100."""</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record(mark):</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if not 0 &lt;= mark &lt;= 100:</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raise InvalidMarkError(f"got {mark}")</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mark</a:t>
            </a:r>
            <a:endParaRPr lang="en-US" sz="1050" dirty="0"/>
          </a:p>
        </p:txBody>
      </p:sp>
      <p:sp>
        <p:nvSpPr>
          <p:cNvPr id="9" name="Text 7"/>
          <p:cNvSpPr txBox="1"/>
          <p:nvPr/>
        </p:nvSpPr>
        <p:spPr>
          <a:xfrm>
            <a:off x="804672" y="4023360"/>
            <a:ext cx="4983480" cy="27432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That is the whole definition — a name, a parent, and a docstring. No methods needed.</a:t>
            </a:r>
            <a:endParaRPr lang="en-US" sz="1150" dirty="0"/>
          </a:p>
        </p:txBody>
      </p:sp>
      <p:sp>
        <p:nvSpPr>
          <p:cNvPr id="10" name="Shape 8"/>
          <p:cNvSpPr/>
          <p:nvPr/>
        </p:nvSpPr>
        <p:spPr>
          <a:xfrm>
            <a:off x="6309360" y="1572768"/>
            <a:ext cx="5303520" cy="2560320"/>
          </a:xfrm>
          <a:prstGeom prst="roundRect">
            <a:avLst>
              <a:gd name="adj" fmla="val 3214"/>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Text 9"/>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Why bother, instead of ValueError?</a:t>
            </a:r>
            <a:endParaRPr lang="en-US" sz="1500" dirty="0"/>
          </a:p>
        </p:txBody>
      </p:sp>
      <p:sp>
        <p:nvSpPr>
          <p:cNvPr id="12" name="Text 10"/>
          <p:cNvSpPr txBox="1"/>
          <p:nvPr/>
        </p:nvSpPr>
        <p:spPr>
          <a:xfrm>
            <a:off x="6675120" y="2103120"/>
            <a:ext cx="4572000" cy="192024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Callers can catch YOUR error without also catching every unrelated ValueError</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 name documents the rule that was broken</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You can group them: give your project one BaseError and inherit the rest from it</a:t>
            </a:r>
            <a:endParaRPr lang="en-US" sz="1200" dirty="0"/>
          </a:p>
        </p:txBody>
      </p:sp>
      <p:sp>
        <p:nvSpPr>
          <p:cNvPr id="13" name="Shape 11"/>
          <p:cNvSpPr/>
          <p:nvPr/>
        </p:nvSpPr>
        <p:spPr>
          <a:xfrm>
            <a:off x="548640" y="4343400"/>
            <a:ext cx="11064240" cy="1508760"/>
          </a:xfrm>
          <a:prstGeom prst="roundRect">
            <a:avLst>
              <a:gd name="adj" fmla="val 5455"/>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4" name="Text 12"/>
          <p:cNvSpPr txBox="1"/>
          <p:nvPr/>
        </p:nvSpPr>
        <p:spPr>
          <a:xfrm>
            <a:off x="822960" y="4498848"/>
            <a:ext cx="6400800" cy="274320"/>
          </a:xfrm>
          <a:prstGeom prst="rect">
            <a:avLst/>
          </a:prstGeom>
          <a:noFill/>
          <a:ln/>
        </p:spPr>
        <p:txBody>
          <a:bodyPr wrap="square" lIns="0" tIns="0" rIns="0" bIns="0" rtlCol="0" anchor="ctr"/>
          <a:lstStyle/>
          <a:p>
            <a:pPr indent="0" marL="0">
              <a:buNone/>
            </a:pPr>
            <a:r>
              <a:rPr lang="en-US" sz="1450" b="1" dirty="0">
                <a:solidFill>
                  <a:srgbClr val="1F3A5F"/>
                </a:solidFill>
                <a:latin typeface="Calibri" pitchFamily="34" charset="0"/>
                <a:ea typeface="Calibri" pitchFamily="34" charset="-122"/>
                <a:cs typeface="Calibri" pitchFamily="34" charset="-120"/>
              </a:rPr>
              <a:t>Re-raising — handle part of it, then pass it on</a:t>
            </a:r>
            <a:endParaRPr lang="en-US" sz="1450" dirty="0"/>
          </a:p>
        </p:txBody>
      </p:sp>
      <p:sp>
        <p:nvSpPr>
          <p:cNvPr id="15" name="Shape 13"/>
          <p:cNvSpPr/>
          <p:nvPr/>
        </p:nvSpPr>
        <p:spPr>
          <a:xfrm>
            <a:off x="822960" y="4809744"/>
            <a:ext cx="5212080" cy="868680"/>
          </a:xfrm>
          <a:prstGeom prst="roundRect">
            <a:avLst>
              <a:gd name="adj" fmla="val 7368"/>
            </a:avLst>
          </a:prstGeom>
          <a:solidFill>
            <a:srgbClr val="1B2B45"/>
          </a:solidFill>
          <a:ln w="12700">
            <a:solidFill>
              <a:srgbClr val="1B2B45"/>
            </a:solidFill>
            <a:prstDash val="solid"/>
          </a:ln>
        </p:spPr>
      </p:sp>
      <p:sp>
        <p:nvSpPr>
          <p:cNvPr id="16" name="Text 14"/>
          <p:cNvSpPr txBox="1"/>
          <p:nvPr/>
        </p:nvSpPr>
        <p:spPr>
          <a:xfrm>
            <a:off x="987552" y="4919472"/>
            <a:ext cx="4882896" cy="64922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try: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load(path)</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except FileNotFoundError:</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log("missing file")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raise            # bare raise re-throws the SAME error</a:t>
            </a:r>
            <a:endParaRPr lang="en-US" sz="1000" dirty="0"/>
          </a:p>
        </p:txBody>
      </p:sp>
      <p:sp>
        <p:nvSpPr>
          <p:cNvPr id="17" name="Text 15"/>
          <p:cNvSpPr txBox="1"/>
          <p:nvPr/>
        </p:nvSpPr>
        <p:spPr>
          <a:xfrm>
            <a:off x="6400800" y="4791456"/>
            <a:ext cx="4983480" cy="91440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A bare  raise  inside an except block re-throws what you just caught, keeping the original traceback intact. Use it when you want to record that something happened but still let the caller decide what to do about it — logging is not handling.</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822960" y="2057400"/>
            <a:ext cx="777240" cy="777240"/>
          </a:xfrm>
          <a:prstGeom prst="ellipse">
            <a:avLst/>
          </a:prstGeom>
          <a:solidFill>
            <a:srgbClr val="FFC145"/>
          </a:solidFill>
          <a:ln w="12700">
            <a:solidFill>
              <a:srgbClr val="FFC145"/>
            </a:solidFill>
            <a:prstDash val="solid"/>
          </a:ln>
        </p:spPr>
      </p:sp>
      <p:sp>
        <p:nvSpPr>
          <p:cNvPr id="4" name="Text 2"/>
          <p:cNvSpPr txBox="1"/>
          <p:nvPr/>
        </p:nvSpPr>
        <p:spPr>
          <a:xfrm>
            <a:off x="822960" y="2057400"/>
            <a:ext cx="777240" cy="777240"/>
          </a:xfrm>
          <a:prstGeom prst="rect">
            <a:avLst/>
          </a:prstGeom>
          <a:noFill/>
          <a:ln/>
        </p:spPr>
        <p:txBody>
          <a:bodyPr wrap="square" lIns="0" tIns="0" rIns="0" bIns="0" rtlCol="0" anchor="ctr"/>
          <a:lstStyle/>
          <a:p>
            <a:pPr algn="ctr" indent="0" marL="0">
              <a:buNone/>
            </a:pPr>
            <a:r>
              <a:rPr lang="en-US" sz="3000" b="1" dirty="0">
                <a:solidFill>
                  <a:srgbClr val="152238"/>
                </a:solidFill>
                <a:latin typeface="Calibri" pitchFamily="34" charset="0"/>
                <a:ea typeface="Calibri" pitchFamily="34" charset="-122"/>
                <a:cs typeface="Calibri" pitchFamily="34" charset="-120"/>
              </a:rPr>
              <a:t>4</a:t>
            </a:r>
            <a:endParaRPr lang="en-US" sz="3000" dirty="0"/>
          </a:p>
        </p:txBody>
      </p:sp>
      <p:sp>
        <p:nvSpPr>
          <p:cNvPr id="5" name="Text 3"/>
          <p:cNvSpPr txBox="1"/>
          <p:nvPr/>
        </p:nvSpPr>
        <p:spPr>
          <a:xfrm>
            <a:off x="1920240" y="1965960"/>
            <a:ext cx="6766560" cy="777240"/>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Modules &amp; Packages</a:t>
            </a:r>
            <a:endParaRPr lang="en-US" sz="4000" dirty="0"/>
          </a:p>
        </p:txBody>
      </p:sp>
      <p:sp>
        <p:nvSpPr>
          <p:cNvPr id="6" name="Text 4"/>
          <p:cNvSpPr txBox="1"/>
          <p:nvPr/>
        </p:nvSpPr>
        <p:spPr>
          <a:xfrm>
            <a:off x="1947672" y="2788920"/>
            <a:ext cx="6949440" cy="457200"/>
          </a:xfrm>
          <a:prstGeom prst="rect">
            <a:avLst/>
          </a:prstGeom>
          <a:noFill/>
          <a:ln/>
        </p:spPr>
        <p:txBody>
          <a:bodyPr wrap="square" lIns="0" tIns="0" rIns="0" bIns="0" rtlCol="0" anchor="ctr"/>
          <a:lstStyle/>
          <a:p>
            <a:pPr indent="0" marL="0">
              <a:buNone/>
            </a:pPr>
            <a:r>
              <a:rPr lang="en-US" sz="1600" dirty="0">
                <a:solidFill>
                  <a:srgbClr val="AFC2DC"/>
                </a:solidFill>
                <a:latin typeface="Calibri" pitchFamily="34" charset="0"/>
                <a:ea typeface="Calibri" pitchFamily="34" charset="-122"/>
                <a:cs typeface="Calibri" pitchFamily="34" charset="-120"/>
              </a:rPr>
              <a:t>Using code other people wrote  ·  25 minutes</a:t>
            </a:r>
            <a:endParaRPr lang="en-US" sz="1600" dirty="0"/>
          </a:p>
        </p:txBody>
      </p:sp>
      <p:sp>
        <p:nvSpPr>
          <p:cNvPr id="7" name="Text 5"/>
          <p:cNvSpPr txBox="1"/>
          <p:nvPr/>
        </p:nvSpPr>
        <p:spPr>
          <a:xfrm>
            <a:off x="9144000" y="2011680"/>
            <a:ext cx="2468880" cy="2194560"/>
          </a:xfrm>
          <a:prstGeom prst="rect">
            <a:avLst/>
          </a:prstGeom>
          <a:noFill/>
          <a:ln/>
        </p:spPr>
        <p:txBody>
          <a:bodyPr wrap="square" lIns="0" tIns="0" rIns="0" bIns="0" rtlCol="0" anchor="ctr"/>
          <a:lstStyle/>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import forms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The standard library</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Your own modules</a:t>
            </a:r>
            <a:endParaRPr lang="en-US" sz="1300" dirty="0"/>
          </a:p>
          <a:p>
            <a:pPr marL="342900" indent="-342900">
              <a:spcAft>
                <a:spcPts val="600"/>
              </a:spcAft>
              <a:buSzPct val="100000"/>
              <a:buChar char="•"/>
            </a:pPr>
            <a:r>
              <a:rPr lang="en-US" sz="1300" dirty="0">
                <a:solidFill>
                  <a:srgbClr val="8FA6C4"/>
                </a:solidFill>
                <a:latin typeface="Calibri" pitchFamily="34" charset="0"/>
                <a:ea typeface="Calibri" pitchFamily="34" charset="-122"/>
                <a:cs typeface="Calibri" pitchFamily="34" charset="-120"/>
              </a:rPr>
              <a:t>pip</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4.1  ·  import</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Four ways to import — and which to prefer</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600200"/>
          <a:ext cx="11064240" cy="914400"/>
        </p:xfrm>
        <a:graphic>
          <a:graphicData uri="http://schemas.openxmlformats.org/drawingml/2006/table">
            <a:tbl>
              <a:tblPr/>
              <a:tblGrid>
                <a:gridCol w="3108960"/>
                <a:gridCol w="2743200"/>
                <a:gridCol w="5212080"/>
              </a:tblGrid>
              <a:tr h="457200">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write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then 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57200">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import math</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math.sqrt(9)</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default — the source stays visible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import numpy as np</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np.array(...)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long names, or a community convention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from math import sqrt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sqrt(9)</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one or two names you use constantly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57200">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from math import *</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sqrt(9)</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never — see below</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3703320"/>
            <a:ext cx="5486400" cy="2148840"/>
          </a:xfrm>
          <a:prstGeom prst="roundRect">
            <a:avLst>
              <a:gd name="adj" fmla="val 3830"/>
            </a:avLst>
          </a:prstGeom>
          <a:solidFill>
            <a:srgbClr val="FDECE8"/>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04672" y="3849624"/>
            <a:ext cx="4937760" cy="301752"/>
          </a:xfrm>
          <a:prstGeom prst="rect">
            <a:avLst/>
          </a:prstGeom>
          <a:noFill/>
          <a:ln/>
        </p:spPr>
        <p:txBody>
          <a:bodyPr wrap="square" lIns="0" tIns="0" rIns="0" bIns="0" rtlCol="0" anchor="ctr"/>
          <a:lstStyle/>
          <a:p>
            <a:pPr indent="0" marL="0">
              <a:buNone/>
            </a:pPr>
            <a:r>
              <a:rPr lang="en-US" sz="1450" b="1" dirty="0">
                <a:solidFill>
                  <a:srgbClr val="A63B24"/>
                </a:solidFill>
                <a:latin typeface="Calibri" pitchFamily="34" charset="0"/>
                <a:ea typeface="Calibri" pitchFamily="34" charset="-122"/>
                <a:cs typeface="Calibri" pitchFamily="34" charset="-120"/>
              </a:rPr>
              <a:t>⚠  Why  import *  is banned everywhere</a:t>
            </a:r>
            <a:endParaRPr lang="en-US" sz="1450" dirty="0"/>
          </a:p>
        </p:txBody>
      </p:sp>
      <p:sp>
        <p:nvSpPr>
          <p:cNvPr id="8" name="Shape 5"/>
          <p:cNvSpPr/>
          <p:nvPr/>
        </p:nvSpPr>
        <p:spPr>
          <a:xfrm>
            <a:off x="804672" y="4206240"/>
            <a:ext cx="4983480" cy="1005840"/>
          </a:xfrm>
          <a:prstGeom prst="roundRect">
            <a:avLst>
              <a:gd name="adj" fmla="val 6364"/>
            </a:avLst>
          </a:prstGeom>
          <a:solidFill>
            <a:srgbClr val="1B2B45"/>
          </a:solidFill>
          <a:ln w="12700">
            <a:solidFill>
              <a:srgbClr val="1B2B45"/>
            </a:solidFill>
            <a:prstDash val="solid"/>
          </a:ln>
        </p:spPr>
      </p:sp>
      <p:sp>
        <p:nvSpPr>
          <p:cNvPr id="9" name="Text 6"/>
          <p:cNvSpPr txBox="1"/>
          <p:nvPr/>
        </p:nvSpPr>
        <p:spPr>
          <a:xfrm>
            <a:off x="969264" y="4315968"/>
            <a:ext cx="4654296" cy="7863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from math import *</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from numpy import *</a:t>
            </a:r>
            <a:endParaRPr lang="en-US" sz="1050" dirty="0"/>
          </a:p>
          <a:p>
            <a:pPr indent="0" marL="0">
              <a:lnSpc>
                <a:spcPct val="112000"/>
              </a:lnSpc>
              <a:buNone/>
            </a:pP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sqrt(-1)      # whose sqrt is this now?</a:t>
            </a:r>
            <a:endParaRPr lang="en-US" sz="1050" dirty="0"/>
          </a:p>
        </p:txBody>
      </p:sp>
      <p:sp>
        <p:nvSpPr>
          <p:cNvPr id="10" name="Text 7"/>
          <p:cNvSpPr txBox="1"/>
          <p:nvPr/>
        </p:nvSpPr>
        <p:spPr>
          <a:xfrm>
            <a:off x="804672" y="5303520"/>
            <a:ext cx="4983480" cy="457200"/>
          </a:xfrm>
          <a:prstGeom prst="rect">
            <a:avLst/>
          </a:prstGeom>
          <a:noFill/>
          <a:ln/>
        </p:spPr>
        <p:txBody>
          <a:bodyPr wrap="square" lIns="0" tIns="0" rIns="0" bIns="0" rtlCol="0" anchor="ctr"/>
          <a:lstStyle/>
          <a:p>
            <a:pPr indent="0" marL="0">
              <a:lnSpc>
                <a:spcPct val="112000"/>
              </a:lnSpc>
              <a:buNone/>
            </a:pPr>
            <a:r>
              <a:rPr lang="en-US" sz="1150" dirty="0">
                <a:solidFill>
                  <a:srgbClr val="6B4A0B"/>
                </a:solidFill>
                <a:latin typeface="Calibri" pitchFamily="34" charset="0"/>
                <a:ea typeface="Calibri" pitchFamily="34" charset="-122"/>
                <a:cs typeface="Calibri" pitchFamily="34" charset="-120"/>
              </a:rPr>
              <a:t>Every name lands in your namespace at once, silently shadowing anything with the same name — including your own variables. You lose all trace of where a function came from.</a:t>
            </a:r>
            <a:endParaRPr lang="en-US" sz="1150" dirty="0"/>
          </a:p>
        </p:txBody>
      </p:sp>
      <p:sp>
        <p:nvSpPr>
          <p:cNvPr id="11" name="Shape 8"/>
          <p:cNvSpPr/>
          <p:nvPr/>
        </p:nvSpPr>
        <p:spPr>
          <a:xfrm>
            <a:off x="6309360" y="3703320"/>
            <a:ext cx="5303520" cy="2148840"/>
          </a:xfrm>
          <a:prstGeom prst="roundRect">
            <a:avLst>
              <a:gd name="adj" fmla="val 3830"/>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Text 9"/>
          <p:cNvSpPr txBox="1"/>
          <p:nvPr/>
        </p:nvSpPr>
        <p:spPr>
          <a:xfrm>
            <a:off x="6565392" y="3849624"/>
            <a:ext cx="4754880" cy="301752"/>
          </a:xfrm>
          <a:prstGeom prst="rect">
            <a:avLst/>
          </a:prstGeom>
          <a:noFill/>
          <a:ln/>
        </p:spPr>
        <p:txBody>
          <a:bodyPr wrap="square" lIns="0" tIns="0" rIns="0" bIns="0" rtlCol="0" anchor="ctr"/>
          <a:lstStyle/>
          <a:p>
            <a:pPr indent="0" marL="0">
              <a:buNone/>
            </a:pPr>
            <a:r>
              <a:rPr lang="en-US" sz="1450" b="1" dirty="0">
                <a:solidFill>
                  <a:srgbClr val="1C6F5C"/>
                </a:solidFill>
                <a:latin typeface="Calibri" pitchFamily="34" charset="0"/>
                <a:ea typeface="Calibri" pitchFamily="34" charset="-122"/>
                <a:cs typeface="Calibri" pitchFamily="34" charset="-120"/>
              </a:rPr>
              <a:t>The conventions you will see everywhere</a:t>
            </a:r>
            <a:endParaRPr lang="en-US" sz="1450" dirty="0"/>
          </a:p>
        </p:txBody>
      </p:sp>
      <p:sp>
        <p:nvSpPr>
          <p:cNvPr id="13" name="Shape 10"/>
          <p:cNvSpPr/>
          <p:nvPr/>
        </p:nvSpPr>
        <p:spPr>
          <a:xfrm>
            <a:off x="6565392" y="4206240"/>
            <a:ext cx="4800600" cy="1234440"/>
          </a:xfrm>
          <a:prstGeom prst="roundRect">
            <a:avLst>
              <a:gd name="adj" fmla="val 5185"/>
            </a:avLst>
          </a:prstGeom>
          <a:solidFill>
            <a:srgbClr val="1B2B45"/>
          </a:solidFill>
          <a:ln w="12700">
            <a:solidFill>
              <a:srgbClr val="1B2B45"/>
            </a:solidFill>
            <a:prstDash val="solid"/>
          </a:ln>
        </p:spPr>
      </p:sp>
      <p:sp>
        <p:nvSpPr>
          <p:cNvPr id="14" name="Text 11"/>
          <p:cNvSpPr txBox="1"/>
          <p:nvPr/>
        </p:nvSpPr>
        <p:spPr>
          <a:xfrm>
            <a:off x="6729984" y="4315968"/>
            <a:ext cx="4471416" cy="1014984"/>
          </a:xfrm>
          <a:prstGeom prst="rect">
            <a:avLst/>
          </a:prstGeom>
          <a:noFill/>
          <a:ln/>
        </p:spPr>
        <p:txBody>
          <a:bodyPr wrap="square" lIns="0" tIns="0" rIns="0" bIns="0" rtlCol="0" anchor="t"/>
          <a:lstStyle/>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import numpy as np</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import pandas as pd</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import matplotlib.pyplot as plt</a:t>
            </a:r>
            <a:endParaRPr lang="en-US" sz="1100" dirty="0"/>
          </a:p>
          <a:p>
            <a:pPr indent="0" marL="0">
              <a:lnSpc>
                <a:spcPct val="112000"/>
              </a:lnSpc>
              <a:buNone/>
            </a:pPr>
            <a:r>
              <a:rPr lang="en-US" sz="1100" dirty="0">
                <a:solidFill>
                  <a:srgbClr val="E7EEF8"/>
                </a:solidFill>
                <a:latin typeface="Courier New" pitchFamily="34" charset="0"/>
                <a:ea typeface="Courier New" pitchFamily="34" charset="-122"/>
                <a:cs typeface="Courier New" pitchFamily="34" charset="-120"/>
              </a:rPr>
              <a:t>import seaborn as sns</a:t>
            </a:r>
            <a:endParaRPr lang="en-US" sz="1100" dirty="0"/>
          </a:p>
        </p:txBody>
      </p:sp>
      <p:sp>
        <p:nvSpPr>
          <p:cNvPr id="15" name="Text 12"/>
          <p:cNvSpPr txBox="1"/>
          <p:nvPr/>
        </p:nvSpPr>
        <p:spPr>
          <a:xfrm>
            <a:off x="6565392" y="5504688"/>
            <a:ext cx="4800600" cy="274320"/>
          </a:xfrm>
          <a:prstGeom prst="rect">
            <a:avLst/>
          </a:prstGeom>
          <a:noFill/>
          <a:ln/>
        </p:spPr>
        <p:txBody>
          <a:bodyPr wrap="square" lIns="0" tIns="0" rIns="0" bIns="0" rtlCol="0" anchor="ctr"/>
          <a:lstStyle/>
          <a:p>
            <a:pPr indent="0" marL="0">
              <a:buNone/>
            </a:pPr>
            <a:r>
              <a:rPr lang="en-US" sz="1150" i="1" dirty="0">
                <a:solidFill>
                  <a:srgbClr val="1C6F5C"/>
                </a:solidFill>
                <a:latin typeface="Calibri" pitchFamily="34" charset="0"/>
                <a:ea typeface="Calibri" pitchFamily="34" charset="-122"/>
                <a:cs typeface="Calibri" pitchFamily="34" charset="-120"/>
              </a:rPr>
              <a:t>Use these exact aliases. Every tutorial, answer and colleague assumes them.</a:t>
            </a:r>
            <a:endParaRPr lang="en-US" sz="11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4.2  ·  BATTERIES INCLUDED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The standard library — already installed, already tested</a:t>
            </a:r>
            <a:endParaRPr lang="en-US" sz="3200" dirty="0"/>
          </a:p>
        </p:txBody>
      </p:sp>
      <p:sp>
        <p:nvSpPr>
          <p:cNvPr id="5" name="Shape 3"/>
          <p:cNvSpPr/>
          <p:nvPr/>
        </p:nvSpPr>
        <p:spPr>
          <a:xfrm>
            <a:off x="548640" y="1600200"/>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49808" y="1783080"/>
            <a:ext cx="1371600" cy="438912"/>
          </a:xfrm>
          <a:prstGeom prst="roundRect">
            <a:avLst>
              <a:gd name="adj" fmla="val 12500"/>
            </a:avLst>
          </a:prstGeom>
          <a:solidFill>
            <a:srgbClr val="3E7CB1"/>
          </a:solidFill>
          <a:ln w="12700">
            <a:solidFill>
              <a:srgbClr val="333333"/>
            </a:solidFill>
            <a:prstDash val="solid"/>
          </a:ln>
        </p:spPr>
      </p:sp>
      <p:sp>
        <p:nvSpPr>
          <p:cNvPr id="7" name="Text 5"/>
          <p:cNvSpPr txBox="1"/>
          <p:nvPr/>
        </p:nvSpPr>
        <p:spPr>
          <a:xfrm>
            <a:off x="749808" y="1783080"/>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math</a:t>
            </a:r>
            <a:endParaRPr lang="en-US" sz="1050" dirty="0"/>
          </a:p>
        </p:txBody>
      </p:sp>
      <p:sp>
        <p:nvSpPr>
          <p:cNvPr id="8" name="Text 6"/>
          <p:cNvSpPr txBox="1"/>
          <p:nvPr/>
        </p:nvSpPr>
        <p:spPr>
          <a:xfrm>
            <a:off x="2249424" y="1737360"/>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sqrt, pi, floor, isclose</a:t>
            </a:r>
            <a:endParaRPr lang="en-US" sz="1050" dirty="0"/>
          </a:p>
        </p:txBody>
      </p:sp>
      <p:sp>
        <p:nvSpPr>
          <p:cNvPr id="9" name="Text 7"/>
          <p:cNvSpPr txBox="1"/>
          <p:nvPr/>
        </p:nvSpPr>
        <p:spPr>
          <a:xfrm>
            <a:off x="2249424" y="2020824"/>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Day 1's float comparison</a:t>
            </a:r>
            <a:endParaRPr lang="en-US" sz="1050" dirty="0"/>
          </a:p>
        </p:txBody>
      </p:sp>
      <p:sp>
        <p:nvSpPr>
          <p:cNvPr id="10" name="Shape 8"/>
          <p:cNvSpPr/>
          <p:nvPr/>
        </p:nvSpPr>
        <p:spPr>
          <a:xfrm>
            <a:off x="6263640" y="1600200"/>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1" name="Shape 9"/>
          <p:cNvSpPr/>
          <p:nvPr/>
        </p:nvSpPr>
        <p:spPr>
          <a:xfrm>
            <a:off x="6464808" y="1783080"/>
            <a:ext cx="1371600" cy="438912"/>
          </a:xfrm>
          <a:prstGeom prst="roundRect">
            <a:avLst>
              <a:gd name="adj" fmla="val 12500"/>
            </a:avLst>
          </a:prstGeom>
          <a:solidFill>
            <a:srgbClr val="3E7CB1"/>
          </a:solidFill>
          <a:ln w="12700">
            <a:solidFill>
              <a:srgbClr val="333333"/>
            </a:solidFill>
            <a:prstDash val="solid"/>
          </a:ln>
        </p:spPr>
      </p:sp>
      <p:sp>
        <p:nvSpPr>
          <p:cNvPr id="12" name="Text 10"/>
          <p:cNvSpPr txBox="1"/>
          <p:nvPr/>
        </p:nvSpPr>
        <p:spPr>
          <a:xfrm>
            <a:off x="6464808" y="1783080"/>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random</a:t>
            </a:r>
            <a:endParaRPr lang="en-US" sz="1050" dirty="0"/>
          </a:p>
        </p:txBody>
      </p:sp>
      <p:sp>
        <p:nvSpPr>
          <p:cNvPr id="13" name="Text 11"/>
          <p:cNvSpPr txBox="1"/>
          <p:nvPr/>
        </p:nvSpPr>
        <p:spPr>
          <a:xfrm>
            <a:off x="7964424" y="1737360"/>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randint, choice, shuffle, sample</a:t>
            </a:r>
            <a:endParaRPr lang="en-US" sz="1050" dirty="0"/>
          </a:p>
        </p:txBody>
      </p:sp>
      <p:sp>
        <p:nvSpPr>
          <p:cNvPr id="14" name="Text 12"/>
          <p:cNvSpPr txBox="1"/>
          <p:nvPr/>
        </p:nvSpPr>
        <p:spPr>
          <a:xfrm>
            <a:off x="7964424" y="2020824"/>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Day 2's guessing game</a:t>
            </a:r>
            <a:endParaRPr lang="en-US" sz="1050" dirty="0"/>
          </a:p>
        </p:txBody>
      </p:sp>
      <p:sp>
        <p:nvSpPr>
          <p:cNvPr id="15" name="Shape 13"/>
          <p:cNvSpPr/>
          <p:nvPr/>
        </p:nvSpPr>
        <p:spPr>
          <a:xfrm>
            <a:off x="548640" y="2542032"/>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6" name="Shape 14"/>
          <p:cNvSpPr/>
          <p:nvPr/>
        </p:nvSpPr>
        <p:spPr>
          <a:xfrm>
            <a:off x="749808" y="2724912"/>
            <a:ext cx="1371600" cy="438912"/>
          </a:xfrm>
          <a:prstGeom prst="roundRect">
            <a:avLst>
              <a:gd name="adj" fmla="val 12500"/>
            </a:avLst>
          </a:prstGeom>
          <a:solidFill>
            <a:srgbClr val="3E7CB1"/>
          </a:solidFill>
          <a:ln w="12700">
            <a:solidFill>
              <a:srgbClr val="333333"/>
            </a:solidFill>
            <a:prstDash val="solid"/>
          </a:ln>
        </p:spPr>
      </p:sp>
      <p:sp>
        <p:nvSpPr>
          <p:cNvPr id="17" name="Text 15"/>
          <p:cNvSpPr txBox="1"/>
          <p:nvPr/>
        </p:nvSpPr>
        <p:spPr>
          <a:xfrm>
            <a:off x="749808" y="2724912"/>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datetime</a:t>
            </a:r>
            <a:endParaRPr lang="en-US" sz="1050" dirty="0"/>
          </a:p>
        </p:txBody>
      </p:sp>
      <p:sp>
        <p:nvSpPr>
          <p:cNvPr id="18" name="Text 16"/>
          <p:cNvSpPr txBox="1"/>
          <p:nvPr/>
        </p:nvSpPr>
        <p:spPr>
          <a:xfrm>
            <a:off x="2249424" y="2679192"/>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dates, times, differences</a:t>
            </a:r>
            <a:endParaRPr lang="en-US" sz="1050" dirty="0"/>
          </a:p>
        </p:txBody>
      </p:sp>
      <p:sp>
        <p:nvSpPr>
          <p:cNvPr id="19" name="Text 17"/>
          <p:cNvSpPr txBox="1"/>
          <p:nvPr/>
        </p:nvSpPr>
        <p:spPr>
          <a:xfrm>
            <a:off x="2249424" y="2962656"/>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timestamps in a log</a:t>
            </a:r>
            <a:endParaRPr lang="en-US" sz="1050" dirty="0"/>
          </a:p>
        </p:txBody>
      </p:sp>
      <p:sp>
        <p:nvSpPr>
          <p:cNvPr id="20" name="Shape 18"/>
          <p:cNvSpPr/>
          <p:nvPr/>
        </p:nvSpPr>
        <p:spPr>
          <a:xfrm>
            <a:off x="6263640" y="2542032"/>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6464808" y="2724912"/>
            <a:ext cx="1371600" cy="438912"/>
          </a:xfrm>
          <a:prstGeom prst="roundRect">
            <a:avLst>
              <a:gd name="adj" fmla="val 12500"/>
            </a:avLst>
          </a:prstGeom>
          <a:solidFill>
            <a:srgbClr val="3E7CB1"/>
          </a:solidFill>
          <a:ln w="12700">
            <a:solidFill>
              <a:srgbClr val="333333"/>
            </a:solidFill>
            <a:prstDash val="solid"/>
          </a:ln>
        </p:spPr>
      </p:sp>
      <p:sp>
        <p:nvSpPr>
          <p:cNvPr id="22" name="Text 20"/>
          <p:cNvSpPr txBox="1"/>
          <p:nvPr/>
        </p:nvSpPr>
        <p:spPr>
          <a:xfrm>
            <a:off x="6464808" y="2724912"/>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csv</a:t>
            </a:r>
            <a:endParaRPr lang="en-US" sz="1050" dirty="0"/>
          </a:p>
        </p:txBody>
      </p:sp>
      <p:sp>
        <p:nvSpPr>
          <p:cNvPr id="23" name="Text 21"/>
          <p:cNvSpPr txBox="1"/>
          <p:nvPr/>
        </p:nvSpPr>
        <p:spPr>
          <a:xfrm>
            <a:off x="7964424" y="2679192"/>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reader, writer, DictReader</a:t>
            </a:r>
            <a:endParaRPr lang="en-US" sz="1050" dirty="0"/>
          </a:p>
        </p:txBody>
      </p:sp>
      <p:sp>
        <p:nvSpPr>
          <p:cNvPr id="24" name="Text 22"/>
          <p:cNvSpPr txBox="1"/>
          <p:nvPr/>
        </p:nvSpPr>
        <p:spPr>
          <a:xfrm>
            <a:off x="7964424" y="2962656"/>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Day 9</a:t>
            </a:r>
            <a:endParaRPr lang="en-US" sz="1050" dirty="0"/>
          </a:p>
        </p:txBody>
      </p:sp>
      <p:sp>
        <p:nvSpPr>
          <p:cNvPr id="25" name="Shape 23"/>
          <p:cNvSpPr/>
          <p:nvPr/>
        </p:nvSpPr>
        <p:spPr>
          <a:xfrm>
            <a:off x="548640" y="3483864"/>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6" name="Shape 24"/>
          <p:cNvSpPr/>
          <p:nvPr/>
        </p:nvSpPr>
        <p:spPr>
          <a:xfrm>
            <a:off x="749808" y="3666744"/>
            <a:ext cx="1371600" cy="438912"/>
          </a:xfrm>
          <a:prstGeom prst="roundRect">
            <a:avLst>
              <a:gd name="adj" fmla="val 12500"/>
            </a:avLst>
          </a:prstGeom>
          <a:solidFill>
            <a:srgbClr val="3E7CB1"/>
          </a:solidFill>
          <a:ln w="12700">
            <a:solidFill>
              <a:srgbClr val="333333"/>
            </a:solidFill>
            <a:prstDash val="solid"/>
          </a:ln>
        </p:spPr>
      </p:sp>
      <p:sp>
        <p:nvSpPr>
          <p:cNvPr id="27" name="Text 25"/>
          <p:cNvSpPr txBox="1"/>
          <p:nvPr/>
        </p:nvSpPr>
        <p:spPr>
          <a:xfrm>
            <a:off x="749808" y="3666744"/>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json</a:t>
            </a:r>
            <a:endParaRPr lang="en-US" sz="1050" dirty="0"/>
          </a:p>
        </p:txBody>
      </p:sp>
      <p:sp>
        <p:nvSpPr>
          <p:cNvPr id="28" name="Text 26"/>
          <p:cNvSpPr txBox="1"/>
          <p:nvPr/>
        </p:nvSpPr>
        <p:spPr>
          <a:xfrm>
            <a:off x="2249424" y="3621024"/>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loads, dumps</a:t>
            </a:r>
            <a:endParaRPr lang="en-US" sz="1050" dirty="0"/>
          </a:p>
        </p:txBody>
      </p:sp>
      <p:sp>
        <p:nvSpPr>
          <p:cNvPr id="29" name="Text 27"/>
          <p:cNvSpPr txBox="1"/>
          <p:nvPr/>
        </p:nvSpPr>
        <p:spPr>
          <a:xfrm>
            <a:off x="2249424" y="3904488"/>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web APIs and config files</a:t>
            </a:r>
            <a:endParaRPr lang="en-US" sz="1050" dirty="0"/>
          </a:p>
        </p:txBody>
      </p:sp>
      <p:sp>
        <p:nvSpPr>
          <p:cNvPr id="30" name="Shape 28"/>
          <p:cNvSpPr/>
          <p:nvPr/>
        </p:nvSpPr>
        <p:spPr>
          <a:xfrm>
            <a:off x="6263640" y="3483864"/>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1" name="Shape 29"/>
          <p:cNvSpPr/>
          <p:nvPr/>
        </p:nvSpPr>
        <p:spPr>
          <a:xfrm>
            <a:off x="6464808" y="3666744"/>
            <a:ext cx="1371600" cy="438912"/>
          </a:xfrm>
          <a:prstGeom prst="roundRect">
            <a:avLst>
              <a:gd name="adj" fmla="val 12500"/>
            </a:avLst>
          </a:prstGeom>
          <a:solidFill>
            <a:srgbClr val="3E7CB1"/>
          </a:solidFill>
          <a:ln w="12700">
            <a:solidFill>
              <a:srgbClr val="333333"/>
            </a:solidFill>
            <a:prstDash val="solid"/>
          </a:ln>
        </p:spPr>
      </p:sp>
      <p:sp>
        <p:nvSpPr>
          <p:cNvPr id="32" name="Text 30"/>
          <p:cNvSpPr txBox="1"/>
          <p:nvPr/>
        </p:nvSpPr>
        <p:spPr>
          <a:xfrm>
            <a:off x="6464808" y="3666744"/>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collections</a:t>
            </a:r>
            <a:endParaRPr lang="en-US" sz="1050" dirty="0"/>
          </a:p>
        </p:txBody>
      </p:sp>
      <p:sp>
        <p:nvSpPr>
          <p:cNvPr id="33" name="Text 31"/>
          <p:cNvSpPr txBox="1"/>
          <p:nvPr/>
        </p:nvSpPr>
        <p:spPr>
          <a:xfrm>
            <a:off x="7964424" y="3621024"/>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Counter, defaultdict</a:t>
            </a:r>
            <a:endParaRPr lang="en-US" sz="1050" dirty="0"/>
          </a:p>
        </p:txBody>
      </p:sp>
      <p:sp>
        <p:nvSpPr>
          <p:cNvPr id="34" name="Text 32"/>
          <p:cNvSpPr txBox="1"/>
          <p:nvPr/>
        </p:nvSpPr>
        <p:spPr>
          <a:xfrm>
            <a:off x="7964424" y="3904488"/>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Days 5 and 6</a:t>
            </a:r>
            <a:endParaRPr lang="en-US" sz="1050" dirty="0"/>
          </a:p>
        </p:txBody>
      </p:sp>
      <p:sp>
        <p:nvSpPr>
          <p:cNvPr id="35" name="Shape 33"/>
          <p:cNvSpPr/>
          <p:nvPr/>
        </p:nvSpPr>
        <p:spPr>
          <a:xfrm>
            <a:off x="548640" y="4425696"/>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6" name="Shape 34"/>
          <p:cNvSpPr/>
          <p:nvPr/>
        </p:nvSpPr>
        <p:spPr>
          <a:xfrm>
            <a:off x="749808" y="4608576"/>
            <a:ext cx="1371600" cy="438912"/>
          </a:xfrm>
          <a:prstGeom prst="roundRect">
            <a:avLst>
              <a:gd name="adj" fmla="val 12500"/>
            </a:avLst>
          </a:prstGeom>
          <a:solidFill>
            <a:srgbClr val="3E7CB1"/>
          </a:solidFill>
          <a:ln w="12700">
            <a:solidFill>
              <a:srgbClr val="333333"/>
            </a:solidFill>
            <a:prstDash val="solid"/>
          </a:ln>
        </p:spPr>
      </p:sp>
      <p:sp>
        <p:nvSpPr>
          <p:cNvPr id="37" name="Text 35"/>
          <p:cNvSpPr txBox="1"/>
          <p:nvPr/>
        </p:nvSpPr>
        <p:spPr>
          <a:xfrm>
            <a:off x="749808" y="4608576"/>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statistics</a:t>
            </a:r>
            <a:endParaRPr lang="en-US" sz="1050" dirty="0"/>
          </a:p>
        </p:txBody>
      </p:sp>
      <p:sp>
        <p:nvSpPr>
          <p:cNvPr id="38" name="Text 36"/>
          <p:cNvSpPr txBox="1"/>
          <p:nvPr/>
        </p:nvSpPr>
        <p:spPr>
          <a:xfrm>
            <a:off x="2249424" y="4562856"/>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mean, median, stdev</a:t>
            </a:r>
            <a:endParaRPr lang="en-US" sz="1050" dirty="0"/>
          </a:p>
        </p:txBody>
      </p:sp>
      <p:sp>
        <p:nvSpPr>
          <p:cNvPr id="39" name="Text 37"/>
          <p:cNvSpPr txBox="1"/>
          <p:nvPr/>
        </p:nvSpPr>
        <p:spPr>
          <a:xfrm>
            <a:off x="2249424" y="4846320"/>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a preview of Module 2</a:t>
            </a:r>
            <a:endParaRPr lang="en-US" sz="1050" dirty="0"/>
          </a:p>
        </p:txBody>
      </p:sp>
      <p:sp>
        <p:nvSpPr>
          <p:cNvPr id="40" name="Shape 38"/>
          <p:cNvSpPr/>
          <p:nvPr/>
        </p:nvSpPr>
        <p:spPr>
          <a:xfrm>
            <a:off x="6263640" y="4425696"/>
            <a:ext cx="5440680" cy="804672"/>
          </a:xfrm>
          <a:prstGeom prst="roundRect">
            <a:avLst>
              <a:gd name="adj" fmla="val 1022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41" name="Shape 39"/>
          <p:cNvSpPr/>
          <p:nvPr/>
        </p:nvSpPr>
        <p:spPr>
          <a:xfrm>
            <a:off x="6464808" y="4608576"/>
            <a:ext cx="1371600" cy="438912"/>
          </a:xfrm>
          <a:prstGeom prst="roundRect">
            <a:avLst>
              <a:gd name="adj" fmla="val 12500"/>
            </a:avLst>
          </a:prstGeom>
          <a:solidFill>
            <a:srgbClr val="3E7CB1"/>
          </a:solidFill>
          <a:ln w="12700">
            <a:solidFill>
              <a:srgbClr val="333333"/>
            </a:solidFill>
            <a:prstDash val="solid"/>
          </a:ln>
        </p:spPr>
      </p:sp>
      <p:sp>
        <p:nvSpPr>
          <p:cNvPr id="42" name="Text 40"/>
          <p:cNvSpPr txBox="1"/>
          <p:nvPr/>
        </p:nvSpPr>
        <p:spPr>
          <a:xfrm>
            <a:off x="6464808" y="4608576"/>
            <a:ext cx="1371600" cy="438912"/>
          </a:xfrm>
          <a:prstGeom prst="rect">
            <a:avLst/>
          </a:prstGeom>
          <a:noFill/>
          <a:ln/>
        </p:spPr>
        <p:txBody>
          <a:bodyPr wrap="square" lIns="0" tIns="0" rIns="0" bIns="0" rtlCol="0" anchor="ctr"/>
          <a:lstStyle/>
          <a:p>
            <a:pPr algn="ctr" indent="0" marL="0">
              <a:buNone/>
            </a:pPr>
            <a:r>
              <a:rPr lang="en-US" sz="1050" b="1" dirty="0">
                <a:solidFill>
                  <a:srgbClr val="FFFFFF"/>
                </a:solidFill>
                <a:latin typeface="Courier New" pitchFamily="34" charset="0"/>
                <a:ea typeface="Courier New" pitchFamily="34" charset="-122"/>
                <a:cs typeface="Courier New" pitchFamily="34" charset="-120"/>
              </a:rPr>
              <a:t>os / pathlib</a:t>
            </a:r>
            <a:endParaRPr lang="en-US" sz="1050" dirty="0"/>
          </a:p>
        </p:txBody>
      </p:sp>
      <p:sp>
        <p:nvSpPr>
          <p:cNvPr id="43" name="Text 41"/>
          <p:cNvSpPr txBox="1"/>
          <p:nvPr/>
        </p:nvSpPr>
        <p:spPr>
          <a:xfrm>
            <a:off x="7964424" y="4562856"/>
            <a:ext cx="3566160" cy="274320"/>
          </a:xfrm>
          <a:prstGeom prst="rect">
            <a:avLst/>
          </a:prstGeom>
          <a:noFill/>
          <a:ln/>
        </p:spPr>
        <p:txBody>
          <a:bodyPr wrap="square" lIns="0" tIns="0" rIns="0" bIns="0" rtlCol="0" anchor="ctr"/>
          <a:lstStyle/>
          <a:p>
            <a:pPr indent="0" marL="0">
              <a:buNone/>
            </a:pPr>
            <a:r>
              <a:rPr lang="en-US" sz="1050" dirty="0">
                <a:solidFill>
                  <a:srgbClr val="1F3A5F"/>
                </a:solidFill>
                <a:latin typeface="Courier New" pitchFamily="34" charset="0"/>
                <a:ea typeface="Courier New" pitchFamily="34" charset="-122"/>
                <a:cs typeface="Courier New" pitchFamily="34" charset="-120"/>
              </a:rPr>
              <a:t>paths, folders, existence</a:t>
            </a:r>
            <a:endParaRPr lang="en-US" sz="1050" dirty="0"/>
          </a:p>
        </p:txBody>
      </p:sp>
      <p:sp>
        <p:nvSpPr>
          <p:cNvPr id="44" name="Text 42"/>
          <p:cNvSpPr txBox="1"/>
          <p:nvPr/>
        </p:nvSpPr>
        <p:spPr>
          <a:xfrm>
            <a:off x="7964424" y="4846320"/>
            <a:ext cx="3566160" cy="256032"/>
          </a:xfrm>
          <a:prstGeom prst="rect">
            <a:avLst/>
          </a:prstGeom>
          <a:noFill/>
          <a:ln/>
        </p:spPr>
        <p:txBody>
          <a:bodyPr wrap="square" lIns="0" tIns="0" rIns="0" bIns="0" rtlCol="0" anchor="ctr"/>
          <a:lstStyle/>
          <a:p>
            <a:pPr indent="0" marL="0">
              <a:buNone/>
            </a:pPr>
            <a:r>
              <a:rPr lang="en-US" sz="1050" i="1" dirty="0">
                <a:solidFill>
                  <a:srgbClr val="6B7789"/>
                </a:solidFill>
                <a:latin typeface="Calibri" pitchFamily="34" charset="0"/>
                <a:ea typeface="Calibri" pitchFamily="34" charset="-122"/>
                <a:cs typeface="Calibri" pitchFamily="34" charset="-120"/>
              </a:rPr>
              <a:t>Day 9</a:t>
            </a:r>
            <a:endParaRPr lang="en-US" sz="1050" dirty="0"/>
          </a:p>
        </p:txBody>
      </p:sp>
      <p:sp>
        <p:nvSpPr>
          <p:cNvPr id="45" name="Shape 43"/>
          <p:cNvSpPr/>
          <p:nvPr/>
        </p:nvSpPr>
        <p:spPr>
          <a:xfrm>
            <a:off x="548640" y="5440680"/>
            <a:ext cx="11064240" cy="822960"/>
          </a:xfrm>
          <a:prstGeom prst="roundRect">
            <a:avLst>
              <a:gd name="adj" fmla="val 10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46" name="Text 44"/>
          <p:cNvSpPr txBox="1"/>
          <p:nvPr/>
        </p:nvSpPr>
        <p:spPr>
          <a:xfrm>
            <a:off x="868680" y="5596128"/>
            <a:ext cx="10424160" cy="502920"/>
          </a:xfrm>
          <a:prstGeom prst="rect">
            <a:avLst/>
          </a:prstGeom>
          <a:noFill/>
          <a:ln/>
        </p:spPr>
        <p:txBody>
          <a:bodyPr wrap="square" lIns="0" tIns="0" rIns="0" bIns="0" rtlCol="0" anchor="ctr"/>
          <a:lstStyle/>
          <a:p>
            <a:pPr indent="0" marL="0">
              <a:buNone/>
            </a:pPr>
            <a:r>
              <a:rPr lang="en-US" sz="1300" i="1" dirty="0">
                <a:solidFill>
                  <a:srgbClr val="8A5B00"/>
                </a:solidFill>
                <a:latin typeface="Calibri" pitchFamily="34" charset="0"/>
                <a:ea typeface="Calibri" pitchFamily="34" charset="-122"/>
                <a:cs typeface="Calibri" pitchFamily="34" charset="-120"/>
              </a:rPr>
              <a:t>Before you write a helper function, spend two minutes checking whether the standard library already has it. It will be better tested than yours, and every Python programmer will recognise it.</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4.3  ·  ORGANISING CODE</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Your own modules and packages</a:t>
            </a:r>
            <a:endParaRPr lang="en-US" sz="3200" dirty="0"/>
          </a:p>
        </p:txBody>
      </p:sp>
      <p:sp>
        <p:nvSpPr>
          <p:cNvPr id="5" name="Shape 3"/>
          <p:cNvSpPr/>
          <p:nvPr/>
        </p:nvSpPr>
        <p:spPr>
          <a:xfrm>
            <a:off x="548640" y="1572768"/>
            <a:ext cx="5486400" cy="2651760"/>
          </a:xfrm>
          <a:prstGeom prst="roundRect">
            <a:avLst>
              <a:gd name="adj" fmla="val 3103"/>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Text 4"/>
          <p:cNvSpPr txBox="1"/>
          <p:nvPr/>
        </p:nvSpPr>
        <p:spPr>
          <a:xfrm>
            <a:off x="804672" y="1719072"/>
            <a:ext cx="493776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A module is just a .py file</a:t>
            </a:r>
            <a:endParaRPr lang="en-US" sz="1500" dirty="0"/>
          </a:p>
        </p:txBody>
      </p:sp>
      <p:sp>
        <p:nvSpPr>
          <p:cNvPr id="7" name="Shape 5"/>
          <p:cNvSpPr/>
          <p:nvPr/>
        </p:nvSpPr>
        <p:spPr>
          <a:xfrm>
            <a:off x="804672" y="2103120"/>
            <a:ext cx="4983480" cy="777240"/>
          </a:xfrm>
          <a:prstGeom prst="roundRect">
            <a:avLst>
              <a:gd name="adj" fmla="val 8235"/>
            </a:avLst>
          </a:prstGeom>
          <a:solidFill>
            <a:srgbClr val="1B2B45"/>
          </a:solidFill>
          <a:ln w="12700">
            <a:solidFill>
              <a:srgbClr val="1B2B45"/>
            </a:solidFill>
            <a:prstDash val="solid"/>
          </a:ln>
        </p:spPr>
      </p:sp>
      <p:sp>
        <p:nvSpPr>
          <p:cNvPr id="8" name="Text 6"/>
          <p:cNvSpPr txBox="1"/>
          <p:nvPr/>
        </p:nvSpPr>
        <p:spPr>
          <a:xfrm>
            <a:off x="969264" y="2212848"/>
            <a:ext cx="4654296" cy="5577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helpers.py</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def clean(name):</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return name.strip().title()</a:t>
            </a:r>
            <a:endParaRPr lang="en-US" sz="1050" dirty="0"/>
          </a:p>
        </p:txBody>
      </p:sp>
      <p:sp>
        <p:nvSpPr>
          <p:cNvPr id="9" name="Shape 7"/>
          <p:cNvSpPr/>
          <p:nvPr/>
        </p:nvSpPr>
        <p:spPr>
          <a:xfrm>
            <a:off x="804672" y="2971800"/>
            <a:ext cx="4983480" cy="777240"/>
          </a:xfrm>
          <a:prstGeom prst="roundRect">
            <a:avLst>
              <a:gd name="adj" fmla="val 8235"/>
            </a:avLst>
          </a:prstGeom>
          <a:solidFill>
            <a:srgbClr val="1B2B45"/>
          </a:solidFill>
          <a:ln w="12700">
            <a:solidFill>
              <a:srgbClr val="1B2B45"/>
            </a:solidFill>
            <a:prstDash val="solid"/>
          </a:ln>
        </p:spPr>
      </p:sp>
      <p:sp>
        <p:nvSpPr>
          <p:cNvPr id="10" name="Text 8"/>
          <p:cNvSpPr txBox="1"/>
          <p:nvPr/>
        </p:nvSpPr>
        <p:spPr>
          <a:xfrm>
            <a:off x="969264" y="3081528"/>
            <a:ext cx="4654296" cy="557784"/>
          </a:xfrm>
          <a:prstGeom prst="rect">
            <a:avLst/>
          </a:prstGeom>
          <a:noFill/>
          <a:ln/>
        </p:spPr>
        <p:txBody>
          <a:bodyPr wrap="square" lIns="0" tIns="0" rIns="0" bIns="0" rtlCol="0" anchor="t"/>
          <a:lstStyle/>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 main.py  -  same folder</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import helpers</a:t>
            </a:r>
            <a:endParaRPr lang="en-US" sz="1050" dirty="0"/>
          </a:p>
          <a:p>
            <a:pPr indent="0" marL="0">
              <a:lnSpc>
                <a:spcPct val="112000"/>
              </a:lnSpc>
              <a:buNone/>
            </a:pPr>
            <a:r>
              <a:rPr lang="en-US" sz="1050" dirty="0">
                <a:solidFill>
                  <a:srgbClr val="E7EEF8"/>
                </a:solidFill>
                <a:latin typeface="Courier New" pitchFamily="34" charset="0"/>
                <a:ea typeface="Courier New" pitchFamily="34" charset="-122"/>
                <a:cs typeface="Courier New" pitchFamily="34" charset="-120"/>
              </a:rPr>
              <a:t>helpers.clean("  ravi ")</a:t>
            </a:r>
            <a:endParaRPr lang="en-US" sz="1050" dirty="0"/>
          </a:p>
        </p:txBody>
      </p:sp>
      <p:sp>
        <p:nvSpPr>
          <p:cNvPr id="11" name="Text 9"/>
          <p:cNvSpPr txBox="1"/>
          <p:nvPr/>
        </p:nvSpPr>
        <p:spPr>
          <a:xfrm>
            <a:off x="804672" y="3840480"/>
            <a:ext cx="4983480" cy="320040"/>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The filename becomes the module name. No registration, no configuration.</a:t>
            </a:r>
            <a:endParaRPr lang="en-US" sz="1150" dirty="0"/>
          </a:p>
        </p:txBody>
      </p:sp>
      <p:sp>
        <p:nvSpPr>
          <p:cNvPr id="12" name="Shape 10"/>
          <p:cNvSpPr/>
          <p:nvPr/>
        </p:nvSpPr>
        <p:spPr>
          <a:xfrm>
            <a:off x="6309360" y="1572768"/>
            <a:ext cx="5303520" cy="2651760"/>
          </a:xfrm>
          <a:prstGeom prst="roundRect">
            <a:avLst>
              <a:gd name="adj" fmla="val 3103"/>
            </a:avLst>
          </a:prstGeom>
          <a:solidFill>
            <a:srgbClr val="E9F6F2"/>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Text 11"/>
          <p:cNvSpPr txBox="1"/>
          <p:nvPr/>
        </p:nvSpPr>
        <p:spPr>
          <a:xfrm>
            <a:off x="6565392" y="1719072"/>
            <a:ext cx="4754880" cy="301752"/>
          </a:xfrm>
          <a:prstGeom prst="rect">
            <a:avLst/>
          </a:prstGeom>
          <a:noFill/>
          <a:ln/>
        </p:spPr>
        <p:txBody>
          <a:bodyPr wrap="square" lIns="0" tIns="0" rIns="0" bIns="0" rtlCol="0" anchor="ctr"/>
          <a:lstStyle/>
          <a:p>
            <a:pPr indent="0" marL="0">
              <a:buNone/>
            </a:pPr>
            <a:r>
              <a:rPr lang="en-US" sz="1500" b="1" dirty="0">
                <a:solidFill>
                  <a:srgbClr val="1C6F5C"/>
                </a:solidFill>
                <a:latin typeface="Calibri" pitchFamily="34" charset="0"/>
                <a:ea typeface="Calibri" pitchFamily="34" charset="-122"/>
                <a:cs typeface="Calibri" pitchFamily="34" charset="-120"/>
              </a:rPr>
              <a:t>A package is a folder of modules</a:t>
            </a:r>
            <a:endParaRPr lang="en-US" sz="1500" dirty="0"/>
          </a:p>
        </p:txBody>
      </p:sp>
      <p:sp>
        <p:nvSpPr>
          <p:cNvPr id="14" name="Shape 12"/>
          <p:cNvSpPr/>
          <p:nvPr/>
        </p:nvSpPr>
        <p:spPr>
          <a:xfrm>
            <a:off x="6565392" y="2103120"/>
            <a:ext cx="4800600" cy="1371600"/>
          </a:xfrm>
          <a:prstGeom prst="roundRect">
            <a:avLst>
              <a:gd name="adj" fmla="val 4667"/>
            </a:avLst>
          </a:prstGeom>
          <a:solidFill>
            <a:srgbClr val="1B2B45"/>
          </a:solidFill>
          <a:ln w="12700">
            <a:solidFill>
              <a:srgbClr val="1B2B45"/>
            </a:solidFill>
            <a:prstDash val="solid"/>
          </a:ln>
        </p:spPr>
      </p:sp>
      <p:sp>
        <p:nvSpPr>
          <p:cNvPr id="15" name="Text 13"/>
          <p:cNvSpPr txBox="1"/>
          <p:nvPr/>
        </p:nvSpPr>
        <p:spPr>
          <a:xfrm>
            <a:off x="6729984" y="2212848"/>
            <a:ext cx="4471416" cy="1152144"/>
          </a:xfrm>
          <a:prstGeom prst="rect">
            <a:avLst/>
          </a:prstGeom>
          <a:noFill/>
          <a:ln/>
        </p:spPr>
        <p:txBody>
          <a:bodyPr wrap="square" lIns="0" tIns="0" rIns="0" bIns="0" rtlCol="0" anchor="t"/>
          <a:lstStyle/>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myproject/</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__init__.py       marks it as a package</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loading.py</a:t>
            </a: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    cleaning.py</a:t>
            </a:r>
            <a:endParaRPr lang="en-US" sz="1000" dirty="0"/>
          </a:p>
          <a:p>
            <a:pPr indent="0" marL="0">
              <a:lnSpc>
                <a:spcPct val="112000"/>
              </a:lnSpc>
              <a:buNone/>
            </a:pPr>
            <a:endParaRPr lang="en-US" sz="1000" dirty="0"/>
          </a:p>
          <a:p>
            <a:pPr indent="0" marL="0">
              <a:lnSpc>
                <a:spcPct val="112000"/>
              </a:lnSpc>
              <a:buNone/>
            </a:pPr>
            <a:r>
              <a:rPr lang="en-US" sz="1000" dirty="0">
                <a:solidFill>
                  <a:srgbClr val="E7EEF8"/>
                </a:solidFill>
                <a:latin typeface="Courier New" pitchFamily="34" charset="0"/>
                <a:ea typeface="Courier New" pitchFamily="34" charset="-122"/>
                <a:cs typeface="Courier New" pitchFamily="34" charset="-120"/>
              </a:rPr>
              <a:t>from myproject import cleaning</a:t>
            </a:r>
            <a:endParaRPr lang="en-US" sz="1000" dirty="0"/>
          </a:p>
        </p:txBody>
      </p:sp>
      <p:sp>
        <p:nvSpPr>
          <p:cNvPr id="16" name="Text 14"/>
          <p:cNvSpPr txBox="1"/>
          <p:nvPr/>
        </p:nvSpPr>
        <p:spPr>
          <a:xfrm>
            <a:off x="6565392" y="3566160"/>
            <a:ext cx="4800600" cy="548640"/>
          </a:xfrm>
          <a:prstGeom prst="rect">
            <a:avLst/>
          </a:prstGeom>
          <a:noFill/>
          <a:ln/>
        </p:spPr>
        <p:txBody>
          <a:bodyPr wrap="square" lIns="0" tIns="0" rIns="0" bIns="0" rtlCol="0" anchor="ctr"/>
          <a:lstStyle/>
          <a:p>
            <a:pPr indent="0" marL="0">
              <a:lnSpc>
                <a:spcPct val="115000"/>
              </a:lnSpc>
              <a:buNone/>
            </a:pPr>
            <a:r>
              <a:rPr lang="en-US" sz="1200" dirty="0">
                <a:solidFill>
                  <a:srgbClr val="2B3445"/>
                </a:solidFill>
                <a:latin typeface="Calibri" pitchFamily="34" charset="0"/>
                <a:ea typeface="Calibri" pitchFamily="34" charset="-122"/>
                <a:cs typeface="Calibri" pitchFamily="34" charset="-120"/>
              </a:rPr>
              <a:t>__init__.py can be completely empty — its presence is what matters. This is how pandas and numpy are organised internally.</a:t>
            </a:r>
            <a:endParaRPr lang="en-US" sz="1200" dirty="0"/>
          </a:p>
        </p:txBody>
      </p:sp>
      <p:sp>
        <p:nvSpPr>
          <p:cNvPr id="17" name="Shape 15"/>
          <p:cNvSpPr/>
          <p:nvPr/>
        </p:nvSpPr>
        <p:spPr>
          <a:xfrm>
            <a:off x="548640" y="4434840"/>
            <a:ext cx="5486400" cy="1417320"/>
          </a:xfrm>
          <a:prstGeom prst="roundRect">
            <a:avLst>
              <a:gd name="adj" fmla="val 5806"/>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Text 16"/>
          <p:cNvSpPr txBox="1"/>
          <p:nvPr/>
        </p:nvSpPr>
        <p:spPr>
          <a:xfrm>
            <a:off x="804672" y="4572000"/>
            <a:ext cx="4937760" cy="274320"/>
          </a:xfrm>
          <a:prstGeom prst="rect">
            <a:avLst/>
          </a:prstGeom>
          <a:noFill/>
          <a:ln/>
        </p:spPr>
        <p:txBody>
          <a:bodyPr wrap="square" lIns="0" tIns="0" rIns="0" bIns="0" rtlCol="0" anchor="ctr"/>
          <a:lstStyle/>
          <a:p>
            <a:pPr indent="0" marL="0">
              <a:buNone/>
            </a:pPr>
            <a:r>
              <a:rPr lang="en-US" sz="1300" b="1" dirty="0">
                <a:solidFill>
                  <a:srgbClr val="8A5B00"/>
                </a:solidFill>
                <a:latin typeface="Courier New" pitchFamily="34" charset="0"/>
                <a:ea typeface="Courier New" pitchFamily="34" charset="-122"/>
                <a:cs typeface="Courier New" pitchFamily="34" charset="-120"/>
              </a:rPr>
              <a:t>if __name__ == "__main__":</a:t>
            </a:r>
            <a:endParaRPr lang="en-US" sz="1300" dirty="0"/>
          </a:p>
        </p:txBody>
      </p:sp>
      <p:sp>
        <p:nvSpPr>
          <p:cNvPr id="19" name="Text 17"/>
          <p:cNvSpPr txBox="1"/>
          <p:nvPr/>
        </p:nvSpPr>
        <p:spPr>
          <a:xfrm>
            <a:off x="804672" y="4882896"/>
            <a:ext cx="4983480" cy="822960"/>
          </a:xfrm>
          <a:prstGeom prst="rect">
            <a:avLst/>
          </a:prstGeom>
          <a:noFill/>
          <a:ln/>
        </p:spPr>
        <p:txBody>
          <a:bodyPr wrap="square" lIns="0" tIns="0" rIns="0" bIns="0" rtlCol="0" anchor="ctr"/>
          <a:lstStyle/>
          <a:p>
            <a:pPr indent="0" marL="0">
              <a:lnSpc>
                <a:spcPct val="115000"/>
              </a:lnSpc>
              <a:buNone/>
            </a:pPr>
            <a:r>
              <a:rPr lang="en-US" sz="1200" dirty="0">
                <a:solidFill>
                  <a:srgbClr val="6B4A0B"/>
                </a:solidFill>
                <a:latin typeface="Calibri" pitchFamily="34" charset="0"/>
                <a:ea typeface="Calibri" pitchFamily="34" charset="-122"/>
                <a:cs typeface="Calibri" pitchFamily="34" charset="-120"/>
              </a:rPr>
              <a:t>Code under this line runs when the file is executed directly, but NOT when it is imported. It is how a file can be both a reusable module and a runnable script.</a:t>
            </a:r>
            <a:endParaRPr lang="en-US" sz="1200" dirty="0"/>
          </a:p>
        </p:txBody>
      </p:sp>
      <p:sp>
        <p:nvSpPr>
          <p:cNvPr id="20" name="Shape 18"/>
          <p:cNvSpPr/>
          <p:nvPr/>
        </p:nvSpPr>
        <p:spPr>
          <a:xfrm>
            <a:off x="6309360" y="4434840"/>
            <a:ext cx="5303520" cy="1417320"/>
          </a:xfrm>
          <a:prstGeom prst="roundRect">
            <a:avLst>
              <a:gd name="adj" fmla="val 5806"/>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Text 19"/>
          <p:cNvSpPr txBox="1"/>
          <p:nvPr/>
        </p:nvSpPr>
        <p:spPr>
          <a:xfrm>
            <a:off x="6565392" y="4572000"/>
            <a:ext cx="4754880" cy="274320"/>
          </a:xfrm>
          <a:prstGeom prst="rect">
            <a:avLst/>
          </a:prstGeom>
          <a:noFill/>
          <a:ln/>
        </p:spPr>
        <p:txBody>
          <a:bodyPr wrap="square" lIns="0" tIns="0" rIns="0" bIns="0" rtlCol="0" anchor="ctr"/>
          <a:lstStyle/>
          <a:p>
            <a:pPr indent="0" marL="0">
              <a:buNone/>
            </a:pPr>
            <a:r>
              <a:rPr lang="en-US" sz="1350" b="1" dirty="0">
                <a:solidFill>
                  <a:srgbClr val="1F3A5F"/>
                </a:solidFill>
                <a:latin typeface="Calibri" pitchFamily="34" charset="0"/>
                <a:ea typeface="Calibri" pitchFamily="34" charset="-122"/>
                <a:cs typeface="Calibri" pitchFamily="34" charset="-120"/>
              </a:rPr>
              <a:t>Installing what is not built in</a:t>
            </a:r>
            <a:endParaRPr lang="en-US" sz="1350" dirty="0"/>
          </a:p>
        </p:txBody>
      </p:sp>
      <p:sp>
        <p:nvSpPr>
          <p:cNvPr id="22" name="Shape 20"/>
          <p:cNvSpPr/>
          <p:nvPr/>
        </p:nvSpPr>
        <p:spPr>
          <a:xfrm>
            <a:off x="6565392" y="4882896"/>
            <a:ext cx="4800600" cy="777240"/>
          </a:xfrm>
          <a:prstGeom prst="roundRect">
            <a:avLst>
              <a:gd name="adj" fmla="val 8235"/>
            </a:avLst>
          </a:prstGeom>
          <a:solidFill>
            <a:srgbClr val="1B2B45"/>
          </a:solidFill>
          <a:ln w="12700">
            <a:solidFill>
              <a:srgbClr val="1B2B45"/>
            </a:solidFill>
            <a:prstDash val="solid"/>
          </a:ln>
        </p:spPr>
      </p:sp>
      <p:sp>
        <p:nvSpPr>
          <p:cNvPr id="23" name="Text 21"/>
          <p:cNvSpPr txBox="1"/>
          <p:nvPr/>
        </p:nvSpPr>
        <p:spPr>
          <a:xfrm>
            <a:off x="6729984" y="4992624"/>
            <a:ext cx="4471416" cy="557784"/>
          </a:xfrm>
          <a:prstGeom prst="rect">
            <a:avLst/>
          </a:prstGeom>
          <a:noFill/>
          <a:ln/>
        </p:spPr>
        <p:txBody>
          <a:bodyPr wrap="square" lIns="0" tIns="0" rIns="0" bIns="0" rtlCol="0" anchor="t"/>
          <a:lstStyle/>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pip install pandas        # terminal</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!pip install pandas       # inside a Colab cell</a:t>
            </a:r>
            <a:endParaRPr lang="en-US" sz="950" dirty="0"/>
          </a:p>
          <a:p>
            <a:pPr indent="0" marL="0">
              <a:lnSpc>
                <a:spcPct val="112000"/>
              </a:lnSpc>
              <a:buNone/>
            </a:pPr>
            <a:r>
              <a:rPr lang="en-US" sz="950" dirty="0">
                <a:solidFill>
                  <a:srgbClr val="E7EEF8"/>
                </a:solidFill>
                <a:latin typeface="Courier New" pitchFamily="34" charset="0"/>
                <a:ea typeface="Courier New" pitchFamily="34" charset="-122"/>
                <a:cs typeface="Courier New" pitchFamily="34" charset="-120"/>
              </a:rPr>
              <a:t># Colab already has numpy, pandas, matplotlib</a:t>
            </a:r>
            <a:endParaRPr lang="en-US" sz="9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RECAP</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Debug corner — eight exception and import bugs</a:t>
            </a:r>
            <a:endParaRPr lang="en-US" sz="32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572768"/>
          <a:ext cx="11064240" cy="914400"/>
        </p:xfrm>
        <a:graphic>
          <a:graphicData uri="http://schemas.openxmlformats.org/drawingml/2006/table">
            <a:tbl>
              <a:tblPr/>
              <a:tblGrid>
                <a:gridCol w="4023360"/>
                <a:gridCol w="3657600"/>
                <a:gridCol w="3383280"/>
              </a:tblGrid>
              <a:tr h="42976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You wrote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Fix</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solidFill>
                      <a:srgbClr val="1F3A5F"/>
                    </a:solidFill>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except: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catches typos and Ctrl+C too</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except Exception: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except: pass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the real bug is invisible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log it, or count it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except Exception  first</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later blocks never run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specific types first</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return "error message"</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fails later, far from the cause</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raise ValueError(...)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raise ValueError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works, but no message at all</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raise ValueError("what and why")</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class MyError:</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not catchable as an exception</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class MyError(Exception):</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from math import *</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silently shadows your own names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import math</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r h="429768">
                <a:tc>
                  <a:txBody>
                    <a:bodyPr/>
                    <a:lstStyle/>
                    <a:p>
                      <a:pPr indent="0" marL="0">
                        <a:buNone/>
                      </a:pPr>
                      <a:r>
                        <a:rPr lang="en-US" sz="1300" b="1" dirty="0">
                          <a:solidFill>
                            <a:srgbClr val="1F3A5F"/>
                          </a:solidFill>
                          <a:latin typeface="Courier New" pitchFamily="34" charset="0"/>
                          <a:ea typeface="Courier New" pitchFamily="34" charset="-122"/>
                          <a:cs typeface="Courier New" pitchFamily="34" charset="-120"/>
                        </a:rPr>
                        <a:t>import Helpers</a:t>
                      </a:r>
                      <a:endParaRPr lang="en-US" sz="1300" dirty="0">
                        <a:latin typeface="Courier New" charset="0"/>
                        <a:ea typeface="Courier New" charset="0"/>
                        <a:cs typeface="Courier New"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ModuleNotFoundError — case matters</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c>
                  <a:txBody>
                    <a:bodyPr/>
                    <a:lstStyle/>
                    <a:p>
                      <a:pPr indent="0" marL="0">
                        <a:buNone/>
                      </a:pPr>
                      <a:r>
                        <a:rPr lang="en-US" sz="1300" dirty="0">
                          <a:solidFill>
                            <a:srgbClr val="2B3445"/>
                          </a:solidFill>
                          <a:latin typeface="Calibri" pitchFamily="34" charset="0"/>
                          <a:ea typeface="Calibri" pitchFamily="34" charset="-122"/>
                          <a:cs typeface="Calibri" pitchFamily="34" charset="-120"/>
                        </a:rPr>
                        <a:t>match the filename exactly</a:t>
                      </a:r>
                      <a:endParaRPr lang="en-US" sz="1300" dirty="0">
                        <a:latin typeface="Calibri" charset="0"/>
                        <a:ea typeface="Calibri" charset="0"/>
                        <a:cs typeface="Calibri" charset="0"/>
                      </a:endParaRPr>
                    </a:p>
                  </a:txBody>
                  <a:tcPr marL="91440" marR="91440" marT="45720" marB="45720" anchor="ctr">
                    <a:lnL w="12700" cap="flat" cmpd="sng" algn="ctr">
                      <a:solidFill>
                        <a:srgbClr val="E1E7F0"/>
                      </a:solidFill>
                      <a:prstDash val="solid"/>
                      <a:round/>
                      <a:headEnd type="none" w="med" len="med"/>
                      <a:tailEnd type="none" w="med" len="med"/>
                    </a:lnL>
                    <a:lnR w="12700" cap="flat" cmpd="sng" algn="ctr">
                      <a:solidFill>
                        <a:srgbClr val="E1E7F0"/>
                      </a:solidFill>
                      <a:prstDash val="solid"/>
                      <a:round/>
                      <a:headEnd type="none" w="med" len="med"/>
                      <a:tailEnd type="none" w="med" len="med"/>
                    </a:lnR>
                    <a:lnT w="12700" cap="flat" cmpd="sng" algn="ctr">
                      <a:solidFill>
                        <a:srgbClr val="E1E7F0"/>
                      </a:solidFill>
                      <a:prstDash val="solid"/>
                      <a:round/>
                      <a:headEnd type="none" w="med" len="med"/>
                      <a:tailEnd type="none" w="med" len="med"/>
                    </a:lnT>
                    <a:lnB w="12700" cap="flat" cmpd="sng" algn="ctr">
                      <a:solidFill>
                        <a:srgbClr val="E1E7F0"/>
                      </a:solidFill>
                      <a:prstDash val="solid"/>
                      <a:round/>
                      <a:headEnd type="none" w="med" len="med"/>
                      <a:tailEnd type="none" w="med" len="med"/>
                    </a:lnB>
                  </a:tcPr>
                </a:tc>
              </a:tr>
            </a:tbl>
          </a:graphicData>
        </a:graphic>
      </p:graphicFrame>
      <p:sp>
        <p:nvSpPr>
          <p:cNvPr id="6" name="Shape 3"/>
          <p:cNvSpPr/>
          <p:nvPr/>
        </p:nvSpPr>
        <p:spPr>
          <a:xfrm>
            <a:off x="548640" y="5559552"/>
            <a:ext cx="11064240" cy="731520"/>
          </a:xfrm>
          <a:prstGeom prst="roundRect">
            <a:avLst>
              <a:gd name="adj" fmla="val 11250"/>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7" name="Text 4"/>
          <p:cNvSpPr txBox="1"/>
          <p:nvPr/>
        </p:nvSpPr>
        <p:spPr>
          <a:xfrm>
            <a:off x="868680" y="5687568"/>
            <a:ext cx="10424160" cy="457200"/>
          </a:xfrm>
          <a:prstGeom prst="rect">
            <a:avLst/>
          </a:prstGeom>
          <a:noFill/>
          <a:ln/>
        </p:spPr>
        <p:txBody>
          <a:bodyPr wrap="square" lIns="0" tIns="0" rIns="0" bIns="0" rtlCol="0" anchor="ctr"/>
          <a:lstStyle/>
          <a:p>
            <a:pPr indent="0" marL="0">
              <a:buNone/>
            </a:pPr>
            <a:r>
              <a:rPr lang="en-US" sz="1300" i="1" dirty="0">
                <a:solidFill>
                  <a:srgbClr val="1F3A5F"/>
                </a:solidFill>
                <a:latin typeface="Calibri" pitchFamily="34" charset="0"/>
                <a:ea typeface="Calibri" pitchFamily="34" charset="-122"/>
                <a:cs typeface="Calibri" pitchFamily="34" charset="-120"/>
              </a:rPr>
              <a:t>Rows 1 to 3 are the same mistake: catching more than you meant to. All eight are in today's practice notebook.</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5  ·  MINI BUILD</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Putting it together — a CSV loader that survives bad data</a:t>
            </a:r>
            <a:endParaRPr lang="en-US" sz="3200" dirty="0"/>
          </a:p>
        </p:txBody>
      </p:sp>
      <p:sp>
        <p:nvSpPr>
          <p:cNvPr id="5" name="Shape 3"/>
          <p:cNvSpPr/>
          <p:nvPr/>
        </p:nvSpPr>
        <p:spPr>
          <a:xfrm>
            <a:off x="548640" y="1572768"/>
            <a:ext cx="6583680" cy="4160520"/>
          </a:xfrm>
          <a:prstGeom prst="roundRect">
            <a:avLst>
              <a:gd name="adj" fmla="val 1978"/>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804672" y="1783080"/>
            <a:ext cx="6080760" cy="3749040"/>
          </a:xfrm>
          <a:prstGeom prst="roundRect">
            <a:avLst>
              <a:gd name="adj" fmla="val 1707"/>
            </a:avLst>
          </a:prstGeom>
          <a:solidFill>
            <a:srgbClr val="1B2B45"/>
          </a:solidFill>
          <a:ln w="12700">
            <a:solidFill>
              <a:srgbClr val="1B2B45"/>
            </a:solidFill>
            <a:prstDash val="solid"/>
          </a:ln>
        </p:spPr>
      </p:sp>
      <p:sp>
        <p:nvSpPr>
          <p:cNvPr id="7" name="Text 5"/>
          <p:cNvSpPr txBox="1"/>
          <p:nvPr/>
        </p:nvSpPr>
        <p:spPr>
          <a:xfrm>
            <a:off x="969264" y="1892808"/>
            <a:ext cx="5751576" cy="3529584"/>
          </a:xfrm>
          <a:prstGeom prst="rect">
            <a:avLst/>
          </a:prstGeom>
          <a:noFill/>
          <a:ln/>
        </p:spPr>
        <p:txBody>
          <a:bodyPr wrap="square" lIns="0" tIns="0" rIns="0" bIns="0" rtlCol="0" anchor="t"/>
          <a:lstStyle/>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import csv</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class InvalidMarkError(Exception):</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"""A mark that is not a number between 0 and 100."""</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def parse_mark(raw):</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try:</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mark = int(raw)                 # may raise ValueError</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except ValueError:</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raise InvalidMarkError(f"not a number: {raw!r}")</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if not 0 &lt;= mark &lt;= 100:</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raise InvalidMarkError(f"out of range: {mark}")</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return mark</a:t>
            </a:r>
            <a:endParaRPr lang="en-US" sz="750" dirty="0"/>
          </a:p>
          <a:p>
            <a:pPr indent="0" marL="0">
              <a:lnSpc>
                <a:spcPct val="112000"/>
              </a:lnSpc>
              <a:buNone/>
            </a:pP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def load(path):</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"""Load rows, skipping bad ones but REPORTING them."""</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good, bad = [], []</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try:</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with open(path, newline="", encoding="utf-8") as f:</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for n, row in enumerate(csv.DictReader(f), start=2):</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try:</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row["mark"] = parse_mark(row["mark"])</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good.append(row)</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except InvalidMarkError as e:</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bad.append(f"line {n}: {e}")   # counted, not hidden</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except FileNotFoundError:</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raise                            # caller decides what to do</a:t>
            </a:r>
            <a:endParaRPr lang="en-US" sz="750" dirty="0"/>
          </a:p>
          <a:p>
            <a:pPr indent="0" marL="0">
              <a:lnSpc>
                <a:spcPct val="112000"/>
              </a:lnSpc>
              <a:buNone/>
            </a:pPr>
            <a:r>
              <a:rPr lang="en-US" sz="750" dirty="0">
                <a:solidFill>
                  <a:srgbClr val="E7EEF8"/>
                </a:solidFill>
                <a:latin typeface="Courier New" pitchFamily="34" charset="0"/>
                <a:ea typeface="Courier New" pitchFamily="34" charset="-122"/>
                <a:cs typeface="Courier New" pitchFamily="34" charset="-120"/>
              </a:rPr>
              <a:t>    return good, bad</a:t>
            </a:r>
            <a:endParaRPr lang="en-US" sz="750" dirty="0"/>
          </a:p>
        </p:txBody>
      </p:sp>
      <p:sp>
        <p:nvSpPr>
          <p:cNvPr id="8" name="Shape 6"/>
          <p:cNvSpPr/>
          <p:nvPr/>
        </p:nvSpPr>
        <p:spPr>
          <a:xfrm>
            <a:off x="7406640" y="157276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9" name="Shape 7"/>
          <p:cNvSpPr/>
          <p:nvPr/>
        </p:nvSpPr>
        <p:spPr>
          <a:xfrm>
            <a:off x="7562088" y="1673352"/>
            <a:ext cx="118872" cy="292608"/>
          </a:xfrm>
          <a:prstGeom prst="roundRect">
            <a:avLst>
              <a:gd name="adj" fmla="val 38462"/>
            </a:avLst>
          </a:prstGeom>
          <a:solidFill>
            <a:srgbClr val="FFC145"/>
          </a:solidFill>
          <a:ln w="12700">
            <a:solidFill>
              <a:srgbClr val="333333"/>
            </a:solidFill>
            <a:prstDash val="solid"/>
          </a:ln>
        </p:spPr>
      </p:sp>
      <p:sp>
        <p:nvSpPr>
          <p:cNvPr id="10" name="Text 8"/>
          <p:cNvSpPr txBox="1"/>
          <p:nvPr/>
        </p:nvSpPr>
        <p:spPr>
          <a:xfrm>
            <a:off x="7790688" y="1609344"/>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Custom exception</a:t>
            </a:r>
            <a:endParaRPr lang="en-US" sz="1100" dirty="0"/>
          </a:p>
        </p:txBody>
      </p:sp>
      <p:sp>
        <p:nvSpPr>
          <p:cNvPr id="11" name="Text 9"/>
          <p:cNvSpPr txBox="1"/>
          <p:nvPr/>
        </p:nvSpPr>
        <p:spPr>
          <a:xfrm>
            <a:off x="7790688" y="182880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names the rule that was broken</a:t>
            </a:r>
            <a:endParaRPr lang="en-US" sz="950" dirty="0"/>
          </a:p>
        </p:txBody>
      </p:sp>
      <p:sp>
        <p:nvSpPr>
          <p:cNvPr id="12" name="Shape 10"/>
          <p:cNvSpPr/>
          <p:nvPr/>
        </p:nvSpPr>
        <p:spPr>
          <a:xfrm>
            <a:off x="7406640" y="214884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3" name="Shape 11"/>
          <p:cNvSpPr/>
          <p:nvPr/>
        </p:nvSpPr>
        <p:spPr>
          <a:xfrm>
            <a:off x="7562088" y="2249424"/>
            <a:ext cx="118872" cy="292608"/>
          </a:xfrm>
          <a:prstGeom prst="roundRect">
            <a:avLst>
              <a:gd name="adj" fmla="val 38462"/>
            </a:avLst>
          </a:prstGeom>
          <a:solidFill>
            <a:srgbClr val="3E7CB1"/>
          </a:solidFill>
          <a:ln w="12700">
            <a:solidFill>
              <a:srgbClr val="333333"/>
            </a:solidFill>
            <a:prstDash val="solid"/>
          </a:ln>
        </p:spPr>
      </p:sp>
      <p:sp>
        <p:nvSpPr>
          <p:cNvPr id="14" name="Text 12"/>
          <p:cNvSpPr txBox="1"/>
          <p:nvPr/>
        </p:nvSpPr>
        <p:spPr>
          <a:xfrm>
            <a:off x="7790688" y="2185416"/>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Narrow try</a:t>
            </a:r>
            <a:endParaRPr lang="en-US" sz="1100" dirty="0"/>
          </a:p>
        </p:txBody>
      </p:sp>
      <p:sp>
        <p:nvSpPr>
          <p:cNvPr id="15" name="Text 13"/>
          <p:cNvSpPr txBox="1"/>
          <p:nvPr/>
        </p:nvSpPr>
        <p:spPr>
          <a:xfrm>
            <a:off x="7790688" y="240487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only the line that can fail</a:t>
            </a:r>
            <a:endParaRPr lang="en-US" sz="950" dirty="0"/>
          </a:p>
        </p:txBody>
      </p:sp>
      <p:sp>
        <p:nvSpPr>
          <p:cNvPr id="16" name="Shape 14"/>
          <p:cNvSpPr/>
          <p:nvPr/>
        </p:nvSpPr>
        <p:spPr>
          <a:xfrm>
            <a:off x="7406640" y="2724912"/>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7" name="Shape 15"/>
          <p:cNvSpPr/>
          <p:nvPr/>
        </p:nvSpPr>
        <p:spPr>
          <a:xfrm>
            <a:off x="7562088" y="2825496"/>
            <a:ext cx="118872" cy="292608"/>
          </a:xfrm>
          <a:prstGeom prst="roundRect">
            <a:avLst>
              <a:gd name="adj" fmla="val 38462"/>
            </a:avLst>
          </a:prstGeom>
          <a:solidFill>
            <a:srgbClr val="2FA98C"/>
          </a:solidFill>
          <a:ln w="12700">
            <a:solidFill>
              <a:srgbClr val="333333"/>
            </a:solidFill>
            <a:prstDash val="solid"/>
          </a:ln>
        </p:spPr>
      </p:sp>
      <p:sp>
        <p:nvSpPr>
          <p:cNvPr id="18" name="Text 16"/>
          <p:cNvSpPr txBox="1"/>
          <p:nvPr/>
        </p:nvSpPr>
        <p:spPr>
          <a:xfrm>
            <a:off x="7790688" y="2761488"/>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Translate</a:t>
            </a:r>
            <a:endParaRPr lang="en-US" sz="1100" dirty="0"/>
          </a:p>
        </p:txBody>
      </p:sp>
      <p:sp>
        <p:nvSpPr>
          <p:cNvPr id="19" name="Text 17"/>
          <p:cNvSpPr txBox="1"/>
          <p:nvPr/>
        </p:nvSpPr>
        <p:spPr>
          <a:xfrm>
            <a:off x="7790688" y="2980944"/>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ValueError becomes a domain error</a:t>
            </a:r>
            <a:endParaRPr lang="en-US" sz="950" dirty="0"/>
          </a:p>
        </p:txBody>
      </p:sp>
      <p:sp>
        <p:nvSpPr>
          <p:cNvPr id="20" name="Shape 18"/>
          <p:cNvSpPr/>
          <p:nvPr/>
        </p:nvSpPr>
        <p:spPr>
          <a:xfrm>
            <a:off x="7406640" y="3300984"/>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1" name="Shape 19"/>
          <p:cNvSpPr/>
          <p:nvPr/>
        </p:nvSpPr>
        <p:spPr>
          <a:xfrm>
            <a:off x="7562088" y="3401568"/>
            <a:ext cx="118872" cy="292608"/>
          </a:xfrm>
          <a:prstGeom prst="roundRect">
            <a:avLst>
              <a:gd name="adj" fmla="val 38462"/>
            </a:avLst>
          </a:prstGeom>
          <a:solidFill>
            <a:srgbClr val="2FA98C"/>
          </a:solidFill>
          <a:ln w="12700">
            <a:solidFill>
              <a:srgbClr val="333333"/>
            </a:solidFill>
            <a:prstDash val="solid"/>
          </a:ln>
        </p:spPr>
      </p:sp>
      <p:sp>
        <p:nvSpPr>
          <p:cNvPr id="22" name="Text 20"/>
          <p:cNvSpPr txBox="1"/>
          <p:nvPr/>
        </p:nvSpPr>
        <p:spPr>
          <a:xfrm>
            <a:off x="7790688" y="3337560"/>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Per-row catch</a:t>
            </a:r>
            <a:endParaRPr lang="en-US" sz="1100" dirty="0"/>
          </a:p>
        </p:txBody>
      </p:sp>
      <p:sp>
        <p:nvSpPr>
          <p:cNvPr id="23" name="Text 21"/>
          <p:cNvSpPr txBox="1"/>
          <p:nvPr/>
        </p:nvSpPr>
        <p:spPr>
          <a:xfrm>
            <a:off x="7790688" y="3557016"/>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one bad row does not stop the load</a:t>
            </a:r>
            <a:endParaRPr lang="en-US" sz="950" dirty="0"/>
          </a:p>
        </p:txBody>
      </p:sp>
      <p:sp>
        <p:nvSpPr>
          <p:cNvPr id="24" name="Shape 22"/>
          <p:cNvSpPr/>
          <p:nvPr/>
        </p:nvSpPr>
        <p:spPr>
          <a:xfrm>
            <a:off x="7406640" y="3877056"/>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5" name="Shape 23"/>
          <p:cNvSpPr/>
          <p:nvPr/>
        </p:nvSpPr>
        <p:spPr>
          <a:xfrm>
            <a:off x="7562088" y="3977640"/>
            <a:ext cx="118872" cy="292608"/>
          </a:xfrm>
          <a:prstGeom prst="roundRect">
            <a:avLst>
              <a:gd name="adj" fmla="val 38462"/>
            </a:avLst>
          </a:prstGeom>
          <a:solidFill>
            <a:srgbClr val="FFC145"/>
          </a:solidFill>
          <a:ln w="12700">
            <a:solidFill>
              <a:srgbClr val="333333"/>
            </a:solidFill>
            <a:prstDash val="solid"/>
          </a:ln>
        </p:spPr>
      </p:sp>
      <p:sp>
        <p:nvSpPr>
          <p:cNvPr id="26" name="Text 24"/>
          <p:cNvSpPr txBox="1"/>
          <p:nvPr/>
        </p:nvSpPr>
        <p:spPr>
          <a:xfrm>
            <a:off x="7790688" y="3913632"/>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Never silent</a:t>
            </a:r>
            <a:endParaRPr lang="en-US" sz="1100" dirty="0"/>
          </a:p>
        </p:txBody>
      </p:sp>
      <p:sp>
        <p:nvSpPr>
          <p:cNvPr id="27" name="Text 25"/>
          <p:cNvSpPr txBox="1"/>
          <p:nvPr/>
        </p:nvSpPr>
        <p:spPr>
          <a:xfrm>
            <a:off x="7790688" y="4133088"/>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bad rows are collected and returned</a:t>
            </a:r>
            <a:endParaRPr lang="en-US" sz="950" dirty="0"/>
          </a:p>
        </p:txBody>
      </p:sp>
      <p:sp>
        <p:nvSpPr>
          <p:cNvPr id="28" name="Shape 26"/>
          <p:cNvSpPr/>
          <p:nvPr/>
        </p:nvSpPr>
        <p:spPr>
          <a:xfrm>
            <a:off x="7406640" y="4453128"/>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9" name="Shape 27"/>
          <p:cNvSpPr/>
          <p:nvPr/>
        </p:nvSpPr>
        <p:spPr>
          <a:xfrm>
            <a:off x="7562088" y="4553712"/>
            <a:ext cx="118872" cy="292608"/>
          </a:xfrm>
          <a:prstGeom prst="roundRect">
            <a:avLst>
              <a:gd name="adj" fmla="val 38462"/>
            </a:avLst>
          </a:prstGeom>
          <a:solidFill>
            <a:srgbClr val="3E7CB1"/>
          </a:solidFill>
          <a:ln w="12700">
            <a:solidFill>
              <a:srgbClr val="333333"/>
            </a:solidFill>
            <a:prstDash val="solid"/>
          </a:ln>
        </p:spPr>
      </p:sp>
      <p:sp>
        <p:nvSpPr>
          <p:cNvPr id="30" name="Text 28"/>
          <p:cNvSpPr txBox="1"/>
          <p:nvPr/>
        </p:nvSpPr>
        <p:spPr>
          <a:xfrm>
            <a:off x="7790688" y="4489704"/>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enumerate(start=2)</a:t>
            </a:r>
            <a:endParaRPr lang="en-US" sz="1100" dirty="0"/>
          </a:p>
        </p:txBody>
      </p:sp>
      <p:sp>
        <p:nvSpPr>
          <p:cNvPr id="31" name="Text 29"/>
          <p:cNvSpPr txBox="1"/>
          <p:nvPr/>
        </p:nvSpPr>
        <p:spPr>
          <a:xfrm>
            <a:off x="7790688" y="4709160"/>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line numbers a human can use</a:t>
            </a:r>
            <a:endParaRPr lang="en-US" sz="950" dirty="0"/>
          </a:p>
        </p:txBody>
      </p:sp>
      <p:sp>
        <p:nvSpPr>
          <p:cNvPr id="32" name="Shape 30"/>
          <p:cNvSpPr/>
          <p:nvPr/>
        </p:nvSpPr>
        <p:spPr>
          <a:xfrm>
            <a:off x="7406640" y="5029200"/>
            <a:ext cx="4206240" cy="493776"/>
          </a:xfrm>
          <a:prstGeom prst="roundRect">
            <a:avLst>
              <a:gd name="adj" fmla="val 16667"/>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3" name="Shape 31"/>
          <p:cNvSpPr/>
          <p:nvPr/>
        </p:nvSpPr>
        <p:spPr>
          <a:xfrm>
            <a:off x="7562088" y="5129784"/>
            <a:ext cx="118872" cy="292608"/>
          </a:xfrm>
          <a:prstGeom prst="roundRect">
            <a:avLst>
              <a:gd name="adj" fmla="val 38462"/>
            </a:avLst>
          </a:prstGeom>
          <a:solidFill>
            <a:srgbClr val="E8674C"/>
          </a:solidFill>
          <a:ln w="12700">
            <a:solidFill>
              <a:srgbClr val="333333"/>
            </a:solidFill>
            <a:prstDash val="solid"/>
          </a:ln>
        </p:spPr>
      </p:sp>
      <p:sp>
        <p:nvSpPr>
          <p:cNvPr id="34" name="Text 32"/>
          <p:cNvSpPr txBox="1"/>
          <p:nvPr/>
        </p:nvSpPr>
        <p:spPr>
          <a:xfrm>
            <a:off x="7790688" y="5065776"/>
            <a:ext cx="2651760" cy="237744"/>
          </a:xfrm>
          <a:prstGeom prst="rect">
            <a:avLst/>
          </a:prstGeom>
          <a:noFill/>
          <a:ln/>
        </p:spPr>
        <p:txBody>
          <a:bodyPr wrap="square" lIns="0" tIns="0" rIns="0" bIns="0" rtlCol="0" anchor="ctr"/>
          <a:lstStyle/>
          <a:p>
            <a:pPr indent="0" marL="0">
              <a:buNone/>
            </a:pPr>
            <a:r>
              <a:rPr lang="en-US" sz="1100" b="1" dirty="0">
                <a:solidFill>
                  <a:srgbClr val="1F3A5F"/>
                </a:solidFill>
                <a:latin typeface="Calibri" pitchFamily="34" charset="0"/>
                <a:ea typeface="Calibri" pitchFamily="34" charset="-122"/>
                <a:cs typeface="Calibri" pitchFamily="34" charset="-120"/>
              </a:rPr>
              <a:t>Bare raise</a:t>
            </a:r>
            <a:endParaRPr lang="en-US" sz="1100" dirty="0"/>
          </a:p>
        </p:txBody>
      </p:sp>
      <p:sp>
        <p:nvSpPr>
          <p:cNvPr id="35" name="Text 33"/>
          <p:cNvSpPr txBox="1"/>
          <p:nvPr/>
        </p:nvSpPr>
        <p:spPr>
          <a:xfrm>
            <a:off x="7790688" y="5285232"/>
            <a:ext cx="3703320" cy="219456"/>
          </a:xfrm>
          <a:prstGeom prst="rect">
            <a:avLst/>
          </a:prstGeom>
          <a:noFill/>
          <a:ln/>
        </p:spPr>
        <p:txBody>
          <a:bodyPr wrap="square" lIns="0" tIns="0" rIns="0" bIns="0" rtlCol="0" anchor="ctr"/>
          <a:lstStyle/>
          <a:p>
            <a:pPr indent="0" marL="0">
              <a:buNone/>
            </a:pPr>
            <a:r>
              <a:rPr lang="en-US" sz="950" dirty="0">
                <a:solidFill>
                  <a:srgbClr val="6B7789"/>
                </a:solidFill>
                <a:latin typeface="Calibri" pitchFamily="34" charset="0"/>
                <a:ea typeface="Calibri" pitchFamily="34" charset="-122"/>
                <a:cs typeface="Calibri" pitchFamily="34" charset="-120"/>
              </a:rPr>
              <a:t>missing file is not ours to handle</a:t>
            </a:r>
            <a:endParaRPr lang="en-US" sz="950" dirty="0"/>
          </a:p>
        </p:txBody>
      </p:sp>
      <p:sp>
        <p:nvSpPr>
          <p:cNvPr id="36" name="Text 34"/>
          <p:cNvSpPr txBox="1"/>
          <p:nvPr/>
        </p:nvSpPr>
        <p:spPr>
          <a:xfrm>
            <a:off x="548640" y="5833872"/>
            <a:ext cx="6766560" cy="292608"/>
          </a:xfrm>
          <a:prstGeom prst="rect">
            <a:avLst/>
          </a:prstGeom>
          <a:noFill/>
          <a:ln/>
        </p:spPr>
        <p:txBody>
          <a:bodyPr wrap="square" lIns="0" tIns="0" rIns="0" bIns="0" rtlCol="0" anchor="ctr"/>
          <a:lstStyle/>
          <a:p>
            <a:pPr indent="0" marL="0">
              <a:buNone/>
            </a:pPr>
            <a:r>
              <a:rPr lang="en-US" sz="1150" i="1" dirty="0">
                <a:solidFill>
                  <a:srgbClr val="6B7789"/>
                </a:solidFill>
                <a:latin typeface="Calibri" pitchFamily="34" charset="0"/>
                <a:ea typeface="Calibri" pitchFamily="34" charset="-122"/>
                <a:cs typeface="Calibri" pitchFamily="34" charset="-120"/>
              </a:rPr>
              <a:t>A bad row is expected, so it is handled. A missing file is not, so it goes up to the caller. That distinction is the whole session.</a:t>
            </a:r>
            <a:endParaRPr lang="en-US" sz="11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A"/>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9DAABE"/>
                </a:solidFill>
                <a:latin typeface="Calibri" pitchFamily="34" charset="0"/>
                <a:ea typeface="Calibri" pitchFamily="34" charset="-122"/>
                <a:cs typeface="Calibri" pitchFamily="34" charset="-120"/>
              </a:rPr>
              <a:t>Slides by Srinivasa Sai Chava</a:t>
            </a:r>
            <a:endParaRPr lang="en-US" sz="900" dirty="0"/>
          </a:p>
        </p:txBody>
      </p:sp>
      <p:sp>
        <p:nvSpPr>
          <p:cNvPr id="3" name="Text 1"/>
          <p:cNvSpPr txBox="1"/>
          <p:nvPr/>
        </p:nvSpPr>
        <p:spPr>
          <a:xfrm>
            <a:off x="548640" y="292608"/>
            <a:ext cx="10515600" cy="274320"/>
          </a:xfrm>
          <a:prstGeom prst="rect">
            <a:avLst/>
          </a:prstGeom>
          <a:noFill/>
          <a:ln/>
        </p:spPr>
        <p:txBody>
          <a:bodyPr wrap="square" lIns="0" tIns="0" rIns="0" bIns="0" rtlCol="0" anchor="ctr"/>
          <a:lstStyle/>
          <a:p>
            <a:pPr indent="0" marL="0">
              <a:buNone/>
            </a:pPr>
            <a:r>
              <a:rPr lang="en-US" sz="1200" b="1" spc="200" kern="0" dirty="0">
                <a:solidFill>
                  <a:srgbClr val="3E7CB1"/>
                </a:solidFill>
                <a:latin typeface="Calibri" pitchFamily="34" charset="0"/>
                <a:ea typeface="Calibri" pitchFamily="34" charset="-122"/>
                <a:cs typeface="Calibri" pitchFamily="34" charset="-120"/>
              </a:rPr>
              <a:t>OVER TO YOU</a:t>
            </a:r>
            <a:endParaRPr lang="en-US" sz="1200" dirty="0"/>
          </a:p>
        </p:txBody>
      </p:sp>
      <p:sp>
        <p:nvSpPr>
          <p:cNvPr id="4" name="Text 2"/>
          <p:cNvSpPr txBox="1"/>
          <p:nvPr/>
        </p:nvSpPr>
        <p:spPr>
          <a:xfrm>
            <a:off x="548640" y="566928"/>
            <a:ext cx="11064240" cy="685800"/>
          </a:xfrm>
          <a:prstGeom prst="rect">
            <a:avLst/>
          </a:prstGeom>
          <a:noFill/>
          <a:ln/>
        </p:spPr>
        <p:txBody>
          <a:bodyPr wrap="square" lIns="0" tIns="0" rIns="0" bIns="0" rtlCol="0" anchor="ctr"/>
          <a:lstStyle/>
          <a:p>
            <a:pPr indent="0" marL="0">
              <a:buNone/>
            </a:pPr>
            <a:r>
              <a:rPr lang="en-US" sz="3200" b="1" dirty="0">
                <a:solidFill>
                  <a:srgbClr val="1F3A5F"/>
                </a:solidFill>
                <a:latin typeface="Cambria" pitchFamily="34" charset="0"/>
                <a:ea typeface="Cambria" pitchFamily="34" charset="-122"/>
                <a:cs typeface="Cambria" pitchFamily="34" charset="-120"/>
              </a:rPr>
              <a:t>Practice session — 30 minutes</a:t>
            </a:r>
            <a:endParaRPr lang="en-US" sz="3200" dirty="0"/>
          </a:p>
        </p:txBody>
      </p:sp>
      <p:sp>
        <p:nvSpPr>
          <p:cNvPr id="5" name="Shape 3"/>
          <p:cNvSpPr/>
          <p:nvPr/>
        </p:nvSpPr>
        <p:spPr>
          <a:xfrm>
            <a:off x="548640" y="1691640"/>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6" name="Shape 4"/>
          <p:cNvSpPr/>
          <p:nvPr/>
        </p:nvSpPr>
        <p:spPr>
          <a:xfrm>
            <a:off x="777240" y="1938528"/>
            <a:ext cx="420624" cy="420624"/>
          </a:xfrm>
          <a:prstGeom prst="ellipse">
            <a:avLst/>
          </a:prstGeom>
          <a:solidFill>
            <a:srgbClr val="3E7CB1"/>
          </a:solidFill>
          <a:ln w="12700">
            <a:solidFill>
              <a:srgbClr val="3E7CB1"/>
            </a:solidFill>
            <a:prstDash val="solid"/>
          </a:ln>
        </p:spPr>
      </p:sp>
      <p:sp>
        <p:nvSpPr>
          <p:cNvPr id="7" name="Text 5"/>
          <p:cNvSpPr txBox="1"/>
          <p:nvPr/>
        </p:nvSpPr>
        <p:spPr>
          <a:xfrm>
            <a:off x="777240" y="1938528"/>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A</a:t>
            </a:r>
            <a:endParaRPr lang="en-US" sz="1300" dirty="0"/>
          </a:p>
        </p:txBody>
      </p:sp>
      <p:sp>
        <p:nvSpPr>
          <p:cNvPr id="8" name="Text 6"/>
          <p:cNvSpPr txBox="1"/>
          <p:nvPr/>
        </p:nvSpPr>
        <p:spPr>
          <a:xfrm>
            <a:off x="1371600" y="1801368"/>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Predict the output</a:t>
            </a:r>
            <a:endParaRPr lang="en-US" sz="1500" dirty="0"/>
          </a:p>
        </p:txBody>
      </p:sp>
      <p:sp>
        <p:nvSpPr>
          <p:cNvPr id="9" name="Text 7"/>
          <p:cNvSpPr txBox="1"/>
          <p:nvPr/>
        </p:nvSpPr>
        <p:spPr>
          <a:xfrm>
            <a:off x="1371600" y="2148840"/>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Which block runs, and in what order</a:t>
            </a:r>
            <a:endParaRPr lang="en-US" sz="1200" dirty="0"/>
          </a:p>
        </p:txBody>
      </p:sp>
      <p:sp>
        <p:nvSpPr>
          <p:cNvPr id="10" name="Text 8"/>
          <p:cNvSpPr txBox="1"/>
          <p:nvPr/>
        </p:nvSpPr>
        <p:spPr>
          <a:xfrm>
            <a:off x="6583680" y="1947672"/>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8 questions</a:t>
            </a:r>
            <a:endParaRPr lang="en-US" sz="1300" dirty="0"/>
          </a:p>
        </p:txBody>
      </p:sp>
      <p:sp>
        <p:nvSpPr>
          <p:cNvPr id="11" name="Shape 9"/>
          <p:cNvSpPr/>
          <p:nvPr/>
        </p:nvSpPr>
        <p:spPr>
          <a:xfrm>
            <a:off x="548640" y="2715768"/>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2" name="Shape 10"/>
          <p:cNvSpPr/>
          <p:nvPr/>
        </p:nvSpPr>
        <p:spPr>
          <a:xfrm>
            <a:off x="777240" y="2962656"/>
            <a:ext cx="420624" cy="420624"/>
          </a:xfrm>
          <a:prstGeom prst="ellipse">
            <a:avLst/>
          </a:prstGeom>
          <a:solidFill>
            <a:srgbClr val="E8674C"/>
          </a:solidFill>
          <a:ln w="12700">
            <a:solidFill>
              <a:srgbClr val="E8674C"/>
            </a:solidFill>
            <a:prstDash val="solid"/>
          </a:ln>
        </p:spPr>
      </p:sp>
      <p:sp>
        <p:nvSpPr>
          <p:cNvPr id="13" name="Text 11"/>
          <p:cNvSpPr txBox="1"/>
          <p:nvPr/>
        </p:nvSpPr>
        <p:spPr>
          <a:xfrm>
            <a:off x="777240" y="2962656"/>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B</a:t>
            </a:r>
            <a:endParaRPr lang="en-US" sz="1300" dirty="0"/>
          </a:p>
        </p:txBody>
      </p:sp>
      <p:sp>
        <p:nvSpPr>
          <p:cNvPr id="14" name="Text 12"/>
          <p:cNvSpPr txBox="1"/>
          <p:nvPr/>
        </p:nvSpPr>
        <p:spPr>
          <a:xfrm>
            <a:off x="1371600" y="2825496"/>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Spot &amp; fix the bug</a:t>
            </a:r>
            <a:endParaRPr lang="en-US" sz="1500" dirty="0"/>
          </a:p>
        </p:txBody>
      </p:sp>
      <p:sp>
        <p:nvSpPr>
          <p:cNvPr id="15" name="Text 13"/>
          <p:cNvSpPr txBox="1"/>
          <p:nvPr/>
        </p:nvSpPr>
        <p:spPr>
          <a:xfrm>
            <a:off x="1371600" y="3172968"/>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Bare except, wrong order, silent pass</a:t>
            </a:r>
            <a:endParaRPr lang="en-US" sz="1200" dirty="0"/>
          </a:p>
        </p:txBody>
      </p:sp>
      <p:sp>
        <p:nvSpPr>
          <p:cNvPr id="16" name="Text 14"/>
          <p:cNvSpPr txBox="1"/>
          <p:nvPr/>
        </p:nvSpPr>
        <p:spPr>
          <a:xfrm>
            <a:off x="6583680" y="2971800"/>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4 questions</a:t>
            </a:r>
            <a:endParaRPr lang="en-US" sz="1300" dirty="0"/>
          </a:p>
        </p:txBody>
      </p:sp>
      <p:sp>
        <p:nvSpPr>
          <p:cNvPr id="17" name="Shape 15"/>
          <p:cNvSpPr/>
          <p:nvPr/>
        </p:nvSpPr>
        <p:spPr>
          <a:xfrm>
            <a:off x="548640" y="3739896"/>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18" name="Shape 16"/>
          <p:cNvSpPr/>
          <p:nvPr/>
        </p:nvSpPr>
        <p:spPr>
          <a:xfrm>
            <a:off x="777240" y="3986784"/>
            <a:ext cx="420624" cy="420624"/>
          </a:xfrm>
          <a:prstGeom prst="ellipse">
            <a:avLst/>
          </a:prstGeom>
          <a:solidFill>
            <a:srgbClr val="2FA98C"/>
          </a:solidFill>
          <a:ln w="12700">
            <a:solidFill>
              <a:srgbClr val="2FA98C"/>
            </a:solidFill>
            <a:prstDash val="solid"/>
          </a:ln>
        </p:spPr>
      </p:sp>
      <p:sp>
        <p:nvSpPr>
          <p:cNvPr id="19" name="Text 17"/>
          <p:cNvSpPr txBox="1"/>
          <p:nvPr/>
        </p:nvSpPr>
        <p:spPr>
          <a:xfrm>
            <a:off x="777240" y="3986784"/>
            <a:ext cx="420624" cy="42062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a:t>
            </a:r>
            <a:endParaRPr lang="en-US" sz="1300" dirty="0"/>
          </a:p>
        </p:txBody>
      </p:sp>
      <p:sp>
        <p:nvSpPr>
          <p:cNvPr id="20" name="Text 18"/>
          <p:cNvSpPr txBox="1"/>
          <p:nvPr/>
        </p:nvSpPr>
        <p:spPr>
          <a:xfrm>
            <a:off x="1371600" y="3849624"/>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Write the code</a:t>
            </a:r>
            <a:endParaRPr lang="en-US" sz="1500" dirty="0"/>
          </a:p>
        </p:txBody>
      </p:sp>
      <p:sp>
        <p:nvSpPr>
          <p:cNvPr id="21" name="Text 19"/>
          <p:cNvSpPr txBox="1"/>
          <p:nvPr/>
        </p:nvSpPr>
        <p:spPr>
          <a:xfrm>
            <a:off x="1371600" y="4197096"/>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Safe division, validation, retry, custom error</a:t>
            </a:r>
            <a:endParaRPr lang="en-US" sz="1200" dirty="0"/>
          </a:p>
        </p:txBody>
      </p:sp>
      <p:sp>
        <p:nvSpPr>
          <p:cNvPr id="22" name="Text 20"/>
          <p:cNvSpPr txBox="1"/>
          <p:nvPr/>
        </p:nvSpPr>
        <p:spPr>
          <a:xfrm>
            <a:off x="6583680" y="3995928"/>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5 tasks</a:t>
            </a:r>
            <a:endParaRPr lang="en-US" sz="1300" dirty="0"/>
          </a:p>
        </p:txBody>
      </p:sp>
      <p:sp>
        <p:nvSpPr>
          <p:cNvPr id="23" name="Shape 21"/>
          <p:cNvSpPr/>
          <p:nvPr/>
        </p:nvSpPr>
        <p:spPr>
          <a:xfrm>
            <a:off x="548640" y="4764024"/>
            <a:ext cx="7589520" cy="896112"/>
          </a:xfrm>
          <a:prstGeom prst="roundRect">
            <a:avLst>
              <a:gd name="adj" fmla="val 9184"/>
            </a:avLst>
          </a:prstGeom>
          <a:solidFill>
            <a:srgbClr val="FFFFFF"/>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24" name="Shape 22"/>
          <p:cNvSpPr/>
          <p:nvPr/>
        </p:nvSpPr>
        <p:spPr>
          <a:xfrm>
            <a:off x="777240" y="5010912"/>
            <a:ext cx="420624" cy="420624"/>
          </a:xfrm>
          <a:prstGeom prst="ellipse">
            <a:avLst/>
          </a:prstGeom>
          <a:solidFill>
            <a:srgbClr val="FFC145"/>
          </a:solidFill>
          <a:ln w="12700">
            <a:solidFill>
              <a:srgbClr val="FFC145"/>
            </a:solidFill>
            <a:prstDash val="solid"/>
          </a:ln>
        </p:spPr>
      </p:sp>
      <p:sp>
        <p:nvSpPr>
          <p:cNvPr id="25" name="Text 23"/>
          <p:cNvSpPr txBox="1"/>
          <p:nvPr/>
        </p:nvSpPr>
        <p:spPr>
          <a:xfrm>
            <a:off x="777240" y="5010912"/>
            <a:ext cx="420624" cy="42062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D</a:t>
            </a:r>
            <a:endParaRPr lang="en-US" sz="1300" dirty="0"/>
          </a:p>
        </p:txBody>
      </p:sp>
      <p:sp>
        <p:nvSpPr>
          <p:cNvPr id="26" name="Text 24"/>
          <p:cNvSpPr txBox="1"/>
          <p:nvPr/>
        </p:nvSpPr>
        <p:spPr>
          <a:xfrm>
            <a:off x="1371600" y="4873752"/>
            <a:ext cx="3017520" cy="320040"/>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Challenge</a:t>
            </a:r>
            <a:endParaRPr lang="en-US" sz="1500" dirty="0"/>
          </a:p>
        </p:txBody>
      </p:sp>
      <p:sp>
        <p:nvSpPr>
          <p:cNvPr id="27" name="Text 25"/>
          <p:cNvSpPr txBox="1"/>
          <p:nvPr/>
        </p:nvSpPr>
        <p:spPr>
          <a:xfrm>
            <a:off x="1371600" y="5221224"/>
            <a:ext cx="5486400" cy="301752"/>
          </a:xfrm>
          <a:prstGeom prst="rect">
            <a:avLst/>
          </a:prstGeom>
          <a:noFill/>
          <a:ln/>
        </p:spPr>
        <p:txBody>
          <a:bodyPr wrap="square" lIns="0" tIns="0" rIns="0" bIns="0" rtlCol="0" anchor="ctr"/>
          <a:lstStyle/>
          <a:p>
            <a:pPr indent="0" marL="0">
              <a:buNone/>
            </a:pPr>
            <a:r>
              <a:rPr lang="en-US" sz="1200" dirty="0">
                <a:solidFill>
                  <a:srgbClr val="6B7789"/>
                </a:solidFill>
                <a:latin typeface="Calibri" pitchFamily="34" charset="0"/>
                <a:ea typeface="Calibri" pitchFamily="34" charset="-122"/>
                <a:cs typeface="Calibri" pitchFamily="34" charset="-120"/>
              </a:rPr>
              <a:t>A robust loader, and a tiny module</a:t>
            </a:r>
            <a:endParaRPr lang="en-US" sz="1200" dirty="0"/>
          </a:p>
        </p:txBody>
      </p:sp>
      <p:sp>
        <p:nvSpPr>
          <p:cNvPr id="28" name="Text 26"/>
          <p:cNvSpPr txBox="1"/>
          <p:nvPr/>
        </p:nvSpPr>
        <p:spPr>
          <a:xfrm>
            <a:off x="6583680" y="5020056"/>
            <a:ext cx="1371600" cy="320040"/>
          </a:xfrm>
          <a:prstGeom prst="rect">
            <a:avLst/>
          </a:prstGeom>
          <a:noFill/>
          <a:ln/>
        </p:spPr>
        <p:txBody>
          <a:bodyPr wrap="square" lIns="0" tIns="0" rIns="0" bIns="0" rtlCol="0" anchor="ctr"/>
          <a:lstStyle/>
          <a:p>
            <a:pPr algn="r" indent="0" marL="0">
              <a:buNone/>
            </a:pPr>
            <a:r>
              <a:rPr lang="en-US" sz="1300" b="1" dirty="0">
                <a:solidFill>
                  <a:srgbClr val="3E7CB1"/>
                </a:solidFill>
                <a:latin typeface="Calibri" pitchFamily="34" charset="0"/>
                <a:ea typeface="Calibri" pitchFamily="34" charset="-122"/>
                <a:cs typeface="Calibri" pitchFamily="34" charset="-120"/>
              </a:rPr>
              <a:t>2 tasks</a:t>
            </a:r>
            <a:endParaRPr lang="en-US" sz="1300" dirty="0"/>
          </a:p>
        </p:txBody>
      </p:sp>
      <p:sp>
        <p:nvSpPr>
          <p:cNvPr id="29" name="Shape 27"/>
          <p:cNvSpPr/>
          <p:nvPr/>
        </p:nvSpPr>
        <p:spPr>
          <a:xfrm>
            <a:off x="8412480" y="1691640"/>
            <a:ext cx="3200400" cy="2971800"/>
          </a:xfrm>
          <a:prstGeom prst="roundRect">
            <a:avLst>
              <a:gd name="adj" fmla="val 2769"/>
            </a:avLst>
          </a:prstGeom>
          <a:solidFill>
            <a:srgbClr val="EDF2F9"/>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0" name="Text 28"/>
          <p:cNvSpPr txBox="1"/>
          <p:nvPr/>
        </p:nvSpPr>
        <p:spPr>
          <a:xfrm>
            <a:off x="8686800" y="1847088"/>
            <a:ext cx="2743200" cy="301752"/>
          </a:xfrm>
          <a:prstGeom prst="rect">
            <a:avLst/>
          </a:prstGeom>
          <a:noFill/>
          <a:ln/>
        </p:spPr>
        <p:txBody>
          <a:bodyPr wrap="square" lIns="0" tIns="0" rIns="0" bIns="0" rtlCol="0" anchor="ctr"/>
          <a:lstStyle/>
          <a:p>
            <a:pPr indent="0" marL="0">
              <a:buNone/>
            </a:pPr>
            <a:r>
              <a:rPr lang="en-US" sz="1500" b="1" dirty="0">
                <a:solidFill>
                  <a:srgbClr val="1F3A5F"/>
                </a:solidFill>
                <a:latin typeface="Calibri" pitchFamily="34" charset="0"/>
                <a:ea typeface="Calibri" pitchFamily="34" charset="-122"/>
                <a:cs typeface="Calibri" pitchFamily="34" charset="-120"/>
              </a:rPr>
              <a:t>Your notebook</a:t>
            </a:r>
            <a:endParaRPr lang="en-US" sz="1500" dirty="0"/>
          </a:p>
        </p:txBody>
      </p:sp>
      <p:sp>
        <p:nvSpPr>
          <p:cNvPr id="31" name="Text 29"/>
          <p:cNvSpPr txBox="1"/>
          <p:nvPr/>
        </p:nvSpPr>
        <p:spPr>
          <a:xfrm>
            <a:off x="8686800" y="2212848"/>
            <a:ext cx="2743200" cy="594360"/>
          </a:xfrm>
          <a:prstGeom prst="rect">
            <a:avLst/>
          </a:prstGeom>
          <a:noFill/>
          <a:ln/>
        </p:spPr>
        <p:txBody>
          <a:bodyPr wrap="square" lIns="0" tIns="0" rIns="0" bIns="0" rtlCol="0" anchor="ctr"/>
          <a:lstStyle/>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Day11_Practice_</a:t>
            </a:r>
            <a:endParaRPr lang="en-US" sz="1250" dirty="0"/>
          </a:p>
          <a:p>
            <a:pPr indent="0" marL="0">
              <a:lnSpc>
                <a:spcPct val="115000"/>
              </a:lnSpc>
              <a:buNone/>
            </a:pPr>
            <a:r>
              <a:rPr lang="en-US" sz="1250" b="1" dirty="0">
                <a:solidFill>
                  <a:srgbClr val="3E7CB1"/>
                </a:solidFill>
                <a:latin typeface="Courier New" pitchFamily="34" charset="0"/>
                <a:ea typeface="Courier New" pitchFamily="34" charset="-122"/>
                <a:cs typeface="Courier New" pitchFamily="34" charset="-120"/>
              </a:rPr>
              <a:t>Questions.ipynb</a:t>
            </a:r>
            <a:endParaRPr lang="en-US" sz="1250" dirty="0"/>
          </a:p>
        </p:txBody>
      </p:sp>
      <p:sp>
        <p:nvSpPr>
          <p:cNvPr id="32" name="Text 30"/>
          <p:cNvSpPr txBox="1"/>
          <p:nvPr/>
        </p:nvSpPr>
        <p:spPr>
          <a:xfrm>
            <a:off x="8796528" y="2926080"/>
            <a:ext cx="2651760" cy="1600200"/>
          </a:xfrm>
          <a:prstGeom prst="rect">
            <a:avLst/>
          </a:prstGeom>
          <a:noFill/>
          <a:ln/>
        </p:spPr>
        <p:txBody>
          <a:bodyPr wrap="square" lIns="0" tIns="0" rIns="0" bIns="0" rtlCol="0" anchor="t"/>
          <a:lstStyle/>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Name the exception first</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Then decide what to do</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Raise a hand — I am walking around</a:t>
            </a:r>
            <a:endParaRPr lang="en-US" sz="1200" dirty="0"/>
          </a:p>
          <a:p>
            <a:pPr marL="342900" indent="-342900">
              <a:spcAft>
                <a:spcPts val="800"/>
              </a:spcAft>
              <a:buSzPct val="100000"/>
              <a:buChar char="•"/>
            </a:pPr>
            <a:r>
              <a:rPr lang="en-US" sz="1200" dirty="0">
                <a:solidFill>
                  <a:srgbClr val="2B3445"/>
                </a:solidFill>
                <a:latin typeface="Calibri" pitchFamily="34" charset="0"/>
                <a:ea typeface="Calibri" pitchFamily="34" charset="-122"/>
                <a:cs typeface="Calibri" pitchFamily="34" charset="-120"/>
              </a:rPr>
              <a:t>Solutions shared after class</a:t>
            </a:r>
            <a:endParaRPr lang="en-US" sz="1200" dirty="0"/>
          </a:p>
        </p:txBody>
      </p:sp>
      <p:sp>
        <p:nvSpPr>
          <p:cNvPr id="33" name="Shape 31"/>
          <p:cNvSpPr/>
          <p:nvPr/>
        </p:nvSpPr>
        <p:spPr>
          <a:xfrm>
            <a:off x="548640" y="4937760"/>
            <a:ext cx="11064240" cy="914400"/>
          </a:xfrm>
          <a:prstGeom prst="roundRect">
            <a:avLst>
              <a:gd name="adj" fmla="val 9000"/>
            </a:avLst>
          </a:prstGeom>
          <a:solidFill>
            <a:srgbClr val="FFF6E0"/>
          </a:solidFill>
          <a:ln w="12700">
            <a:solidFill>
              <a:srgbClr val="E1E7F0"/>
            </a:solidFill>
            <a:prstDash val="solid"/>
          </a:ln>
          <a:effectLst>
            <a:outerShdw sx="100000" sy="100000" kx="0" ky="0" algn="bl" rotWithShape="0" blurRad="127000" dist="25400" dir="5400000">
              <a:srgbClr val="9AA7BC">
                <a:alpha val="28000"/>
              </a:srgbClr>
            </a:outerShdw>
          </a:effectLst>
        </p:spPr>
      </p:sp>
      <p:sp>
        <p:nvSpPr>
          <p:cNvPr id="34" name="Text 32"/>
          <p:cNvSpPr txBox="1"/>
          <p:nvPr/>
        </p:nvSpPr>
        <p:spPr>
          <a:xfrm>
            <a:off x="868680" y="5120640"/>
            <a:ext cx="10424160" cy="457200"/>
          </a:xfrm>
          <a:prstGeom prst="rect">
            <a:avLst/>
          </a:prstGeom>
          <a:noFill/>
          <a:ln/>
        </p:spPr>
        <p:txBody>
          <a:bodyPr wrap="square" lIns="0" tIns="0" rIns="0" bIns="0" rtlCol="0" anchor="ctr"/>
          <a:lstStyle/>
          <a:p>
            <a:pPr indent="0" marL="0">
              <a:buNone/>
            </a:pPr>
            <a:r>
              <a:rPr lang="en-US" sz="1400" b="1" i="1" dirty="0">
                <a:solidFill>
                  <a:srgbClr val="8A5B00"/>
                </a:solidFill>
                <a:latin typeface="Calibri" pitchFamily="34" charset="0"/>
                <a:ea typeface="Calibri" pitchFamily="34" charset="-122"/>
                <a:cs typeface="Calibri" pitchFamily="34" charset="-120"/>
              </a:rPr>
              <a:t>Never write  except:  or  except Exception:  in today's practice. If you cannot name the exception you expect, you do not yet know what you are handling.</a:t>
            </a:r>
            <a:endParaRPr lang="en-US" sz="14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52238"/>
        </a:solidFill>
      </p:bgPr>
    </p:bg>
    <p:spTree>
      <p:nvGrpSpPr>
        <p:cNvPr id="1" name=""/>
        <p:cNvGrpSpPr/>
        <p:nvPr/>
      </p:nvGrpSpPr>
      <p:grpSpPr>
        <a:xfrm>
          <a:off x="0" y="0"/>
          <a:ext cx="0" cy="0"/>
          <a:chOff x="0" y="0"/>
          <a:chExt cx="0" cy="0"/>
        </a:xfrm>
      </p:grpSpPr>
      <p:sp>
        <p:nvSpPr>
          <p:cNvPr id="2" name="Text 0"/>
          <p:cNvSpPr txBox="1"/>
          <p:nvPr/>
        </p:nvSpPr>
        <p:spPr>
          <a:xfrm>
            <a:off x="8138160" y="6437376"/>
            <a:ext cx="3474720" cy="256032"/>
          </a:xfrm>
          <a:prstGeom prst="rect">
            <a:avLst/>
          </a:prstGeom>
          <a:noFill/>
          <a:ln/>
        </p:spPr>
        <p:txBody>
          <a:bodyPr wrap="square" lIns="0" tIns="0" rIns="0" bIns="0" rtlCol="0" anchor="ctr"/>
          <a:lstStyle/>
          <a:p>
            <a:pPr algn="r" indent="0" marL="0">
              <a:buNone/>
            </a:pPr>
            <a:r>
              <a:rPr lang="en-US" sz="900" dirty="0">
                <a:solidFill>
                  <a:srgbClr val="7E92B0"/>
                </a:solidFill>
                <a:latin typeface="Calibri" pitchFamily="34" charset="0"/>
                <a:ea typeface="Calibri" pitchFamily="34" charset="-122"/>
                <a:cs typeface="Calibri" pitchFamily="34" charset="-120"/>
              </a:rPr>
              <a:t>Slides by Srinivasa Sai Chava</a:t>
            </a:r>
            <a:endParaRPr lang="en-US" sz="900" dirty="0"/>
          </a:p>
        </p:txBody>
      </p:sp>
      <p:sp>
        <p:nvSpPr>
          <p:cNvPr id="3" name="Shape 1"/>
          <p:cNvSpPr/>
          <p:nvPr/>
        </p:nvSpPr>
        <p:spPr>
          <a:xfrm>
            <a:off x="9966960" y="4480560"/>
            <a:ext cx="3840480" cy="3840480"/>
          </a:xfrm>
          <a:prstGeom prst="ellipse">
            <a:avLst/>
          </a:prstGeom>
          <a:solidFill>
            <a:srgbClr val="1A2A46"/>
          </a:solidFill>
          <a:ln w="12700">
            <a:solidFill>
              <a:srgbClr val="333333"/>
            </a:solidFill>
            <a:prstDash val="solid"/>
          </a:ln>
        </p:spPr>
      </p:sp>
      <p:sp>
        <p:nvSpPr>
          <p:cNvPr id="4" name="Text 2"/>
          <p:cNvSpPr txBox="1"/>
          <p:nvPr/>
        </p:nvSpPr>
        <p:spPr>
          <a:xfrm>
            <a:off x="640080" y="457200"/>
            <a:ext cx="7315200" cy="274320"/>
          </a:xfrm>
          <a:prstGeom prst="rect">
            <a:avLst/>
          </a:prstGeom>
          <a:noFill/>
          <a:ln/>
        </p:spPr>
        <p:txBody>
          <a:bodyPr wrap="square" lIns="0" tIns="0" rIns="0" bIns="0" rtlCol="0" anchor="ctr"/>
          <a:lstStyle/>
          <a:p>
            <a:pPr indent="0" marL="0">
              <a:buNone/>
            </a:pPr>
            <a:r>
              <a:rPr lang="en-US" sz="1200" b="1" spc="200" kern="0" dirty="0">
                <a:solidFill>
                  <a:srgbClr val="FFC145"/>
                </a:solidFill>
                <a:latin typeface="Calibri" pitchFamily="34" charset="0"/>
                <a:ea typeface="Calibri" pitchFamily="34" charset="-122"/>
                <a:cs typeface="Calibri" pitchFamily="34" charset="-120"/>
              </a:rPr>
              <a:t>TODAY IN TWELVE LINES</a:t>
            </a:r>
            <a:endParaRPr lang="en-US" sz="1200" dirty="0"/>
          </a:p>
        </p:txBody>
      </p:sp>
      <p:sp>
        <p:nvSpPr>
          <p:cNvPr id="5" name="Text 3"/>
          <p:cNvSpPr txBox="1"/>
          <p:nvPr/>
        </p:nvSpPr>
        <p:spPr>
          <a:xfrm>
            <a:off x="640080" y="749808"/>
            <a:ext cx="7315200" cy="594360"/>
          </a:xfrm>
          <a:prstGeom prst="rect">
            <a:avLst/>
          </a:prstGeom>
          <a:noFill/>
          <a:ln/>
        </p:spPr>
        <p:txBody>
          <a:bodyPr wrap="square" lIns="0" tIns="0" rIns="0" bIns="0" rtlCol="0" anchor="ctr"/>
          <a:lstStyle/>
          <a:p>
            <a:pPr indent="0" marL="0">
              <a:buNone/>
            </a:pPr>
            <a:r>
              <a:rPr lang="en-US" sz="3400" b="1" dirty="0">
                <a:solidFill>
                  <a:srgbClr val="FFFFFF"/>
                </a:solidFill>
                <a:latin typeface="Cambria" pitchFamily="34" charset="0"/>
                <a:ea typeface="Cambria" pitchFamily="34" charset="-122"/>
                <a:cs typeface="Cambria" pitchFamily="34" charset="-120"/>
              </a:rPr>
              <a:t>Recap</a:t>
            </a:r>
            <a:endParaRPr lang="en-US" sz="3400" dirty="0"/>
          </a:p>
        </p:txBody>
      </p:sp>
      <p:sp>
        <p:nvSpPr>
          <p:cNvPr id="6" name="Shape 4"/>
          <p:cNvSpPr/>
          <p:nvPr/>
        </p:nvSpPr>
        <p:spPr>
          <a:xfrm>
            <a:off x="640080" y="1554480"/>
            <a:ext cx="329184" cy="329184"/>
          </a:xfrm>
          <a:prstGeom prst="ellipse">
            <a:avLst/>
          </a:prstGeom>
          <a:solidFill>
            <a:srgbClr val="FFC145"/>
          </a:solidFill>
          <a:ln w="12700">
            <a:solidFill>
              <a:srgbClr val="FFC145"/>
            </a:solidFill>
            <a:prstDash val="solid"/>
          </a:ln>
        </p:spPr>
      </p:sp>
      <p:sp>
        <p:nvSpPr>
          <p:cNvPr id="7" name="Text 5"/>
          <p:cNvSpPr txBox="1"/>
          <p:nvPr/>
        </p:nvSpPr>
        <p:spPr>
          <a:xfrm>
            <a:off x="640080" y="155448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1</a:t>
            </a:r>
            <a:endParaRPr lang="en-US" sz="1300" dirty="0"/>
          </a:p>
        </p:txBody>
      </p:sp>
      <p:sp>
        <p:nvSpPr>
          <p:cNvPr id="8" name="Text 6"/>
          <p:cNvSpPr txBox="1"/>
          <p:nvPr/>
        </p:nvSpPr>
        <p:spPr>
          <a:xfrm>
            <a:off x="1115568" y="153619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Read a traceback from the BOTTOM — that line names the error.</a:t>
            </a:r>
            <a:endParaRPr lang="en-US" sz="1050" dirty="0"/>
          </a:p>
        </p:txBody>
      </p:sp>
      <p:sp>
        <p:nvSpPr>
          <p:cNvPr id="9" name="Shape 7"/>
          <p:cNvSpPr/>
          <p:nvPr/>
        </p:nvSpPr>
        <p:spPr>
          <a:xfrm>
            <a:off x="640080" y="2121408"/>
            <a:ext cx="329184" cy="329184"/>
          </a:xfrm>
          <a:prstGeom prst="ellipse">
            <a:avLst/>
          </a:prstGeom>
          <a:solidFill>
            <a:srgbClr val="FFC145"/>
          </a:solidFill>
          <a:ln w="12700">
            <a:solidFill>
              <a:srgbClr val="FFC145"/>
            </a:solidFill>
            <a:prstDash val="solid"/>
          </a:ln>
        </p:spPr>
      </p:sp>
      <p:sp>
        <p:nvSpPr>
          <p:cNvPr id="10" name="Text 8"/>
          <p:cNvSpPr txBox="1"/>
          <p:nvPr/>
        </p:nvSpPr>
        <p:spPr>
          <a:xfrm>
            <a:off x="640080" y="2121408"/>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2</a:t>
            </a:r>
            <a:endParaRPr lang="en-US" sz="1300" dirty="0"/>
          </a:p>
        </p:txBody>
      </p:sp>
      <p:sp>
        <p:nvSpPr>
          <p:cNvPr id="11" name="Text 9"/>
          <p:cNvSpPr txBox="1"/>
          <p:nvPr/>
        </p:nvSpPr>
        <p:spPr>
          <a:xfrm>
            <a:off x="1115568" y="2103120"/>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Exceptions are classes, so catching a parent catches its children.</a:t>
            </a:r>
            <a:endParaRPr lang="en-US" sz="1050" dirty="0"/>
          </a:p>
        </p:txBody>
      </p:sp>
      <p:sp>
        <p:nvSpPr>
          <p:cNvPr id="12" name="Shape 10"/>
          <p:cNvSpPr/>
          <p:nvPr/>
        </p:nvSpPr>
        <p:spPr>
          <a:xfrm>
            <a:off x="640080" y="2688336"/>
            <a:ext cx="329184" cy="329184"/>
          </a:xfrm>
          <a:prstGeom prst="ellipse">
            <a:avLst/>
          </a:prstGeom>
          <a:solidFill>
            <a:srgbClr val="FFC145"/>
          </a:solidFill>
          <a:ln w="12700">
            <a:solidFill>
              <a:srgbClr val="FFC145"/>
            </a:solidFill>
            <a:prstDash val="solid"/>
          </a:ln>
        </p:spPr>
      </p:sp>
      <p:sp>
        <p:nvSpPr>
          <p:cNvPr id="13" name="Text 11"/>
          <p:cNvSpPr txBox="1"/>
          <p:nvPr/>
        </p:nvSpPr>
        <p:spPr>
          <a:xfrm>
            <a:off x="640080" y="2688336"/>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3</a:t>
            </a:r>
            <a:endParaRPr lang="en-US" sz="1300" dirty="0"/>
          </a:p>
        </p:txBody>
      </p:sp>
      <p:sp>
        <p:nvSpPr>
          <p:cNvPr id="14" name="Text 12"/>
          <p:cNvSpPr txBox="1"/>
          <p:nvPr/>
        </p:nvSpPr>
        <p:spPr>
          <a:xfrm>
            <a:off x="1115568" y="2670048"/>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Catch the SPECIFIC exception you expected, never everything.</a:t>
            </a:r>
            <a:endParaRPr lang="en-US" sz="1050" dirty="0"/>
          </a:p>
        </p:txBody>
      </p:sp>
      <p:sp>
        <p:nvSpPr>
          <p:cNvPr id="15" name="Shape 13"/>
          <p:cNvSpPr/>
          <p:nvPr/>
        </p:nvSpPr>
        <p:spPr>
          <a:xfrm>
            <a:off x="640080" y="3255264"/>
            <a:ext cx="329184" cy="329184"/>
          </a:xfrm>
          <a:prstGeom prst="ellipse">
            <a:avLst/>
          </a:prstGeom>
          <a:solidFill>
            <a:srgbClr val="FFC145"/>
          </a:solidFill>
          <a:ln w="12700">
            <a:solidFill>
              <a:srgbClr val="FFC145"/>
            </a:solidFill>
            <a:prstDash val="solid"/>
          </a:ln>
        </p:spPr>
      </p:sp>
      <p:sp>
        <p:nvSpPr>
          <p:cNvPr id="16" name="Text 14"/>
          <p:cNvSpPr txBox="1"/>
          <p:nvPr/>
        </p:nvSpPr>
        <p:spPr>
          <a:xfrm>
            <a:off x="640080" y="3255264"/>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4</a:t>
            </a:r>
            <a:endParaRPr lang="en-US" sz="1300" dirty="0"/>
          </a:p>
        </p:txBody>
      </p:sp>
      <p:sp>
        <p:nvSpPr>
          <p:cNvPr id="17" name="Text 15"/>
          <p:cNvSpPr txBox="1"/>
          <p:nvPr/>
        </p:nvSpPr>
        <p:spPr>
          <a:xfrm>
            <a:off x="1115568" y="3236976"/>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Specific except blocks first, general ones last — like elif.</a:t>
            </a:r>
            <a:endParaRPr lang="en-US" sz="1050" dirty="0"/>
          </a:p>
        </p:txBody>
      </p:sp>
      <p:sp>
        <p:nvSpPr>
          <p:cNvPr id="18" name="Shape 16"/>
          <p:cNvSpPr/>
          <p:nvPr/>
        </p:nvSpPr>
        <p:spPr>
          <a:xfrm>
            <a:off x="640080" y="3822192"/>
            <a:ext cx="329184" cy="329184"/>
          </a:xfrm>
          <a:prstGeom prst="ellipse">
            <a:avLst/>
          </a:prstGeom>
          <a:solidFill>
            <a:srgbClr val="FFC145"/>
          </a:solidFill>
          <a:ln w="12700">
            <a:solidFill>
              <a:srgbClr val="FFC145"/>
            </a:solidFill>
            <a:prstDash val="solid"/>
          </a:ln>
        </p:spPr>
      </p:sp>
      <p:sp>
        <p:nvSpPr>
          <p:cNvPr id="19" name="Text 17"/>
          <p:cNvSpPr txBox="1"/>
          <p:nvPr/>
        </p:nvSpPr>
        <p:spPr>
          <a:xfrm>
            <a:off x="640080" y="3822192"/>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5</a:t>
            </a:r>
            <a:endParaRPr lang="en-US" sz="1300" dirty="0"/>
          </a:p>
        </p:txBody>
      </p:sp>
      <p:sp>
        <p:nvSpPr>
          <p:cNvPr id="20" name="Text 18"/>
          <p:cNvSpPr txBox="1"/>
          <p:nvPr/>
        </p:nvSpPr>
        <p:spPr>
          <a:xfrm>
            <a:off x="1115568" y="3803904"/>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else runs only if nothing failed; finally runs always.</a:t>
            </a:r>
            <a:endParaRPr lang="en-US" sz="1050" dirty="0"/>
          </a:p>
        </p:txBody>
      </p:sp>
      <p:sp>
        <p:nvSpPr>
          <p:cNvPr id="21" name="Shape 19"/>
          <p:cNvSpPr/>
          <p:nvPr/>
        </p:nvSpPr>
        <p:spPr>
          <a:xfrm>
            <a:off x="640080" y="4389120"/>
            <a:ext cx="329184" cy="329184"/>
          </a:xfrm>
          <a:prstGeom prst="ellipse">
            <a:avLst/>
          </a:prstGeom>
          <a:solidFill>
            <a:srgbClr val="FFC145"/>
          </a:solidFill>
          <a:ln w="12700">
            <a:solidFill>
              <a:srgbClr val="FFC145"/>
            </a:solidFill>
            <a:prstDash val="solid"/>
          </a:ln>
        </p:spPr>
      </p:sp>
      <p:sp>
        <p:nvSpPr>
          <p:cNvPr id="22" name="Text 20"/>
          <p:cNvSpPr txBox="1"/>
          <p:nvPr/>
        </p:nvSpPr>
        <p:spPr>
          <a:xfrm>
            <a:off x="640080" y="4389120"/>
            <a:ext cx="329184" cy="329184"/>
          </a:xfrm>
          <a:prstGeom prst="rect">
            <a:avLst/>
          </a:prstGeom>
          <a:noFill/>
          <a:ln/>
        </p:spPr>
        <p:txBody>
          <a:bodyPr wrap="square" lIns="0" tIns="0" rIns="0" bIns="0" rtlCol="0" anchor="ctr"/>
          <a:lstStyle/>
          <a:p>
            <a:pPr algn="ctr" indent="0" marL="0">
              <a:buNone/>
            </a:pPr>
            <a:r>
              <a:rPr lang="en-US" sz="1300" b="1" dirty="0">
                <a:solidFill>
                  <a:srgbClr val="152238"/>
                </a:solidFill>
                <a:latin typeface="Calibri" pitchFamily="34" charset="0"/>
                <a:ea typeface="Calibri" pitchFamily="34" charset="-122"/>
                <a:cs typeface="Calibri" pitchFamily="34" charset="-120"/>
              </a:rPr>
              <a:t>6</a:t>
            </a:r>
            <a:endParaRPr lang="en-US" sz="1300" dirty="0"/>
          </a:p>
        </p:txBody>
      </p:sp>
      <p:sp>
        <p:nvSpPr>
          <p:cNvPr id="23" name="Text 21"/>
          <p:cNvSpPr txBox="1"/>
          <p:nvPr/>
        </p:nvSpPr>
        <p:spPr>
          <a:xfrm>
            <a:off x="1115568" y="437083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Never write a bare  except:  — it catches typos and Ctrl+C.</a:t>
            </a:r>
            <a:endParaRPr lang="en-US" sz="1050" dirty="0"/>
          </a:p>
        </p:txBody>
      </p:sp>
      <p:sp>
        <p:nvSpPr>
          <p:cNvPr id="24" name="Shape 22"/>
          <p:cNvSpPr/>
          <p:nvPr/>
        </p:nvSpPr>
        <p:spPr>
          <a:xfrm>
            <a:off x="6263640" y="1554480"/>
            <a:ext cx="329184" cy="329184"/>
          </a:xfrm>
          <a:prstGeom prst="ellipse">
            <a:avLst/>
          </a:prstGeom>
          <a:solidFill>
            <a:srgbClr val="3E7CB1"/>
          </a:solidFill>
          <a:ln w="12700">
            <a:solidFill>
              <a:srgbClr val="3E7CB1"/>
            </a:solidFill>
            <a:prstDash val="solid"/>
          </a:ln>
        </p:spPr>
      </p:sp>
      <p:sp>
        <p:nvSpPr>
          <p:cNvPr id="25" name="Text 23"/>
          <p:cNvSpPr txBox="1"/>
          <p:nvPr/>
        </p:nvSpPr>
        <p:spPr>
          <a:xfrm>
            <a:off x="6263640" y="155448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6" name="Text 24"/>
          <p:cNvSpPr txBox="1"/>
          <p:nvPr/>
        </p:nvSpPr>
        <p:spPr>
          <a:xfrm>
            <a:off x="6739128" y="153619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Never  except: pass  — count it or log it, but do not hide it.</a:t>
            </a:r>
            <a:endParaRPr lang="en-US" sz="1050" dirty="0"/>
          </a:p>
        </p:txBody>
      </p:sp>
      <p:sp>
        <p:nvSpPr>
          <p:cNvPr id="27" name="Shape 25"/>
          <p:cNvSpPr/>
          <p:nvPr/>
        </p:nvSpPr>
        <p:spPr>
          <a:xfrm>
            <a:off x="6263640" y="2121408"/>
            <a:ext cx="329184" cy="329184"/>
          </a:xfrm>
          <a:prstGeom prst="ellipse">
            <a:avLst/>
          </a:prstGeom>
          <a:solidFill>
            <a:srgbClr val="3E7CB1"/>
          </a:solidFill>
          <a:ln w="12700">
            <a:solidFill>
              <a:srgbClr val="3E7CB1"/>
            </a:solidFill>
            <a:prstDash val="solid"/>
          </a:ln>
        </p:spPr>
      </p:sp>
      <p:sp>
        <p:nvSpPr>
          <p:cNvPr id="28" name="Text 26"/>
          <p:cNvSpPr txBox="1"/>
          <p:nvPr/>
        </p:nvSpPr>
        <p:spPr>
          <a:xfrm>
            <a:off x="6263640" y="212140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8</a:t>
            </a:r>
            <a:endParaRPr lang="en-US" sz="1300" dirty="0"/>
          </a:p>
        </p:txBody>
      </p:sp>
      <p:sp>
        <p:nvSpPr>
          <p:cNvPr id="29" name="Text 27"/>
          <p:cNvSpPr txBox="1"/>
          <p:nvPr/>
        </p:nvSpPr>
        <p:spPr>
          <a:xfrm>
            <a:off x="6739128" y="2103120"/>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raise ValueError("what and why") beats returning a message.</a:t>
            </a:r>
            <a:endParaRPr lang="en-US" sz="1050" dirty="0"/>
          </a:p>
        </p:txBody>
      </p:sp>
      <p:sp>
        <p:nvSpPr>
          <p:cNvPr id="30" name="Shape 28"/>
          <p:cNvSpPr/>
          <p:nvPr/>
        </p:nvSpPr>
        <p:spPr>
          <a:xfrm>
            <a:off x="6263640" y="2688336"/>
            <a:ext cx="329184" cy="329184"/>
          </a:xfrm>
          <a:prstGeom prst="ellipse">
            <a:avLst/>
          </a:prstGeom>
          <a:solidFill>
            <a:srgbClr val="3E7CB1"/>
          </a:solidFill>
          <a:ln w="12700">
            <a:solidFill>
              <a:srgbClr val="3E7CB1"/>
            </a:solidFill>
            <a:prstDash val="solid"/>
          </a:ln>
        </p:spPr>
      </p:sp>
      <p:sp>
        <p:nvSpPr>
          <p:cNvPr id="31" name="Text 29"/>
          <p:cNvSpPr txBox="1"/>
          <p:nvPr/>
        </p:nvSpPr>
        <p:spPr>
          <a:xfrm>
            <a:off x="6263640" y="268833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a:t>
            </a:r>
            <a:endParaRPr lang="en-US" sz="1300" dirty="0"/>
          </a:p>
        </p:txBody>
      </p:sp>
      <p:sp>
        <p:nvSpPr>
          <p:cNvPr id="32" name="Text 30"/>
          <p:cNvSpPr txBox="1"/>
          <p:nvPr/>
        </p:nvSpPr>
        <p:spPr>
          <a:xfrm>
            <a:off x="6739128" y="2670048"/>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 custom exception is a class inheriting from Exception.</a:t>
            </a:r>
            <a:endParaRPr lang="en-US" sz="1050" dirty="0"/>
          </a:p>
        </p:txBody>
      </p:sp>
      <p:sp>
        <p:nvSpPr>
          <p:cNvPr id="33" name="Shape 31"/>
          <p:cNvSpPr/>
          <p:nvPr/>
        </p:nvSpPr>
        <p:spPr>
          <a:xfrm>
            <a:off x="6263640" y="3255264"/>
            <a:ext cx="329184" cy="329184"/>
          </a:xfrm>
          <a:prstGeom prst="ellipse">
            <a:avLst/>
          </a:prstGeom>
          <a:solidFill>
            <a:srgbClr val="3E7CB1"/>
          </a:solidFill>
          <a:ln w="12700">
            <a:solidFill>
              <a:srgbClr val="3E7CB1"/>
            </a:solidFill>
            <a:prstDash val="solid"/>
          </a:ln>
        </p:spPr>
      </p:sp>
      <p:sp>
        <p:nvSpPr>
          <p:cNvPr id="34" name="Text 32"/>
          <p:cNvSpPr txBox="1"/>
          <p:nvPr/>
        </p:nvSpPr>
        <p:spPr>
          <a:xfrm>
            <a:off x="6263640" y="3255264"/>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10</a:t>
            </a:r>
            <a:endParaRPr lang="en-US" sz="1300" dirty="0"/>
          </a:p>
        </p:txBody>
      </p:sp>
      <p:sp>
        <p:nvSpPr>
          <p:cNvPr id="35" name="Text 33"/>
          <p:cNvSpPr txBox="1"/>
          <p:nvPr/>
        </p:nvSpPr>
        <p:spPr>
          <a:xfrm>
            <a:off x="6739128" y="3236976"/>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 bare  raise  re-throws what you caught, traceback intact.</a:t>
            </a:r>
            <a:endParaRPr lang="en-US" sz="1050" dirty="0"/>
          </a:p>
        </p:txBody>
      </p:sp>
      <p:sp>
        <p:nvSpPr>
          <p:cNvPr id="36" name="Shape 34"/>
          <p:cNvSpPr/>
          <p:nvPr/>
        </p:nvSpPr>
        <p:spPr>
          <a:xfrm>
            <a:off x="6263640" y="3822192"/>
            <a:ext cx="329184" cy="329184"/>
          </a:xfrm>
          <a:prstGeom prst="ellipse">
            <a:avLst/>
          </a:prstGeom>
          <a:solidFill>
            <a:srgbClr val="3E7CB1"/>
          </a:solidFill>
          <a:ln w="12700">
            <a:solidFill>
              <a:srgbClr val="3E7CB1"/>
            </a:solidFill>
            <a:prstDash val="solid"/>
          </a:ln>
        </p:spPr>
      </p:sp>
      <p:sp>
        <p:nvSpPr>
          <p:cNvPr id="37" name="Text 35"/>
          <p:cNvSpPr txBox="1"/>
          <p:nvPr/>
        </p:nvSpPr>
        <p:spPr>
          <a:xfrm>
            <a:off x="6263640" y="3822192"/>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11</a:t>
            </a:r>
            <a:endParaRPr lang="en-US" sz="1300" dirty="0"/>
          </a:p>
        </p:txBody>
      </p:sp>
      <p:sp>
        <p:nvSpPr>
          <p:cNvPr id="38" name="Text 36"/>
          <p:cNvSpPr txBox="1"/>
          <p:nvPr/>
        </p:nvSpPr>
        <p:spPr>
          <a:xfrm>
            <a:off x="6739128" y="3803904"/>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import math is the default;  from x import *  is never right.</a:t>
            </a:r>
            <a:endParaRPr lang="en-US" sz="1050" dirty="0"/>
          </a:p>
        </p:txBody>
      </p:sp>
      <p:sp>
        <p:nvSpPr>
          <p:cNvPr id="39" name="Shape 37"/>
          <p:cNvSpPr/>
          <p:nvPr/>
        </p:nvSpPr>
        <p:spPr>
          <a:xfrm>
            <a:off x="6263640" y="4389120"/>
            <a:ext cx="329184" cy="329184"/>
          </a:xfrm>
          <a:prstGeom prst="ellipse">
            <a:avLst/>
          </a:prstGeom>
          <a:solidFill>
            <a:srgbClr val="3E7CB1"/>
          </a:solidFill>
          <a:ln w="12700">
            <a:solidFill>
              <a:srgbClr val="3E7CB1"/>
            </a:solidFill>
            <a:prstDash val="solid"/>
          </a:ln>
        </p:spPr>
      </p:sp>
      <p:sp>
        <p:nvSpPr>
          <p:cNvPr id="40" name="Text 38"/>
          <p:cNvSpPr txBox="1"/>
          <p:nvPr/>
        </p:nvSpPr>
        <p:spPr>
          <a:xfrm>
            <a:off x="6263640" y="4389120"/>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12</a:t>
            </a:r>
            <a:endParaRPr lang="en-US" sz="1300" dirty="0"/>
          </a:p>
        </p:txBody>
      </p:sp>
      <p:sp>
        <p:nvSpPr>
          <p:cNvPr id="41" name="Text 39"/>
          <p:cNvSpPr txBox="1"/>
          <p:nvPr/>
        </p:nvSpPr>
        <p:spPr>
          <a:xfrm>
            <a:off x="6739128" y="4370832"/>
            <a:ext cx="4892040" cy="411480"/>
          </a:xfrm>
          <a:prstGeom prst="rect">
            <a:avLst/>
          </a:prstGeom>
          <a:noFill/>
          <a:ln/>
        </p:spPr>
        <p:txBody>
          <a:bodyPr wrap="square" lIns="0" tIns="0" rIns="0" bIns="0" rtlCol="0" anchor="ctr"/>
          <a:lstStyle/>
          <a:p>
            <a:pPr indent="0" marL="0">
              <a:buNone/>
            </a:pPr>
            <a:r>
              <a:rPr lang="en-US" sz="1050" dirty="0">
                <a:solidFill>
                  <a:srgbClr val="DCE6F3"/>
                </a:solidFill>
                <a:latin typeface="Calibri" pitchFamily="34" charset="0"/>
                <a:ea typeface="Calibri" pitchFamily="34" charset="-122"/>
                <a:cs typeface="Calibri" pitchFamily="34" charset="-120"/>
              </a:rPr>
              <a:t>A module is a .py file; a package is a folder with __init__.py.</a:t>
            </a:r>
            <a:endParaRPr lang="en-US" sz="1050" dirty="0"/>
          </a:p>
        </p:txBody>
      </p:sp>
      <p:sp>
        <p:nvSpPr>
          <p:cNvPr id="42" name="Shape 40"/>
          <p:cNvSpPr/>
          <p:nvPr/>
        </p:nvSpPr>
        <p:spPr>
          <a:xfrm>
            <a:off x="640080" y="5230368"/>
            <a:ext cx="5349240" cy="1097280"/>
          </a:xfrm>
          <a:prstGeom prst="roundRect">
            <a:avLst>
              <a:gd name="adj" fmla="val 7500"/>
            </a:avLst>
          </a:prstGeom>
          <a:solidFill>
            <a:srgbClr val="1E3151"/>
          </a:solidFill>
          <a:ln w="12700">
            <a:solidFill>
              <a:srgbClr val="333333"/>
            </a:solidFill>
            <a:prstDash val="solid"/>
          </a:ln>
        </p:spPr>
      </p:sp>
      <p:sp>
        <p:nvSpPr>
          <p:cNvPr id="43" name="Text 41"/>
          <p:cNvSpPr txBox="1"/>
          <p:nvPr/>
        </p:nvSpPr>
        <p:spPr>
          <a:xfrm>
            <a:off x="86868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Homework</a:t>
            </a:r>
            <a:endParaRPr lang="en-US" sz="1300" dirty="0"/>
          </a:p>
        </p:txBody>
      </p:sp>
      <p:sp>
        <p:nvSpPr>
          <p:cNvPr id="44" name="Text 42"/>
          <p:cNvSpPr txBox="1"/>
          <p:nvPr/>
        </p:nvSpPr>
        <p:spPr>
          <a:xfrm>
            <a:off x="868680" y="5632704"/>
            <a:ext cx="4892040" cy="594360"/>
          </a:xfrm>
          <a:prstGeom prst="rect">
            <a:avLst/>
          </a:prstGeom>
          <a:noFill/>
          <a:ln/>
        </p:spPr>
        <p:txBody>
          <a:bodyPr wrap="square" lIns="0" tIns="0" rIns="0" bIns="0" rtlCol="0" anchor="ctr"/>
          <a:lstStyle/>
          <a:p>
            <a:pPr indent="0" marL="0">
              <a:lnSpc>
                <a:spcPct val="112000"/>
              </a:lnSpc>
              <a:buNone/>
            </a:pPr>
            <a:r>
              <a:rPr lang="en-US" sz="1000" dirty="0">
                <a:solidFill>
                  <a:srgbClr val="AFC2DC"/>
                </a:solidFill>
                <a:latin typeface="Calibri" pitchFamily="34" charset="0"/>
                <a:ea typeface="Calibri" pitchFamily="34" charset="-122"/>
                <a:cs typeface="Calibri" pitchFamily="34" charset="-120"/>
              </a:rPr>
              <a:t>Add proper exception handling to your Day 9 CSV functions  ·  Write a custom exception for one rule in your own code  ·  Split a notebook into a helpers.py module and import it</a:t>
            </a:r>
            <a:endParaRPr lang="en-US" sz="1000" dirty="0"/>
          </a:p>
        </p:txBody>
      </p:sp>
      <p:sp>
        <p:nvSpPr>
          <p:cNvPr id="45" name="Shape 43"/>
          <p:cNvSpPr/>
          <p:nvPr/>
        </p:nvSpPr>
        <p:spPr>
          <a:xfrm>
            <a:off x="6263640" y="5230368"/>
            <a:ext cx="5349240" cy="1097280"/>
          </a:xfrm>
          <a:prstGeom prst="roundRect">
            <a:avLst>
              <a:gd name="adj" fmla="val 7500"/>
            </a:avLst>
          </a:prstGeom>
          <a:solidFill>
            <a:srgbClr val="1E3151"/>
          </a:solidFill>
          <a:ln w="12700">
            <a:solidFill>
              <a:srgbClr val="333333"/>
            </a:solidFill>
            <a:prstDash val="solid"/>
          </a:ln>
        </p:spPr>
      </p:sp>
      <p:sp>
        <p:nvSpPr>
          <p:cNvPr id="46" name="Text 44"/>
          <p:cNvSpPr txBox="1"/>
          <p:nvPr/>
        </p:nvSpPr>
        <p:spPr>
          <a:xfrm>
            <a:off x="6492240" y="5358384"/>
            <a:ext cx="4846320" cy="274320"/>
          </a:xfrm>
          <a:prstGeom prst="rect">
            <a:avLst/>
          </a:prstGeom>
          <a:noFill/>
          <a:ln/>
        </p:spPr>
        <p:txBody>
          <a:bodyPr wrap="square" lIns="0" tIns="0" rIns="0" bIns="0" rtlCol="0" anchor="ctr"/>
          <a:lstStyle/>
          <a:p>
            <a:pPr indent="0" marL="0">
              <a:buNone/>
            </a:pPr>
            <a:r>
              <a:rPr lang="en-US" sz="1300" b="1" dirty="0">
                <a:solidFill>
                  <a:srgbClr val="FFC145"/>
                </a:solidFill>
                <a:latin typeface="Calibri" pitchFamily="34" charset="0"/>
                <a:ea typeface="Calibri" pitchFamily="34" charset="-122"/>
                <a:cs typeface="Calibri" pitchFamily="34" charset="-120"/>
              </a:rPr>
              <a:t>Next class  —  Topic 1.11</a:t>
            </a:r>
            <a:endParaRPr lang="en-US" sz="1300" dirty="0"/>
          </a:p>
        </p:txBody>
      </p:sp>
      <p:sp>
        <p:nvSpPr>
          <p:cNvPr id="47" name="Text 45"/>
          <p:cNvSpPr txBox="1"/>
          <p:nvPr/>
        </p:nvSpPr>
        <p:spPr>
          <a:xfrm>
            <a:off x="6492240" y="5632704"/>
            <a:ext cx="4892040" cy="594360"/>
          </a:xfrm>
          <a:prstGeom prst="rect">
            <a:avLst/>
          </a:prstGeom>
          <a:noFill/>
          <a:ln/>
        </p:spPr>
        <p:txBody>
          <a:bodyPr wrap="square" lIns="0" tIns="0" rIns="0" bIns="0" rtlCol="0" anchor="ctr"/>
          <a:lstStyle/>
          <a:p>
            <a:pPr indent="0" marL="0">
              <a:lnSpc>
                <a:spcPct val="112000"/>
              </a:lnSpc>
              <a:buNone/>
            </a:pPr>
            <a:r>
              <a:rPr lang="en-US" sz="1100" dirty="0">
                <a:solidFill>
                  <a:srgbClr val="AFC2DC"/>
                </a:solidFill>
                <a:latin typeface="Calibri" pitchFamily="34" charset="0"/>
                <a:ea typeface="Calibri" pitchFamily="34" charset="-122"/>
                <a:cs typeface="Calibri" pitchFamily="34" charset="-120"/>
              </a:rPr>
              <a:t>NumPy:  array creation and indexing — np.array, arange, zeros and ones, slicing and reshaping</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Day 11 - Exceptions &amp; Modules</dc:title>
  <dc:subject>PptxGenJS Presentation</dc:subject>
  <dc:creator>Data Science Program</dc:creator>
  <cp:lastModifiedBy>Data Science Program</cp:lastModifiedBy>
  <cp:revision>1</cp:revision>
  <dcterms:created xsi:type="dcterms:W3CDTF">2026-09-16T05:11:08Z</dcterms:created>
  <dcterms:modified xsi:type="dcterms:W3CDTF">2026-09-16T05:11:08Z</dcterms:modified>
</cp:coreProperties>
</file>