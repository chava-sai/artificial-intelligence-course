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7. Everything so far used types Python gave us. Today we make our own. Frame it: every library they will import - a DataFrame, a model, a plot - is an object built from a class exactly like the ones they write today. df.head() is a method call on an 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 the transition explicitly. Days 1-6 were about using Python's tools; days 7-8 are about making your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leave understanding self, the session succeeded. Everything else is syntax around that one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reframing lowers the perceived difficulty enormously. They already know how to USE objects - today is just the other side of the same coin.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typo example lands well - a dict silently accepts nmae, and nothing tells you until something breaks far away. Classes fail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Blueprint / building is the standard metaphor and it works. Stress that the class itself holds no student data - only the objects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'ravi.average() IS Student.average(ravi)' equivalence is the single clearest explanation of self. Write both forms on the board and run both - they genuinely both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forgot-self TypeError message is confusing ('takes 1 but 2 were given') - explain it: Python passed the object, so there IS an extra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report() method calling self.average() is worth pointing out - methods can use each other, which is how behaviour composes.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ask-vs-do distinction (command-query separation) is a genuine design principle. Introduce it lightly here; it pays off in every later codebase.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Fifth appearance of aliasing. Ask them to name the previous four before you list them - by now they should manage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'both halves matter' line is the design rule. Students fresh from learning classes wrap everything in one - this is the counterweight.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Photograph slide. Row 6 - forgetting the parentheses - is the sneakiest because there is no error at all, just a bound-method repr.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this live. Create two accounts and show that their histories are independent - that is the class-attribute trap avoided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Those two checks resolve the large majority of first-day class errors. Say them before releasing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twelve lines aloud. Flag that tomorrow builds directly on today - a child class inherits everything they wrote today, so a shaky self will hurt.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SCIENCE  ·  MODULE 1  ·  TOPIC 1.7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Objects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—  building your own types, instead of only using Python's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+ live code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661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673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keyword: class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98280" y="137160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/home/claude/day7/b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1737360"/>
            <a:ext cx="1911096" cy="17830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98280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University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5806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&amp; presented by  </a:t>
            </a:r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·  5 MINUTES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start — five questions from Day 6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46504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739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if go to FILTER items?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77393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end. The result can be shorter.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1401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587752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6151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if/else go to CHOOSE a value?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61518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front  —  and the else is required.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429000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564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{n for n in x} build?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4564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set. Add a colon and it becomes a dict.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9651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270248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2976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(n for n in x) a tuple?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2976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—  a generator, and it empties after one pass.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111496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111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1389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you write a loop instead?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513892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cannot read the comprehension aloud.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521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closes the data-structures half of Module 1. From today you build your own types.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today's two hours are structured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74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classes, and the blueprint metaphor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9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874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and self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objects that carry their own data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36499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200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that belong to an object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9672" y="336499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9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200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basics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attributes, __str__, when NOT to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4690872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526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build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BankAccount class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19672" y="469087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19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526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code, I walk around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424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everything today rests on understanding one word: self.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will be able 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class with __init__ and create objects from 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10712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6744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66744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self is, and why every method starts with 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28816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28816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behaviour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methods that read and change an object's own data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34856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90888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90888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90888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90888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a class earns its place over a dict or a function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8680" y="48646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been using objects since Day 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19379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 .append()  on a list, every  .get()  on a dictionary, every  .strip()  on a string was a method call on an object. Today you find out what was behind the dot — and start writing your own. In three weeks  df.head()  will be exactly the same thing.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 and instances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a dict?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as a blueprint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objects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·  MOTIVATION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use a dictionary?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834640"/>
          </a:xfrm>
          <a:prstGeom prst="roundRect">
            <a:avLst>
              <a:gd name="adj" fmla="val 2903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approach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2148840"/>
          </a:xfrm>
          <a:prstGeom prst="roundRect">
            <a:avLst>
              <a:gd name="adj" fmla="val 2979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 = {"name": "Ravi", "marks": [88, 71]}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 = {"name": "Sara", "marks": [91, 84]}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average(student):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sum(student["marks"]) / len(student["marks"])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average(ravi)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Nothing stops me writing: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ravi["nmae"] = "typo"     # silently accepted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average({"x": 1})        # KeyError at runtime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303520" cy="2834640"/>
          </a:xfrm>
          <a:prstGeom prst="roundRect">
            <a:avLst>
              <a:gd name="adj" fmla="val 290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approach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65392" y="2103120"/>
            <a:ext cx="4800600" cy="2148840"/>
          </a:xfrm>
          <a:prstGeom prst="roundRect">
            <a:avLst>
              <a:gd name="adj" fmla="val 2979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9984" y="2212848"/>
            <a:ext cx="44714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marks):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 = name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self.marks = marks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average(self):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sum(self.marks) / len(self.marks)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 = Student("Ravi", [88, 71])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ravi.average()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data and what you do with it travel together.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26060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9808" y="47548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definition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5065776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is built the same way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10712" y="4617720"/>
            <a:ext cx="26060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611880" y="47548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behaviour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5065776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average() lives with the marks it needs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2784" y="4617720"/>
            <a:ext cx="26060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73952" y="47548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errors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5065776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 argument fails immediately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34856" y="4617720"/>
            <a:ext cx="26060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336024" y="47548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336024" y="5065776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ravi.average() says what it is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·  THE MODEL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class is a blueprint; an object is one thing built from 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493776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434840" cy="1371600"/>
          </a:xfrm>
          <a:prstGeom prst="roundRect">
            <a:avLst>
              <a:gd name="adj" fmla="val 4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1056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6118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every Student will have. Creates nothing on its own — Day 3's “defining is not running”, again.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60720" y="1572768"/>
            <a:ext cx="585216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016752" y="1719072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680960" y="210312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2596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0" y="2852928"/>
            <a:ext cx="-1463040" cy="457200"/>
          </a:xfrm>
          <a:prstGeom prst="line">
            <a:avLst/>
          </a:prstGeom>
          <a:noFill/>
          <a:ln w="25400">
            <a:solidFill>
              <a:srgbClr val="8FA0B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686800" y="2852928"/>
            <a:ext cx="0" cy="457200"/>
          </a:xfrm>
          <a:prstGeom prst="line">
            <a:avLst/>
          </a:prstGeom>
          <a:noFill/>
          <a:ln w="25400">
            <a:solidFill>
              <a:srgbClr val="8FA0B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86800" y="2852928"/>
            <a:ext cx="1463040" cy="457200"/>
          </a:xfrm>
          <a:prstGeom prst="line">
            <a:avLst/>
          </a:prstGeom>
          <a:noFill/>
          <a:ln w="25400">
            <a:solidFill>
              <a:srgbClr val="8FA0B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35040" y="3310128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331012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name="Ravi"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18120" y="3310128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18120" y="331012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name="Sara"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601200" y="3310128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0" y="331012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name="Amit"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41605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objects  —  each with its own data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84632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8680" y="49743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 object looks like calling a function — because it is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68680" y="5266944"/>
            <a:ext cx="5212080" cy="457200"/>
          </a:xfrm>
          <a:prstGeom prst="roundRect">
            <a:avLst>
              <a:gd name="adj" fmla="val 14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3272" y="537667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 = Student("Ravi")      # calls __init__ for you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5248656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name with brackets after it builds a new object and hands it back. The arguments you pass go straight into __init__.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__init__ and self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confusion lives  ·  25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initialiser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self 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attributes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THE TWO NEW WORDS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__init__ and self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76072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492861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marks):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 = name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self.marks = marks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2724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    </a:t>
            </a:r>
            <a:pPr indent="0" marL="0">
              <a:buNone/>
            </a:pPr>
            <a:r>
              <a:rPr lang="en-US" sz="10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automatically when you create an object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192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        </a:t>
            </a:r>
            <a:pPr indent="0" marL="0">
              <a:buNone/>
            </a:pPr>
            <a:r>
              <a:rPr lang="en-US" sz="10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being built, handed in by Python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51129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self.name   </a:t>
            </a:r>
            <a:pPr indent="0" marL="0">
              <a:buNone/>
            </a:pPr>
            <a:r>
              <a:rPr lang="en-US" sz="10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attribute stored ON that object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703320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</a:t>
            </a:r>
            <a:pPr indent="0" marL="0">
              <a:buNone/>
            </a:pPr>
            <a:r>
              <a:rPr lang="en-US" sz="10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parameter — gone when __init__ ends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0" y="1572768"/>
            <a:ext cx="50292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39712" y="1719072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 on creation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2148840"/>
            <a:ext cx="4297680" cy="347472"/>
          </a:xfrm>
          <a:prstGeom prst="roundRect">
            <a:avLst>
              <a:gd name="adj" fmla="val 21053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0" y="21488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 = Student("Ravi", [88])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98280" y="2496312"/>
            <a:ext cx="0" cy="182880"/>
          </a:xfrm>
          <a:prstGeom prst="line">
            <a:avLst/>
          </a:prstGeom>
          <a:noFill/>
          <a:ln w="25400">
            <a:solidFill>
              <a:srgbClr val="8FA0B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49440" y="2679192"/>
            <a:ext cx="4297680" cy="347472"/>
          </a:xfrm>
          <a:prstGeom prst="roundRect">
            <a:avLst>
              <a:gd name="adj" fmla="val 21053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26791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makes a blank object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98280" y="3026664"/>
            <a:ext cx="0" cy="182880"/>
          </a:xfrm>
          <a:prstGeom prst="line">
            <a:avLst/>
          </a:prstGeom>
          <a:noFill/>
          <a:ln w="25400">
            <a:solidFill>
              <a:srgbClr val="8FA0B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49440" y="3209544"/>
            <a:ext cx="4297680" cy="347472"/>
          </a:xfrm>
          <a:prstGeom prst="roundRect">
            <a:avLst>
              <a:gd name="adj" fmla="val 21053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320954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__init__(that object, "Ravi", [88])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98280" y="3557016"/>
            <a:ext cx="0" cy="182880"/>
          </a:xfrm>
          <a:prstGeom prst="line">
            <a:avLst/>
          </a:prstGeom>
          <a:noFill/>
          <a:ln w="25400">
            <a:solidFill>
              <a:srgbClr val="8FA0B6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949440" y="371246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filled object comes back to you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8680" y="4261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is not magic — it is just the first parameter, filled in for you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68680" y="4590288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3272" y="4700016"/>
            <a:ext cx="48828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ravi.average()          # what you write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Student.average(ravi)   # what Python actually runs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457200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pass self yourself. Python puts the object before the dot into that first slot automatically. The name  self  is only a convention — Python would accept any name — but every Python programmer expects it, so always use it.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ATTRIBUTES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 attributes — each object's own data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carries its own copy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1920240"/>
          </a:xfrm>
          <a:prstGeom prst="roundRect">
            <a:avLst>
              <a:gd name="adj" fmla="val 3333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 = Student("Ravi", [88, 71])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 = Student("Sara", [91, 84])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ravi.name        -&gt;  "Ravi"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sara.name        -&gt;  "Sara"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ravi.name = "Ravi Kumar"   # change just this one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sara.name        -&gt;  "Sara"   unaffected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303520" cy="2560320"/>
          </a:xfrm>
          <a:prstGeom prst="roundRect">
            <a:avLst>
              <a:gd name="adj" fmla="val 3214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Three mistakes with self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65392" y="2103120"/>
            <a:ext cx="4800600" cy="1920240"/>
          </a:xfrm>
          <a:prstGeom prst="roundRect">
            <a:avLst>
              <a:gd name="adj" fmla="val 3333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9984" y="2212848"/>
            <a:ext cx="447141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__init__(name):        # forgot self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TypeError: takes 1 positional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argument but 2 were given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self.name = name           # correct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name                # does nothing useful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_init_(self):          # one underscore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never runs. Needs TWO each side.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4439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are just names on an object — you can add them later too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773168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33272" y="4882896"/>
            <a:ext cx="48828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ravi.city = "Pune"     # not in __init__ at all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ravi.city              -&gt;  "Pune"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sara.city              -&gt;  AttributeError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7548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allows this, but it is usually a mistake: now some Students have a city and others do not, and any code that reads .city will crash unpredictably. Put everything an object needs in __init__, so every object is built the same way.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that belong to an object  ·  25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methods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state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state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other methods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BEHAVIOUR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— functions that live inside a class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0350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5532120" cy="2606040"/>
          </a:xfrm>
          <a:prstGeom prst="roundRect">
            <a:avLst>
              <a:gd name="adj" fmla="val 2456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20293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marks):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 = name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self.marks = marks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average(self):              # READS its own data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sum(self.marks) / len(self.marks)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add_mark(self, mark):       # CHANGES its own data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self.marks.append(mark)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report(self):               # calls another method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f"{self.name}: {self.average():.1f}"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0" y="1572768"/>
            <a:ext cx="4754880" cy="2834640"/>
          </a:xfrm>
          <a:prstGeom prst="roundRect">
            <a:avLst>
              <a:gd name="adj" fmla="val 290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114032" y="171907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14032" y="2103120"/>
            <a:ext cx="4297680" cy="1965960"/>
          </a:xfrm>
          <a:prstGeom prst="roundRect">
            <a:avLst>
              <a:gd name="adj" fmla="val 3256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78624" y="2212848"/>
            <a:ext cx="39684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 = Student("Ravi", [88, 71])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ravi.average()      -&gt;  79.5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ravi.add_mark(90)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ravi.average()      -&gt;  83.0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ravi.report()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"Ravi: 83.0"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47183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is a normal function with one extra rule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0292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Day 3 still applies: default arguments, keyword arguments, *args, early return, docstrings. The only difference is that the first parameter is always  self , and through it the method can reach the object's own data without being handed it. Inside a method, always write  self.marks  — a bare  marks  is a NameError.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THE TWO KINDS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state versus changing state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651760"/>
          </a:xfrm>
          <a:prstGeom prst="roundRect">
            <a:avLst>
              <a:gd name="adj" fmla="val 310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that ASK  —  they return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1371600"/>
          </a:xfrm>
          <a:prstGeom prst="roundRect">
            <a:avLst>
              <a:gd name="adj" fmla="val 4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average(self):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sum(self.marks) / len(self.marks)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has_passed(self):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self.average() &gt;= 40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5661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leave the object exactly as it was. You use the value they hand back.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572768"/>
            <a:ext cx="5303520" cy="2651760"/>
          </a:xfrm>
          <a:prstGeom prst="roundRect">
            <a:avLst>
              <a:gd name="adj" fmla="val 3103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that DO  —  they change self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65392" y="2103120"/>
            <a:ext cx="4800600" cy="1371600"/>
          </a:xfrm>
          <a:prstGeom prst="roundRect">
            <a:avLst>
              <a:gd name="adj" fmla="val 4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9984" y="2212848"/>
            <a:ext cx="44714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add_mark(self, mark):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self.marks.append(mark)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rename(self, new_name):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self.name = new_name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35661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usually return nothing — Day 4's list methods behave the same way. The change IS the result.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1064240" cy="1463040"/>
          </a:xfrm>
          <a:prstGeom prst="roundRect">
            <a:avLst>
              <a:gd name="adj" fmla="val 5625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45354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 method that changes state and returns None will bite you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68680" y="4846320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3272" y="4956048"/>
            <a:ext cx="48828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 = ravi.add_mark(90)      # ravi is now None!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ravi.add_mark(90)             # correct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82803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Day 4's  nums = nums.append(4)  mistake wearing different clothes. Any method whose job is to change the object should be called on its own line, not assigned. Keep the two kinds separate: a method should either answer a question or change something, not both.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Basics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attributes, printing, judgement  ·  15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vs instance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__str__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use a class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SHARED DATA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attributes — shared by every object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in the class body, not in __init__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1920240"/>
          </a:xfrm>
          <a:prstGeom prst="roundRect">
            <a:avLst>
              <a:gd name="adj" fmla="val 3333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school = "Boston University"   # CLASS attribute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name):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           # INSTANCE attribute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ravi.school   -&gt;  "Boston University"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sara.school   -&gt;  "Boston University"   same for all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303520" cy="2560320"/>
          </a:xfrm>
          <a:prstGeom prst="roundRect">
            <a:avLst>
              <a:gd name="adj" fmla="val 3214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each one is right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1031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attribute — anything that differs per object: name, marks, balance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attribute — anything genuinely shared: a constant, a default, a running count of objects created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44439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Never make a class attribute a list or dict — the fifth appearance of aliasing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68680" y="4773168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33272" y="4882896"/>
            <a:ext cx="48828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marks = []            # ONE list, shared by ALL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ravi.marks.append(88)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sara.marks   -&gt;  [88]     sara got Ravi's mark!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47548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object, many names — Day 1's c = a, Day 3's mutable default argument, Day 4's b = a, and now this. Mutable data belongs in __init__, where each object gets its own: self.marks = marks or self.marks = [].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__str__  ·  JUDGEMENT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objects printable, and knowing when to stop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an object, by default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685800"/>
          </a:xfrm>
          <a:prstGeom prst="roundRect">
            <a:avLst>
              <a:gd name="adj" fmla="val 9333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print(ravi)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&lt;__main__.Student object at 0x7f3a...&gt;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8803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correct, completely useless. Add __str__ and print() will use it: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" y="3364992"/>
            <a:ext cx="4983480" cy="640080"/>
          </a:xfrm>
          <a:prstGeom prst="roundRect">
            <a:avLst>
              <a:gd name="adj" fmla="val 10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9264" y="3474720"/>
            <a:ext cx="4654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__str__(self):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f"Student({self.name})"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572768"/>
            <a:ext cx="5303520" cy="2468880"/>
          </a:xfrm>
          <a:prstGeom prst="roundRect">
            <a:avLst>
              <a:gd name="adj" fmla="val 333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dunder methods you meet next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565392" y="2103120"/>
            <a:ext cx="4800600" cy="1828800"/>
          </a:xfrm>
          <a:prstGeom prst="roundRect">
            <a:avLst>
              <a:gd name="adj" fmla="val 35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9984" y="2212848"/>
            <a:ext cx="447141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   build the object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__str__    what print() shows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__repr__   what the notebook shows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__len__    makes len(obj) work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__eq__     makes obj1 == obj2 work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“dunder” = double underscore.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calls them for you.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435254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class is NOT the answer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7000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holding data?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9743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 dict is simpler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47000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at all, only steps?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49743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 function is enough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47000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ever one of them?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49743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you do not need a blueprint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823960" y="47000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with one method?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823960" y="49743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that method is just a function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534009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earns its place when several objects each carry their own data AND there is behaviour that belongs with that data. Both halves matter — data alone is a dictionary, behaviour alone is a function.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corner — eight class bugs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566160"/>
                <a:gridCol w="35661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wrote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 __init__(name):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TypeError: 2 args given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 __init__(self, name):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 _init_(self):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runs, no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underscores each side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 = name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never stored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self.name = name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return marks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NameError inside a 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return self.marks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ravi = ravi.add_mark(90)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 becomes 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ravi.add_mark(90)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ravi.average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the method, does not run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ravi.average()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marks = []  in class body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by every object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it in __init__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print(ravi)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&lt;Student object at 0x...&gt;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__str__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5955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56875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1 to 4 are all the same root cause: forgetting that self is how a method reaches its own object. All eight are in today's practice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MINI BUILD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 — a BankAccount class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58368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6080760" cy="3931920"/>
          </a:xfrm>
          <a:prstGeom prst="roundRect">
            <a:avLst>
              <a:gd name="adj" fmla="val 162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75157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BankAccount: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"""A single account with a balance and a history."""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bank = "BU Savings"                  # class attribute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owner, balance=0):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self.owner   = owner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self.balance = balance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self.history = []                # own list per object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deposit(self, amount):           # CHANGES state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amount &lt;= 0: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"amount must be positive"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self.balance += amount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self.history.append(f"+{amount}")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withdraw(self, amount):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amount &gt; self.balance: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"insufficient funds"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self.balance -= amount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self.history.append(f"-{amount}")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statement(self):                 # ASKS, returns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f"{self.owner}: {self.balance} ({len(self.history)} txns)"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__str__(self):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f"BankAccount({self.owner}, {self.balance})"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06640" y="1572768"/>
            <a:ext cx="4206240" cy="420624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62088" y="1645920"/>
            <a:ext cx="109728" cy="274320"/>
          </a:xfrm>
          <a:prstGeom prst="roundRect">
            <a:avLst>
              <a:gd name="adj" fmla="val 33333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0" y="15910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179222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balance with a default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06640" y="2075688"/>
            <a:ext cx="4206240" cy="420624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62088" y="2148840"/>
            <a:ext cx="109728" cy="274320"/>
          </a:xfrm>
          <a:prstGeom prst="roundRect">
            <a:avLst>
              <a:gd name="adj" fmla="val 33333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0" y="20939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argument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229514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balance=0 — Day 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2578608"/>
            <a:ext cx="4206240" cy="420624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62088" y="2651760"/>
            <a:ext cx="109728" cy="274320"/>
          </a:xfrm>
          <a:prstGeom prst="roundRect">
            <a:avLst>
              <a:gd name="adj" fmla="val 33333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25968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list per object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279806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in __init__, not the body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3081528"/>
            <a:ext cx="4206240" cy="420624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62088" y="3154680"/>
            <a:ext cx="109728" cy="274320"/>
          </a:xfrm>
          <a:prstGeom prst="roundRect">
            <a:avLst>
              <a:gd name="adj" fmla="val 33333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0" y="30998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attribute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330098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is shared and constant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3584448"/>
            <a:ext cx="4206240" cy="420624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62088" y="3657600"/>
            <a:ext cx="109728" cy="274320"/>
          </a:xfrm>
          <a:prstGeom prst="roundRect">
            <a:avLst>
              <a:gd name="adj" fmla="val 33333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0" y="36027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state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803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/ withdraw return nothing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06640" y="4087368"/>
            <a:ext cx="4206240" cy="420624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62088" y="4160520"/>
            <a:ext cx="109728" cy="274320"/>
          </a:xfrm>
          <a:prstGeom prst="roundRect">
            <a:avLst>
              <a:gd name="adj" fmla="val 33333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0" y="41056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0" y="430682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returns a value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06640" y="4590288"/>
            <a:ext cx="4206240" cy="420624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62088" y="4663440"/>
            <a:ext cx="109728" cy="274320"/>
          </a:xfrm>
          <a:prstGeom prst="roundRect">
            <a:avLst>
              <a:gd name="adj" fmla="val 33333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0" y="46085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return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0" y="480974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run first — Day 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406640" y="5093208"/>
            <a:ext cx="4206240" cy="420624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562088" y="5166360"/>
            <a:ext cx="109728" cy="274320"/>
          </a:xfrm>
          <a:prstGeom prst="roundRect">
            <a:avLst>
              <a:gd name="adj" fmla="val 33333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72400" y="51114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__str__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0" y="531266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print(acc) reads properly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99846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idea from today, plus four from Day 3, in one class.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YOU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session — 30 minutes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38528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01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4884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self, attributes, shared class data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947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962656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8254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&amp; fix the bug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17296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self, _init_, shared list, None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9896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986784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8496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197096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Rectangle, Book, Counter, Timer, Playlist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9959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64024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01091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010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873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22122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Class-level tracking, a Deck of cards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50200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tasks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1691640"/>
            <a:ext cx="3200400" cy="2971800"/>
          </a:xfrm>
          <a:prstGeom prst="roundRect">
            <a:avLst>
              <a:gd name="adj" fmla="val 2769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86800" y="18470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2128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Day7_Practice_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Questions.ipynb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796528" y="2926080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__init__ first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one method at a time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hand — I am walking around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shared after class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68680" y="5120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to check whenever something breaks today: did every method take self, and did you write self.x rather than a bare x?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966960" y="4480560"/>
            <a:ext cx="3840480" cy="384048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 TWELVE LINES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a blueprint; an object is one thing built from 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ClassName(...) creates an object and runs __init__.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needs TWO underscores each side, and self first.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255264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is the object itself, passed in by Python for you.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obj.method() is really Class.method(obj).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self.name = name stores data ON the object.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method, always self.x — a bare x is a NameError.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2121408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either ASK (return) or DO (change self).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2688336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3912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assign the result of a method that changes state.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3255264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attributes are shared; never make one a list.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3822192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3912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__str__ decides what print(obj) shows.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438912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3912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only? Use a dict. Steps only? Use a function.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868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68680" y="563270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Book class with title, author, pages and a summary() method  ·  Add __str__ to it  ·  Rewrite Day 5's gradebook as a Gradebook class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6364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  —  Topic 1.8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563270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&amp; polymorphism:  parent and child classes, method overriding, super(), and the basics of multiple inheritance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7 - Classes &amp; Objects</dc:title>
  <dc:subject>PptxGenJS Presentation</dc:subject>
  <dc:creator>Data Science Program</dc:creator>
  <cp:lastModifiedBy>Data Science Program</cp:lastModifiedBy>
  <cp:revision>1</cp:revision>
  <dcterms:created xsi:type="dcterms:W3CDTF">2026-09-09T04:27:59Z</dcterms:created>
  <dcterms:modified xsi:type="dcterms:W3CDTF">2026-09-09T04:27:59Z</dcterms:modified>
</cp:coreProperties>
</file>