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Day 23 opens Module 2. The hook is ddof=1 - they have met it three times (Day 14, 15, 19) and been told 'pandas uses n-1'. Today they find out why, by simulation rather than algebra.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sample-versus-population shift is the conceptual hinge of the whole module. Say it slowly, and return to it every time a formula changes.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calculus today. Everything is demonstrated by running it 200,000 times, which is more convincing to this audience than a derivation.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Centre, spread, shape is the three-part frame to repeat all session. It is also the structure of describe() output once they know how to read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mode-returns-a-Series surprise catches everyone. It is also a nice illustration of why the API is shaped that 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94.1% figure is the one they will remember. Ask the room what proportion they would have guessed before showing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'average deviation is always zero' point answers the question students actually have, which is why squaring is not arbitrary.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this live. The ratio table is the moment it lands - 0.666 against 0.667 at n=3, and 0.995 against 0.995 at n=200. It turns an arbitrary-looking rule into an observed fact.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closes a loop opened on Day 14. Point out that they have been getting the right answer by accident, and now they can defend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bimodal distribution reported as a mean is one of the commonest real reporting failures - two user groups, two machine settings, two markets.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skew and kurtosis as decision tools rather than reporting numbers. That is how practitioners actually use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table is the single most reusable slide of the session. Tell them to photograph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Row 5 is worth 20 seconds: nobody can interpret 'variance of 4.2 million rupees squared'.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this function - it reappears in Module 2's project and is a genuinely useful thing to carry into real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Forcing the plain-English sentence is what stops them reporting a number they cannot interpret.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twelve lines aloud. Tomorrow the SD stops being a description and becomes a measuring stick - that is the step that makes the rest of the module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52238"/>
        </a:solidFill>
      </p:bgPr>
    </p:bg>
    <p:spTree>
      <p:nvGrpSpPr>
        <p:cNvPr id="1" name=""/>
        <p:cNvGrpSpPr/>
        <p:nvPr/>
      </p:nvGrpSpPr>
      <p:grpSpPr>
        <a:xfrm>
          <a:off x="0" y="0"/>
          <a:ext cx="0" cy="0"/>
          <a:chOff x="0" y="0"/>
          <a:chExt cx="0" cy="0"/>
        </a:xfrm>
      </p:grpSpPr>
      <p:sp>
        <p:nvSpPr>
          <p:cNvPr id="2" name="Shape 0"/>
          <p:cNvSpPr/>
          <p:nvPr/>
        </p:nvSpPr>
        <p:spPr>
          <a:xfrm>
            <a:off x="9509760" y="-1371600"/>
            <a:ext cx="4754880" cy="4754880"/>
          </a:xfrm>
          <a:prstGeom prst="ellipse">
            <a:avLst/>
          </a:prstGeom>
          <a:solidFill>
            <a:srgbClr val="1D3050"/>
          </a:solidFill>
          <a:ln w="12700">
            <a:solidFill>
              <a:srgbClr val="333333"/>
            </a:solidFill>
            <a:prstDash val="solid"/>
          </a:ln>
        </p:spPr>
      </p:sp>
      <p:sp>
        <p:nvSpPr>
          <p:cNvPr id="3" name="Shape 1"/>
          <p:cNvSpPr/>
          <p:nvPr/>
        </p:nvSpPr>
        <p:spPr>
          <a:xfrm>
            <a:off x="10607040" y="4206240"/>
            <a:ext cx="3108960" cy="3108960"/>
          </a:xfrm>
          <a:prstGeom prst="ellipse">
            <a:avLst/>
          </a:prstGeom>
          <a:solidFill>
            <a:srgbClr val="1A2A46"/>
          </a:solidFill>
          <a:ln w="12700">
            <a:solidFill>
              <a:srgbClr val="333333"/>
            </a:solidFill>
            <a:prstDash val="solid"/>
          </a:ln>
        </p:spPr>
      </p:sp>
      <p:sp>
        <p:nvSpPr>
          <p:cNvPr id="4" name="Text 2"/>
          <p:cNvSpPr txBox="1"/>
          <p:nvPr/>
        </p:nvSpPr>
        <p:spPr>
          <a:xfrm>
            <a:off x="822960" y="1371600"/>
            <a:ext cx="8686800" cy="320040"/>
          </a:xfrm>
          <a:prstGeom prst="rect">
            <a:avLst/>
          </a:prstGeom>
          <a:noFill/>
          <a:ln/>
        </p:spPr>
        <p:txBody>
          <a:bodyPr wrap="square" lIns="0" tIns="0" rIns="0" bIns="0" rtlCol="0" anchor="ctr"/>
          <a:lstStyle/>
          <a:p>
            <a:pPr indent="0" marL="0">
              <a:buNone/>
            </a:pPr>
            <a:r>
              <a:rPr lang="en-US" sz="1300" b="1" spc="200" kern="0" dirty="0">
                <a:solidFill>
                  <a:srgbClr val="FFC145"/>
                </a:solidFill>
                <a:latin typeface="Calibri" pitchFamily="34" charset="0"/>
                <a:ea typeface="Calibri" pitchFamily="34" charset="-122"/>
                <a:cs typeface="Calibri" pitchFamily="34" charset="-120"/>
              </a:rPr>
              <a:t>MODULE 2  ·  STATISTICS &amp; PROBABILITY  ·  TOPICS 2.1 – 2.3</a:t>
            </a:r>
            <a:endParaRPr lang="en-US" sz="1300" dirty="0"/>
          </a:p>
        </p:txBody>
      </p:sp>
      <p:sp>
        <p:nvSpPr>
          <p:cNvPr id="5" name="Text 3"/>
          <p:cNvSpPr txBox="1"/>
          <p:nvPr/>
        </p:nvSpPr>
        <p:spPr>
          <a:xfrm>
            <a:off x="822960" y="1828800"/>
            <a:ext cx="8412480" cy="1737360"/>
          </a:xfrm>
          <a:prstGeom prst="rect">
            <a:avLst/>
          </a:prstGeom>
          <a:noFill/>
          <a:ln/>
        </p:spPr>
        <p:txBody>
          <a:bodyPr wrap="square" lIns="0" tIns="0" rIns="0" bIns="0" rtlCol="0" anchor="ctr"/>
          <a:lstStyle/>
          <a:p>
            <a:pPr indent="0" marL="0">
              <a:lnSpc>
                <a:spcPct val="105000"/>
              </a:lnSpc>
              <a:buNone/>
            </a:pPr>
            <a:r>
              <a:rPr lang="en-US" sz="4200" b="1" dirty="0">
                <a:solidFill>
                  <a:srgbClr val="FFFFFF"/>
                </a:solidFill>
                <a:latin typeface="Cambria" pitchFamily="34" charset="0"/>
                <a:ea typeface="Cambria" pitchFamily="34" charset="-122"/>
                <a:cs typeface="Cambria" pitchFamily="34" charset="-120"/>
              </a:rPr>
              <a:t>Descriptive</a:t>
            </a:r>
            <a:endParaRPr lang="en-US" sz="4200" dirty="0"/>
          </a:p>
          <a:p>
            <a:pPr indent="0" marL="0">
              <a:lnSpc>
                <a:spcPct val="105000"/>
              </a:lnSpc>
              <a:buNone/>
            </a:pPr>
            <a:r>
              <a:rPr lang="en-US" sz="4200" b="1" dirty="0">
                <a:solidFill>
                  <a:srgbClr val="FFFFFF"/>
                </a:solidFill>
                <a:latin typeface="Cambria" pitchFamily="34" charset="0"/>
                <a:ea typeface="Cambria" pitchFamily="34" charset="-122"/>
                <a:cs typeface="Cambria" pitchFamily="34" charset="-120"/>
              </a:rPr>
              <a:t>Statistics</a:t>
            </a:r>
            <a:endParaRPr lang="en-US" sz="4200" dirty="0"/>
          </a:p>
        </p:txBody>
      </p:sp>
      <p:sp>
        <p:nvSpPr>
          <p:cNvPr id="6" name="Text 4"/>
          <p:cNvSpPr txBox="1"/>
          <p:nvPr/>
        </p:nvSpPr>
        <p:spPr>
          <a:xfrm>
            <a:off x="841248" y="3657600"/>
            <a:ext cx="8229600" cy="365760"/>
          </a:xfrm>
          <a:prstGeom prst="rect">
            <a:avLst/>
          </a:prstGeom>
          <a:noFill/>
          <a:ln/>
        </p:spPr>
        <p:txBody>
          <a:bodyPr wrap="square" lIns="0" tIns="0" rIns="0" bIns="0" rtlCol="0" anchor="ctr"/>
          <a:lstStyle/>
          <a:p>
            <a:pPr indent="0" marL="0">
              <a:buNone/>
            </a:pPr>
            <a:r>
              <a:rPr lang="en-US" sz="1800" i="1" dirty="0">
                <a:solidFill>
                  <a:srgbClr val="AFC2DC"/>
                </a:solidFill>
                <a:latin typeface="Calibri" pitchFamily="34" charset="0"/>
                <a:ea typeface="Calibri" pitchFamily="34" charset="-122"/>
                <a:cs typeface="Calibri" pitchFamily="34" charset="-120"/>
              </a:rPr>
              <a:t>Day 23  —  centre, spread, and shape</a:t>
            </a:r>
            <a:endParaRPr lang="en-US" sz="1800" dirty="0"/>
          </a:p>
        </p:txBody>
      </p:sp>
      <p:sp>
        <p:nvSpPr>
          <p:cNvPr id="7" name="Shape 5"/>
          <p:cNvSpPr/>
          <p:nvPr/>
        </p:nvSpPr>
        <p:spPr>
          <a:xfrm>
            <a:off x="822960" y="4480560"/>
            <a:ext cx="2468880" cy="1005840"/>
          </a:xfrm>
          <a:prstGeom prst="roundRect">
            <a:avLst>
              <a:gd name="adj" fmla="val 8182"/>
            </a:avLst>
          </a:prstGeom>
          <a:solidFill>
            <a:srgbClr val="1E3151"/>
          </a:solidFill>
          <a:ln w="12700">
            <a:solidFill>
              <a:srgbClr val="1E3151"/>
            </a:solidFill>
            <a:prstDash val="solid"/>
          </a:ln>
        </p:spPr>
      </p:sp>
      <p:sp>
        <p:nvSpPr>
          <p:cNvPr id="8" name="Text 6"/>
          <p:cNvSpPr txBox="1"/>
          <p:nvPr/>
        </p:nvSpPr>
        <p:spPr>
          <a:xfrm>
            <a:off x="1024128" y="4572000"/>
            <a:ext cx="2103120" cy="384048"/>
          </a:xfrm>
          <a:prstGeom prst="rect">
            <a:avLst/>
          </a:prstGeom>
          <a:noFill/>
          <a:ln/>
        </p:spPr>
        <p:txBody>
          <a:bodyPr wrap="square" lIns="0" tIns="0" rIns="0" bIns="0" rtlCol="0" anchor="ctr"/>
          <a:lstStyle/>
          <a:p>
            <a:pPr indent="0" marL="0">
              <a:buNone/>
            </a:pPr>
            <a:r>
              <a:rPr lang="en-US" sz="2200" b="1" dirty="0">
                <a:solidFill>
                  <a:srgbClr val="FFC145"/>
                </a:solidFill>
                <a:latin typeface="Cambria" pitchFamily="34" charset="0"/>
                <a:ea typeface="Cambria" pitchFamily="34" charset="-122"/>
                <a:cs typeface="Cambria" pitchFamily="34" charset="-120"/>
              </a:rPr>
              <a:t>90 min</a:t>
            </a:r>
            <a:endParaRPr lang="en-US" sz="2200" dirty="0"/>
          </a:p>
        </p:txBody>
      </p:sp>
      <p:sp>
        <p:nvSpPr>
          <p:cNvPr id="9" name="Text 7"/>
          <p:cNvSpPr txBox="1"/>
          <p:nvPr/>
        </p:nvSpPr>
        <p:spPr>
          <a:xfrm>
            <a:off x="1024128" y="4974336"/>
            <a:ext cx="2194560" cy="457200"/>
          </a:xfrm>
          <a:prstGeom prst="rect">
            <a:avLst/>
          </a:prstGeom>
          <a:noFill/>
          <a:ln/>
        </p:spPr>
        <p:txBody>
          <a:bodyPr wrap="square" lIns="0" tIns="0" rIns="0" bIns="0" rtlCol="0" anchor="ctr"/>
          <a:lstStyle/>
          <a:p>
            <a:pPr indent="0" marL="0">
              <a:lnSpc>
                <a:spcPct val="110000"/>
              </a:lnSpc>
              <a:buNone/>
            </a:pPr>
            <a:r>
              <a:rPr lang="en-US" sz="1050" dirty="0">
                <a:solidFill>
                  <a:srgbClr val="9DB2CE"/>
                </a:solidFill>
                <a:latin typeface="Calibri" pitchFamily="34" charset="0"/>
                <a:ea typeface="Calibri" pitchFamily="34" charset="-122"/>
                <a:cs typeface="Calibri" pitchFamily="34" charset="-120"/>
              </a:rPr>
              <a:t>Concepts + live code</a:t>
            </a:r>
            <a:endParaRPr lang="en-US" sz="1050" dirty="0"/>
          </a:p>
        </p:txBody>
      </p:sp>
      <p:sp>
        <p:nvSpPr>
          <p:cNvPr id="10" name="Shape 8"/>
          <p:cNvSpPr/>
          <p:nvPr/>
        </p:nvSpPr>
        <p:spPr>
          <a:xfrm>
            <a:off x="3566160" y="4480560"/>
            <a:ext cx="2468880" cy="1005840"/>
          </a:xfrm>
          <a:prstGeom prst="roundRect">
            <a:avLst>
              <a:gd name="adj" fmla="val 8182"/>
            </a:avLst>
          </a:prstGeom>
          <a:solidFill>
            <a:srgbClr val="1E3151"/>
          </a:solidFill>
          <a:ln w="12700">
            <a:solidFill>
              <a:srgbClr val="1E3151"/>
            </a:solidFill>
            <a:prstDash val="solid"/>
          </a:ln>
        </p:spPr>
      </p:sp>
      <p:sp>
        <p:nvSpPr>
          <p:cNvPr id="11" name="Text 9"/>
          <p:cNvSpPr txBox="1"/>
          <p:nvPr/>
        </p:nvSpPr>
        <p:spPr>
          <a:xfrm>
            <a:off x="3767328" y="4572000"/>
            <a:ext cx="2103120" cy="384048"/>
          </a:xfrm>
          <a:prstGeom prst="rect">
            <a:avLst/>
          </a:prstGeom>
          <a:noFill/>
          <a:ln/>
        </p:spPr>
        <p:txBody>
          <a:bodyPr wrap="square" lIns="0" tIns="0" rIns="0" bIns="0" rtlCol="0" anchor="ctr"/>
          <a:lstStyle/>
          <a:p>
            <a:pPr indent="0" marL="0">
              <a:buNone/>
            </a:pPr>
            <a:r>
              <a:rPr lang="en-US" sz="2200" b="1" dirty="0">
                <a:solidFill>
                  <a:srgbClr val="FFC145"/>
                </a:solidFill>
                <a:latin typeface="Cambria" pitchFamily="34" charset="0"/>
                <a:ea typeface="Cambria" pitchFamily="34" charset="-122"/>
                <a:cs typeface="Cambria" pitchFamily="34" charset="-120"/>
              </a:rPr>
              <a:t>30 min</a:t>
            </a:r>
            <a:endParaRPr lang="en-US" sz="2200" dirty="0"/>
          </a:p>
        </p:txBody>
      </p:sp>
      <p:sp>
        <p:nvSpPr>
          <p:cNvPr id="12" name="Text 10"/>
          <p:cNvSpPr txBox="1"/>
          <p:nvPr/>
        </p:nvSpPr>
        <p:spPr>
          <a:xfrm>
            <a:off x="3767328" y="4974336"/>
            <a:ext cx="2194560" cy="457200"/>
          </a:xfrm>
          <a:prstGeom prst="rect">
            <a:avLst/>
          </a:prstGeom>
          <a:noFill/>
          <a:ln/>
        </p:spPr>
        <p:txBody>
          <a:bodyPr wrap="square" lIns="0" tIns="0" rIns="0" bIns="0" rtlCol="0" anchor="ctr"/>
          <a:lstStyle/>
          <a:p>
            <a:pPr indent="0" marL="0">
              <a:lnSpc>
                <a:spcPct val="110000"/>
              </a:lnSpc>
              <a:buNone/>
            </a:pPr>
            <a:r>
              <a:rPr lang="en-US" sz="1050" dirty="0">
                <a:solidFill>
                  <a:srgbClr val="9DB2CE"/>
                </a:solidFill>
                <a:latin typeface="Calibri" pitchFamily="34" charset="0"/>
                <a:ea typeface="Calibri" pitchFamily="34" charset="-122"/>
                <a:cs typeface="Calibri" pitchFamily="34" charset="-120"/>
              </a:rPr>
              <a:t>Practice notebook</a:t>
            </a:r>
            <a:endParaRPr lang="en-US" sz="1050" dirty="0"/>
          </a:p>
        </p:txBody>
      </p:sp>
      <p:sp>
        <p:nvSpPr>
          <p:cNvPr id="13" name="Shape 11"/>
          <p:cNvSpPr/>
          <p:nvPr/>
        </p:nvSpPr>
        <p:spPr>
          <a:xfrm>
            <a:off x="6309360" y="4480560"/>
            <a:ext cx="2468880" cy="1005840"/>
          </a:xfrm>
          <a:prstGeom prst="roundRect">
            <a:avLst>
              <a:gd name="adj" fmla="val 8182"/>
            </a:avLst>
          </a:prstGeom>
          <a:solidFill>
            <a:srgbClr val="1E3151"/>
          </a:solidFill>
          <a:ln w="12700">
            <a:solidFill>
              <a:srgbClr val="1E3151"/>
            </a:solidFill>
            <a:prstDash val="solid"/>
          </a:ln>
        </p:spPr>
      </p:sp>
      <p:sp>
        <p:nvSpPr>
          <p:cNvPr id="14" name="Text 12"/>
          <p:cNvSpPr txBox="1"/>
          <p:nvPr/>
        </p:nvSpPr>
        <p:spPr>
          <a:xfrm>
            <a:off x="6510528" y="4572000"/>
            <a:ext cx="2103120" cy="384048"/>
          </a:xfrm>
          <a:prstGeom prst="rect">
            <a:avLst/>
          </a:prstGeom>
          <a:noFill/>
          <a:ln/>
        </p:spPr>
        <p:txBody>
          <a:bodyPr wrap="square" lIns="0" tIns="0" rIns="0" bIns="0" rtlCol="0" anchor="ctr"/>
          <a:lstStyle/>
          <a:p>
            <a:pPr indent="0" marL="0">
              <a:buNone/>
            </a:pPr>
            <a:r>
              <a:rPr lang="en-US" sz="2200" b="1" dirty="0">
                <a:solidFill>
                  <a:srgbClr val="FFC145"/>
                </a:solidFill>
                <a:latin typeface="Cambria" pitchFamily="34" charset="0"/>
                <a:ea typeface="Cambria" pitchFamily="34" charset="-122"/>
                <a:cs typeface="Cambria" pitchFamily="34" charset="-120"/>
              </a:rPr>
              <a:t>1</a:t>
            </a:r>
            <a:endParaRPr lang="en-US" sz="2200" dirty="0"/>
          </a:p>
        </p:txBody>
      </p:sp>
      <p:sp>
        <p:nvSpPr>
          <p:cNvPr id="15" name="Text 13"/>
          <p:cNvSpPr txBox="1"/>
          <p:nvPr/>
        </p:nvSpPr>
        <p:spPr>
          <a:xfrm>
            <a:off x="6510528" y="4974336"/>
            <a:ext cx="2194560" cy="457200"/>
          </a:xfrm>
          <a:prstGeom prst="rect">
            <a:avLst/>
          </a:prstGeom>
          <a:noFill/>
          <a:ln/>
        </p:spPr>
        <p:txBody>
          <a:bodyPr wrap="square" lIns="0" tIns="0" rIns="0" bIns="0" rtlCol="0" anchor="ctr"/>
          <a:lstStyle/>
          <a:p>
            <a:pPr indent="0" marL="0">
              <a:lnSpc>
                <a:spcPct val="110000"/>
              </a:lnSpc>
              <a:buNone/>
            </a:pPr>
            <a:r>
              <a:rPr lang="en-US" sz="1050" dirty="0">
                <a:solidFill>
                  <a:srgbClr val="9DB2CE"/>
                </a:solidFill>
                <a:latin typeface="Calibri" pitchFamily="34" charset="0"/>
                <a:ea typeface="Calibri" pitchFamily="34" charset="-122"/>
                <a:cs typeface="Calibri" pitchFamily="34" charset="-120"/>
              </a:rPr>
              <a:t>Question you have asked 3 times</a:t>
            </a:r>
            <a:endParaRPr lang="en-US" sz="1050" dirty="0"/>
          </a:p>
        </p:txBody>
      </p:sp>
      <p:sp>
        <p:nvSpPr>
          <p:cNvPr id="16" name="Shape 14"/>
          <p:cNvSpPr/>
          <p:nvPr/>
        </p:nvSpPr>
        <p:spPr>
          <a:xfrm>
            <a:off x="9098280" y="1371600"/>
            <a:ext cx="2514600" cy="2514600"/>
          </a:xfrm>
          <a:prstGeom prst="roundRect">
            <a:avLst>
              <a:gd name="adj" fmla="val 3636"/>
            </a:avLst>
          </a:prstGeom>
          <a:solidFill>
            <a:srgbClr val="FFFFFF"/>
          </a:solidFill>
          <a:ln w="12700">
            <a:solidFill>
              <a:srgbClr val="333333"/>
            </a:solidFill>
            <a:prstDash val="solid"/>
          </a:ln>
          <a:effectLst>
            <a:outerShdw sx="100000" sy="100000" kx="0" ky="0" algn="bl" rotWithShape="0" blurRad="177800" dist="38100" dir="5400000">
              <a:srgbClr val="000000">
                <a:alpha val="35000"/>
              </a:srgbClr>
            </a:outerShdw>
          </a:effectLst>
        </p:spPr>
      </p:sp>
      <p:pic>
        <p:nvPicPr>
          <p:cNvPr id="17" name="Image 0" descr="/home/claude/day23/bu_logo.png">    </p:cNvPr>
          <p:cNvPicPr>
            <a:picLocks noChangeAspect="1"/>
          </p:cNvPicPr>
          <p:nvPr/>
        </p:nvPicPr>
        <p:blipFill>
          <a:blip r:embed="rId1"/>
          <a:stretch>
            <a:fillRect/>
          </a:stretch>
        </p:blipFill>
        <p:spPr>
          <a:xfrm>
            <a:off x="9400032" y="1737360"/>
            <a:ext cx="1911096" cy="1783080"/>
          </a:xfrm>
          <a:prstGeom prst="rect">
            <a:avLst/>
          </a:prstGeom>
        </p:spPr>
      </p:pic>
      <p:sp>
        <p:nvSpPr>
          <p:cNvPr id="18" name="Text 15"/>
          <p:cNvSpPr txBox="1"/>
          <p:nvPr/>
        </p:nvSpPr>
        <p:spPr>
          <a:xfrm>
            <a:off x="9098280" y="3977640"/>
            <a:ext cx="2514600" cy="274320"/>
          </a:xfrm>
          <a:prstGeom prst="rect">
            <a:avLst/>
          </a:prstGeom>
          <a:noFill/>
          <a:ln/>
        </p:spPr>
        <p:txBody>
          <a:bodyPr wrap="square" lIns="0" tIns="0" rIns="0" bIns="0" rtlCol="0" anchor="ctr"/>
          <a:lstStyle/>
          <a:p>
            <a:pPr algn="ctr" indent="0" marL="0">
              <a:buNone/>
            </a:pPr>
            <a:r>
              <a:rPr lang="en-US" sz="1200" b="1" dirty="0">
                <a:solidFill>
                  <a:srgbClr val="AFC2DC"/>
                </a:solidFill>
                <a:latin typeface="Calibri" pitchFamily="34" charset="0"/>
                <a:ea typeface="Calibri" pitchFamily="34" charset="-122"/>
                <a:cs typeface="Calibri" pitchFamily="34" charset="-120"/>
              </a:rPr>
              <a:t>Boston University</a:t>
            </a:r>
            <a:endParaRPr lang="en-US" sz="1200" dirty="0"/>
          </a:p>
        </p:txBody>
      </p:sp>
      <p:sp>
        <p:nvSpPr>
          <p:cNvPr id="19" name="Text 16"/>
          <p:cNvSpPr txBox="1"/>
          <p:nvPr/>
        </p:nvSpPr>
        <p:spPr>
          <a:xfrm>
            <a:off x="841248" y="5806440"/>
            <a:ext cx="7315200" cy="292608"/>
          </a:xfrm>
          <a:prstGeom prst="rect">
            <a:avLst/>
          </a:prstGeom>
          <a:noFill/>
          <a:ln/>
        </p:spPr>
        <p:txBody>
          <a:bodyPr wrap="square" lIns="0" tIns="0" rIns="0" bIns="0" rtlCol="0" anchor="ctr"/>
          <a:lstStyle/>
          <a:p>
            <a:pPr indent="0" marL="0">
              <a:buNone/>
            </a:pPr>
            <a:r>
              <a:rPr lang="en-US" sz="1300" dirty="0">
                <a:solidFill>
                  <a:srgbClr val="8FA6C4"/>
                </a:solidFill>
                <a:latin typeface="Calibri" pitchFamily="34" charset="0"/>
                <a:ea typeface="Calibri" pitchFamily="34" charset="-122"/>
                <a:cs typeface="Calibri" pitchFamily="34" charset="-120"/>
              </a:rPr>
              <a:t>Prepared &amp; presented by  </a:t>
            </a:r>
            <a:pPr indent="0" marL="0">
              <a:buNone/>
            </a:pPr>
            <a:r>
              <a:rPr lang="en-US" sz="1300" b="1" dirty="0">
                <a:solidFill>
                  <a:srgbClr val="FFC145"/>
                </a:solidFill>
                <a:latin typeface="Calibri" pitchFamily="34" charset="0"/>
                <a:ea typeface="Calibri" pitchFamily="34" charset="-122"/>
                <a:cs typeface="Calibri" pitchFamily="34" charset="-120"/>
              </a:rPr>
              <a:t>Srinivasa Sai Chava</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6FA"/>
        </a:solidFill>
      </p:bgPr>
    </p:bg>
    <p:spTree>
      <p:nvGrpSpPr>
        <p:cNvPr id="1" name=""/>
        <p:cNvGrpSpPr/>
        <p:nvPr/>
      </p:nvGrpSpPr>
      <p:grpSpPr>
        <a:xfrm>
          <a:off x="0" y="0"/>
          <a:ext cx="0" cy="0"/>
          <a:chOff x="0" y="0"/>
          <a:chExt cx="0" cy="0"/>
        </a:xfrm>
      </p:grpSpPr>
      <p:sp>
        <p:nvSpPr>
          <p:cNvPr id="2" name="Text 0"/>
          <p:cNvSpPr txBox="1"/>
          <p:nvPr/>
        </p:nvSpPr>
        <p:spPr>
          <a:xfrm>
            <a:off x="8138160" y="6437376"/>
            <a:ext cx="3474720" cy="256032"/>
          </a:xfrm>
          <a:prstGeom prst="rect">
            <a:avLst/>
          </a:prstGeom>
          <a:noFill/>
          <a:ln/>
        </p:spPr>
        <p:txBody>
          <a:bodyPr wrap="square" lIns="0" tIns="0" rIns="0" bIns="0" rtlCol="0" anchor="ctr"/>
          <a:lstStyle/>
          <a:p>
            <a:pPr algn="r" indent="0" marL="0">
              <a:buNone/>
            </a:pPr>
            <a:r>
              <a:rPr lang="en-US" sz="900" dirty="0">
                <a:solidFill>
                  <a:srgbClr val="9DAABE"/>
                </a:solidFill>
                <a:latin typeface="Calibri" pitchFamily="34" charset="0"/>
                <a:ea typeface="Calibri" pitchFamily="34" charset="-122"/>
                <a:cs typeface="Calibri" pitchFamily="34" charset="-120"/>
              </a:rPr>
              <a:t>Slides by Srinivasa Sai Chava</a:t>
            </a:r>
            <a:endParaRPr lang="en-US" sz="900" dirty="0"/>
          </a:p>
        </p:txBody>
      </p:sp>
      <p:sp>
        <p:nvSpPr>
          <p:cNvPr id="3" name="Text 1"/>
          <p:cNvSpPr txBox="1"/>
          <p:nvPr/>
        </p:nvSpPr>
        <p:spPr>
          <a:xfrm>
            <a:off x="548640" y="292608"/>
            <a:ext cx="10515600" cy="274320"/>
          </a:xfrm>
          <a:prstGeom prst="rect">
            <a:avLst/>
          </a:prstGeom>
          <a:noFill/>
          <a:ln/>
        </p:spPr>
        <p:txBody>
          <a:bodyPr wrap="square" lIns="0" tIns="0" rIns="0" bIns="0" rtlCol="0" anchor="ctr"/>
          <a:lstStyle/>
          <a:p>
            <a:pPr indent="0" marL="0">
              <a:buNone/>
            </a:pPr>
            <a:r>
              <a:rPr lang="en-US" sz="1200" b="1" spc="200" kern="0" dirty="0">
                <a:solidFill>
                  <a:srgbClr val="3E7CB1"/>
                </a:solidFill>
                <a:latin typeface="Calibri" pitchFamily="34" charset="0"/>
                <a:ea typeface="Calibri" pitchFamily="34" charset="-122"/>
                <a:cs typeface="Calibri" pitchFamily="34" charset="-120"/>
              </a:rPr>
              <a:t>MODULE 1  →  MODULE 2</a:t>
            </a:r>
            <a:endParaRPr lang="en-US" sz="1200" dirty="0"/>
          </a:p>
        </p:txBody>
      </p:sp>
      <p:sp>
        <p:nvSpPr>
          <p:cNvPr id="4" name="Text 2"/>
          <p:cNvSpPr txBox="1"/>
          <p:nvPr/>
        </p:nvSpPr>
        <p:spPr>
          <a:xfrm>
            <a:off x="548640" y="566928"/>
            <a:ext cx="11064240" cy="685800"/>
          </a:xfrm>
          <a:prstGeom prst="rect">
            <a:avLst/>
          </a:prstGeom>
          <a:noFill/>
          <a:ln/>
        </p:spPr>
        <p:txBody>
          <a:bodyPr wrap="square" lIns="0" tIns="0" rIns="0" bIns="0" rtlCol="0" anchor="ctr"/>
          <a:lstStyle/>
          <a:p>
            <a:pPr indent="0" marL="0">
              <a:buNone/>
            </a:pPr>
            <a:r>
              <a:rPr lang="en-US" sz="3200" b="1" dirty="0">
                <a:solidFill>
                  <a:srgbClr val="1F3A5F"/>
                </a:solidFill>
                <a:latin typeface="Cambria" pitchFamily="34" charset="0"/>
                <a:ea typeface="Cambria" pitchFamily="34" charset="-122"/>
                <a:cs typeface="Cambria" pitchFamily="34" charset="-120"/>
              </a:rPr>
              <a:t>You have been computing these for nine sessions</a:t>
            </a:r>
            <a:endParaRPr lang="en-US" sz="3200" dirty="0"/>
          </a:p>
        </p:txBody>
      </p:sp>
      <p:sp>
        <p:nvSpPr>
          <p:cNvPr id="5" name="Shape 3"/>
          <p:cNvSpPr/>
          <p:nvPr/>
        </p:nvSpPr>
        <p:spPr>
          <a:xfrm>
            <a:off x="548640" y="1572768"/>
            <a:ext cx="5760720" cy="2377440"/>
          </a:xfrm>
          <a:prstGeom prst="roundRect">
            <a:avLst>
              <a:gd name="adj" fmla="val 3462"/>
            </a:avLst>
          </a:prstGeom>
          <a:solidFill>
            <a:srgbClr val="EDF2F9"/>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6" name="Text 4"/>
          <p:cNvSpPr txBox="1"/>
          <p:nvPr/>
        </p:nvSpPr>
        <p:spPr>
          <a:xfrm>
            <a:off x="804672" y="1719072"/>
            <a:ext cx="5212080" cy="301752"/>
          </a:xfrm>
          <a:prstGeom prst="rect">
            <a:avLst/>
          </a:prstGeom>
          <a:noFill/>
          <a:ln/>
        </p:spPr>
        <p:txBody>
          <a:bodyPr wrap="square" lIns="0" tIns="0" rIns="0" bIns="0" rtlCol="0" anchor="ctr"/>
          <a:lstStyle/>
          <a:p>
            <a:pPr indent="0" marL="0">
              <a:buNone/>
            </a:pPr>
            <a:r>
              <a:rPr lang="en-US" sz="1450" b="1" dirty="0">
                <a:solidFill>
                  <a:srgbClr val="1F3A5F"/>
                </a:solidFill>
                <a:latin typeface="Calibri" pitchFamily="34" charset="0"/>
                <a:ea typeface="Calibri" pitchFamily="34" charset="-122"/>
                <a:cs typeface="Calibri" pitchFamily="34" charset="-120"/>
              </a:rPr>
              <a:t>What you already do</a:t>
            </a:r>
            <a:endParaRPr lang="en-US" sz="1450" dirty="0"/>
          </a:p>
        </p:txBody>
      </p:sp>
      <p:sp>
        <p:nvSpPr>
          <p:cNvPr id="7" name="Shape 5"/>
          <p:cNvSpPr/>
          <p:nvPr/>
        </p:nvSpPr>
        <p:spPr>
          <a:xfrm>
            <a:off x="804672" y="2084832"/>
            <a:ext cx="5257800" cy="1188720"/>
          </a:xfrm>
          <a:prstGeom prst="roundRect">
            <a:avLst>
              <a:gd name="adj" fmla="val 5385"/>
            </a:avLst>
          </a:prstGeom>
          <a:solidFill>
            <a:srgbClr val="1B2B45"/>
          </a:solidFill>
          <a:ln w="12700">
            <a:solidFill>
              <a:srgbClr val="1B2B45"/>
            </a:solidFill>
            <a:prstDash val="solid"/>
          </a:ln>
        </p:spPr>
      </p:sp>
      <p:sp>
        <p:nvSpPr>
          <p:cNvPr id="8" name="Text 6"/>
          <p:cNvSpPr txBox="1"/>
          <p:nvPr/>
        </p:nvSpPr>
        <p:spPr>
          <a:xfrm>
            <a:off x="969264" y="2194560"/>
            <a:ext cx="4928616" cy="969264"/>
          </a:xfrm>
          <a:prstGeom prst="rect">
            <a:avLst/>
          </a:prstGeom>
          <a:noFill/>
          <a:ln/>
        </p:spPr>
        <p:txBody>
          <a:bodyPr wrap="square" lIns="0" tIns="0" rIns="0" bIns="0" rtlCol="0" anchor="t"/>
          <a:lstStyle/>
          <a:p>
            <a:pPr indent="0" marL="0">
              <a:lnSpc>
                <a:spcPct val="112000"/>
              </a:lnSpc>
              <a:buNone/>
            </a:pPr>
            <a:r>
              <a:rPr lang="en-US" sz="1050" dirty="0">
                <a:solidFill>
                  <a:srgbClr val="E7EEF8"/>
                </a:solidFill>
                <a:latin typeface="Courier New" pitchFamily="34" charset="0"/>
                <a:ea typeface="Courier New" pitchFamily="34" charset="-122"/>
                <a:cs typeface="Courier New" pitchFamily="34" charset="-120"/>
              </a:rPr>
              <a:t>df["salary"].mean()</a:t>
            </a:r>
            <a:endParaRPr lang="en-US" sz="1050" dirty="0"/>
          </a:p>
          <a:p>
            <a:pPr indent="0" marL="0">
              <a:lnSpc>
                <a:spcPct val="112000"/>
              </a:lnSpc>
              <a:buNone/>
            </a:pPr>
            <a:r>
              <a:rPr lang="en-US" sz="1050" dirty="0">
                <a:solidFill>
                  <a:srgbClr val="E7EEF8"/>
                </a:solidFill>
                <a:latin typeface="Courier New" pitchFamily="34" charset="0"/>
                <a:ea typeface="Courier New" pitchFamily="34" charset="-122"/>
                <a:cs typeface="Courier New" pitchFamily="34" charset="-120"/>
              </a:rPr>
              <a:t>df["salary"].std()</a:t>
            </a:r>
            <a:endParaRPr lang="en-US" sz="1050" dirty="0"/>
          </a:p>
          <a:p>
            <a:pPr indent="0" marL="0">
              <a:lnSpc>
                <a:spcPct val="112000"/>
              </a:lnSpc>
              <a:buNone/>
            </a:pPr>
            <a:r>
              <a:rPr lang="en-US" sz="1050" dirty="0">
                <a:solidFill>
                  <a:srgbClr val="E7EEF8"/>
                </a:solidFill>
                <a:latin typeface="Courier New" pitchFamily="34" charset="0"/>
                <a:ea typeface="Courier New" pitchFamily="34" charset="-122"/>
                <a:cs typeface="Courier New" pitchFamily="34" charset="-120"/>
              </a:rPr>
              <a:t>df.describe()</a:t>
            </a:r>
            <a:endParaRPr lang="en-US" sz="1050" dirty="0"/>
          </a:p>
          <a:p>
            <a:pPr indent="0" marL="0">
              <a:lnSpc>
                <a:spcPct val="112000"/>
              </a:lnSpc>
              <a:buNone/>
            </a:pPr>
            <a:r>
              <a:rPr lang="en-US" sz="1050" dirty="0">
                <a:solidFill>
                  <a:srgbClr val="E7EEF8"/>
                </a:solidFill>
                <a:latin typeface="Courier New" pitchFamily="34" charset="0"/>
                <a:ea typeface="Courier New" pitchFamily="34" charset="-122"/>
                <a:cs typeface="Courier New" pitchFamily="34" charset="-120"/>
              </a:rPr>
              <a:t>df.groupby("city")["v"].median()</a:t>
            </a:r>
            <a:endParaRPr lang="en-US" sz="1050" dirty="0"/>
          </a:p>
        </p:txBody>
      </p:sp>
      <p:sp>
        <p:nvSpPr>
          <p:cNvPr id="9" name="Text 7"/>
          <p:cNvSpPr txBox="1"/>
          <p:nvPr/>
        </p:nvSpPr>
        <p:spPr>
          <a:xfrm>
            <a:off x="804672" y="3401568"/>
            <a:ext cx="5257800" cy="411480"/>
          </a:xfrm>
          <a:prstGeom prst="rect">
            <a:avLst/>
          </a:prstGeom>
          <a:noFill/>
          <a:ln/>
        </p:spPr>
        <p:txBody>
          <a:bodyPr wrap="square" lIns="0" tIns="0" rIns="0" bIns="0" rtlCol="0" anchor="ctr"/>
          <a:lstStyle/>
          <a:p>
            <a:pPr indent="0" marL="0">
              <a:buNone/>
            </a:pPr>
            <a:r>
              <a:rPr lang="en-US" sz="1300" i="1" dirty="0">
                <a:solidFill>
                  <a:srgbClr val="6B7789"/>
                </a:solidFill>
                <a:latin typeface="Calibri" pitchFamily="34" charset="0"/>
                <a:ea typeface="Calibri" pitchFamily="34" charset="-122"/>
                <a:cs typeface="Calibri" pitchFamily="34" charset="-120"/>
              </a:rPr>
              <a:t>All of it correct. None of it explained.</a:t>
            </a:r>
            <a:endParaRPr lang="en-US" sz="1300" dirty="0"/>
          </a:p>
        </p:txBody>
      </p:sp>
      <p:sp>
        <p:nvSpPr>
          <p:cNvPr id="10" name="Shape 8"/>
          <p:cNvSpPr/>
          <p:nvPr/>
        </p:nvSpPr>
        <p:spPr>
          <a:xfrm>
            <a:off x="6583680" y="1572768"/>
            <a:ext cx="5029200" cy="2377440"/>
          </a:xfrm>
          <a:prstGeom prst="roundRect">
            <a:avLst>
              <a:gd name="adj" fmla="val 3462"/>
            </a:avLst>
          </a:prstGeom>
          <a:solidFill>
            <a:srgbClr val="FFF6E0"/>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11" name="Text 9"/>
          <p:cNvSpPr txBox="1"/>
          <p:nvPr/>
        </p:nvSpPr>
        <p:spPr>
          <a:xfrm>
            <a:off x="6839712" y="1719072"/>
            <a:ext cx="4480560" cy="301752"/>
          </a:xfrm>
          <a:prstGeom prst="rect">
            <a:avLst/>
          </a:prstGeom>
          <a:noFill/>
          <a:ln/>
        </p:spPr>
        <p:txBody>
          <a:bodyPr wrap="square" lIns="0" tIns="0" rIns="0" bIns="0" rtlCol="0" anchor="ctr"/>
          <a:lstStyle/>
          <a:p>
            <a:pPr indent="0" marL="0">
              <a:buNone/>
            </a:pPr>
            <a:r>
              <a:rPr lang="en-US" sz="1450" b="1" dirty="0">
                <a:solidFill>
                  <a:srgbClr val="8A5B00"/>
                </a:solidFill>
                <a:latin typeface="Calibri" pitchFamily="34" charset="0"/>
                <a:ea typeface="Calibri" pitchFamily="34" charset="-122"/>
                <a:cs typeface="Calibri" pitchFamily="34" charset="-120"/>
              </a:rPr>
              <a:t>The question you have met three times</a:t>
            </a:r>
            <a:endParaRPr lang="en-US" sz="1450" dirty="0"/>
          </a:p>
        </p:txBody>
      </p:sp>
      <p:sp>
        <p:nvSpPr>
          <p:cNvPr id="12" name="Text 10"/>
          <p:cNvSpPr txBox="1"/>
          <p:nvPr/>
        </p:nvSpPr>
        <p:spPr>
          <a:xfrm>
            <a:off x="6839712" y="2103120"/>
            <a:ext cx="4526280" cy="914400"/>
          </a:xfrm>
          <a:prstGeom prst="rect">
            <a:avLst/>
          </a:prstGeom>
          <a:noFill/>
          <a:ln/>
        </p:spPr>
        <p:txBody>
          <a:bodyPr wrap="square" lIns="0" tIns="0" rIns="0" bIns="0" rtlCol="0" anchor="ctr"/>
          <a:lstStyle/>
          <a:p>
            <a:pPr indent="0" marL="0">
              <a:lnSpc>
                <a:spcPct val="130000"/>
              </a:lnSpc>
              <a:buNone/>
            </a:pPr>
            <a:r>
              <a:rPr lang="en-US" sz="1250" dirty="0">
                <a:solidFill>
                  <a:srgbClr val="2B3445"/>
                </a:solidFill>
                <a:latin typeface="Calibri" pitchFamily="34" charset="0"/>
                <a:ea typeface="Calibri" pitchFamily="34" charset="-122"/>
                <a:cs typeface="Calibri" pitchFamily="34" charset="-120"/>
              </a:rPr>
              <a:t>Day 14:  “NumPy std uses ddof=0.”</a:t>
            </a:r>
            <a:endParaRPr lang="en-US" sz="1250" dirty="0"/>
          </a:p>
          <a:p>
            <a:pPr indent="0" marL="0">
              <a:lnSpc>
                <a:spcPct val="130000"/>
              </a:lnSpc>
              <a:buNone/>
            </a:pPr>
            <a:r>
              <a:rPr lang="en-US" sz="1250" dirty="0">
                <a:solidFill>
                  <a:srgbClr val="2B3445"/>
                </a:solidFill>
                <a:latin typeface="Calibri" pitchFamily="34" charset="0"/>
                <a:ea typeface="Calibri" pitchFamily="34" charset="-122"/>
                <a:cs typeface="Calibri" pitchFamily="34" charset="-120"/>
              </a:rPr>
              <a:t>Day 15:  “pandas std uses ddof=1.”</a:t>
            </a:r>
            <a:endParaRPr lang="en-US" sz="1250" dirty="0"/>
          </a:p>
          <a:p>
            <a:pPr indent="0" marL="0">
              <a:lnSpc>
                <a:spcPct val="130000"/>
              </a:lnSpc>
              <a:buNone/>
            </a:pPr>
            <a:r>
              <a:rPr lang="en-US" sz="1250" dirty="0">
                <a:solidFill>
                  <a:srgbClr val="2B3445"/>
                </a:solidFill>
                <a:latin typeface="Calibri" pitchFamily="34" charset="0"/>
                <a:ea typeface="Calibri" pitchFamily="34" charset="-122"/>
                <a:cs typeface="Calibri" pitchFamily="34" charset="-120"/>
              </a:rPr>
              <a:t>Day 19:  “state ddof explicitly.”</a:t>
            </a:r>
            <a:endParaRPr lang="en-US" sz="1250" dirty="0"/>
          </a:p>
        </p:txBody>
      </p:sp>
      <p:sp>
        <p:nvSpPr>
          <p:cNvPr id="13" name="Text 11"/>
          <p:cNvSpPr txBox="1"/>
          <p:nvPr/>
        </p:nvSpPr>
        <p:spPr>
          <a:xfrm>
            <a:off x="6839712" y="3108960"/>
            <a:ext cx="4526280" cy="685800"/>
          </a:xfrm>
          <a:prstGeom prst="rect">
            <a:avLst/>
          </a:prstGeom>
          <a:noFill/>
          <a:ln/>
        </p:spPr>
        <p:txBody>
          <a:bodyPr wrap="square" lIns="0" tIns="0" rIns="0" bIns="0" rtlCol="0" anchor="ctr"/>
          <a:lstStyle/>
          <a:p>
            <a:pPr indent="0" marL="0">
              <a:lnSpc>
                <a:spcPct val="120000"/>
              </a:lnSpc>
              <a:buNone/>
            </a:pPr>
            <a:r>
              <a:rPr lang="en-US" sz="1300" b="1" dirty="0">
                <a:solidFill>
                  <a:srgbClr val="8A5B00"/>
                </a:solidFill>
                <a:latin typeface="Calibri" pitchFamily="34" charset="0"/>
                <a:ea typeface="Calibri" pitchFamily="34" charset="-122"/>
                <a:cs typeface="Calibri" pitchFamily="34" charset="-120"/>
              </a:rPr>
              <a:t>Each time I said “we will come back to why.”</a:t>
            </a:r>
            <a:endParaRPr lang="en-US" sz="1300" dirty="0"/>
          </a:p>
          <a:p>
            <a:pPr indent="0" marL="0">
              <a:lnSpc>
                <a:spcPct val="120000"/>
              </a:lnSpc>
              <a:buNone/>
            </a:pPr>
            <a:r>
              <a:rPr lang="en-US" sz="1300" b="1" dirty="0">
                <a:solidFill>
                  <a:srgbClr val="8A5B00"/>
                </a:solidFill>
                <a:latin typeface="Calibri" pitchFamily="34" charset="0"/>
                <a:ea typeface="Calibri" pitchFamily="34" charset="-122"/>
                <a:cs typeface="Calibri" pitchFamily="34" charset="-120"/>
              </a:rPr>
              <a:t>Today is that session.</a:t>
            </a:r>
            <a:endParaRPr lang="en-US" sz="1300" dirty="0"/>
          </a:p>
        </p:txBody>
      </p:sp>
      <p:sp>
        <p:nvSpPr>
          <p:cNvPr id="14" name="Shape 12"/>
          <p:cNvSpPr/>
          <p:nvPr/>
        </p:nvSpPr>
        <p:spPr>
          <a:xfrm>
            <a:off x="548640" y="4023360"/>
            <a:ext cx="11064240" cy="1828800"/>
          </a:xfrm>
          <a:prstGeom prst="roundRect">
            <a:avLst>
              <a:gd name="adj" fmla="val 4500"/>
            </a:avLst>
          </a:prstGeom>
          <a:solidFill>
            <a:srgbClr val="E9F6F2"/>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15" name="Text 13"/>
          <p:cNvSpPr txBox="1"/>
          <p:nvPr/>
        </p:nvSpPr>
        <p:spPr>
          <a:xfrm>
            <a:off x="868680" y="4169664"/>
            <a:ext cx="7315200" cy="274320"/>
          </a:xfrm>
          <a:prstGeom prst="rect">
            <a:avLst/>
          </a:prstGeom>
          <a:noFill/>
          <a:ln/>
        </p:spPr>
        <p:txBody>
          <a:bodyPr wrap="square" lIns="0" tIns="0" rIns="0" bIns="0" rtlCol="0" anchor="ctr"/>
          <a:lstStyle/>
          <a:p>
            <a:pPr indent="0" marL="0">
              <a:buNone/>
            </a:pPr>
            <a:r>
              <a:rPr lang="en-US" sz="1450" b="1" dirty="0">
                <a:solidFill>
                  <a:srgbClr val="1C6F5C"/>
                </a:solidFill>
                <a:latin typeface="Calibri" pitchFamily="34" charset="0"/>
                <a:ea typeface="Calibri" pitchFamily="34" charset="-122"/>
                <a:cs typeface="Calibri" pitchFamily="34" charset="-120"/>
              </a:rPr>
              <a:t>What changes in Module 2</a:t>
            </a:r>
            <a:endParaRPr lang="en-US" sz="1450" dirty="0"/>
          </a:p>
        </p:txBody>
      </p:sp>
      <p:sp>
        <p:nvSpPr>
          <p:cNvPr id="16" name="Text 14"/>
          <p:cNvSpPr txBox="1"/>
          <p:nvPr/>
        </p:nvSpPr>
        <p:spPr>
          <a:xfrm>
            <a:off x="868680" y="4480560"/>
            <a:ext cx="10424160" cy="1188720"/>
          </a:xfrm>
          <a:prstGeom prst="rect">
            <a:avLst/>
          </a:prstGeom>
          <a:noFill/>
          <a:ln/>
        </p:spPr>
        <p:txBody>
          <a:bodyPr wrap="square" lIns="0" tIns="0" rIns="0" bIns="0" rtlCol="0" anchor="ctr"/>
          <a:lstStyle/>
          <a:p>
            <a:pPr indent="0" marL="0">
              <a:lnSpc>
                <a:spcPct val="120000"/>
              </a:lnSpc>
              <a:buNone/>
            </a:pPr>
            <a:r>
              <a:rPr lang="en-US" sz="1300" dirty="0">
                <a:solidFill>
                  <a:srgbClr val="6B4A0B"/>
                </a:solidFill>
                <a:latin typeface="Calibri" pitchFamily="34" charset="0"/>
                <a:ea typeface="Calibri" pitchFamily="34" charset="-122"/>
                <a:cs typeface="Calibri" pitchFamily="34" charset="-120"/>
              </a:rPr>
              <a:t>In Module 1 your data WAS the thing you cared about: this spreadsheet, these 423 orders. From today, your data is a SAMPLE and you are trying to say something about a larger world you cannot see — every customer, not just the ones who bought in 2025. That one shift is the whole of statistics, and it is why the formulas change. Everything else in this module follows from it.</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6FA"/>
        </a:solidFill>
      </p:bgPr>
    </p:bg>
    <p:spTree>
      <p:nvGrpSpPr>
        <p:cNvPr id="1" name=""/>
        <p:cNvGrpSpPr/>
        <p:nvPr/>
      </p:nvGrpSpPr>
      <p:grpSpPr>
        <a:xfrm>
          <a:off x="0" y="0"/>
          <a:ext cx="0" cy="0"/>
          <a:chOff x="0" y="0"/>
          <a:chExt cx="0" cy="0"/>
        </a:xfrm>
      </p:grpSpPr>
      <p:sp>
        <p:nvSpPr>
          <p:cNvPr id="2" name="Text 0"/>
          <p:cNvSpPr txBox="1"/>
          <p:nvPr/>
        </p:nvSpPr>
        <p:spPr>
          <a:xfrm>
            <a:off x="8138160" y="6437376"/>
            <a:ext cx="3474720" cy="256032"/>
          </a:xfrm>
          <a:prstGeom prst="rect">
            <a:avLst/>
          </a:prstGeom>
          <a:noFill/>
          <a:ln/>
        </p:spPr>
        <p:txBody>
          <a:bodyPr wrap="square" lIns="0" tIns="0" rIns="0" bIns="0" rtlCol="0" anchor="ctr"/>
          <a:lstStyle/>
          <a:p>
            <a:pPr algn="r" indent="0" marL="0">
              <a:buNone/>
            </a:pPr>
            <a:r>
              <a:rPr lang="en-US" sz="900" dirty="0">
                <a:solidFill>
                  <a:srgbClr val="9DAABE"/>
                </a:solidFill>
                <a:latin typeface="Calibri" pitchFamily="34" charset="0"/>
                <a:ea typeface="Calibri" pitchFamily="34" charset="-122"/>
                <a:cs typeface="Calibri" pitchFamily="34" charset="-120"/>
              </a:rPr>
              <a:t>Slides by Srinivasa Sai Chava</a:t>
            </a:r>
            <a:endParaRPr lang="en-US" sz="900" dirty="0"/>
          </a:p>
        </p:txBody>
      </p:sp>
      <p:sp>
        <p:nvSpPr>
          <p:cNvPr id="3" name="Text 1"/>
          <p:cNvSpPr txBox="1"/>
          <p:nvPr/>
        </p:nvSpPr>
        <p:spPr>
          <a:xfrm>
            <a:off x="548640" y="292608"/>
            <a:ext cx="10515600" cy="274320"/>
          </a:xfrm>
          <a:prstGeom prst="rect">
            <a:avLst/>
          </a:prstGeom>
          <a:noFill/>
          <a:ln/>
        </p:spPr>
        <p:txBody>
          <a:bodyPr wrap="square" lIns="0" tIns="0" rIns="0" bIns="0" rtlCol="0" anchor="ctr"/>
          <a:lstStyle/>
          <a:p>
            <a:pPr indent="0" marL="0">
              <a:buNone/>
            </a:pPr>
            <a:r>
              <a:rPr lang="en-US" sz="1200" b="1" spc="200" kern="0" dirty="0">
                <a:solidFill>
                  <a:srgbClr val="3E7CB1"/>
                </a:solidFill>
                <a:latin typeface="Calibri" pitchFamily="34" charset="0"/>
                <a:ea typeface="Calibri" pitchFamily="34" charset="-122"/>
                <a:cs typeface="Calibri" pitchFamily="34" charset="-120"/>
              </a:rPr>
              <a:t>SESSION PLAN</a:t>
            </a:r>
            <a:endParaRPr lang="en-US" sz="1200" dirty="0"/>
          </a:p>
        </p:txBody>
      </p:sp>
      <p:sp>
        <p:nvSpPr>
          <p:cNvPr id="4" name="Text 2"/>
          <p:cNvSpPr txBox="1"/>
          <p:nvPr/>
        </p:nvSpPr>
        <p:spPr>
          <a:xfrm>
            <a:off x="548640" y="566928"/>
            <a:ext cx="11064240" cy="685800"/>
          </a:xfrm>
          <a:prstGeom prst="rect">
            <a:avLst/>
          </a:prstGeom>
          <a:noFill/>
          <a:ln/>
        </p:spPr>
        <p:txBody>
          <a:bodyPr wrap="square" lIns="0" tIns="0" rIns="0" bIns="0" rtlCol="0" anchor="ctr"/>
          <a:lstStyle/>
          <a:p>
            <a:pPr indent="0" marL="0">
              <a:buNone/>
            </a:pPr>
            <a:r>
              <a:rPr lang="en-US" sz="3200" b="1" dirty="0">
                <a:solidFill>
                  <a:srgbClr val="1F3A5F"/>
                </a:solidFill>
                <a:latin typeface="Cambria" pitchFamily="34" charset="0"/>
                <a:ea typeface="Cambria" pitchFamily="34" charset="-122"/>
                <a:cs typeface="Cambria" pitchFamily="34" charset="-120"/>
              </a:rPr>
              <a:t>How today's two hours are structured</a:t>
            </a:r>
            <a:endParaRPr lang="en-US" sz="3200" dirty="0"/>
          </a:p>
        </p:txBody>
      </p:sp>
      <p:sp>
        <p:nvSpPr>
          <p:cNvPr id="5" name="Shape 3"/>
          <p:cNvSpPr/>
          <p:nvPr/>
        </p:nvSpPr>
        <p:spPr>
          <a:xfrm>
            <a:off x="548640" y="1691640"/>
            <a:ext cx="5440680" cy="1115568"/>
          </a:xfrm>
          <a:prstGeom prst="roundRect">
            <a:avLst>
              <a:gd name="adj" fmla="val 7377"/>
            </a:avLst>
          </a:prstGeom>
          <a:solidFill>
            <a:srgbClr val="FFFFFF"/>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6" name="Shape 4"/>
          <p:cNvSpPr/>
          <p:nvPr/>
        </p:nvSpPr>
        <p:spPr>
          <a:xfrm>
            <a:off x="804672" y="2039112"/>
            <a:ext cx="420624" cy="420624"/>
          </a:xfrm>
          <a:prstGeom prst="ellipse">
            <a:avLst/>
          </a:prstGeom>
          <a:solidFill>
            <a:srgbClr val="3E7CB1"/>
          </a:solidFill>
          <a:ln w="12700">
            <a:solidFill>
              <a:srgbClr val="3E7CB1"/>
            </a:solidFill>
            <a:prstDash val="solid"/>
          </a:ln>
        </p:spPr>
      </p:sp>
      <p:sp>
        <p:nvSpPr>
          <p:cNvPr id="7" name="Text 5"/>
          <p:cNvSpPr txBox="1"/>
          <p:nvPr/>
        </p:nvSpPr>
        <p:spPr>
          <a:xfrm>
            <a:off x="804672" y="2039112"/>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8" name="Text 6"/>
          <p:cNvSpPr txBox="1"/>
          <p:nvPr/>
        </p:nvSpPr>
        <p:spPr>
          <a:xfrm>
            <a:off x="1417320" y="1874520"/>
            <a:ext cx="3291840" cy="347472"/>
          </a:xfrm>
          <a:prstGeom prst="rect">
            <a:avLst/>
          </a:prstGeom>
          <a:noFill/>
          <a:ln/>
        </p:spPr>
        <p:txBody>
          <a:bodyPr wrap="square" lIns="0" tIns="0" rIns="0" bIns="0" rtlCol="0" anchor="ctr"/>
          <a:lstStyle/>
          <a:p>
            <a:pPr indent="0" marL="0">
              <a:buNone/>
            </a:pPr>
            <a:r>
              <a:rPr lang="en-US" sz="1550" b="1" dirty="0">
                <a:solidFill>
                  <a:srgbClr val="1F3A5F"/>
                </a:solidFill>
                <a:latin typeface="Calibri" pitchFamily="34" charset="0"/>
                <a:ea typeface="Calibri" pitchFamily="34" charset="-122"/>
                <a:cs typeface="Calibri" pitchFamily="34" charset="-120"/>
              </a:rPr>
              <a:t>Centre</a:t>
            </a:r>
            <a:endParaRPr lang="en-US" sz="1550" dirty="0"/>
          </a:p>
        </p:txBody>
      </p:sp>
      <p:sp>
        <p:nvSpPr>
          <p:cNvPr id="9" name="Text 7"/>
          <p:cNvSpPr txBox="1"/>
          <p:nvPr/>
        </p:nvSpPr>
        <p:spPr>
          <a:xfrm>
            <a:off x="1417320" y="2240280"/>
            <a:ext cx="4389120" cy="384048"/>
          </a:xfrm>
          <a:prstGeom prst="rect">
            <a:avLst/>
          </a:prstGeom>
          <a:noFill/>
          <a:ln/>
        </p:spPr>
        <p:txBody>
          <a:bodyPr wrap="square" lIns="0" tIns="0" rIns="0" bIns="0" rtlCol="0" anchor="ctr"/>
          <a:lstStyle/>
          <a:p>
            <a:pPr indent="0" marL="0">
              <a:buNone/>
            </a:pPr>
            <a:r>
              <a:rPr lang="en-US" sz="1250" dirty="0">
                <a:solidFill>
                  <a:srgbClr val="6B7789"/>
                </a:solidFill>
                <a:latin typeface="Calibri" pitchFamily="34" charset="0"/>
                <a:ea typeface="Calibri" pitchFamily="34" charset="-122"/>
                <a:cs typeface="Calibri" pitchFamily="34" charset="-120"/>
              </a:rPr>
              <a:t>Mean, median, mode — and when each lies</a:t>
            </a:r>
            <a:endParaRPr lang="en-US" sz="1250" dirty="0"/>
          </a:p>
        </p:txBody>
      </p:sp>
      <p:sp>
        <p:nvSpPr>
          <p:cNvPr id="10" name="Text 8"/>
          <p:cNvSpPr txBox="1"/>
          <p:nvPr/>
        </p:nvSpPr>
        <p:spPr>
          <a:xfrm>
            <a:off x="4709160" y="1874520"/>
            <a:ext cx="1097280" cy="320040"/>
          </a:xfrm>
          <a:prstGeom prst="rect">
            <a:avLst/>
          </a:prstGeom>
          <a:noFill/>
          <a:ln/>
        </p:spPr>
        <p:txBody>
          <a:bodyPr wrap="square" lIns="0" tIns="0" rIns="0" bIns="0" rtlCol="0" anchor="ctr"/>
          <a:lstStyle/>
          <a:p>
            <a:pPr algn="r" indent="0" marL="0">
              <a:buNone/>
            </a:pPr>
            <a:r>
              <a:rPr lang="en-US" sz="1300" b="1" dirty="0">
                <a:solidFill>
                  <a:srgbClr val="3E7CB1"/>
                </a:solidFill>
                <a:latin typeface="Calibri" pitchFamily="34" charset="0"/>
                <a:ea typeface="Calibri" pitchFamily="34" charset="-122"/>
                <a:cs typeface="Calibri" pitchFamily="34" charset="-120"/>
              </a:rPr>
              <a:t>25 min</a:t>
            </a:r>
            <a:endParaRPr lang="en-US" sz="1300" dirty="0"/>
          </a:p>
        </p:txBody>
      </p:sp>
      <p:sp>
        <p:nvSpPr>
          <p:cNvPr id="11" name="Shape 9"/>
          <p:cNvSpPr/>
          <p:nvPr/>
        </p:nvSpPr>
        <p:spPr>
          <a:xfrm>
            <a:off x="6263640" y="1691640"/>
            <a:ext cx="5440680" cy="1115568"/>
          </a:xfrm>
          <a:prstGeom prst="roundRect">
            <a:avLst>
              <a:gd name="adj" fmla="val 7377"/>
            </a:avLst>
          </a:prstGeom>
          <a:solidFill>
            <a:srgbClr val="FFFFFF"/>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12" name="Shape 10"/>
          <p:cNvSpPr/>
          <p:nvPr/>
        </p:nvSpPr>
        <p:spPr>
          <a:xfrm>
            <a:off x="6519672" y="2039112"/>
            <a:ext cx="420624" cy="420624"/>
          </a:xfrm>
          <a:prstGeom prst="ellipse">
            <a:avLst/>
          </a:prstGeom>
          <a:solidFill>
            <a:srgbClr val="E8674C"/>
          </a:solidFill>
          <a:ln w="12700">
            <a:solidFill>
              <a:srgbClr val="E8674C"/>
            </a:solidFill>
            <a:prstDash val="solid"/>
          </a:ln>
        </p:spPr>
      </p:sp>
      <p:sp>
        <p:nvSpPr>
          <p:cNvPr id="13" name="Text 11"/>
          <p:cNvSpPr txBox="1"/>
          <p:nvPr/>
        </p:nvSpPr>
        <p:spPr>
          <a:xfrm>
            <a:off x="6519672" y="2039112"/>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4" name="Text 12"/>
          <p:cNvSpPr txBox="1"/>
          <p:nvPr/>
        </p:nvSpPr>
        <p:spPr>
          <a:xfrm>
            <a:off x="7132320" y="1874520"/>
            <a:ext cx="3291840" cy="347472"/>
          </a:xfrm>
          <a:prstGeom prst="rect">
            <a:avLst/>
          </a:prstGeom>
          <a:noFill/>
          <a:ln/>
        </p:spPr>
        <p:txBody>
          <a:bodyPr wrap="square" lIns="0" tIns="0" rIns="0" bIns="0" rtlCol="0" anchor="ctr"/>
          <a:lstStyle/>
          <a:p>
            <a:pPr indent="0" marL="0">
              <a:buNone/>
            </a:pPr>
            <a:r>
              <a:rPr lang="en-US" sz="1550" b="1" dirty="0">
                <a:solidFill>
                  <a:srgbClr val="1F3A5F"/>
                </a:solidFill>
                <a:latin typeface="Calibri" pitchFamily="34" charset="0"/>
                <a:ea typeface="Calibri" pitchFamily="34" charset="-122"/>
                <a:cs typeface="Calibri" pitchFamily="34" charset="-120"/>
              </a:rPr>
              <a:t>Spread</a:t>
            </a:r>
            <a:endParaRPr lang="en-US" sz="1550" dirty="0"/>
          </a:p>
        </p:txBody>
      </p:sp>
      <p:sp>
        <p:nvSpPr>
          <p:cNvPr id="15" name="Text 13"/>
          <p:cNvSpPr txBox="1"/>
          <p:nvPr/>
        </p:nvSpPr>
        <p:spPr>
          <a:xfrm>
            <a:off x="7132320" y="2240280"/>
            <a:ext cx="4389120" cy="384048"/>
          </a:xfrm>
          <a:prstGeom prst="rect">
            <a:avLst/>
          </a:prstGeom>
          <a:noFill/>
          <a:ln/>
        </p:spPr>
        <p:txBody>
          <a:bodyPr wrap="square" lIns="0" tIns="0" rIns="0" bIns="0" rtlCol="0" anchor="ctr"/>
          <a:lstStyle/>
          <a:p>
            <a:pPr indent="0" marL="0">
              <a:buNone/>
            </a:pPr>
            <a:r>
              <a:rPr lang="en-US" sz="1250" dirty="0">
                <a:solidFill>
                  <a:srgbClr val="6B7789"/>
                </a:solidFill>
                <a:latin typeface="Calibri" pitchFamily="34" charset="0"/>
                <a:ea typeface="Calibri" pitchFamily="34" charset="-122"/>
                <a:cs typeface="Calibri" pitchFamily="34" charset="-120"/>
              </a:rPr>
              <a:t>Range, IQR, variance, SD — and ddof</a:t>
            </a:r>
            <a:endParaRPr lang="en-US" sz="1250" dirty="0"/>
          </a:p>
        </p:txBody>
      </p:sp>
      <p:sp>
        <p:nvSpPr>
          <p:cNvPr id="16" name="Text 14"/>
          <p:cNvSpPr txBox="1"/>
          <p:nvPr/>
        </p:nvSpPr>
        <p:spPr>
          <a:xfrm>
            <a:off x="10424160" y="1874520"/>
            <a:ext cx="1097280" cy="320040"/>
          </a:xfrm>
          <a:prstGeom prst="rect">
            <a:avLst/>
          </a:prstGeom>
          <a:noFill/>
          <a:ln/>
        </p:spPr>
        <p:txBody>
          <a:bodyPr wrap="square" lIns="0" tIns="0" rIns="0" bIns="0" rtlCol="0" anchor="ctr"/>
          <a:lstStyle/>
          <a:p>
            <a:pPr algn="r" indent="0" marL="0">
              <a:buNone/>
            </a:pPr>
            <a:r>
              <a:rPr lang="en-US" sz="1300" b="1" dirty="0">
                <a:solidFill>
                  <a:srgbClr val="3E7CB1"/>
                </a:solidFill>
                <a:latin typeface="Calibri" pitchFamily="34" charset="0"/>
                <a:ea typeface="Calibri" pitchFamily="34" charset="-122"/>
                <a:cs typeface="Calibri" pitchFamily="34" charset="-120"/>
              </a:rPr>
              <a:t>35 min</a:t>
            </a:r>
            <a:endParaRPr lang="en-US" sz="1300" dirty="0"/>
          </a:p>
        </p:txBody>
      </p:sp>
      <p:sp>
        <p:nvSpPr>
          <p:cNvPr id="17" name="Shape 15"/>
          <p:cNvSpPr/>
          <p:nvPr/>
        </p:nvSpPr>
        <p:spPr>
          <a:xfrm>
            <a:off x="548640" y="3017520"/>
            <a:ext cx="5440680" cy="1115568"/>
          </a:xfrm>
          <a:prstGeom prst="roundRect">
            <a:avLst>
              <a:gd name="adj" fmla="val 7377"/>
            </a:avLst>
          </a:prstGeom>
          <a:solidFill>
            <a:srgbClr val="FFFFFF"/>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18" name="Shape 16"/>
          <p:cNvSpPr/>
          <p:nvPr/>
        </p:nvSpPr>
        <p:spPr>
          <a:xfrm>
            <a:off x="804672" y="3364992"/>
            <a:ext cx="420624" cy="420624"/>
          </a:xfrm>
          <a:prstGeom prst="ellipse">
            <a:avLst/>
          </a:prstGeom>
          <a:solidFill>
            <a:srgbClr val="3E7CB1"/>
          </a:solidFill>
          <a:ln w="12700">
            <a:solidFill>
              <a:srgbClr val="3E7CB1"/>
            </a:solidFill>
            <a:prstDash val="solid"/>
          </a:ln>
        </p:spPr>
      </p:sp>
      <p:sp>
        <p:nvSpPr>
          <p:cNvPr id="19" name="Text 17"/>
          <p:cNvSpPr txBox="1"/>
          <p:nvPr/>
        </p:nvSpPr>
        <p:spPr>
          <a:xfrm>
            <a:off x="804672" y="3364992"/>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0" name="Text 18"/>
          <p:cNvSpPr txBox="1"/>
          <p:nvPr/>
        </p:nvSpPr>
        <p:spPr>
          <a:xfrm>
            <a:off x="1417320" y="3200400"/>
            <a:ext cx="3291840" cy="347472"/>
          </a:xfrm>
          <a:prstGeom prst="rect">
            <a:avLst/>
          </a:prstGeom>
          <a:noFill/>
          <a:ln/>
        </p:spPr>
        <p:txBody>
          <a:bodyPr wrap="square" lIns="0" tIns="0" rIns="0" bIns="0" rtlCol="0" anchor="ctr"/>
          <a:lstStyle/>
          <a:p>
            <a:pPr indent="0" marL="0">
              <a:buNone/>
            </a:pPr>
            <a:r>
              <a:rPr lang="en-US" sz="1550" b="1" dirty="0">
                <a:solidFill>
                  <a:srgbClr val="1F3A5F"/>
                </a:solidFill>
                <a:latin typeface="Calibri" pitchFamily="34" charset="0"/>
                <a:ea typeface="Calibri" pitchFamily="34" charset="-122"/>
                <a:cs typeface="Calibri" pitchFamily="34" charset="-120"/>
              </a:rPr>
              <a:t>Shape</a:t>
            </a:r>
            <a:endParaRPr lang="en-US" sz="1550" dirty="0"/>
          </a:p>
        </p:txBody>
      </p:sp>
      <p:sp>
        <p:nvSpPr>
          <p:cNvPr id="21" name="Text 19"/>
          <p:cNvSpPr txBox="1"/>
          <p:nvPr/>
        </p:nvSpPr>
        <p:spPr>
          <a:xfrm>
            <a:off x="1417320" y="3566160"/>
            <a:ext cx="4389120" cy="384048"/>
          </a:xfrm>
          <a:prstGeom prst="rect">
            <a:avLst/>
          </a:prstGeom>
          <a:noFill/>
          <a:ln/>
        </p:spPr>
        <p:txBody>
          <a:bodyPr wrap="square" lIns="0" tIns="0" rIns="0" bIns="0" rtlCol="0" anchor="ctr"/>
          <a:lstStyle/>
          <a:p>
            <a:pPr indent="0" marL="0">
              <a:buNone/>
            </a:pPr>
            <a:r>
              <a:rPr lang="en-US" sz="1250" dirty="0">
                <a:solidFill>
                  <a:srgbClr val="6B7789"/>
                </a:solidFill>
                <a:latin typeface="Calibri" pitchFamily="34" charset="0"/>
                <a:ea typeface="Calibri" pitchFamily="34" charset="-122"/>
                <a:cs typeface="Calibri" pitchFamily="34" charset="-120"/>
              </a:rPr>
              <a:t>Skewness and kurtosis</a:t>
            </a:r>
            <a:endParaRPr lang="en-US" sz="1250" dirty="0"/>
          </a:p>
        </p:txBody>
      </p:sp>
      <p:sp>
        <p:nvSpPr>
          <p:cNvPr id="22" name="Text 20"/>
          <p:cNvSpPr txBox="1"/>
          <p:nvPr/>
        </p:nvSpPr>
        <p:spPr>
          <a:xfrm>
            <a:off x="4709160" y="3200400"/>
            <a:ext cx="1097280" cy="320040"/>
          </a:xfrm>
          <a:prstGeom prst="rect">
            <a:avLst/>
          </a:prstGeom>
          <a:noFill/>
          <a:ln/>
        </p:spPr>
        <p:txBody>
          <a:bodyPr wrap="square" lIns="0" tIns="0" rIns="0" bIns="0" rtlCol="0" anchor="ctr"/>
          <a:lstStyle/>
          <a:p>
            <a:pPr algn="r" indent="0" marL="0">
              <a:buNone/>
            </a:pPr>
            <a:r>
              <a:rPr lang="en-US" sz="1300" b="1" dirty="0">
                <a:solidFill>
                  <a:srgbClr val="3E7CB1"/>
                </a:solidFill>
                <a:latin typeface="Calibri" pitchFamily="34" charset="0"/>
                <a:ea typeface="Calibri" pitchFamily="34" charset="-122"/>
                <a:cs typeface="Calibri" pitchFamily="34" charset="-120"/>
              </a:rPr>
              <a:t>25 min</a:t>
            </a:r>
            <a:endParaRPr lang="en-US" sz="1300" dirty="0"/>
          </a:p>
        </p:txBody>
      </p:sp>
      <p:sp>
        <p:nvSpPr>
          <p:cNvPr id="23" name="Shape 21"/>
          <p:cNvSpPr/>
          <p:nvPr/>
        </p:nvSpPr>
        <p:spPr>
          <a:xfrm>
            <a:off x="6263640" y="3017520"/>
            <a:ext cx="5440680" cy="1115568"/>
          </a:xfrm>
          <a:prstGeom prst="roundRect">
            <a:avLst>
              <a:gd name="adj" fmla="val 7377"/>
            </a:avLst>
          </a:prstGeom>
          <a:solidFill>
            <a:srgbClr val="FFFFFF"/>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24" name="Shape 22"/>
          <p:cNvSpPr/>
          <p:nvPr/>
        </p:nvSpPr>
        <p:spPr>
          <a:xfrm>
            <a:off x="6519672" y="3364992"/>
            <a:ext cx="420624" cy="420624"/>
          </a:xfrm>
          <a:prstGeom prst="ellipse">
            <a:avLst/>
          </a:prstGeom>
          <a:solidFill>
            <a:srgbClr val="2FA98C"/>
          </a:solidFill>
          <a:ln w="12700">
            <a:solidFill>
              <a:srgbClr val="2FA98C"/>
            </a:solidFill>
            <a:prstDash val="solid"/>
          </a:ln>
        </p:spPr>
      </p:sp>
      <p:sp>
        <p:nvSpPr>
          <p:cNvPr id="25" name="Text 23"/>
          <p:cNvSpPr txBox="1"/>
          <p:nvPr/>
        </p:nvSpPr>
        <p:spPr>
          <a:xfrm>
            <a:off x="6519672" y="3364992"/>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6" name="Text 24"/>
          <p:cNvSpPr txBox="1"/>
          <p:nvPr/>
        </p:nvSpPr>
        <p:spPr>
          <a:xfrm>
            <a:off x="7132320" y="3200400"/>
            <a:ext cx="3291840" cy="347472"/>
          </a:xfrm>
          <a:prstGeom prst="rect">
            <a:avLst/>
          </a:prstGeom>
          <a:noFill/>
          <a:ln/>
        </p:spPr>
        <p:txBody>
          <a:bodyPr wrap="square" lIns="0" tIns="0" rIns="0" bIns="0" rtlCol="0" anchor="ctr"/>
          <a:lstStyle/>
          <a:p>
            <a:pPr indent="0" marL="0">
              <a:buNone/>
            </a:pPr>
            <a:r>
              <a:rPr lang="en-US" sz="1550" b="1" dirty="0">
                <a:solidFill>
                  <a:srgbClr val="1F3A5F"/>
                </a:solidFill>
                <a:latin typeface="Calibri" pitchFamily="34" charset="0"/>
                <a:ea typeface="Calibri" pitchFamily="34" charset="-122"/>
                <a:cs typeface="Calibri" pitchFamily="34" charset="-120"/>
              </a:rPr>
              <a:t>Mini build</a:t>
            </a:r>
            <a:endParaRPr lang="en-US" sz="1550" dirty="0"/>
          </a:p>
        </p:txBody>
      </p:sp>
      <p:sp>
        <p:nvSpPr>
          <p:cNvPr id="27" name="Text 25"/>
          <p:cNvSpPr txBox="1"/>
          <p:nvPr/>
        </p:nvSpPr>
        <p:spPr>
          <a:xfrm>
            <a:off x="7132320" y="3566160"/>
            <a:ext cx="4389120" cy="384048"/>
          </a:xfrm>
          <a:prstGeom prst="rect">
            <a:avLst/>
          </a:prstGeom>
          <a:noFill/>
          <a:ln/>
        </p:spPr>
        <p:txBody>
          <a:bodyPr wrap="square" lIns="0" tIns="0" rIns="0" bIns="0" rtlCol="0" anchor="ctr"/>
          <a:lstStyle/>
          <a:p>
            <a:pPr indent="0" marL="0">
              <a:buNone/>
            </a:pPr>
            <a:r>
              <a:rPr lang="en-US" sz="1250" dirty="0">
                <a:solidFill>
                  <a:srgbClr val="6B7789"/>
                </a:solidFill>
                <a:latin typeface="Calibri" pitchFamily="34" charset="0"/>
                <a:ea typeface="Calibri" pitchFamily="34" charset="-122"/>
                <a:cs typeface="Calibri" pitchFamily="34" charset="-120"/>
              </a:rPr>
              <a:t>A describe() that tells the truth</a:t>
            </a:r>
            <a:endParaRPr lang="en-US" sz="1250" dirty="0"/>
          </a:p>
        </p:txBody>
      </p:sp>
      <p:sp>
        <p:nvSpPr>
          <p:cNvPr id="28" name="Text 26"/>
          <p:cNvSpPr txBox="1"/>
          <p:nvPr/>
        </p:nvSpPr>
        <p:spPr>
          <a:xfrm>
            <a:off x="10424160" y="3200400"/>
            <a:ext cx="1097280" cy="320040"/>
          </a:xfrm>
          <a:prstGeom prst="rect">
            <a:avLst/>
          </a:prstGeom>
          <a:noFill/>
          <a:ln/>
        </p:spPr>
        <p:txBody>
          <a:bodyPr wrap="square" lIns="0" tIns="0" rIns="0" bIns="0" rtlCol="0" anchor="ctr"/>
          <a:lstStyle/>
          <a:p>
            <a:pPr algn="r" indent="0" marL="0">
              <a:buNone/>
            </a:pPr>
            <a:r>
              <a:rPr lang="en-US" sz="1300" b="1" dirty="0">
                <a:solidFill>
                  <a:srgbClr val="3E7CB1"/>
                </a:solidFill>
                <a:latin typeface="Calibri" pitchFamily="34" charset="0"/>
                <a:ea typeface="Calibri" pitchFamily="34" charset="-122"/>
                <a:cs typeface="Calibri" pitchFamily="34" charset="-120"/>
              </a:rPr>
              <a:t>5 min</a:t>
            </a:r>
            <a:endParaRPr lang="en-US" sz="1300" dirty="0"/>
          </a:p>
        </p:txBody>
      </p:sp>
      <p:sp>
        <p:nvSpPr>
          <p:cNvPr id="29" name="Shape 27"/>
          <p:cNvSpPr/>
          <p:nvPr/>
        </p:nvSpPr>
        <p:spPr>
          <a:xfrm>
            <a:off x="548640" y="4343400"/>
            <a:ext cx="5440680" cy="1115568"/>
          </a:xfrm>
          <a:prstGeom prst="roundRect">
            <a:avLst>
              <a:gd name="adj" fmla="val 7377"/>
            </a:avLst>
          </a:prstGeom>
          <a:solidFill>
            <a:srgbClr val="FFFFFF"/>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30" name="Shape 28"/>
          <p:cNvSpPr/>
          <p:nvPr/>
        </p:nvSpPr>
        <p:spPr>
          <a:xfrm>
            <a:off x="804672" y="4690872"/>
            <a:ext cx="420624" cy="420624"/>
          </a:xfrm>
          <a:prstGeom prst="ellipse">
            <a:avLst/>
          </a:prstGeom>
          <a:solidFill>
            <a:srgbClr val="FFC145"/>
          </a:solidFill>
          <a:ln w="12700">
            <a:solidFill>
              <a:srgbClr val="FFC145"/>
            </a:solidFill>
            <a:prstDash val="solid"/>
          </a:ln>
        </p:spPr>
      </p:sp>
      <p:sp>
        <p:nvSpPr>
          <p:cNvPr id="31" name="Text 29"/>
          <p:cNvSpPr txBox="1"/>
          <p:nvPr/>
        </p:nvSpPr>
        <p:spPr>
          <a:xfrm>
            <a:off x="804672" y="4690872"/>
            <a:ext cx="420624" cy="420624"/>
          </a:xfrm>
          <a:prstGeom prst="rect">
            <a:avLst/>
          </a:prstGeom>
          <a:noFill/>
          <a:ln/>
        </p:spPr>
        <p:txBody>
          <a:bodyPr wrap="square" lIns="0" tIns="0" rIns="0" bIns="0" rtlCol="0" anchor="ctr"/>
          <a:lstStyle/>
          <a:p>
            <a:pPr algn="ctr" indent="0" marL="0">
              <a:buNone/>
            </a:pPr>
            <a:r>
              <a:rPr lang="en-US" sz="1300" b="1" dirty="0">
                <a:solidFill>
                  <a:srgbClr val="152238"/>
                </a:solidFill>
                <a:latin typeface="Calibri" pitchFamily="34" charset="0"/>
                <a:ea typeface="Calibri" pitchFamily="34" charset="-122"/>
                <a:cs typeface="Calibri" pitchFamily="34" charset="-120"/>
              </a:rPr>
              <a:t>5</a:t>
            </a:r>
            <a:endParaRPr lang="en-US" sz="1300" dirty="0"/>
          </a:p>
        </p:txBody>
      </p:sp>
      <p:sp>
        <p:nvSpPr>
          <p:cNvPr id="32" name="Text 30"/>
          <p:cNvSpPr txBox="1"/>
          <p:nvPr/>
        </p:nvSpPr>
        <p:spPr>
          <a:xfrm>
            <a:off x="1417320" y="4526280"/>
            <a:ext cx="3291840" cy="347472"/>
          </a:xfrm>
          <a:prstGeom prst="rect">
            <a:avLst/>
          </a:prstGeom>
          <a:noFill/>
          <a:ln/>
        </p:spPr>
        <p:txBody>
          <a:bodyPr wrap="square" lIns="0" tIns="0" rIns="0" bIns="0" rtlCol="0" anchor="ctr"/>
          <a:lstStyle/>
          <a:p>
            <a:pPr indent="0" marL="0">
              <a:buNone/>
            </a:pPr>
            <a:r>
              <a:rPr lang="en-US" sz="1550" b="1" dirty="0">
                <a:solidFill>
                  <a:srgbClr val="1F3A5F"/>
                </a:solidFill>
                <a:latin typeface="Calibri" pitchFamily="34" charset="0"/>
                <a:ea typeface="Calibri" pitchFamily="34" charset="-122"/>
                <a:cs typeface="Calibri" pitchFamily="34" charset="-120"/>
              </a:rPr>
              <a:t>Practice notebook</a:t>
            </a:r>
            <a:endParaRPr lang="en-US" sz="1550" dirty="0"/>
          </a:p>
        </p:txBody>
      </p:sp>
      <p:sp>
        <p:nvSpPr>
          <p:cNvPr id="33" name="Text 31"/>
          <p:cNvSpPr txBox="1"/>
          <p:nvPr/>
        </p:nvSpPr>
        <p:spPr>
          <a:xfrm>
            <a:off x="1417320" y="4892040"/>
            <a:ext cx="4389120" cy="384048"/>
          </a:xfrm>
          <a:prstGeom prst="rect">
            <a:avLst/>
          </a:prstGeom>
          <a:noFill/>
          <a:ln/>
        </p:spPr>
        <p:txBody>
          <a:bodyPr wrap="square" lIns="0" tIns="0" rIns="0" bIns="0" rtlCol="0" anchor="ctr"/>
          <a:lstStyle/>
          <a:p>
            <a:pPr indent="0" marL="0">
              <a:buNone/>
            </a:pPr>
            <a:r>
              <a:rPr lang="en-US" sz="1250" dirty="0">
                <a:solidFill>
                  <a:srgbClr val="6B7789"/>
                </a:solidFill>
                <a:latin typeface="Calibri" pitchFamily="34" charset="0"/>
                <a:ea typeface="Calibri" pitchFamily="34" charset="-122"/>
                <a:cs typeface="Calibri" pitchFamily="34" charset="-120"/>
              </a:rPr>
              <a:t>You code, I walk around</a:t>
            </a:r>
            <a:endParaRPr lang="en-US" sz="1250" dirty="0"/>
          </a:p>
        </p:txBody>
      </p:sp>
      <p:sp>
        <p:nvSpPr>
          <p:cNvPr id="34" name="Text 32"/>
          <p:cNvSpPr txBox="1"/>
          <p:nvPr/>
        </p:nvSpPr>
        <p:spPr>
          <a:xfrm>
            <a:off x="4709160" y="4526280"/>
            <a:ext cx="1097280" cy="320040"/>
          </a:xfrm>
          <a:prstGeom prst="rect">
            <a:avLst/>
          </a:prstGeom>
          <a:noFill/>
          <a:ln/>
        </p:spPr>
        <p:txBody>
          <a:bodyPr wrap="square" lIns="0" tIns="0" rIns="0" bIns="0" rtlCol="0" anchor="ctr"/>
          <a:lstStyle/>
          <a:p>
            <a:pPr algn="r" indent="0" marL="0">
              <a:buNone/>
            </a:pPr>
            <a:r>
              <a:rPr lang="en-US" sz="1300" b="1" dirty="0">
                <a:solidFill>
                  <a:srgbClr val="E8674C"/>
                </a:solidFill>
                <a:latin typeface="Calibri" pitchFamily="34" charset="0"/>
                <a:ea typeface="Calibri" pitchFamily="34" charset="-122"/>
                <a:cs typeface="Calibri" pitchFamily="34" charset="-120"/>
              </a:rPr>
              <a:t>30 min</a:t>
            </a:r>
            <a:endParaRPr lang="en-US" sz="1300" dirty="0"/>
          </a:p>
        </p:txBody>
      </p:sp>
      <p:sp>
        <p:nvSpPr>
          <p:cNvPr id="35" name="Shape 33"/>
          <p:cNvSpPr/>
          <p:nvPr/>
        </p:nvSpPr>
        <p:spPr>
          <a:xfrm>
            <a:off x="6309360" y="4343400"/>
            <a:ext cx="5440680" cy="1115568"/>
          </a:xfrm>
          <a:prstGeom prst="roundRect">
            <a:avLst>
              <a:gd name="adj" fmla="val 7377"/>
            </a:avLst>
          </a:prstGeom>
          <a:solidFill>
            <a:srgbClr val="FFF6E0"/>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36" name="Text 34"/>
          <p:cNvSpPr txBox="1"/>
          <p:nvPr/>
        </p:nvSpPr>
        <p:spPr>
          <a:xfrm>
            <a:off x="7178040" y="4526280"/>
            <a:ext cx="3931920" cy="274320"/>
          </a:xfrm>
          <a:prstGeom prst="rect">
            <a:avLst/>
          </a:prstGeom>
          <a:noFill/>
          <a:ln/>
        </p:spPr>
        <p:txBody>
          <a:bodyPr wrap="square" lIns="0" tIns="0" rIns="0" bIns="0" rtlCol="0" anchor="ctr"/>
          <a:lstStyle/>
          <a:p>
            <a:pPr indent="0" marL="0">
              <a:buNone/>
            </a:pPr>
            <a:r>
              <a:rPr lang="en-US" sz="1400" b="1" dirty="0">
                <a:solidFill>
                  <a:srgbClr val="8A5B00"/>
                </a:solidFill>
                <a:latin typeface="Calibri" pitchFamily="34" charset="0"/>
                <a:ea typeface="Calibri" pitchFamily="34" charset="-122"/>
                <a:cs typeface="Calibri" pitchFamily="34" charset="-120"/>
              </a:rPr>
              <a:t>Section 2 gets the most time</a:t>
            </a:r>
            <a:endParaRPr lang="en-US" sz="1400" dirty="0"/>
          </a:p>
        </p:txBody>
      </p:sp>
      <p:sp>
        <p:nvSpPr>
          <p:cNvPr id="37" name="Text 35"/>
          <p:cNvSpPr txBox="1"/>
          <p:nvPr/>
        </p:nvSpPr>
        <p:spPr>
          <a:xfrm>
            <a:off x="7178040" y="4828032"/>
            <a:ext cx="4389120" cy="548640"/>
          </a:xfrm>
          <a:prstGeom prst="rect">
            <a:avLst/>
          </a:prstGeom>
          <a:noFill/>
          <a:ln/>
        </p:spPr>
        <p:txBody>
          <a:bodyPr wrap="square" lIns="0" tIns="0" rIns="0" bIns="0" rtlCol="0" anchor="ctr"/>
          <a:lstStyle/>
          <a:p>
            <a:pPr indent="0" marL="0">
              <a:lnSpc>
                <a:spcPct val="110000"/>
              </a:lnSpc>
              <a:buNone/>
            </a:pPr>
            <a:r>
              <a:rPr lang="en-US" sz="1200" dirty="0">
                <a:solidFill>
                  <a:srgbClr val="6B4A0B"/>
                </a:solidFill>
                <a:latin typeface="Calibri" pitchFamily="34" charset="0"/>
                <a:ea typeface="Calibri" pitchFamily="34" charset="-122"/>
                <a:cs typeface="Calibri" pitchFamily="34" charset="-120"/>
              </a:rPr>
              <a:t>Because that is where ddof lives, and I am going to prove it by simulation rather than algebra.</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6FA"/>
        </a:solidFill>
      </p:bgPr>
    </p:bg>
    <p:spTree>
      <p:nvGrpSpPr>
        <p:cNvPr id="1" name=""/>
        <p:cNvGrpSpPr/>
        <p:nvPr/>
      </p:nvGrpSpPr>
      <p:grpSpPr>
        <a:xfrm>
          <a:off x="0" y="0"/>
          <a:ext cx="0" cy="0"/>
          <a:chOff x="0" y="0"/>
          <a:chExt cx="0" cy="0"/>
        </a:xfrm>
      </p:grpSpPr>
      <p:sp>
        <p:nvSpPr>
          <p:cNvPr id="2" name="Text 0"/>
          <p:cNvSpPr txBox="1"/>
          <p:nvPr/>
        </p:nvSpPr>
        <p:spPr>
          <a:xfrm>
            <a:off x="8138160" y="6437376"/>
            <a:ext cx="3474720" cy="256032"/>
          </a:xfrm>
          <a:prstGeom prst="rect">
            <a:avLst/>
          </a:prstGeom>
          <a:noFill/>
          <a:ln/>
        </p:spPr>
        <p:txBody>
          <a:bodyPr wrap="square" lIns="0" tIns="0" rIns="0" bIns="0" rtlCol="0" anchor="ctr"/>
          <a:lstStyle/>
          <a:p>
            <a:pPr algn="r" indent="0" marL="0">
              <a:buNone/>
            </a:pPr>
            <a:r>
              <a:rPr lang="en-US" sz="900" dirty="0">
                <a:solidFill>
                  <a:srgbClr val="9DAABE"/>
                </a:solidFill>
                <a:latin typeface="Calibri" pitchFamily="34" charset="0"/>
                <a:ea typeface="Calibri" pitchFamily="34" charset="-122"/>
                <a:cs typeface="Calibri" pitchFamily="34" charset="-120"/>
              </a:rPr>
              <a:t>Slides by Srinivasa Sai Chava</a:t>
            </a:r>
            <a:endParaRPr lang="en-US" sz="900" dirty="0"/>
          </a:p>
        </p:txBody>
      </p:sp>
      <p:sp>
        <p:nvSpPr>
          <p:cNvPr id="3" name="Text 1"/>
          <p:cNvSpPr txBox="1"/>
          <p:nvPr/>
        </p:nvSpPr>
        <p:spPr>
          <a:xfrm>
            <a:off x="548640" y="292608"/>
            <a:ext cx="10515600" cy="274320"/>
          </a:xfrm>
          <a:prstGeom prst="rect">
            <a:avLst/>
          </a:prstGeom>
          <a:noFill/>
          <a:ln/>
        </p:spPr>
        <p:txBody>
          <a:bodyPr wrap="square" lIns="0" tIns="0" rIns="0" bIns="0" rtlCol="0" anchor="ctr"/>
          <a:lstStyle/>
          <a:p>
            <a:pPr indent="0" marL="0">
              <a:buNone/>
            </a:pPr>
            <a:r>
              <a:rPr lang="en-US" sz="1200" b="1" spc="200" kern="0" dirty="0">
                <a:solidFill>
                  <a:srgbClr val="3E7CB1"/>
                </a:solidFill>
                <a:latin typeface="Calibri" pitchFamily="34" charset="0"/>
                <a:ea typeface="Calibri" pitchFamily="34" charset="-122"/>
                <a:cs typeface="Calibri" pitchFamily="34" charset="-120"/>
              </a:rPr>
              <a:t>LEARNING OUTCOMES</a:t>
            </a:r>
            <a:endParaRPr lang="en-US" sz="1200" dirty="0"/>
          </a:p>
        </p:txBody>
      </p:sp>
      <p:sp>
        <p:nvSpPr>
          <p:cNvPr id="4" name="Text 2"/>
          <p:cNvSpPr txBox="1"/>
          <p:nvPr/>
        </p:nvSpPr>
        <p:spPr>
          <a:xfrm>
            <a:off x="548640" y="566928"/>
            <a:ext cx="11064240" cy="685800"/>
          </a:xfrm>
          <a:prstGeom prst="rect">
            <a:avLst/>
          </a:prstGeom>
          <a:noFill/>
          <a:ln/>
        </p:spPr>
        <p:txBody>
          <a:bodyPr wrap="square" lIns="0" tIns="0" rIns="0" bIns="0" rtlCol="0" anchor="ctr"/>
          <a:lstStyle/>
          <a:p>
            <a:pPr indent="0" marL="0">
              <a:buNone/>
            </a:pPr>
            <a:r>
              <a:rPr lang="en-US" sz="3200" b="1" dirty="0">
                <a:solidFill>
                  <a:srgbClr val="1F3A5F"/>
                </a:solidFill>
                <a:latin typeface="Cambria" pitchFamily="34" charset="0"/>
                <a:ea typeface="Cambria" pitchFamily="34" charset="-122"/>
                <a:cs typeface="Cambria" pitchFamily="34" charset="-120"/>
              </a:rPr>
              <a:t>By the end of today you will be able to</a:t>
            </a:r>
            <a:endParaRPr lang="en-US" sz="3200" dirty="0"/>
          </a:p>
        </p:txBody>
      </p:sp>
      <p:sp>
        <p:nvSpPr>
          <p:cNvPr id="5" name="Shape 3"/>
          <p:cNvSpPr/>
          <p:nvPr/>
        </p:nvSpPr>
        <p:spPr>
          <a:xfrm>
            <a:off x="548640" y="1828800"/>
            <a:ext cx="2606040" cy="2514600"/>
          </a:xfrm>
          <a:prstGeom prst="roundRect">
            <a:avLst>
              <a:gd name="adj" fmla="val 3273"/>
            </a:avLst>
          </a:prstGeom>
          <a:solidFill>
            <a:srgbClr val="FFFFFF"/>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6" name="Shape 4"/>
          <p:cNvSpPr/>
          <p:nvPr/>
        </p:nvSpPr>
        <p:spPr>
          <a:xfrm>
            <a:off x="804672" y="2084832"/>
            <a:ext cx="438912" cy="438912"/>
          </a:xfrm>
          <a:prstGeom prst="ellipse">
            <a:avLst/>
          </a:prstGeom>
          <a:solidFill>
            <a:srgbClr val="FFC145"/>
          </a:solidFill>
          <a:ln w="12700">
            <a:solidFill>
              <a:srgbClr val="FFC145"/>
            </a:solidFill>
            <a:prstDash val="solid"/>
          </a:ln>
        </p:spPr>
      </p:sp>
      <p:sp>
        <p:nvSpPr>
          <p:cNvPr id="7" name="Text 5"/>
          <p:cNvSpPr txBox="1"/>
          <p:nvPr/>
        </p:nvSpPr>
        <p:spPr>
          <a:xfrm>
            <a:off x="804672" y="2084832"/>
            <a:ext cx="438912" cy="438912"/>
          </a:xfrm>
          <a:prstGeom prst="rect">
            <a:avLst/>
          </a:prstGeom>
          <a:noFill/>
          <a:ln/>
        </p:spPr>
        <p:txBody>
          <a:bodyPr wrap="square" lIns="0" tIns="0" rIns="0" bIns="0" rtlCol="0" anchor="ctr"/>
          <a:lstStyle/>
          <a:p>
            <a:pPr algn="ctr" indent="0" marL="0">
              <a:buNone/>
            </a:pPr>
            <a:r>
              <a:rPr lang="en-US" sz="1300" b="1" dirty="0">
                <a:solidFill>
                  <a:srgbClr val="152238"/>
                </a:solidFill>
                <a:latin typeface="Calibri" pitchFamily="34" charset="0"/>
                <a:ea typeface="Calibri" pitchFamily="34" charset="-122"/>
                <a:cs typeface="Calibri" pitchFamily="34" charset="-120"/>
              </a:rPr>
              <a:t>1</a:t>
            </a:r>
            <a:endParaRPr lang="en-US" sz="1300" dirty="0"/>
          </a:p>
        </p:txBody>
      </p:sp>
      <p:sp>
        <p:nvSpPr>
          <p:cNvPr id="8" name="Text 6"/>
          <p:cNvSpPr txBox="1"/>
          <p:nvPr/>
        </p:nvSpPr>
        <p:spPr>
          <a:xfrm>
            <a:off x="804672" y="2697480"/>
            <a:ext cx="2103120" cy="411480"/>
          </a:xfrm>
          <a:prstGeom prst="rect">
            <a:avLst/>
          </a:prstGeom>
          <a:noFill/>
          <a:ln/>
        </p:spPr>
        <p:txBody>
          <a:bodyPr wrap="square" lIns="0" tIns="0" rIns="0" bIns="0" rtlCol="0" anchor="ctr"/>
          <a:lstStyle/>
          <a:p>
            <a:pPr indent="0" marL="0">
              <a:buNone/>
            </a:pPr>
            <a:r>
              <a:rPr lang="en-US" sz="1600" b="1" dirty="0">
                <a:solidFill>
                  <a:srgbClr val="1F3A5F"/>
                </a:solidFill>
                <a:latin typeface="Calibri" pitchFamily="34" charset="0"/>
                <a:ea typeface="Calibri" pitchFamily="34" charset="-122"/>
                <a:cs typeface="Calibri" pitchFamily="34" charset="-120"/>
              </a:rPr>
              <a:t>Choose</a:t>
            </a:r>
            <a:endParaRPr lang="en-US" sz="1600" dirty="0"/>
          </a:p>
        </p:txBody>
      </p:sp>
      <p:sp>
        <p:nvSpPr>
          <p:cNvPr id="9" name="Text 7"/>
          <p:cNvSpPr txBox="1"/>
          <p:nvPr/>
        </p:nvSpPr>
        <p:spPr>
          <a:xfrm>
            <a:off x="804672" y="3154680"/>
            <a:ext cx="2121408" cy="1097280"/>
          </a:xfrm>
          <a:prstGeom prst="rect">
            <a:avLst/>
          </a:prstGeom>
          <a:noFill/>
          <a:ln/>
        </p:spPr>
        <p:txBody>
          <a:bodyPr wrap="square" lIns="0" tIns="0" rIns="0" bIns="0" rtlCol="0" anchor="ctr"/>
          <a:lstStyle/>
          <a:p>
            <a:pPr indent="0" marL="0">
              <a:lnSpc>
                <a:spcPct val="115000"/>
              </a:lnSpc>
              <a:buNone/>
            </a:pPr>
            <a:r>
              <a:rPr lang="en-US" sz="1250" dirty="0">
                <a:solidFill>
                  <a:srgbClr val="2B3445"/>
                </a:solidFill>
                <a:latin typeface="Calibri" pitchFamily="34" charset="0"/>
                <a:ea typeface="Calibri" pitchFamily="34" charset="-122"/>
                <a:cs typeface="Calibri" pitchFamily="34" charset="-120"/>
              </a:rPr>
              <a:t>Pick mean, median or mode and defend the choice</a:t>
            </a:r>
            <a:endParaRPr lang="en-US" sz="1250" dirty="0"/>
          </a:p>
        </p:txBody>
      </p:sp>
      <p:sp>
        <p:nvSpPr>
          <p:cNvPr id="10" name="Shape 8"/>
          <p:cNvSpPr/>
          <p:nvPr/>
        </p:nvSpPr>
        <p:spPr>
          <a:xfrm>
            <a:off x="3410712" y="1828800"/>
            <a:ext cx="2606040" cy="2514600"/>
          </a:xfrm>
          <a:prstGeom prst="roundRect">
            <a:avLst>
              <a:gd name="adj" fmla="val 3273"/>
            </a:avLst>
          </a:prstGeom>
          <a:solidFill>
            <a:srgbClr val="FFFFFF"/>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11" name="Shape 9"/>
          <p:cNvSpPr/>
          <p:nvPr/>
        </p:nvSpPr>
        <p:spPr>
          <a:xfrm>
            <a:off x="3666744" y="2084832"/>
            <a:ext cx="438912" cy="438912"/>
          </a:xfrm>
          <a:prstGeom prst="ellipse">
            <a:avLst/>
          </a:prstGeom>
          <a:solidFill>
            <a:srgbClr val="FFC145"/>
          </a:solidFill>
          <a:ln w="12700">
            <a:solidFill>
              <a:srgbClr val="FFC145"/>
            </a:solidFill>
            <a:prstDash val="solid"/>
          </a:ln>
        </p:spPr>
      </p:sp>
      <p:sp>
        <p:nvSpPr>
          <p:cNvPr id="12" name="Text 10"/>
          <p:cNvSpPr txBox="1"/>
          <p:nvPr/>
        </p:nvSpPr>
        <p:spPr>
          <a:xfrm>
            <a:off x="3666744" y="2084832"/>
            <a:ext cx="438912" cy="438912"/>
          </a:xfrm>
          <a:prstGeom prst="rect">
            <a:avLst/>
          </a:prstGeom>
          <a:noFill/>
          <a:ln/>
        </p:spPr>
        <p:txBody>
          <a:bodyPr wrap="square" lIns="0" tIns="0" rIns="0" bIns="0" rtlCol="0" anchor="ctr"/>
          <a:lstStyle/>
          <a:p>
            <a:pPr algn="ctr" indent="0" marL="0">
              <a:buNone/>
            </a:pPr>
            <a:r>
              <a:rPr lang="en-US" sz="1300" b="1" dirty="0">
                <a:solidFill>
                  <a:srgbClr val="152238"/>
                </a:solidFill>
                <a:latin typeface="Calibri" pitchFamily="34" charset="0"/>
                <a:ea typeface="Calibri" pitchFamily="34" charset="-122"/>
                <a:cs typeface="Calibri" pitchFamily="34" charset="-120"/>
              </a:rPr>
              <a:t>2</a:t>
            </a:r>
            <a:endParaRPr lang="en-US" sz="1300" dirty="0"/>
          </a:p>
        </p:txBody>
      </p:sp>
      <p:sp>
        <p:nvSpPr>
          <p:cNvPr id="13" name="Text 11"/>
          <p:cNvSpPr txBox="1"/>
          <p:nvPr/>
        </p:nvSpPr>
        <p:spPr>
          <a:xfrm>
            <a:off x="3666744" y="2697480"/>
            <a:ext cx="2103120" cy="411480"/>
          </a:xfrm>
          <a:prstGeom prst="rect">
            <a:avLst/>
          </a:prstGeom>
          <a:noFill/>
          <a:ln/>
        </p:spPr>
        <p:txBody>
          <a:bodyPr wrap="square" lIns="0" tIns="0" rIns="0" bIns="0" rtlCol="0" anchor="ctr"/>
          <a:lstStyle/>
          <a:p>
            <a:pPr indent="0" marL="0">
              <a:buNone/>
            </a:pPr>
            <a:r>
              <a:rPr lang="en-US" sz="1600" b="1" dirty="0">
                <a:solidFill>
                  <a:srgbClr val="1F3A5F"/>
                </a:solidFill>
                <a:latin typeface="Calibri" pitchFamily="34" charset="0"/>
                <a:ea typeface="Calibri" pitchFamily="34" charset="-122"/>
                <a:cs typeface="Calibri" pitchFamily="34" charset="-120"/>
              </a:rPr>
              <a:t>Quantify</a:t>
            </a:r>
            <a:endParaRPr lang="en-US" sz="1600" dirty="0"/>
          </a:p>
        </p:txBody>
      </p:sp>
      <p:sp>
        <p:nvSpPr>
          <p:cNvPr id="14" name="Text 12"/>
          <p:cNvSpPr txBox="1"/>
          <p:nvPr/>
        </p:nvSpPr>
        <p:spPr>
          <a:xfrm>
            <a:off x="3666744" y="3154680"/>
            <a:ext cx="2121408" cy="1097280"/>
          </a:xfrm>
          <a:prstGeom prst="rect">
            <a:avLst/>
          </a:prstGeom>
          <a:noFill/>
          <a:ln/>
        </p:spPr>
        <p:txBody>
          <a:bodyPr wrap="square" lIns="0" tIns="0" rIns="0" bIns="0" rtlCol="0" anchor="ctr"/>
          <a:lstStyle/>
          <a:p>
            <a:pPr indent="0" marL="0">
              <a:lnSpc>
                <a:spcPct val="115000"/>
              </a:lnSpc>
              <a:buNone/>
            </a:pPr>
            <a:r>
              <a:rPr lang="en-US" sz="1250" dirty="0">
                <a:solidFill>
                  <a:srgbClr val="2B3445"/>
                </a:solidFill>
                <a:latin typeface="Calibri" pitchFamily="34" charset="0"/>
                <a:ea typeface="Calibri" pitchFamily="34" charset="-122"/>
                <a:cs typeface="Calibri" pitchFamily="34" charset="-120"/>
              </a:rPr>
              <a:t>Describe spread with the right measure for the data</a:t>
            </a:r>
            <a:endParaRPr lang="en-US" sz="1250" dirty="0"/>
          </a:p>
        </p:txBody>
      </p:sp>
      <p:sp>
        <p:nvSpPr>
          <p:cNvPr id="15" name="Shape 13"/>
          <p:cNvSpPr/>
          <p:nvPr/>
        </p:nvSpPr>
        <p:spPr>
          <a:xfrm>
            <a:off x="6272784" y="1828800"/>
            <a:ext cx="2606040" cy="2514600"/>
          </a:xfrm>
          <a:prstGeom prst="roundRect">
            <a:avLst>
              <a:gd name="adj" fmla="val 3273"/>
            </a:avLst>
          </a:prstGeom>
          <a:solidFill>
            <a:srgbClr val="FFFFFF"/>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16" name="Shape 14"/>
          <p:cNvSpPr/>
          <p:nvPr/>
        </p:nvSpPr>
        <p:spPr>
          <a:xfrm>
            <a:off x="6528816" y="2084832"/>
            <a:ext cx="438912" cy="438912"/>
          </a:xfrm>
          <a:prstGeom prst="ellipse">
            <a:avLst/>
          </a:prstGeom>
          <a:solidFill>
            <a:srgbClr val="FFC145"/>
          </a:solidFill>
          <a:ln w="12700">
            <a:solidFill>
              <a:srgbClr val="FFC145"/>
            </a:solidFill>
            <a:prstDash val="solid"/>
          </a:ln>
        </p:spPr>
      </p:sp>
      <p:sp>
        <p:nvSpPr>
          <p:cNvPr id="17" name="Text 15"/>
          <p:cNvSpPr txBox="1"/>
          <p:nvPr/>
        </p:nvSpPr>
        <p:spPr>
          <a:xfrm>
            <a:off x="6528816" y="2084832"/>
            <a:ext cx="438912" cy="438912"/>
          </a:xfrm>
          <a:prstGeom prst="rect">
            <a:avLst/>
          </a:prstGeom>
          <a:noFill/>
          <a:ln/>
        </p:spPr>
        <p:txBody>
          <a:bodyPr wrap="square" lIns="0" tIns="0" rIns="0" bIns="0" rtlCol="0" anchor="ctr"/>
          <a:lstStyle/>
          <a:p>
            <a:pPr algn="ctr" indent="0" marL="0">
              <a:buNone/>
            </a:pPr>
            <a:r>
              <a:rPr lang="en-US" sz="1300" b="1" dirty="0">
                <a:solidFill>
                  <a:srgbClr val="152238"/>
                </a:solidFill>
                <a:latin typeface="Calibri" pitchFamily="34" charset="0"/>
                <a:ea typeface="Calibri" pitchFamily="34" charset="-122"/>
                <a:cs typeface="Calibri" pitchFamily="34" charset="-120"/>
              </a:rPr>
              <a:t>3</a:t>
            </a:r>
            <a:endParaRPr lang="en-US" sz="1300" dirty="0"/>
          </a:p>
        </p:txBody>
      </p:sp>
      <p:sp>
        <p:nvSpPr>
          <p:cNvPr id="18" name="Text 16"/>
          <p:cNvSpPr txBox="1"/>
          <p:nvPr/>
        </p:nvSpPr>
        <p:spPr>
          <a:xfrm>
            <a:off x="6528816" y="2697480"/>
            <a:ext cx="2103120" cy="411480"/>
          </a:xfrm>
          <a:prstGeom prst="rect">
            <a:avLst/>
          </a:prstGeom>
          <a:noFill/>
          <a:ln/>
        </p:spPr>
        <p:txBody>
          <a:bodyPr wrap="square" lIns="0" tIns="0" rIns="0" bIns="0" rtlCol="0" anchor="ctr"/>
          <a:lstStyle/>
          <a:p>
            <a:pPr indent="0" marL="0">
              <a:buNone/>
            </a:pPr>
            <a:r>
              <a:rPr lang="en-US" sz="1600" b="1" dirty="0">
                <a:solidFill>
                  <a:srgbClr val="1F3A5F"/>
                </a:solidFill>
                <a:latin typeface="Calibri" pitchFamily="34" charset="0"/>
                <a:ea typeface="Calibri" pitchFamily="34" charset="-122"/>
                <a:cs typeface="Calibri" pitchFamily="34" charset="-120"/>
              </a:rPr>
              <a:t>Explain</a:t>
            </a:r>
            <a:endParaRPr lang="en-US" sz="1600" dirty="0"/>
          </a:p>
        </p:txBody>
      </p:sp>
      <p:sp>
        <p:nvSpPr>
          <p:cNvPr id="19" name="Text 17"/>
          <p:cNvSpPr txBox="1"/>
          <p:nvPr/>
        </p:nvSpPr>
        <p:spPr>
          <a:xfrm>
            <a:off x="6528816" y="3154680"/>
            <a:ext cx="2121408" cy="1097280"/>
          </a:xfrm>
          <a:prstGeom prst="rect">
            <a:avLst/>
          </a:prstGeom>
          <a:noFill/>
          <a:ln/>
        </p:spPr>
        <p:txBody>
          <a:bodyPr wrap="square" lIns="0" tIns="0" rIns="0" bIns="0" rtlCol="0" anchor="ctr"/>
          <a:lstStyle/>
          <a:p>
            <a:pPr indent="0" marL="0">
              <a:lnSpc>
                <a:spcPct val="115000"/>
              </a:lnSpc>
              <a:buNone/>
            </a:pPr>
            <a:r>
              <a:rPr lang="en-US" sz="1250" dirty="0">
                <a:solidFill>
                  <a:srgbClr val="2B3445"/>
                </a:solidFill>
                <a:latin typeface="Calibri" pitchFamily="34" charset="0"/>
                <a:ea typeface="Calibri" pitchFamily="34" charset="-122"/>
                <a:cs typeface="Calibri" pitchFamily="34" charset="-120"/>
              </a:rPr>
              <a:t>Say what n-1 is for, and why pandas and NumPy disagree</a:t>
            </a:r>
            <a:endParaRPr lang="en-US" sz="1250" dirty="0"/>
          </a:p>
        </p:txBody>
      </p:sp>
      <p:sp>
        <p:nvSpPr>
          <p:cNvPr id="20" name="Shape 18"/>
          <p:cNvSpPr/>
          <p:nvPr/>
        </p:nvSpPr>
        <p:spPr>
          <a:xfrm>
            <a:off x="9134856" y="1828800"/>
            <a:ext cx="2606040" cy="2514600"/>
          </a:xfrm>
          <a:prstGeom prst="roundRect">
            <a:avLst>
              <a:gd name="adj" fmla="val 3273"/>
            </a:avLst>
          </a:prstGeom>
          <a:solidFill>
            <a:srgbClr val="FFFFFF"/>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21" name="Shape 19"/>
          <p:cNvSpPr/>
          <p:nvPr/>
        </p:nvSpPr>
        <p:spPr>
          <a:xfrm>
            <a:off x="9390888" y="2084832"/>
            <a:ext cx="438912" cy="438912"/>
          </a:xfrm>
          <a:prstGeom prst="ellipse">
            <a:avLst/>
          </a:prstGeom>
          <a:solidFill>
            <a:srgbClr val="FFC145"/>
          </a:solidFill>
          <a:ln w="12700">
            <a:solidFill>
              <a:srgbClr val="FFC145"/>
            </a:solidFill>
            <a:prstDash val="solid"/>
          </a:ln>
        </p:spPr>
      </p:sp>
      <p:sp>
        <p:nvSpPr>
          <p:cNvPr id="22" name="Text 20"/>
          <p:cNvSpPr txBox="1"/>
          <p:nvPr/>
        </p:nvSpPr>
        <p:spPr>
          <a:xfrm>
            <a:off x="9390888" y="2084832"/>
            <a:ext cx="438912" cy="438912"/>
          </a:xfrm>
          <a:prstGeom prst="rect">
            <a:avLst/>
          </a:prstGeom>
          <a:noFill/>
          <a:ln/>
        </p:spPr>
        <p:txBody>
          <a:bodyPr wrap="square" lIns="0" tIns="0" rIns="0" bIns="0" rtlCol="0" anchor="ctr"/>
          <a:lstStyle/>
          <a:p>
            <a:pPr algn="ctr" indent="0" marL="0">
              <a:buNone/>
            </a:pPr>
            <a:r>
              <a:rPr lang="en-US" sz="1300" b="1" dirty="0">
                <a:solidFill>
                  <a:srgbClr val="152238"/>
                </a:solidFill>
                <a:latin typeface="Calibri" pitchFamily="34" charset="0"/>
                <a:ea typeface="Calibri" pitchFamily="34" charset="-122"/>
                <a:cs typeface="Calibri" pitchFamily="34" charset="-120"/>
              </a:rPr>
              <a:t>4</a:t>
            </a:r>
            <a:endParaRPr lang="en-US" sz="1300" dirty="0"/>
          </a:p>
        </p:txBody>
      </p:sp>
      <p:sp>
        <p:nvSpPr>
          <p:cNvPr id="23" name="Text 21"/>
          <p:cNvSpPr txBox="1"/>
          <p:nvPr/>
        </p:nvSpPr>
        <p:spPr>
          <a:xfrm>
            <a:off x="9390888" y="2697480"/>
            <a:ext cx="2103120" cy="411480"/>
          </a:xfrm>
          <a:prstGeom prst="rect">
            <a:avLst/>
          </a:prstGeom>
          <a:noFill/>
          <a:ln/>
        </p:spPr>
        <p:txBody>
          <a:bodyPr wrap="square" lIns="0" tIns="0" rIns="0" bIns="0" rtlCol="0" anchor="ctr"/>
          <a:lstStyle/>
          <a:p>
            <a:pPr indent="0" marL="0">
              <a:buNone/>
            </a:pPr>
            <a:r>
              <a:rPr lang="en-US" sz="1600" b="1" dirty="0">
                <a:solidFill>
                  <a:srgbClr val="1F3A5F"/>
                </a:solidFill>
                <a:latin typeface="Calibri" pitchFamily="34" charset="0"/>
                <a:ea typeface="Calibri" pitchFamily="34" charset="-122"/>
                <a:cs typeface="Calibri" pitchFamily="34" charset="-120"/>
              </a:rPr>
              <a:t>Read</a:t>
            </a:r>
            <a:endParaRPr lang="en-US" sz="1600" dirty="0"/>
          </a:p>
        </p:txBody>
      </p:sp>
      <p:sp>
        <p:nvSpPr>
          <p:cNvPr id="24" name="Text 22"/>
          <p:cNvSpPr txBox="1"/>
          <p:nvPr/>
        </p:nvSpPr>
        <p:spPr>
          <a:xfrm>
            <a:off x="9390888" y="3154680"/>
            <a:ext cx="2121408" cy="1097280"/>
          </a:xfrm>
          <a:prstGeom prst="rect">
            <a:avLst/>
          </a:prstGeom>
          <a:noFill/>
          <a:ln/>
        </p:spPr>
        <p:txBody>
          <a:bodyPr wrap="square" lIns="0" tIns="0" rIns="0" bIns="0" rtlCol="0" anchor="ctr"/>
          <a:lstStyle/>
          <a:p>
            <a:pPr indent="0" marL="0">
              <a:lnSpc>
                <a:spcPct val="115000"/>
              </a:lnSpc>
              <a:buNone/>
            </a:pPr>
            <a:r>
              <a:rPr lang="en-US" sz="1250" dirty="0">
                <a:solidFill>
                  <a:srgbClr val="2B3445"/>
                </a:solidFill>
                <a:latin typeface="Calibri" pitchFamily="34" charset="0"/>
                <a:ea typeface="Calibri" pitchFamily="34" charset="-122"/>
                <a:cs typeface="Calibri" pitchFamily="34" charset="-120"/>
              </a:rPr>
              <a:t>Tell two distributions apart when the mean and SD match</a:t>
            </a:r>
            <a:endParaRPr lang="en-US" sz="1250" dirty="0"/>
          </a:p>
        </p:txBody>
      </p:sp>
      <p:sp>
        <p:nvSpPr>
          <p:cNvPr id="25" name="Shape 23"/>
          <p:cNvSpPr/>
          <p:nvPr/>
        </p:nvSpPr>
        <p:spPr>
          <a:xfrm>
            <a:off x="548640" y="4709160"/>
            <a:ext cx="11064240" cy="1097280"/>
          </a:xfrm>
          <a:prstGeom prst="roundRect">
            <a:avLst>
              <a:gd name="adj" fmla="val 7500"/>
            </a:avLst>
          </a:prstGeom>
          <a:solidFill>
            <a:srgbClr val="FFF6E0"/>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26" name="Text 24"/>
          <p:cNvSpPr txBox="1"/>
          <p:nvPr/>
        </p:nvSpPr>
        <p:spPr>
          <a:xfrm>
            <a:off x="868680" y="4864608"/>
            <a:ext cx="7315200" cy="292608"/>
          </a:xfrm>
          <a:prstGeom prst="rect">
            <a:avLst/>
          </a:prstGeom>
          <a:noFill/>
          <a:ln/>
        </p:spPr>
        <p:txBody>
          <a:bodyPr wrap="square" lIns="0" tIns="0" rIns="0" bIns="0" rtlCol="0" anchor="ctr"/>
          <a:lstStyle/>
          <a:p>
            <a:pPr indent="0" marL="0">
              <a:buNone/>
            </a:pPr>
            <a:r>
              <a:rPr lang="en-US" sz="1400" b="1" dirty="0">
                <a:solidFill>
                  <a:srgbClr val="8A5B00"/>
                </a:solidFill>
                <a:latin typeface="Calibri" pitchFamily="34" charset="0"/>
                <a:ea typeface="Calibri" pitchFamily="34" charset="-122"/>
                <a:cs typeface="Calibri" pitchFamily="34" charset="-120"/>
              </a:rPr>
              <a:t>Three numbers describe any distribution</a:t>
            </a:r>
            <a:endParaRPr lang="en-US" sz="1400" dirty="0"/>
          </a:p>
        </p:txBody>
      </p:sp>
      <p:sp>
        <p:nvSpPr>
          <p:cNvPr id="27" name="Text 25"/>
          <p:cNvSpPr txBox="1"/>
          <p:nvPr/>
        </p:nvSpPr>
        <p:spPr>
          <a:xfrm>
            <a:off x="868680" y="5193792"/>
            <a:ext cx="10424160" cy="502920"/>
          </a:xfrm>
          <a:prstGeom prst="rect">
            <a:avLst/>
          </a:prstGeom>
          <a:noFill/>
          <a:ln/>
        </p:spPr>
        <p:txBody>
          <a:bodyPr wrap="square" lIns="0" tIns="0" rIns="0" bIns="0" rtlCol="0" anchor="ctr"/>
          <a:lstStyle/>
          <a:p>
            <a:pPr indent="0" marL="0">
              <a:buNone/>
            </a:pPr>
            <a:r>
              <a:rPr lang="en-US" sz="1300" dirty="0">
                <a:solidFill>
                  <a:srgbClr val="6B4A0B"/>
                </a:solidFill>
                <a:latin typeface="Calibri" pitchFamily="34" charset="0"/>
                <a:ea typeface="Calibri" pitchFamily="34" charset="-122"/>
                <a:cs typeface="Calibri" pitchFamily="34" charset="-120"/>
              </a:rPr>
              <a:t>Where is it (centre), how spread out is it (spread), and what shape is it (skew and tails). Day 20's Anscombe quartet showed you that the first two are not enough. Today you get the third, and a rule for when each summary is honest.</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52238"/>
        </a:solidFill>
      </p:bgPr>
    </p:bg>
    <p:spTree>
      <p:nvGrpSpPr>
        <p:cNvPr id="1" name=""/>
        <p:cNvGrpSpPr/>
        <p:nvPr/>
      </p:nvGrpSpPr>
      <p:grpSpPr>
        <a:xfrm>
          <a:off x="0" y="0"/>
          <a:ext cx="0" cy="0"/>
          <a:chOff x="0" y="0"/>
          <a:chExt cx="0" cy="0"/>
        </a:xfrm>
      </p:grpSpPr>
      <p:sp>
        <p:nvSpPr>
          <p:cNvPr id="2" name="Text 0"/>
          <p:cNvSpPr txBox="1"/>
          <p:nvPr/>
        </p:nvSpPr>
        <p:spPr>
          <a:xfrm>
            <a:off x="8138160" y="6437376"/>
            <a:ext cx="3474720" cy="256032"/>
          </a:xfrm>
          <a:prstGeom prst="rect">
            <a:avLst/>
          </a:prstGeom>
          <a:noFill/>
          <a:ln/>
        </p:spPr>
        <p:txBody>
          <a:bodyPr wrap="square" lIns="0" tIns="0" rIns="0" bIns="0" rtlCol="0" anchor="ctr"/>
          <a:lstStyle/>
          <a:p>
            <a:pPr algn="r" indent="0" marL="0">
              <a:buNone/>
            </a:pPr>
            <a:r>
              <a:rPr lang="en-US" sz="900" dirty="0">
                <a:solidFill>
                  <a:srgbClr val="7E92B0"/>
                </a:solidFill>
                <a:latin typeface="Calibri" pitchFamily="34" charset="0"/>
                <a:ea typeface="Calibri" pitchFamily="34" charset="-122"/>
                <a:cs typeface="Calibri" pitchFamily="34" charset="-120"/>
              </a:rPr>
              <a:t>Slides by Srinivasa Sai Chava</a:t>
            </a:r>
            <a:endParaRPr lang="en-US" sz="900" dirty="0"/>
          </a:p>
        </p:txBody>
      </p:sp>
      <p:sp>
        <p:nvSpPr>
          <p:cNvPr id="3" name="Shape 1"/>
          <p:cNvSpPr/>
          <p:nvPr/>
        </p:nvSpPr>
        <p:spPr>
          <a:xfrm>
            <a:off x="822960" y="2057400"/>
            <a:ext cx="777240" cy="777240"/>
          </a:xfrm>
          <a:prstGeom prst="ellipse">
            <a:avLst/>
          </a:prstGeom>
          <a:solidFill>
            <a:srgbClr val="FFC145"/>
          </a:solidFill>
          <a:ln w="12700">
            <a:solidFill>
              <a:srgbClr val="FFC145"/>
            </a:solidFill>
            <a:prstDash val="solid"/>
          </a:ln>
        </p:spPr>
      </p:sp>
      <p:sp>
        <p:nvSpPr>
          <p:cNvPr id="4" name="Text 2"/>
          <p:cNvSpPr txBox="1"/>
          <p:nvPr/>
        </p:nvSpPr>
        <p:spPr>
          <a:xfrm>
            <a:off x="822960" y="2057400"/>
            <a:ext cx="777240" cy="777240"/>
          </a:xfrm>
          <a:prstGeom prst="rect">
            <a:avLst/>
          </a:prstGeom>
          <a:noFill/>
          <a:ln/>
        </p:spPr>
        <p:txBody>
          <a:bodyPr wrap="square" lIns="0" tIns="0" rIns="0" bIns="0" rtlCol="0" anchor="ctr"/>
          <a:lstStyle/>
          <a:p>
            <a:pPr algn="ctr" indent="0" marL="0">
              <a:buNone/>
            </a:pPr>
            <a:r>
              <a:rPr lang="en-US" sz="3000" b="1" dirty="0">
                <a:solidFill>
                  <a:srgbClr val="152238"/>
                </a:solidFill>
                <a:latin typeface="Calibri" pitchFamily="34" charset="0"/>
                <a:ea typeface="Calibri" pitchFamily="34" charset="-122"/>
                <a:cs typeface="Calibri" pitchFamily="34" charset="-120"/>
              </a:rPr>
              <a:t>1</a:t>
            </a:r>
            <a:endParaRPr lang="en-US" sz="3000" dirty="0"/>
          </a:p>
        </p:txBody>
      </p:sp>
      <p:sp>
        <p:nvSpPr>
          <p:cNvPr id="5" name="Text 3"/>
          <p:cNvSpPr txBox="1"/>
          <p:nvPr/>
        </p:nvSpPr>
        <p:spPr>
          <a:xfrm>
            <a:off x="1920240" y="1965960"/>
            <a:ext cx="6766560" cy="77724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Centre</a:t>
            </a:r>
            <a:endParaRPr lang="en-US" sz="4000" dirty="0"/>
          </a:p>
        </p:txBody>
      </p:sp>
      <p:sp>
        <p:nvSpPr>
          <p:cNvPr id="6" name="Text 4"/>
          <p:cNvSpPr txBox="1"/>
          <p:nvPr/>
        </p:nvSpPr>
        <p:spPr>
          <a:xfrm>
            <a:off x="1947672" y="2788920"/>
            <a:ext cx="6949440" cy="457200"/>
          </a:xfrm>
          <a:prstGeom prst="rect">
            <a:avLst/>
          </a:prstGeom>
          <a:noFill/>
          <a:ln/>
        </p:spPr>
        <p:txBody>
          <a:bodyPr wrap="square" lIns="0" tIns="0" rIns="0" bIns="0" rtlCol="0" anchor="ctr"/>
          <a:lstStyle/>
          <a:p>
            <a:pPr indent="0" marL="0">
              <a:buNone/>
            </a:pPr>
            <a:r>
              <a:rPr lang="en-US" sz="1600" dirty="0">
                <a:solidFill>
                  <a:srgbClr val="AFC2DC"/>
                </a:solidFill>
                <a:latin typeface="Calibri" pitchFamily="34" charset="0"/>
                <a:ea typeface="Calibri" pitchFamily="34" charset="-122"/>
                <a:cs typeface="Calibri" pitchFamily="34" charset="-120"/>
              </a:rPr>
              <a:t>Mean, median, mode  ·  25 minutes</a:t>
            </a:r>
            <a:endParaRPr lang="en-US" sz="1600" dirty="0"/>
          </a:p>
        </p:txBody>
      </p:sp>
      <p:sp>
        <p:nvSpPr>
          <p:cNvPr id="7" name="Text 5"/>
          <p:cNvSpPr txBox="1"/>
          <p:nvPr/>
        </p:nvSpPr>
        <p:spPr>
          <a:xfrm>
            <a:off x="9144000" y="2011680"/>
            <a:ext cx="2468880" cy="2194560"/>
          </a:xfrm>
          <a:prstGeom prst="rect">
            <a:avLst/>
          </a:prstGeom>
          <a:noFill/>
          <a:ln/>
        </p:spPr>
        <p:txBody>
          <a:bodyPr wrap="square" lIns="0" tIns="0" rIns="0" bIns="0" rtlCol="0" anchor="ctr"/>
          <a:lstStyle/>
          <a:p>
            <a:pPr marL="342900" indent="-342900">
              <a:spcAft>
                <a:spcPts val="600"/>
              </a:spcAft>
              <a:buSzPct val="100000"/>
              <a:buChar char="•"/>
            </a:pPr>
            <a:r>
              <a:rPr lang="en-US" sz="1300" dirty="0">
                <a:solidFill>
                  <a:srgbClr val="8FA6C4"/>
                </a:solidFill>
                <a:latin typeface="Calibri" pitchFamily="34" charset="0"/>
                <a:ea typeface="Calibri" pitchFamily="34" charset="-122"/>
                <a:cs typeface="Calibri" pitchFamily="34" charset="-120"/>
              </a:rPr>
              <a:t>The three measures</a:t>
            </a:r>
            <a:endParaRPr lang="en-US" sz="1300" dirty="0"/>
          </a:p>
          <a:p>
            <a:pPr marL="342900" indent="-342900">
              <a:spcAft>
                <a:spcPts val="600"/>
              </a:spcAft>
              <a:buSzPct val="100000"/>
              <a:buChar char="•"/>
            </a:pPr>
            <a:r>
              <a:rPr lang="en-US" sz="1300" dirty="0">
                <a:solidFill>
                  <a:srgbClr val="8FA6C4"/>
                </a:solidFill>
                <a:latin typeface="Calibri" pitchFamily="34" charset="0"/>
                <a:ea typeface="Calibri" pitchFamily="34" charset="-122"/>
                <a:cs typeface="Calibri" pitchFamily="34" charset="-120"/>
              </a:rPr>
              <a:t>When the mean lies</a:t>
            </a:r>
            <a:endParaRPr lang="en-US" sz="1300" dirty="0"/>
          </a:p>
          <a:p>
            <a:pPr marL="342900" indent="-342900">
              <a:spcAft>
                <a:spcPts val="600"/>
              </a:spcAft>
              <a:buSzPct val="100000"/>
              <a:buChar char="•"/>
            </a:pPr>
            <a:r>
              <a:rPr lang="en-US" sz="1300" dirty="0">
                <a:solidFill>
                  <a:srgbClr val="8FA6C4"/>
                </a:solidFill>
                <a:latin typeface="Calibri" pitchFamily="34" charset="0"/>
                <a:ea typeface="Calibri" pitchFamily="34" charset="-122"/>
                <a:cs typeface="Calibri" pitchFamily="34" charset="-120"/>
              </a:rPr>
              <a:t>Choosing</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6FA"/>
        </a:solidFill>
      </p:bgPr>
    </p:bg>
    <p:spTree>
      <p:nvGrpSpPr>
        <p:cNvPr id="1" name=""/>
        <p:cNvGrpSpPr/>
        <p:nvPr/>
      </p:nvGrpSpPr>
      <p:grpSpPr>
        <a:xfrm>
          <a:off x="0" y="0"/>
          <a:ext cx="0" cy="0"/>
          <a:chOff x="0" y="0"/>
          <a:chExt cx="0" cy="0"/>
        </a:xfrm>
      </p:grpSpPr>
      <p:sp>
        <p:nvSpPr>
          <p:cNvPr id="2" name="Text 0"/>
          <p:cNvSpPr txBox="1"/>
          <p:nvPr/>
        </p:nvSpPr>
        <p:spPr>
          <a:xfrm>
            <a:off x="8138160" y="6437376"/>
            <a:ext cx="3474720" cy="256032"/>
          </a:xfrm>
          <a:prstGeom prst="rect">
            <a:avLst/>
          </a:prstGeom>
          <a:noFill/>
          <a:ln/>
        </p:spPr>
        <p:txBody>
          <a:bodyPr wrap="square" lIns="0" tIns="0" rIns="0" bIns="0" rtlCol="0" anchor="ctr"/>
          <a:lstStyle/>
          <a:p>
            <a:pPr algn="r" indent="0" marL="0">
              <a:buNone/>
            </a:pPr>
            <a:r>
              <a:rPr lang="en-US" sz="900" dirty="0">
                <a:solidFill>
                  <a:srgbClr val="9DAABE"/>
                </a:solidFill>
                <a:latin typeface="Calibri" pitchFamily="34" charset="0"/>
                <a:ea typeface="Calibri" pitchFamily="34" charset="-122"/>
                <a:cs typeface="Calibri" pitchFamily="34" charset="-120"/>
              </a:rPr>
              <a:t>Slides by Srinivasa Sai Chava</a:t>
            </a:r>
            <a:endParaRPr lang="en-US" sz="900" dirty="0"/>
          </a:p>
        </p:txBody>
      </p:sp>
      <p:sp>
        <p:nvSpPr>
          <p:cNvPr id="3" name="Text 1"/>
          <p:cNvSpPr txBox="1"/>
          <p:nvPr/>
        </p:nvSpPr>
        <p:spPr>
          <a:xfrm>
            <a:off x="548640" y="292608"/>
            <a:ext cx="10515600" cy="274320"/>
          </a:xfrm>
          <a:prstGeom prst="rect">
            <a:avLst/>
          </a:prstGeom>
          <a:noFill/>
          <a:ln/>
        </p:spPr>
        <p:txBody>
          <a:bodyPr wrap="square" lIns="0" tIns="0" rIns="0" bIns="0" rtlCol="0" anchor="ctr"/>
          <a:lstStyle/>
          <a:p>
            <a:pPr indent="0" marL="0">
              <a:buNone/>
            </a:pPr>
            <a:r>
              <a:rPr lang="en-US" sz="1200" b="1" spc="200" kern="0" dirty="0">
                <a:solidFill>
                  <a:srgbClr val="3E7CB1"/>
                </a:solidFill>
                <a:latin typeface="Calibri" pitchFamily="34" charset="0"/>
                <a:ea typeface="Calibri" pitchFamily="34" charset="-122"/>
                <a:cs typeface="Calibri" pitchFamily="34" charset="-120"/>
              </a:rPr>
              <a:t>1.1  ·  CENTRAL TENDENCY</a:t>
            </a:r>
            <a:endParaRPr lang="en-US" sz="1200" dirty="0"/>
          </a:p>
        </p:txBody>
      </p:sp>
      <p:sp>
        <p:nvSpPr>
          <p:cNvPr id="4" name="Text 2"/>
          <p:cNvSpPr txBox="1"/>
          <p:nvPr/>
        </p:nvSpPr>
        <p:spPr>
          <a:xfrm>
            <a:off x="548640" y="566928"/>
            <a:ext cx="11064240" cy="685800"/>
          </a:xfrm>
          <a:prstGeom prst="rect">
            <a:avLst/>
          </a:prstGeom>
          <a:noFill/>
          <a:ln/>
        </p:spPr>
        <p:txBody>
          <a:bodyPr wrap="square" lIns="0" tIns="0" rIns="0" bIns="0" rtlCol="0" anchor="ctr"/>
          <a:lstStyle/>
          <a:p>
            <a:pPr indent="0" marL="0">
              <a:buNone/>
            </a:pPr>
            <a:r>
              <a:rPr lang="en-US" sz="3200" b="1" dirty="0">
                <a:solidFill>
                  <a:srgbClr val="1F3A5F"/>
                </a:solidFill>
                <a:latin typeface="Cambria" pitchFamily="34" charset="0"/>
                <a:ea typeface="Cambria" pitchFamily="34" charset="-122"/>
                <a:cs typeface="Cambria" pitchFamily="34" charset="-120"/>
              </a:rPr>
              <a:t>Three answers to “what is typical?”</a:t>
            </a:r>
            <a:endParaRPr lang="en-US" sz="32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1600200"/>
          <a:ext cx="11064240" cy="914400"/>
        </p:xfrm>
        <a:graphic>
          <a:graphicData uri="http://schemas.openxmlformats.org/drawingml/2006/table">
            <a:tbl>
              <a:tblPr/>
              <a:tblGrid>
                <a:gridCol w="1920240"/>
                <a:gridCol w="2743200"/>
                <a:gridCol w="2377440"/>
                <a:gridCol w="4023360"/>
              </a:tblGrid>
              <a:tr h="457200">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Measure</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solidFill>
                      <a:srgbClr val="1F3A5F"/>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Is</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solidFill>
                      <a:srgbClr val="1F3A5F"/>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pandas</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solidFill>
                      <a:srgbClr val="1F3A5F"/>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Best when</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solidFill>
                      <a:srgbClr val="1F3A5F"/>
                    </a:solidFill>
                  </a:tcPr>
                </a:tc>
              </a:tr>
              <a:tr h="457200">
                <a:tc>
                  <a:txBody>
                    <a:bodyPr/>
                    <a:lstStyle/>
                    <a:p>
                      <a:pPr indent="0" marL="0">
                        <a:buNone/>
                      </a:pPr>
                      <a:r>
                        <a:rPr lang="en-US" sz="1300" dirty="0">
                          <a:solidFill>
                            <a:srgbClr val="2B3445"/>
                          </a:solidFill>
                          <a:latin typeface="Calibri" pitchFamily="34" charset="0"/>
                          <a:ea typeface="Calibri" pitchFamily="34" charset="-122"/>
                          <a:cs typeface="Calibri" pitchFamily="34" charset="-120"/>
                        </a:rPr>
                        <a:t>Mean</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300" dirty="0">
                          <a:solidFill>
                            <a:srgbClr val="2B3445"/>
                          </a:solidFill>
                          <a:latin typeface="Calibri" pitchFamily="34" charset="0"/>
                          <a:ea typeface="Calibri" pitchFamily="34" charset="-122"/>
                          <a:cs typeface="Calibri" pitchFamily="34" charset="-120"/>
                        </a:rPr>
                        <a:t>the balance point</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300" b="1" dirty="0">
                          <a:solidFill>
                            <a:srgbClr val="1F3A5F"/>
                          </a:solidFill>
                          <a:latin typeface="Courier New" pitchFamily="34" charset="0"/>
                          <a:ea typeface="Courier New" pitchFamily="34" charset="-122"/>
                          <a:cs typeface="Courier New" pitchFamily="34" charset="-120"/>
                        </a:rPr>
                        <a:t>s.mean()</a:t>
                      </a:r>
                      <a:endParaRPr lang="en-US" sz="1300" dirty="0">
                        <a:latin typeface="Courier New" charset="0"/>
                        <a:ea typeface="Courier New" charset="0"/>
                        <a:cs typeface="Courier New"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300" dirty="0">
                          <a:solidFill>
                            <a:srgbClr val="2B3445"/>
                          </a:solidFill>
                          <a:latin typeface="Calibri" pitchFamily="34" charset="0"/>
                          <a:ea typeface="Calibri" pitchFamily="34" charset="-122"/>
                          <a:cs typeface="Calibri" pitchFamily="34" charset="-120"/>
                        </a:rPr>
                        <a:t>roughly symmetric, no extremes</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r>
              <a:tr h="457200">
                <a:tc>
                  <a:txBody>
                    <a:bodyPr/>
                    <a:lstStyle/>
                    <a:p>
                      <a:pPr indent="0" marL="0">
                        <a:buNone/>
                      </a:pPr>
                      <a:r>
                        <a:rPr lang="en-US" sz="1300" dirty="0">
                          <a:solidFill>
                            <a:srgbClr val="2B3445"/>
                          </a:solidFill>
                          <a:latin typeface="Calibri" pitchFamily="34" charset="0"/>
                          <a:ea typeface="Calibri" pitchFamily="34" charset="-122"/>
                          <a:cs typeface="Calibri" pitchFamily="34" charset="-120"/>
                        </a:rPr>
                        <a:t>Median</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300" dirty="0">
                          <a:solidFill>
                            <a:srgbClr val="2B3445"/>
                          </a:solidFill>
                          <a:latin typeface="Calibri" pitchFamily="34" charset="0"/>
                          <a:ea typeface="Calibri" pitchFamily="34" charset="-122"/>
                          <a:cs typeface="Calibri" pitchFamily="34" charset="-120"/>
                        </a:rPr>
                        <a:t>the middle value</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300" b="1" dirty="0">
                          <a:solidFill>
                            <a:srgbClr val="1F3A5F"/>
                          </a:solidFill>
                          <a:latin typeface="Courier New" pitchFamily="34" charset="0"/>
                          <a:ea typeface="Courier New" pitchFamily="34" charset="-122"/>
                          <a:cs typeface="Courier New" pitchFamily="34" charset="-120"/>
                        </a:rPr>
                        <a:t>s.median()</a:t>
                      </a:r>
                      <a:endParaRPr lang="en-US" sz="1300" dirty="0">
                        <a:latin typeface="Courier New" charset="0"/>
                        <a:ea typeface="Courier New" charset="0"/>
                        <a:cs typeface="Courier New"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300" dirty="0">
                          <a:solidFill>
                            <a:srgbClr val="2B3445"/>
                          </a:solidFill>
                          <a:latin typeface="Calibri" pitchFamily="34" charset="0"/>
                          <a:ea typeface="Calibri" pitchFamily="34" charset="-122"/>
                          <a:cs typeface="Calibri" pitchFamily="34" charset="-120"/>
                        </a:rPr>
                        <a:t>skewed, or outliers present</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r>
              <a:tr h="457200">
                <a:tc>
                  <a:txBody>
                    <a:bodyPr/>
                    <a:lstStyle/>
                    <a:p>
                      <a:pPr indent="0" marL="0">
                        <a:buNone/>
                      </a:pPr>
                      <a:r>
                        <a:rPr lang="en-US" sz="1300" dirty="0">
                          <a:solidFill>
                            <a:srgbClr val="2B3445"/>
                          </a:solidFill>
                          <a:latin typeface="Calibri" pitchFamily="34" charset="0"/>
                          <a:ea typeface="Calibri" pitchFamily="34" charset="-122"/>
                          <a:cs typeface="Calibri" pitchFamily="34" charset="-120"/>
                        </a:rPr>
                        <a:t>Mode</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300" dirty="0">
                          <a:solidFill>
                            <a:srgbClr val="2B3445"/>
                          </a:solidFill>
                          <a:latin typeface="Calibri" pitchFamily="34" charset="0"/>
                          <a:ea typeface="Calibri" pitchFamily="34" charset="-122"/>
                          <a:cs typeface="Calibri" pitchFamily="34" charset="-120"/>
                        </a:rPr>
                        <a:t>the most common value</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300" b="1" dirty="0">
                          <a:solidFill>
                            <a:srgbClr val="1F3A5F"/>
                          </a:solidFill>
                          <a:latin typeface="Courier New" pitchFamily="34" charset="0"/>
                          <a:ea typeface="Courier New" pitchFamily="34" charset="-122"/>
                          <a:cs typeface="Courier New" pitchFamily="34" charset="-120"/>
                        </a:rPr>
                        <a:t>s.mode()</a:t>
                      </a:r>
                      <a:endParaRPr lang="en-US" sz="1300" dirty="0">
                        <a:latin typeface="Courier New" charset="0"/>
                        <a:ea typeface="Courier New" charset="0"/>
                        <a:cs typeface="Courier New"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300" dirty="0">
                          <a:solidFill>
                            <a:srgbClr val="2B3445"/>
                          </a:solidFill>
                          <a:latin typeface="Calibri" pitchFamily="34" charset="0"/>
                          <a:ea typeface="Calibri" pitchFamily="34" charset="-122"/>
                          <a:cs typeface="Calibri" pitchFamily="34" charset="-120"/>
                        </a:rPr>
                        <a:t>categories, or repeated values</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r>
            </a:tbl>
          </a:graphicData>
        </a:graphic>
      </p:graphicFrame>
      <p:sp>
        <p:nvSpPr>
          <p:cNvPr id="6" name="Shape 3"/>
          <p:cNvSpPr/>
          <p:nvPr/>
        </p:nvSpPr>
        <p:spPr>
          <a:xfrm>
            <a:off x="548640" y="3429000"/>
            <a:ext cx="5486400" cy="2423160"/>
          </a:xfrm>
          <a:prstGeom prst="roundRect">
            <a:avLst>
              <a:gd name="adj" fmla="val 3396"/>
            </a:avLst>
          </a:prstGeom>
          <a:solidFill>
            <a:srgbClr val="E9F6F2"/>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7" name="Text 4"/>
          <p:cNvSpPr txBox="1"/>
          <p:nvPr/>
        </p:nvSpPr>
        <p:spPr>
          <a:xfrm>
            <a:off x="804672" y="3575304"/>
            <a:ext cx="4937760" cy="301752"/>
          </a:xfrm>
          <a:prstGeom prst="rect">
            <a:avLst/>
          </a:prstGeom>
          <a:noFill/>
          <a:ln/>
        </p:spPr>
        <p:txBody>
          <a:bodyPr wrap="square" lIns="0" tIns="0" rIns="0" bIns="0" rtlCol="0" anchor="ctr"/>
          <a:lstStyle/>
          <a:p>
            <a:pPr indent="0" marL="0">
              <a:buNone/>
            </a:pPr>
            <a:r>
              <a:rPr lang="en-US" sz="1400" b="1" dirty="0">
                <a:solidFill>
                  <a:srgbClr val="1C6F5C"/>
                </a:solidFill>
                <a:latin typeface="Calibri" pitchFamily="34" charset="0"/>
                <a:ea typeface="Calibri" pitchFamily="34" charset="-122"/>
                <a:cs typeface="Calibri" pitchFamily="34" charset="-120"/>
              </a:rPr>
              <a:t>The mean is the only one that uses EVERY value</a:t>
            </a:r>
            <a:endParaRPr lang="en-US" sz="1400" dirty="0"/>
          </a:p>
        </p:txBody>
      </p:sp>
      <p:sp>
        <p:nvSpPr>
          <p:cNvPr id="8" name="Text 5"/>
          <p:cNvSpPr txBox="1"/>
          <p:nvPr/>
        </p:nvSpPr>
        <p:spPr>
          <a:xfrm>
            <a:off x="804672" y="3931920"/>
            <a:ext cx="4983480" cy="1783080"/>
          </a:xfrm>
          <a:prstGeom prst="rect">
            <a:avLst/>
          </a:prstGeom>
          <a:noFill/>
          <a:ln/>
        </p:spPr>
        <p:txBody>
          <a:bodyPr wrap="square" lIns="0" tIns="0" rIns="0" bIns="0" rtlCol="0" anchor="ctr"/>
          <a:lstStyle/>
          <a:p>
            <a:pPr indent="0" marL="0">
              <a:lnSpc>
                <a:spcPct val="120000"/>
              </a:lnSpc>
              <a:buNone/>
            </a:pPr>
            <a:r>
              <a:rPr lang="en-US" sz="1250" dirty="0">
                <a:solidFill>
                  <a:srgbClr val="2B3445"/>
                </a:solidFill>
                <a:latin typeface="Calibri" pitchFamily="34" charset="0"/>
                <a:ea typeface="Calibri" pitchFamily="34" charset="-122"/>
                <a:cs typeface="Calibri" pitchFamily="34" charset="-120"/>
              </a:rPr>
              <a:t>That is its strength and its weakness in one sentence. Every observation pulls on it, so it uses all your information — and so one absurd value drags it anywhere you like.</a:t>
            </a:r>
            <a:endParaRPr lang="en-US" sz="1250" dirty="0"/>
          </a:p>
          <a:p>
            <a:pPr indent="0" marL="0">
              <a:lnSpc>
                <a:spcPct val="120000"/>
              </a:lnSpc>
              <a:buNone/>
            </a:pPr>
            <a:endParaRPr lang="en-US" sz="1250" dirty="0"/>
          </a:p>
          <a:p>
            <a:pPr indent="0" marL="0">
              <a:lnSpc>
                <a:spcPct val="120000"/>
              </a:lnSpc>
              <a:buNone/>
            </a:pPr>
            <a:r>
              <a:rPr lang="en-US" sz="1250" dirty="0">
                <a:solidFill>
                  <a:srgbClr val="2B3445"/>
                </a:solidFill>
                <a:latin typeface="Calibri" pitchFamily="34" charset="0"/>
                <a:ea typeface="Calibri" pitchFamily="34" charset="-122"/>
                <a:cs typeface="Calibri" pitchFamily="34" charset="-120"/>
              </a:rPr>
              <a:t>The median only cares about ORDER, so an extreme value counts for exactly one row, however extreme it is.</a:t>
            </a:r>
            <a:endParaRPr lang="en-US" sz="1250" dirty="0"/>
          </a:p>
        </p:txBody>
      </p:sp>
      <p:sp>
        <p:nvSpPr>
          <p:cNvPr id="9" name="Shape 6"/>
          <p:cNvSpPr/>
          <p:nvPr/>
        </p:nvSpPr>
        <p:spPr>
          <a:xfrm>
            <a:off x="6309360" y="3429000"/>
            <a:ext cx="5303520" cy="2423160"/>
          </a:xfrm>
          <a:prstGeom prst="roundRect">
            <a:avLst>
              <a:gd name="adj" fmla="val 3396"/>
            </a:avLst>
          </a:prstGeom>
          <a:solidFill>
            <a:srgbClr val="FDECE8"/>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10" name="Text 7"/>
          <p:cNvSpPr txBox="1"/>
          <p:nvPr/>
        </p:nvSpPr>
        <p:spPr>
          <a:xfrm>
            <a:off x="6565392" y="3575304"/>
            <a:ext cx="4754880" cy="301752"/>
          </a:xfrm>
          <a:prstGeom prst="rect">
            <a:avLst/>
          </a:prstGeom>
          <a:noFill/>
          <a:ln/>
        </p:spPr>
        <p:txBody>
          <a:bodyPr wrap="square" lIns="0" tIns="0" rIns="0" bIns="0" rtlCol="0" anchor="ctr"/>
          <a:lstStyle/>
          <a:p>
            <a:pPr indent="0" marL="0">
              <a:buNone/>
            </a:pPr>
            <a:r>
              <a:rPr lang="en-US" sz="1400" b="1" dirty="0">
                <a:solidFill>
                  <a:srgbClr val="A63B24"/>
                </a:solidFill>
                <a:latin typeface="Calibri" pitchFamily="34" charset="0"/>
                <a:ea typeface="Calibri" pitchFamily="34" charset="-122"/>
                <a:cs typeface="Calibri" pitchFamily="34" charset="-120"/>
              </a:rPr>
              <a:t>⚠  mode() returns a SERIES</a:t>
            </a:r>
            <a:endParaRPr lang="en-US" sz="1400" dirty="0"/>
          </a:p>
        </p:txBody>
      </p:sp>
      <p:sp>
        <p:nvSpPr>
          <p:cNvPr id="11" name="Shape 8"/>
          <p:cNvSpPr/>
          <p:nvPr/>
        </p:nvSpPr>
        <p:spPr>
          <a:xfrm>
            <a:off x="6565392" y="3931920"/>
            <a:ext cx="4800600" cy="1005840"/>
          </a:xfrm>
          <a:prstGeom prst="roundRect">
            <a:avLst>
              <a:gd name="adj" fmla="val 6364"/>
            </a:avLst>
          </a:prstGeom>
          <a:solidFill>
            <a:srgbClr val="1B2B45"/>
          </a:solidFill>
          <a:ln w="12700">
            <a:solidFill>
              <a:srgbClr val="1B2B45"/>
            </a:solidFill>
            <a:prstDash val="solid"/>
          </a:ln>
        </p:spPr>
      </p:sp>
      <p:sp>
        <p:nvSpPr>
          <p:cNvPr id="12" name="Text 9"/>
          <p:cNvSpPr txBox="1"/>
          <p:nvPr/>
        </p:nvSpPr>
        <p:spPr>
          <a:xfrm>
            <a:off x="6729984" y="4041648"/>
            <a:ext cx="4471416" cy="786384"/>
          </a:xfrm>
          <a:prstGeom prst="rect">
            <a:avLst/>
          </a:prstGeom>
          <a:noFill/>
          <a:ln/>
        </p:spPr>
        <p:txBody>
          <a:bodyPr wrap="square" lIns="0" tIns="0" rIns="0" bIns="0" rtlCol="0" anchor="t"/>
          <a:lstStyle/>
          <a:p>
            <a:pPr indent="0" marL="0">
              <a:lnSpc>
                <a:spcPct val="112000"/>
              </a:lnSpc>
              <a:buNone/>
            </a:pPr>
            <a:r>
              <a:rPr lang="en-US" sz="1000" dirty="0">
                <a:solidFill>
                  <a:srgbClr val="E7EEF8"/>
                </a:solidFill>
                <a:latin typeface="Courier New" pitchFamily="34" charset="0"/>
                <a:ea typeface="Courier New" pitchFamily="34" charset="-122"/>
                <a:cs typeface="Courier New" pitchFamily="34" charset="-120"/>
              </a:rPr>
              <a:t>s.mean()     -&gt;  a number</a:t>
            </a:r>
            <a:endParaRPr lang="en-US" sz="1000" dirty="0"/>
          </a:p>
          <a:p>
            <a:pPr indent="0" marL="0">
              <a:lnSpc>
                <a:spcPct val="112000"/>
              </a:lnSpc>
              <a:buNone/>
            </a:pPr>
            <a:r>
              <a:rPr lang="en-US" sz="1000" dirty="0">
                <a:solidFill>
                  <a:srgbClr val="E7EEF8"/>
                </a:solidFill>
                <a:latin typeface="Courier New" pitchFamily="34" charset="0"/>
                <a:ea typeface="Courier New" pitchFamily="34" charset="-122"/>
                <a:cs typeface="Courier New" pitchFamily="34" charset="-120"/>
              </a:rPr>
              <a:t>s.median()   -&gt;  a number</a:t>
            </a:r>
            <a:endParaRPr lang="en-US" sz="1000" dirty="0"/>
          </a:p>
          <a:p>
            <a:pPr indent="0" marL="0">
              <a:lnSpc>
                <a:spcPct val="112000"/>
              </a:lnSpc>
              <a:buNone/>
            </a:pPr>
            <a:r>
              <a:rPr lang="en-US" sz="1000" dirty="0">
                <a:solidFill>
                  <a:srgbClr val="E7EEF8"/>
                </a:solidFill>
                <a:latin typeface="Courier New" pitchFamily="34" charset="0"/>
                <a:ea typeface="Courier New" pitchFamily="34" charset="-122"/>
                <a:cs typeface="Courier New" pitchFamily="34" charset="-120"/>
              </a:rPr>
              <a:t>s.mode()     -&gt;  a Series!</a:t>
            </a:r>
            <a:endParaRPr lang="en-US" sz="1000" dirty="0"/>
          </a:p>
          <a:p>
            <a:pPr indent="0" marL="0">
              <a:lnSpc>
                <a:spcPct val="112000"/>
              </a:lnSpc>
              <a:buNone/>
            </a:pPr>
            <a:r>
              <a:rPr lang="en-US" sz="1000" dirty="0">
                <a:solidFill>
                  <a:srgbClr val="E7EEF8"/>
                </a:solidFill>
                <a:latin typeface="Courier New" pitchFamily="34" charset="0"/>
                <a:ea typeface="Courier New" pitchFamily="34" charset="-122"/>
                <a:cs typeface="Courier New" pitchFamily="34" charset="-120"/>
              </a:rPr>
              <a:t>s.mode()[0]  -&gt;  a number</a:t>
            </a:r>
            <a:endParaRPr lang="en-US" sz="1000" dirty="0"/>
          </a:p>
        </p:txBody>
      </p:sp>
      <p:sp>
        <p:nvSpPr>
          <p:cNvPr id="13" name="Text 10"/>
          <p:cNvSpPr txBox="1"/>
          <p:nvPr/>
        </p:nvSpPr>
        <p:spPr>
          <a:xfrm>
            <a:off x="6565392" y="5029200"/>
            <a:ext cx="4800600" cy="685800"/>
          </a:xfrm>
          <a:prstGeom prst="rect">
            <a:avLst/>
          </a:prstGeom>
          <a:noFill/>
          <a:ln/>
        </p:spPr>
        <p:txBody>
          <a:bodyPr wrap="square" lIns="0" tIns="0" rIns="0" bIns="0" rtlCol="0" anchor="ctr"/>
          <a:lstStyle/>
          <a:p>
            <a:pPr indent="0" marL="0">
              <a:lnSpc>
                <a:spcPct val="115000"/>
              </a:lnSpc>
              <a:buNone/>
            </a:pPr>
            <a:r>
              <a:rPr lang="en-US" sz="1200" dirty="0">
                <a:solidFill>
                  <a:srgbClr val="6B4A0B"/>
                </a:solidFill>
                <a:latin typeface="Calibri" pitchFamily="34" charset="0"/>
                <a:ea typeface="Calibri" pitchFamily="34" charset="-122"/>
                <a:cs typeface="Calibri" pitchFamily="34" charset="-120"/>
              </a:rPr>
              <a:t>Because data can have two equally common values, pandas has to return all of them. Taking [0] silently hides a tie — check len(s.mode()) first.</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6FA"/>
        </a:solidFill>
      </p:bgPr>
    </p:bg>
    <p:spTree>
      <p:nvGrpSpPr>
        <p:cNvPr id="1" name=""/>
        <p:cNvGrpSpPr/>
        <p:nvPr/>
      </p:nvGrpSpPr>
      <p:grpSpPr>
        <a:xfrm>
          <a:off x="0" y="0"/>
          <a:ext cx="0" cy="0"/>
          <a:chOff x="0" y="0"/>
          <a:chExt cx="0" cy="0"/>
        </a:xfrm>
      </p:grpSpPr>
      <p:sp>
        <p:nvSpPr>
          <p:cNvPr id="2" name="Text 0"/>
          <p:cNvSpPr txBox="1"/>
          <p:nvPr/>
        </p:nvSpPr>
        <p:spPr>
          <a:xfrm>
            <a:off x="8138160" y="6437376"/>
            <a:ext cx="3474720" cy="256032"/>
          </a:xfrm>
          <a:prstGeom prst="rect">
            <a:avLst/>
          </a:prstGeom>
          <a:noFill/>
          <a:ln/>
        </p:spPr>
        <p:txBody>
          <a:bodyPr wrap="square" lIns="0" tIns="0" rIns="0" bIns="0" rtlCol="0" anchor="ctr"/>
          <a:lstStyle/>
          <a:p>
            <a:pPr algn="r" indent="0" marL="0">
              <a:buNone/>
            </a:pPr>
            <a:r>
              <a:rPr lang="en-US" sz="900" dirty="0">
                <a:solidFill>
                  <a:srgbClr val="9DAABE"/>
                </a:solidFill>
                <a:latin typeface="Calibri" pitchFamily="34" charset="0"/>
                <a:ea typeface="Calibri" pitchFamily="34" charset="-122"/>
                <a:cs typeface="Calibri" pitchFamily="34" charset="-120"/>
              </a:rPr>
              <a:t>Slides by Srinivasa Sai Chava</a:t>
            </a:r>
            <a:endParaRPr lang="en-US" sz="900" dirty="0"/>
          </a:p>
        </p:txBody>
      </p:sp>
      <p:sp>
        <p:nvSpPr>
          <p:cNvPr id="3" name="Text 1"/>
          <p:cNvSpPr txBox="1"/>
          <p:nvPr/>
        </p:nvSpPr>
        <p:spPr>
          <a:xfrm>
            <a:off x="548640" y="292608"/>
            <a:ext cx="10515600" cy="274320"/>
          </a:xfrm>
          <a:prstGeom prst="rect">
            <a:avLst/>
          </a:prstGeom>
          <a:noFill/>
          <a:ln/>
        </p:spPr>
        <p:txBody>
          <a:bodyPr wrap="square" lIns="0" tIns="0" rIns="0" bIns="0" rtlCol="0" anchor="ctr"/>
          <a:lstStyle/>
          <a:p>
            <a:pPr indent="0" marL="0">
              <a:buNone/>
            </a:pPr>
            <a:r>
              <a:rPr lang="en-US" sz="1200" b="1" spc="200" kern="0" dirty="0">
                <a:solidFill>
                  <a:srgbClr val="3E7CB1"/>
                </a:solidFill>
                <a:latin typeface="Calibri" pitchFamily="34" charset="0"/>
                <a:ea typeface="Calibri" pitchFamily="34" charset="-122"/>
                <a:cs typeface="Calibri" pitchFamily="34" charset="-120"/>
              </a:rPr>
              <a:t>1.2  ·  SKEW</a:t>
            </a:r>
            <a:endParaRPr lang="en-US" sz="1200" dirty="0"/>
          </a:p>
        </p:txBody>
      </p:sp>
      <p:sp>
        <p:nvSpPr>
          <p:cNvPr id="4" name="Text 2"/>
          <p:cNvSpPr txBox="1"/>
          <p:nvPr/>
        </p:nvSpPr>
        <p:spPr>
          <a:xfrm>
            <a:off x="548640" y="566928"/>
            <a:ext cx="11064240" cy="685800"/>
          </a:xfrm>
          <a:prstGeom prst="rect">
            <a:avLst/>
          </a:prstGeom>
          <a:noFill/>
          <a:ln/>
        </p:spPr>
        <p:txBody>
          <a:bodyPr wrap="square" lIns="0" tIns="0" rIns="0" bIns="0" rtlCol="0" anchor="ctr"/>
          <a:lstStyle/>
          <a:p>
            <a:pPr indent="0" marL="0">
              <a:buNone/>
            </a:pPr>
            <a:r>
              <a:rPr lang="en-US" sz="3200" b="1" dirty="0">
                <a:solidFill>
                  <a:srgbClr val="1F3A5F"/>
                </a:solidFill>
                <a:latin typeface="Cambria" pitchFamily="34" charset="0"/>
                <a:ea typeface="Cambria" pitchFamily="34" charset="-122"/>
                <a:cs typeface="Cambria" pitchFamily="34" charset="-120"/>
              </a:rPr>
              <a:t>When the mean describes nobody</a:t>
            </a:r>
            <a:endParaRPr lang="en-US" sz="3200" dirty="0"/>
          </a:p>
        </p:txBody>
      </p:sp>
      <p:sp>
        <p:nvSpPr>
          <p:cNvPr id="5" name="Shape 3"/>
          <p:cNvSpPr/>
          <p:nvPr/>
        </p:nvSpPr>
        <p:spPr>
          <a:xfrm>
            <a:off x="548640" y="1572768"/>
            <a:ext cx="6766560" cy="3017520"/>
          </a:xfrm>
          <a:prstGeom prst="roundRect">
            <a:avLst>
              <a:gd name="adj" fmla="val 2727"/>
            </a:avLst>
          </a:prstGeom>
          <a:solidFill>
            <a:srgbClr val="FFFFFF"/>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6" name="Text 4"/>
          <p:cNvSpPr txBox="1"/>
          <p:nvPr/>
        </p:nvSpPr>
        <p:spPr>
          <a:xfrm>
            <a:off x="822960" y="1737360"/>
            <a:ext cx="5486400" cy="274320"/>
          </a:xfrm>
          <a:prstGeom prst="rect">
            <a:avLst/>
          </a:prstGeom>
          <a:noFill/>
          <a:ln/>
        </p:spPr>
        <p:txBody>
          <a:bodyPr wrap="square" lIns="0" tIns="0" rIns="0" bIns="0" rtlCol="0" anchor="ctr"/>
          <a:lstStyle/>
          <a:p>
            <a:pPr indent="0" marL="0">
              <a:buNone/>
            </a:pPr>
            <a:r>
              <a:rPr lang="en-US" sz="1400" b="1" dirty="0">
                <a:solidFill>
                  <a:srgbClr val="1F3A5F"/>
                </a:solidFill>
                <a:latin typeface="Calibri" pitchFamily="34" charset="0"/>
                <a:ea typeface="Calibri" pitchFamily="34" charset="-122"/>
                <a:cs typeface="Calibri" pitchFamily="34" charset="-120"/>
              </a:rPr>
              <a:t>1,000 salaries: 950 ordinary, 50 executives</a:t>
            </a:r>
            <a:endParaRPr lang="en-US" sz="1400" dirty="0"/>
          </a:p>
        </p:txBody>
      </p:sp>
      <p:sp>
        <p:nvSpPr>
          <p:cNvPr id="7" name="Shape 5"/>
          <p:cNvSpPr/>
          <p:nvPr/>
        </p:nvSpPr>
        <p:spPr>
          <a:xfrm>
            <a:off x="914400" y="2194560"/>
            <a:ext cx="6126480" cy="1463040"/>
          </a:xfrm>
          <a:prstGeom prst="rect">
            <a:avLst/>
          </a:prstGeom>
          <a:solidFill>
            <a:srgbClr val="FFFFFF"/>
          </a:solidFill>
          <a:ln w="12700">
            <a:solidFill>
              <a:srgbClr val="D5DCE6"/>
            </a:solidFill>
            <a:prstDash val="solid"/>
          </a:ln>
        </p:spPr>
      </p:sp>
      <p:sp>
        <p:nvSpPr>
          <p:cNvPr id="8" name="Shape 6"/>
          <p:cNvSpPr/>
          <p:nvPr/>
        </p:nvSpPr>
        <p:spPr>
          <a:xfrm>
            <a:off x="925373" y="3637987"/>
            <a:ext cx="284378" cy="19613"/>
          </a:xfrm>
          <a:prstGeom prst="rect">
            <a:avLst/>
          </a:prstGeom>
          <a:solidFill>
            <a:srgbClr val="3E7CB1"/>
          </a:solidFill>
          <a:ln w="12700">
            <a:solidFill>
              <a:srgbClr val="333333"/>
            </a:solidFill>
            <a:prstDash val="solid"/>
          </a:ln>
        </p:spPr>
      </p:sp>
      <p:sp>
        <p:nvSpPr>
          <p:cNvPr id="9" name="Shape 7"/>
          <p:cNvSpPr/>
          <p:nvPr/>
        </p:nvSpPr>
        <p:spPr>
          <a:xfrm>
            <a:off x="1231697" y="3481081"/>
            <a:ext cx="284378" cy="176519"/>
          </a:xfrm>
          <a:prstGeom prst="rect">
            <a:avLst/>
          </a:prstGeom>
          <a:solidFill>
            <a:srgbClr val="3E7CB1"/>
          </a:solidFill>
          <a:ln w="12700">
            <a:solidFill>
              <a:srgbClr val="333333"/>
            </a:solidFill>
            <a:prstDash val="solid"/>
          </a:ln>
        </p:spPr>
      </p:sp>
      <p:sp>
        <p:nvSpPr>
          <p:cNvPr id="10" name="Shape 8"/>
          <p:cNvSpPr/>
          <p:nvPr/>
        </p:nvSpPr>
        <p:spPr>
          <a:xfrm>
            <a:off x="1538021" y="3147656"/>
            <a:ext cx="284378" cy="509944"/>
          </a:xfrm>
          <a:prstGeom prst="rect">
            <a:avLst/>
          </a:prstGeom>
          <a:solidFill>
            <a:srgbClr val="3E7CB1"/>
          </a:solidFill>
          <a:ln w="12700">
            <a:solidFill>
              <a:srgbClr val="333333"/>
            </a:solidFill>
            <a:prstDash val="solid"/>
          </a:ln>
        </p:spPr>
      </p:sp>
      <p:sp>
        <p:nvSpPr>
          <p:cNvPr id="11" name="Shape 9"/>
          <p:cNvSpPr/>
          <p:nvPr/>
        </p:nvSpPr>
        <p:spPr>
          <a:xfrm>
            <a:off x="1844345" y="2716166"/>
            <a:ext cx="284378" cy="941434"/>
          </a:xfrm>
          <a:prstGeom prst="rect">
            <a:avLst/>
          </a:prstGeom>
          <a:solidFill>
            <a:srgbClr val="3E7CB1"/>
          </a:solidFill>
          <a:ln w="12700">
            <a:solidFill>
              <a:srgbClr val="333333"/>
            </a:solidFill>
            <a:prstDash val="solid"/>
          </a:ln>
        </p:spPr>
      </p:sp>
      <p:sp>
        <p:nvSpPr>
          <p:cNvPr id="12" name="Shape 10"/>
          <p:cNvSpPr/>
          <p:nvPr/>
        </p:nvSpPr>
        <p:spPr>
          <a:xfrm>
            <a:off x="2150669" y="2402354"/>
            <a:ext cx="284378" cy="1255246"/>
          </a:xfrm>
          <a:prstGeom prst="rect">
            <a:avLst/>
          </a:prstGeom>
          <a:solidFill>
            <a:srgbClr val="3E7CB1"/>
          </a:solidFill>
          <a:ln w="12700">
            <a:solidFill>
              <a:srgbClr val="333333"/>
            </a:solidFill>
            <a:prstDash val="solid"/>
          </a:ln>
        </p:spPr>
      </p:sp>
      <p:sp>
        <p:nvSpPr>
          <p:cNvPr id="13" name="Shape 11"/>
          <p:cNvSpPr/>
          <p:nvPr/>
        </p:nvSpPr>
        <p:spPr>
          <a:xfrm>
            <a:off x="2456993" y="2304288"/>
            <a:ext cx="284378" cy="1353312"/>
          </a:xfrm>
          <a:prstGeom prst="rect">
            <a:avLst/>
          </a:prstGeom>
          <a:solidFill>
            <a:srgbClr val="3E7CB1"/>
          </a:solidFill>
          <a:ln w="12700">
            <a:solidFill>
              <a:srgbClr val="333333"/>
            </a:solidFill>
            <a:prstDash val="solid"/>
          </a:ln>
        </p:spPr>
      </p:sp>
      <p:sp>
        <p:nvSpPr>
          <p:cNvPr id="14" name="Shape 12"/>
          <p:cNvSpPr/>
          <p:nvPr/>
        </p:nvSpPr>
        <p:spPr>
          <a:xfrm>
            <a:off x="2763317" y="2480807"/>
            <a:ext cx="284378" cy="1176793"/>
          </a:xfrm>
          <a:prstGeom prst="rect">
            <a:avLst/>
          </a:prstGeom>
          <a:solidFill>
            <a:srgbClr val="3E7CB1"/>
          </a:solidFill>
          <a:ln w="12700">
            <a:solidFill>
              <a:srgbClr val="333333"/>
            </a:solidFill>
            <a:prstDash val="solid"/>
          </a:ln>
        </p:spPr>
      </p:sp>
      <p:sp>
        <p:nvSpPr>
          <p:cNvPr id="15" name="Shape 13"/>
          <p:cNvSpPr/>
          <p:nvPr/>
        </p:nvSpPr>
        <p:spPr>
          <a:xfrm>
            <a:off x="3069641" y="2794618"/>
            <a:ext cx="284378" cy="862982"/>
          </a:xfrm>
          <a:prstGeom prst="rect">
            <a:avLst/>
          </a:prstGeom>
          <a:solidFill>
            <a:srgbClr val="3E7CB1"/>
          </a:solidFill>
          <a:ln w="12700">
            <a:solidFill>
              <a:srgbClr val="333333"/>
            </a:solidFill>
            <a:prstDash val="solid"/>
          </a:ln>
        </p:spPr>
      </p:sp>
      <p:sp>
        <p:nvSpPr>
          <p:cNvPr id="16" name="Shape 14"/>
          <p:cNvSpPr/>
          <p:nvPr/>
        </p:nvSpPr>
        <p:spPr>
          <a:xfrm>
            <a:off x="3375965" y="3128043"/>
            <a:ext cx="284378" cy="529557"/>
          </a:xfrm>
          <a:prstGeom prst="rect">
            <a:avLst/>
          </a:prstGeom>
          <a:solidFill>
            <a:srgbClr val="3E7CB1"/>
          </a:solidFill>
          <a:ln w="12700">
            <a:solidFill>
              <a:srgbClr val="333333"/>
            </a:solidFill>
            <a:prstDash val="solid"/>
          </a:ln>
        </p:spPr>
      </p:sp>
      <p:sp>
        <p:nvSpPr>
          <p:cNvPr id="17" name="Shape 15"/>
          <p:cNvSpPr/>
          <p:nvPr/>
        </p:nvSpPr>
        <p:spPr>
          <a:xfrm>
            <a:off x="3682289" y="3363402"/>
            <a:ext cx="284378" cy="294198"/>
          </a:xfrm>
          <a:prstGeom prst="rect">
            <a:avLst/>
          </a:prstGeom>
          <a:solidFill>
            <a:srgbClr val="3E7CB1"/>
          </a:solidFill>
          <a:ln w="12700">
            <a:solidFill>
              <a:srgbClr val="333333"/>
            </a:solidFill>
            <a:prstDash val="solid"/>
          </a:ln>
        </p:spPr>
      </p:sp>
      <p:sp>
        <p:nvSpPr>
          <p:cNvPr id="18" name="Shape 16"/>
          <p:cNvSpPr/>
          <p:nvPr/>
        </p:nvSpPr>
        <p:spPr>
          <a:xfrm>
            <a:off x="3988613" y="3500694"/>
            <a:ext cx="284378" cy="156906"/>
          </a:xfrm>
          <a:prstGeom prst="rect">
            <a:avLst/>
          </a:prstGeom>
          <a:solidFill>
            <a:srgbClr val="3E7CB1"/>
          </a:solidFill>
          <a:ln w="12700">
            <a:solidFill>
              <a:srgbClr val="333333"/>
            </a:solidFill>
            <a:prstDash val="solid"/>
          </a:ln>
        </p:spPr>
      </p:sp>
      <p:sp>
        <p:nvSpPr>
          <p:cNvPr id="19" name="Shape 17"/>
          <p:cNvSpPr/>
          <p:nvPr/>
        </p:nvSpPr>
        <p:spPr>
          <a:xfrm>
            <a:off x="4294937" y="3569341"/>
            <a:ext cx="284378" cy="88259"/>
          </a:xfrm>
          <a:prstGeom prst="rect">
            <a:avLst/>
          </a:prstGeom>
          <a:solidFill>
            <a:srgbClr val="3E7CB1"/>
          </a:solidFill>
          <a:ln w="12700">
            <a:solidFill>
              <a:srgbClr val="333333"/>
            </a:solidFill>
            <a:prstDash val="solid"/>
          </a:ln>
        </p:spPr>
      </p:sp>
      <p:sp>
        <p:nvSpPr>
          <p:cNvPr id="20" name="Shape 18"/>
          <p:cNvSpPr/>
          <p:nvPr/>
        </p:nvSpPr>
        <p:spPr>
          <a:xfrm>
            <a:off x="4601261" y="3608567"/>
            <a:ext cx="284378" cy="49033"/>
          </a:xfrm>
          <a:prstGeom prst="rect">
            <a:avLst/>
          </a:prstGeom>
          <a:solidFill>
            <a:srgbClr val="3E7CB1"/>
          </a:solidFill>
          <a:ln w="12700">
            <a:solidFill>
              <a:srgbClr val="333333"/>
            </a:solidFill>
            <a:prstDash val="solid"/>
          </a:ln>
        </p:spPr>
      </p:sp>
      <p:sp>
        <p:nvSpPr>
          <p:cNvPr id="21" name="Shape 19"/>
          <p:cNvSpPr/>
          <p:nvPr/>
        </p:nvSpPr>
        <p:spPr>
          <a:xfrm>
            <a:off x="4907585" y="3628180"/>
            <a:ext cx="284378" cy="29420"/>
          </a:xfrm>
          <a:prstGeom prst="rect">
            <a:avLst/>
          </a:prstGeom>
          <a:solidFill>
            <a:srgbClr val="3E7CB1"/>
          </a:solidFill>
          <a:ln w="12700">
            <a:solidFill>
              <a:srgbClr val="333333"/>
            </a:solidFill>
            <a:prstDash val="solid"/>
          </a:ln>
        </p:spPr>
      </p:sp>
      <p:sp>
        <p:nvSpPr>
          <p:cNvPr id="22" name="Shape 20"/>
          <p:cNvSpPr/>
          <p:nvPr/>
        </p:nvSpPr>
        <p:spPr>
          <a:xfrm>
            <a:off x="5213909" y="3637987"/>
            <a:ext cx="284378" cy="19613"/>
          </a:xfrm>
          <a:prstGeom prst="rect">
            <a:avLst/>
          </a:prstGeom>
          <a:solidFill>
            <a:srgbClr val="3E7CB1"/>
          </a:solidFill>
          <a:ln w="12700">
            <a:solidFill>
              <a:srgbClr val="333333"/>
            </a:solidFill>
            <a:prstDash val="solid"/>
          </a:ln>
        </p:spPr>
      </p:sp>
      <p:sp>
        <p:nvSpPr>
          <p:cNvPr id="23" name="Shape 21"/>
          <p:cNvSpPr/>
          <p:nvPr/>
        </p:nvSpPr>
        <p:spPr>
          <a:xfrm>
            <a:off x="5520233" y="3637987"/>
            <a:ext cx="284378" cy="19613"/>
          </a:xfrm>
          <a:prstGeom prst="rect">
            <a:avLst/>
          </a:prstGeom>
          <a:solidFill>
            <a:srgbClr val="3E7CB1"/>
          </a:solidFill>
          <a:ln w="12700">
            <a:solidFill>
              <a:srgbClr val="333333"/>
            </a:solidFill>
            <a:prstDash val="solid"/>
          </a:ln>
        </p:spPr>
      </p:sp>
      <p:sp>
        <p:nvSpPr>
          <p:cNvPr id="24" name="Shape 22"/>
          <p:cNvSpPr/>
          <p:nvPr/>
        </p:nvSpPr>
        <p:spPr>
          <a:xfrm>
            <a:off x="5826557" y="3628180"/>
            <a:ext cx="284378" cy="29420"/>
          </a:xfrm>
          <a:prstGeom prst="rect">
            <a:avLst/>
          </a:prstGeom>
          <a:solidFill>
            <a:srgbClr val="3E7CB1"/>
          </a:solidFill>
          <a:ln w="12700">
            <a:solidFill>
              <a:srgbClr val="333333"/>
            </a:solidFill>
            <a:prstDash val="solid"/>
          </a:ln>
        </p:spPr>
      </p:sp>
      <p:sp>
        <p:nvSpPr>
          <p:cNvPr id="25" name="Shape 23"/>
          <p:cNvSpPr/>
          <p:nvPr/>
        </p:nvSpPr>
        <p:spPr>
          <a:xfrm>
            <a:off x="6132881" y="3618374"/>
            <a:ext cx="284378" cy="39226"/>
          </a:xfrm>
          <a:prstGeom prst="rect">
            <a:avLst/>
          </a:prstGeom>
          <a:solidFill>
            <a:srgbClr val="3E7CB1"/>
          </a:solidFill>
          <a:ln w="12700">
            <a:solidFill>
              <a:srgbClr val="333333"/>
            </a:solidFill>
            <a:prstDash val="solid"/>
          </a:ln>
        </p:spPr>
      </p:sp>
      <p:sp>
        <p:nvSpPr>
          <p:cNvPr id="26" name="Shape 24"/>
          <p:cNvSpPr/>
          <p:nvPr/>
        </p:nvSpPr>
        <p:spPr>
          <a:xfrm>
            <a:off x="6439205" y="3628180"/>
            <a:ext cx="284378" cy="29420"/>
          </a:xfrm>
          <a:prstGeom prst="rect">
            <a:avLst/>
          </a:prstGeom>
          <a:solidFill>
            <a:srgbClr val="3E7CB1"/>
          </a:solidFill>
          <a:ln w="12700">
            <a:solidFill>
              <a:srgbClr val="333333"/>
            </a:solidFill>
            <a:prstDash val="solid"/>
          </a:ln>
        </p:spPr>
      </p:sp>
      <p:sp>
        <p:nvSpPr>
          <p:cNvPr id="27" name="Shape 25"/>
          <p:cNvSpPr/>
          <p:nvPr/>
        </p:nvSpPr>
        <p:spPr>
          <a:xfrm>
            <a:off x="6745529" y="3637987"/>
            <a:ext cx="284378" cy="19613"/>
          </a:xfrm>
          <a:prstGeom prst="rect">
            <a:avLst/>
          </a:prstGeom>
          <a:solidFill>
            <a:srgbClr val="3E7CB1"/>
          </a:solidFill>
          <a:ln w="12700">
            <a:solidFill>
              <a:srgbClr val="333333"/>
            </a:solidFill>
            <a:prstDash val="solid"/>
          </a:ln>
        </p:spPr>
      </p:sp>
      <p:sp>
        <p:nvSpPr>
          <p:cNvPr id="28" name="Shape 26"/>
          <p:cNvSpPr/>
          <p:nvPr/>
        </p:nvSpPr>
        <p:spPr>
          <a:xfrm>
            <a:off x="2331720" y="2194560"/>
            <a:ext cx="0" cy="1463040"/>
          </a:xfrm>
          <a:prstGeom prst="line">
            <a:avLst/>
          </a:prstGeom>
          <a:noFill/>
          <a:ln w="25400">
            <a:solidFill>
              <a:srgbClr val="2FA98C"/>
            </a:solidFill>
            <a:prstDash val="dash"/>
          </a:ln>
        </p:spPr>
      </p:sp>
      <p:sp>
        <p:nvSpPr>
          <p:cNvPr id="29" name="Shape 27"/>
          <p:cNvSpPr/>
          <p:nvPr/>
        </p:nvSpPr>
        <p:spPr>
          <a:xfrm>
            <a:off x="3154680" y="2194560"/>
            <a:ext cx="0" cy="1463040"/>
          </a:xfrm>
          <a:prstGeom prst="line">
            <a:avLst/>
          </a:prstGeom>
          <a:noFill/>
          <a:ln w="25400">
            <a:solidFill>
              <a:srgbClr val="E8674C"/>
            </a:solidFill>
            <a:prstDash val="dash"/>
          </a:ln>
        </p:spPr>
      </p:sp>
      <p:sp>
        <p:nvSpPr>
          <p:cNvPr id="30" name="Text 28"/>
          <p:cNvSpPr txBox="1"/>
          <p:nvPr/>
        </p:nvSpPr>
        <p:spPr>
          <a:xfrm>
            <a:off x="1600200" y="3712464"/>
            <a:ext cx="1554480" cy="237744"/>
          </a:xfrm>
          <a:prstGeom prst="rect">
            <a:avLst/>
          </a:prstGeom>
          <a:noFill/>
          <a:ln/>
        </p:spPr>
        <p:txBody>
          <a:bodyPr wrap="square" lIns="0" tIns="0" rIns="0" bIns="0" rtlCol="0" anchor="ctr"/>
          <a:lstStyle/>
          <a:p>
            <a:pPr algn="ctr" indent="0" marL="0">
              <a:buNone/>
            </a:pPr>
            <a:r>
              <a:rPr lang="en-US" sz="1000" b="1" dirty="0">
                <a:solidFill>
                  <a:srgbClr val="2FA98C"/>
                </a:solidFill>
                <a:latin typeface="Calibri" pitchFamily="34" charset="0"/>
                <a:ea typeface="Calibri" pitchFamily="34" charset="-122"/>
                <a:cs typeface="Calibri" pitchFamily="34" charset="-120"/>
              </a:rPr>
              <a:t>↑ median 45,650</a:t>
            </a:r>
            <a:endParaRPr lang="en-US" sz="1000" dirty="0"/>
          </a:p>
        </p:txBody>
      </p:sp>
      <p:sp>
        <p:nvSpPr>
          <p:cNvPr id="31" name="Text 29"/>
          <p:cNvSpPr txBox="1"/>
          <p:nvPr/>
        </p:nvSpPr>
        <p:spPr>
          <a:xfrm>
            <a:off x="2743200" y="3712464"/>
            <a:ext cx="1463040" cy="237744"/>
          </a:xfrm>
          <a:prstGeom prst="rect">
            <a:avLst/>
          </a:prstGeom>
          <a:noFill/>
          <a:ln/>
        </p:spPr>
        <p:txBody>
          <a:bodyPr wrap="square" lIns="0" tIns="0" rIns="0" bIns="0" rtlCol="0" anchor="ctr"/>
          <a:lstStyle/>
          <a:p>
            <a:pPr algn="ctr" indent="0" marL="0">
              <a:buNone/>
            </a:pPr>
            <a:r>
              <a:rPr lang="en-US" sz="1000" b="1" dirty="0">
                <a:solidFill>
                  <a:srgbClr val="E8674C"/>
                </a:solidFill>
                <a:latin typeface="Calibri" pitchFamily="34" charset="0"/>
                <a:ea typeface="Calibri" pitchFamily="34" charset="-122"/>
                <a:cs typeface="Calibri" pitchFamily="34" charset="-120"/>
              </a:rPr>
              <a:t>↑ mean 64,028</a:t>
            </a:r>
            <a:endParaRPr lang="en-US" sz="1000" dirty="0"/>
          </a:p>
        </p:txBody>
      </p:sp>
      <p:sp>
        <p:nvSpPr>
          <p:cNvPr id="32" name="Text 30"/>
          <p:cNvSpPr txBox="1"/>
          <p:nvPr/>
        </p:nvSpPr>
        <p:spPr>
          <a:xfrm>
            <a:off x="914400" y="4041648"/>
            <a:ext cx="6126480" cy="457200"/>
          </a:xfrm>
          <a:prstGeom prst="rect">
            <a:avLst/>
          </a:prstGeom>
          <a:noFill/>
          <a:ln/>
        </p:spPr>
        <p:txBody>
          <a:bodyPr wrap="square" lIns="0" tIns="0" rIns="0" bIns="0" rtlCol="0" anchor="ctr"/>
          <a:lstStyle/>
          <a:p>
            <a:pPr indent="0" marL="0">
              <a:buNone/>
            </a:pPr>
            <a:r>
              <a:rPr lang="en-US" sz="1200" dirty="0">
                <a:solidFill>
                  <a:srgbClr val="2B3445"/>
                </a:solidFill>
                <a:latin typeface="Calibri" pitchFamily="34" charset="0"/>
                <a:ea typeface="Calibri" pitchFamily="34" charset="-122"/>
                <a:cs typeface="Calibri" pitchFamily="34" charset="-120"/>
              </a:rPr>
              <a:t>The 50 executives at the far right pull the mean 18,000 above the median.</a:t>
            </a:r>
            <a:endParaRPr lang="en-US" sz="1200" dirty="0"/>
          </a:p>
        </p:txBody>
      </p:sp>
      <p:sp>
        <p:nvSpPr>
          <p:cNvPr id="33" name="Shape 31"/>
          <p:cNvSpPr/>
          <p:nvPr/>
        </p:nvSpPr>
        <p:spPr>
          <a:xfrm>
            <a:off x="7589520" y="1572768"/>
            <a:ext cx="4023360" cy="3017520"/>
          </a:xfrm>
          <a:prstGeom prst="roundRect">
            <a:avLst>
              <a:gd name="adj" fmla="val 2727"/>
            </a:avLst>
          </a:prstGeom>
          <a:solidFill>
            <a:srgbClr val="FDECE8"/>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34" name="Text 32"/>
          <p:cNvSpPr txBox="1"/>
          <p:nvPr/>
        </p:nvSpPr>
        <p:spPr>
          <a:xfrm>
            <a:off x="7845552" y="1719072"/>
            <a:ext cx="3566160" cy="301752"/>
          </a:xfrm>
          <a:prstGeom prst="rect">
            <a:avLst/>
          </a:prstGeom>
          <a:noFill/>
          <a:ln/>
        </p:spPr>
        <p:txBody>
          <a:bodyPr wrap="square" lIns="0" tIns="0" rIns="0" bIns="0" rtlCol="0" anchor="ctr"/>
          <a:lstStyle/>
          <a:p>
            <a:pPr indent="0" marL="0">
              <a:buNone/>
            </a:pPr>
            <a:r>
              <a:rPr lang="en-US" sz="1400" b="1" dirty="0">
                <a:solidFill>
                  <a:srgbClr val="A63B24"/>
                </a:solidFill>
                <a:latin typeface="Calibri" pitchFamily="34" charset="0"/>
                <a:ea typeface="Calibri" pitchFamily="34" charset="-122"/>
                <a:cs typeface="Calibri" pitchFamily="34" charset="-120"/>
              </a:rPr>
              <a:t>⚠  The number that matters</a:t>
            </a:r>
            <a:endParaRPr lang="en-US" sz="1400" dirty="0"/>
          </a:p>
        </p:txBody>
      </p:sp>
      <p:sp>
        <p:nvSpPr>
          <p:cNvPr id="35" name="Text 33"/>
          <p:cNvSpPr txBox="1"/>
          <p:nvPr/>
        </p:nvSpPr>
        <p:spPr>
          <a:xfrm>
            <a:off x="7845552" y="2148840"/>
            <a:ext cx="3520440" cy="685800"/>
          </a:xfrm>
          <a:prstGeom prst="rect">
            <a:avLst/>
          </a:prstGeom>
          <a:noFill/>
          <a:ln/>
        </p:spPr>
        <p:txBody>
          <a:bodyPr wrap="square" lIns="0" tIns="0" rIns="0" bIns="0" rtlCol="0" anchor="ctr"/>
          <a:lstStyle/>
          <a:p>
            <a:pPr algn="ctr" indent="0" marL="0">
              <a:buNone/>
            </a:pPr>
            <a:r>
              <a:rPr lang="en-US" sz="4400" b="1" dirty="0">
                <a:solidFill>
                  <a:srgbClr val="A63B24"/>
                </a:solidFill>
                <a:latin typeface="Cambria" pitchFamily="34" charset="0"/>
                <a:ea typeface="Cambria" pitchFamily="34" charset="-122"/>
                <a:cs typeface="Cambria" pitchFamily="34" charset="-120"/>
              </a:rPr>
              <a:t>94.1%</a:t>
            </a:r>
            <a:endParaRPr lang="en-US" sz="4400" dirty="0"/>
          </a:p>
        </p:txBody>
      </p:sp>
      <p:sp>
        <p:nvSpPr>
          <p:cNvPr id="36" name="Text 34"/>
          <p:cNvSpPr txBox="1"/>
          <p:nvPr/>
        </p:nvSpPr>
        <p:spPr>
          <a:xfrm>
            <a:off x="7845552" y="2852928"/>
            <a:ext cx="3520440" cy="548640"/>
          </a:xfrm>
          <a:prstGeom prst="rect">
            <a:avLst/>
          </a:prstGeom>
          <a:noFill/>
          <a:ln/>
        </p:spPr>
        <p:txBody>
          <a:bodyPr wrap="square" lIns="0" tIns="0" rIns="0" bIns="0" rtlCol="0" anchor="ctr"/>
          <a:lstStyle/>
          <a:p>
            <a:pPr algn="ctr" indent="0" marL="0">
              <a:lnSpc>
                <a:spcPct val="115000"/>
              </a:lnSpc>
              <a:buNone/>
            </a:pPr>
            <a:r>
              <a:rPr lang="en-US" sz="1300" b="1" dirty="0">
                <a:solidFill>
                  <a:srgbClr val="6B4A0B"/>
                </a:solidFill>
                <a:latin typeface="Calibri" pitchFamily="34" charset="0"/>
                <a:ea typeface="Calibri" pitchFamily="34" charset="-122"/>
                <a:cs typeface="Calibri" pitchFamily="34" charset="-120"/>
              </a:rPr>
              <a:t>of these people earn LESS than the average salary.</a:t>
            </a:r>
            <a:endParaRPr lang="en-US" sz="1300" dirty="0"/>
          </a:p>
        </p:txBody>
      </p:sp>
      <p:sp>
        <p:nvSpPr>
          <p:cNvPr id="37" name="Text 35"/>
          <p:cNvSpPr txBox="1"/>
          <p:nvPr/>
        </p:nvSpPr>
        <p:spPr>
          <a:xfrm>
            <a:off x="7845552" y="3566160"/>
            <a:ext cx="3520440" cy="868680"/>
          </a:xfrm>
          <a:prstGeom prst="rect">
            <a:avLst/>
          </a:prstGeom>
          <a:noFill/>
          <a:ln/>
        </p:spPr>
        <p:txBody>
          <a:bodyPr wrap="square" lIns="0" tIns="0" rIns="0" bIns="0" rtlCol="0" anchor="ctr"/>
          <a:lstStyle/>
          <a:p>
            <a:pPr indent="0" marL="0">
              <a:lnSpc>
                <a:spcPct val="115000"/>
              </a:lnSpc>
              <a:buNone/>
            </a:pPr>
            <a:r>
              <a:rPr lang="en-US" sz="1200" i="1" dirty="0">
                <a:solidFill>
                  <a:srgbClr val="2B3445"/>
                </a:solidFill>
                <a:latin typeface="Calibri" pitchFamily="34" charset="0"/>
                <a:ea typeface="Calibri" pitchFamily="34" charset="-122"/>
                <a:cs typeface="Calibri" pitchFamily="34" charset="-120"/>
              </a:rPr>
              <a:t>“The average salary here is 64,000” is arithmetically true and completely misleading.</a:t>
            </a:r>
            <a:endParaRPr lang="en-US" sz="1200" dirty="0"/>
          </a:p>
        </p:txBody>
      </p:sp>
      <p:sp>
        <p:nvSpPr>
          <p:cNvPr id="38" name="Shape 36"/>
          <p:cNvSpPr/>
          <p:nvPr/>
        </p:nvSpPr>
        <p:spPr>
          <a:xfrm>
            <a:off x="548640" y="4709160"/>
            <a:ext cx="11064240" cy="1143000"/>
          </a:xfrm>
          <a:prstGeom prst="roundRect">
            <a:avLst>
              <a:gd name="adj" fmla="val 7200"/>
            </a:avLst>
          </a:prstGeom>
          <a:solidFill>
            <a:srgbClr val="FFF6E0"/>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39" name="Text 37"/>
          <p:cNvSpPr txBox="1"/>
          <p:nvPr/>
        </p:nvSpPr>
        <p:spPr>
          <a:xfrm>
            <a:off x="868680" y="4846320"/>
            <a:ext cx="6400800" cy="274320"/>
          </a:xfrm>
          <a:prstGeom prst="rect">
            <a:avLst/>
          </a:prstGeom>
          <a:noFill/>
          <a:ln/>
        </p:spPr>
        <p:txBody>
          <a:bodyPr wrap="square" lIns="0" tIns="0" rIns="0" bIns="0" rtlCol="0" anchor="ctr"/>
          <a:lstStyle/>
          <a:p>
            <a:pPr indent="0" marL="0">
              <a:buNone/>
            </a:pPr>
            <a:r>
              <a:rPr lang="en-US" sz="1450" b="1" dirty="0">
                <a:solidFill>
                  <a:srgbClr val="8A5B00"/>
                </a:solidFill>
                <a:latin typeface="Calibri" pitchFamily="34" charset="0"/>
                <a:ea typeface="Calibri" pitchFamily="34" charset="-122"/>
                <a:cs typeface="Calibri" pitchFamily="34" charset="-120"/>
              </a:rPr>
              <a:t>The rule</a:t>
            </a:r>
            <a:endParaRPr lang="en-US" sz="1450" dirty="0"/>
          </a:p>
        </p:txBody>
      </p:sp>
      <p:sp>
        <p:nvSpPr>
          <p:cNvPr id="40" name="Text 38"/>
          <p:cNvSpPr txBox="1"/>
          <p:nvPr/>
        </p:nvSpPr>
        <p:spPr>
          <a:xfrm>
            <a:off x="868680" y="5157216"/>
            <a:ext cx="10424160" cy="548640"/>
          </a:xfrm>
          <a:prstGeom prst="rect">
            <a:avLst/>
          </a:prstGeom>
          <a:noFill/>
          <a:ln/>
        </p:spPr>
        <p:txBody>
          <a:bodyPr wrap="square" lIns="0" tIns="0" rIns="0" bIns="0" rtlCol="0" anchor="ctr"/>
          <a:lstStyle/>
          <a:p>
            <a:pPr indent="0" marL="0">
              <a:lnSpc>
                <a:spcPct val="115000"/>
              </a:lnSpc>
              <a:buNone/>
            </a:pPr>
            <a:r>
              <a:rPr lang="en-US" sz="1250" dirty="0">
                <a:solidFill>
                  <a:srgbClr val="6B4A0B"/>
                </a:solidFill>
                <a:latin typeface="Calibri" pitchFamily="34" charset="0"/>
                <a:ea typeface="Calibri" pitchFamily="34" charset="-122"/>
                <a:cs typeface="Calibri" pitchFamily="34" charset="-120"/>
              </a:rPr>
              <a:t>When the mean and the median differ substantially, report BOTH — the gap between them IS the finding. This is Day 21's “average salary” case again, and it is why every serious income statistic you will ever read is a median.</a:t>
            </a:r>
            <a:endParaRPr lang="en-US" sz="12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52238"/>
        </a:solidFill>
      </p:bgPr>
    </p:bg>
    <p:spTree>
      <p:nvGrpSpPr>
        <p:cNvPr id="1" name=""/>
        <p:cNvGrpSpPr/>
        <p:nvPr/>
      </p:nvGrpSpPr>
      <p:grpSpPr>
        <a:xfrm>
          <a:off x="0" y="0"/>
          <a:ext cx="0" cy="0"/>
          <a:chOff x="0" y="0"/>
          <a:chExt cx="0" cy="0"/>
        </a:xfrm>
      </p:grpSpPr>
      <p:sp>
        <p:nvSpPr>
          <p:cNvPr id="2" name="Text 0"/>
          <p:cNvSpPr txBox="1"/>
          <p:nvPr/>
        </p:nvSpPr>
        <p:spPr>
          <a:xfrm>
            <a:off x="8138160" y="6437376"/>
            <a:ext cx="3474720" cy="256032"/>
          </a:xfrm>
          <a:prstGeom prst="rect">
            <a:avLst/>
          </a:prstGeom>
          <a:noFill/>
          <a:ln/>
        </p:spPr>
        <p:txBody>
          <a:bodyPr wrap="square" lIns="0" tIns="0" rIns="0" bIns="0" rtlCol="0" anchor="ctr"/>
          <a:lstStyle/>
          <a:p>
            <a:pPr algn="r" indent="0" marL="0">
              <a:buNone/>
            </a:pPr>
            <a:r>
              <a:rPr lang="en-US" sz="900" dirty="0">
                <a:solidFill>
                  <a:srgbClr val="7E92B0"/>
                </a:solidFill>
                <a:latin typeface="Calibri" pitchFamily="34" charset="0"/>
                <a:ea typeface="Calibri" pitchFamily="34" charset="-122"/>
                <a:cs typeface="Calibri" pitchFamily="34" charset="-120"/>
              </a:rPr>
              <a:t>Slides by Srinivasa Sai Chava</a:t>
            </a:r>
            <a:endParaRPr lang="en-US" sz="900" dirty="0"/>
          </a:p>
        </p:txBody>
      </p:sp>
      <p:sp>
        <p:nvSpPr>
          <p:cNvPr id="3" name="Shape 1"/>
          <p:cNvSpPr/>
          <p:nvPr/>
        </p:nvSpPr>
        <p:spPr>
          <a:xfrm>
            <a:off x="822960" y="2057400"/>
            <a:ext cx="777240" cy="777240"/>
          </a:xfrm>
          <a:prstGeom prst="ellipse">
            <a:avLst/>
          </a:prstGeom>
          <a:solidFill>
            <a:srgbClr val="FFC145"/>
          </a:solidFill>
          <a:ln w="12700">
            <a:solidFill>
              <a:srgbClr val="FFC145"/>
            </a:solidFill>
            <a:prstDash val="solid"/>
          </a:ln>
        </p:spPr>
      </p:sp>
      <p:sp>
        <p:nvSpPr>
          <p:cNvPr id="4" name="Text 2"/>
          <p:cNvSpPr txBox="1"/>
          <p:nvPr/>
        </p:nvSpPr>
        <p:spPr>
          <a:xfrm>
            <a:off x="822960" y="2057400"/>
            <a:ext cx="777240" cy="777240"/>
          </a:xfrm>
          <a:prstGeom prst="rect">
            <a:avLst/>
          </a:prstGeom>
          <a:noFill/>
          <a:ln/>
        </p:spPr>
        <p:txBody>
          <a:bodyPr wrap="square" lIns="0" tIns="0" rIns="0" bIns="0" rtlCol="0" anchor="ctr"/>
          <a:lstStyle/>
          <a:p>
            <a:pPr algn="ctr" indent="0" marL="0">
              <a:buNone/>
            </a:pPr>
            <a:r>
              <a:rPr lang="en-US" sz="3000" b="1" dirty="0">
                <a:solidFill>
                  <a:srgbClr val="152238"/>
                </a:solidFill>
                <a:latin typeface="Calibri" pitchFamily="34" charset="0"/>
                <a:ea typeface="Calibri" pitchFamily="34" charset="-122"/>
                <a:cs typeface="Calibri" pitchFamily="34" charset="-120"/>
              </a:rPr>
              <a:t>2</a:t>
            </a:r>
            <a:endParaRPr lang="en-US" sz="3000" dirty="0"/>
          </a:p>
        </p:txBody>
      </p:sp>
      <p:sp>
        <p:nvSpPr>
          <p:cNvPr id="5" name="Text 3"/>
          <p:cNvSpPr txBox="1"/>
          <p:nvPr/>
        </p:nvSpPr>
        <p:spPr>
          <a:xfrm>
            <a:off x="1920240" y="1965960"/>
            <a:ext cx="6766560" cy="77724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Spread</a:t>
            </a:r>
            <a:endParaRPr lang="en-US" sz="4000" dirty="0"/>
          </a:p>
        </p:txBody>
      </p:sp>
      <p:sp>
        <p:nvSpPr>
          <p:cNvPr id="6" name="Text 4"/>
          <p:cNvSpPr txBox="1"/>
          <p:nvPr/>
        </p:nvSpPr>
        <p:spPr>
          <a:xfrm>
            <a:off x="1947672" y="2788920"/>
            <a:ext cx="6949440" cy="457200"/>
          </a:xfrm>
          <a:prstGeom prst="rect">
            <a:avLst/>
          </a:prstGeom>
          <a:noFill/>
          <a:ln/>
        </p:spPr>
        <p:txBody>
          <a:bodyPr wrap="square" lIns="0" tIns="0" rIns="0" bIns="0" rtlCol="0" anchor="ctr"/>
          <a:lstStyle/>
          <a:p>
            <a:pPr indent="0" marL="0">
              <a:buNone/>
            </a:pPr>
            <a:r>
              <a:rPr lang="en-US" sz="1600" dirty="0">
                <a:solidFill>
                  <a:srgbClr val="AFC2DC"/>
                </a:solidFill>
                <a:latin typeface="Calibri" pitchFamily="34" charset="0"/>
                <a:ea typeface="Calibri" pitchFamily="34" charset="-122"/>
                <a:cs typeface="Calibri" pitchFamily="34" charset="-120"/>
              </a:rPr>
              <a:t>And the ddof question, finally  ·  35 minutes</a:t>
            </a:r>
            <a:endParaRPr lang="en-US" sz="1600" dirty="0"/>
          </a:p>
        </p:txBody>
      </p:sp>
      <p:sp>
        <p:nvSpPr>
          <p:cNvPr id="7" name="Text 5"/>
          <p:cNvSpPr txBox="1"/>
          <p:nvPr/>
        </p:nvSpPr>
        <p:spPr>
          <a:xfrm>
            <a:off x="9144000" y="2011680"/>
            <a:ext cx="2468880" cy="2194560"/>
          </a:xfrm>
          <a:prstGeom prst="rect">
            <a:avLst/>
          </a:prstGeom>
          <a:noFill/>
          <a:ln/>
        </p:spPr>
        <p:txBody>
          <a:bodyPr wrap="square" lIns="0" tIns="0" rIns="0" bIns="0" rtlCol="0" anchor="ctr"/>
          <a:lstStyle/>
          <a:p>
            <a:pPr marL="342900" indent="-342900">
              <a:spcAft>
                <a:spcPts val="600"/>
              </a:spcAft>
              <a:buSzPct val="100000"/>
              <a:buChar char="•"/>
            </a:pPr>
            <a:r>
              <a:rPr lang="en-US" sz="1300" dirty="0">
                <a:solidFill>
                  <a:srgbClr val="8FA6C4"/>
                </a:solidFill>
                <a:latin typeface="Calibri" pitchFamily="34" charset="0"/>
                <a:ea typeface="Calibri" pitchFamily="34" charset="-122"/>
                <a:cs typeface="Calibri" pitchFamily="34" charset="-120"/>
              </a:rPr>
              <a:t>Range and IQR</a:t>
            </a:r>
            <a:endParaRPr lang="en-US" sz="1300" dirty="0"/>
          </a:p>
          <a:p>
            <a:pPr marL="342900" indent="-342900">
              <a:spcAft>
                <a:spcPts val="600"/>
              </a:spcAft>
              <a:buSzPct val="100000"/>
              <a:buChar char="•"/>
            </a:pPr>
            <a:r>
              <a:rPr lang="en-US" sz="1300" dirty="0">
                <a:solidFill>
                  <a:srgbClr val="8FA6C4"/>
                </a:solidFill>
                <a:latin typeface="Calibri" pitchFamily="34" charset="0"/>
                <a:ea typeface="Calibri" pitchFamily="34" charset="-122"/>
                <a:cs typeface="Calibri" pitchFamily="34" charset="-120"/>
              </a:rPr>
              <a:t>Variance and SD</a:t>
            </a:r>
            <a:endParaRPr lang="en-US" sz="1300" dirty="0"/>
          </a:p>
          <a:p>
            <a:pPr marL="342900" indent="-342900">
              <a:spcAft>
                <a:spcPts val="600"/>
              </a:spcAft>
              <a:buSzPct val="100000"/>
              <a:buChar char="•"/>
            </a:pPr>
            <a:r>
              <a:rPr lang="en-US" sz="1300" dirty="0">
                <a:solidFill>
                  <a:srgbClr val="8FA6C4"/>
                </a:solidFill>
                <a:latin typeface="Calibri" pitchFamily="34" charset="0"/>
                <a:ea typeface="Calibri" pitchFamily="34" charset="-122"/>
                <a:cs typeface="Calibri" pitchFamily="34" charset="-120"/>
              </a:rPr>
              <a:t>Why n - 1</a:t>
            </a:r>
            <a:endParaRPr lang="en-US" sz="1300" dirty="0"/>
          </a:p>
          <a:p>
            <a:pPr marL="342900" indent="-342900">
              <a:spcAft>
                <a:spcPts val="600"/>
              </a:spcAft>
              <a:buSzPct val="100000"/>
              <a:buChar char="•"/>
            </a:pPr>
            <a:r>
              <a:rPr lang="en-US" sz="1300" dirty="0">
                <a:solidFill>
                  <a:srgbClr val="8FA6C4"/>
                </a:solidFill>
                <a:latin typeface="Calibri" pitchFamily="34" charset="0"/>
                <a:ea typeface="Calibri" pitchFamily="34" charset="-122"/>
                <a:cs typeface="Calibri" pitchFamily="34" charset="-120"/>
              </a:rPr>
              <a:t>Population vs sample</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6FA"/>
        </a:solidFill>
      </p:bgPr>
    </p:bg>
    <p:spTree>
      <p:nvGrpSpPr>
        <p:cNvPr id="1" name=""/>
        <p:cNvGrpSpPr/>
        <p:nvPr/>
      </p:nvGrpSpPr>
      <p:grpSpPr>
        <a:xfrm>
          <a:off x="0" y="0"/>
          <a:ext cx="0" cy="0"/>
          <a:chOff x="0" y="0"/>
          <a:chExt cx="0" cy="0"/>
        </a:xfrm>
      </p:grpSpPr>
      <p:sp>
        <p:nvSpPr>
          <p:cNvPr id="2" name="Text 0"/>
          <p:cNvSpPr txBox="1"/>
          <p:nvPr/>
        </p:nvSpPr>
        <p:spPr>
          <a:xfrm>
            <a:off x="8138160" y="6437376"/>
            <a:ext cx="3474720" cy="256032"/>
          </a:xfrm>
          <a:prstGeom prst="rect">
            <a:avLst/>
          </a:prstGeom>
          <a:noFill/>
          <a:ln/>
        </p:spPr>
        <p:txBody>
          <a:bodyPr wrap="square" lIns="0" tIns="0" rIns="0" bIns="0" rtlCol="0" anchor="ctr"/>
          <a:lstStyle/>
          <a:p>
            <a:pPr algn="r" indent="0" marL="0">
              <a:buNone/>
            </a:pPr>
            <a:r>
              <a:rPr lang="en-US" sz="900" dirty="0">
                <a:solidFill>
                  <a:srgbClr val="9DAABE"/>
                </a:solidFill>
                <a:latin typeface="Calibri" pitchFamily="34" charset="0"/>
                <a:ea typeface="Calibri" pitchFamily="34" charset="-122"/>
                <a:cs typeface="Calibri" pitchFamily="34" charset="-120"/>
              </a:rPr>
              <a:t>Slides by Srinivasa Sai Chava</a:t>
            </a:r>
            <a:endParaRPr lang="en-US" sz="900" dirty="0"/>
          </a:p>
        </p:txBody>
      </p:sp>
      <p:sp>
        <p:nvSpPr>
          <p:cNvPr id="3" name="Text 1"/>
          <p:cNvSpPr txBox="1"/>
          <p:nvPr/>
        </p:nvSpPr>
        <p:spPr>
          <a:xfrm>
            <a:off x="548640" y="292608"/>
            <a:ext cx="10515600" cy="274320"/>
          </a:xfrm>
          <a:prstGeom prst="rect">
            <a:avLst/>
          </a:prstGeom>
          <a:noFill/>
          <a:ln/>
        </p:spPr>
        <p:txBody>
          <a:bodyPr wrap="square" lIns="0" tIns="0" rIns="0" bIns="0" rtlCol="0" anchor="ctr"/>
          <a:lstStyle/>
          <a:p>
            <a:pPr indent="0" marL="0">
              <a:buNone/>
            </a:pPr>
            <a:r>
              <a:rPr lang="en-US" sz="1200" b="1" spc="200" kern="0" dirty="0">
                <a:solidFill>
                  <a:srgbClr val="3E7CB1"/>
                </a:solidFill>
                <a:latin typeface="Calibri" pitchFamily="34" charset="0"/>
                <a:ea typeface="Calibri" pitchFamily="34" charset="-122"/>
                <a:cs typeface="Calibri" pitchFamily="34" charset="-120"/>
              </a:rPr>
              <a:t>2.1  ·  SPREAD</a:t>
            </a:r>
            <a:endParaRPr lang="en-US" sz="1200" dirty="0"/>
          </a:p>
        </p:txBody>
      </p:sp>
      <p:sp>
        <p:nvSpPr>
          <p:cNvPr id="4" name="Text 2"/>
          <p:cNvSpPr txBox="1"/>
          <p:nvPr/>
        </p:nvSpPr>
        <p:spPr>
          <a:xfrm>
            <a:off x="548640" y="566928"/>
            <a:ext cx="11064240" cy="685800"/>
          </a:xfrm>
          <a:prstGeom prst="rect">
            <a:avLst/>
          </a:prstGeom>
          <a:noFill/>
          <a:ln/>
        </p:spPr>
        <p:txBody>
          <a:bodyPr wrap="square" lIns="0" tIns="0" rIns="0" bIns="0" rtlCol="0" anchor="ctr"/>
          <a:lstStyle/>
          <a:p>
            <a:pPr indent="0" marL="0">
              <a:buNone/>
            </a:pPr>
            <a:r>
              <a:rPr lang="en-US" sz="3200" b="1" dirty="0">
                <a:solidFill>
                  <a:srgbClr val="1F3A5F"/>
                </a:solidFill>
                <a:latin typeface="Cambria" pitchFamily="34" charset="0"/>
                <a:ea typeface="Cambria" pitchFamily="34" charset="-122"/>
                <a:cs typeface="Cambria" pitchFamily="34" charset="-120"/>
              </a:rPr>
              <a:t>Four ways to say “how spread out?”</a:t>
            </a:r>
            <a:endParaRPr lang="en-US" sz="32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1600200"/>
          <a:ext cx="11064240" cy="914400"/>
        </p:xfrm>
        <a:graphic>
          <a:graphicData uri="http://schemas.openxmlformats.org/drawingml/2006/table">
            <a:tbl>
              <a:tblPr/>
              <a:tblGrid>
                <a:gridCol w="2194560"/>
                <a:gridCol w="4206240"/>
                <a:gridCol w="2651760"/>
                <a:gridCol w="2011680"/>
              </a:tblGrid>
              <a:tr h="384048">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Measure</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solidFill>
                      <a:srgbClr val="1F3A5F"/>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Definition</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solidFill>
                      <a:srgbClr val="1F3A5F"/>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Robust?</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solidFill>
                      <a:srgbClr val="1F3A5F"/>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Units</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solidFill>
                      <a:srgbClr val="1F3A5F"/>
                    </a:solidFill>
                  </a:tcPr>
                </a:tc>
              </a:tr>
              <a:tr h="384048">
                <a:tc>
                  <a:txBody>
                    <a:bodyPr/>
                    <a:lstStyle/>
                    <a:p>
                      <a:pPr indent="0" marL="0">
                        <a:buNone/>
                      </a:pPr>
                      <a:r>
                        <a:rPr lang="en-US" sz="1300" dirty="0">
                          <a:solidFill>
                            <a:srgbClr val="2B3445"/>
                          </a:solidFill>
                          <a:latin typeface="Calibri" pitchFamily="34" charset="0"/>
                          <a:ea typeface="Calibri" pitchFamily="34" charset="-122"/>
                          <a:cs typeface="Calibri" pitchFamily="34" charset="-120"/>
                        </a:rPr>
                        <a:t>Range</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300" dirty="0">
                          <a:solidFill>
                            <a:srgbClr val="2B3445"/>
                          </a:solidFill>
                          <a:latin typeface="Calibri" pitchFamily="34" charset="0"/>
                          <a:ea typeface="Calibri" pitchFamily="34" charset="-122"/>
                          <a:cs typeface="Calibri" pitchFamily="34" charset="-120"/>
                        </a:rPr>
                        <a:t>max - min</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300" dirty="0">
                          <a:solidFill>
                            <a:srgbClr val="2B3445"/>
                          </a:solidFill>
                          <a:latin typeface="Calibri" pitchFamily="34" charset="0"/>
                          <a:ea typeface="Calibri" pitchFamily="34" charset="-122"/>
                          <a:cs typeface="Calibri" pitchFamily="34" charset="-120"/>
                        </a:rPr>
                        <a:t>No — uses only the extremes</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300" dirty="0">
                          <a:solidFill>
                            <a:srgbClr val="2B3445"/>
                          </a:solidFill>
                          <a:latin typeface="Calibri" pitchFamily="34" charset="0"/>
                          <a:ea typeface="Calibri" pitchFamily="34" charset="-122"/>
                          <a:cs typeface="Calibri" pitchFamily="34" charset="-120"/>
                        </a:rPr>
                        <a:t>same as data</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r>
              <a:tr h="384048">
                <a:tc>
                  <a:txBody>
                    <a:bodyPr/>
                    <a:lstStyle/>
                    <a:p>
                      <a:pPr indent="0" marL="0">
                        <a:buNone/>
                      </a:pPr>
                      <a:r>
                        <a:rPr lang="en-US" sz="1300" dirty="0">
                          <a:solidFill>
                            <a:srgbClr val="2B3445"/>
                          </a:solidFill>
                          <a:latin typeface="Calibri" pitchFamily="34" charset="0"/>
                          <a:ea typeface="Calibri" pitchFamily="34" charset="-122"/>
                          <a:cs typeface="Calibri" pitchFamily="34" charset="-120"/>
                        </a:rPr>
                        <a:t>IQR</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300" dirty="0">
                          <a:solidFill>
                            <a:srgbClr val="2B3445"/>
                          </a:solidFill>
                          <a:latin typeface="Calibri" pitchFamily="34" charset="0"/>
                          <a:ea typeface="Calibri" pitchFamily="34" charset="-122"/>
                          <a:cs typeface="Calibri" pitchFamily="34" charset="-120"/>
                        </a:rPr>
                        <a:t>Q3 - Q1, the middle 50%</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300" dirty="0">
                          <a:solidFill>
                            <a:srgbClr val="2B3445"/>
                          </a:solidFill>
                          <a:latin typeface="Calibri" pitchFamily="34" charset="0"/>
                          <a:ea typeface="Calibri" pitchFamily="34" charset="-122"/>
                          <a:cs typeface="Calibri" pitchFamily="34" charset="-120"/>
                        </a:rPr>
                        <a:t>Yes — ignores the tails</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300" dirty="0">
                          <a:solidFill>
                            <a:srgbClr val="2B3445"/>
                          </a:solidFill>
                          <a:latin typeface="Calibri" pitchFamily="34" charset="0"/>
                          <a:ea typeface="Calibri" pitchFamily="34" charset="-122"/>
                          <a:cs typeface="Calibri" pitchFamily="34" charset="-120"/>
                        </a:rPr>
                        <a:t>same as data</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r>
              <a:tr h="384048">
                <a:tc>
                  <a:txBody>
                    <a:bodyPr/>
                    <a:lstStyle/>
                    <a:p>
                      <a:pPr indent="0" marL="0">
                        <a:buNone/>
                      </a:pPr>
                      <a:r>
                        <a:rPr lang="en-US" sz="1300" dirty="0">
                          <a:solidFill>
                            <a:srgbClr val="2B3445"/>
                          </a:solidFill>
                          <a:latin typeface="Calibri" pitchFamily="34" charset="0"/>
                          <a:ea typeface="Calibri" pitchFamily="34" charset="-122"/>
                          <a:cs typeface="Calibri" pitchFamily="34" charset="-120"/>
                        </a:rPr>
                        <a:t>Variance</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300" dirty="0">
                          <a:solidFill>
                            <a:srgbClr val="2B3445"/>
                          </a:solidFill>
                          <a:latin typeface="Calibri" pitchFamily="34" charset="0"/>
                          <a:ea typeface="Calibri" pitchFamily="34" charset="-122"/>
                          <a:cs typeface="Calibri" pitchFamily="34" charset="-120"/>
                        </a:rPr>
                        <a:t>mean squared distance from the mean</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300" dirty="0">
                          <a:solidFill>
                            <a:srgbClr val="2B3445"/>
                          </a:solidFill>
                          <a:latin typeface="Calibri" pitchFamily="34" charset="0"/>
                          <a:ea typeface="Calibri" pitchFamily="34" charset="-122"/>
                          <a:cs typeface="Calibri" pitchFamily="34" charset="-120"/>
                        </a:rPr>
                        <a:t>No</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300" dirty="0">
                          <a:solidFill>
                            <a:srgbClr val="2B3445"/>
                          </a:solidFill>
                          <a:latin typeface="Calibri" pitchFamily="34" charset="0"/>
                          <a:ea typeface="Calibri" pitchFamily="34" charset="-122"/>
                          <a:cs typeface="Calibri" pitchFamily="34" charset="-120"/>
                        </a:rPr>
                        <a:t>data units SQUARED</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r>
              <a:tr h="384048">
                <a:tc>
                  <a:txBody>
                    <a:bodyPr/>
                    <a:lstStyle/>
                    <a:p>
                      <a:pPr indent="0" marL="0">
                        <a:buNone/>
                      </a:pPr>
                      <a:r>
                        <a:rPr lang="en-US" sz="1300" dirty="0">
                          <a:solidFill>
                            <a:srgbClr val="2B3445"/>
                          </a:solidFill>
                          <a:latin typeface="Calibri" pitchFamily="34" charset="0"/>
                          <a:ea typeface="Calibri" pitchFamily="34" charset="-122"/>
                          <a:cs typeface="Calibri" pitchFamily="34" charset="-120"/>
                        </a:rPr>
                        <a:t>Std deviation</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300" dirty="0">
                          <a:solidFill>
                            <a:srgbClr val="2B3445"/>
                          </a:solidFill>
                          <a:latin typeface="Calibri" pitchFamily="34" charset="0"/>
                          <a:ea typeface="Calibri" pitchFamily="34" charset="-122"/>
                          <a:cs typeface="Calibri" pitchFamily="34" charset="-120"/>
                        </a:rPr>
                        <a:t>the square root of the variance</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300" dirty="0">
                          <a:solidFill>
                            <a:srgbClr val="2B3445"/>
                          </a:solidFill>
                          <a:latin typeface="Calibri" pitchFamily="34" charset="0"/>
                          <a:ea typeface="Calibri" pitchFamily="34" charset="-122"/>
                          <a:cs typeface="Calibri" pitchFamily="34" charset="-120"/>
                        </a:rPr>
                        <a:t>No</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300" dirty="0">
                          <a:solidFill>
                            <a:srgbClr val="2B3445"/>
                          </a:solidFill>
                          <a:latin typeface="Calibri" pitchFamily="34" charset="0"/>
                          <a:ea typeface="Calibri" pitchFamily="34" charset="-122"/>
                          <a:cs typeface="Calibri" pitchFamily="34" charset="-120"/>
                        </a:rPr>
                        <a:t>same as data</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r>
            </a:tbl>
          </a:graphicData>
        </a:graphic>
      </p:graphicFrame>
      <p:sp>
        <p:nvSpPr>
          <p:cNvPr id="6" name="Shape 3"/>
          <p:cNvSpPr/>
          <p:nvPr/>
        </p:nvSpPr>
        <p:spPr>
          <a:xfrm>
            <a:off x="548640" y="3858768"/>
            <a:ext cx="5486400" cy="2011680"/>
          </a:xfrm>
          <a:prstGeom prst="roundRect">
            <a:avLst>
              <a:gd name="adj" fmla="val 4091"/>
            </a:avLst>
          </a:prstGeom>
          <a:solidFill>
            <a:srgbClr val="E9F6F2"/>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7" name="Text 4"/>
          <p:cNvSpPr txBox="1"/>
          <p:nvPr/>
        </p:nvSpPr>
        <p:spPr>
          <a:xfrm>
            <a:off x="804672" y="4005072"/>
            <a:ext cx="4937760" cy="301752"/>
          </a:xfrm>
          <a:prstGeom prst="rect">
            <a:avLst/>
          </a:prstGeom>
          <a:noFill/>
          <a:ln/>
        </p:spPr>
        <p:txBody>
          <a:bodyPr wrap="square" lIns="0" tIns="0" rIns="0" bIns="0" rtlCol="0" anchor="ctr"/>
          <a:lstStyle/>
          <a:p>
            <a:pPr indent="0" marL="0">
              <a:buNone/>
            </a:pPr>
            <a:r>
              <a:rPr lang="en-US" sz="1400" b="1" dirty="0">
                <a:solidFill>
                  <a:srgbClr val="1C6F5C"/>
                </a:solidFill>
                <a:latin typeface="Calibri" pitchFamily="34" charset="0"/>
                <a:ea typeface="Calibri" pitchFamily="34" charset="-122"/>
                <a:cs typeface="Calibri" pitchFamily="34" charset="-120"/>
              </a:rPr>
              <a:t>Why bother squaring at all?</a:t>
            </a:r>
            <a:endParaRPr lang="en-US" sz="1400" dirty="0"/>
          </a:p>
        </p:txBody>
      </p:sp>
      <p:sp>
        <p:nvSpPr>
          <p:cNvPr id="8" name="Text 5"/>
          <p:cNvSpPr txBox="1"/>
          <p:nvPr/>
        </p:nvSpPr>
        <p:spPr>
          <a:xfrm>
            <a:off x="804672" y="4352544"/>
            <a:ext cx="4983480" cy="1463040"/>
          </a:xfrm>
          <a:prstGeom prst="rect">
            <a:avLst/>
          </a:prstGeom>
          <a:noFill/>
          <a:ln/>
        </p:spPr>
        <p:txBody>
          <a:bodyPr wrap="square" lIns="0" tIns="0" rIns="0" bIns="0" rtlCol="0" anchor="ctr"/>
          <a:lstStyle/>
          <a:p>
            <a:pPr indent="0" marL="0">
              <a:lnSpc>
                <a:spcPct val="120000"/>
              </a:lnSpc>
              <a:buNone/>
            </a:pPr>
            <a:r>
              <a:rPr lang="en-US" sz="1200" dirty="0">
                <a:solidFill>
                  <a:srgbClr val="2B3445"/>
                </a:solidFill>
                <a:latin typeface="Calibri" pitchFamily="34" charset="0"/>
                <a:ea typeface="Calibri" pitchFamily="34" charset="-122"/>
                <a:cs typeface="Calibri" pitchFamily="34" charset="-120"/>
              </a:rPr>
              <a:t>The obvious measure — the average distance from the mean — is always exactly ZERO, because the positives and negatives cancel. That is what “balance point” means.</a:t>
            </a:r>
            <a:endParaRPr lang="en-US" sz="1200" dirty="0"/>
          </a:p>
          <a:p>
            <a:pPr indent="0" marL="0">
              <a:lnSpc>
                <a:spcPct val="120000"/>
              </a:lnSpc>
              <a:buNone/>
            </a:pPr>
            <a:endParaRPr lang="en-US" sz="1200" dirty="0"/>
          </a:p>
          <a:p>
            <a:pPr indent="0" marL="0">
              <a:lnSpc>
                <a:spcPct val="120000"/>
              </a:lnSpc>
              <a:buNone/>
            </a:pPr>
            <a:r>
              <a:rPr lang="en-US" sz="1200" dirty="0">
                <a:solidFill>
                  <a:srgbClr val="2B3445"/>
                </a:solidFill>
                <a:latin typeface="Calibri" pitchFamily="34" charset="0"/>
                <a:ea typeface="Calibri" pitchFamily="34" charset="-122"/>
                <a:cs typeface="Calibri" pitchFamily="34" charset="-120"/>
              </a:rPr>
              <a:t>Squaring removes the signs. Then the square root puts you back into the original units, which is why we quote the SD and not the variance.</a:t>
            </a:r>
            <a:endParaRPr lang="en-US" sz="1200" dirty="0"/>
          </a:p>
        </p:txBody>
      </p:sp>
      <p:sp>
        <p:nvSpPr>
          <p:cNvPr id="9" name="Shape 6"/>
          <p:cNvSpPr/>
          <p:nvPr/>
        </p:nvSpPr>
        <p:spPr>
          <a:xfrm>
            <a:off x="6309360" y="3858768"/>
            <a:ext cx="5303520" cy="2011680"/>
          </a:xfrm>
          <a:prstGeom prst="roundRect">
            <a:avLst>
              <a:gd name="adj" fmla="val 4091"/>
            </a:avLst>
          </a:prstGeom>
          <a:solidFill>
            <a:srgbClr val="FFF6E0"/>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10" name="Text 7"/>
          <p:cNvSpPr txBox="1"/>
          <p:nvPr/>
        </p:nvSpPr>
        <p:spPr>
          <a:xfrm>
            <a:off x="6565392" y="4005072"/>
            <a:ext cx="4754880" cy="301752"/>
          </a:xfrm>
          <a:prstGeom prst="rect">
            <a:avLst/>
          </a:prstGeom>
          <a:noFill/>
          <a:ln/>
        </p:spPr>
        <p:txBody>
          <a:bodyPr wrap="square" lIns="0" tIns="0" rIns="0" bIns="0" rtlCol="0" anchor="ctr"/>
          <a:lstStyle/>
          <a:p>
            <a:pPr indent="0" marL="0">
              <a:buNone/>
            </a:pPr>
            <a:r>
              <a:rPr lang="en-US" sz="1400" b="1" dirty="0">
                <a:solidFill>
                  <a:srgbClr val="8A5B00"/>
                </a:solidFill>
                <a:latin typeface="Calibri" pitchFamily="34" charset="0"/>
                <a:ea typeface="Calibri" pitchFamily="34" charset="-122"/>
                <a:cs typeface="Calibri" pitchFamily="34" charset="-120"/>
              </a:rPr>
              <a:t>Reading an SD</a:t>
            </a:r>
            <a:endParaRPr lang="en-US" sz="1400" dirty="0"/>
          </a:p>
        </p:txBody>
      </p:sp>
      <p:sp>
        <p:nvSpPr>
          <p:cNvPr id="11" name="Shape 8"/>
          <p:cNvSpPr/>
          <p:nvPr/>
        </p:nvSpPr>
        <p:spPr>
          <a:xfrm>
            <a:off x="6565392" y="4352544"/>
            <a:ext cx="4800600" cy="731520"/>
          </a:xfrm>
          <a:prstGeom prst="roundRect">
            <a:avLst>
              <a:gd name="adj" fmla="val 8750"/>
            </a:avLst>
          </a:prstGeom>
          <a:solidFill>
            <a:srgbClr val="1B2B45"/>
          </a:solidFill>
          <a:ln w="12700">
            <a:solidFill>
              <a:srgbClr val="1B2B45"/>
            </a:solidFill>
            <a:prstDash val="solid"/>
          </a:ln>
        </p:spPr>
      </p:sp>
      <p:sp>
        <p:nvSpPr>
          <p:cNvPr id="12" name="Text 9"/>
          <p:cNvSpPr txBox="1"/>
          <p:nvPr/>
        </p:nvSpPr>
        <p:spPr>
          <a:xfrm>
            <a:off x="6729984" y="4462272"/>
            <a:ext cx="4471416" cy="512064"/>
          </a:xfrm>
          <a:prstGeom prst="rect">
            <a:avLst/>
          </a:prstGeom>
          <a:noFill/>
          <a:ln/>
        </p:spPr>
        <p:txBody>
          <a:bodyPr wrap="square" lIns="0" tIns="0" rIns="0" bIns="0" rtlCol="0" anchor="t"/>
          <a:lstStyle/>
          <a:p>
            <a:pPr indent="0" marL="0">
              <a:lnSpc>
                <a:spcPct val="112000"/>
              </a:lnSpc>
              <a:buNone/>
            </a:pPr>
            <a:r>
              <a:rPr lang="en-US" sz="1000" dirty="0">
                <a:solidFill>
                  <a:srgbClr val="E7EEF8"/>
                </a:solidFill>
                <a:latin typeface="Courier New" pitchFamily="34" charset="0"/>
                <a:ea typeface="Courier New" pitchFamily="34" charset="-122"/>
                <a:cs typeface="Courier New" pitchFamily="34" charset="-120"/>
              </a:rPr>
              <a:t>mean 100, sd 15</a:t>
            </a:r>
            <a:endParaRPr lang="en-US" sz="1000" dirty="0"/>
          </a:p>
          <a:p>
            <a:pPr indent="0" marL="0">
              <a:lnSpc>
                <a:spcPct val="112000"/>
              </a:lnSpc>
              <a:buNone/>
            </a:pPr>
            <a:r>
              <a:rPr lang="en-US" sz="1000" dirty="0">
                <a:solidFill>
                  <a:srgbClr val="E7EEF8"/>
                </a:solidFill>
                <a:latin typeface="Courier New" pitchFamily="34" charset="0"/>
                <a:ea typeface="Courier New" pitchFamily="34" charset="-122"/>
                <a:cs typeface="Courier New" pitchFamily="34" charset="-120"/>
              </a:rPr>
              <a:t>  about 68% fall in  85 - 115</a:t>
            </a:r>
            <a:endParaRPr lang="en-US" sz="1000" dirty="0"/>
          </a:p>
          <a:p>
            <a:pPr indent="0" marL="0">
              <a:lnSpc>
                <a:spcPct val="112000"/>
              </a:lnSpc>
              <a:buNone/>
            </a:pPr>
            <a:r>
              <a:rPr lang="en-US" sz="1000" dirty="0">
                <a:solidFill>
                  <a:srgbClr val="E7EEF8"/>
                </a:solidFill>
                <a:latin typeface="Courier New" pitchFamily="34" charset="0"/>
                <a:ea typeface="Courier New" pitchFamily="34" charset="-122"/>
                <a:cs typeface="Courier New" pitchFamily="34" charset="-120"/>
              </a:rPr>
              <a:t>  about 95% fall in  70 - 130</a:t>
            </a:r>
            <a:endParaRPr lang="en-US" sz="1000" dirty="0"/>
          </a:p>
        </p:txBody>
      </p:sp>
      <p:sp>
        <p:nvSpPr>
          <p:cNvPr id="13" name="Text 10"/>
          <p:cNvSpPr txBox="1"/>
          <p:nvPr/>
        </p:nvSpPr>
        <p:spPr>
          <a:xfrm>
            <a:off x="6565392" y="5175504"/>
            <a:ext cx="4800600" cy="658368"/>
          </a:xfrm>
          <a:prstGeom prst="rect">
            <a:avLst/>
          </a:prstGeom>
          <a:noFill/>
          <a:ln/>
        </p:spPr>
        <p:txBody>
          <a:bodyPr wrap="square" lIns="0" tIns="0" rIns="0" bIns="0" rtlCol="0" anchor="ctr"/>
          <a:lstStyle/>
          <a:p>
            <a:pPr indent="0" marL="0">
              <a:lnSpc>
                <a:spcPct val="115000"/>
              </a:lnSpc>
              <a:buNone/>
            </a:pPr>
            <a:r>
              <a:rPr lang="en-US" sz="1200" dirty="0">
                <a:solidFill>
                  <a:srgbClr val="6B4A0B"/>
                </a:solidFill>
                <a:latin typeface="Calibri" pitchFamily="34" charset="0"/>
                <a:ea typeface="Calibri" pitchFamily="34" charset="-122"/>
                <a:cs typeface="Calibri" pitchFamily="34" charset="-120"/>
              </a:rPr>
              <a:t>Verified by simulation: 68.1% and 95.5%. This is the empirical rule, and it only holds for roughly bell-shaped data — Day 24's topic.</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6FA"/>
        </a:solidFill>
      </p:bgPr>
    </p:bg>
    <p:spTree>
      <p:nvGrpSpPr>
        <p:cNvPr id="1" name=""/>
        <p:cNvGrpSpPr/>
        <p:nvPr/>
      </p:nvGrpSpPr>
      <p:grpSpPr>
        <a:xfrm>
          <a:off x="0" y="0"/>
          <a:ext cx="0" cy="0"/>
          <a:chOff x="0" y="0"/>
          <a:chExt cx="0" cy="0"/>
        </a:xfrm>
      </p:grpSpPr>
      <p:sp>
        <p:nvSpPr>
          <p:cNvPr id="2" name="Text 0"/>
          <p:cNvSpPr txBox="1"/>
          <p:nvPr/>
        </p:nvSpPr>
        <p:spPr>
          <a:xfrm>
            <a:off x="8138160" y="6437376"/>
            <a:ext cx="3474720" cy="256032"/>
          </a:xfrm>
          <a:prstGeom prst="rect">
            <a:avLst/>
          </a:prstGeom>
          <a:noFill/>
          <a:ln/>
        </p:spPr>
        <p:txBody>
          <a:bodyPr wrap="square" lIns="0" tIns="0" rIns="0" bIns="0" rtlCol="0" anchor="ctr"/>
          <a:lstStyle/>
          <a:p>
            <a:pPr algn="r" indent="0" marL="0">
              <a:buNone/>
            </a:pPr>
            <a:r>
              <a:rPr lang="en-US" sz="900" dirty="0">
                <a:solidFill>
                  <a:srgbClr val="9DAABE"/>
                </a:solidFill>
                <a:latin typeface="Calibri" pitchFamily="34" charset="0"/>
                <a:ea typeface="Calibri" pitchFamily="34" charset="-122"/>
                <a:cs typeface="Calibri" pitchFamily="34" charset="-120"/>
              </a:rPr>
              <a:t>Slides by Srinivasa Sai Chava</a:t>
            </a:r>
            <a:endParaRPr lang="en-US" sz="900" dirty="0"/>
          </a:p>
        </p:txBody>
      </p:sp>
      <p:sp>
        <p:nvSpPr>
          <p:cNvPr id="3" name="Text 1"/>
          <p:cNvSpPr txBox="1"/>
          <p:nvPr/>
        </p:nvSpPr>
        <p:spPr>
          <a:xfrm>
            <a:off x="548640" y="292608"/>
            <a:ext cx="10515600" cy="274320"/>
          </a:xfrm>
          <a:prstGeom prst="rect">
            <a:avLst/>
          </a:prstGeom>
          <a:noFill/>
          <a:ln/>
        </p:spPr>
        <p:txBody>
          <a:bodyPr wrap="square" lIns="0" tIns="0" rIns="0" bIns="0" rtlCol="0" anchor="ctr"/>
          <a:lstStyle/>
          <a:p>
            <a:pPr indent="0" marL="0">
              <a:buNone/>
            </a:pPr>
            <a:r>
              <a:rPr lang="en-US" sz="1200" b="1" spc="200" kern="0" dirty="0">
                <a:solidFill>
                  <a:srgbClr val="3E7CB1"/>
                </a:solidFill>
                <a:latin typeface="Calibri" pitchFamily="34" charset="0"/>
                <a:ea typeface="Calibri" pitchFamily="34" charset="-122"/>
                <a:cs typeface="Calibri" pitchFamily="34" charset="-120"/>
              </a:rPr>
              <a:t>2.2  ·  THE ANSWER, AT LAST</a:t>
            </a:r>
            <a:endParaRPr lang="en-US" sz="1200" dirty="0"/>
          </a:p>
        </p:txBody>
      </p:sp>
      <p:sp>
        <p:nvSpPr>
          <p:cNvPr id="4" name="Text 2"/>
          <p:cNvSpPr txBox="1"/>
          <p:nvPr/>
        </p:nvSpPr>
        <p:spPr>
          <a:xfrm>
            <a:off x="548640" y="566928"/>
            <a:ext cx="11064240" cy="685800"/>
          </a:xfrm>
          <a:prstGeom prst="rect">
            <a:avLst/>
          </a:prstGeom>
          <a:noFill/>
          <a:ln/>
        </p:spPr>
        <p:txBody>
          <a:bodyPr wrap="square" lIns="0" tIns="0" rIns="0" bIns="0" rtlCol="0" anchor="ctr"/>
          <a:lstStyle/>
          <a:p>
            <a:pPr indent="0" marL="0">
              <a:buNone/>
            </a:pPr>
            <a:r>
              <a:rPr lang="en-US" sz="3200" b="1" dirty="0">
                <a:solidFill>
                  <a:srgbClr val="1F3A5F"/>
                </a:solidFill>
                <a:latin typeface="Cambria" pitchFamily="34" charset="0"/>
                <a:ea typeface="Cambria" pitchFamily="34" charset="-122"/>
                <a:cs typeface="Cambria" pitchFamily="34" charset="-120"/>
              </a:rPr>
              <a:t>Why divide by n − 1? Here is the proof.</a:t>
            </a:r>
            <a:endParaRPr lang="en-US" sz="3200" dirty="0"/>
          </a:p>
        </p:txBody>
      </p:sp>
      <p:sp>
        <p:nvSpPr>
          <p:cNvPr id="5" name="Shape 3"/>
          <p:cNvSpPr/>
          <p:nvPr/>
        </p:nvSpPr>
        <p:spPr>
          <a:xfrm>
            <a:off x="548640" y="1572768"/>
            <a:ext cx="6583680" cy="3063240"/>
          </a:xfrm>
          <a:prstGeom prst="roundRect">
            <a:avLst>
              <a:gd name="adj" fmla="val 2687"/>
            </a:avLst>
          </a:prstGeom>
          <a:solidFill>
            <a:srgbClr val="EDF2F9"/>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6" name="Text 4"/>
          <p:cNvSpPr txBox="1"/>
          <p:nvPr/>
        </p:nvSpPr>
        <p:spPr>
          <a:xfrm>
            <a:off x="822960" y="1719072"/>
            <a:ext cx="6035040" cy="274320"/>
          </a:xfrm>
          <a:prstGeom prst="rect">
            <a:avLst/>
          </a:prstGeom>
          <a:noFill/>
          <a:ln/>
        </p:spPr>
        <p:txBody>
          <a:bodyPr wrap="square" lIns="0" tIns="0" rIns="0" bIns="0" rtlCol="0" anchor="ctr"/>
          <a:lstStyle/>
          <a:p>
            <a:pPr indent="0" marL="0">
              <a:buNone/>
            </a:pPr>
            <a:r>
              <a:rPr lang="en-US" sz="1350" b="1" dirty="0">
                <a:solidFill>
                  <a:srgbClr val="1F3A5F"/>
                </a:solidFill>
                <a:latin typeface="Calibri" pitchFamily="34" charset="0"/>
                <a:ea typeface="Calibri" pitchFamily="34" charset="-122"/>
                <a:cs typeface="Calibri" pitchFamily="34" charset="-120"/>
              </a:rPr>
              <a:t>The experiment: 500,000 samples of 5, from a population we KNOW</a:t>
            </a:r>
            <a:endParaRPr lang="en-US" sz="1350" dirty="0"/>
          </a:p>
        </p:txBody>
      </p:sp>
      <p:sp>
        <p:nvSpPr>
          <p:cNvPr id="7" name="Shape 5"/>
          <p:cNvSpPr/>
          <p:nvPr/>
        </p:nvSpPr>
        <p:spPr>
          <a:xfrm>
            <a:off x="822960" y="2048256"/>
            <a:ext cx="6080760" cy="1508760"/>
          </a:xfrm>
          <a:prstGeom prst="roundRect">
            <a:avLst>
              <a:gd name="adj" fmla="val 4242"/>
            </a:avLst>
          </a:prstGeom>
          <a:solidFill>
            <a:srgbClr val="1B2B45"/>
          </a:solidFill>
          <a:ln w="12700">
            <a:solidFill>
              <a:srgbClr val="1B2B45"/>
            </a:solidFill>
            <a:prstDash val="solid"/>
          </a:ln>
        </p:spPr>
      </p:sp>
      <p:sp>
        <p:nvSpPr>
          <p:cNvPr id="8" name="Text 6"/>
          <p:cNvSpPr txBox="1"/>
          <p:nvPr/>
        </p:nvSpPr>
        <p:spPr>
          <a:xfrm>
            <a:off x="987552" y="2157984"/>
            <a:ext cx="5751576" cy="1289304"/>
          </a:xfrm>
          <a:prstGeom prst="rect">
            <a:avLst/>
          </a:prstGeom>
          <a:noFill/>
          <a:ln/>
        </p:spPr>
        <p:txBody>
          <a:bodyPr wrap="square" lIns="0" tIns="0" rIns="0" bIns="0" rtlCol="0" anchor="t"/>
          <a:lstStyle/>
          <a:p>
            <a:pPr indent="0" marL="0">
              <a:lnSpc>
                <a:spcPct val="112000"/>
              </a:lnSpc>
              <a:buNone/>
            </a:pPr>
            <a:r>
              <a:rPr lang="en-US" sz="950" dirty="0">
                <a:solidFill>
                  <a:srgbClr val="E7EEF8"/>
                </a:solidFill>
                <a:latin typeface="Courier New" pitchFamily="34" charset="0"/>
                <a:ea typeface="Courier New" pitchFamily="34" charset="-122"/>
                <a:cs typeface="Courier New" pitchFamily="34" charset="-120"/>
              </a:rPr>
              <a:t>sim = np.random.default_rng(2026)</a:t>
            </a:r>
            <a:endParaRPr lang="en-US" sz="950" dirty="0"/>
          </a:p>
          <a:p>
            <a:pPr indent="0" marL="0">
              <a:lnSpc>
                <a:spcPct val="112000"/>
              </a:lnSpc>
              <a:buNone/>
            </a:pPr>
            <a:r>
              <a:rPr lang="en-US" sz="950" dirty="0">
                <a:solidFill>
                  <a:srgbClr val="E7EEF8"/>
                </a:solidFill>
                <a:latin typeface="Courier New" pitchFamily="34" charset="0"/>
                <a:ea typeface="Courier New" pitchFamily="34" charset="-122"/>
                <a:cs typeface="Courier New" pitchFamily="34" charset="-120"/>
              </a:rPr>
              <a:t>POP = sim.normal(100, 15, 1_000_000)</a:t>
            </a:r>
            <a:endParaRPr lang="en-US" sz="950" dirty="0"/>
          </a:p>
          <a:p>
            <a:pPr indent="0" marL="0">
              <a:lnSpc>
                <a:spcPct val="112000"/>
              </a:lnSpc>
              <a:buNone/>
            </a:pPr>
            <a:r>
              <a:rPr lang="en-US" sz="950" dirty="0">
                <a:solidFill>
                  <a:srgbClr val="E7EEF8"/>
                </a:solidFill>
                <a:latin typeface="Courier New" pitchFamily="34" charset="0"/>
                <a:ea typeface="Courier New" pitchFamily="34" charset="-122"/>
                <a:cs typeface="Courier New" pitchFamily="34" charset="-120"/>
              </a:rPr>
              <a:t>true variance of POP                  225.06</a:t>
            </a:r>
            <a:endParaRPr lang="en-US" sz="950" dirty="0"/>
          </a:p>
          <a:p>
            <a:pPr indent="0" marL="0">
              <a:lnSpc>
                <a:spcPct val="112000"/>
              </a:lnSpc>
              <a:buNone/>
            </a:pPr>
            <a:endParaRPr lang="en-US" sz="950" dirty="0"/>
          </a:p>
          <a:p>
            <a:pPr indent="0" marL="0">
              <a:lnSpc>
                <a:spcPct val="112000"/>
              </a:lnSpc>
              <a:buNone/>
            </a:pPr>
            <a:r>
              <a:rPr lang="en-US" sz="950" dirty="0">
                <a:solidFill>
                  <a:srgbClr val="E7EEF8"/>
                </a:solidFill>
                <a:latin typeface="Courier New" pitchFamily="34" charset="0"/>
                <a:ea typeface="Courier New" pitchFamily="34" charset="-122"/>
                <a:cs typeface="Courier New" pitchFamily="34" charset="-120"/>
              </a:rPr>
              <a:t>samples = sim.choice(POP, size=(500_000, 5))</a:t>
            </a:r>
            <a:endParaRPr lang="en-US" sz="950" dirty="0"/>
          </a:p>
          <a:p>
            <a:pPr indent="0" marL="0">
              <a:lnSpc>
                <a:spcPct val="112000"/>
              </a:lnSpc>
              <a:buNone/>
            </a:pPr>
            <a:r>
              <a:rPr lang="en-US" sz="950" dirty="0">
                <a:solidFill>
                  <a:srgbClr val="E7EEF8"/>
                </a:solidFill>
                <a:latin typeface="Courier New" pitchFamily="34" charset="0"/>
                <a:ea typeface="Courier New" pitchFamily="34" charset="-122"/>
                <a:cs typeface="Courier New" pitchFamily="34" charset="-120"/>
              </a:rPr>
              <a:t>samples.var(axis=1, ddof=0).mean()    180.27   &lt;- 20% low</a:t>
            </a:r>
            <a:endParaRPr lang="en-US" sz="950" dirty="0"/>
          </a:p>
          <a:p>
            <a:pPr indent="0" marL="0">
              <a:lnSpc>
                <a:spcPct val="112000"/>
              </a:lnSpc>
              <a:buNone/>
            </a:pPr>
            <a:r>
              <a:rPr lang="en-US" sz="950" dirty="0">
                <a:solidFill>
                  <a:srgbClr val="E7EEF8"/>
                </a:solidFill>
                <a:latin typeface="Courier New" pitchFamily="34" charset="0"/>
                <a:ea typeface="Courier New" pitchFamily="34" charset="-122"/>
                <a:cs typeface="Courier New" pitchFamily="34" charset="-120"/>
              </a:rPr>
              <a:t>samples.var(axis=1, ddof=1).mean()    225.34   &lt;- on target</a:t>
            </a:r>
            <a:endParaRPr lang="en-US" sz="950" dirty="0"/>
          </a:p>
        </p:txBody>
      </p:sp>
      <p:sp>
        <p:nvSpPr>
          <p:cNvPr id="9" name="Text 7"/>
          <p:cNvSpPr txBox="1"/>
          <p:nvPr/>
        </p:nvSpPr>
        <p:spPr>
          <a:xfrm>
            <a:off x="822960" y="3767328"/>
            <a:ext cx="6080760" cy="685800"/>
          </a:xfrm>
          <a:prstGeom prst="rect">
            <a:avLst/>
          </a:prstGeom>
          <a:noFill/>
          <a:ln/>
        </p:spPr>
        <p:txBody>
          <a:bodyPr wrap="square" lIns="0" tIns="0" rIns="0" bIns="0" rtlCol="0" anchor="ctr"/>
          <a:lstStyle/>
          <a:p>
            <a:pPr indent="0" marL="0">
              <a:lnSpc>
                <a:spcPct val="120000"/>
              </a:lnSpc>
              <a:buNone/>
            </a:pPr>
            <a:r>
              <a:rPr lang="en-US" sz="1300" b="1" dirty="0">
                <a:solidFill>
                  <a:srgbClr val="1F3A5F"/>
                </a:solidFill>
                <a:latin typeface="Calibri" pitchFamily="34" charset="0"/>
                <a:ea typeface="Calibri" pitchFamily="34" charset="-122"/>
                <a:cs typeface="Calibri" pitchFamily="34" charset="-120"/>
              </a:rPr>
              <a:t>Dividing by n UNDERSHOOTS the truth, every time, on average.</a:t>
            </a:r>
            <a:endParaRPr lang="en-US" sz="1300" dirty="0"/>
          </a:p>
          <a:p>
            <a:pPr indent="0" marL="0">
              <a:lnSpc>
                <a:spcPct val="120000"/>
              </a:lnSpc>
              <a:buNone/>
            </a:pPr>
            <a:r>
              <a:rPr lang="en-US" sz="1300" b="1" dirty="0">
                <a:solidFill>
                  <a:srgbClr val="1F3A5F"/>
                </a:solidFill>
                <a:latin typeface="Calibri" pitchFamily="34" charset="0"/>
                <a:ea typeface="Calibri" pitchFamily="34" charset="-122"/>
                <a:cs typeface="Calibri" pitchFamily="34" charset="-120"/>
              </a:rPr>
              <a:t>Dividing by n − 1 lands on it.</a:t>
            </a:r>
            <a:endParaRPr lang="en-US" sz="1300" dirty="0"/>
          </a:p>
        </p:txBody>
      </p:sp>
      <p:sp>
        <p:nvSpPr>
          <p:cNvPr id="10" name="Shape 8"/>
          <p:cNvSpPr/>
          <p:nvPr/>
        </p:nvSpPr>
        <p:spPr>
          <a:xfrm>
            <a:off x="7223760" y="1572768"/>
            <a:ext cx="4389120" cy="3063240"/>
          </a:xfrm>
          <a:prstGeom prst="roundRect">
            <a:avLst>
              <a:gd name="adj" fmla="val 2687"/>
            </a:avLst>
          </a:prstGeom>
          <a:solidFill>
            <a:srgbClr val="FFF6E0"/>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11" name="Text 9"/>
          <p:cNvSpPr txBox="1"/>
          <p:nvPr/>
        </p:nvSpPr>
        <p:spPr>
          <a:xfrm>
            <a:off x="7479792" y="1719072"/>
            <a:ext cx="3931920" cy="301752"/>
          </a:xfrm>
          <a:prstGeom prst="rect">
            <a:avLst/>
          </a:prstGeom>
          <a:noFill/>
          <a:ln/>
        </p:spPr>
        <p:txBody>
          <a:bodyPr wrap="square" lIns="0" tIns="0" rIns="0" bIns="0" rtlCol="0" anchor="ctr"/>
          <a:lstStyle/>
          <a:p>
            <a:pPr indent="0" marL="0">
              <a:buNone/>
            </a:pPr>
            <a:r>
              <a:rPr lang="en-US" sz="1400" b="1" dirty="0">
                <a:solidFill>
                  <a:srgbClr val="8A5B00"/>
                </a:solidFill>
                <a:latin typeface="Calibri" pitchFamily="34" charset="0"/>
                <a:ea typeface="Calibri" pitchFamily="34" charset="-122"/>
                <a:cs typeface="Calibri" pitchFamily="34" charset="-120"/>
              </a:rPr>
              <a:t>And the shortfall is not arbitrary</a:t>
            </a:r>
            <a:endParaRPr lang="en-US" sz="1400" dirty="0"/>
          </a:p>
        </p:txBody>
      </p:sp>
      <p:sp>
        <p:nvSpPr>
          <p:cNvPr id="12" name="Text 10"/>
          <p:cNvSpPr txBox="1"/>
          <p:nvPr/>
        </p:nvSpPr>
        <p:spPr>
          <a:xfrm>
            <a:off x="7479792" y="2066544"/>
            <a:ext cx="3931920" cy="256032"/>
          </a:xfrm>
          <a:prstGeom prst="rect">
            <a:avLst/>
          </a:prstGeom>
          <a:noFill/>
          <a:ln/>
        </p:spPr>
        <p:txBody>
          <a:bodyPr wrap="square" lIns="0" tIns="0" rIns="0" bIns="0" rtlCol="0" anchor="ctr"/>
          <a:lstStyle/>
          <a:p>
            <a:pPr indent="0" marL="0">
              <a:buNone/>
            </a:pPr>
            <a:r>
              <a:rPr lang="en-US" sz="1150" dirty="0">
                <a:solidFill>
                  <a:srgbClr val="6B4A0B"/>
                </a:solidFill>
                <a:latin typeface="Calibri" pitchFamily="34" charset="0"/>
                <a:ea typeface="Calibri" pitchFamily="34" charset="-122"/>
                <a:cs typeface="Calibri" pitchFamily="34" charset="-120"/>
              </a:rPr>
              <a:t>It tracks (n−1)/n at EVERY sample size:</a:t>
            </a:r>
            <a:endParaRPr lang="en-US" sz="115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7479792" y="2359152"/>
          <a:ext cx="3931920" cy="914400"/>
        </p:xfrm>
        <a:graphic>
          <a:graphicData uri="http://schemas.openxmlformats.org/drawingml/2006/table">
            <a:tbl>
              <a:tblPr/>
              <a:tblGrid>
                <a:gridCol w="777240"/>
                <a:gridCol w="1600200"/>
                <a:gridCol w="1554480"/>
              </a:tblGrid>
              <a:tr h="256032">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n</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solidFill>
                      <a:srgbClr val="1F3A5F"/>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observed</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solidFill>
                      <a:srgbClr val="1F3A5F"/>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(n−1)/n</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solidFill>
                      <a:srgbClr val="1F3A5F"/>
                    </a:solidFill>
                  </a:tcPr>
                </a:tc>
              </a:tr>
              <a:tr h="256032">
                <a:tc>
                  <a:txBody>
                    <a:bodyPr/>
                    <a:lstStyle/>
                    <a:p>
                      <a:pPr indent="0" marL="0">
                        <a:buNone/>
                      </a:pPr>
                      <a:r>
                        <a:rPr lang="en-US" sz="1000" dirty="0">
                          <a:solidFill>
                            <a:srgbClr val="2B3445"/>
                          </a:solidFill>
                          <a:latin typeface="Calibri" pitchFamily="34" charset="0"/>
                          <a:ea typeface="Calibri" pitchFamily="34" charset="-122"/>
                          <a:cs typeface="Calibri" pitchFamily="34" charset="-120"/>
                        </a:rPr>
                        <a:t>3</a:t>
                      </a:r>
                      <a:endParaRPr lang="en-US" sz="10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000" dirty="0">
                          <a:solidFill>
                            <a:srgbClr val="2B3445"/>
                          </a:solidFill>
                          <a:latin typeface="Calibri" pitchFamily="34" charset="0"/>
                          <a:ea typeface="Calibri" pitchFamily="34" charset="-122"/>
                          <a:cs typeface="Calibri" pitchFamily="34" charset="-120"/>
                        </a:rPr>
                        <a:t>0.666</a:t>
                      </a:r>
                      <a:endParaRPr lang="en-US" sz="10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000" dirty="0">
                          <a:solidFill>
                            <a:srgbClr val="2B3445"/>
                          </a:solidFill>
                          <a:latin typeface="Calibri" pitchFamily="34" charset="0"/>
                          <a:ea typeface="Calibri" pitchFamily="34" charset="-122"/>
                          <a:cs typeface="Calibri" pitchFamily="34" charset="-120"/>
                        </a:rPr>
                        <a:t>0.667</a:t>
                      </a:r>
                      <a:endParaRPr lang="en-US" sz="10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r>
              <a:tr h="256032">
                <a:tc>
                  <a:txBody>
                    <a:bodyPr/>
                    <a:lstStyle/>
                    <a:p>
                      <a:pPr indent="0" marL="0">
                        <a:buNone/>
                      </a:pPr>
                      <a:r>
                        <a:rPr lang="en-US" sz="1000" dirty="0">
                          <a:solidFill>
                            <a:srgbClr val="2B3445"/>
                          </a:solidFill>
                          <a:latin typeface="Calibri" pitchFamily="34" charset="0"/>
                          <a:ea typeface="Calibri" pitchFamily="34" charset="-122"/>
                          <a:cs typeface="Calibri" pitchFamily="34" charset="-120"/>
                        </a:rPr>
                        <a:t>5</a:t>
                      </a:r>
                      <a:endParaRPr lang="en-US" sz="10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000" dirty="0">
                          <a:solidFill>
                            <a:srgbClr val="2B3445"/>
                          </a:solidFill>
                          <a:latin typeface="Calibri" pitchFamily="34" charset="0"/>
                          <a:ea typeface="Calibri" pitchFamily="34" charset="-122"/>
                          <a:cs typeface="Calibri" pitchFamily="34" charset="-120"/>
                        </a:rPr>
                        <a:t>0.800</a:t>
                      </a:r>
                      <a:endParaRPr lang="en-US" sz="10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000" dirty="0">
                          <a:solidFill>
                            <a:srgbClr val="2B3445"/>
                          </a:solidFill>
                          <a:latin typeface="Calibri" pitchFamily="34" charset="0"/>
                          <a:ea typeface="Calibri" pitchFamily="34" charset="-122"/>
                          <a:cs typeface="Calibri" pitchFamily="34" charset="-120"/>
                        </a:rPr>
                        <a:t>0.800</a:t>
                      </a:r>
                      <a:endParaRPr lang="en-US" sz="10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r>
              <a:tr h="256032">
                <a:tc>
                  <a:txBody>
                    <a:bodyPr/>
                    <a:lstStyle/>
                    <a:p>
                      <a:pPr indent="0" marL="0">
                        <a:buNone/>
                      </a:pPr>
                      <a:r>
                        <a:rPr lang="en-US" sz="1000" dirty="0">
                          <a:solidFill>
                            <a:srgbClr val="2B3445"/>
                          </a:solidFill>
                          <a:latin typeface="Calibri" pitchFamily="34" charset="0"/>
                          <a:ea typeface="Calibri" pitchFamily="34" charset="-122"/>
                          <a:cs typeface="Calibri" pitchFamily="34" charset="-120"/>
                        </a:rPr>
                        <a:t>10</a:t>
                      </a:r>
                      <a:endParaRPr lang="en-US" sz="10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000" dirty="0">
                          <a:solidFill>
                            <a:srgbClr val="2B3445"/>
                          </a:solidFill>
                          <a:latin typeface="Calibri" pitchFamily="34" charset="0"/>
                          <a:ea typeface="Calibri" pitchFamily="34" charset="-122"/>
                          <a:cs typeface="Calibri" pitchFamily="34" charset="-120"/>
                        </a:rPr>
                        <a:t>0.899</a:t>
                      </a:r>
                      <a:endParaRPr lang="en-US" sz="10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000" dirty="0">
                          <a:solidFill>
                            <a:srgbClr val="2B3445"/>
                          </a:solidFill>
                          <a:latin typeface="Calibri" pitchFamily="34" charset="0"/>
                          <a:ea typeface="Calibri" pitchFamily="34" charset="-122"/>
                          <a:cs typeface="Calibri" pitchFamily="34" charset="-120"/>
                        </a:rPr>
                        <a:t>0.900</a:t>
                      </a:r>
                      <a:endParaRPr lang="en-US" sz="10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r>
              <a:tr h="256032">
                <a:tc>
                  <a:txBody>
                    <a:bodyPr/>
                    <a:lstStyle/>
                    <a:p>
                      <a:pPr indent="0" marL="0">
                        <a:buNone/>
                      </a:pPr>
                      <a:r>
                        <a:rPr lang="en-US" sz="1000" dirty="0">
                          <a:solidFill>
                            <a:srgbClr val="2B3445"/>
                          </a:solidFill>
                          <a:latin typeface="Calibri" pitchFamily="34" charset="0"/>
                          <a:ea typeface="Calibri" pitchFamily="34" charset="-122"/>
                          <a:cs typeface="Calibri" pitchFamily="34" charset="-120"/>
                        </a:rPr>
                        <a:t>50</a:t>
                      </a:r>
                      <a:endParaRPr lang="en-US" sz="10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000" dirty="0">
                          <a:solidFill>
                            <a:srgbClr val="2B3445"/>
                          </a:solidFill>
                          <a:latin typeface="Calibri" pitchFamily="34" charset="0"/>
                          <a:ea typeface="Calibri" pitchFamily="34" charset="-122"/>
                          <a:cs typeface="Calibri" pitchFamily="34" charset="-120"/>
                        </a:rPr>
                        <a:t>0.980</a:t>
                      </a:r>
                      <a:endParaRPr lang="en-US" sz="10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000" dirty="0">
                          <a:solidFill>
                            <a:srgbClr val="2B3445"/>
                          </a:solidFill>
                          <a:latin typeface="Calibri" pitchFamily="34" charset="0"/>
                          <a:ea typeface="Calibri" pitchFamily="34" charset="-122"/>
                          <a:cs typeface="Calibri" pitchFamily="34" charset="-120"/>
                        </a:rPr>
                        <a:t>0.980</a:t>
                      </a:r>
                      <a:endParaRPr lang="en-US" sz="10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r>
              <a:tr h="256032">
                <a:tc>
                  <a:txBody>
                    <a:bodyPr/>
                    <a:lstStyle/>
                    <a:p>
                      <a:pPr indent="0" marL="0">
                        <a:buNone/>
                      </a:pPr>
                      <a:r>
                        <a:rPr lang="en-US" sz="1000" dirty="0">
                          <a:solidFill>
                            <a:srgbClr val="2B3445"/>
                          </a:solidFill>
                          <a:latin typeface="Calibri" pitchFamily="34" charset="0"/>
                          <a:ea typeface="Calibri" pitchFamily="34" charset="-122"/>
                          <a:cs typeface="Calibri" pitchFamily="34" charset="-120"/>
                        </a:rPr>
                        <a:t>200</a:t>
                      </a:r>
                      <a:endParaRPr lang="en-US" sz="10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000" dirty="0">
                          <a:solidFill>
                            <a:srgbClr val="2B3445"/>
                          </a:solidFill>
                          <a:latin typeface="Calibri" pitchFamily="34" charset="0"/>
                          <a:ea typeface="Calibri" pitchFamily="34" charset="-122"/>
                          <a:cs typeface="Calibri" pitchFamily="34" charset="-120"/>
                        </a:rPr>
                        <a:t>0.995</a:t>
                      </a:r>
                      <a:endParaRPr lang="en-US" sz="10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000" dirty="0">
                          <a:solidFill>
                            <a:srgbClr val="2B3445"/>
                          </a:solidFill>
                          <a:latin typeface="Calibri" pitchFamily="34" charset="0"/>
                          <a:ea typeface="Calibri" pitchFamily="34" charset="-122"/>
                          <a:cs typeface="Calibri" pitchFamily="34" charset="-120"/>
                        </a:rPr>
                        <a:t>0.995</a:t>
                      </a:r>
                      <a:endParaRPr lang="en-US" sz="10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r>
            </a:tbl>
          </a:graphicData>
        </a:graphic>
      </p:graphicFrame>
      <p:sp>
        <p:nvSpPr>
          <p:cNvPr id="14" name="Text 11"/>
          <p:cNvSpPr txBox="1"/>
          <p:nvPr/>
        </p:nvSpPr>
        <p:spPr>
          <a:xfrm>
            <a:off x="7479792" y="3950208"/>
            <a:ext cx="3931920" cy="566928"/>
          </a:xfrm>
          <a:prstGeom prst="rect">
            <a:avLst/>
          </a:prstGeom>
          <a:noFill/>
          <a:ln/>
        </p:spPr>
        <p:txBody>
          <a:bodyPr wrap="square" lIns="0" tIns="0" rIns="0" bIns="0" rtlCol="0" anchor="ctr"/>
          <a:lstStyle/>
          <a:p>
            <a:pPr indent="0" marL="0">
              <a:lnSpc>
                <a:spcPct val="112000"/>
              </a:lnSpc>
              <a:buNone/>
            </a:pPr>
            <a:r>
              <a:rPr lang="en-US" sz="1150" dirty="0">
                <a:solidFill>
                  <a:srgbClr val="6B4A0B"/>
                </a:solidFill>
                <a:latin typeface="Calibri" pitchFamily="34" charset="0"/>
                <a:ea typeface="Calibri" pitchFamily="34" charset="-122"/>
                <a:cs typeface="Calibri" pitchFamily="34" charset="-120"/>
              </a:rPr>
              <a:t>The bias IS the factor you correct by — and it fades as n grows, which is why nobody notices it on large samples.</a:t>
            </a:r>
            <a:endParaRPr lang="en-US" sz="1150" dirty="0"/>
          </a:p>
        </p:txBody>
      </p:sp>
      <p:sp>
        <p:nvSpPr>
          <p:cNvPr id="15" name="Shape 12"/>
          <p:cNvSpPr/>
          <p:nvPr/>
        </p:nvSpPr>
        <p:spPr>
          <a:xfrm>
            <a:off x="548640" y="4754880"/>
            <a:ext cx="11064240" cy="1097280"/>
          </a:xfrm>
          <a:prstGeom prst="roundRect">
            <a:avLst>
              <a:gd name="adj" fmla="val 7500"/>
            </a:avLst>
          </a:prstGeom>
          <a:solidFill>
            <a:srgbClr val="E9F6F2"/>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16" name="Text 13"/>
          <p:cNvSpPr txBox="1"/>
          <p:nvPr/>
        </p:nvSpPr>
        <p:spPr>
          <a:xfrm>
            <a:off x="868680" y="4882896"/>
            <a:ext cx="7315200" cy="274320"/>
          </a:xfrm>
          <a:prstGeom prst="rect">
            <a:avLst/>
          </a:prstGeom>
          <a:noFill/>
          <a:ln/>
        </p:spPr>
        <p:txBody>
          <a:bodyPr wrap="square" lIns="0" tIns="0" rIns="0" bIns="0" rtlCol="0" anchor="ctr"/>
          <a:lstStyle/>
          <a:p>
            <a:pPr indent="0" marL="0">
              <a:buNone/>
            </a:pPr>
            <a:r>
              <a:rPr lang="en-US" sz="1450" b="1" dirty="0">
                <a:solidFill>
                  <a:srgbClr val="1C6F5C"/>
                </a:solidFill>
                <a:latin typeface="Calibri" pitchFamily="34" charset="0"/>
                <a:ea typeface="Calibri" pitchFamily="34" charset="-122"/>
                <a:cs typeface="Calibri" pitchFamily="34" charset="-120"/>
              </a:rPr>
              <a:t>The intuition in one sentence</a:t>
            </a:r>
            <a:endParaRPr lang="en-US" sz="1450" dirty="0"/>
          </a:p>
        </p:txBody>
      </p:sp>
      <p:sp>
        <p:nvSpPr>
          <p:cNvPr id="17" name="Text 14"/>
          <p:cNvSpPr txBox="1"/>
          <p:nvPr/>
        </p:nvSpPr>
        <p:spPr>
          <a:xfrm>
            <a:off x="868680" y="5175504"/>
            <a:ext cx="10424160" cy="658368"/>
          </a:xfrm>
          <a:prstGeom prst="rect">
            <a:avLst/>
          </a:prstGeom>
          <a:noFill/>
          <a:ln/>
        </p:spPr>
        <p:txBody>
          <a:bodyPr wrap="square" lIns="0" tIns="0" rIns="0" bIns="0" rtlCol="0" anchor="ctr"/>
          <a:lstStyle/>
          <a:p>
            <a:pPr indent="0" marL="0">
              <a:lnSpc>
                <a:spcPct val="112000"/>
              </a:lnSpc>
              <a:buNone/>
            </a:pPr>
            <a:r>
              <a:rPr lang="en-US" sz="1200" dirty="0">
                <a:solidFill>
                  <a:srgbClr val="6B4A0B"/>
                </a:solidFill>
                <a:latin typeface="Calibri" pitchFamily="34" charset="0"/>
                <a:ea typeface="Calibri" pitchFamily="34" charset="-122"/>
                <a:cs typeface="Calibri" pitchFamily="34" charset="-120"/>
              </a:rPr>
              <a:t>You measured each value's distance from the SAMPLE mean — but that mean was calculated from those same values, so it sits closer to them than the true population mean does. Your distances are therefore too small, always. Dividing by the smaller number n − 1 inflates the answer by exactly the right amount.</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6FA"/>
        </a:solidFill>
      </p:bgPr>
    </p:bg>
    <p:spTree>
      <p:nvGrpSpPr>
        <p:cNvPr id="1" name=""/>
        <p:cNvGrpSpPr/>
        <p:nvPr/>
      </p:nvGrpSpPr>
      <p:grpSpPr>
        <a:xfrm>
          <a:off x="0" y="0"/>
          <a:ext cx="0" cy="0"/>
          <a:chOff x="0" y="0"/>
          <a:chExt cx="0" cy="0"/>
        </a:xfrm>
      </p:grpSpPr>
      <p:sp>
        <p:nvSpPr>
          <p:cNvPr id="2" name="Text 0"/>
          <p:cNvSpPr txBox="1"/>
          <p:nvPr/>
        </p:nvSpPr>
        <p:spPr>
          <a:xfrm>
            <a:off x="8138160" y="6437376"/>
            <a:ext cx="3474720" cy="256032"/>
          </a:xfrm>
          <a:prstGeom prst="rect">
            <a:avLst/>
          </a:prstGeom>
          <a:noFill/>
          <a:ln/>
        </p:spPr>
        <p:txBody>
          <a:bodyPr wrap="square" lIns="0" tIns="0" rIns="0" bIns="0" rtlCol="0" anchor="ctr"/>
          <a:lstStyle/>
          <a:p>
            <a:pPr algn="r" indent="0" marL="0">
              <a:buNone/>
            </a:pPr>
            <a:r>
              <a:rPr lang="en-US" sz="900" dirty="0">
                <a:solidFill>
                  <a:srgbClr val="9DAABE"/>
                </a:solidFill>
                <a:latin typeface="Calibri" pitchFamily="34" charset="0"/>
                <a:ea typeface="Calibri" pitchFamily="34" charset="-122"/>
                <a:cs typeface="Calibri" pitchFamily="34" charset="-120"/>
              </a:rPr>
              <a:t>Slides by Srinivasa Sai Chava</a:t>
            </a:r>
            <a:endParaRPr lang="en-US" sz="900" dirty="0"/>
          </a:p>
        </p:txBody>
      </p:sp>
      <p:sp>
        <p:nvSpPr>
          <p:cNvPr id="3" name="Text 1"/>
          <p:cNvSpPr txBox="1"/>
          <p:nvPr/>
        </p:nvSpPr>
        <p:spPr>
          <a:xfrm>
            <a:off x="548640" y="292608"/>
            <a:ext cx="10515600" cy="274320"/>
          </a:xfrm>
          <a:prstGeom prst="rect">
            <a:avLst/>
          </a:prstGeom>
          <a:noFill/>
          <a:ln/>
        </p:spPr>
        <p:txBody>
          <a:bodyPr wrap="square" lIns="0" tIns="0" rIns="0" bIns="0" rtlCol="0" anchor="ctr"/>
          <a:lstStyle/>
          <a:p>
            <a:pPr indent="0" marL="0">
              <a:buNone/>
            </a:pPr>
            <a:r>
              <a:rPr lang="en-US" sz="1200" b="1" spc="200" kern="0" dirty="0">
                <a:solidFill>
                  <a:srgbClr val="3E7CB1"/>
                </a:solidFill>
                <a:latin typeface="Calibri" pitchFamily="34" charset="0"/>
                <a:ea typeface="Calibri" pitchFamily="34" charset="-122"/>
                <a:cs typeface="Calibri" pitchFamily="34" charset="-120"/>
              </a:rPr>
              <a:t>2.3  ·  WHICH DDOF</a:t>
            </a:r>
            <a:endParaRPr lang="en-US" sz="1200" dirty="0"/>
          </a:p>
        </p:txBody>
      </p:sp>
      <p:sp>
        <p:nvSpPr>
          <p:cNvPr id="4" name="Text 2"/>
          <p:cNvSpPr txBox="1"/>
          <p:nvPr/>
        </p:nvSpPr>
        <p:spPr>
          <a:xfrm>
            <a:off x="548640" y="566928"/>
            <a:ext cx="11064240" cy="685800"/>
          </a:xfrm>
          <a:prstGeom prst="rect">
            <a:avLst/>
          </a:prstGeom>
          <a:noFill/>
          <a:ln/>
        </p:spPr>
        <p:txBody>
          <a:bodyPr wrap="square" lIns="0" tIns="0" rIns="0" bIns="0" rtlCol="0" anchor="ctr"/>
          <a:lstStyle/>
          <a:p>
            <a:pPr indent="0" marL="0">
              <a:buNone/>
            </a:pPr>
            <a:r>
              <a:rPr lang="en-US" sz="3200" b="1" dirty="0">
                <a:solidFill>
                  <a:srgbClr val="1F3A5F"/>
                </a:solidFill>
                <a:latin typeface="Cambria" pitchFamily="34" charset="0"/>
                <a:ea typeface="Cambria" pitchFamily="34" charset="-122"/>
                <a:cs typeface="Cambria" pitchFamily="34" charset="-120"/>
              </a:rPr>
              <a:t>Population or sample? The question behind the flag</a:t>
            </a:r>
            <a:endParaRPr lang="en-US" sz="3200" dirty="0"/>
          </a:p>
        </p:txBody>
      </p:sp>
      <p:sp>
        <p:nvSpPr>
          <p:cNvPr id="5" name="Shape 3"/>
          <p:cNvSpPr/>
          <p:nvPr/>
        </p:nvSpPr>
        <p:spPr>
          <a:xfrm>
            <a:off x="548640" y="1572768"/>
            <a:ext cx="5486400" cy="2560320"/>
          </a:xfrm>
          <a:prstGeom prst="roundRect">
            <a:avLst>
              <a:gd name="adj" fmla="val 3214"/>
            </a:avLst>
          </a:prstGeom>
          <a:solidFill>
            <a:srgbClr val="E9F6F2"/>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6" name="Text 4"/>
          <p:cNvSpPr txBox="1"/>
          <p:nvPr/>
        </p:nvSpPr>
        <p:spPr>
          <a:xfrm>
            <a:off x="804672" y="1719072"/>
            <a:ext cx="4937760" cy="301752"/>
          </a:xfrm>
          <a:prstGeom prst="rect">
            <a:avLst/>
          </a:prstGeom>
          <a:noFill/>
          <a:ln/>
        </p:spPr>
        <p:txBody>
          <a:bodyPr wrap="square" lIns="0" tIns="0" rIns="0" bIns="0" rtlCol="0" anchor="ctr"/>
          <a:lstStyle/>
          <a:p>
            <a:pPr indent="0" marL="0">
              <a:buNone/>
            </a:pPr>
            <a:r>
              <a:rPr lang="en-US" sz="1500" b="1" dirty="0">
                <a:solidFill>
                  <a:srgbClr val="1C6F5C"/>
                </a:solidFill>
                <a:latin typeface="Calibri" pitchFamily="34" charset="0"/>
                <a:ea typeface="Calibri" pitchFamily="34" charset="-122"/>
                <a:cs typeface="Calibri" pitchFamily="34" charset="-120"/>
              </a:rPr>
              <a:t>ddof=0  —  population</a:t>
            </a:r>
            <a:endParaRPr lang="en-US" sz="1500" dirty="0"/>
          </a:p>
        </p:txBody>
      </p:sp>
      <p:sp>
        <p:nvSpPr>
          <p:cNvPr id="7" name="Text 5"/>
          <p:cNvSpPr txBox="1"/>
          <p:nvPr/>
        </p:nvSpPr>
        <p:spPr>
          <a:xfrm>
            <a:off x="804672" y="2103120"/>
            <a:ext cx="4983480" cy="1874520"/>
          </a:xfrm>
          <a:prstGeom prst="rect">
            <a:avLst/>
          </a:prstGeom>
          <a:noFill/>
          <a:ln/>
        </p:spPr>
        <p:txBody>
          <a:bodyPr wrap="square" lIns="0" tIns="0" rIns="0" bIns="0" rtlCol="0" anchor="ctr"/>
          <a:lstStyle/>
          <a:p>
            <a:pPr indent="0" marL="0">
              <a:lnSpc>
                <a:spcPct val="125000"/>
              </a:lnSpc>
              <a:buNone/>
            </a:pPr>
            <a:r>
              <a:rPr lang="en-US" sz="1250" dirty="0">
                <a:solidFill>
                  <a:srgbClr val="2B3445"/>
                </a:solidFill>
                <a:latin typeface="Calibri" pitchFamily="34" charset="0"/>
                <a:ea typeface="Calibri" pitchFamily="34" charset="-122"/>
                <a:cs typeface="Calibri" pitchFamily="34" charset="-120"/>
              </a:rPr>
              <a:t>Use when your data IS everything you care about:</a:t>
            </a:r>
            <a:endParaRPr lang="en-US" sz="1250" dirty="0"/>
          </a:p>
          <a:p>
            <a:pPr indent="0" marL="0">
              <a:lnSpc>
                <a:spcPct val="125000"/>
              </a:lnSpc>
              <a:buNone/>
            </a:pPr>
            <a:endParaRPr lang="en-US" sz="1250" dirty="0"/>
          </a:p>
          <a:p>
            <a:pPr indent="0" marL="0">
              <a:lnSpc>
                <a:spcPct val="125000"/>
              </a:lnSpc>
              <a:buNone/>
            </a:pPr>
            <a:r>
              <a:rPr lang="en-US" sz="1250" dirty="0">
                <a:solidFill>
                  <a:srgbClr val="2B3445"/>
                </a:solidFill>
                <a:latin typeface="Calibri" pitchFamily="34" charset="0"/>
                <a:ea typeface="Calibri" pitchFamily="34" charset="-122"/>
                <a:cs typeface="Calibri" pitchFamily="34" charset="-120"/>
              </a:rPr>
              <a:t>·  the marks of all 60 students in this class</a:t>
            </a:r>
            <a:endParaRPr lang="en-US" sz="1250" dirty="0"/>
          </a:p>
          <a:p>
            <a:pPr indent="0" marL="0">
              <a:lnSpc>
                <a:spcPct val="125000"/>
              </a:lnSpc>
              <a:buNone/>
            </a:pPr>
            <a:r>
              <a:rPr lang="en-US" sz="1250" dirty="0">
                <a:solidFill>
                  <a:srgbClr val="2B3445"/>
                </a:solidFill>
                <a:latin typeface="Calibri" pitchFamily="34" charset="0"/>
                <a:ea typeface="Calibri" pitchFamily="34" charset="-122"/>
                <a:cs typeface="Calibri" pitchFamily="34" charset="-120"/>
              </a:rPr>
              <a:t>·  every order the shop took in 2025</a:t>
            </a:r>
            <a:endParaRPr lang="en-US" sz="1250" dirty="0"/>
          </a:p>
          <a:p>
            <a:pPr indent="0" marL="0">
              <a:lnSpc>
                <a:spcPct val="125000"/>
              </a:lnSpc>
              <a:buNone/>
            </a:pPr>
            <a:r>
              <a:rPr lang="en-US" sz="1250" dirty="0">
                <a:solidFill>
                  <a:srgbClr val="2B3445"/>
                </a:solidFill>
                <a:latin typeface="Calibri" pitchFamily="34" charset="0"/>
                <a:ea typeface="Calibri" pitchFamily="34" charset="-122"/>
                <a:cs typeface="Calibri" pitchFamily="34" charset="-120"/>
              </a:rPr>
              <a:t>·  all 50 states</a:t>
            </a:r>
            <a:endParaRPr lang="en-US" sz="1250" dirty="0"/>
          </a:p>
          <a:p>
            <a:pPr indent="0" marL="0">
              <a:lnSpc>
                <a:spcPct val="125000"/>
              </a:lnSpc>
              <a:buNone/>
            </a:pPr>
            <a:endParaRPr lang="en-US" sz="1250" dirty="0"/>
          </a:p>
          <a:p>
            <a:pPr indent="0" marL="0">
              <a:lnSpc>
                <a:spcPct val="125000"/>
              </a:lnSpc>
              <a:buNone/>
            </a:pPr>
            <a:r>
              <a:rPr lang="en-US" sz="1250" dirty="0">
                <a:solidFill>
                  <a:srgbClr val="2B3445"/>
                </a:solidFill>
                <a:latin typeface="Calibri" pitchFamily="34" charset="0"/>
                <a:ea typeface="Calibri" pitchFamily="34" charset="-122"/>
                <a:cs typeface="Calibri" pitchFamily="34" charset="-120"/>
              </a:rPr>
              <a:t>You are describing, not inferring. Nothing is unseen.</a:t>
            </a:r>
            <a:endParaRPr lang="en-US" sz="1250" dirty="0"/>
          </a:p>
        </p:txBody>
      </p:sp>
      <p:sp>
        <p:nvSpPr>
          <p:cNvPr id="8" name="Shape 6"/>
          <p:cNvSpPr/>
          <p:nvPr/>
        </p:nvSpPr>
        <p:spPr>
          <a:xfrm>
            <a:off x="6309360" y="1572768"/>
            <a:ext cx="5303520" cy="2560320"/>
          </a:xfrm>
          <a:prstGeom prst="roundRect">
            <a:avLst>
              <a:gd name="adj" fmla="val 3214"/>
            </a:avLst>
          </a:prstGeom>
          <a:solidFill>
            <a:srgbClr val="FFF6E0"/>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9" name="Text 7"/>
          <p:cNvSpPr txBox="1"/>
          <p:nvPr/>
        </p:nvSpPr>
        <p:spPr>
          <a:xfrm>
            <a:off x="6565392" y="1719072"/>
            <a:ext cx="4754880" cy="301752"/>
          </a:xfrm>
          <a:prstGeom prst="rect">
            <a:avLst/>
          </a:prstGeom>
          <a:noFill/>
          <a:ln/>
        </p:spPr>
        <p:txBody>
          <a:bodyPr wrap="square" lIns="0" tIns="0" rIns="0" bIns="0" rtlCol="0" anchor="ctr"/>
          <a:lstStyle/>
          <a:p>
            <a:pPr indent="0" marL="0">
              <a:buNone/>
            </a:pPr>
            <a:r>
              <a:rPr lang="en-US" sz="1500" b="1" dirty="0">
                <a:solidFill>
                  <a:srgbClr val="8A5B00"/>
                </a:solidFill>
                <a:latin typeface="Calibri" pitchFamily="34" charset="0"/>
                <a:ea typeface="Calibri" pitchFamily="34" charset="-122"/>
                <a:cs typeface="Calibri" pitchFamily="34" charset="-120"/>
              </a:rPr>
              <a:t>ddof=1  —  sample</a:t>
            </a:r>
            <a:endParaRPr lang="en-US" sz="1500" dirty="0"/>
          </a:p>
        </p:txBody>
      </p:sp>
      <p:sp>
        <p:nvSpPr>
          <p:cNvPr id="10" name="Text 8"/>
          <p:cNvSpPr txBox="1"/>
          <p:nvPr/>
        </p:nvSpPr>
        <p:spPr>
          <a:xfrm>
            <a:off x="6565392" y="2103120"/>
            <a:ext cx="4800600" cy="1874520"/>
          </a:xfrm>
          <a:prstGeom prst="rect">
            <a:avLst/>
          </a:prstGeom>
          <a:noFill/>
          <a:ln/>
        </p:spPr>
        <p:txBody>
          <a:bodyPr wrap="square" lIns="0" tIns="0" rIns="0" bIns="0" rtlCol="0" anchor="ctr"/>
          <a:lstStyle/>
          <a:p>
            <a:pPr indent="0" marL="0">
              <a:lnSpc>
                <a:spcPct val="125000"/>
              </a:lnSpc>
              <a:buNone/>
            </a:pPr>
            <a:r>
              <a:rPr lang="en-US" sz="1250" dirty="0">
                <a:solidFill>
                  <a:srgbClr val="6B4A0B"/>
                </a:solidFill>
                <a:latin typeface="Calibri" pitchFamily="34" charset="0"/>
                <a:ea typeface="Calibri" pitchFamily="34" charset="-122"/>
                <a:cs typeface="Calibri" pitchFamily="34" charset="-120"/>
              </a:rPr>
              <a:t>Use when your data stands in for something bigger:</a:t>
            </a:r>
            <a:endParaRPr lang="en-US" sz="1250" dirty="0"/>
          </a:p>
          <a:p>
            <a:pPr indent="0" marL="0">
              <a:lnSpc>
                <a:spcPct val="125000"/>
              </a:lnSpc>
              <a:buNone/>
            </a:pPr>
            <a:endParaRPr lang="en-US" sz="1250" dirty="0"/>
          </a:p>
          <a:p>
            <a:pPr indent="0" marL="0">
              <a:lnSpc>
                <a:spcPct val="125000"/>
              </a:lnSpc>
              <a:buNone/>
            </a:pPr>
            <a:r>
              <a:rPr lang="en-US" sz="1250" dirty="0">
                <a:solidFill>
                  <a:srgbClr val="6B4A0B"/>
                </a:solidFill>
                <a:latin typeface="Calibri" pitchFamily="34" charset="0"/>
                <a:ea typeface="Calibri" pitchFamily="34" charset="-122"/>
                <a:cs typeface="Calibri" pitchFamily="34" charset="-120"/>
              </a:rPr>
              <a:t>·  200 customers, to describe all customers</a:t>
            </a:r>
            <a:endParaRPr lang="en-US" sz="1250" dirty="0"/>
          </a:p>
          <a:p>
            <a:pPr indent="0" marL="0">
              <a:lnSpc>
                <a:spcPct val="125000"/>
              </a:lnSpc>
              <a:buNone/>
            </a:pPr>
            <a:r>
              <a:rPr lang="en-US" sz="1250" dirty="0">
                <a:solidFill>
                  <a:srgbClr val="6B4A0B"/>
                </a:solidFill>
                <a:latin typeface="Calibri" pitchFamily="34" charset="0"/>
                <a:ea typeface="Calibri" pitchFamily="34" charset="-122"/>
                <a:cs typeface="Calibri" pitchFamily="34" charset="-120"/>
              </a:rPr>
              <a:t>·  a month of sensor readings, to describe the sensor</a:t>
            </a:r>
            <a:endParaRPr lang="en-US" sz="1250" dirty="0"/>
          </a:p>
          <a:p>
            <a:pPr indent="0" marL="0">
              <a:lnSpc>
                <a:spcPct val="125000"/>
              </a:lnSpc>
              <a:buNone/>
            </a:pPr>
            <a:r>
              <a:rPr lang="en-US" sz="1250" dirty="0">
                <a:solidFill>
                  <a:srgbClr val="6B4A0B"/>
                </a:solidFill>
                <a:latin typeface="Calibri" pitchFamily="34" charset="0"/>
                <a:ea typeface="Calibri" pitchFamily="34" charset="-122"/>
                <a:cs typeface="Calibri" pitchFamily="34" charset="-120"/>
              </a:rPr>
              <a:t>·  survey respondents, to describe the population</a:t>
            </a:r>
            <a:endParaRPr lang="en-US" sz="1250" dirty="0"/>
          </a:p>
          <a:p>
            <a:pPr indent="0" marL="0">
              <a:lnSpc>
                <a:spcPct val="125000"/>
              </a:lnSpc>
              <a:buNone/>
            </a:pPr>
            <a:endParaRPr lang="en-US" sz="1250" dirty="0"/>
          </a:p>
          <a:p>
            <a:pPr indent="0" marL="0">
              <a:lnSpc>
                <a:spcPct val="125000"/>
              </a:lnSpc>
              <a:buNone/>
            </a:pPr>
            <a:r>
              <a:rPr lang="en-US" sz="1250" dirty="0">
                <a:solidFill>
                  <a:srgbClr val="6B4A0B"/>
                </a:solidFill>
                <a:latin typeface="Calibri" pitchFamily="34" charset="0"/>
                <a:ea typeface="Calibri" pitchFamily="34" charset="-122"/>
                <a:cs typeface="Calibri" pitchFamily="34" charset="-120"/>
              </a:rPr>
              <a:t>This is almost always the case, which is why pandas made it the default.</a:t>
            </a:r>
            <a:endParaRPr lang="en-US" sz="1250" dirty="0"/>
          </a:p>
        </p:txBody>
      </p:sp>
      <p:sp>
        <p:nvSpPr>
          <p:cNvPr id="11" name="Shape 9"/>
          <p:cNvSpPr/>
          <p:nvPr/>
        </p:nvSpPr>
        <p:spPr>
          <a:xfrm>
            <a:off x="548640" y="4251960"/>
            <a:ext cx="11064240" cy="1600200"/>
          </a:xfrm>
          <a:prstGeom prst="roundRect">
            <a:avLst>
              <a:gd name="adj" fmla="val 5143"/>
            </a:avLst>
          </a:prstGeom>
          <a:solidFill>
            <a:srgbClr val="FDECE8"/>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12" name="Text 10"/>
          <p:cNvSpPr txBox="1"/>
          <p:nvPr/>
        </p:nvSpPr>
        <p:spPr>
          <a:xfrm>
            <a:off x="868680" y="4398264"/>
            <a:ext cx="7315200" cy="274320"/>
          </a:xfrm>
          <a:prstGeom prst="rect">
            <a:avLst/>
          </a:prstGeom>
          <a:noFill/>
          <a:ln/>
        </p:spPr>
        <p:txBody>
          <a:bodyPr wrap="square" lIns="0" tIns="0" rIns="0" bIns="0" rtlCol="0" anchor="ctr"/>
          <a:lstStyle/>
          <a:p>
            <a:pPr indent="0" marL="0">
              <a:buNone/>
            </a:pPr>
            <a:r>
              <a:rPr lang="en-US" sz="1450" b="1" dirty="0">
                <a:solidFill>
                  <a:srgbClr val="A63B24"/>
                </a:solidFill>
                <a:latin typeface="Calibri" pitchFamily="34" charset="0"/>
                <a:ea typeface="Calibri" pitchFamily="34" charset="-122"/>
                <a:cs typeface="Calibri" pitchFamily="34" charset="-120"/>
              </a:rPr>
              <a:t>⚠  And now the Day 14 warning makes sense</a:t>
            </a:r>
            <a:endParaRPr lang="en-US" sz="1450" dirty="0"/>
          </a:p>
        </p:txBody>
      </p:sp>
      <p:sp>
        <p:nvSpPr>
          <p:cNvPr id="13" name="Shape 11"/>
          <p:cNvSpPr/>
          <p:nvPr/>
        </p:nvSpPr>
        <p:spPr>
          <a:xfrm>
            <a:off x="868680" y="4709160"/>
            <a:ext cx="5212080" cy="777240"/>
          </a:xfrm>
          <a:prstGeom prst="roundRect">
            <a:avLst>
              <a:gd name="adj" fmla="val 8235"/>
            </a:avLst>
          </a:prstGeom>
          <a:solidFill>
            <a:srgbClr val="1B2B45"/>
          </a:solidFill>
          <a:ln w="12700">
            <a:solidFill>
              <a:srgbClr val="1B2B45"/>
            </a:solidFill>
            <a:prstDash val="solid"/>
          </a:ln>
        </p:spPr>
      </p:sp>
      <p:sp>
        <p:nvSpPr>
          <p:cNvPr id="14" name="Text 12"/>
          <p:cNvSpPr txBox="1"/>
          <p:nvPr/>
        </p:nvSpPr>
        <p:spPr>
          <a:xfrm>
            <a:off x="1033272" y="4818888"/>
            <a:ext cx="4882896" cy="557784"/>
          </a:xfrm>
          <a:prstGeom prst="rect">
            <a:avLst/>
          </a:prstGeom>
          <a:noFill/>
          <a:ln/>
        </p:spPr>
        <p:txBody>
          <a:bodyPr wrap="square" lIns="0" tIns="0" rIns="0" bIns="0" rtlCol="0" anchor="t"/>
          <a:lstStyle/>
          <a:p>
            <a:pPr indent="0" marL="0">
              <a:lnSpc>
                <a:spcPct val="112000"/>
              </a:lnSpc>
              <a:buNone/>
            </a:pPr>
            <a:r>
              <a:rPr lang="en-US" sz="1000" dirty="0">
                <a:solidFill>
                  <a:srgbClr val="E7EEF8"/>
                </a:solidFill>
                <a:latin typeface="Courier New" pitchFamily="34" charset="0"/>
                <a:ea typeface="Courier New" pitchFamily="34" charset="-122"/>
                <a:cs typeface="Courier New" pitchFamily="34" charset="-120"/>
              </a:rPr>
              <a:t>np.std(x)            ddof=0   population</a:t>
            </a:r>
            <a:endParaRPr lang="en-US" sz="1000" dirty="0"/>
          </a:p>
          <a:p>
            <a:pPr indent="0" marL="0">
              <a:lnSpc>
                <a:spcPct val="112000"/>
              </a:lnSpc>
              <a:buNone/>
            </a:pPr>
            <a:r>
              <a:rPr lang="en-US" sz="1000" dirty="0">
                <a:solidFill>
                  <a:srgbClr val="E7EEF8"/>
                </a:solidFill>
                <a:latin typeface="Courier New" pitchFamily="34" charset="0"/>
                <a:ea typeface="Courier New" pitchFamily="34" charset="-122"/>
                <a:cs typeface="Courier New" pitchFamily="34" charset="-120"/>
              </a:rPr>
              <a:t>pd.Series(x).std()   ddof=1   sample</a:t>
            </a:r>
            <a:endParaRPr lang="en-US" sz="1000" dirty="0"/>
          </a:p>
          <a:p>
            <a:pPr indent="0" marL="0">
              <a:lnSpc>
                <a:spcPct val="112000"/>
              </a:lnSpc>
              <a:buNone/>
            </a:pPr>
            <a:r>
              <a:rPr lang="en-US" sz="1000" dirty="0">
                <a:solidFill>
                  <a:srgbClr val="E7EEF8"/>
                </a:solidFill>
                <a:latin typeface="Courier New" pitchFamily="34" charset="0"/>
                <a:ea typeface="Courier New" pitchFamily="34" charset="-122"/>
                <a:cs typeface="Courier New" pitchFamily="34" charset="-120"/>
              </a:rPr>
              <a:t>#  same data, different answers</a:t>
            </a:r>
            <a:endParaRPr lang="en-US" sz="1000" dirty="0"/>
          </a:p>
        </p:txBody>
      </p:sp>
      <p:sp>
        <p:nvSpPr>
          <p:cNvPr id="15" name="Text 13"/>
          <p:cNvSpPr txBox="1"/>
          <p:nvPr/>
        </p:nvSpPr>
        <p:spPr>
          <a:xfrm>
            <a:off x="6400800" y="4690872"/>
            <a:ext cx="4983480" cy="1005840"/>
          </a:xfrm>
          <a:prstGeom prst="rect">
            <a:avLst/>
          </a:prstGeom>
          <a:noFill/>
          <a:ln/>
        </p:spPr>
        <p:txBody>
          <a:bodyPr wrap="square" lIns="0" tIns="0" rIns="0" bIns="0" rtlCol="0" anchor="ctr"/>
          <a:lstStyle/>
          <a:p>
            <a:pPr indent="0" marL="0">
              <a:lnSpc>
                <a:spcPct val="115000"/>
              </a:lnSpc>
              <a:buNone/>
            </a:pPr>
            <a:r>
              <a:rPr lang="en-US" sz="1200" dirty="0">
                <a:solidFill>
                  <a:srgbClr val="6B4A0B"/>
                </a:solidFill>
                <a:latin typeface="Calibri" pitchFamily="34" charset="0"/>
                <a:ea typeface="Calibri" pitchFamily="34" charset="-122"/>
                <a:cs typeface="Calibri" pitchFamily="34" charset="-120"/>
              </a:rPr>
              <a:t>The two libraries chose different defaults because they were built for different jobs: NumPy for numerical arrays of whatever you have, pandas for sampled tabular data. Neither is wrong. State ddof explicitly whenever the number will be reported to anyone.</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52238"/>
        </a:solidFill>
      </p:bgPr>
    </p:bg>
    <p:spTree>
      <p:nvGrpSpPr>
        <p:cNvPr id="1" name=""/>
        <p:cNvGrpSpPr/>
        <p:nvPr/>
      </p:nvGrpSpPr>
      <p:grpSpPr>
        <a:xfrm>
          <a:off x="0" y="0"/>
          <a:ext cx="0" cy="0"/>
          <a:chOff x="0" y="0"/>
          <a:chExt cx="0" cy="0"/>
        </a:xfrm>
      </p:grpSpPr>
      <p:sp>
        <p:nvSpPr>
          <p:cNvPr id="2" name="Text 0"/>
          <p:cNvSpPr txBox="1"/>
          <p:nvPr/>
        </p:nvSpPr>
        <p:spPr>
          <a:xfrm>
            <a:off x="8138160" y="6437376"/>
            <a:ext cx="3474720" cy="256032"/>
          </a:xfrm>
          <a:prstGeom prst="rect">
            <a:avLst/>
          </a:prstGeom>
          <a:noFill/>
          <a:ln/>
        </p:spPr>
        <p:txBody>
          <a:bodyPr wrap="square" lIns="0" tIns="0" rIns="0" bIns="0" rtlCol="0" anchor="ctr"/>
          <a:lstStyle/>
          <a:p>
            <a:pPr algn="r" indent="0" marL="0">
              <a:buNone/>
            </a:pPr>
            <a:r>
              <a:rPr lang="en-US" sz="900" dirty="0">
                <a:solidFill>
                  <a:srgbClr val="7E92B0"/>
                </a:solidFill>
                <a:latin typeface="Calibri" pitchFamily="34" charset="0"/>
                <a:ea typeface="Calibri" pitchFamily="34" charset="-122"/>
                <a:cs typeface="Calibri" pitchFamily="34" charset="-120"/>
              </a:rPr>
              <a:t>Slides by Srinivasa Sai Chava</a:t>
            </a:r>
            <a:endParaRPr lang="en-US" sz="900" dirty="0"/>
          </a:p>
        </p:txBody>
      </p:sp>
      <p:sp>
        <p:nvSpPr>
          <p:cNvPr id="3" name="Shape 1"/>
          <p:cNvSpPr/>
          <p:nvPr/>
        </p:nvSpPr>
        <p:spPr>
          <a:xfrm>
            <a:off x="822960" y="2057400"/>
            <a:ext cx="777240" cy="777240"/>
          </a:xfrm>
          <a:prstGeom prst="ellipse">
            <a:avLst/>
          </a:prstGeom>
          <a:solidFill>
            <a:srgbClr val="FFC145"/>
          </a:solidFill>
          <a:ln w="12700">
            <a:solidFill>
              <a:srgbClr val="FFC145"/>
            </a:solidFill>
            <a:prstDash val="solid"/>
          </a:ln>
        </p:spPr>
      </p:sp>
      <p:sp>
        <p:nvSpPr>
          <p:cNvPr id="4" name="Text 2"/>
          <p:cNvSpPr txBox="1"/>
          <p:nvPr/>
        </p:nvSpPr>
        <p:spPr>
          <a:xfrm>
            <a:off x="822960" y="2057400"/>
            <a:ext cx="777240" cy="777240"/>
          </a:xfrm>
          <a:prstGeom prst="rect">
            <a:avLst/>
          </a:prstGeom>
          <a:noFill/>
          <a:ln/>
        </p:spPr>
        <p:txBody>
          <a:bodyPr wrap="square" lIns="0" tIns="0" rIns="0" bIns="0" rtlCol="0" anchor="ctr"/>
          <a:lstStyle/>
          <a:p>
            <a:pPr algn="ctr" indent="0" marL="0">
              <a:buNone/>
            </a:pPr>
            <a:r>
              <a:rPr lang="en-US" sz="3000" b="1" dirty="0">
                <a:solidFill>
                  <a:srgbClr val="152238"/>
                </a:solidFill>
                <a:latin typeface="Calibri" pitchFamily="34" charset="0"/>
                <a:ea typeface="Calibri" pitchFamily="34" charset="-122"/>
                <a:cs typeface="Calibri" pitchFamily="34" charset="-120"/>
              </a:rPr>
              <a:t>3</a:t>
            </a:r>
            <a:endParaRPr lang="en-US" sz="3000" dirty="0"/>
          </a:p>
        </p:txBody>
      </p:sp>
      <p:sp>
        <p:nvSpPr>
          <p:cNvPr id="5" name="Text 3"/>
          <p:cNvSpPr txBox="1"/>
          <p:nvPr/>
        </p:nvSpPr>
        <p:spPr>
          <a:xfrm>
            <a:off x="1920240" y="1965960"/>
            <a:ext cx="6766560" cy="77724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Shape</a:t>
            </a:r>
            <a:endParaRPr lang="en-US" sz="4000" dirty="0"/>
          </a:p>
        </p:txBody>
      </p:sp>
      <p:sp>
        <p:nvSpPr>
          <p:cNvPr id="6" name="Text 4"/>
          <p:cNvSpPr txBox="1"/>
          <p:nvPr/>
        </p:nvSpPr>
        <p:spPr>
          <a:xfrm>
            <a:off x="1947672" y="2788920"/>
            <a:ext cx="6949440" cy="457200"/>
          </a:xfrm>
          <a:prstGeom prst="rect">
            <a:avLst/>
          </a:prstGeom>
          <a:noFill/>
          <a:ln/>
        </p:spPr>
        <p:txBody>
          <a:bodyPr wrap="square" lIns="0" tIns="0" rIns="0" bIns="0" rtlCol="0" anchor="ctr"/>
          <a:lstStyle/>
          <a:p>
            <a:pPr indent="0" marL="0">
              <a:buNone/>
            </a:pPr>
            <a:r>
              <a:rPr lang="en-US" sz="1600" dirty="0">
                <a:solidFill>
                  <a:srgbClr val="AFC2DC"/>
                </a:solidFill>
                <a:latin typeface="Calibri" pitchFamily="34" charset="0"/>
                <a:ea typeface="Calibri" pitchFamily="34" charset="-122"/>
                <a:cs typeface="Calibri" pitchFamily="34" charset="-120"/>
              </a:rPr>
              <a:t>Skewness and kurtosis  ·  25 minutes</a:t>
            </a:r>
            <a:endParaRPr lang="en-US" sz="1600" dirty="0"/>
          </a:p>
        </p:txBody>
      </p:sp>
      <p:sp>
        <p:nvSpPr>
          <p:cNvPr id="7" name="Text 5"/>
          <p:cNvSpPr txBox="1"/>
          <p:nvPr/>
        </p:nvSpPr>
        <p:spPr>
          <a:xfrm>
            <a:off x="9144000" y="2011680"/>
            <a:ext cx="2468880" cy="2194560"/>
          </a:xfrm>
          <a:prstGeom prst="rect">
            <a:avLst/>
          </a:prstGeom>
          <a:noFill/>
          <a:ln/>
        </p:spPr>
        <p:txBody>
          <a:bodyPr wrap="square" lIns="0" tIns="0" rIns="0" bIns="0" rtlCol="0" anchor="ctr"/>
          <a:lstStyle/>
          <a:p>
            <a:pPr marL="342900" indent="-342900">
              <a:spcAft>
                <a:spcPts val="600"/>
              </a:spcAft>
              <a:buSzPct val="100000"/>
              <a:buChar char="•"/>
            </a:pPr>
            <a:r>
              <a:rPr lang="en-US" sz="1300" dirty="0">
                <a:solidFill>
                  <a:srgbClr val="8FA6C4"/>
                </a:solidFill>
                <a:latin typeface="Calibri" pitchFamily="34" charset="0"/>
                <a:ea typeface="Calibri" pitchFamily="34" charset="-122"/>
                <a:cs typeface="Calibri" pitchFamily="34" charset="-120"/>
              </a:rPr>
              <a:t>Why centre and spread are not enough</a:t>
            </a:r>
            <a:endParaRPr lang="en-US" sz="1300" dirty="0"/>
          </a:p>
          <a:p>
            <a:pPr marL="342900" indent="-342900">
              <a:spcAft>
                <a:spcPts val="600"/>
              </a:spcAft>
              <a:buSzPct val="100000"/>
              <a:buChar char="•"/>
            </a:pPr>
            <a:r>
              <a:rPr lang="en-US" sz="1300" dirty="0">
                <a:solidFill>
                  <a:srgbClr val="8FA6C4"/>
                </a:solidFill>
                <a:latin typeface="Calibri" pitchFamily="34" charset="0"/>
                <a:ea typeface="Calibri" pitchFamily="34" charset="-122"/>
                <a:cs typeface="Calibri" pitchFamily="34" charset="-120"/>
              </a:rPr>
              <a:t>Skewness</a:t>
            </a:r>
            <a:endParaRPr lang="en-US" sz="1300" dirty="0"/>
          </a:p>
          <a:p>
            <a:pPr marL="342900" indent="-342900">
              <a:spcAft>
                <a:spcPts val="600"/>
              </a:spcAft>
              <a:buSzPct val="100000"/>
              <a:buChar char="•"/>
            </a:pPr>
            <a:r>
              <a:rPr lang="en-US" sz="1300" dirty="0">
                <a:solidFill>
                  <a:srgbClr val="8FA6C4"/>
                </a:solidFill>
                <a:latin typeface="Calibri" pitchFamily="34" charset="0"/>
                <a:ea typeface="Calibri" pitchFamily="34" charset="-122"/>
                <a:cs typeface="Calibri" pitchFamily="34" charset="-120"/>
              </a:rPr>
              <a:t>Kurtosis</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4F6FA"/>
        </a:solidFill>
      </p:bgPr>
    </p:bg>
    <p:spTree>
      <p:nvGrpSpPr>
        <p:cNvPr id="1" name=""/>
        <p:cNvGrpSpPr/>
        <p:nvPr/>
      </p:nvGrpSpPr>
      <p:grpSpPr>
        <a:xfrm>
          <a:off x="0" y="0"/>
          <a:ext cx="0" cy="0"/>
          <a:chOff x="0" y="0"/>
          <a:chExt cx="0" cy="0"/>
        </a:xfrm>
      </p:grpSpPr>
      <p:sp>
        <p:nvSpPr>
          <p:cNvPr id="2" name="Text 0"/>
          <p:cNvSpPr txBox="1"/>
          <p:nvPr/>
        </p:nvSpPr>
        <p:spPr>
          <a:xfrm>
            <a:off x="8138160" y="6437376"/>
            <a:ext cx="3474720" cy="256032"/>
          </a:xfrm>
          <a:prstGeom prst="rect">
            <a:avLst/>
          </a:prstGeom>
          <a:noFill/>
          <a:ln/>
        </p:spPr>
        <p:txBody>
          <a:bodyPr wrap="square" lIns="0" tIns="0" rIns="0" bIns="0" rtlCol="0" anchor="ctr"/>
          <a:lstStyle/>
          <a:p>
            <a:pPr algn="r" indent="0" marL="0">
              <a:buNone/>
            </a:pPr>
            <a:r>
              <a:rPr lang="en-US" sz="900" dirty="0">
                <a:solidFill>
                  <a:srgbClr val="9DAABE"/>
                </a:solidFill>
                <a:latin typeface="Calibri" pitchFamily="34" charset="0"/>
                <a:ea typeface="Calibri" pitchFamily="34" charset="-122"/>
                <a:cs typeface="Calibri" pitchFamily="34" charset="-120"/>
              </a:rPr>
              <a:t>Slides by Srinivasa Sai Chava</a:t>
            </a:r>
            <a:endParaRPr lang="en-US" sz="900" dirty="0"/>
          </a:p>
        </p:txBody>
      </p:sp>
      <p:sp>
        <p:nvSpPr>
          <p:cNvPr id="3" name="Text 1"/>
          <p:cNvSpPr txBox="1"/>
          <p:nvPr/>
        </p:nvSpPr>
        <p:spPr>
          <a:xfrm>
            <a:off x="548640" y="292608"/>
            <a:ext cx="10515600" cy="274320"/>
          </a:xfrm>
          <a:prstGeom prst="rect">
            <a:avLst/>
          </a:prstGeom>
          <a:noFill/>
          <a:ln/>
        </p:spPr>
        <p:txBody>
          <a:bodyPr wrap="square" lIns="0" tIns="0" rIns="0" bIns="0" rtlCol="0" anchor="ctr"/>
          <a:lstStyle/>
          <a:p>
            <a:pPr indent="0" marL="0">
              <a:buNone/>
            </a:pPr>
            <a:r>
              <a:rPr lang="en-US" sz="1200" b="1" spc="200" kern="0" dirty="0">
                <a:solidFill>
                  <a:srgbClr val="3E7CB1"/>
                </a:solidFill>
                <a:latin typeface="Calibri" pitchFamily="34" charset="0"/>
                <a:ea typeface="Calibri" pitchFamily="34" charset="-122"/>
                <a:cs typeface="Calibri" pitchFamily="34" charset="-120"/>
              </a:rPr>
              <a:t>3.1  ·  WHY SHAPE MATTERS</a:t>
            </a:r>
            <a:endParaRPr lang="en-US" sz="1200" dirty="0"/>
          </a:p>
        </p:txBody>
      </p:sp>
      <p:sp>
        <p:nvSpPr>
          <p:cNvPr id="4" name="Text 2"/>
          <p:cNvSpPr txBox="1"/>
          <p:nvPr/>
        </p:nvSpPr>
        <p:spPr>
          <a:xfrm>
            <a:off x="548640" y="566928"/>
            <a:ext cx="11064240" cy="685800"/>
          </a:xfrm>
          <a:prstGeom prst="rect">
            <a:avLst/>
          </a:prstGeom>
          <a:noFill/>
          <a:ln/>
        </p:spPr>
        <p:txBody>
          <a:bodyPr wrap="square" lIns="0" tIns="0" rIns="0" bIns="0" rtlCol="0" anchor="ctr"/>
          <a:lstStyle/>
          <a:p>
            <a:pPr indent="0" marL="0">
              <a:buNone/>
            </a:pPr>
            <a:r>
              <a:rPr lang="en-US" sz="3200" b="1" dirty="0">
                <a:solidFill>
                  <a:srgbClr val="1F3A5F"/>
                </a:solidFill>
                <a:latin typeface="Cambria" pitchFamily="34" charset="0"/>
                <a:ea typeface="Cambria" pitchFamily="34" charset="-122"/>
                <a:cs typeface="Cambria" pitchFamily="34" charset="-120"/>
              </a:rPr>
              <a:t>Same mean. Similar SD. Completely different data.</a:t>
            </a:r>
            <a:endParaRPr lang="en-US" sz="3200" dirty="0"/>
          </a:p>
        </p:txBody>
      </p:sp>
      <p:sp>
        <p:nvSpPr>
          <p:cNvPr id="5" name="Shape 3"/>
          <p:cNvSpPr/>
          <p:nvPr/>
        </p:nvSpPr>
        <p:spPr>
          <a:xfrm>
            <a:off x="548640" y="1572768"/>
            <a:ext cx="5486400" cy="2834640"/>
          </a:xfrm>
          <a:prstGeom prst="roundRect">
            <a:avLst>
              <a:gd name="adj" fmla="val 2903"/>
            </a:avLst>
          </a:prstGeom>
          <a:solidFill>
            <a:srgbClr val="FFFFFF"/>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6" name="Text 4"/>
          <p:cNvSpPr txBox="1"/>
          <p:nvPr/>
        </p:nvSpPr>
        <p:spPr>
          <a:xfrm>
            <a:off x="804672" y="1719072"/>
            <a:ext cx="4937760" cy="274320"/>
          </a:xfrm>
          <a:prstGeom prst="rect">
            <a:avLst/>
          </a:prstGeom>
          <a:noFill/>
          <a:ln/>
        </p:spPr>
        <p:txBody>
          <a:bodyPr wrap="square" lIns="0" tIns="0" rIns="0" bIns="0" rtlCol="0" anchor="ctr"/>
          <a:lstStyle/>
          <a:p>
            <a:pPr indent="0" marL="0">
              <a:buNone/>
            </a:pPr>
            <a:r>
              <a:rPr lang="en-US" sz="1400" b="1" dirty="0">
                <a:solidFill>
                  <a:srgbClr val="3E7CB1"/>
                </a:solidFill>
                <a:latin typeface="Calibri" pitchFamily="34" charset="0"/>
                <a:ea typeface="Calibri" pitchFamily="34" charset="-122"/>
                <a:cs typeface="Calibri" pitchFamily="34" charset="-120"/>
              </a:rPr>
              <a:t>A  —  one hump</a:t>
            </a:r>
            <a:endParaRPr lang="en-US" sz="1400" dirty="0"/>
          </a:p>
        </p:txBody>
      </p:sp>
      <p:sp>
        <p:nvSpPr>
          <p:cNvPr id="7" name="Shape 5"/>
          <p:cNvSpPr/>
          <p:nvPr/>
        </p:nvSpPr>
        <p:spPr>
          <a:xfrm>
            <a:off x="868680" y="2103120"/>
            <a:ext cx="4846320" cy="1554480"/>
          </a:xfrm>
          <a:prstGeom prst="rect">
            <a:avLst/>
          </a:prstGeom>
          <a:solidFill>
            <a:srgbClr val="FFFFFF"/>
          </a:solidFill>
          <a:ln w="12700">
            <a:solidFill>
              <a:srgbClr val="D5DCE6"/>
            </a:solidFill>
            <a:prstDash val="solid"/>
          </a:ln>
        </p:spPr>
      </p:sp>
      <p:sp>
        <p:nvSpPr>
          <p:cNvPr id="8" name="Shape 6"/>
          <p:cNvSpPr/>
          <p:nvPr/>
        </p:nvSpPr>
        <p:spPr>
          <a:xfrm>
            <a:off x="879653" y="3635373"/>
            <a:ext cx="220370" cy="22227"/>
          </a:xfrm>
          <a:prstGeom prst="rect">
            <a:avLst/>
          </a:prstGeom>
          <a:solidFill>
            <a:srgbClr val="3E7CB1"/>
          </a:solidFill>
          <a:ln w="12700">
            <a:solidFill>
              <a:srgbClr val="333333"/>
            </a:solidFill>
            <a:prstDash val="solid"/>
          </a:ln>
        </p:spPr>
      </p:sp>
      <p:sp>
        <p:nvSpPr>
          <p:cNvPr id="9" name="Shape 7"/>
          <p:cNvSpPr/>
          <p:nvPr/>
        </p:nvSpPr>
        <p:spPr>
          <a:xfrm>
            <a:off x="1121969" y="3602033"/>
            <a:ext cx="220370" cy="55567"/>
          </a:xfrm>
          <a:prstGeom prst="rect">
            <a:avLst/>
          </a:prstGeom>
          <a:solidFill>
            <a:srgbClr val="3E7CB1"/>
          </a:solidFill>
          <a:ln w="12700">
            <a:solidFill>
              <a:srgbClr val="333333"/>
            </a:solidFill>
            <a:prstDash val="solid"/>
          </a:ln>
        </p:spPr>
      </p:sp>
      <p:sp>
        <p:nvSpPr>
          <p:cNvPr id="10" name="Shape 8"/>
          <p:cNvSpPr/>
          <p:nvPr/>
        </p:nvSpPr>
        <p:spPr>
          <a:xfrm>
            <a:off x="1364285" y="3535352"/>
            <a:ext cx="220370" cy="122248"/>
          </a:xfrm>
          <a:prstGeom prst="rect">
            <a:avLst/>
          </a:prstGeom>
          <a:solidFill>
            <a:srgbClr val="3E7CB1"/>
          </a:solidFill>
          <a:ln w="12700">
            <a:solidFill>
              <a:srgbClr val="333333"/>
            </a:solidFill>
            <a:prstDash val="solid"/>
          </a:ln>
        </p:spPr>
      </p:sp>
      <p:sp>
        <p:nvSpPr>
          <p:cNvPr id="11" name="Shape 9"/>
          <p:cNvSpPr/>
          <p:nvPr/>
        </p:nvSpPr>
        <p:spPr>
          <a:xfrm>
            <a:off x="1606601" y="3413104"/>
            <a:ext cx="220370" cy="244496"/>
          </a:xfrm>
          <a:prstGeom prst="rect">
            <a:avLst/>
          </a:prstGeom>
          <a:solidFill>
            <a:srgbClr val="3E7CB1"/>
          </a:solidFill>
          <a:ln w="12700">
            <a:solidFill>
              <a:srgbClr val="333333"/>
            </a:solidFill>
            <a:prstDash val="solid"/>
          </a:ln>
        </p:spPr>
      </p:sp>
      <p:sp>
        <p:nvSpPr>
          <p:cNvPr id="12" name="Shape 10"/>
          <p:cNvSpPr/>
          <p:nvPr/>
        </p:nvSpPr>
        <p:spPr>
          <a:xfrm>
            <a:off x="1848917" y="3213061"/>
            <a:ext cx="220370" cy="444539"/>
          </a:xfrm>
          <a:prstGeom prst="rect">
            <a:avLst/>
          </a:prstGeom>
          <a:solidFill>
            <a:srgbClr val="3E7CB1"/>
          </a:solidFill>
          <a:ln w="12700">
            <a:solidFill>
              <a:srgbClr val="333333"/>
            </a:solidFill>
            <a:prstDash val="solid"/>
          </a:ln>
        </p:spPr>
      </p:sp>
      <p:sp>
        <p:nvSpPr>
          <p:cNvPr id="13" name="Shape 11"/>
          <p:cNvSpPr/>
          <p:nvPr/>
        </p:nvSpPr>
        <p:spPr>
          <a:xfrm>
            <a:off x="2091233" y="2935224"/>
            <a:ext cx="220370" cy="722376"/>
          </a:xfrm>
          <a:prstGeom prst="rect">
            <a:avLst/>
          </a:prstGeom>
          <a:solidFill>
            <a:srgbClr val="3E7CB1"/>
          </a:solidFill>
          <a:ln w="12700">
            <a:solidFill>
              <a:srgbClr val="333333"/>
            </a:solidFill>
            <a:prstDash val="solid"/>
          </a:ln>
        </p:spPr>
      </p:sp>
      <p:sp>
        <p:nvSpPr>
          <p:cNvPr id="14" name="Shape 12"/>
          <p:cNvSpPr/>
          <p:nvPr/>
        </p:nvSpPr>
        <p:spPr>
          <a:xfrm>
            <a:off x="2333549" y="2635160"/>
            <a:ext cx="220370" cy="1022440"/>
          </a:xfrm>
          <a:prstGeom prst="rect">
            <a:avLst/>
          </a:prstGeom>
          <a:solidFill>
            <a:srgbClr val="3E7CB1"/>
          </a:solidFill>
          <a:ln w="12700">
            <a:solidFill>
              <a:srgbClr val="333333"/>
            </a:solidFill>
            <a:prstDash val="solid"/>
          </a:ln>
        </p:spPr>
      </p:sp>
      <p:sp>
        <p:nvSpPr>
          <p:cNvPr id="15" name="Shape 13"/>
          <p:cNvSpPr/>
          <p:nvPr/>
        </p:nvSpPr>
        <p:spPr>
          <a:xfrm>
            <a:off x="2575865" y="2379550"/>
            <a:ext cx="220370" cy="1278050"/>
          </a:xfrm>
          <a:prstGeom prst="rect">
            <a:avLst/>
          </a:prstGeom>
          <a:solidFill>
            <a:srgbClr val="3E7CB1"/>
          </a:solidFill>
          <a:ln w="12700">
            <a:solidFill>
              <a:srgbClr val="333333"/>
            </a:solidFill>
            <a:prstDash val="solid"/>
          </a:ln>
        </p:spPr>
      </p:sp>
      <p:sp>
        <p:nvSpPr>
          <p:cNvPr id="16" name="Shape 14"/>
          <p:cNvSpPr/>
          <p:nvPr/>
        </p:nvSpPr>
        <p:spPr>
          <a:xfrm>
            <a:off x="2818181" y="2235075"/>
            <a:ext cx="220370" cy="1422525"/>
          </a:xfrm>
          <a:prstGeom prst="rect">
            <a:avLst/>
          </a:prstGeom>
          <a:solidFill>
            <a:srgbClr val="3E7CB1"/>
          </a:solidFill>
          <a:ln w="12700">
            <a:solidFill>
              <a:srgbClr val="333333"/>
            </a:solidFill>
            <a:prstDash val="solid"/>
          </a:ln>
        </p:spPr>
      </p:sp>
      <p:sp>
        <p:nvSpPr>
          <p:cNvPr id="17" name="Shape 15"/>
          <p:cNvSpPr/>
          <p:nvPr/>
        </p:nvSpPr>
        <p:spPr>
          <a:xfrm>
            <a:off x="3060497" y="2212848"/>
            <a:ext cx="220370" cy="1444752"/>
          </a:xfrm>
          <a:prstGeom prst="rect">
            <a:avLst/>
          </a:prstGeom>
          <a:solidFill>
            <a:srgbClr val="3E7CB1"/>
          </a:solidFill>
          <a:ln w="12700">
            <a:solidFill>
              <a:srgbClr val="333333"/>
            </a:solidFill>
            <a:prstDash val="solid"/>
          </a:ln>
        </p:spPr>
      </p:sp>
      <p:sp>
        <p:nvSpPr>
          <p:cNvPr id="18" name="Shape 16"/>
          <p:cNvSpPr/>
          <p:nvPr/>
        </p:nvSpPr>
        <p:spPr>
          <a:xfrm>
            <a:off x="3302813" y="2301756"/>
            <a:ext cx="220370" cy="1355844"/>
          </a:xfrm>
          <a:prstGeom prst="rect">
            <a:avLst/>
          </a:prstGeom>
          <a:solidFill>
            <a:srgbClr val="3E7CB1"/>
          </a:solidFill>
          <a:ln w="12700">
            <a:solidFill>
              <a:srgbClr val="333333"/>
            </a:solidFill>
            <a:prstDash val="solid"/>
          </a:ln>
        </p:spPr>
      </p:sp>
      <p:sp>
        <p:nvSpPr>
          <p:cNvPr id="19" name="Shape 17"/>
          <p:cNvSpPr/>
          <p:nvPr/>
        </p:nvSpPr>
        <p:spPr>
          <a:xfrm>
            <a:off x="3545129" y="2546252"/>
            <a:ext cx="220370" cy="1111348"/>
          </a:xfrm>
          <a:prstGeom prst="rect">
            <a:avLst/>
          </a:prstGeom>
          <a:solidFill>
            <a:srgbClr val="3E7CB1"/>
          </a:solidFill>
          <a:ln w="12700">
            <a:solidFill>
              <a:srgbClr val="333333"/>
            </a:solidFill>
            <a:prstDash val="solid"/>
          </a:ln>
        </p:spPr>
      </p:sp>
      <p:sp>
        <p:nvSpPr>
          <p:cNvPr id="20" name="Shape 18"/>
          <p:cNvSpPr/>
          <p:nvPr/>
        </p:nvSpPr>
        <p:spPr>
          <a:xfrm>
            <a:off x="3787445" y="2812976"/>
            <a:ext cx="220370" cy="844624"/>
          </a:xfrm>
          <a:prstGeom prst="rect">
            <a:avLst/>
          </a:prstGeom>
          <a:solidFill>
            <a:srgbClr val="3E7CB1"/>
          </a:solidFill>
          <a:ln w="12700">
            <a:solidFill>
              <a:srgbClr val="333333"/>
            </a:solidFill>
            <a:prstDash val="solid"/>
          </a:ln>
        </p:spPr>
      </p:sp>
      <p:sp>
        <p:nvSpPr>
          <p:cNvPr id="21" name="Shape 19"/>
          <p:cNvSpPr/>
          <p:nvPr/>
        </p:nvSpPr>
        <p:spPr>
          <a:xfrm>
            <a:off x="4029761" y="3079699"/>
            <a:ext cx="220370" cy="577901"/>
          </a:xfrm>
          <a:prstGeom prst="rect">
            <a:avLst/>
          </a:prstGeom>
          <a:solidFill>
            <a:srgbClr val="3E7CB1"/>
          </a:solidFill>
          <a:ln w="12700">
            <a:solidFill>
              <a:srgbClr val="333333"/>
            </a:solidFill>
            <a:prstDash val="solid"/>
          </a:ln>
        </p:spPr>
      </p:sp>
      <p:sp>
        <p:nvSpPr>
          <p:cNvPr id="22" name="Shape 20"/>
          <p:cNvSpPr/>
          <p:nvPr/>
        </p:nvSpPr>
        <p:spPr>
          <a:xfrm>
            <a:off x="4272077" y="3301969"/>
            <a:ext cx="220370" cy="355631"/>
          </a:xfrm>
          <a:prstGeom prst="rect">
            <a:avLst/>
          </a:prstGeom>
          <a:solidFill>
            <a:srgbClr val="3E7CB1"/>
          </a:solidFill>
          <a:ln w="12700">
            <a:solidFill>
              <a:srgbClr val="333333"/>
            </a:solidFill>
            <a:prstDash val="solid"/>
          </a:ln>
        </p:spPr>
      </p:sp>
      <p:sp>
        <p:nvSpPr>
          <p:cNvPr id="23" name="Shape 21"/>
          <p:cNvSpPr/>
          <p:nvPr/>
        </p:nvSpPr>
        <p:spPr>
          <a:xfrm>
            <a:off x="4514393" y="3457557"/>
            <a:ext cx="220370" cy="200043"/>
          </a:xfrm>
          <a:prstGeom prst="rect">
            <a:avLst/>
          </a:prstGeom>
          <a:solidFill>
            <a:srgbClr val="3E7CB1"/>
          </a:solidFill>
          <a:ln w="12700">
            <a:solidFill>
              <a:srgbClr val="333333"/>
            </a:solidFill>
            <a:prstDash val="solid"/>
          </a:ln>
        </p:spPr>
      </p:sp>
      <p:sp>
        <p:nvSpPr>
          <p:cNvPr id="24" name="Shape 22"/>
          <p:cNvSpPr/>
          <p:nvPr/>
        </p:nvSpPr>
        <p:spPr>
          <a:xfrm>
            <a:off x="4756709" y="3557579"/>
            <a:ext cx="220370" cy="100021"/>
          </a:xfrm>
          <a:prstGeom prst="rect">
            <a:avLst/>
          </a:prstGeom>
          <a:solidFill>
            <a:srgbClr val="3E7CB1"/>
          </a:solidFill>
          <a:ln w="12700">
            <a:solidFill>
              <a:srgbClr val="333333"/>
            </a:solidFill>
            <a:prstDash val="solid"/>
          </a:ln>
        </p:spPr>
      </p:sp>
      <p:sp>
        <p:nvSpPr>
          <p:cNvPr id="25" name="Shape 23"/>
          <p:cNvSpPr/>
          <p:nvPr/>
        </p:nvSpPr>
        <p:spPr>
          <a:xfrm>
            <a:off x="4999025" y="3613146"/>
            <a:ext cx="220370" cy="44454"/>
          </a:xfrm>
          <a:prstGeom prst="rect">
            <a:avLst/>
          </a:prstGeom>
          <a:solidFill>
            <a:srgbClr val="3E7CB1"/>
          </a:solidFill>
          <a:ln w="12700">
            <a:solidFill>
              <a:srgbClr val="333333"/>
            </a:solidFill>
            <a:prstDash val="solid"/>
          </a:ln>
        </p:spPr>
      </p:sp>
      <p:sp>
        <p:nvSpPr>
          <p:cNvPr id="26" name="Shape 24"/>
          <p:cNvSpPr/>
          <p:nvPr/>
        </p:nvSpPr>
        <p:spPr>
          <a:xfrm>
            <a:off x="5241341" y="3635373"/>
            <a:ext cx="220370" cy="22227"/>
          </a:xfrm>
          <a:prstGeom prst="rect">
            <a:avLst/>
          </a:prstGeom>
          <a:solidFill>
            <a:srgbClr val="3E7CB1"/>
          </a:solidFill>
          <a:ln w="12700">
            <a:solidFill>
              <a:srgbClr val="333333"/>
            </a:solidFill>
            <a:prstDash val="solid"/>
          </a:ln>
        </p:spPr>
      </p:sp>
      <p:sp>
        <p:nvSpPr>
          <p:cNvPr id="27" name="Shape 25"/>
          <p:cNvSpPr/>
          <p:nvPr/>
        </p:nvSpPr>
        <p:spPr>
          <a:xfrm>
            <a:off x="5483657" y="3646487"/>
            <a:ext cx="220370" cy="11113"/>
          </a:xfrm>
          <a:prstGeom prst="rect">
            <a:avLst/>
          </a:prstGeom>
          <a:solidFill>
            <a:srgbClr val="3E7CB1"/>
          </a:solidFill>
          <a:ln w="12700">
            <a:solidFill>
              <a:srgbClr val="333333"/>
            </a:solidFill>
            <a:prstDash val="solid"/>
          </a:ln>
        </p:spPr>
      </p:sp>
      <p:sp>
        <p:nvSpPr>
          <p:cNvPr id="28" name="Text 26"/>
          <p:cNvSpPr txBox="1"/>
          <p:nvPr/>
        </p:nvSpPr>
        <p:spPr>
          <a:xfrm>
            <a:off x="868680" y="3794760"/>
            <a:ext cx="4846320" cy="274320"/>
          </a:xfrm>
          <a:prstGeom prst="rect">
            <a:avLst/>
          </a:prstGeom>
          <a:noFill/>
          <a:ln/>
        </p:spPr>
        <p:txBody>
          <a:bodyPr wrap="square" lIns="0" tIns="0" rIns="0" bIns="0" rtlCol="0" anchor="ctr"/>
          <a:lstStyle/>
          <a:p>
            <a:pPr indent="0" marL="0">
              <a:buNone/>
            </a:pPr>
            <a:r>
              <a:rPr lang="en-US" sz="1150" dirty="0">
                <a:solidFill>
                  <a:srgbClr val="1F3A5F"/>
                </a:solidFill>
                <a:latin typeface="Courier New" pitchFamily="34" charset="0"/>
                <a:ea typeface="Courier New" pitchFamily="34" charset="-122"/>
                <a:cs typeface="Courier New" pitchFamily="34" charset="-120"/>
              </a:rPr>
              <a:t>mean 49.9   sd 10.0   kurtosis  0.00</a:t>
            </a:r>
            <a:endParaRPr lang="en-US" sz="1150" dirty="0"/>
          </a:p>
        </p:txBody>
      </p:sp>
      <p:sp>
        <p:nvSpPr>
          <p:cNvPr id="29" name="Text 27"/>
          <p:cNvSpPr txBox="1"/>
          <p:nvPr/>
        </p:nvSpPr>
        <p:spPr>
          <a:xfrm>
            <a:off x="868680" y="4114800"/>
            <a:ext cx="4846320" cy="274320"/>
          </a:xfrm>
          <a:prstGeom prst="rect">
            <a:avLst/>
          </a:prstGeom>
          <a:noFill/>
          <a:ln/>
        </p:spPr>
        <p:txBody>
          <a:bodyPr wrap="square" lIns="0" tIns="0" rIns="0" bIns="0" rtlCol="0" anchor="ctr"/>
          <a:lstStyle/>
          <a:p>
            <a:pPr indent="0" marL="0">
              <a:buNone/>
            </a:pPr>
            <a:r>
              <a:rPr lang="en-US" sz="1200" i="1" dirty="0">
                <a:solidFill>
                  <a:srgbClr val="6B7789"/>
                </a:solidFill>
                <a:latin typeface="Calibri" pitchFamily="34" charset="0"/>
                <a:ea typeface="Calibri" pitchFamily="34" charset="-122"/>
                <a:cs typeface="Calibri" pitchFamily="34" charset="-120"/>
              </a:rPr>
              <a:t>Most people are near 50.</a:t>
            </a:r>
            <a:endParaRPr lang="en-US" sz="1200" dirty="0"/>
          </a:p>
        </p:txBody>
      </p:sp>
      <p:sp>
        <p:nvSpPr>
          <p:cNvPr id="30" name="Shape 28"/>
          <p:cNvSpPr/>
          <p:nvPr/>
        </p:nvSpPr>
        <p:spPr>
          <a:xfrm>
            <a:off x="6309360" y="1572768"/>
            <a:ext cx="5303520" cy="2834640"/>
          </a:xfrm>
          <a:prstGeom prst="roundRect">
            <a:avLst>
              <a:gd name="adj" fmla="val 2903"/>
            </a:avLst>
          </a:prstGeom>
          <a:solidFill>
            <a:srgbClr val="FDECE8"/>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31" name="Text 29"/>
          <p:cNvSpPr txBox="1"/>
          <p:nvPr/>
        </p:nvSpPr>
        <p:spPr>
          <a:xfrm>
            <a:off x="6565392" y="1719072"/>
            <a:ext cx="4754880" cy="274320"/>
          </a:xfrm>
          <a:prstGeom prst="rect">
            <a:avLst/>
          </a:prstGeom>
          <a:noFill/>
          <a:ln/>
        </p:spPr>
        <p:txBody>
          <a:bodyPr wrap="square" lIns="0" tIns="0" rIns="0" bIns="0" rtlCol="0" anchor="ctr"/>
          <a:lstStyle/>
          <a:p>
            <a:pPr indent="0" marL="0">
              <a:buNone/>
            </a:pPr>
            <a:r>
              <a:rPr lang="en-US" sz="1400" b="1" dirty="0">
                <a:solidFill>
                  <a:srgbClr val="E8674C"/>
                </a:solidFill>
                <a:latin typeface="Calibri" pitchFamily="34" charset="0"/>
                <a:ea typeface="Calibri" pitchFamily="34" charset="-122"/>
                <a:cs typeface="Calibri" pitchFamily="34" charset="-120"/>
              </a:rPr>
              <a:t>B  —  two humps</a:t>
            </a:r>
            <a:endParaRPr lang="en-US" sz="1400" dirty="0"/>
          </a:p>
        </p:txBody>
      </p:sp>
      <p:sp>
        <p:nvSpPr>
          <p:cNvPr id="32" name="Shape 30"/>
          <p:cNvSpPr/>
          <p:nvPr/>
        </p:nvSpPr>
        <p:spPr>
          <a:xfrm>
            <a:off x="6629400" y="2103120"/>
            <a:ext cx="4663440" cy="1554480"/>
          </a:xfrm>
          <a:prstGeom prst="rect">
            <a:avLst/>
          </a:prstGeom>
          <a:solidFill>
            <a:srgbClr val="FFFFFF"/>
          </a:solidFill>
          <a:ln w="12700">
            <a:solidFill>
              <a:srgbClr val="D5DCE6"/>
            </a:solidFill>
            <a:prstDash val="solid"/>
          </a:ln>
        </p:spPr>
      </p:sp>
      <p:sp>
        <p:nvSpPr>
          <p:cNvPr id="33" name="Shape 31"/>
          <p:cNvSpPr/>
          <p:nvPr/>
        </p:nvSpPr>
        <p:spPr>
          <a:xfrm>
            <a:off x="6640373" y="3611735"/>
            <a:ext cx="211226" cy="45865"/>
          </a:xfrm>
          <a:prstGeom prst="rect">
            <a:avLst/>
          </a:prstGeom>
          <a:solidFill>
            <a:srgbClr val="E8674C"/>
          </a:solidFill>
          <a:ln w="12700">
            <a:solidFill>
              <a:srgbClr val="333333"/>
            </a:solidFill>
            <a:prstDash val="solid"/>
          </a:ln>
        </p:spPr>
      </p:sp>
      <p:sp>
        <p:nvSpPr>
          <p:cNvPr id="34" name="Shape 32"/>
          <p:cNvSpPr/>
          <p:nvPr/>
        </p:nvSpPr>
        <p:spPr>
          <a:xfrm>
            <a:off x="6873545" y="3451207"/>
            <a:ext cx="211226" cy="206393"/>
          </a:xfrm>
          <a:prstGeom prst="rect">
            <a:avLst/>
          </a:prstGeom>
          <a:solidFill>
            <a:srgbClr val="E8674C"/>
          </a:solidFill>
          <a:ln w="12700">
            <a:solidFill>
              <a:srgbClr val="333333"/>
            </a:solidFill>
            <a:prstDash val="solid"/>
          </a:ln>
        </p:spPr>
      </p:sp>
      <p:sp>
        <p:nvSpPr>
          <p:cNvPr id="35" name="Shape 33"/>
          <p:cNvSpPr/>
          <p:nvPr/>
        </p:nvSpPr>
        <p:spPr>
          <a:xfrm>
            <a:off x="7106717" y="3061353"/>
            <a:ext cx="211226" cy="596247"/>
          </a:xfrm>
          <a:prstGeom prst="rect">
            <a:avLst/>
          </a:prstGeom>
          <a:solidFill>
            <a:srgbClr val="E8674C"/>
          </a:solidFill>
          <a:ln w="12700">
            <a:solidFill>
              <a:srgbClr val="333333"/>
            </a:solidFill>
            <a:prstDash val="solid"/>
          </a:ln>
        </p:spPr>
      </p:sp>
      <p:sp>
        <p:nvSpPr>
          <p:cNvPr id="36" name="Shape 34"/>
          <p:cNvSpPr/>
          <p:nvPr/>
        </p:nvSpPr>
        <p:spPr>
          <a:xfrm>
            <a:off x="7339889" y="2510971"/>
            <a:ext cx="211226" cy="1146629"/>
          </a:xfrm>
          <a:prstGeom prst="rect">
            <a:avLst/>
          </a:prstGeom>
          <a:solidFill>
            <a:srgbClr val="E8674C"/>
          </a:solidFill>
          <a:ln w="12700">
            <a:solidFill>
              <a:srgbClr val="333333"/>
            </a:solidFill>
            <a:prstDash val="solid"/>
          </a:ln>
        </p:spPr>
      </p:sp>
      <p:sp>
        <p:nvSpPr>
          <p:cNvPr id="37" name="Shape 35"/>
          <p:cNvSpPr/>
          <p:nvPr/>
        </p:nvSpPr>
        <p:spPr>
          <a:xfrm>
            <a:off x="7573061" y="2212848"/>
            <a:ext cx="211226" cy="1444752"/>
          </a:xfrm>
          <a:prstGeom prst="rect">
            <a:avLst/>
          </a:prstGeom>
          <a:solidFill>
            <a:srgbClr val="E8674C"/>
          </a:solidFill>
          <a:ln w="12700">
            <a:solidFill>
              <a:srgbClr val="333333"/>
            </a:solidFill>
            <a:prstDash val="solid"/>
          </a:ln>
        </p:spPr>
      </p:sp>
      <p:sp>
        <p:nvSpPr>
          <p:cNvPr id="38" name="Shape 36"/>
          <p:cNvSpPr/>
          <p:nvPr/>
        </p:nvSpPr>
        <p:spPr>
          <a:xfrm>
            <a:off x="7806233" y="2510971"/>
            <a:ext cx="211226" cy="1146629"/>
          </a:xfrm>
          <a:prstGeom prst="rect">
            <a:avLst/>
          </a:prstGeom>
          <a:solidFill>
            <a:srgbClr val="E8674C"/>
          </a:solidFill>
          <a:ln w="12700">
            <a:solidFill>
              <a:srgbClr val="333333"/>
            </a:solidFill>
            <a:prstDash val="solid"/>
          </a:ln>
        </p:spPr>
      </p:sp>
      <p:sp>
        <p:nvSpPr>
          <p:cNvPr id="39" name="Shape 37"/>
          <p:cNvSpPr/>
          <p:nvPr/>
        </p:nvSpPr>
        <p:spPr>
          <a:xfrm>
            <a:off x="8039405" y="3061353"/>
            <a:ext cx="211226" cy="596247"/>
          </a:xfrm>
          <a:prstGeom prst="rect">
            <a:avLst/>
          </a:prstGeom>
          <a:solidFill>
            <a:srgbClr val="E8674C"/>
          </a:solidFill>
          <a:ln w="12700">
            <a:solidFill>
              <a:srgbClr val="333333"/>
            </a:solidFill>
            <a:prstDash val="solid"/>
          </a:ln>
        </p:spPr>
      </p:sp>
      <p:sp>
        <p:nvSpPr>
          <p:cNvPr id="40" name="Shape 38"/>
          <p:cNvSpPr/>
          <p:nvPr/>
        </p:nvSpPr>
        <p:spPr>
          <a:xfrm>
            <a:off x="8272577" y="3451207"/>
            <a:ext cx="211226" cy="206393"/>
          </a:xfrm>
          <a:prstGeom prst="rect">
            <a:avLst/>
          </a:prstGeom>
          <a:solidFill>
            <a:srgbClr val="E8674C"/>
          </a:solidFill>
          <a:ln w="12700">
            <a:solidFill>
              <a:srgbClr val="333333"/>
            </a:solidFill>
            <a:prstDash val="solid"/>
          </a:ln>
        </p:spPr>
      </p:sp>
      <p:sp>
        <p:nvSpPr>
          <p:cNvPr id="41" name="Shape 39"/>
          <p:cNvSpPr/>
          <p:nvPr/>
        </p:nvSpPr>
        <p:spPr>
          <a:xfrm>
            <a:off x="8505749" y="3588802"/>
            <a:ext cx="211226" cy="68798"/>
          </a:xfrm>
          <a:prstGeom prst="rect">
            <a:avLst/>
          </a:prstGeom>
          <a:solidFill>
            <a:srgbClr val="E8674C"/>
          </a:solidFill>
          <a:ln w="12700">
            <a:solidFill>
              <a:srgbClr val="333333"/>
            </a:solidFill>
            <a:prstDash val="solid"/>
          </a:ln>
        </p:spPr>
      </p:sp>
      <p:sp>
        <p:nvSpPr>
          <p:cNvPr id="42" name="Shape 40"/>
          <p:cNvSpPr/>
          <p:nvPr/>
        </p:nvSpPr>
        <p:spPr>
          <a:xfrm>
            <a:off x="8738921" y="3634667"/>
            <a:ext cx="211226" cy="22933"/>
          </a:xfrm>
          <a:prstGeom prst="rect">
            <a:avLst/>
          </a:prstGeom>
          <a:solidFill>
            <a:srgbClr val="E8674C"/>
          </a:solidFill>
          <a:ln w="12700">
            <a:solidFill>
              <a:srgbClr val="333333"/>
            </a:solidFill>
            <a:prstDash val="solid"/>
          </a:ln>
        </p:spPr>
      </p:sp>
      <p:sp>
        <p:nvSpPr>
          <p:cNvPr id="43" name="Shape 41"/>
          <p:cNvSpPr/>
          <p:nvPr/>
        </p:nvSpPr>
        <p:spPr>
          <a:xfrm>
            <a:off x="8972093" y="3634667"/>
            <a:ext cx="211226" cy="22933"/>
          </a:xfrm>
          <a:prstGeom prst="rect">
            <a:avLst/>
          </a:prstGeom>
          <a:solidFill>
            <a:srgbClr val="E8674C"/>
          </a:solidFill>
          <a:ln w="12700">
            <a:solidFill>
              <a:srgbClr val="333333"/>
            </a:solidFill>
            <a:prstDash val="solid"/>
          </a:ln>
        </p:spPr>
      </p:sp>
      <p:sp>
        <p:nvSpPr>
          <p:cNvPr id="44" name="Shape 42"/>
          <p:cNvSpPr/>
          <p:nvPr/>
        </p:nvSpPr>
        <p:spPr>
          <a:xfrm>
            <a:off x="9205265" y="3588802"/>
            <a:ext cx="211226" cy="68798"/>
          </a:xfrm>
          <a:prstGeom prst="rect">
            <a:avLst/>
          </a:prstGeom>
          <a:solidFill>
            <a:srgbClr val="E8674C"/>
          </a:solidFill>
          <a:ln w="12700">
            <a:solidFill>
              <a:srgbClr val="333333"/>
            </a:solidFill>
            <a:prstDash val="solid"/>
          </a:ln>
        </p:spPr>
      </p:sp>
      <p:sp>
        <p:nvSpPr>
          <p:cNvPr id="45" name="Shape 43"/>
          <p:cNvSpPr/>
          <p:nvPr/>
        </p:nvSpPr>
        <p:spPr>
          <a:xfrm>
            <a:off x="9438437" y="3451207"/>
            <a:ext cx="211226" cy="206393"/>
          </a:xfrm>
          <a:prstGeom prst="rect">
            <a:avLst/>
          </a:prstGeom>
          <a:solidFill>
            <a:srgbClr val="E8674C"/>
          </a:solidFill>
          <a:ln w="12700">
            <a:solidFill>
              <a:srgbClr val="333333"/>
            </a:solidFill>
            <a:prstDash val="solid"/>
          </a:ln>
        </p:spPr>
      </p:sp>
      <p:sp>
        <p:nvSpPr>
          <p:cNvPr id="46" name="Shape 44"/>
          <p:cNvSpPr/>
          <p:nvPr/>
        </p:nvSpPr>
        <p:spPr>
          <a:xfrm>
            <a:off x="9671609" y="3061353"/>
            <a:ext cx="211226" cy="596247"/>
          </a:xfrm>
          <a:prstGeom prst="rect">
            <a:avLst/>
          </a:prstGeom>
          <a:solidFill>
            <a:srgbClr val="E8674C"/>
          </a:solidFill>
          <a:ln w="12700">
            <a:solidFill>
              <a:srgbClr val="333333"/>
            </a:solidFill>
            <a:prstDash val="solid"/>
          </a:ln>
        </p:spPr>
      </p:sp>
      <p:sp>
        <p:nvSpPr>
          <p:cNvPr id="47" name="Shape 45"/>
          <p:cNvSpPr/>
          <p:nvPr/>
        </p:nvSpPr>
        <p:spPr>
          <a:xfrm>
            <a:off x="9904781" y="2510971"/>
            <a:ext cx="211226" cy="1146629"/>
          </a:xfrm>
          <a:prstGeom prst="rect">
            <a:avLst/>
          </a:prstGeom>
          <a:solidFill>
            <a:srgbClr val="E8674C"/>
          </a:solidFill>
          <a:ln w="12700">
            <a:solidFill>
              <a:srgbClr val="333333"/>
            </a:solidFill>
            <a:prstDash val="solid"/>
          </a:ln>
        </p:spPr>
      </p:sp>
      <p:sp>
        <p:nvSpPr>
          <p:cNvPr id="48" name="Shape 46"/>
          <p:cNvSpPr/>
          <p:nvPr/>
        </p:nvSpPr>
        <p:spPr>
          <a:xfrm>
            <a:off x="10137953" y="2212848"/>
            <a:ext cx="211226" cy="1444752"/>
          </a:xfrm>
          <a:prstGeom prst="rect">
            <a:avLst/>
          </a:prstGeom>
          <a:solidFill>
            <a:srgbClr val="E8674C"/>
          </a:solidFill>
          <a:ln w="12700">
            <a:solidFill>
              <a:srgbClr val="333333"/>
            </a:solidFill>
            <a:prstDash val="solid"/>
          </a:ln>
        </p:spPr>
      </p:sp>
      <p:sp>
        <p:nvSpPr>
          <p:cNvPr id="49" name="Shape 47"/>
          <p:cNvSpPr/>
          <p:nvPr/>
        </p:nvSpPr>
        <p:spPr>
          <a:xfrm>
            <a:off x="10371125" y="2510971"/>
            <a:ext cx="211226" cy="1146629"/>
          </a:xfrm>
          <a:prstGeom prst="rect">
            <a:avLst/>
          </a:prstGeom>
          <a:solidFill>
            <a:srgbClr val="E8674C"/>
          </a:solidFill>
          <a:ln w="12700">
            <a:solidFill>
              <a:srgbClr val="333333"/>
            </a:solidFill>
            <a:prstDash val="solid"/>
          </a:ln>
        </p:spPr>
      </p:sp>
      <p:sp>
        <p:nvSpPr>
          <p:cNvPr id="50" name="Shape 48"/>
          <p:cNvSpPr/>
          <p:nvPr/>
        </p:nvSpPr>
        <p:spPr>
          <a:xfrm>
            <a:off x="10604297" y="3061353"/>
            <a:ext cx="211226" cy="596247"/>
          </a:xfrm>
          <a:prstGeom prst="rect">
            <a:avLst/>
          </a:prstGeom>
          <a:solidFill>
            <a:srgbClr val="E8674C"/>
          </a:solidFill>
          <a:ln w="12700">
            <a:solidFill>
              <a:srgbClr val="333333"/>
            </a:solidFill>
            <a:prstDash val="solid"/>
          </a:ln>
        </p:spPr>
      </p:sp>
      <p:sp>
        <p:nvSpPr>
          <p:cNvPr id="51" name="Shape 49"/>
          <p:cNvSpPr/>
          <p:nvPr/>
        </p:nvSpPr>
        <p:spPr>
          <a:xfrm>
            <a:off x="10837469" y="3451207"/>
            <a:ext cx="211226" cy="206393"/>
          </a:xfrm>
          <a:prstGeom prst="rect">
            <a:avLst/>
          </a:prstGeom>
          <a:solidFill>
            <a:srgbClr val="E8674C"/>
          </a:solidFill>
          <a:ln w="12700">
            <a:solidFill>
              <a:srgbClr val="333333"/>
            </a:solidFill>
            <a:prstDash val="solid"/>
          </a:ln>
        </p:spPr>
      </p:sp>
      <p:sp>
        <p:nvSpPr>
          <p:cNvPr id="52" name="Shape 50"/>
          <p:cNvSpPr/>
          <p:nvPr/>
        </p:nvSpPr>
        <p:spPr>
          <a:xfrm>
            <a:off x="11070641" y="3611735"/>
            <a:ext cx="211226" cy="45865"/>
          </a:xfrm>
          <a:prstGeom prst="rect">
            <a:avLst/>
          </a:prstGeom>
          <a:solidFill>
            <a:srgbClr val="E8674C"/>
          </a:solidFill>
          <a:ln w="12700">
            <a:solidFill>
              <a:srgbClr val="333333"/>
            </a:solidFill>
            <a:prstDash val="solid"/>
          </a:ln>
        </p:spPr>
      </p:sp>
      <p:sp>
        <p:nvSpPr>
          <p:cNvPr id="53" name="Text 51"/>
          <p:cNvSpPr txBox="1"/>
          <p:nvPr/>
        </p:nvSpPr>
        <p:spPr>
          <a:xfrm>
            <a:off x="6629400" y="3794760"/>
            <a:ext cx="4663440" cy="274320"/>
          </a:xfrm>
          <a:prstGeom prst="rect">
            <a:avLst/>
          </a:prstGeom>
          <a:noFill/>
          <a:ln/>
        </p:spPr>
        <p:txBody>
          <a:bodyPr wrap="square" lIns="0" tIns="0" rIns="0" bIns="0" rtlCol="0" anchor="ctr"/>
          <a:lstStyle/>
          <a:p>
            <a:pPr indent="0" marL="0">
              <a:buNone/>
            </a:pPr>
            <a:r>
              <a:rPr lang="en-US" sz="1150" dirty="0">
                <a:solidFill>
                  <a:srgbClr val="1F3A5F"/>
                </a:solidFill>
                <a:latin typeface="Courier New" pitchFamily="34" charset="0"/>
                <a:ea typeface="Courier New" pitchFamily="34" charset="-122"/>
                <a:cs typeface="Courier New" pitchFamily="34" charset="-120"/>
              </a:rPr>
              <a:t>mean 50.0   sd 10.8   kurtosis −1.49</a:t>
            </a:r>
            <a:endParaRPr lang="en-US" sz="1150" dirty="0"/>
          </a:p>
        </p:txBody>
      </p:sp>
      <p:sp>
        <p:nvSpPr>
          <p:cNvPr id="54" name="Text 52"/>
          <p:cNvSpPr txBox="1"/>
          <p:nvPr/>
        </p:nvSpPr>
        <p:spPr>
          <a:xfrm>
            <a:off x="6629400" y="4114800"/>
            <a:ext cx="4663440" cy="274320"/>
          </a:xfrm>
          <a:prstGeom prst="rect">
            <a:avLst/>
          </a:prstGeom>
          <a:noFill/>
          <a:ln/>
        </p:spPr>
        <p:txBody>
          <a:bodyPr wrap="square" lIns="0" tIns="0" rIns="0" bIns="0" rtlCol="0" anchor="ctr"/>
          <a:lstStyle/>
          <a:p>
            <a:pPr indent="0" marL="0">
              <a:buNone/>
            </a:pPr>
            <a:r>
              <a:rPr lang="en-US" sz="1200" i="1" dirty="0">
                <a:solidFill>
                  <a:srgbClr val="A63B24"/>
                </a:solidFill>
                <a:latin typeface="Calibri" pitchFamily="34" charset="0"/>
                <a:ea typeface="Calibri" pitchFamily="34" charset="-122"/>
                <a:cs typeface="Calibri" pitchFamily="34" charset="-120"/>
              </a:rPr>
              <a:t>Almost NOBODY is near 50. Two groups.</a:t>
            </a:r>
            <a:endParaRPr lang="en-US" sz="1200" dirty="0"/>
          </a:p>
        </p:txBody>
      </p:sp>
      <p:sp>
        <p:nvSpPr>
          <p:cNvPr id="55" name="Shape 53"/>
          <p:cNvSpPr/>
          <p:nvPr/>
        </p:nvSpPr>
        <p:spPr>
          <a:xfrm>
            <a:off x="548640" y="4526280"/>
            <a:ext cx="11064240" cy="1325880"/>
          </a:xfrm>
          <a:prstGeom prst="roundRect">
            <a:avLst>
              <a:gd name="adj" fmla="val 6207"/>
            </a:avLst>
          </a:prstGeom>
          <a:solidFill>
            <a:srgbClr val="FFF6E0"/>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56" name="Text 54"/>
          <p:cNvSpPr txBox="1"/>
          <p:nvPr/>
        </p:nvSpPr>
        <p:spPr>
          <a:xfrm>
            <a:off x="868680" y="4672584"/>
            <a:ext cx="7315200" cy="274320"/>
          </a:xfrm>
          <a:prstGeom prst="rect">
            <a:avLst/>
          </a:prstGeom>
          <a:noFill/>
          <a:ln/>
        </p:spPr>
        <p:txBody>
          <a:bodyPr wrap="square" lIns="0" tIns="0" rIns="0" bIns="0" rtlCol="0" anchor="ctr"/>
          <a:lstStyle/>
          <a:p>
            <a:pPr indent="0" marL="0">
              <a:buNone/>
            </a:pPr>
            <a:r>
              <a:rPr lang="en-US" sz="1450" b="1" dirty="0">
                <a:solidFill>
                  <a:srgbClr val="8A5B00"/>
                </a:solidFill>
                <a:latin typeface="Calibri" pitchFamily="34" charset="0"/>
                <a:ea typeface="Calibri" pitchFamily="34" charset="-122"/>
                <a:cs typeface="Calibri" pitchFamily="34" charset="-120"/>
              </a:rPr>
              <a:t>The mean of B describes a person who does not exist</a:t>
            </a:r>
            <a:endParaRPr lang="en-US" sz="1450" dirty="0"/>
          </a:p>
        </p:txBody>
      </p:sp>
      <p:sp>
        <p:nvSpPr>
          <p:cNvPr id="57" name="Text 55"/>
          <p:cNvSpPr txBox="1"/>
          <p:nvPr/>
        </p:nvSpPr>
        <p:spPr>
          <a:xfrm>
            <a:off x="868680" y="4983480"/>
            <a:ext cx="10424160" cy="777240"/>
          </a:xfrm>
          <a:prstGeom prst="rect">
            <a:avLst/>
          </a:prstGeom>
          <a:noFill/>
          <a:ln/>
        </p:spPr>
        <p:txBody>
          <a:bodyPr wrap="square" lIns="0" tIns="0" rIns="0" bIns="0" rtlCol="0" anchor="ctr"/>
          <a:lstStyle/>
          <a:p>
            <a:pPr indent="0" marL="0">
              <a:lnSpc>
                <a:spcPct val="115000"/>
              </a:lnSpc>
              <a:buNone/>
            </a:pPr>
            <a:r>
              <a:rPr lang="en-US" sz="1250" dirty="0">
                <a:solidFill>
                  <a:srgbClr val="6B4A0B"/>
                </a:solidFill>
                <a:latin typeface="Calibri" pitchFamily="34" charset="0"/>
                <a:ea typeface="Calibri" pitchFamily="34" charset="-122"/>
                <a:cs typeface="Calibri" pitchFamily="34" charset="-120"/>
              </a:rPr>
              <a:t>Report “mean 50, SD 10” for either and the reader pictures A. Day 20's Anscombe made this point for relationships; this is the same point for distributions. Centre and spread are two numbers, and two numbers cannot describe a shape — which is why you plot, and why skewness and kurtosis exist.</a:t>
            </a:r>
            <a:endParaRPr lang="en-US" sz="12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4F6FA"/>
        </a:solidFill>
      </p:bgPr>
    </p:bg>
    <p:spTree>
      <p:nvGrpSpPr>
        <p:cNvPr id="1" name=""/>
        <p:cNvGrpSpPr/>
        <p:nvPr/>
      </p:nvGrpSpPr>
      <p:grpSpPr>
        <a:xfrm>
          <a:off x="0" y="0"/>
          <a:ext cx="0" cy="0"/>
          <a:chOff x="0" y="0"/>
          <a:chExt cx="0" cy="0"/>
        </a:xfrm>
      </p:grpSpPr>
      <p:sp>
        <p:nvSpPr>
          <p:cNvPr id="2" name="Text 0"/>
          <p:cNvSpPr txBox="1"/>
          <p:nvPr/>
        </p:nvSpPr>
        <p:spPr>
          <a:xfrm>
            <a:off x="8138160" y="6437376"/>
            <a:ext cx="3474720" cy="256032"/>
          </a:xfrm>
          <a:prstGeom prst="rect">
            <a:avLst/>
          </a:prstGeom>
          <a:noFill/>
          <a:ln/>
        </p:spPr>
        <p:txBody>
          <a:bodyPr wrap="square" lIns="0" tIns="0" rIns="0" bIns="0" rtlCol="0" anchor="ctr"/>
          <a:lstStyle/>
          <a:p>
            <a:pPr algn="r" indent="0" marL="0">
              <a:buNone/>
            </a:pPr>
            <a:r>
              <a:rPr lang="en-US" sz="900" dirty="0">
                <a:solidFill>
                  <a:srgbClr val="9DAABE"/>
                </a:solidFill>
                <a:latin typeface="Calibri" pitchFamily="34" charset="0"/>
                <a:ea typeface="Calibri" pitchFamily="34" charset="-122"/>
                <a:cs typeface="Calibri" pitchFamily="34" charset="-120"/>
              </a:rPr>
              <a:t>Slides by Srinivasa Sai Chava</a:t>
            </a:r>
            <a:endParaRPr lang="en-US" sz="900" dirty="0"/>
          </a:p>
        </p:txBody>
      </p:sp>
      <p:sp>
        <p:nvSpPr>
          <p:cNvPr id="3" name="Text 1"/>
          <p:cNvSpPr txBox="1"/>
          <p:nvPr/>
        </p:nvSpPr>
        <p:spPr>
          <a:xfrm>
            <a:off x="548640" y="292608"/>
            <a:ext cx="10515600" cy="274320"/>
          </a:xfrm>
          <a:prstGeom prst="rect">
            <a:avLst/>
          </a:prstGeom>
          <a:noFill/>
          <a:ln/>
        </p:spPr>
        <p:txBody>
          <a:bodyPr wrap="square" lIns="0" tIns="0" rIns="0" bIns="0" rtlCol="0" anchor="ctr"/>
          <a:lstStyle/>
          <a:p>
            <a:pPr indent="0" marL="0">
              <a:buNone/>
            </a:pPr>
            <a:r>
              <a:rPr lang="en-US" sz="1200" b="1" spc="200" kern="0" dirty="0">
                <a:solidFill>
                  <a:srgbClr val="3E7CB1"/>
                </a:solidFill>
                <a:latin typeface="Calibri" pitchFamily="34" charset="0"/>
                <a:ea typeface="Calibri" pitchFamily="34" charset="-122"/>
                <a:cs typeface="Calibri" pitchFamily="34" charset="-120"/>
              </a:rPr>
              <a:t>3.2  ·  SKEWNESS &amp; KURTOSIS</a:t>
            </a:r>
            <a:endParaRPr lang="en-US" sz="1200" dirty="0"/>
          </a:p>
        </p:txBody>
      </p:sp>
      <p:sp>
        <p:nvSpPr>
          <p:cNvPr id="4" name="Text 2"/>
          <p:cNvSpPr txBox="1"/>
          <p:nvPr/>
        </p:nvSpPr>
        <p:spPr>
          <a:xfrm>
            <a:off x="548640" y="566928"/>
            <a:ext cx="11064240" cy="685800"/>
          </a:xfrm>
          <a:prstGeom prst="rect">
            <a:avLst/>
          </a:prstGeom>
          <a:noFill/>
          <a:ln/>
        </p:spPr>
        <p:txBody>
          <a:bodyPr wrap="square" lIns="0" tIns="0" rIns="0" bIns="0" rtlCol="0" anchor="ctr"/>
          <a:lstStyle/>
          <a:p>
            <a:pPr indent="0" marL="0">
              <a:buNone/>
            </a:pPr>
            <a:r>
              <a:rPr lang="en-US" sz="3200" b="1" dirty="0">
                <a:solidFill>
                  <a:srgbClr val="1F3A5F"/>
                </a:solidFill>
                <a:latin typeface="Cambria" pitchFamily="34" charset="0"/>
                <a:ea typeface="Cambria" pitchFamily="34" charset="-122"/>
                <a:cs typeface="Cambria" pitchFamily="34" charset="-120"/>
              </a:rPr>
              <a:t>Two numbers for shape</a:t>
            </a:r>
            <a:endParaRPr lang="en-US" sz="3200" dirty="0"/>
          </a:p>
        </p:txBody>
      </p:sp>
      <p:sp>
        <p:nvSpPr>
          <p:cNvPr id="5" name="Shape 3"/>
          <p:cNvSpPr/>
          <p:nvPr/>
        </p:nvSpPr>
        <p:spPr>
          <a:xfrm>
            <a:off x="548640" y="1572768"/>
            <a:ext cx="5760720" cy="2514600"/>
          </a:xfrm>
          <a:prstGeom prst="roundRect">
            <a:avLst>
              <a:gd name="adj" fmla="val 3273"/>
            </a:avLst>
          </a:prstGeom>
          <a:solidFill>
            <a:srgbClr val="E9F6F2"/>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6" name="Text 4"/>
          <p:cNvSpPr txBox="1"/>
          <p:nvPr/>
        </p:nvSpPr>
        <p:spPr>
          <a:xfrm>
            <a:off x="804672" y="1719072"/>
            <a:ext cx="5212080" cy="301752"/>
          </a:xfrm>
          <a:prstGeom prst="rect">
            <a:avLst/>
          </a:prstGeom>
          <a:noFill/>
          <a:ln/>
        </p:spPr>
        <p:txBody>
          <a:bodyPr wrap="square" lIns="0" tIns="0" rIns="0" bIns="0" rtlCol="0" anchor="ctr"/>
          <a:lstStyle/>
          <a:p>
            <a:pPr indent="0" marL="0">
              <a:buNone/>
            </a:pPr>
            <a:r>
              <a:rPr lang="en-US" sz="1400" b="1" dirty="0">
                <a:solidFill>
                  <a:srgbClr val="1C6F5C"/>
                </a:solidFill>
                <a:latin typeface="Calibri" pitchFamily="34" charset="0"/>
                <a:ea typeface="Calibri" pitchFamily="34" charset="-122"/>
                <a:cs typeface="Calibri" pitchFamily="34" charset="-120"/>
              </a:rPr>
              <a:t>Skewness  —  which side is the tail?</a:t>
            </a:r>
            <a:endParaRPr lang="en-US" sz="14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804672" y="2103120"/>
          <a:ext cx="5257800" cy="914400"/>
        </p:xfrm>
        <a:graphic>
          <a:graphicData uri="http://schemas.openxmlformats.org/drawingml/2006/table">
            <a:tbl>
              <a:tblPr/>
              <a:tblGrid>
                <a:gridCol w="1005840"/>
                <a:gridCol w="2286000"/>
                <a:gridCol w="1965960"/>
              </a:tblGrid>
              <a:tr h="329184">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Value</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solidFill>
                      <a:srgbClr val="1F3A5F"/>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Means</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solidFill>
                      <a:srgbClr val="1F3A5F"/>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Example</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solidFill>
                      <a:srgbClr val="1F3A5F"/>
                    </a:solidFill>
                  </a:tcPr>
                </a:tc>
              </a:tr>
              <a:tr h="329184">
                <a:tc>
                  <a:txBody>
                    <a:bodyPr/>
                    <a:lstStyle/>
                    <a:p>
                      <a:pPr indent="0" marL="0">
                        <a:buNone/>
                      </a:pPr>
                      <a:r>
                        <a:rPr lang="en-US" sz="1050" dirty="0">
                          <a:solidFill>
                            <a:srgbClr val="2B3445"/>
                          </a:solidFill>
                          <a:latin typeface="Calibri" pitchFamily="34" charset="0"/>
                          <a:ea typeface="Calibri" pitchFamily="34" charset="-122"/>
                          <a:cs typeface="Calibri" pitchFamily="34" charset="-120"/>
                        </a:rPr>
                        <a:t>&gt; 0</a:t>
                      </a:r>
                      <a:endParaRPr lang="en-US" sz="105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050" dirty="0">
                          <a:solidFill>
                            <a:srgbClr val="2B3445"/>
                          </a:solidFill>
                          <a:latin typeface="Calibri" pitchFamily="34" charset="0"/>
                          <a:ea typeface="Calibri" pitchFamily="34" charset="-122"/>
                          <a:cs typeface="Calibri" pitchFamily="34" charset="-120"/>
                        </a:rPr>
                        <a:t>long tail to the RIGHT</a:t>
                      </a:r>
                      <a:endParaRPr lang="en-US" sz="105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050" dirty="0">
                          <a:solidFill>
                            <a:srgbClr val="2B3445"/>
                          </a:solidFill>
                          <a:latin typeface="Calibri" pitchFamily="34" charset="0"/>
                          <a:ea typeface="Calibri" pitchFamily="34" charset="-122"/>
                          <a:cs typeface="Calibri" pitchFamily="34" charset="-120"/>
                        </a:rPr>
                        <a:t>income, delays</a:t>
                      </a:r>
                      <a:endParaRPr lang="en-US" sz="105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r>
              <a:tr h="329184">
                <a:tc>
                  <a:txBody>
                    <a:bodyPr/>
                    <a:lstStyle/>
                    <a:p>
                      <a:pPr indent="0" marL="0">
                        <a:buNone/>
                      </a:pPr>
                      <a:r>
                        <a:rPr lang="en-US" sz="1050" dirty="0">
                          <a:solidFill>
                            <a:srgbClr val="2B3445"/>
                          </a:solidFill>
                          <a:latin typeface="Calibri" pitchFamily="34" charset="0"/>
                          <a:ea typeface="Calibri" pitchFamily="34" charset="-122"/>
                          <a:cs typeface="Calibri" pitchFamily="34" charset="-120"/>
                        </a:rPr>
                        <a:t>≈ 0</a:t>
                      </a:r>
                      <a:endParaRPr lang="en-US" sz="105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050" dirty="0">
                          <a:solidFill>
                            <a:srgbClr val="2B3445"/>
                          </a:solidFill>
                          <a:latin typeface="Calibri" pitchFamily="34" charset="0"/>
                          <a:ea typeface="Calibri" pitchFamily="34" charset="-122"/>
                          <a:cs typeface="Calibri" pitchFamily="34" charset="-120"/>
                        </a:rPr>
                        <a:t>symmetric</a:t>
                      </a:r>
                      <a:endParaRPr lang="en-US" sz="105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050" dirty="0">
                          <a:solidFill>
                            <a:srgbClr val="2B3445"/>
                          </a:solidFill>
                          <a:latin typeface="Calibri" pitchFamily="34" charset="0"/>
                          <a:ea typeface="Calibri" pitchFamily="34" charset="-122"/>
                          <a:cs typeface="Calibri" pitchFamily="34" charset="-120"/>
                        </a:rPr>
                        <a:t>heights</a:t>
                      </a:r>
                      <a:endParaRPr lang="en-US" sz="105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r>
              <a:tr h="329184">
                <a:tc>
                  <a:txBody>
                    <a:bodyPr/>
                    <a:lstStyle/>
                    <a:p>
                      <a:pPr indent="0" marL="0">
                        <a:buNone/>
                      </a:pPr>
                      <a:r>
                        <a:rPr lang="en-US" sz="1050" dirty="0">
                          <a:solidFill>
                            <a:srgbClr val="2B3445"/>
                          </a:solidFill>
                          <a:latin typeface="Calibri" pitchFamily="34" charset="0"/>
                          <a:ea typeface="Calibri" pitchFamily="34" charset="-122"/>
                          <a:cs typeface="Calibri" pitchFamily="34" charset="-120"/>
                        </a:rPr>
                        <a:t>&lt; 0</a:t>
                      </a:r>
                      <a:endParaRPr lang="en-US" sz="105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050" dirty="0">
                          <a:solidFill>
                            <a:srgbClr val="2B3445"/>
                          </a:solidFill>
                          <a:latin typeface="Calibri" pitchFamily="34" charset="0"/>
                          <a:ea typeface="Calibri" pitchFamily="34" charset="-122"/>
                          <a:cs typeface="Calibri" pitchFamily="34" charset="-120"/>
                        </a:rPr>
                        <a:t>long tail to the LEFT</a:t>
                      </a:r>
                      <a:endParaRPr lang="en-US" sz="105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050" dirty="0">
                          <a:solidFill>
                            <a:srgbClr val="2B3445"/>
                          </a:solidFill>
                          <a:latin typeface="Calibri" pitchFamily="34" charset="0"/>
                          <a:ea typeface="Calibri" pitchFamily="34" charset="-122"/>
                          <a:cs typeface="Calibri" pitchFamily="34" charset="-120"/>
                        </a:rPr>
                        <a:t>exam marks with a ceiling</a:t>
                      </a:r>
                      <a:endParaRPr lang="en-US" sz="105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r>
            </a:tbl>
          </a:graphicData>
        </a:graphic>
      </p:graphicFrame>
      <p:sp>
        <p:nvSpPr>
          <p:cNvPr id="8" name="Text 5"/>
          <p:cNvSpPr txBox="1"/>
          <p:nvPr/>
        </p:nvSpPr>
        <p:spPr>
          <a:xfrm>
            <a:off x="804672" y="3611880"/>
            <a:ext cx="5257800" cy="411480"/>
          </a:xfrm>
          <a:prstGeom prst="rect">
            <a:avLst/>
          </a:prstGeom>
          <a:noFill/>
          <a:ln/>
        </p:spPr>
        <p:txBody>
          <a:bodyPr wrap="square" lIns="0" tIns="0" rIns="0" bIns="0" rtlCol="0" anchor="ctr"/>
          <a:lstStyle/>
          <a:p>
            <a:pPr indent="0" marL="0">
              <a:buNone/>
            </a:pPr>
            <a:r>
              <a:rPr lang="en-US" sz="1200" b="1" dirty="0">
                <a:solidFill>
                  <a:srgbClr val="1C6F5C"/>
                </a:solidFill>
                <a:latin typeface="Calibri" pitchFamily="34" charset="0"/>
                <a:ea typeface="Calibri" pitchFamily="34" charset="-122"/>
                <a:cs typeface="Calibri" pitchFamily="34" charset="-120"/>
              </a:rPr>
              <a:t>Rough guide: |skew| above 1 is strongly skewed — use the median.</a:t>
            </a:r>
            <a:endParaRPr lang="en-US" sz="1200" dirty="0"/>
          </a:p>
        </p:txBody>
      </p:sp>
      <p:sp>
        <p:nvSpPr>
          <p:cNvPr id="9" name="Shape 6"/>
          <p:cNvSpPr/>
          <p:nvPr/>
        </p:nvSpPr>
        <p:spPr>
          <a:xfrm>
            <a:off x="6583680" y="1572768"/>
            <a:ext cx="5029200" cy="2514600"/>
          </a:xfrm>
          <a:prstGeom prst="roundRect">
            <a:avLst>
              <a:gd name="adj" fmla="val 3273"/>
            </a:avLst>
          </a:prstGeom>
          <a:solidFill>
            <a:srgbClr val="FFF6E0"/>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10" name="Text 7"/>
          <p:cNvSpPr txBox="1"/>
          <p:nvPr/>
        </p:nvSpPr>
        <p:spPr>
          <a:xfrm>
            <a:off x="6839712" y="1719072"/>
            <a:ext cx="4480560" cy="301752"/>
          </a:xfrm>
          <a:prstGeom prst="rect">
            <a:avLst/>
          </a:prstGeom>
          <a:noFill/>
          <a:ln/>
        </p:spPr>
        <p:txBody>
          <a:bodyPr wrap="square" lIns="0" tIns="0" rIns="0" bIns="0" rtlCol="0" anchor="ctr"/>
          <a:lstStyle/>
          <a:p>
            <a:pPr indent="0" marL="0">
              <a:buNone/>
            </a:pPr>
            <a:r>
              <a:rPr lang="en-US" sz="1400" b="1" dirty="0">
                <a:solidFill>
                  <a:srgbClr val="8A5B00"/>
                </a:solidFill>
                <a:latin typeface="Calibri" pitchFamily="34" charset="0"/>
                <a:ea typeface="Calibri" pitchFamily="34" charset="-122"/>
                <a:cs typeface="Calibri" pitchFamily="34" charset="-120"/>
              </a:rPr>
              <a:t>Kurtosis  —  how heavy are the tails?</a:t>
            </a:r>
            <a:endParaRPr lang="en-US" sz="1400" dirty="0"/>
          </a:p>
        </p:txBody>
      </p:sp>
      <p:graphicFrame>
        <p:nvGraphicFramePr>
          <p:cNvPr id="29" name="Table 1"/>
          <p:cNvGraphicFramePr>
            <a:graphicFrameLocks noGrp="1"/>
          </p:cNvGraphicFramePr>
          <p:nvPr>
            <p:extLst>
              <p:ext uri="{D42A27DB-BD31-4B8C-83A1-F6EECF244321}">
                <p14:modId xmlns:p14="http://schemas.microsoft.com/office/powerpoint/2010/main" val="1579011935"/>
              </p:ext>
            </p:extLst>
          </p:nvPr>
        </p:nvGraphicFramePr>
        <p:xfrm>
          <a:off x="6839712" y="2103120"/>
          <a:ext cx="4526280" cy="914400"/>
        </p:xfrm>
        <a:graphic>
          <a:graphicData uri="http://schemas.openxmlformats.org/drawingml/2006/table">
            <a:tbl>
              <a:tblPr/>
              <a:tblGrid>
                <a:gridCol w="1005840"/>
                <a:gridCol w="3520440"/>
              </a:tblGrid>
              <a:tr h="329184">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Value</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solidFill>
                      <a:srgbClr val="1F3A5F"/>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Means</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solidFill>
                      <a:srgbClr val="1F3A5F"/>
                    </a:solidFill>
                  </a:tcPr>
                </a:tc>
              </a:tr>
              <a:tr h="329184">
                <a:tc>
                  <a:txBody>
                    <a:bodyPr/>
                    <a:lstStyle/>
                    <a:p>
                      <a:pPr indent="0" marL="0">
                        <a:buNone/>
                      </a:pPr>
                      <a:r>
                        <a:rPr lang="en-US" sz="1050" dirty="0">
                          <a:solidFill>
                            <a:srgbClr val="2B3445"/>
                          </a:solidFill>
                          <a:latin typeface="Calibri" pitchFamily="34" charset="0"/>
                          <a:ea typeface="Calibri" pitchFamily="34" charset="-122"/>
                          <a:cs typeface="Calibri" pitchFamily="34" charset="-120"/>
                        </a:rPr>
                        <a:t>&gt; 0</a:t>
                      </a:r>
                      <a:endParaRPr lang="en-US" sz="105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050" dirty="0">
                          <a:solidFill>
                            <a:srgbClr val="2B3445"/>
                          </a:solidFill>
                          <a:latin typeface="Calibri" pitchFamily="34" charset="0"/>
                          <a:ea typeface="Calibri" pitchFamily="34" charset="-122"/>
                          <a:cs typeface="Calibri" pitchFamily="34" charset="-120"/>
                        </a:rPr>
                        <a:t>heavy tails — more extremes than normal</a:t>
                      </a:r>
                      <a:endParaRPr lang="en-US" sz="105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r>
              <a:tr h="329184">
                <a:tc>
                  <a:txBody>
                    <a:bodyPr/>
                    <a:lstStyle/>
                    <a:p>
                      <a:pPr indent="0" marL="0">
                        <a:buNone/>
                      </a:pPr>
                      <a:r>
                        <a:rPr lang="en-US" sz="1050" dirty="0">
                          <a:solidFill>
                            <a:srgbClr val="2B3445"/>
                          </a:solidFill>
                          <a:latin typeface="Calibri" pitchFamily="34" charset="0"/>
                          <a:ea typeface="Calibri" pitchFamily="34" charset="-122"/>
                          <a:cs typeface="Calibri" pitchFamily="34" charset="-120"/>
                        </a:rPr>
                        <a:t>≈ 0</a:t>
                      </a:r>
                      <a:endParaRPr lang="en-US" sz="105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050" dirty="0">
                          <a:solidFill>
                            <a:srgbClr val="2B3445"/>
                          </a:solidFill>
                          <a:latin typeface="Calibri" pitchFamily="34" charset="0"/>
                          <a:ea typeface="Calibri" pitchFamily="34" charset="-122"/>
                          <a:cs typeface="Calibri" pitchFamily="34" charset="-120"/>
                        </a:rPr>
                        <a:t>normal-like tails</a:t>
                      </a:r>
                      <a:endParaRPr lang="en-US" sz="105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r>
              <a:tr h="329184">
                <a:tc>
                  <a:txBody>
                    <a:bodyPr/>
                    <a:lstStyle/>
                    <a:p>
                      <a:pPr indent="0" marL="0">
                        <a:buNone/>
                      </a:pPr>
                      <a:r>
                        <a:rPr lang="en-US" sz="1050" dirty="0">
                          <a:solidFill>
                            <a:srgbClr val="2B3445"/>
                          </a:solidFill>
                          <a:latin typeface="Calibri" pitchFamily="34" charset="0"/>
                          <a:ea typeface="Calibri" pitchFamily="34" charset="-122"/>
                          <a:cs typeface="Calibri" pitchFamily="34" charset="-120"/>
                        </a:rPr>
                        <a:t>&lt; 0</a:t>
                      </a:r>
                      <a:endParaRPr lang="en-US" sz="105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050" dirty="0">
                          <a:solidFill>
                            <a:srgbClr val="2B3445"/>
                          </a:solidFill>
                          <a:latin typeface="Calibri" pitchFamily="34" charset="0"/>
                          <a:ea typeface="Calibri" pitchFamily="34" charset="-122"/>
                          <a:cs typeface="Calibri" pitchFamily="34" charset="-120"/>
                        </a:rPr>
                        <a:t>light tails — flat, or two humps</a:t>
                      </a:r>
                      <a:endParaRPr lang="en-US" sz="105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r>
            </a:tbl>
          </a:graphicData>
        </a:graphic>
      </p:graphicFrame>
      <p:sp>
        <p:nvSpPr>
          <p:cNvPr id="12" name="Text 8"/>
          <p:cNvSpPr txBox="1"/>
          <p:nvPr/>
        </p:nvSpPr>
        <p:spPr>
          <a:xfrm>
            <a:off x="6839712" y="3566160"/>
            <a:ext cx="4526280" cy="502920"/>
          </a:xfrm>
          <a:prstGeom prst="rect">
            <a:avLst/>
          </a:prstGeom>
          <a:noFill/>
          <a:ln/>
        </p:spPr>
        <p:txBody>
          <a:bodyPr wrap="square" lIns="0" tIns="0" rIns="0" bIns="0" rtlCol="0" anchor="ctr"/>
          <a:lstStyle/>
          <a:p>
            <a:pPr indent="0" marL="0">
              <a:lnSpc>
                <a:spcPct val="112000"/>
              </a:lnSpc>
              <a:buNone/>
            </a:pPr>
            <a:r>
              <a:rPr lang="en-US" sz="1150" dirty="0">
                <a:solidFill>
                  <a:srgbClr val="6B4A0B"/>
                </a:solidFill>
                <a:latin typeface="Calibri" pitchFamily="34" charset="0"/>
                <a:ea typeface="Calibri" pitchFamily="34" charset="-122"/>
                <a:cs typeface="Calibri" pitchFamily="34" charset="-120"/>
              </a:rPr>
              <a:t>pandas reports EXCESS kurtosis, so a normal curve scores 0 rather than 3. Other tools differ — check before comparing.</a:t>
            </a:r>
            <a:endParaRPr lang="en-US" sz="1150" dirty="0"/>
          </a:p>
        </p:txBody>
      </p:sp>
      <p:sp>
        <p:nvSpPr>
          <p:cNvPr id="13" name="Shape 9"/>
          <p:cNvSpPr/>
          <p:nvPr/>
        </p:nvSpPr>
        <p:spPr>
          <a:xfrm>
            <a:off x="548640" y="4206240"/>
            <a:ext cx="11064240" cy="1645920"/>
          </a:xfrm>
          <a:prstGeom prst="roundRect">
            <a:avLst>
              <a:gd name="adj" fmla="val 5000"/>
            </a:avLst>
          </a:prstGeom>
          <a:solidFill>
            <a:srgbClr val="FFFFFF"/>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14" name="Text 10"/>
          <p:cNvSpPr txBox="1"/>
          <p:nvPr/>
        </p:nvSpPr>
        <p:spPr>
          <a:xfrm>
            <a:off x="822960" y="4352544"/>
            <a:ext cx="6400800" cy="274320"/>
          </a:xfrm>
          <a:prstGeom prst="rect">
            <a:avLst/>
          </a:prstGeom>
          <a:noFill/>
          <a:ln/>
        </p:spPr>
        <p:txBody>
          <a:bodyPr wrap="square" lIns="0" tIns="0" rIns="0" bIns="0" rtlCol="0" anchor="ctr"/>
          <a:lstStyle/>
          <a:p>
            <a:pPr indent="0" marL="0">
              <a:buNone/>
            </a:pPr>
            <a:r>
              <a:rPr lang="en-US" sz="1450" b="1" dirty="0">
                <a:solidFill>
                  <a:srgbClr val="1F3A5F"/>
                </a:solidFill>
                <a:latin typeface="Calibri" pitchFamily="34" charset="0"/>
                <a:ea typeface="Calibri" pitchFamily="34" charset="-122"/>
                <a:cs typeface="Calibri" pitchFamily="34" charset="-120"/>
              </a:rPr>
              <a:t>The practical reading</a:t>
            </a:r>
            <a:endParaRPr lang="en-US" sz="1450" dirty="0"/>
          </a:p>
        </p:txBody>
      </p:sp>
      <p:sp>
        <p:nvSpPr>
          <p:cNvPr id="15" name="Shape 11"/>
          <p:cNvSpPr/>
          <p:nvPr/>
        </p:nvSpPr>
        <p:spPr>
          <a:xfrm>
            <a:off x="822960" y="4663440"/>
            <a:ext cx="5212080" cy="868680"/>
          </a:xfrm>
          <a:prstGeom prst="roundRect">
            <a:avLst>
              <a:gd name="adj" fmla="val 7368"/>
            </a:avLst>
          </a:prstGeom>
          <a:solidFill>
            <a:srgbClr val="1B2B45"/>
          </a:solidFill>
          <a:ln w="12700">
            <a:solidFill>
              <a:srgbClr val="1B2B45"/>
            </a:solidFill>
            <a:prstDash val="solid"/>
          </a:ln>
        </p:spPr>
      </p:sp>
      <p:sp>
        <p:nvSpPr>
          <p:cNvPr id="16" name="Text 12"/>
          <p:cNvSpPr txBox="1"/>
          <p:nvPr/>
        </p:nvSpPr>
        <p:spPr>
          <a:xfrm>
            <a:off x="987552" y="4773168"/>
            <a:ext cx="4882896" cy="649224"/>
          </a:xfrm>
          <a:prstGeom prst="rect">
            <a:avLst/>
          </a:prstGeom>
          <a:noFill/>
          <a:ln/>
        </p:spPr>
        <p:txBody>
          <a:bodyPr wrap="square" lIns="0" tIns="0" rIns="0" bIns="0" rtlCol="0" anchor="t"/>
          <a:lstStyle/>
          <a:p>
            <a:pPr indent="0" marL="0">
              <a:lnSpc>
                <a:spcPct val="112000"/>
              </a:lnSpc>
              <a:buNone/>
            </a:pPr>
            <a:r>
              <a:rPr lang="en-US" sz="1000" dirty="0">
                <a:solidFill>
                  <a:srgbClr val="E7EEF8"/>
                </a:solidFill>
                <a:latin typeface="Courier New" pitchFamily="34" charset="0"/>
                <a:ea typeface="Courier New" pitchFamily="34" charset="-122"/>
                <a:cs typeface="Courier New" pitchFamily="34" charset="-120"/>
              </a:rPr>
              <a:t>s.skew()     4.28    strongly right-skewed</a:t>
            </a:r>
            <a:endParaRPr lang="en-US" sz="1000" dirty="0"/>
          </a:p>
          <a:p>
            <a:pPr indent="0" marL="0">
              <a:lnSpc>
                <a:spcPct val="112000"/>
              </a:lnSpc>
              <a:buNone/>
            </a:pPr>
            <a:r>
              <a:rPr lang="en-US" sz="1000" dirty="0">
                <a:solidFill>
                  <a:srgbClr val="E7EEF8"/>
                </a:solidFill>
                <a:latin typeface="Courier New" pitchFamily="34" charset="0"/>
                <a:ea typeface="Courier New" pitchFamily="34" charset="-122"/>
                <a:cs typeface="Courier New" pitchFamily="34" charset="-120"/>
              </a:rPr>
              <a:t>s.kurt()    24.90    very heavy tails</a:t>
            </a:r>
            <a:endParaRPr lang="en-US" sz="1000" dirty="0"/>
          </a:p>
          <a:p>
            <a:pPr indent="0" marL="0">
              <a:lnSpc>
                <a:spcPct val="112000"/>
              </a:lnSpc>
              <a:buNone/>
            </a:pPr>
            <a:r>
              <a:rPr lang="en-US" sz="1000" dirty="0">
                <a:solidFill>
                  <a:srgbClr val="E7EEF8"/>
                </a:solidFill>
                <a:latin typeface="Courier New" pitchFamily="34" charset="0"/>
                <a:ea typeface="Courier New" pitchFamily="34" charset="-122"/>
                <a:cs typeface="Courier New" pitchFamily="34" charset="-120"/>
              </a:rPr>
              <a:t>#  -&gt; report the median, expect outliers</a:t>
            </a:r>
            <a:endParaRPr lang="en-US" sz="1000" dirty="0"/>
          </a:p>
        </p:txBody>
      </p:sp>
      <p:sp>
        <p:nvSpPr>
          <p:cNvPr id="17" name="Text 13"/>
          <p:cNvSpPr txBox="1"/>
          <p:nvPr/>
        </p:nvSpPr>
        <p:spPr>
          <a:xfrm>
            <a:off x="6400800" y="4645152"/>
            <a:ext cx="4983480" cy="1005840"/>
          </a:xfrm>
          <a:prstGeom prst="rect">
            <a:avLst/>
          </a:prstGeom>
          <a:noFill/>
          <a:ln/>
        </p:spPr>
        <p:txBody>
          <a:bodyPr wrap="square" lIns="0" tIns="0" rIns="0" bIns="0" rtlCol="0" anchor="ctr"/>
          <a:lstStyle/>
          <a:p>
            <a:pPr indent="0" marL="0">
              <a:lnSpc>
                <a:spcPct val="115000"/>
              </a:lnSpc>
              <a:buNone/>
            </a:pPr>
            <a:r>
              <a:rPr lang="en-US" sz="1200" dirty="0">
                <a:solidFill>
                  <a:srgbClr val="2B3445"/>
                </a:solidFill>
                <a:latin typeface="Calibri" pitchFamily="34" charset="0"/>
                <a:ea typeface="Calibri" pitchFamily="34" charset="-122"/>
                <a:cs typeface="Calibri" pitchFamily="34" charset="-120"/>
              </a:rPr>
              <a:t>You rarely quote these numbers to a client. You use them to decide WHICH summary to quote: a skew of 4.28 tells you the mean will mislead before you have plotted anything, and a high kurtosis warns you that extreme values are coming.</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4F6FA"/>
        </a:solidFill>
      </p:bgPr>
    </p:bg>
    <p:spTree>
      <p:nvGrpSpPr>
        <p:cNvPr id="1" name=""/>
        <p:cNvGrpSpPr/>
        <p:nvPr/>
      </p:nvGrpSpPr>
      <p:grpSpPr>
        <a:xfrm>
          <a:off x="0" y="0"/>
          <a:ext cx="0" cy="0"/>
          <a:chOff x="0" y="0"/>
          <a:chExt cx="0" cy="0"/>
        </a:xfrm>
      </p:grpSpPr>
      <p:sp>
        <p:nvSpPr>
          <p:cNvPr id="2" name="Text 0"/>
          <p:cNvSpPr txBox="1"/>
          <p:nvPr/>
        </p:nvSpPr>
        <p:spPr>
          <a:xfrm>
            <a:off x="8138160" y="6437376"/>
            <a:ext cx="3474720" cy="256032"/>
          </a:xfrm>
          <a:prstGeom prst="rect">
            <a:avLst/>
          </a:prstGeom>
          <a:noFill/>
          <a:ln/>
        </p:spPr>
        <p:txBody>
          <a:bodyPr wrap="square" lIns="0" tIns="0" rIns="0" bIns="0" rtlCol="0" anchor="ctr"/>
          <a:lstStyle/>
          <a:p>
            <a:pPr algn="r" indent="0" marL="0">
              <a:buNone/>
            </a:pPr>
            <a:r>
              <a:rPr lang="en-US" sz="900" dirty="0">
                <a:solidFill>
                  <a:srgbClr val="9DAABE"/>
                </a:solidFill>
                <a:latin typeface="Calibri" pitchFamily="34" charset="0"/>
                <a:ea typeface="Calibri" pitchFamily="34" charset="-122"/>
                <a:cs typeface="Calibri" pitchFamily="34" charset="-120"/>
              </a:rPr>
              <a:t>Slides by Srinivasa Sai Chava</a:t>
            </a:r>
            <a:endParaRPr lang="en-US" sz="900" dirty="0"/>
          </a:p>
        </p:txBody>
      </p:sp>
      <p:sp>
        <p:nvSpPr>
          <p:cNvPr id="3" name="Text 1"/>
          <p:cNvSpPr txBox="1"/>
          <p:nvPr/>
        </p:nvSpPr>
        <p:spPr>
          <a:xfrm>
            <a:off x="548640" y="292608"/>
            <a:ext cx="10515600" cy="274320"/>
          </a:xfrm>
          <a:prstGeom prst="rect">
            <a:avLst/>
          </a:prstGeom>
          <a:noFill/>
          <a:ln/>
        </p:spPr>
        <p:txBody>
          <a:bodyPr wrap="square" lIns="0" tIns="0" rIns="0" bIns="0" rtlCol="0" anchor="ctr"/>
          <a:lstStyle/>
          <a:p>
            <a:pPr indent="0" marL="0">
              <a:buNone/>
            </a:pPr>
            <a:r>
              <a:rPr lang="en-US" sz="1200" b="1" spc="200" kern="0" dirty="0">
                <a:solidFill>
                  <a:srgbClr val="3E7CB1"/>
                </a:solidFill>
                <a:latin typeface="Calibri" pitchFamily="34" charset="0"/>
                <a:ea typeface="Calibri" pitchFamily="34" charset="-122"/>
                <a:cs typeface="Calibri" pitchFamily="34" charset="-120"/>
              </a:rPr>
              <a:t>3.3  ·  A DECISION TABLE</a:t>
            </a:r>
            <a:endParaRPr lang="en-US" sz="1200" dirty="0"/>
          </a:p>
        </p:txBody>
      </p:sp>
      <p:sp>
        <p:nvSpPr>
          <p:cNvPr id="4" name="Text 2"/>
          <p:cNvSpPr txBox="1"/>
          <p:nvPr/>
        </p:nvSpPr>
        <p:spPr>
          <a:xfrm>
            <a:off x="548640" y="566928"/>
            <a:ext cx="11064240" cy="685800"/>
          </a:xfrm>
          <a:prstGeom prst="rect">
            <a:avLst/>
          </a:prstGeom>
          <a:noFill/>
          <a:ln/>
        </p:spPr>
        <p:txBody>
          <a:bodyPr wrap="square" lIns="0" tIns="0" rIns="0" bIns="0" rtlCol="0" anchor="ctr"/>
          <a:lstStyle/>
          <a:p>
            <a:pPr indent="0" marL="0">
              <a:buNone/>
            </a:pPr>
            <a:r>
              <a:rPr lang="en-US" sz="3200" b="1" dirty="0">
                <a:solidFill>
                  <a:srgbClr val="1F3A5F"/>
                </a:solidFill>
                <a:latin typeface="Cambria" pitchFamily="34" charset="0"/>
                <a:ea typeface="Cambria" pitchFamily="34" charset="-122"/>
                <a:cs typeface="Cambria" pitchFamily="34" charset="-120"/>
              </a:rPr>
              <a:t>Choosing the honest summary</a:t>
            </a:r>
            <a:endParaRPr lang="en-US" sz="32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48640" y="1600200"/>
          <a:ext cx="11064240" cy="914400"/>
        </p:xfrm>
        <a:graphic>
          <a:graphicData uri="http://schemas.openxmlformats.org/drawingml/2006/table">
            <a:tbl>
              <a:tblPr/>
              <a:tblGrid>
                <a:gridCol w="2926080"/>
                <a:gridCol w="2194560"/>
                <a:gridCol w="1828800"/>
                <a:gridCol w="4114800"/>
              </a:tblGrid>
              <a:tr h="438912">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If the data is…</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solidFill>
                      <a:srgbClr val="1F3A5F"/>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Centre</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solidFill>
                      <a:srgbClr val="1F3A5F"/>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Spread</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solidFill>
                      <a:srgbClr val="1F3A5F"/>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Because</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solidFill>
                      <a:srgbClr val="1F3A5F"/>
                    </a:solidFill>
                  </a:tcPr>
                </a:tc>
              </a:tr>
              <a:tr h="438912">
                <a:tc>
                  <a:txBody>
                    <a:bodyPr/>
                    <a:lstStyle/>
                    <a:p>
                      <a:pPr indent="0" marL="0">
                        <a:buNone/>
                      </a:pPr>
                      <a:r>
                        <a:rPr lang="en-US" sz="1300" dirty="0">
                          <a:solidFill>
                            <a:srgbClr val="2B3445"/>
                          </a:solidFill>
                          <a:latin typeface="Calibri" pitchFamily="34" charset="0"/>
                          <a:ea typeface="Calibri" pitchFamily="34" charset="-122"/>
                          <a:cs typeface="Calibri" pitchFamily="34" charset="-120"/>
                        </a:rPr>
                        <a:t>Roughly symmetric</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300" dirty="0">
                          <a:solidFill>
                            <a:srgbClr val="2B3445"/>
                          </a:solidFill>
                          <a:latin typeface="Calibri" pitchFamily="34" charset="0"/>
                          <a:ea typeface="Calibri" pitchFamily="34" charset="-122"/>
                          <a:cs typeface="Calibri" pitchFamily="34" charset="-120"/>
                        </a:rPr>
                        <a:t>mean</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300" dirty="0">
                          <a:solidFill>
                            <a:srgbClr val="2B3445"/>
                          </a:solidFill>
                          <a:latin typeface="Calibri" pitchFamily="34" charset="0"/>
                          <a:ea typeface="Calibri" pitchFamily="34" charset="-122"/>
                          <a:cs typeface="Calibri" pitchFamily="34" charset="-120"/>
                        </a:rPr>
                        <a:t>std</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300" dirty="0">
                          <a:solidFill>
                            <a:srgbClr val="2B3445"/>
                          </a:solidFill>
                          <a:latin typeface="Calibri" pitchFamily="34" charset="0"/>
                          <a:ea typeface="Calibri" pitchFamily="34" charset="-122"/>
                          <a:cs typeface="Calibri" pitchFamily="34" charset="-120"/>
                        </a:rPr>
                        <a:t>every value contributes, nothing distorts</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r>
              <a:tr h="438912">
                <a:tc>
                  <a:txBody>
                    <a:bodyPr/>
                    <a:lstStyle/>
                    <a:p>
                      <a:pPr indent="0" marL="0">
                        <a:buNone/>
                      </a:pPr>
                      <a:r>
                        <a:rPr lang="en-US" sz="1300" dirty="0">
                          <a:solidFill>
                            <a:srgbClr val="2B3445"/>
                          </a:solidFill>
                          <a:latin typeface="Calibri" pitchFamily="34" charset="0"/>
                          <a:ea typeface="Calibri" pitchFamily="34" charset="-122"/>
                          <a:cs typeface="Calibri" pitchFamily="34" charset="-120"/>
                        </a:rPr>
                        <a:t>Skewed</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300" dirty="0">
                          <a:solidFill>
                            <a:srgbClr val="2B3445"/>
                          </a:solidFill>
                          <a:latin typeface="Calibri" pitchFamily="34" charset="0"/>
                          <a:ea typeface="Calibri" pitchFamily="34" charset="-122"/>
                          <a:cs typeface="Calibri" pitchFamily="34" charset="-120"/>
                        </a:rPr>
                        <a:t>median</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300" dirty="0">
                          <a:solidFill>
                            <a:srgbClr val="2B3445"/>
                          </a:solidFill>
                          <a:latin typeface="Calibri" pitchFamily="34" charset="0"/>
                          <a:ea typeface="Calibri" pitchFamily="34" charset="-122"/>
                          <a:cs typeface="Calibri" pitchFamily="34" charset="-120"/>
                        </a:rPr>
                        <a:t>IQR</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300" dirty="0">
                          <a:solidFill>
                            <a:srgbClr val="2B3445"/>
                          </a:solidFill>
                          <a:latin typeface="Calibri" pitchFamily="34" charset="0"/>
                          <a:ea typeface="Calibri" pitchFamily="34" charset="-122"/>
                          <a:cs typeface="Calibri" pitchFamily="34" charset="-120"/>
                        </a:rPr>
                        <a:t>the mean chases the tail</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r>
              <a:tr h="438912">
                <a:tc>
                  <a:txBody>
                    <a:bodyPr/>
                    <a:lstStyle/>
                    <a:p>
                      <a:pPr indent="0" marL="0">
                        <a:buNone/>
                      </a:pPr>
                      <a:r>
                        <a:rPr lang="en-US" sz="1300" dirty="0">
                          <a:solidFill>
                            <a:srgbClr val="2B3445"/>
                          </a:solidFill>
                          <a:latin typeface="Calibri" pitchFamily="34" charset="0"/>
                          <a:ea typeface="Calibri" pitchFamily="34" charset="-122"/>
                          <a:cs typeface="Calibri" pitchFamily="34" charset="-120"/>
                        </a:rPr>
                        <a:t>Full of outliers</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300" dirty="0">
                          <a:solidFill>
                            <a:srgbClr val="2B3445"/>
                          </a:solidFill>
                          <a:latin typeface="Calibri" pitchFamily="34" charset="0"/>
                          <a:ea typeface="Calibri" pitchFamily="34" charset="-122"/>
                          <a:cs typeface="Calibri" pitchFamily="34" charset="-120"/>
                        </a:rPr>
                        <a:t>median</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300" dirty="0">
                          <a:solidFill>
                            <a:srgbClr val="2B3445"/>
                          </a:solidFill>
                          <a:latin typeface="Calibri" pitchFamily="34" charset="0"/>
                          <a:ea typeface="Calibri" pitchFamily="34" charset="-122"/>
                          <a:cs typeface="Calibri" pitchFamily="34" charset="-120"/>
                        </a:rPr>
                        <a:t>IQR</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300" dirty="0">
                          <a:solidFill>
                            <a:srgbClr val="2B3445"/>
                          </a:solidFill>
                          <a:latin typeface="Calibri" pitchFamily="34" charset="0"/>
                          <a:ea typeface="Calibri" pitchFamily="34" charset="-122"/>
                          <a:cs typeface="Calibri" pitchFamily="34" charset="-120"/>
                        </a:rPr>
                        <a:t>quartiles ignore the extremes</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r>
              <a:tr h="438912">
                <a:tc>
                  <a:txBody>
                    <a:bodyPr/>
                    <a:lstStyle/>
                    <a:p>
                      <a:pPr indent="0" marL="0">
                        <a:buNone/>
                      </a:pPr>
                      <a:r>
                        <a:rPr lang="en-US" sz="1300" dirty="0">
                          <a:solidFill>
                            <a:srgbClr val="2B3445"/>
                          </a:solidFill>
                          <a:latin typeface="Calibri" pitchFamily="34" charset="0"/>
                          <a:ea typeface="Calibri" pitchFamily="34" charset="-122"/>
                          <a:cs typeface="Calibri" pitchFamily="34" charset="-120"/>
                        </a:rPr>
                        <a:t>Bimodal (two humps)</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300" dirty="0">
                          <a:solidFill>
                            <a:srgbClr val="2B3445"/>
                          </a:solidFill>
                          <a:latin typeface="Calibri" pitchFamily="34" charset="0"/>
                          <a:ea typeface="Calibri" pitchFamily="34" charset="-122"/>
                          <a:cs typeface="Calibri" pitchFamily="34" charset="-120"/>
                        </a:rPr>
                        <a:t>neither — split it</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300" dirty="0">
                          <a:solidFill>
                            <a:srgbClr val="2B3445"/>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300" dirty="0">
                          <a:solidFill>
                            <a:srgbClr val="2B3445"/>
                          </a:solidFill>
                          <a:latin typeface="Calibri" pitchFamily="34" charset="0"/>
                          <a:ea typeface="Calibri" pitchFamily="34" charset="-122"/>
                          <a:cs typeface="Calibri" pitchFamily="34" charset="-120"/>
                        </a:rPr>
                        <a:t>one summary describes no one</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r>
              <a:tr h="438912">
                <a:tc>
                  <a:txBody>
                    <a:bodyPr/>
                    <a:lstStyle/>
                    <a:p>
                      <a:pPr indent="0" marL="0">
                        <a:buNone/>
                      </a:pPr>
                      <a:r>
                        <a:rPr lang="en-US" sz="1300" dirty="0">
                          <a:solidFill>
                            <a:srgbClr val="2B3445"/>
                          </a:solidFill>
                          <a:latin typeface="Calibri" pitchFamily="34" charset="0"/>
                          <a:ea typeface="Calibri" pitchFamily="34" charset="-122"/>
                          <a:cs typeface="Calibri" pitchFamily="34" charset="-120"/>
                        </a:rPr>
                        <a:t>Categorical</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300" dirty="0">
                          <a:solidFill>
                            <a:srgbClr val="2B3445"/>
                          </a:solidFill>
                          <a:latin typeface="Calibri" pitchFamily="34" charset="0"/>
                          <a:ea typeface="Calibri" pitchFamily="34" charset="-122"/>
                          <a:cs typeface="Calibri" pitchFamily="34" charset="-120"/>
                        </a:rPr>
                        <a:t>mode</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300" dirty="0">
                          <a:solidFill>
                            <a:srgbClr val="2B3445"/>
                          </a:solidFill>
                          <a:latin typeface="Calibri" pitchFamily="34" charset="0"/>
                          <a:ea typeface="Calibri" pitchFamily="34" charset="-122"/>
                          <a:cs typeface="Calibri" pitchFamily="34" charset="-120"/>
                        </a:rPr>
                        <a:t>counts</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300" dirty="0">
                          <a:solidFill>
                            <a:srgbClr val="2B3445"/>
                          </a:solidFill>
                          <a:latin typeface="Calibri" pitchFamily="34" charset="0"/>
                          <a:ea typeface="Calibri" pitchFamily="34" charset="-122"/>
                          <a:cs typeface="Calibri" pitchFamily="34" charset="-120"/>
                        </a:rPr>
                        <a:t>there is no arithmetic to do</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r>
            </a:tbl>
          </a:graphicData>
        </a:graphic>
      </p:graphicFrame>
      <p:sp>
        <p:nvSpPr>
          <p:cNvPr id="6" name="Shape 3"/>
          <p:cNvSpPr/>
          <p:nvPr/>
        </p:nvSpPr>
        <p:spPr>
          <a:xfrm>
            <a:off x="548640" y="4206240"/>
            <a:ext cx="11064240" cy="1645920"/>
          </a:xfrm>
          <a:prstGeom prst="roundRect">
            <a:avLst>
              <a:gd name="adj" fmla="val 5000"/>
            </a:avLst>
          </a:prstGeom>
          <a:solidFill>
            <a:srgbClr val="FFF6E0"/>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7" name="Text 4"/>
          <p:cNvSpPr txBox="1"/>
          <p:nvPr/>
        </p:nvSpPr>
        <p:spPr>
          <a:xfrm>
            <a:off x="868680" y="4352544"/>
            <a:ext cx="6400800" cy="274320"/>
          </a:xfrm>
          <a:prstGeom prst="rect">
            <a:avLst/>
          </a:prstGeom>
          <a:noFill/>
          <a:ln/>
        </p:spPr>
        <p:txBody>
          <a:bodyPr wrap="square" lIns="0" tIns="0" rIns="0" bIns="0" rtlCol="0" anchor="ctr"/>
          <a:lstStyle/>
          <a:p>
            <a:pPr indent="0" marL="0">
              <a:buNone/>
            </a:pPr>
            <a:r>
              <a:rPr lang="en-US" sz="1450" b="1" dirty="0">
                <a:solidFill>
                  <a:srgbClr val="8A5B00"/>
                </a:solidFill>
                <a:latin typeface="Calibri" pitchFamily="34" charset="0"/>
                <a:ea typeface="Calibri" pitchFamily="34" charset="-122"/>
                <a:cs typeface="Calibri" pitchFamily="34" charset="-120"/>
              </a:rPr>
              <a:t>And always report n</a:t>
            </a:r>
            <a:endParaRPr lang="en-US" sz="1450" dirty="0"/>
          </a:p>
        </p:txBody>
      </p:sp>
      <p:sp>
        <p:nvSpPr>
          <p:cNvPr id="8" name="Text 5"/>
          <p:cNvSpPr txBox="1"/>
          <p:nvPr/>
        </p:nvSpPr>
        <p:spPr>
          <a:xfrm>
            <a:off x="868680" y="4663440"/>
            <a:ext cx="10424160" cy="1051560"/>
          </a:xfrm>
          <a:prstGeom prst="rect">
            <a:avLst/>
          </a:prstGeom>
          <a:noFill/>
          <a:ln/>
        </p:spPr>
        <p:txBody>
          <a:bodyPr wrap="square" lIns="0" tIns="0" rIns="0" bIns="0" rtlCol="0" anchor="ctr"/>
          <a:lstStyle/>
          <a:p>
            <a:pPr indent="0" marL="0">
              <a:lnSpc>
                <a:spcPct val="120000"/>
              </a:lnSpc>
              <a:buNone/>
            </a:pPr>
            <a:r>
              <a:rPr lang="en-US" sz="1250" dirty="0">
                <a:solidFill>
                  <a:srgbClr val="6B4A0B"/>
                </a:solidFill>
                <a:latin typeface="Calibri" pitchFamily="34" charset="0"/>
                <a:ea typeface="Calibri" pitchFamily="34" charset="-122"/>
                <a:cs typeface="Calibri" pitchFamily="34" charset="-120"/>
              </a:rPr>
              <a:t>“The average is 55,000” is not a statistic. “The median is 45,650 across 1,000 staff, with a mean of 64,028 pulled up by 50 executives” is. Day 19 taught you to report how many values a summary used; today adds which summary, and why. Those two habits together are most of what separates a statistician from someone who can call .mean().</a:t>
            </a:r>
            <a:endParaRPr lang="en-US" sz="12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4F6FA"/>
        </a:solidFill>
      </p:bgPr>
    </p:bg>
    <p:spTree>
      <p:nvGrpSpPr>
        <p:cNvPr id="1" name=""/>
        <p:cNvGrpSpPr/>
        <p:nvPr/>
      </p:nvGrpSpPr>
      <p:grpSpPr>
        <a:xfrm>
          <a:off x="0" y="0"/>
          <a:ext cx="0" cy="0"/>
          <a:chOff x="0" y="0"/>
          <a:chExt cx="0" cy="0"/>
        </a:xfrm>
      </p:grpSpPr>
      <p:sp>
        <p:nvSpPr>
          <p:cNvPr id="2" name="Text 0"/>
          <p:cNvSpPr txBox="1"/>
          <p:nvPr/>
        </p:nvSpPr>
        <p:spPr>
          <a:xfrm>
            <a:off x="8138160" y="6437376"/>
            <a:ext cx="3474720" cy="256032"/>
          </a:xfrm>
          <a:prstGeom prst="rect">
            <a:avLst/>
          </a:prstGeom>
          <a:noFill/>
          <a:ln/>
        </p:spPr>
        <p:txBody>
          <a:bodyPr wrap="square" lIns="0" tIns="0" rIns="0" bIns="0" rtlCol="0" anchor="ctr"/>
          <a:lstStyle/>
          <a:p>
            <a:pPr algn="r" indent="0" marL="0">
              <a:buNone/>
            </a:pPr>
            <a:r>
              <a:rPr lang="en-US" sz="900" dirty="0">
                <a:solidFill>
                  <a:srgbClr val="9DAABE"/>
                </a:solidFill>
                <a:latin typeface="Calibri" pitchFamily="34" charset="0"/>
                <a:ea typeface="Calibri" pitchFamily="34" charset="-122"/>
                <a:cs typeface="Calibri" pitchFamily="34" charset="-120"/>
              </a:rPr>
              <a:t>Slides by Srinivasa Sai Chava</a:t>
            </a:r>
            <a:endParaRPr lang="en-US" sz="900" dirty="0"/>
          </a:p>
        </p:txBody>
      </p:sp>
      <p:sp>
        <p:nvSpPr>
          <p:cNvPr id="3" name="Text 1"/>
          <p:cNvSpPr txBox="1"/>
          <p:nvPr/>
        </p:nvSpPr>
        <p:spPr>
          <a:xfrm>
            <a:off x="548640" y="292608"/>
            <a:ext cx="10515600" cy="274320"/>
          </a:xfrm>
          <a:prstGeom prst="rect">
            <a:avLst/>
          </a:prstGeom>
          <a:noFill/>
          <a:ln/>
        </p:spPr>
        <p:txBody>
          <a:bodyPr wrap="square" lIns="0" tIns="0" rIns="0" bIns="0" rtlCol="0" anchor="ctr"/>
          <a:lstStyle/>
          <a:p>
            <a:pPr indent="0" marL="0">
              <a:buNone/>
            </a:pPr>
            <a:r>
              <a:rPr lang="en-US" sz="1200" b="1" spc="200" kern="0" dirty="0">
                <a:solidFill>
                  <a:srgbClr val="3E7CB1"/>
                </a:solidFill>
                <a:latin typeface="Calibri" pitchFamily="34" charset="0"/>
                <a:ea typeface="Calibri" pitchFamily="34" charset="-122"/>
                <a:cs typeface="Calibri" pitchFamily="34" charset="-120"/>
              </a:rPr>
              <a:t>RECAP</a:t>
            </a:r>
            <a:endParaRPr lang="en-US" sz="1200" dirty="0"/>
          </a:p>
        </p:txBody>
      </p:sp>
      <p:sp>
        <p:nvSpPr>
          <p:cNvPr id="4" name="Text 2"/>
          <p:cNvSpPr txBox="1"/>
          <p:nvPr/>
        </p:nvSpPr>
        <p:spPr>
          <a:xfrm>
            <a:off x="548640" y="566928"/>
            <a:ext cx="11064240" cy="685800"/>
          </a:xfrm>
          <a:prstGeom prst="rect">
            <a:avLst/>
          </a:prstGeom>
          <a:noFill/>
          <a:ln/>
        </p:spPr>
        <p:txBody>
          <a:bodyPr wrap="square" lIns="0" tIns="0" rIns="0" bIns="0" rtlCol="0" anchor="ctr"/>
          <a:lstStyle/>
          <a:p>
            <a:pPr indent="0" marL="0">
              <a:buNone/>
            </a:pPr>
            <a:r>
              <a:rPr lang="en-US" sz="3200" b="1" dirty="0">
                <a:solidFill>
                  <a:srgbClr val="1F3A5F"/>
                </a:solidFill>
                <a:latin typeface="Cambria" pitchFamily="34" charset="0"/>
                <a:ea typeface="Cambria" pitchFamily="34" charset="-122"/>
                <a:cs typeface="Cambria" pitchFamily="34" charset="-120"/>
              </a:rPr>
              <a:t>Debug corner — eight statistics mistakes</a:t>
            </a:r>
            <a:endParaRPr lang="en-US" sz="32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48640" y="1572768"/>
          <a:ext cx="11064240" cy="914400"/>
        </p:xfrm>
        <a:graphic>
          <a:graphicData uri="http://schemas.openxmlformats.org/drawingml/2006/table">
            <a:tbl>
              <a:tblPr/>
              <a:tblGrid>
                <a:gridCol w="3931920"/>
                <a:gridCol w="4023360"/>
                <a:gridCol w="3108960"/>
              </a:tblGrid>
              <a:tr h="429768">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You did</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solidFill>
                      <a:srgbClr val="1F3A5F"/>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What goes wrong</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solidFill>
                      <a:srgbClr val="1F3A5F"/>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Fix</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solidFill>
                      <a:srgbClr val="1F3A5F"/>
                    </a:solidFill>
                  </a:tcPr>
                </a:tc>
              </a:tr>
              <a:tr h="429768">
                <a:tc>
                  <a:txBody>
                    <a:bodyPr/>
                    <a:lstStyle/>
                    <a:p>
                      <a:pPr indent="0" marL="0">
                        <a:buNone/>
                      </a:pPr>
                      <a:r>
                        <a:rPr lang="en-US" sz="1300" b="1" dirty="0">
                          <a:solidFill>
                            <a:srgbClr val="1F3A5F"/>
                          </a:solidFill>
                          <a:latin typeface="Courier New" pitchFamily="34" charset="0"/>
                          <a:ea typeface="Courier New" pitchFamily="34" charset="-122"/>
                          <a:cs typeface="Courier New" pitchFamily="34" charset="-120"/>
                        </a:rPr>
                        <a:t>s.mean()  on skewed data</a:t>
                      </a:r>
                      <a:endParaRPr lang="en-US" sz="1300" dirty="0">
                        <a:latin typeface="Courier New" charset="0"/>
                        <a:ea typeface="Courier New" charset="0"/>
                        <a:cs typeface="Courier New"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300" dirty="0">
                          <a:solidFill>
                            <a:srgbClr val="2B3445"/>
                          </a:solidFill>
                          <a:latin typeface="Calibri" pitchFamily="34" charset="0"/>
                          <a:ea typeface="Calibri" pitchFamily="34" charset="-122"/>
                          <a:cs typeface="Calibri" pitchFamily="34" charset="-120"/>
                        </a:rPr>
                        <a:t>describes almost nobody</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300" b="1" dirty="0">
                          <a:solidFill>
                            <a:srgbClr val="1F3A5F"/>
                          </a:solidFill>
                          <a:latin typeface="Courier New" pitchFamily="34" charset="0"/>
                          <a:ea typeface="Courier New" pitchFamily="34" charset="-122"/>
                          <a:cs typeface="Courier New" pitchFamily="34" charset="-120"/>
                        </a:rPr>
                        <a:t>s.median()  — report both</a:t>
                      </a:r>
                      <a:endParaRPr lang="en-US" sz="1300" dirty="0">
                        <a:latin typeface="Courier New" charset="0"/>
                        <a:ea typeface="Courier New" charset="0"/>
                        <a:cs typeface="Courier New"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r>
              <a:tr h="429768">
                <a:tc>
                  <a:txBody>
                    <a:bodyPr/>
                    <a:lstStyle/>
                    <a:p>
                      <a:pPr indent="0" marL="0">
                        <a:buNone/>
                      </a:pPr>
                      <a:r>
                        <a:rPr lang="en-US" sz="1300" b="1" dirty="0">
                          <a:solidFill>
                            <a:srgbClr val="1F3A5F"/>
                          </a:solidFill>
                          <a:latin typeface="Courier New" pitchFamily="34" charset="0"/>
                          <a:ea typeface="Courier New" pitchFamily="34" charset="-122"/>
                          <a:cs typeface="Courier New" pitchFamily="34" charset="-120"/>
                        </a:rPr>
                        <a:t>s.mode()[0]</a:t>
                      </a:r>
                      <a:endParaRPr lang="en-US" sz="1300" dirty="0">
                        <a:latin typeface="Courier New" charset="0"/>
                        <a:ea typeface="Courier New" charset="0"/>
                        <a:cs typeface="Courier New"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300" dirty="0">
                          <a:solidFill>
                            <a:srgbClr val="2B3445"/>
                          </a:solidFill>
                          <a:latin typeface="Calibri" pitchFamily="34" charset="0"/>
                          <a:ea typeface="Calibri" pitchFamily="34" charset="-122"/>
                          <a:cs typeface="Calibri" pitchFamily="34" charset="-120"/>
                        </a:rPr>
                        <a:t>silently hides a tie</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300" b="1" dirty="0">
                          <a:solidFill>
                            <a:srgbClr val="1F3A5F"/>
                          </a:solidFill>
                          <a:latin typeface="Courier New" pitchFamily="34" charset="0"/>
                          <a:ea typeface="Courier New" pitchFamily="34" charset="-122"/>
                          <a:cs typeface="Courier New" pitchFamily="34" charset="-120"/>
                        </a:rPr>
                        <a:t>check len(s.mode())</a:t>
                      </a:r>
                      <a:endParaRPr lang="en-US" sz="1300" dirty="0">
                        <a:latin typeface="Courier New" charset="0"/>
                        <a:ea typeface="Courier New" charset="0"/>
                        <a:cs typeface="Courier New"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r>
              <a:tr h="429768">
                <a:tc>
                  <a:txBody>
                    <a:bodyPr/>
                    <a:lstStyle/>
                    <a:p>
                      <a:pPr indent="0" marL="0">
                        <a:buNone/>
                      </a:pPr>
                      <a:r>
                        <a:rPr lang="en-US" sz="1300" b="1" dirty="0">
                          <a:solidFill>
                            <a:srgbClr val="1F3A5F"/>
                          </a:solidFill>
                          <a:latin typeface="Courier New" pitchFamily="34" charset="0"/>
                          <a:ea typeface="Courier New" pitchFamily="34" charset="-122"/>
                          <a:cs typeface="Courier New" pitchFamily="34" charset="-120"/>
                        </a:rPr>
                        <a:t>np.std  vs  Series.std</a:t>
                      </a:r>
                      <a:endParaRPr lang="en-US" sz="1300" dirty="0">
                        <a:latin typeface="Courier New" charset="0"/>
                        <a:ea typeface="Courier New" charset="0"/>
                        <a:cs typeface="Courier New"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300" dirty="0">
                          <a:solidFill>
                            <a:srgbClr val="2B3445"/>
                          </a:solidFill>
                          <a:latin typeface="Calibri" pitchFamily="34" charset="0"/>
                          <a:ea typeface="Calibri" pitchFamily="34" charset="-122"/>
                          <a:cs typeface="Calibri" pitchFamily="34" charset="-120"/>
                        </a:rPr>
                        <a:t>different answers, same data</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300" dirty="0">
                          <a:solidFill>
                            <a:srgbClr val="2B3445"/>
                          </a:solidFill>
                          <a:latin typeface="Calibri" pitchFamily="34" charset="0"/>
                          <a:ea typeface="Calibri" pitchFamily="34" charset="-122"/>
                          <a:cs typeface="Calibri" pitchFamily="34" charset="-120"/>
                        </a:rPr>
                        <a:t>state ddof explicitly</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r>
              <a:tr h="429768">
                <a:tc>
                  <a:txBody>
                    <a:bodyPr/>
                    <a:lstStyle/>
                    <a:p>
                      <a:pPr indent="0" marL="0">
                        <a:buNone/>
                      </a:pPr>
                      <a:r>
                        <a:rPr lang="en-US" sz="1300" b="1" dirty="0">
                          <a:solidFill>
                            <a:srgbClr val="1F3A5F"/>
                          </a:solidFill>
                          <a:latin typeface="Courier New" pitchFamily="34" charset="0"/>
                          <a:ea typeface="Courier New" pitchFamily="34" charset="-122"/>
                          <a:cs typeface="Courier New" pitchFamily="34" charset="-120"/>
                        </a:rPr>
                        <a:t>ddof=0  on a sample</a:t>
                      </a:r>
                      <a:endParaRPr lang="en-US" sz="1300" dirty="0">
                        <a:latin typeface="Courier New" charset="0"/>
                        <a:ea typeface="Courier New" charset="0"/>
                        <a:cs typeface="Courier New"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300" dirty="0">
                          <a:solidFill>
                            <a:srgbClr val="2B3445"/>
                          </a:solidFill>
                          <a:latin typeface="Calibri" pitchFamily="34" charset="0"/>
                          <a:ea typeface="Calibri" pitchFamily="34" charset="-122"/>
                          <a:cs typeface="Calibri" pitchFamily="34" charset="-120"/>
                        </a:rPr>
                        <a:t>understates the spread</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300" b="1" dirty="0">
                          <a:solidFill>
                            <a:srgbClr val="1F3A5F"/>
                          </a:solidFill>
                          <a:latin typeface="Courier New" pitchFamily="34" charset="0"/>
                          <a:ea typeface="Courier New" pitchFamily="34" charset="-122"/>
                          <a:cs typeface="Courier New" pitchFamily="34" charset="-120"/>
                        </a:rPr>
                        <a:t>ddof=1</a:t>
                      </a:r>
                      <a:endParaRPr lang="en-US" sz="1300" dirty="0">
                        <a:latin typeface="Courier New" charset="0"/>
                        <a:ea typeface="Courier New" charset="0"/>
                        <a:cs typeface="Courier New"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r>
              <a:tr h="429768">
                <a:tc>
                  <a:txBody>
                    <a:bodyPr/>
                    <a:lstStyle/>
                    <a:p>
                      <a:pPr indent="0" marL="0">
                        <a:buNone/>
                      </a:pPr>
                      <a:r>
                        <a:rPr lang="en-US" sz="1300" dirty="0">
                          <a:solidFill>
                            <a:srgbClr val="2B3445"/>
                          </a:solidFill>
                          <a:latin typeface="Calibri" pitchFamily="34" charset="0"/>
                          <a:ea typeface="Calibri" pitchFamily="34" charset="-122"/>
                          <a:cs typeface="Calibri" pitchFamily="34" charset="-120"/>
                        </a:rPr>
                        <a:t>quoting the variance</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300" dirty="0">
                          <a:solidFill>
                            <a:srgbClr val="2B3445"/>
                          </a:solidFill>
                          <a:latin typeface="Calibri" pitchFamily="34" charset="0"/>
                          <a:ea typeface="Calibri" pitchFamily="34" charset="-122"/>
                          <a:cs typeface="Calibri" pitchFamily="34" charset="-120"/>
                        </a:rPr>
                        <a:t>units are squared — meaningless</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300" dirty="0">
                          <a:solidFill>
                            <a:srgbClr val="2B3445"/>
                          </a:solidFill>
                          <a:latin typeface="Calibri" pitchFamily="34" charset="0"/>
                          <a:ea typeface="Calibri" pitchFamily="34" charset="-122"/>
                          <a:cs typeface="Calibri" pitchFamily="34" charset="-120"/>
                        </a:rPr>
                        <a:t>quote the std deviation</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r>
              <a:tr h="429768">
                <a:tc>
                  <a:txBody>
                    <a:bodyPr/>
                    <a:lstStyle/>
                    <a:p>
                      <a:pPr indent="0" marL="0">
                        <a:buNone/>
                      </a:pPr>
                      <a:r>
                        <a:rPr lang="en-US" sz="1300" dirty="0">
                          <a:solidFill>
                            <a:srgbClr val="2B3445"/>
                          </a:solidFill>
                          <a:latin typeface="Calibri" pitchFamily="34" charset="0"/>
                          <a:ea typeface="Calibri" pitchFamily="34" charset="-122"/>
                          <a:cs typeface="Calibri" pitchFamily="34" charset="-120"/>
                        </a:rPr>
                        <a:t>mean and SD on two humps</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300" dirty="0">
                          <a:solidFill>
                            <a:srgbClr val="2B3445"/>
                          </a:solidFill>
                          <a:latin typeface="Calibri" pitchFamily="34" charset="0"/>
                          <a:ea typeface="Calibri" pitchFamily="34" charset="-122"/>
                          <a:cs typeface="Calibri" pitchFamily="34" charset="-120"/>
                        </a:rPr>
                        <a:t>a summary describing no one</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300" dirty="0">
                          <a:solidFill>
                            <a:srgbClr val="2B3445"/>
                          </a:solidFill>
                          <a:latin typeface="Calibri" pitchFamily="34" charset="0"/>
                          <a:ea typeface="Calibri" pitchFamily="34" charset="-122"/>
                          <a:cs typeface="Calibri" pitchFamily="34" charset="-120"/>
                        </a:rPr>
                        <a:t>plot it, then split</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r>
              <a:tr h="429768">
                <a:tc>
                  <a:txBody>
                    <a:bodyPr/>
                    <a:lstStyle/>
                    <a:p>
                      <a:pPr indent="0" marL="0">
                        <a:buNone/>
                      </a:pPr>
                      <a:r>
                        <a:rPr lang="en-US" sz="1300" dirty="0">
                          <a:solidFill>
                            <a:srgbClr val="2B3445"/>
                          </a:solidFill>
                          <a:latin typeface="Calibri" pitchFamily="34" charset="0"/>
                          <a:ea typeface="Calibri" pitchFamily="34" charset="-122"/>
                          <a:cs typeface="Calibri" pitchFamily="34" charset="-120"/>
                        </a:rPr>
                        <a:t>comparing kurtosis across tools</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300" dirty="0">
                          <a:solidFill>
                            <a:srgbClr val="2B3445"/>
                          </a:solidFill>
                          <a:latin typeface="Calibri" pitchFamily="34" charset="0"/>
                          <a:ea typeface="Calibri" pitchFamily="34" charset="-122"/>
                          <a:cs typeface="Calibri" pitchFamily="34" charset="-120"/>
                        </a:rPr>
                        <a:t>pandas reports EXCESS kurtosis</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300" dirty="0">
                          <a:solidFill>
                            <a:srgbClr val="2B3445"/>
                          </a:solidFill>
                          <a:latin typeface="Calibri" pitchFamily="34" charset="0"/>
                          <a:ea typeface="Calibri" pitchFamily="34" charset="-122"/>
                          <a:cs typeface="Calibri" pitchFamily="34" charset="-120"/>
                        </a:rPr>
                        <a:t>check the convention</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r>
              <a:tr h="429768">
                <a:tc>
                  <a:txBody>
                    <a:bodyPr/>
                    <a:lstStyle/>
                    <a:p>
                      <a:pPr indent="0" marL="0">
                        <a:buNone/>
                      </a:pPr>
                      <a:r>
                        <a:rPr lang="en-US" sz="1300" dirty="0">
                          <a:solidFill>
                            <a:srgbClr val="2B3445"/>
                          </a:solidFill>
                          <a:latin typeface="Calibri" pitchFamily="34" charset="0"/>
                          <a:ea typeface="Calibri" pitchFamily="34" charset="-122"/>
                          <a:cs typeface="Calibri" pitchFamily="34" charset="-120"/>
                        </a:rPr>
                        <a:t>a summary with no n</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300" dirty="0">
                          <a:solidFill>
                            <a:srgbClr val="2B3445"/>
                          </a:solidFill>
                          <a:latin typeface="Calibri" pitchFamily="34" charset="0"/>
                          <a:ea typeface="Calibri" pitchFamily="34" charset="-122"/>
                          <a:cs typeface="Calibri" pitchFamily="34" charset="-120"/>
                        </a:rPr>
                        <a:t>unverifiable, and often wrong</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300" dirty="0">
                          <a:solidFill>
                            <a:srgbClr val="2B3445"/>
                          </a:solidFill>
                          <a:latin typeface="Calibri" pitchFamily="34" charset="0"/>
                          <a:ea typeface="Calibri" pitchFamily="34" charset="-122"/>
                          <a:cs typeface="Calibri" pitchFamily="34" charset="-120"/>
                        </a:rPr>
                        <a:t>always report the count</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r>
            </a:tbl>
          </a:graphicData>
        </a:graphic>
      </p:graphicFrame>
      <p:sp>
        <p:nvSpPr>
          <p:cNvPr id="6" name="Shape 3"/>
          <p:cNvSpPr/>
          <p:nvPr/>
        </p:nvSpPr>
        <p:spPr>
          <a:xfrm>
            <a:off x="548640" y="5559552"/>
            <a:ext cx="11064240" cy="731520"/>
          </a:xfrm>
          <a:prstGeom prst="roundRect">
            <a:avLst>
              <a:gd name="adj" fmla="val 11250"/>
            </a:avLst>
          </a:prstGeom>
          <a:solidFill>
            <a:srgbClr val="EDF2F9"/>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7" name="Text 4"/>
          <p:cNvSpPr txBox="1"/>
          <p:nvPr/>
        </p:nvSpPr>
        <p:spPr>
          <a:xfrm>
            <a:off x="868680" y="5687568"/>
            <a:ext cx="10424160" cy="457200"/>
          </a:xfrm>
          <a:prstGeom prst="rect">
            <a:avLst/>
          </a:prstGeom>
          <a:noFill/>
          <a:ln/>
        </p:spPr>
        <p:txBody>
          <a:bodyPr wrap="square" lIns="0" tIns="0" rIns="0" bIns="0" rtlCol="0" anchor="ctr"/>
          <a:lstStyle/>
          <a:p>
            <a:pPr indent="0" marL="0">
              <a:buNone/>
            </a:pPr>
            <a:r>
              <a:rPr lang="en-US" sz="1300" i="1" dirty="0">
                <a:solidFill>
                  <a:srgbClr val="1F3A5F"/>
                </a:solidFill>
                <a:latin typeface="Calibri" pitchFamily="34" charset="0"/>
                <a:ea typeface="Calibri" pitchFamily="34" charset="-122"/>
                <a:cs typeface="Calibri" pitchFamily="34" charset="-120"/>
              </a:rPr>
              <a:t>Rows 3 and 4 are the ones you have already met three times. Now you can say why they matter.</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4F6FA"/>
        </a:solidFill>
      </p:bgPr>
    </p:bg>
    <p:spTree>
      <p:nvGrpSpPr>
        <p:cNvPr id="1" name=""/>
        <p:cNvGrpSpPr/>
        <p:nvPr/>
      </p:nvGrpSpPr>
      <p:grpSpPr>
        <a:xfrm>
          <a:off x="0" y="0"/>
          <a:ext cx="0" cy="0"/>
          <a:chOff x="0" y="0"/>
          <a:chExt cx="0" cy="0"/>
        </a:xfrm>
      </p:grpSpPr>
      <p:sp>
        <p:nvSpPr>
          <p:cNvPr id="2" name="Text 0"/>
          <p:cNvSpPr txBox="1"/>
          <p:nvPr/>
        </p:nvSpPr>
        <p:spPr>
          <a:xfrm>
            <a:off x="8138160" y="6437376"/>
            <a:ext cx="3474720" cy="256032"/>
          </a:xfrm>
          <a:prstGeom prst="rect">
            <a:avLst/>
          </a:prstGeom>
          <a:noFill/>
          <a:ln/>
        </p:spPr>
        <p:txBody>
          <a:bodyPr wrap="square" lIns="0" tIns="0" rIns="0" bIns="0" rtlCol="0" anchor="ctr"/>
          <a:lstStyle/>
          <a:p>
            <a:pPr algn="r" indent="0" marL="0">
              <a:buNone/>
            </a:pPr>
            <a:r>
              <a:rPr lang="en-US" sz="900" dirty="0">
                <a:solidFill>
                  <a:srgbClr val="9DAABE"/>
                </a:solidFill>
                <a:latin typeface="Calibri" pitchFamily="34" charset="0"/>
                <a:ea typeface="Calibri" pitchFamily="34" charset="-122"/>
                <a:cs typeface="Calibri" pitchFamily="34" charset="-120"/>
              </a:rPr>
              <a:t>Slides by Srinivasa Sai Chava</a:t>
            </a:r>
            <a:endParaRPr lang="en-US" sz="900" dirty="0"/>
          </a:p>
        </p:txBody>
      </p:sp>
      <p:sp>
        <p:nvSpPr>
          <p:cNvPr id="3" name="Text 1"/>
          <p:cNvSpPr txBox="1"/>
          <p:nvPr/>
        </p:nvSpPr>
        <p:spPr>
          <a:xfrm>
            <a:off x="548640" y="292608"/>
            <a:ext cx="10515600" cy="274320"/>
          </a:xfrm>
          <a:prstGeom prst="rect">
            <a:avLst/>
          </a:prstGeom>
          <a:noFill/>
          <a:ln/>
        </p:spPr>
        <p:txBody>
          <a:bodyPr wrap="square" lIns="0" tIns="0" rIns="0" bIns="0" rtlCol="0" anchor="ctr"/>
          <a:lstStyle/>
          <a:p>
            <a:pPr indent="0" marL="0">
              <a:buNone/>
            </a:pPr>
            <a:r>
              <a:rPr lang="en-US" sz="1200" b="1" spc="200" kern="0" dirty="0">
                <a:solidFill>
                  <a:srgbClr val="3E7CB1"/>
                </a:solidFill>
                <a:latin typeface="Calibri" pitchFamily="34" charset="0"/>
                <a:ea typeface="Calibri" pitchFamily="34" charset="-122"/>
                <a:cs typeface="Calibri" pitchFamily="34" charset="-120"/>
              </a:rPr>
              <a:t>4  ·  MINI BUILD</a:t>
            </a:r>
            <a:endParaRPr lang="en-US" sz="1200" dirty="0"/>
          </a:p>
        </p:txBody>
      </p:sp>
      <p:sp>
        <p:nvSpPr>
          <p:cNvPr id="4" name="Text 2"/>
          <p:cNvSpPr txBox="1"/>
          <p:nvPr/>
        </p:nvSpPr>
        <p:spPr>
          <a:xfrm>
            <a:off x="548640" y="566928"/>
            <a:ext cx="11064240" cy="685800"/>
          </a:xfrm>
          <a:prstGeom prst="rect">
            <a:avLst/>
          </a:prstGeom>
          <a:noFill/>
          <a:ln/>
        </p:spPr>
        <p:txBody>
          <a:bodyPr wrap="square" lIns="0" tIns="0" rIns="0" bIns="0" rtlCol="0" anchor="ctr"/>
          <a:lstStyle/>
          <a:p>
            <a:pPr indent="0" marL="0">
              <a:buNone/>
            </a:pPr>
            <a:r>
              <a:rPr lang="en-US" sz="3200" b="1" dirty="0">
                <a:solidFill>
                  <a:srgbClr val="1F3A5F"/>
                </a:solidFill>
                <a:latin typeface="Cambria" pitchFamily="34" charset="0"/>
                <a:ea typeface="Cambria" pitchFamily="34" charset="-122"/>
                <a:cs typeface="Cambria" pitchFamily="34" charset="-120"/>
              </a:rPr>
              <a:t>Putting it together — a describe() that tells the truth</a:t>
            </a:r>
            <a:endParaRPr lang="en-US" sz="3200" dirty="0"/>
          </a:p>
        </p:txBody>
      </p:sp>
      <p:sp>
        <p:nvSpPr>
          <p:cNvPr id="5" name="Shape 3"/>
          <p:cNvSpPr/>
          <p:nvPr/>
        </p:nvSpPr>
        <p:spPr>
          <a:xfrm>
            <a:off x="548640" y="1572768"/>
            <a:ext cx="6583680" cy="4343400"/>
          </a:xfrm>
          <a:prstGeom prst="roundRect">
            <a:avLst>
              <a:gd name="adj" fmla="val 1895"/>
            </a:avLst>
          </a:prstGeom>
          <a:solidFill>
            <a:srgbClr val="FFFFFF"/>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6" name="Shape 4"/>
          <p:cNvSpPr/>
          <p:nvPr/>
        </p:nvSpPr>
        <p:spPr>
          <a:xfrm>
            <a:off x="804672" y="1783080"/>
            <a:ext cx="6080760" cy="3931920"/>
          </a:xfrm>
          <a:prstGeom prst="roundRect">
            <a:avLst>
              <a:gd name="adj" fmla="val 1628"/>
            </a:avLst>
          </a:prstGeom>
          <a:solidFill>
            <a:srgbClr val="1B2B45"/>
          </a:solidFill>
          <a:ln w="12700">
            <a:solidFill>
              <a:srgbClr val="1B2B45"/>
            </a:solidFill>
            <a:prstDash val="solid"/>
          </a:ln>
        </p:spPr>
      </p:sp>
      <p:sp>
        <p:nvSpPr>
          <p:cNvPr id="7" name="Text 5"/>
          <p:cNvSpPr txBox="1"/>
          <p:nvPr/>
        </p:nvSpPr>
        <p:spPr>
          <a:xfrm>
            <a:off x="969264" y="1892808"/>
            <a:ext cx="5751576" cy="3712464"/>
          </a:xfrm>
          <a:prstGeom prst="rect">
            <a:avLst/>
          </a:prstGeom>
          <a:noFill/>
          <a:ln/>
        </p:spPr>
        <p:txBody>
          <a:bodyPr wrap="square" lIns="0" tIns="0" rIns="0" bIns="0" rtlCol="0" anchor="t"/>
          <a:lstStyle/>
          <a:p>
            <a:pPr indent="0" marL="0">
              <a:lnSpc>
                <a:spcPct val="112000"/>
              </a:lnSpc>
              <a:buNone/>
            </a:pPr>
            <a:r>
              <a:rPr lang="en-US" sz="800" dirty="0">
                <a:solidFill>
                  <a:srgbClr val="E7EEF8"/>
                </a:solidFill>
                <a:latin typeface="Courier New" pitchFamily="34" charset="0"/>
                <a:ea typeface="Courier New" pitchFamily="34" charset="-122"/>
                <a:cs typeface="Courier New" pitchFamily="34" charset="-120"/>
              </a:rPr>
              <a:t>import pandas as pd</a:t>
            </a:r>
            <a:endParaRPr lang="en-US" sz="800" dirty="0"/>
          </a:p>
          <a:p>
            <a:pPr indent="0" marL="0">
              <a:lnSpc>
                <a:spcPct val="112000"/>
              </a:lnSpc>
              <a:buNone/>
            </a:pPr>
            <a:endParaRPr lang="en-US" sz="800" dirty="0"/>
          </a:p>
          <a:p>
            <a:pPr indent="0" marL="0">
              <a:lnSpc>
                <a:spcPct val="112000"/>
              </a:lnSpc>
              <a:buNone/>
            </a:pPr>
            <a:r>
              <a:rPr lang="en-US" sz="800" dirty="0">
                <a:solidFill>
                  <a:srgbClr val="E7EEF8"/>
                </a:solidFill>
                <a:latin typeface="Courier New" pitchFamily="34" charset="0"/>
                <a:ea typeface="Courier New" pitchFamily="34" charset="-122"/>
                <a:cs typeface="Courier New" pitchFamily="34" charset="-120"/>
              </a:rPr>
              <a:t>def honest_summary(s, name="value"):</a:t>
            </a:r>
            <a:endParaRPr lang="en-US" sz="800" dirty="0"/>
          </a:p>
          <a:p>
            <a:pPr indent="0" marL="0">
              <a:lnSpc>
                <a:spcPct val="112000"/>
              </a:lnSpc>
              <a:buNone/>
            </a:pPr>
            <a:r>
              <a:rPr lang="en-US" sz="800" dirty="0">
                <a:solidFill>
                  <a:srgbClr val="E7EEF8"/>
                </a:solidFill>
                <a:latin typeface="Courier New" pitchFamily="34" charset="0"/>
                <a:ea typeface="Courier New" pitchFamily="34" charset="-122"/>
                <a:cs typeface="Courier New" pitchFamily="34" charset="-120"/>
              </a:rPr>
              <a:t>    """Centre, spread and shape - and a recommendation."""</a:t>
            </a:r>
            <a:endParaRPr lang="en-US" sz="800" dirty="0"/>
          </a:p>
          <a:p>
            <a:pPr indent="0" marL="0">
              <a:lnSpc>
                <a:spcPct val="112000"/>
              </a:lnSpc>
              <a:buNone/>
            </a:pPr>
            <a:r>
              <a:rPr lang="en-US" sz="800" dirty="0">
                <a:solidFill>
                  <a:srgbClr val="E7EEF8"/>
                </a:solidFill>
                <a:latin typeface="Courier New" pitchFamily="34" charset="0"/>
                <a:ea typeface="Courier New" pitchFamily="34" charset="-122"/>
                <a:cs typeface="Courier New" pitchFamily="34" charset="-120"/>
              </a:rPr>
              <a:t>    s = s.dropna()</a:t>
            </a:r>
            <a:endParaRPr lang="en-US" sz="800" dirty="0"/>
          </a:p>
          <a:p>
            <a:pPr indent="0" marL="0">
              <a:lnSpc>
                <a:spcPct val="112000"/>
              </a:lnSpc>
              <a:buNone/>
            </a:pPr>
            <a:r>
              <a:rPr lang="en-US" sz="800" dirty="0">
                <a:solidFill>
                  <a:srgbClr val="E7EEF8"/>
                </a:solidFill>
                <a:latin typeface="Courier New" pitchFamily="34" charset="0"/>
                <a:ea typeface="Courier New" pitchFamily="34" charset="-122"/>
                <a:cs typeface="Courier New" pitchFamily="34" charset="-120"/>
              </a:rPr>
              <a:t>    skew = s.skew()</a:t>
            </a:r>
            <a:endParaRPr lang="en-US" sz="800" dirty="0"/>
          </a:p>
          <a:p>
            <a:pPr indent="0" marL="0">
              <a:lnSpc>
                <a:spcPct val="112000"/>
              </a:lnSpc>
              <a:buNone/>
            </a:pPr>
            <a:r>
              <a:rPr lang="en-US" sz="800" dirty="0">
                <a:solidFill>
                  <a:srgbClr val="E7EEF8"/>
                </a:solidFill>
                <a:latin typeface="Courier New" pitchFamily="34" charset="0"/>
                <a:ea typeface="Courier New" pitchFamily="34" charset="-122"/>
                <a:cs typeface="Courier New" pitchFamily="34" charset="-120"/>
              </a:rPr>
              <a:t>    out = {</a:t>
            </a:r>
            <a:endParaRPr lang="en-US" sz="800" dirty="0"/>
          </a:p>
          <a:p>
            <a:pPr indent="0" marL="0">
              <a:lnSpc>
                <a:spcPct val="112000"/>
              </a:lnSpc>
              <a:buNone/>
            </a:pPr>
            <a:r>
              <a:rPr lang="en-US" sz="800" dirty="0">
                <a:solidFill>
                  <a:srgbClr val="E7EEF8"/>
                </a:solidFill>
                <a:latin typeface="Courier New" pitchFamily="34" charset="0"/>
                <a:ea typeface="Courier New" pitchFamily="34" charset="-122"/>
                <a:cs typeface="Courier New" pitchFamily="34" charset="-120"/>
              </a:rPr>
              <a:t>        "n":        len(s),</a:t>
            </a:r>
            <a:endParaRPr lang="en-US" sz="800" dirty="0"/>
          </a:p>
          <a:p>
            <a:pPr indent="0" marL="0">
              <a:lnSpc>
                <a:spcPct val="112000"/>
              </a:lnSpc>
              <a:buNone/>
            </a:pPr>
            <a:r>
              <a:rPr lang="en-US" sz="800" dirty="0">
                <a:solidFill>
                  <a:srgbClr val="E7EEF8"/>
                </a:solidFill>
                <a:latin typeface="Courier New" pitchFamily="34" charset="0"/>
                <a:ea typeface="Courier New" pitchFamily="34" charset="-122"/>
                <a:cs typeface="Courier New" pitchFamily="34" charset="-120"/>
              </a:rPr>
              <a:t>        "missing":  s.isna().sum(),</a:t>
            </a:r>
            <a:endParaRPr lang="en-US" sz="800" dirty="0"/>
          </a:p>
          <a:p>
            <a:pPr indent="0" marL="0">
              <a:lnSpc>
                <a:spcPct val="112000"/>
              </a:lnSpc>
              <a:buNone/>
            </a:pPr>
            <a:r>
              <a:rPr lang="en-US" sz="800" dirty="0">
                <a:solidFill>
                  <a:srgbClr val="E7EEF8"/>
                </a:solidFill>
                <a:latin typeface="Courier New" pitchFamily="34" charset="0"/>
                <a:ea typeface="Courier New" pitchFamily="34" charset="-122"/>
                <a:cs typeface="Courier New" pitchFamily="34" charset="-120"/>
              </a:rPr>
              <a:t>        "mean":     round(s.mean(), 2),</a:t>
            </a:r>
            <a:endParaRPr lang="en-US" sz="800" dirty="0"/>
          </a:p>
          <a:p>
            <a:pPr indent="0" marL="0">
              <a:lnSpc>
                <a:spcPct val="112000"/>
              </a:lnSpc>
              <a:buNone/>
            </a:pPr>
            <a:r>
              <a:rPr lang="en-US" sz="800" dirty="0">
                <a:solidFill>
                  <a:srgbClr val="E7EEF8"/>
                </a:solidFill>
                <a:latin typeface="Courier New" pitchFamily="34" charset="0"/>
                <a:ea typeface="Courier New" pitchFamily="34" charset="-122"/>
                <a:cs typeface="Courier New" pitchFamily="34" charset="-120"/>
              </a:rPr>
              <a:t>        "median":   round(s.median(), 2),</a:t>
            </a:r>
            <a:endParaRPr lang="en-US" sz="800" dirty="0"/>
          </a:p>
          <a:p>
            <a:pPr indent="0" marL="0">
              <a:lnSpc>
                <a:spcPct val="112000"/>
              </a:lnSpc>
              <a:buNone/>
            </a:pPr>
            <a:r>
              <a:rPr lang="en-US" sz="800" dirty="0">
                <a:solidFill>
                  <a:srgbClr val="E7EEF8"/>
                </a:solidFill>
                <a:latin typeface="Courier New" pitchFamily="34" charset="0"/>
                <a:ea typeface="Courier New" pitchFamily="34" charset="-122"/>
                <a:cs typeface="Courier New" pitchFamily="34" charset="-120"/>
              </a:rPr>
              <a:t>        "std":      round(s.std(), 2),          # ddof=1</a:t>
            </a:r>
            <a:endParaRPr lang="en-US" sz="800" dirty="0"/>
          </a:p>
          <a:p>
            <a:pPr indent="0" marL="0">
              <a:lnSpc>
                <a:spcPct val="112000"/>
              </a:lnSpc>
              <a:buNone/>
            </a:pPr>
            <a:r>
              <a:rPr lang="en-US" sz="800" dirty="0">
                <a:solidFill>
                  <a:srgbClr val="E7EEF8"/>
                </a:solidFill>
                <a:latin typeface="Courier New" pitchFamily="34" charset="0"/>
                <a:ea typeface="Courier New" pitchFamily="34" charset="-122"/>
                <a:cs typeface="Courier New" pitchFamily="34" charset="-120"/>
              </a:rPr>
              <a:t>        "std_pop":  round(s.std(ddof=0), 2),    # ddof=0</a:t>
            </a:r>
            <a:endParaRPr lang="en-US" sz="800" dirty="0"/>
          </a:p>
          <a:p>
            <a:pPr indent="0" marL="0">
              <a:lnSpc>
                <a:spcPct val="112000"/>
              </a:lnSpc>
              <a:buNone/>
            </a:pPr>
            <a:r>
              <a:rPr lang="en-US" sz="800" dirty="0">
                <a:solidFill>
                  <a:srgbClr val="E7EEF8"/>
                </a:solidFill>
                <a:latin typeface="Courier New" pitchFamily="34" charset="0"/>
                <a:ea typeface="Courier New" pitchFamily="34" charset="-122"/>
                <a:cs typeface="Courier New" pitchFamily="34" charset="-120"/>
              </a:rPr>
              <a:t>        "IQR":      round(s.quantile(.75) - s.quantile(.25), 2),</a:t>
            </a:r>
            <a:endParaRPr lang="en-US" sz="800" dirty="0"/>
          </a:p>
          <a:p>
            <a:pPr indent="0" marL="0">
              <a:lnSpc>
                <a:spcPct val="112000"/>
              </a:lnSpc>
              <a:buNone/>
            </a:pPr>
            <a:r>
              <a:rPr lang="en-US" sz="800" dirty="0">
                <a:solidFill>
                  <a:srgbClr val="E7EEF8"/>
                </a:solidFill>
                <a:latin typeface="Courier New" pitchFamily="34" charset="0"/>
                <a:ea typeface="Courier New" pitchFamily="34" charset="-122"/>
                <a:cs typeface="Courier New" pitchFamily="34" charset="-120"/>
              </a:rPr>
              <a:t>        "skew":     round(skew, 2),</a:t>
            </a:r>
            <a:endParaRPr lang="en-US" sz="800" dirty="0"/>
          </a:p>
          <a:p>
            <a:pPr indent="0" marL="0">
              <a:lnSpc>
                <a:spcPct val="112000"/>
              </a:lnSpc>
              <a:buNone/>
            </a:pPr>
            <a:r>
              <a:rPr lang="en-US" sz="800" dirty="0">
                <a:solidFill>
                  <a:srgbClr val="E7EEF8"/>
                </a:solidFill>
                <a:latin typeface="Courier New" pitchFamily="34" charset="0"/>
                <a:ea typeface="Courier New" pitchFamily="34" charset="-122"/>
                <a:cs typeface="Courier New" pitchFamily="34" charset="-120"/>
              </a:rPr>
              <a:t>        "kurtosis": round(s.kurt(), 2),</a:t>
            </a:r>
            <a:endParaRPr lang="en-US" sz="800" dirty="0"/>
          </a:p>
          <a:p>
            <a:pPr indent="0" marL="0">
              <a:lnSpc>
                <a:spcPct val="112000"/>
              </a:lnSpc>
              <a:buNone/>
            </a:pPr>
            <a:r>
              <a:rPr lang="en-US" sz="800" dirty="0">
                <a:solidFill>
                  <a:srgbClr val="E7EEF8"/>
                </a:solidFill>
                <a:latin typeface="Courier New" pitchFamily="34" charset="0"/>
                <a:ea typeface="Courier New" pitchFamily="34" charset="-122"/>
                <a:cs typeface="Courier New" pitchFamily="34" charset="-120"/>
              </a:rPr>
              <a:t>    }</a:t>
            </a:r>
            <a:endParaRPr lang="en-US" sz="800" dirty="0"/>
          </a:p>
          <a:p>
            <a:pPr indent="0" marL="0">
              <a:lnSpc>
                <a:spcPct val="112000"/>
              </a:lnSpc>
              <a:buNone/>
            </a:pPr>
            <a:endParaRPr lang="en-US" sz="800" dirty="0"/>
          </a:p>
          <a:p>
            <a:pPr indent="0" marL="0">
              <a:lnSpc>
                <a:spcPct val="112000"/>
              </a:lnSpc>
              <a:buNone/>
            </a:pPr>
            <a:r>
              <a:rPr lang="en-US" sz="800" dirty="0">
                <a:solidFill>
                  <a:srgbClr val="E7EEF8"/>
                </a:solidFill>
                <a:latin typeface="Courier New" pitchFamily="34" charset="0"/>
                <a:ea typeface="Courier New" pitchFamily="34" charset="-122"/>
                <a:cs typeface="Courier New" pitchFamily="34" charset="-120"/>
              </a:rPr>
              <a:t>    #  the part describe() will not do for you</a:t>
            </a:r>
            <a:endParaRPr lang="en-US" sz="800" dirty="0"/>
          </a:p>
          <a:p>
            <a:pPr indent="0" marL="0">
              <a:lnSpc>
                <a:spcPct val="112000"/>
              </a:lnSpc>
              <a:buNone/>
            </a:pPr>
            <a:r>
              <a:rPr lang="en-US" sz="800" dirty="0">
                <a:solidFill>
                  <a:srgbClr val="E7EEF8"/>
                </a:solidFill>
                <a:latin typeface="Courier New" pitchFamily="34" charset="0"/>
                <a:ea typeface="Courier New" pitchFamily="34" charset="-122"/>
                <a:cs typeface="Courier New" pitchFamily="34" charset="-120"/>
              </a:rPr>
              <a:t>    gap = abs(out["mean"] - out["median"]) / out["std"]</a:t>
            </a:r>
            <a:endParaRPr lang="en-US" sz="800" dirty="0"/>
          </a:p>
          <a:p>
            <a:pPr indent="0" marL="0">
              <a:lnSpc>
                <a:spcPct val="112000"/>
              </a:lnSpc>
              <a:buNone/>
            </a:pPr>
            <a:r>
              <a:rPr lang="en-US" sz="800" dirty="0">
                <a:solidFill>
                  <a:srgbClr val="E7EEF8"/>
                </a:solidFill>
                <a:latin typeface="Courier New" pitchFamily="34" charset="0"/>
                <a:ea typeface="Courier New" pitchFamily="34" charset="-122"/>
                <a:cs typeface="Courier New" pitchFamily="34" charset="-120"/>
              </a:rPr>
              <a:t>    if abs(skew) &gt; 1 or gap &gt; 0.3:</a:t>
            </a:r>
            <a:endParaRPr lang="en-US" sz="800" dirty="0"/>
          </a:p>
          <a:p>
            <a:pPr indent="0" marL="0">
              <a:lnSpc>
                <a:spcPct val="112000"/>
              </a:lnSpc>
              <a:buNone/>
            </a:pPr>
            <a:r>
              <a:rPr lang="en-US" sz="800" dirty="0">
                <a:solidFill>
                  <a:srgbClr val="E7EEF8"/>
                </a:solidFill>
                <a:latin typeface="Courier New" pitchFamily="34" charset="0"/>
                <a:ea typeface="Courier New" pitchFamily="34" charset="-122"/>
                <a:cs typeface="Courier New" pitchFamily="34" charset="-120"/>
              </a:rPr>
              <a:t>        out["report"] = "MEDIAN and IQR - the data is skewed"</a:t>
            </a:r>
            <a:endParaRPr lang="en-US" sz="800" dirty="0"/>
          </a:p>
          <a:p>
            <a:pPr indent="0" marL="0">
              <a:lnSpc>
                <a:spcPct val="112000"/>
              </a:lnSpc>
              <a:buNone/>
            </a:pPr>
            <a:r>
              <a:rPr lang="en-US" sz="800" dirty="0">
                <a:solidFill>
                  <a:srgbClr val="E7EEF8"/>
                </a:solidFill>
                <a:latin typeface="Courier New" pitchFamily="34" charset="0"/>
                <a:ea typeface="Courier New" pitchFamily="34" charset="-122"/>
                <a:cs typeface="Courier New" pitchFamily="34" charset="-120"/>
              </a:rPr>
              <a:t>    else:</a:t>
            </a:r>
            <a:endParaRPr lang="en-US" sz="800" dirty="0"/>
          </a:p>
          <a:p>
            <a:pPr indent="0" marL="0">
              <a:lnSpc>
                <a:spcPct val="112000"/>
              </a:lnSpc>
              <a:buNone/>
            </a:pPr>
            <a:r>
              <a:rPr lang="en-US" sz="800" dirty="0">
                <a:solidFill>
                  <a:srgbClr val="E7EEF8"/>
                </a:solidFill>
                <a:latin typeface="Courier New" pitchFamily="34" charset="0"/>
                <a:ea typeface="Courier New" pitchFamily="34" charset="-122"/>
                <a:cs typeface="Courier New" pitchFamily="34" charset="-120"/>
              </a:rPr>
              <a:t>        out["report"] = "mean and std - roughly symmetric"</a:t>
            </a:r>
            <a:endParaRPr lang="en-US" sz="800" dirty="0"/>
          </a:p>
          <a:p>
            <a:pPr indent="0" marL="0">
              <a:lnSpc>
                <a:spcPct val="112000"/>
              </a:lnSpc>
              <a:buNone/>
            </a:pPr>
            <a:r>
              <a:rPr lang="en-US" sz="800" dirty="0">
                <a:solidFill>
                  <a:srgbClr val="E7EEF8"/>
                </a:solidFill>
                <a:latin typeface="Courier New" pitchFamily="34" charset="0"/>
                <a:ea typeface="Courier New" pitchFamily="34" charset="-122"/>
                <a:cs typeface="Courier New" pitchFamily="34" charset="-120"/>
              </a:rPr>
              <a:t>    return pd.Series(out)</a:t>
            </a:r>
            <a:endParaRPr lang="en-US" sz="800" dirty="0"/>
          </a:p>
        </p:txBody>
      </p:sp>
      <p:sp>
        <p:nvSpPr>
          <p:cNvPr id="8" name="Shape 6"/>
          <p:cNvSpPr/>
          <p:nvPr/>
        </p:nvSpPr>
        <p:spPr>
          <a:xfrm>
            <a:off x="7406640" y="1572768"/>
            <a:ext cx="4206240" cy="493776"/>
          </a:xfrm>
          <a:prstGeom prst="roundRect">
            <a:avLst>
              <a:gd name="adj" fmla="val 16667"/>
            </a:avLst>
          </a:prstGeom>
          <a:solidFill>
            <a:srgbClr val="FFFFFF"/>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9" name="Shape 7"/>
          <p:cNvSpPr/>
          <p:nvPr/>
        </p:nvSpPr>
        <p:spPr>
          <a:xfrm>
            <a:off x="7562088" y="1673352"/>
            <a:ext cx="118872" cy="292608"/>
          </a:xfrm>
          <a:prstGeom prst="roundRect">
            <a:avLst>
              <a:gd name="adj" fmla="val 38462"/>
            </a:avLst>
          </a:prstGeom>
          <a:solidFill>
            <a:srgbClr val="E8674C"/>
          </a:solidFill>
          <a:ln w="12700">
            <a:solidFill>
              <a:srgbClr val="333333"/>
            </a:solidFill>
            <a:prstDash val="solid"/>
          </a:ln>
        </p:spPr>
      </p:sp>
      <p:sp>
        <p:nvSpPr>
          <p:cNvPr id="10" name="Text 8"/>
          <p:cNvSpPr txBox="1"/>
          <p:nvPr/>
        </p:nvSpPr>
        <p:spPr>
          <a:xfrm>
            <a:off x="7790688" y="1609344"/>
            <a:ext cx="3017520" cy="237744"/>
          </a:xfrm>
          <a:prstGeom prst="rect">
            <a:avLst/>
          </a:prstGeom>
          <a:noFill/>
          <a:ln/>
        </p:spPr>
        <p:txBody>
          <a:bodyPr wrap="square" lIns="0" tIns="0" rIns="0" bIns="0" rtlCol="0" anchor="ctr"/>
          <a:lstStyle/>
          <a:p>
            <a:pPr indent="0" marL="0">
              <a:buNone/>
            </a:pPr>
            <a:r>
              <a:rPr lang="en-US" sz="1050" b="1" dirty="0">
                <a:solidFill>
                  <a:srgbClr val="1F3A5F"/>
                </a:solidFill>
                <a:latin typeface="Calibri" pitchFamily="34" charset="0"/>
                <a:ea typeface="Calibri" pitchFamily="34" charset="-122"/>
                <a:cs typeface="Calibri" pitchFamily="34" charset="-120"/>
              </a:rPr>
              <a:t>dropna first</a:t>
            </a:r>
            <a:endParaRPr lang="en-US" sz="1050" dirty="0"/>
          </a:p>
        </p:txBody>
      </p:sp>
      <p:sp>
        <p:nvSpPr>
          <p:cNvPr id="11" name="Text 9"/>
          <p:cNvSpPr txBox="1"/>
          <p:nvPr/>
        </p:nvSpPr>
        <p:spPr>
          <a:xfrm>
            <a:off x="7790688" y="1828800"/>
            <a:ext cx="3703320" cy="219456"/>
          </a:xfrm>
          <a:prstGeom prst="rect">
            <a:avLst/>
          </a:prstGeom>
          <a:noFill/>
          <a:ln/>
        </p:spPr>
        <p:txBody>
          <a:bodyPr wrap="square" lIns="0" tIns="0" rIns="0" bIns="0" rtlCol="0" anchor="ctr"/>
          <a:lstStyle/>
          <a:p>
            <a:pPr indent="0" marL="0">
              <a:buNone/>
            </a:pPr>
            <a:r>
              <a:rPr lang="en-US" sz="950" dirty="0">
                <a:solidFill>
                  <a:srgbClr val="6B7789"/>
                </a:solidFill>
                <a:latin typeface="Calibri" pitchFamily="34" charset="0"/>
                <a:ea typeface="Calibri" pitchFamily="34" charset="-122"/>
                <a:cs typeface="Calibri" pitchFamily="34" charset="-120"/>
              </a:rPr>
              <a:t>every statistic needs a clean n</a:t>
            </a:r>
            <a:endParaRPr lang="en-US" sz="950" dirty="0"/>
          </a:p>
        </p:txBody>
      </p:sp>
      <p:sp>
        <p:nvSpPr>
          <p:cNvPr id="12" name="Shape 10"/>
          <p:cNvSpPr/>
          <p:nvPr/>
        </p:nvSpPr>
        <p:spPr>
          <a:xfrm>
            <a:off x="7406640" y="2148840"/>
            <a:ext cx="4206240" cy="493776"/>
          </a:xfrm>
          <a:prstGeom prst="roundRect">
            <a:avLst>
              <a:gd name="adj" fmla="val 16667"/>
            </a:avLst>
          </a:prstGeom>
          <a:solidFill>
            <a:srgbClr val="FFFFFF"/>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13" name="Shape 11"/>
          <p:cNvSpPr/>
          <p:nvPr/>
        </p:nvSpPr>
        <p:spPr>
          <a:xfrm>
            <a:off x="7562088" y="2249424"/>
            <a:ext cx="118872" cy="292608"/>
          </a:xfrm>
          <a:prstGeom prst="roundRect">
            <a:avLst>
              <a:gd name="adj" fmla="val 38462"/>
            </a:avLst>
          </a:prstGeom>
          <a:solidFill>
            <a:srgbClr val="E8674C"/>
          </a:solidFill>
          <a:ln w="12700">
            <a:solidFill>
              <a:srgbClr val="333333"/>
            </a:solidFill>
            <a:prstDash val="solid"/>
          </a:ln>
        </p:spPr>
      </p:sp>
      <p:sp>
        <p:nvSpPr>
          <p:cNvPr id="14" name="Text 12"/>
          <p:cNvSpPr txBox="1"/>
          <p:nvPr/>
        </p:nvSpPr>
        <p:spPr>
          <a:xfrm>
            <a:off x="7790688" y="2185416"/>
            <a:ext cx="3017520" cy="237744"/>
          </a:xfrm>
          <a:prstGeom prst="rect">
            <a:avLst/>
          </a:prstGeom>
          <a:noFill/>
          <a:ln/>
        </p:spPr>
        <p:txBody>
          <a:bodyPr wrap="square" lIns="0" tIns="0" rIns="0" bIns="0" rtlCol="0" anchor="ctr"/>
          <a:lstStyle/>
          <a:p>
            <a:pPr indent="0" marL="0">
              <a:buNone/>
            </a:pPr>
            <a:r>
              <a:rPr lang="en-US" sz="1050" b="1" dirty="0">
                <a:solidFill>
                  <a:srgbClr val="1F3A5F"/>
                </a:solidFill>
                <a:latin typeface="Calibri" pitchFamily="34" charset="0"/>
                <a:ea typeface="Calibri" pitchFamily="34" charset="-122"/>
                <a:cs typeface="Calibri" pitchFamily="34" charset="-120"/>
              </a:rPr>
              <a:t>n AND missing</a:t>
            </a:r>
            <a:endParaRPr lang="en-US" sz="1050" dirty="0"/>
          </a:p>
        </p:txBody>
      </p:sp>
      <p:sp>
        <p:nvSpPr>
          <p:cNvPr id="15" name="Text 13"/>
          <p:cNvSpPr txBox="1"/>
          <p:nvPr/>
        </p:nvSpPr>
        <p:spPr>
          <a:xfrm>
            <a:off x="7790688" y="2404872"/>
            <a:ext cx="3703320" cy="219456"/>
          </a:xfrm>
          <a:prstGeom prst="rect">
            <a:avLst/>
          </a:prstGeom>
          <a:noFill/>
          <a:ln/>
        </p:spPr>
        <p:txBody>
          <a:bodyPr wrap="square" lIns="0" tIns="0" rIns="0" bIns="0" rtlCol="0" anchor="ctr"/>
          <a:lstStyle/>
          <a:p>
            <a:pPr indent="0" marL="0">
              <a:buNone/>
            </a:pPr>
            <a:r>
              <a:rPr lang="en-US" sz="950" dirty="0">
                <a:solidFill>
                  <a:srgbClr val="6B7789"/>
                </a:solidFill>
                <a:latin typeface="Calibri" pitchFamily="34" charset="0"/>
                <a:ea typeface="Calibri" pitchFamily="34" charset="-122"/>
                <a:cs typeface="Calibri" pitchFamily="34" charset="-120"/>
              </a:rPr>
              <a:t>Day 19's rule, kept</a:t>
            </a:r>
            <a:endParaRPr lang="en-US" sz="950" dirty="0"/>
          </a:p>
        </p:txBody>
      </p:sp>
      <p:sp>
        <p:nvSpPr>
          <p:cNvPr id="16" name="Shape 14"/>
          <p:cNvSpPr/>
          <p:nvPr/>
        </p:nvSpPr>
        <p:spPr>
          <a:xfrm>
            <a:off x="7406640" y="2724912"/>
            <a:ext cx="4206240" cy="493776"/>
          </a:xfrm>
          <a:prstGeom prst="roundRect">
            <a:avLst>
              <a:gd name="adj" fmla="val 16667"/>
            </a:avLst>
          </a:prstGeom>
          <a:solidFill>
            <a:srgbClr val="FFFFFF"/>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17" name="Shape 15"/>
          <p:cNvSpPr/>
          <p:nvPr/>
        </p:nvSpPr>
        <p:spPr>
          <a:xfrm>
            <a:off x="7562088" y="2825496"/>
            <a:ext cx="118872" cy="292608"/>
          </a:xfrm>
          <a:prstGeom prst="roundRect">
            <a:avLst>
              <a:gd name="adj" fmla="val 38462"/>
            </a:avLst>
          </a:prstGeom>
          <a:solidFill>
            <a:srgbClr val="FFC145"/>
          </a:solidFill>
          <a:ln w="12700">
            <a:solidFill>
              <a:srgbClr val="333333"/>
            </a:solidFill>
            <a:prstDash val="solid"/>
          </a:ln>
        </p:spPr>
      </p:sp>
      <p:sp>
        <p:nvSpPr>
          <p:cNvPr id="18" name="Text 16"/>
          <p:cNvSpPr txBox="1"/>
          <p:nvPr/>
        </p:nvSpPr>
        <p:spPr>
          <a:xfrm>
            <a:off x="7790688" y="2761488"/>
            <a:ext cx="3017520" cy="237744"/>
          </a:xfrm>
          <a:prstGeom prst="rect">
            <a:avLst/>
          </a:prstGeom>
          <a:noFill/>
          <a:ln/>
        </p:spPr>
        <p:txBody>
          <a:bodyPr wrap="square" lIns="0" tIns="0" rIns="0" bIns="0" rtlCol="0" anchor="ctr"/>
          <a:lstStyle/>
          <a:p>
            <a:pPr indent="0" marL="0">
              <a:buNone/>
            </a:pPr>
            <a:r>
              <a:rPr lang="en-US" sz="1050" b="1" dirty="0">
                <a:solidFill>
                  <a:srgbClr val="1F3A5F"/>
                </a:solidFill>
                <a:latin typeface="Calibri" pitchFamily="34" charset="0"/>
                <a:ea typeface="Calibri" pitchFamily="34" charset="-122"/>
                <a:cs typeface="Calibri" pitchFamily="34" charset="-120"/>
              </a:rPr>
              <a:t>mean beside median</a:t>
            </a:r>
            <a:endParaRPr lang="en-US" sz="1050" dirty="0"/>
          </a:p>
        </p:txBody>
      </p:sp>
      <p:sp>
        <p:nvSpPr>
          <p:cNvPr id="19" name="Text 17"/>
          <p:cNvSpPr txBox="1"/>
          <p:nvPr/>
        </p:nvSpPr>
        <p:spPr>
          <a:xfrm>
            <a:off x="7790688" y="2980944"/>
            <a:ext cx="3703320" cy="219456"/>
          </a:xfrm>
          <a:prstGeom prst="rect">
            <a:avLst/>
          </a:prstGeom>
          <a:noFill/>
          <a:ln/>
        </p:spPr>
        <p:txBody>
          <a:bodyPr wrap="square" lIns="0" tIns="0" rIns="0" bIns="0" rtlCol="0" anchor="ctr"/>
          <a:lstStyle/>
          <a:p>
            <a:pPr indent="0" marL="0">
              <a:buNone/>
            </a:pPr>
            <a:r>
              <a:rPr lang="en-US" sz="950" dirty="0">
                <a:solidFill>
                  <a:srgbClr val="6B7789"/>
                </a:solidFill>
                <a:latin typeface="Calibri" pitchFamily="34" charset="0"/>
                <a:ea typeface="Calibri" pitchFamily="34" charset="-122"/>
                <a:cs typeface="Calibri" pitchFamily="34" charset="-120"/>
              </a:rPr>
              <a:t>the gap is the finding</a:t>
            </a:r>
            <a:endParaRPr lang="en-US" sz="950" dirty="0"/>
          </a:p>
        </p:txBody>
      </p:sp>
      <p:sp>
        <p:nvSpPr>
          <p:cNvPr id="20" name="Shape 18"/>
          <p:cNvSpPr/>
          <p:nvPr/>
        </p:nvSpPr>
        <p:spPr>
          <a:xfrm>
            <a:off x="7406640" y="3300984"/>
            <a:ext cx="4206240" cy="493776"/>
          </a:xfrm>
          <a:prstGeom prst="roundRect">
            <a:avLst>
              <a:gd name="adj" fmla="val 16667"/>
            </a:avLst>
          </a:prstGeom>
          <a:solidFill>
            <a:srgbClr val="FFFFFF"/>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21" name="Shape 19"/>
          <p:cNvSpPr/>
          <p:nvPr/>
        </p:nvSpPr>
        <p:spPr>
          <a:xfrm>
            <a:off x="7562088" y="3401568"/>
            <a:ext cx="118872" cy="292608"/>
          </a:xfrm>
          <a:prstGeom prst="roundRect">
            <a:avLst>
              <a:gd name="adj" fmla="val 38462"/>
            </a:avLst>
          </a:prstGeom>
          <a:solidFill>
            <a:srgbClr val="FFC145"/>
          </a:solidFill>
          <a:ln w="12700">
            <a:solidFill>
              <a:srgbClr val="333333"/>
            </a:solidFill>
            <a:prstDash val="solid"/>
          </a:ln>
        </p:spPr>
      </p:sp>
      <p:sp>
        <p:nvSpPr>
          <p:cNvPr id="22" name="Text 20"/>
          <p:cNvSpPr txBox="1"/>
          <p:nvPr/>
        </p:nvSpPr>
        <p:spPr>
          <a:xfrm>
            <a:off x="7790688" y="3337560"/>
            <a:ext cx="3017520" cy="237744"/>
          </a:xfrm>
          <a:prstGeom prst="rect">
            <a:avLst/>
          </a:prstGeom>
          <a:noFill/>
          <a:ln/>
        </p:spPr>
        <p:txBody>
          <a:bodyPr wrap="square" lIns="0" tIns="0" rIns="0" bIns="0" rtlCol="0" anchor="ctr"/>
          <a:lstStyle/>
          <a:p>
            <a:pPr indent="0" marL="0">
              <a:buNone/>
            </a:pPr>
            <a:r>
              <a:rPr lang="en-US" sz="1050" b="1" dirty="0">
                <a:solidFill>
                  <a:srgbClr val="1F3A5F"/>
                </a:solidFill>
                <a:latin typeface="Calibri" pitchFamily="34" charset="0"/>
                <a:ea typeface="Calibri" pitchFamily="34" charset="-122"/>
                <a:cs typeface="Calibri" pitchFamily="34" charset="-120"/>
              </a:rPr>
              <a:t>both ddof values</a:t>
            </a:r>
            <a:endParaRPr lang="en-US" sz="1050" dirty="0"/>
          </a:p>
        </p:txBody>
      </p:sp>
      <p:sp>
        <p:nvSpPr>
          <p:cNvPr id="23" name="Text 21"/>
          <p:cNvSpPr txBox="1"/>
          <p:nvPr/>
        </p:nvSpPr>
        <p:spPr>
          <a:xfrm>
            <a:off x="7790688" y="3557016"/>
            <a:ext cx="3703320" cy="219456"/>
          </a:xfrm>
          <a:prstGeom prst="rect">
            <a:avLst/>
          </a:prstGeom>
          <a:noFill/>
          <a:ln/>
        </p:spPr>
        <p:txBody>
          <a:bodyPr wrap="square" lIns="0" tIns="0" rIns="0" bIns="0" rtlCol="0" anchor="ctr"/>
          <a:lstStyle/>
          <a:p>
            <a:pPr indent="0" marL="0">
              <a:buNone/>
            </a:pPr>
            <a:r>
              <a:rPr lang="en-US" sz="950" dirty="0">
                <a:solidFill>
                  <a:srgbClr val="6B7789"/>
                </a:solidFill>
                <a:latin typeface="Calibri" pitchFamily="34" charset="0"/>
                <a:ea typeface="Calibri" pitchFamily="34" charset="-122"/>
                <a:cs typeface="Calibri" pitchFamily="34" charset="-120"/>
              </a:rPr>
              <a:t>so the choice is visible</a:t>
            </a:r>
            <a:endParaRPr lang="en-US" sz="950" dirty="0"/>
          </a:p>
        </p:txBody>
      </p:sp>
      <p:sp>
        <p:nvSpPr>
          <p:cNvPr id="24" name="Shape 22"/>
          <p:cNvSpPr/>
          <p:nvPr/>
        </p:nvSpPr>
        <p:spPr>
          <a:xfrm>
            <a:off x="7406640" y="3877056"/>
            <a:ext cx="4206240" cy="493776"/>
          </a:xfrm>
          <a:prstGeom prst="roundRect">
            <a:avLst>
              <a:gd name="adj" fmla="val 16667"/>
            </a:avLst>
          </a:prstGeom>
          <a:solidFill>
            <a:srgbClr val="FFFFFF"/>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25" name="Shape 23"/>
          <p:cNvSpPr/>
          <p:nvPr/>
        </p:nvSpPr>
        <p:spPr>
          <a:xfrm>
            <a:off x="7562088" y="3977640"/>
            <a:ext cx="118872" cy="292608"/>
          </a:xfrm>
          <a:prstGeom prst="roundRect">
            <a:avLst>
              <a:gd name="adj" fmla="val 38462"/>
            </a:avLst>
          </a:prstGeom>
          <a:solidFill>
            <a:srgbClr val="2FA98C"/>
          </a:solidFill>
          <a:ln w="12700">
            <a:solidFill>
              <a:srgbClr val="333333"/>
            </a:solidFill>
            <a:prstDash val="solid"/>
          </a:ln>
        </p:spPr>
      </p:sp>
      <p:sp>
        <p:nvSpPr>
          <p:cNvPr id="26" name="Text 24"/>
          <p:cNvSpPr txBox="1"/>
          <p:nvPr/>
        </p:nvSpPr>
        <p:spPr>
          <a:xfrm>
            <a:off x="7790688" y="3913632"/>
            <a:ext cx="3017520" cy="237744"/>
          </a:xfrm>
          <a:prstGeom prst="rect">
            <a:avLst/>
          </a:prstGeom>
          <a:noFill/>
          <a:ln/>
        </p:spPr>
        <p:txBody>
          <a:bodyPr wrap="square" lIns="0" tIns="0" rIns="0" bIns="0" rtlCol="0" anchor="ctr"/>
          <a:lstStyle/>
          <a:p>
            <a:pPr indent="0" marL="0">
              <a:buNone/>
            </a:pPr>
            <a:r>
              <a:rPr lang="en-US" sz="1050" b="1" dirty="0">
                <a:solidFill>
                  <a:srgbClr val="1F3A5F"/>
                </a:solidFill>
                <a:latin typeface="Calibri" pitchFamily="34" charset="0"/>
                <a:ea typeface="Calibri" pitchFamily="34" charset="-122"/>
                <a:cs typeface="Calibri" pitchFamily="34" charset="-120"/>
              </a:rPr>
              <a:t>IQR alongside std</a:t>
            </a:r>
            <a:endParaRPr lang="en-US" sz="1050" dirty="0"/>
          </a:p>
        </p:txBody>
      </p:sp>
      <p:sp>
        <p:nvSpPr>
          <p:cNvPr id="27" name="Text 25"/>
          <p:cNvSpPr txBox="1"/>
          <p:nvPr/>
        </p:nvSpPr>
        <p:spPr>
          <a:xfrm>
            <a:off x="7790688" y="4133088"/>
            <a:ext cx="3703320" cy="219456"/>
          </a:xfrm>
          <a:prstGeom prst="rect">
            <a:avLst/>
          </a:prstGeom>
          <a:noFill/>
          <a:ln/>
        </p:spPr>
        <p:txBody>
          <a:bodyPr wrap="square" lIns="0" tIns="0" rIns="0" bIns="0" rtlCol="0" anchor="ctr"/>
          <a:lstStyle/>
          <a:p>
            <a:pPr indent="0" marL="0">
              <a:buNone/>
            </a:pPr>
            <a:r>
              <a:rPr lang="en-US" sz="950" dirty="0">
                <a:solidFill>
                  <a:srgbClr val="6B7789"/>
                </a:solidFill>
                <a:latin typeface="Calibri" pitchFamily="34" charset="0"/>
                <a:ea typeface="Calibri" pitchFamily="34" charset="-122"/>
                <a:cs typeface="Calibri" pitchFamily="34" charset="-120"/>
              </a:rPr>
              <a:t>robust and non-robust</a:t>
            </a:r>
            <a:endParaRPr lang="en-US" sz="950" dirty="0"/>
          </a:p>
        </p:txBody>
      </p:sp>
      <p:sp>
        <p:nvSpPr>
          <p:cNvPr id="28" name="Shape 26"/>
          <p:cNvSpPr/>
          <p:nvPr/>
        </p:nvSpPr>
        <p:spPr>
          <a:xfrm>
            <a:off x="7406640" y="4453128"/>
            <a:ext cx="4206240" cy="493776"/>
          </a:xfrm>
          <a:prstGeom prst="roundRect">
            <a:avLst>
              <a:gd name="adj" fmla="val 16667"/>
            </a:avLst>
          </a:prstGeom>
          <a:solidFill>
            <a:srgbClr val="FFFFFF"/>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29" name="Shape 27"/>
          <p:cNvSpPr/>
          <p:nvPr/>
        </p:nvSpPr>
        <p:spPr>
          <a:xfrm>
            <a:off x="7562088" y="4553712"/>
            <a:ext cx="118872" cy="292608"/>
          </a:xfrm>
          <a:prstGeom prst="roundRect">
            <a:avLst>
              <a:gd name="adj" fmla="val 38462"/>
            </a:avLst>
          </a:prstGeom>
          <a:solidFill>
            <a:srgbClr val="2FA98C"/>
          </a:solidFill>
          <a:ln w="12700">
            <a:solidFill>
              <a:srgbClr val="333333"/>
            </a:solidFill>
            <a:prstDash val="solid"/>
          </a:ln>
        </p:spPr>
      </p:sp>
      <p:sp>
        <p:nvSpPr>
          <p:cNvPr id="30" name="Text 28"/>
          <p:cNvSpPr txBox="1"/>
          <p:nvPr/>
        </p:nvSpPr>
        <p:spPr>
          <a:xfrm>
            <a:off x="7790688" y="4489704"/>
            <a:ext cx="3017520" cy="237744"/>
          </a:xfrm>
          <a:prstGeom prst="rect">
            <a:avLst/>
          </a:prstGeom>
          <a:noFill/>
          <a:ln/>
        </p:spPr>
        <p:txBody>
          <a:bodyPr wrap="square" lIns="0" tIns="0" rIns="0" bIns="0" rtlCol="0" anchor="ctr"/>
          <a:lstStyle/>
          <a:p>
            <a:pPr indent="0" marL="0">
              <a:buNone/>
            </a:pPr>
            <a:r>
              <a:rPr lang="en-US" sz="1050" b="1" dirty="0">
                <a:solidFill>
                  <a:srgbClr val="1F3A5F"/>
                </a:solidFill>
                <a:latin typeface="Calibri" pitchFamily="34" charset="0"/>
                <a:ea typeface="Calibri" pitchFamily="34" charset="-122"/>
                <a:cs typeface="Calibri" pitchFamily="34" charset="-120"/>
              </a:rPr>
              <a:t>skew and kurtosis</a:t>
            </a:r>
            <a:endParaRPr lang="en-US" sz="1050" dirty="0"/>
          </a:p>
        </p:txBody>
      </p:sp>
      <p:sp>
        <p:nvSpPr>
          <p:cNvPr id="31" name="Text 29"/>
          <p:cNvSpPr txBox="1"/>
          <p:nvPr/>
        </p:nvSpPr>
        <p:spPr>
          <a:xfrm>
            <a:off x="7790688" y="4709160"/>
            <a:ext cx="3703320" cy="219456"/>
          </a:xfrm>
          <a:prstGeom prst="rect">
            <a:avLst/>
          </a:prstGeom>
          <a:noFill/>
          <a:ln/>
        </p:spPr>
        <p:txBody>
          <a:bodyPr wrap="square" lIns="0" tIns="0" rIns="0" bIns="0" rtlCol="0" anchor="ctr"/>
          <a:lstStyle/>
          <a:p>
            <a:pPr indent="0" marL="0">
              <a:buNone/>
            </a:pPr>
            <a:r>
              <a:rPr lang="en-US" sz="950" dirty="0">
                <a:solidFill>
                  <a:srgbClr val="6B7789"/>
                </a:solidFill>
                <a:latin typeface="Calibri" pitchFamily="34" charset="0"/>
                <a:ea typeface="Calibri" pitchFamily="34" charset="-122"/>
                <a:cs typeface="Calibri" pitchFamily="34" charset="-120"/>
              </a:rPr>
              <a:t>shape, not just centre</a:t>
            </a:r>
            <a:endParaRPr lang="en-US" sz="950" dirty="0"/>
          </a:p>
        </p:txBody>
      </p:sp>
      <p:sp>
        <p:nvSpPr>
          <p:cNvPr id="32" name="Shape 30"/>
          <p:cNvSpPr/>
          <p:nvPr/>
        </p:nvSpPr>
        <p:spPr>
          <a:xfrm>
            <a:off x="7406640" y="5029200"/>
            <a:ext cx="4206240" cy="493776"/>
          </a:xfrm>
          <a:prstGeom prst="roundRect">
            <a:avLst>
              <a:gd name="adj" fmla="val 16667"/>
            </a:avLst>
          </a:prstGeom>
          <a:solidFill>
            <a:srgbClr val="FFFFFF"/>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33" name="Shape 31"/>
          <p:cNvSpPr/>
          <p:nvPr/>
        </p:nvSpPr>
        <p:spPr>
          <a:xfrm>
            <a:off x="7562088" y="5129784"/>
            <a:ext cx="118872" cy="292608"/>
          </a:xfrm>
          <a:prstGeom prst="roundRect">
            <a:avLst>
              <a:gd name="adj" fmla="val 38462"/>
            </a:avLst>
          </a:prstGeom>
          <a:solidFill>
            <a:srgbClr val="3E7CB1"/>
          </a:solidFill>
          <a:ln w="12700">
            <a:solidFill>
              <a:srgbClr val="333333"/>
            </a:solidFill>
            <a:prstDash val="solid"/>
          </a:ln>
        </p:spPr>
      </p:sp>
      <p:sp>
        <p:nvSpPr>
          <p:cNvPr id="34" name="Text 32"/>
          <p:cNvSpPr txBox="1"/>
          <p:nvPr/>
        </p:nvSpPr>
        <p:spPr>
          <a:xfrm>
            <a:off x="7790688" y="5065776"/>
            <a:ext cx="3017520" cy="237744"/>
          </a:xfrm>
          <a:prstGeom prst="rect">
            <a:avLst/>
          </a:prstGeom>
          <a:noFill/>
          <a:ln/>
        </p:spPr>
        <p:txBody>
          <a:bodyPr wrap="square" lIns="0" tIns="0" rIns="0" bIns="0" rtlCol="0" anchor="ctr"/>
          <a:lstStyle/>
          <a:p>
            <a:pPr indent="0" marL="0">
              <a:buNone/>
            </a:pPr>
            <a:r>
              <a:rPr lang="en-US" sz="1050" b="1" dirty="0">
                <a:solidFill>
                  <a:srgbClr val="1F3A5F"/>
                </a:solidFill>
                <a:latin typeface="Calibri" pitchFamily="34" charset="0"/>
                <a:ea typeface="Calibri" pitchFamily="34" charset="-122"/>
                <a:cs typeface="Calibri" pitchFamily="34" charset="-120"/>
              </a:rPr>
              <a:t>a recommendation</a:t>
            </a:r>
            <a:endParaRPr lang="en-US" sz="1050" dirty="0"/>
          </a:p>
        </p:txBody>
      </p:sp>
      <p:sp>
        <p:nvSpPr>
          <p:cNvPr id="35" name="Text 33"/>
          <p:cNvSpPr txBox="1"/>
          <p:nvPr/>
        </p:nvSpPr>
        <p:spPr>
          <a:xfrm>
            <a:off x="7790688" y="5285232"/>
            <a:ext cx="3703320" cy="219456"/>
          </a:xfrm>
          <a:prstGeom prst="rect">
            <a:avLst/>
          </a:prstGeom>
          <a:noFill/>
          <a:ln/>
        </p:spPr>
        <p:txBody>
          <a:bodyPr wrap="square" lIns="0" tIns="0" rIns="0" bIns="0" rtlCol="0" anchor="ctr"/>
          <a:lstStyle/>
          <a:p>
            <a:pPr indent="0" marL="0">
              <a:buNone/>
            </a:pPr>
            <a:r>
              <a:rPr lang="en-US" sz="950" dirty="0">
                <a:solidFill>
                  <a:srgbClr val="6B7789"/>
                </a:solidFill>
                <a:latin typeface="Calibri" pitchFamily="34" charset="0"/>
                <a:ea typeface="Calibri" pitchFamily="34" charset="-122"/>
                <a:cs typeface="Calibri" pitchFamily="34" charset="-120"/>
              </a:rPr>
              <a:t>the line describe() never gives</a:t>
            </a:r>
            <a:endParaRPr lang="en-US" sz="950" dirty="0"/>
          </a:p>
        </p:txBody>
      </p:sp>
      <p:sp>
        <p:nvSpPr>
          <p:cNvPr id="36" name="Text 34"/>
          <p:cNvSpPr txBox="1"/>
          <p:nvPr/>
        </p:nvSpPr>
        <p:spPr>
          <a:xfrm>
            <a:off x="548640" y="5998464"/>
            <a:ext cx="6766560" cy="292608"/>
          </a:xfrm>
          <a:prstGeom prst="rect">
            <a:avLst/>
          </a:prstGeom>
          <a:noFill/>
          <a:ln/>
        </p:spPr>
        <p:txBody>
          <a:bodyPr wrap="square" lIns="0" tIns="0" rIns="0" bIns="0" rtlCol="0" anchor="ctr"/>
          <a:lstStyle/>
          <a:p>
            <a:pPr indent="0" marL="0">
              <a:buNone/>
            </a:pPr>
            <a:r>
              <a:rPr lang="en-US" sz="1150" i="1" dirty="0">
                <a:solidFill>
                  <a:srgbClr val="6B7789"/>
                </a:solidFill>
                <a:latin typeface="Calibri" pitchFamily="34" charset="0"/>
                <a:ea typeface="Calibri" pitchFamily="34" charset="-122"/>
                <a:cs typeface="Calibri" pitchFamily="34" charset="-120"/>
              </a:rPr>
              <a:t>describe() gives you numbers. This gives you a decision — which is what you were actually after.</a:t>
            </a:r>
            <a:endParaRPr lang="en-US" sz="11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4F6FA"/>
        </a:solidFill>
      </p:bgPr>
    </p:bg>
    <p:spTree>
      <p:nvGrpSpPr>
        <p:cNvPr id="1" name=""/>
        <p:cNvGrpSpPr/>
        <p:nvPr/>
      </p:nvGrpSpPr>
      <p:grpSpPr>
        <a:xfrm>
          <a:off x="0" y="0"/>
          <a:ext cx="0" cy="0"/>
          <a:chOff x="0" y="0"/>
          <a:chExt cx="0" cy="0"/>
        </a:xfrm>
      </p:grpSpPr>
      <p:sp>
        <p:nvSpPr>
          <p:cNvPr id="2" name="Text 0"/>
          <p:cNvSpPr txBox="1"/>
          <p:nvPr/>
        </p:nvSpPr>
        <p:spPr>
          <a:xfrm>
            <a:off x="8138160" y="6437376"/>
            <a:ext cx="3474720" cy="256032"/>
          </a:xfrm>
          <a:prstGeom prst="rect">
            <a:avLst/>
          </a:prstGeom>
          <a:noFill/>
          <a:ln/>
        </p:spPr>
        <p:txBody>
          <a:bodyPr wrap="square" lIns="0" tIns="0" rIns="0" bIns="0" rtlCol="0" anchor="ctr"/>
          <a:lstStyle/>
          <a:p>
            <a:pPr algn="r" indent="0" marL="0">
              <a:buNone/>
            </a:pPr>
            <a:r>
              <a:rPr lang="en-US" sz="900" dirty="0">
                <a:solidFill>
                  <a:srgbClr val="9DAABE"/>
                </a:solidFill>
                <a:latin typeface="Calibri" pitchFamily="34" charset="0"/>
                <a:ea typeface="Calibri" pitchFamily="34" charset="-122"/>
                <a:cs typeface="Calibri" pitchFamily="34" charset="-120"/>
              </a:rPr>
              <a:t>Slides by Srinivasa Sai Chava</a:t>
            </a:r>
            <a:endParaRPr lang="en-US" sz="900" dirty="0"/>
          </a:p>
        </p:txBody>
      </p:sp>
      <p:sp>
        <p:nvSpPr>
          <p:cNvPr id="3" name="Text 1"/>
          <p:cNvSpPr txBox="1"/>
          <p:nvPr/>
        </p:nvSpPr>
        <p:spPr>
          <a:xfrm>
            <a:off x="548640" y="292608"/>
            <a:ext cx="10515600" cy="274320"/>
          </a:xfrm>
          <a:prstGeom prst="rect">
            <a:avLst/>
          </a:prstGeom>
          <a:noFill/>
          <a:ln/>
        </p:spPr>
        <p:txBody>
          <a:bodyPr wrap="square" lIns="0" tIns="0" rIns="0" bIns="0" rtlCol="0" anchor="ctr"/>
          <a:lstStyle/>
          <a:p>
            <a:pPr indent="0" marL="0">
              <a:buNone/>
            </a:pPr>
            <a:r>
              <a:rPr lang="en-US" sz="1200" b="1" spc="200" kern="0" dirty="0">
                <a:solidFill>
                  <a:srgbClr val="3E7CB1"/>
                </a:solidFill>
                <a:latin typeface="Calibri" pitchFamily="34" charset="0"/>
                <a:ea typeface="Calibri" pitchFamily="34" charset="-122"/>
                <a:cs typeface="Calibri" pitchFamily="34" charset="-120"/>
              </a:rPr>
              <a:t>OVER TO YOU</a:t>
            </a:r>
            <a:endParaRPr lang="en-US" sz="1200" dirty="0"/>
          </a:p>
        </p:txBody>
      </p:sp>
      <p:sp>
        <p:nvSpPr>
          <p:cNvPr id="4" name="Text 2"/>
          <p:cNvSpPr txBox="1"/>
          <p:nvPr/>
        </p:nvSpPr>
        <p:spPr>
          <a:xfrm>
            <a:off x="548640" y="566928"/>
            <a:ext cx="11064240" cy="685800"/>
          </a:xfrm>
          <a:prstGeom prst="rect">
            <a:avLst/>
          </a:prstGeom>
          <a:noFill/>
          <a:ln/>
        </p:spPr>
        <p:txBody>
          <a:bodyPr wrap="square" lIns="0" tIns="0" rIns="0" bIns="0" rtlCol="0" anchor="ctr"/>
          <a:lstStyle/>
          <a:p>
            <a:pPr indent="0" marL="0">
              <a:buNone/>
            </a:pPr>
            <a:r>
              <a:rPr lang="en-US" sz="3200" b="1" dirty="0">
                <a:solidFill>
                  <a:srgbClr val="1F3A5F"/>
                </a:solidFill>
                <a:latin typeface="Cambria" pitchFamily="34" charset="0"/>
                <a:ea typeface="Cambria" pitchFamily="34" charset="-122"/>
                <a:cs typeface="Cambria" pitchFamily="34" charset="-120"/>
              </a:rPr>
              <a:t>Practice session — 30 minutes</a:t>
            </a:r>
            <a:endParaRPr lang="en-US" sz="3200" dirty="0"/>
          </a:p>
        </p:txBody>
      </p:sp>
      <p:sp>
        <p:nvSpPr>
          <p:cNvPr id="5" name="Shape 3"/>
          <p:cNvSpPr/>
          <p:nvPr/>
        </p:nvSpPr>
        <p:spPr>
          <a:xfrm>
            <a:off x="548640" y="1691640"/>
            <a:ext cx="7589520" cy="896112"/>
          </a:xfrm>
          <a:prstGeom prst="roundRect">
            <a:avLst>
              <a:gd name="adj" fmla="val 9184"/>
            </a:avLst>
          </a:prstGeom>
          <a:solidFill>
            <a:srgbClr val="FFFFFF"/>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6" name="Shape 4"/>
          <p:cNvSpPr/>
          <p:nvPr/>
        </p:nvSpPr>
        <p:spPr>
          <a:xfrm>
            <a:off x="777240" y="1938528"/>
            <a:ext cx="420624" cy="420624"/>
          </a:xfrm>
          <a:prstGeom prst="ellipse">
            <a:avLst/>
          </a:prstGeom>
          <a:solidFill>
            <a:srgbClr val="3E7CB1"/>
          </a:solidFill>
          <a:ln w="12700">
            <a:solidFill>
              <a:srgbClr val="3E7CB1"/>
            </a:solidFill>
            <a:prstDash val="solid"/>
          </a:ln>
        </p:spPr>
      </p:sp>
      <p:sp>
        <p:nvSpPr>
          <p:cNvPr id="7" name="Text 5"/>
          <p:cNvSpPr txBox="1"/>
          <p:nvPr/>
        </p:nvSpPr>
        <p:spPr>
          <a:xfrm>
            <a:off x="777240" y="1938528"/>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a:t>
            </a:r>
            <a:endParaRPr lang="en-US" sz="1300" dirty="0"/>
          </a:p>
        </p:txBody>
      </p:sp>
      <p:sp>
        <p:nvSpPr>
          <p:cNvPr id="8" name="Text 6"/>
          <p:cNvSpPr txBox="1"/>
          <p:nvPr/>
        </p:nvSpPr>
        <p:spPr>
          <a:xfrm>
            <a:off x="1371600" y="1801368"/>
            <a:ext cx="3017520" cy="320040"/>
          </a:xfrm>
          <a:prstGeom prst="rect">
            <a:avLst/>
          </a:prstGeom>
          <a:noFill/>
          <a:ln/>
        </p:spPr>
        <p:txBody>
          <a:bodyPr wrap="square" lIns="0" tIns="0" rIns="0" bIns="0" rtlCol="0" anchor="ctr"/>
          <a:lstStyle/>
          <a:p>
            <a:pPr indent="0" marL="0">
              <a:buNone/>
            </a:pPr>
            <a:r>
              <a:rPr lang="en-US" sz="1500" b="1" dirty="0">
                <a:solidFill>
                  <a:srgbClr val="1F3A5F"/>
                </a:solidFill>
                <a:latin typeface="Calibri" pitchFamily="34" charset="0"/>
                <a:ea typeface="Calibri" pitchFamily="34" charset="-122"/>
                <a:cs typeface="Calibri" pitchFamily="34" charset="-120"/>
              </a:rPr>
              <a:t>Predict the output</a:t>
            </a:r>
            <a:endParaRPr lang="en-US" sz="1500" dirty="0"/>
          </a:p>
        </p:txBody>
      </p:sp>
      <p:sp>
        <p:nvSpPr>
          <p:cNvPr id="9" name="Text 7"/>
          <p:cNvSpPr txBox="1"/>
          <p:nvPr/>
        </p:nvSpPr>
        <p:spPr>
          <a:xfrm>
            <a:off x="1371600" y="2148840"/>
            <a:ext cx="5669280" cy="301752"/>
          </a:xfrm>
          <a:prstGeom prst="rect">
            <a:avLst/>
          </a:prstGeom>
          <a:noFill/>
          <a:ln/>
        </p:spPr>
        <p:txBody>
          <a:bodyPr wrap="square" lIns="0" tIns="0" rIns="0" bIns="0" rtlCol="0" anchor="ctr"/>
          <a:lstStyle/>
          <a:p>
            <a:pPr indent="0" marL="0">
              <a:buNone/>
            </a:pPr>
            <a:r>
              <a:rPr lang="en-US" sz="1150" dirty="0">
                <a:solidFill>
                  <a:srgbClr val="6B7789"/>
                </a:solidFill>
                <a:latin typeface="Calibri" pitchFamily="34" charset="0"/>
                <a:ea typeface="Calibri" pitchFamily="34" charset="-122"/>
                <a:cs typeface="Calibri" pitchFamily="34" charset="-120"/>
              </a:rPr>
              <a:t>Mean vs median, ddof, mode, skew signs</a:t>
            </a:r>
            <a:endParaRPr lang="en-US" sz="1150" dirty="0"/>
          </a:p>
        </p:txBody>
      </p:sp>
      <p:sp>
        <p:nvSpPr>
          <p:cNvPr id="10" name="Text 8"/>
          <p:cNvSpPr txBox="1"/>
          <p:nvPr/>
        </p:nvSpPr>
        <p:spPr>
          <a:xfrm>
            <a:off x="6583680" y="1947672"/>
            <a:ext cx="1371600" cy="320040"/>
          </a:xfrm>
          <a:prstGeom prst="rect">
            <a:avLst/>
          </a:prstGeom>
          <a:noFill/>
          <a:ln/>
        </p:spPr>
        <p:txBody>
          <a:bodyPr wrap="square" lIns="0" tIns="0" rIns="0" bIns="0" rtlCol="0" anchor="ctr"/>
          <a:lstStyle/>
          <a:p>
            <a:pPr algn="r" indent="0" marL="0">
              <a:buNone/>
            </a:pPr>
            <a:r>
              <a:rPr lang="en-US" sz="1300" b="1" dirty="0">
                <a:solidFill>
                  <a:srgbClr val="3E7CB1"/>
                </a:solidFill>
                <a:latin typeface="Calibri" pitchFamily="34" charset="0"/>
                <a:ea typeface="Calibri" pitchFamily="34" charset="-122"/>
                <a:cs typeface="Calibri" pitchFamily="34" charset="-120"/>
              </a:rPr>
              <a:t>8 questions</a:t>
            </a:r>
            <a:endParaRPr lang="en-US" sz="1300" dirty="0"/>
          </a:p>
        </p:txBody>
      </p:sp>
      <p:sp>
        <p:nvSpPr>
          <p:cNvPr id="11" name="Shape 9"/>
          <p:cNvSpPr/>
          <p:nvPr/>
        </p:nvSpPr>
        <p:spPr>
          <a:xfrm>
            <a:off x="548640" y="2715768"/>
            <a:ext cx="7589520" cy="896112"/>
          </a:xfrm>
          <a:prstGeom prst="roundRect">
            <a:avLst>
              <a:gd name="adj" fmla="val 9184"/>
            </a:avLst>
          </a:prstGeom>
          <a:solidFill>
            <a:srgbClr val="FFFFFF"/>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12" name="Shape 10"/>
          <p:cNvSpPr/>
          <p:nvPr/>
        </p:nvSpPr>
        <p:spPr>
          <a:xfrm>
            <a:off x="777240" y="2962656"/>
            <a:ext cx="420624" cy="420624"/>
          </a:xfrm>
          <a:prstGeom prst="ellipse">
            <a:avLst/>
          </a:prstGeom>
          <a:solidFill>
            <a:srgbClr val="E8674C"/>
          </a:solidFill>
          <a:ln w="12700">
            <a:solidFill>
              <a:srgbClr val="E8674C"/>
            </a:solidFill>
            <a:prstDash val="solid"/>
          </a:ln>
        </p:spPr>
      </p:sp>
      <p:sp>
        <p:nvSpPr>
          <p:cNvPr id="13" name="Text 11"/>
          <p:cNvSpPr txBox="1"/>
          <p:nvPr/>
        </p:nvSpPr>
        <p:spPr>
          <a:xfrm>
            <a:off x="777240" y="2962656"/>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B</a:t>
            </a:r>
            <a:endParaRPr lang="en-US" sz="1300" dirty="0"/>
          </a:p>
        </p:txBody>
      </p:sp>
      <p:sp>
        <p:nvSpPr>
          <p:cNvPr id="14" name="Text 12"/>
          <p:cNvSpPr txBox="1"/>
          <p:nvPr/>
        </p:nvSpPr>
        <p:spPr>
          <a:xfrm>
            <a:off x="1371600" y="2825496"/>
            <a:ext cx="3017520" cy="320040"/>
          </a:xfrm>
          <a:prstGeom prst="rect">
            <a:avLst/>
          </a:prstGeom>
          <a:noFill/>
          <a:ln/>
        </p:spPr>
        <p:txBody>
          <a:bodyPr wrap="square" lIns="0" tIns="0" rIns="0" bIns="0" rtlCol="0" anchor="ctr"/>
          <a:lstStyle/>
          <a:p>
            <a:pPr indent="0" marL="0">
              <a:buNone/>
            </a:pPr>
            <a:r>
              <a:rPr lang="en-US" sz="1500" b="1" dirty="0">
                <a:solidFill>
                  <a:srgbClr val="1F3A5F"/>
                </a:solidFill>
                <a:latin typeface="Calibri" pitchFamily="34" charset="0"/>
                <a:ea typeface="Calibri" pitchFamily="34" charset="-122"/>
                <a:cs typeface="Calibri" pitchFamily="34" charset="-120"/>
              </a:rPr>
              <a:t>Spot &amp; fix the bug</a:t>
            </a:r>
            <a:endParaRPr lang="en-US" sz="1500" dirty="0"/>
          </a:p>
        </p:txBody>
      </p:sp>
      <p:sp>
        <p:nvSpPr>
          <p:cNvPr id="15" name="Text 13"/>
          <p:cNvSpPr txBox="1"/>
          <p:nvPr/>
        </p:nvSpPr>
        <p:spPr>
          <a:xfrm>
            <a:off x="1371600" y="3172968"/>
            <a:ext cx="5669280" cy="301752"/>
          </a:xfrm>
          <a:prstGeom prst="rect">
            <a:avLst/>
          </a:prstGeom>
          <a:noFill/>
          <a:ln/>
        </p:spPr>
        <p:txBody>
          <a:bodyPr wrap="square" lIns="0" tIns="0" rIns="0" bIns="0" rtlCol="0" anchor="ctr"/>
          <a:lstStyle/>
          <a:p>
            <a:pPr indent="0" marL="0">
              <a:buNone/>
            </a:pPr>
            <a:r>
              <a:rPr lang="en-US" sz="1150" dirty="0">
                <a:solidFill>
                  <a:srgbClr val="6B7789"/>
                </a:solidFill>
                <a:latin typeface="Calibri" pitchFamily="34" charset="0"/>
                <a:ea typeface="Calibri" pitchFamily="34" charset="-122"/>
                <a:cs typeface="Calibri" pitchFamily="34" charset="-120"/>
              </a:rPr>
              <a:t>Wrong ddof, mode[0], variance units</a:t>
            </a:r>
            <a:endParaRPr lang="en-US" sz="1150" dirty="0"/>
          </a:p>
        </p:txBody>
      </p:sp>
      <p:sp>
        <p:nvSpPr>
          <p:cNvPr id="16" name="Text 14"/>
          <p:cNvSpPr txBox="1"/>
          <p:nvPr/>
        </p:nvSpPr>
        <p:spPr>
          <a:xfrm>
            <a:off x="6583680" y="2971800"/>
            <a:ext cx="1371600" cy="320040"/>
          </a:xfrm>
          <a:prstGeom prst="rect">
            <a:avLst/>
          </a:prstGeom>
          <a:noFill/>
          <a:ln/>
        </p:spPr>
        <p:txBody>
          <a:bodyPr wrap="square" lIns="0" tIns="0" rIns="0" bIns="0" rtlCol="0" anchor="ctr"/>
          <a:lstStyle/>
          <a:p>
            <a:pPr algn="r" indent="0" marL="0">
              <a:buNone/>
            </a:pPr>
            <a:r>
              <a:rPr lang="en-US" sz="1300" b="1" dirty="0">
                <a:solidFill>
                  <a:srgbClr val="3E7CB1"/>
                </a:solidFill>
                <a:latin typeface="Calibri" pitchFamily="34" charset="0"/>
                <a:ea typeface="Calibri" pitchFamily="34" charset="-122"/>
                <a:cs typeface="Calibri" pitchFamily="34" charset="-120"/>
              </a:rPr>
              <a:t>4 questions</a:t>
            </a:r>
            <a:endParaRPr lang="en-US" sz="1300" dirty="0"/>
          </a:p>
        </p:txBody>
      </p:sp>
      <p:sp>
        <p:nvSpPr>
          <p:cNvPr id="17" name="Shape 15"/>
          <p:cNvSpPr/>
          <p:nvPr/>
        </p:nvSpPr>
        <p:spPr>
          <a:xfrm>
            <a:off x="548640" y="3739896"/>
            <a:ext cx="7589520" cy="896112"/>
          </a:xfrm>
          <a:prstGeom prst="roundRect">
            <a:avLst>
              <a:gd name="adj" fmla="val 9184"/>
            </a:avLst>
          </a:prstGeom>
          <a:solidFill>
            <a:srgbClr val="FFFFFF"/>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18" name="Shape 16"/>
          <p:cNvSpPr/>
          <p:nvPr/>
        </p:nvSpPr>
        <p:spPr>
          <a:xfrm>
            <a:off x="777240" y="3986784"/>
            <a:ext cx="420624" cy="420624"/>
          </a:xfrm>
          <a:prstGeom prst="ellipse">
            <a:avLst/>
          </a:prstGeom>
          <a:solidFill>
            <a:srgbClr val="2FA98C"/>
          </a:solidFill>
          <a:ln w="12700">
            <a:solidFill>
              <a:srgbClr val="2FA98C"/>
            </a:solidFill>
            <a:prstDash val="solid"/>
          </a:ln>
        </p:spPr>
      </p:sp>
      <p:sp>
        <p:nvSpPr>
          <p:cNvPr id="19" name="Text 17"/>
          <p:cNvSpPr txBox="1"/>
          <p:nvPr/>
        </p:nvSpPr>
        <p:spPr>
          <a:xfrm>
            <a:off x="777240" y="3986784"/>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a:t>
            </a:r>
            <a:endParaRPr lang="en-US" sz="1300" dirty="0"/>
          </a:p>
        </p:txBody>
      </p:sp>
      <p:sp>
        <p:nvSpPr>
          <p:cNvPr id="20" name="Text 18"/>
          <p:cNvSpPr txBox="1"/>
          <p:nvPr/>
        </p:nvSpPr>
        <p:spPr>
          <a:xfrm>
            <a:off x="1371600" y="3849624"/>
            <a:ext cx="3017520" cy="320040"/>
          </a:xfrm>
          <a:prstGeom prst="rect">
            <a:avLst/>
          </a:prstGeom>
          <a:noFill/>
          <a:ln/>
        </p:spPr>
        <p:txBody>
          <a:bodyPr wrap="square" lIns="0" tIns="0" rIns="0" bIns="0" rtlCol="0" anchor="ctr"/>
          <a:lstStyle/>
          <a:p>
            <a:pPr indent="0" marL="0">
              <a:buNone/>
            </a:pPr>
            <a:r>
              <a:rPr lang="en-US" sz="1500" b="1" dirty="0">
                <a:solidFill>
                  <a:srgbClr val="1F3A5F"/>
                </a:solidFill>
                <a:latin typeface="Calibri" pitchFamily="34" charset="0"/>
                <a:ea typeface="Calibri" pitchFamily="34" charset="-122"/>
                <a:cs typeface="Calibri" pitchFamily="34" charset="-120"/>
              </a:rPr>
              <a:t>Write the code</a:t>
            </a:r>
            <a:endParaRPr lang="en-US" sz="1500" dirty="0"/>
          </a:p>
        </p:txBody>
      </p:sp>
      <p:sp>
        <p:nvSpPr>
          <p:cNvPr id="21" name="Text 19"/>
          <p:cNvSpPr txBox="1"/>
          <p:nvPr/>
        </p:nvSpPr>
        <p:spPr>
          <a:xfrm>
            <a:off x="1371600" y="4197096"/>
            <a:ext cx="5669280" cy="301752"/>
          </a:xfrm>
          <a:prstGeom prst="rect">
            <a:avLst/>
          </a:prstGeom>
          <a:noFill/>
          <a:ln/>
        </p:spPr>
        <p:txBody>
          <a:bodyPr wrap="square" lIns="0" tIns="0" rIns="0" bIns="0" rtlCol="0" anchor="ctr"/>
          <a:lstStyle/>
          <a:p>
            <a:pPr indent="0" marL="0">
              <a:buNone/>
            </a:pPr>
            <a:r>
              <a:rPr lang="en-US" sz="1150" dirty="0">
                <a:solidFill>
                  <a:srgbClr val="6B7789"/>
                </a:solidFill>
                <a:latin typeface="Calibri" pitchFamily="34" charset="0"/>
                <a:ea typeface="Calibri" pitchFamily="34" charset="-122"/>
                <a:cs typeface="Calibri" pitchFamily="34" charset="-120"/>
              </a:rPr>
              <a:t>Summarise, compare, detect skew, choose</a:t>
            </a:r>
            <a:endParaRPr lang="en-US" sz="1150" dirty="0"/>
          </a:p>
        </p:txBody>
      </p:sp>
      <p:sp>
        <p:nvSpPr>
          <p:cNvPr id="22" name="Text 20"/>
          <p:cNvSpPr txBox="1"/>
          <p:nvPr/>
        </p:nvSpPr>
        <p:spPr>
          <a:xfrm>
            <a:off x="6583680" y="3995928"/>
            <a:ext cx="1371600" cy="320040"/>
          </a:xfrm>
          <a:prstGeom prst="rect">
            <a:avLst/>
          </a:prstGeom>
          <a:noFill/>
          <a:ln/>
        </p:spPr>
        <p:txBody>
          <a:bodyPr wrap="square" lIns="0" tIns="0" rIns="0" bIns="0" rtlCol="0" anchor="ctr"/>
          <a:lstStyle/>
          <a:p>
            <a:pPr algn="r" indent="0" marL="0">
              <a:buNone/>
            </a:pPr>
            <a:r>
              <a:rPr lang="en-US" sz="1300" b="1" dirty="0">
                <a:solidFill>
                  <a:srgbClr val="3E7CB1"/>
                </a:solidFill>
                <a:latin typeface="Calibri" pitchFamily="34" charset="0"/>
                <a:ea typeface="Calibri" pitchFamily="34" charset="-122"/>
                <a:cs typeface="Calibri" pitchFamily="34" charset="-120"/>
              </a:rPr>
              <a:t>5 tasks</a:t>
            </a:r>
            <a:endParaRPr lang="en-US" sz="1300" dirty="0"/>
          </a:p>
        </p:txBody>
      </p:sp>
      <p:sp>
        <p:nvSpPr>
          <p:cNvPr id="23" name="Shape 21"/>
          <p:cNvSpPr/>
          <p:nvPr/>
        </p:nvSpPr>
        <p:spPr>
          <a:xfrm>
            <a:off x="548640" y="4764024"/>
            <a:ext cx="7589520" cy="896112"/>
          </a:xfrm>
          <a:prstGeom prst="roundRect">
            <a:avLst>
              <a:gd name="adj" fmla="val 9184"/>
            </a:avLst>
          </a:prstGeom>
          <a:solidFill>
            <a:srgbClr val="FFFFFF"/>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24" name="Shape 22"/>
          <p:cNvSpPr/>
          <p:nvPr/>
        </p:nvSpPr>
        <p:spPr>
          <a:xfrm>
            <a:off x="777240" y="5010912"/>
            <a:ext cx="420624" cy="420624"/>
          </a:xfrm>
          <a:prstGeom prst="ellipse">
            <a:avLst/>
          </a:prstGeom>
          <a:solidFill>
            <a:srgbClr val="FFC145"/>
          </a:solidFill>
          <a:ln w="12700">
            <a:solidFill>
              <a:srgbClr val="FFC145"/>
            </a:solidFill>
            <a:prstDash val="solid"/>
          </a:ln>
        </p:spPr>
      </p:sp>
      <p:sp>
        <p:nvSpPr>
          <p:cNvPr id="25" name="Text 23"/>
          <p:cNvSpPr txBox="1"/>
          <p:nvPr/>
        </p:nvSpPr>
        <p:spPr>
          <a:xfrm>
            <a:off x="777240" y="5010912"/>
            <a:ext cx="420624" cy="420624"/>
          </a:xfrm>
          <a:prstGeom prst="rect">
            <a:avLst/>
          </a:prstGeom>
          <a:noFill/>
          <a:ln/>
        </p:spPr>
        <p:txBody>
          <a:bodyPr wrap="square" lIns="0" tIns="0" rIns="0" bIns="0" rtlCol="0" anchor="ctr"/>
          <a:lstStyle/>
          <a:p>
            <a:pPr algn="ctr" indent="0" marL="0">
              <a:buNone/>
            </a:pPr>
            <a:r>
              <a:rPr lang="en-US" sz="1300" b="1" dirty="0">
                <a:solidFill>
                  <a:srgbClr val="152238"/>
                </a:solidFill>
                <a:latin typeface="Calibri" pitchFamily="34" charset="0"/>
                <a:ea typeface="Calibri" pitchFamily="34" charset="-122"/>
                <a:cs typeface="Calibri" pitchFamily="34" charset="-120"/>
              </a:rPr>
              <a:t>D</a:t>
            </a:r>
            <a:endParaRPr lang="en-US" sz="1300" dirty="0"/>
          </a:p>
        </p:txBody>
      </p:sp>
      <p:sp>
        <p:nvSpPr>
          <p:cNvPr id="26" name="Text 24"/>
          <p:cNvSpPr txBox="1"/>
          <p:nvPr/>
        </p:nvSpPr>
        <p:spPr>
          <a:xfrm>
            <a:off x="1371600" y="4873752"/>
            <a:ext cx="3017520" cy="320040"/>
          </a:xfrm>
          <a:prstGeom prst="rect">
            <a:avLst/>
          </a:prstGeom>
          <a:noFill/>
          <a:ln/>
        </p:spPr>
        <p:txBody>
          <a:bodyPr wrap="square" lIns="0" tIns="0" rIns="0" bIns="0" rtlCol="0" anchor="ctr"/>
          <a:lstStyle/>
          <a:p>
            <a:pPr indent="0" marL="0">
              <a:buNone/>
            </a:pPr>
            <a:r>
              <a:rPr lang="en-US" sz="1500" b="1" dirty="0">
                <a:solidFill>
                  <a:srgbClr val="1F3A5F"/>
                </a:solidFill>
                <a:latin typeface="Calibri" pitchFamily="34" charset="0"/>
                <a:ea typeface="Calibri" pitchFamily="34" charset="-122"/>
                <a:cs typeface="Calibri" pitchFamily="34" charset="-120"/>
              </a:rPr>
              <a:t>Challenge</a:t>
            </a:r>
            <a:endParaRPr lang="en-US" sz="1500" dirty="0"/>
          </a:p>
        </p:txBody>
      </p:sp>
      <p:sp>
        <p:nvSpPr>
          <p:cNvPr id="27" name="Text 25"/>
          <p:cNvSpPr txBox="1"/>
          <p:nvPr/>
        </p:nvSpPr>
        <p:spPr>
          <a:xfrm>
            <a:off x="1371600" y="5221224"/>
            <a:ext cx="5669280" cy="301752"/>
          </a:xfrm>
          <a:prstGeom prst="rect">
            <a:avLst/>
          </a:prstGeom>
          <a:noFill/>
          <a:ln/>
        </p:spPr>
        <p:txBody>
          <a:bodyPr wrap="square" lIns="0" tIns="0" rIns="0" bIns="0" rtlCol="0" anchor="ctr"/>
          <a:lstStyle/>
          <a:p>
            <a:pPr indent="0" marL="0">
              <a:buNone/>
            </a:pPr>
            <a:r>
              <a:rPr lang="en-US" sz="1150" dirty="0">
                <a:solidFill>
                  <a:srgbClr val="6B7789"/>
                </a:solidFill>
                <a:latin typeface="Calibri" pitchFamily="34" charset="0"/>
                <a:ea typeface="Calibri" pitchFamily="34" charset="-122"/>
                <a:cs typeface="Calibri" pitchFamily="34" charset="-120"/>
              </a:rPr>
              <a:t>Prove n−1 yourself, and a bimodal trap</a:t>
            </a:r>
            <a:endParaRPr lang="en-US" sz="1150" dirty="0"/>
          </a:p>
        </p:txBody>
      </p:sp>
      <p:sp>
        <p:nvSpPr>
          <p:cNvPr id="28" name="Text 26"/>
          <p:cNvSpPr txBox="1"/>
          <p:nvPr/>
        </p:nvSpPr>
        <p:spPr>
          <a:xfrm>
            <a:off x="6583680" y="5020056"/>
            <a:ext cx="1371600" cy="320040"/>
          </a:xfrm>
          <a:prstGeom prst="rect">
            <a:avLst/>
          </a:prstGeom>
          <a:noFill/>
          <a:ln/>
        </p:spPr>
        <p:txBody>
          <a:bodyPr wrap="square" lIns="0" tIns="0" rIns="0" bIns="0" rtlCol="0" anchor="ctr"/>
          <a:lstStyle/>
          <a:p>
            <a:pPr algn="r" indent="0" marL="0">
              <a:buNone/>
            </a:pPr>
            <a:r>
              <a:rPr lang="en-US" sz="1300" b="1" dirty="0">
                <a:solidFill>
                  <a:srgbClr val="3E7CB1"/>
                </a:solidFill>
                <a:latin typeface="Calibri" pitchFamily="34" charset="0"/>
                <a:ea typeface="Calibri" pitchFamily="34" charset="-122"/>
                <a:cs typeface="Calibri" pitchFamily="34" charset="-120"/>
              </a:rPr>
              <a:t>2 tasks</a:t>
            </a:r>
            <a:endParaRPr lang="en-US" sz="1300" dirty="0"/>
          </a:p>
        </p:txBody>
      </p:sp>
      <p:sp>
        <p:nvSpPr>
          <p:cNvPr id="29" name="Shape 27"/>
          <p:cNvSpPr/>
          <p:nvPr/>
        </p:nvSpPr>
        <p:spPr>
          <a:xfrm>
            <a:off x="8412480" y="1691640"/>
            <a:ext cx="3200400" cy="2971800"/>
          </a:xfrm>
          <a:prstGeom prst="roundRect">
            <a:avLst>
              <a:gd name="adj" fmla="val 2769"/>
            </a:avLst>
          </a:prstGeom>
          <a:solidFill>
            <a:srgbClr val="EDF2F9"/>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30" name="Text 28"/>
          <p:cNvSpPr txBox="1"/>
          <p:nvPr/>
        </p:nvSpPr>
        <p:spPr>
          <a:xfrm>
            <a:off x="8686800" y="1847088"/>
            <a:ext cx="2743200" cy="301752"/>
          </a:xfrm>
          <a:prstGeom prst="rect">
            <a:avLst/>
          </a:prstGeom>
          <a:noFill/>
          <a:ln/>
        </p:spPr>
        <p:txBody>
          <a:bodyPr wrap="square" lIns="0" tIns="0" rIns="0" bIns="0" rtlCol="0" anchor="ctr"/>
          <a:lstStyle/>
          <a:p>
            <a:pPr indent="0" marL="0">
              <a:buNone/>
            </a:pPr>
            <a:r>
              <a:rPr lang="en-US" sz="1500" b="1" dirty="0">
                <a:solidFill>
                  <a:srgbClr val="1F3A5F"/>
                </a:solidFill>
                <a:latin typeface="Calibri" pitchFamily="34" charset="0"/>
                <a:ea typeface="Calibri" pitchFamily="34" charset="-122"/>
                <a:cs typeface="Calibri" pitchFamily="34" charset="-120"/>
              </a:rPr>
              <a:t>Your notebook</a:t>
            </a:r>
            <a:endParaRPr lang="en-US" sz="1500" dirty="0"/>
          </a:p>
        </p:txBody>
      </p:sp>
      <p:sp>
        <p:nvSpPr>
          <p:cNvPr id="31" name="Text 29"/>
          <p:cNvSpPr txBox="1"/>
          <p:nvPr/>
        </p:nvSpPr>
        <p:spPr>
          <a:xfrm>
            <a:off x="8686800" y="2212848"/>
            <a:ext cx="2743200" cy="594360"/>
          </a:xfrm>
          <a:prstGeom prst="rect">
            <a:avLst/>
          </a:prstGeom>
          <a:noFill/>
          <a:ln/>
        </p:spPr>
        <p:txBody>
          <a:bodyPr wrap="square" lIns="0" tIns="0" rIns="0" bIns="0" rtlCol="0" anchor="ctr"/>
          <a:lstStyle/>
          <a:p>
            <a:pPr indent="0" marL="0">
              <a:lnSpc>
                <a:spcPct val="115000"/>
              </a:lnSpc>
              <a:buNone/>
            </a:pPr>
            <a:r>
              <a:rPr lang="en-US" sz="1250" b="1" dirty="0">
                <a:solidFill>
                  <a:srgbClr val="3E7CB1"/>
                </a:solidFill>
                <a:latin typeface="Courier New" pitchFamily="34" charset="0"/>
                <a:ea typeface="Courier New" pitchFamily="34" charset="-122"/>
                <a:cs typeface="Courier New" pitchFamily="34" charset="-120"/>
              </a:rPr>
              <a:t>Day23_Practice_</a:t>
            </a:r>
            <a:endParaRPr lang="en-US" sz="1250" dirty="0"/>
          </a:p>
          <a:p>
            <a:pPr indent="0" marL="0">
              <a:lnSpc>
                <a:spcPct val="115000"/>
              </a:lnSpc>
              <a:buNone/>
            </a:pPr>
            <a:r>
              <a:rPr lang="en-US" sz="1250" b="1" dirty="0">
                <a:solidFill>
                  <a:srgbClr val="3E7CB1"/>
                </a:solidFill>
                <a:latin typeface="Courier New" pitchFamily="34" charset="0"/>
                <a:ea typeface="Courier New" pitchFamily="34" charset="-122"/>
                <a:cs typeface="Courier New" pitchFamily="34" charset="-120"/>
              </a:rPr>
              <a:t>Questions.ipynb</a:t>
            </a:r>
            <a:endParaRPr lang="en-US" sz="1250" dirty="0"/>
          </a:p>
        </p:txBody>
      </p:sp>
      <p:sp>
        <p:nvSpPr>
          <p:cNvPr id="32" name="Text 30"/>
          <p:cNvSpPr txBox="1"/>
          <p:nvPr/>
        </p:nvSpPr>
        <p:spPr>
          <a:xfrm>
            <a:off x="8796528" y="2926080"/>
            <a:ext cx="2651760" cy="1600200"/>
          </a:xfrm>
          <a:prstGeom prst="rect">
            <a:avLst/>
          </a:prstGeom>
          <a:noFill/>
          <a:ln/>
        </p:spPr>
        <p:txBody>
          <a:bodyPr wrap="square" lIns="0" tIns="0" rIns="0" bIns="0" rtlCol="0" anchor="t"/>
          <a:lstStyle/>
          <a:p>
            <a:pPr marL="342900" indent="-342900">
              <a:spcAft>
                <a:spcPts val="800"/>
              </a:spcAft>
              <a:buSzPct val="100000"/>
              <a:buChar char="•"/>
            </a:pPr>
            <a:r>
              <a:rPr lang="en-US" sz="1150" dirty="0">
                <a:solidFill>
                  <a:srgbClr val="2B3445"/>
                </a:solidFill>
                <a:latin typeface="Calibri" pitchFamily="34" charset="0"/>
                <a:ea typeface="Calibri" pitchFamily="34" charset="-122"/>
                <a:cs typeface="Calibri" pitchFamily="34" charset="-120"/>
              </a:rPr>
              <a:t>Report n with every summary</a:t>
            </a:r>
            <a:endParaRPr lang="en-US" sz="1150" dirty="0"/>
          </a:p>
          <a:p>
            <a:pPr marL="342900" indent="-342900">
              <a:spcAft>
                <a:spcPts val="800"/>
              </a:spcAft>
              <a:buSzPct val="100000"/>
              <a:buChar char="•"/>
            </a:pPr>
            <a:r>
              <a:rPr lang="en-US" sz="1150" dirty="0">
                <a:solidFill>
                  <a:srgbClr val="2B3445"/>
                </a:solidFill>
                <a:latin typeface="Calibri" pitchFamily="34" charset="0"/>
                <a:ea typeface="Calibri" pitchFamily="34" charset="-122"/>
                <a:cs typeface="Calibri" pitchFamily="34" charset="-120"/>
              </a:rPr>
              <a:t>Mean AND median when skewed</a:t>
            </a:r>
            <a:endParaRPr lang="en-US" sz="1150" dirty="0"/>
          </a:p>
          <a:p>
            <a:pPr marL="342900" indent="-342900">
              <a:spcAft>
                <a:spcPts val="800"/>
              </a:spcAft>
              <a:buSzPct val="100000"/>
              <a:buChar char="•"/>
            </a:pPr>
            <a:r>
              <a:rPr lang="en-US" sz="1150" dirty="0">
                <a:solidFill>
                  <a:srgbClr val="2B3445"/>
                </a:solidFill>
                <a:latin typeface="Calibri" pitchFamily="34" charset="0"/>
                <a:ea typeface="Calibri" pitchFamily="34" charset="-122"/>
                <a:cs typeface="Calibri" pitchFamily="34" charset="-120"/>
              </a:rPr>
              <a:t>Raise a hand — I am walking around</a:t>
            </a:r>
            <a:endParaRPr lang="en-US" sz="1150" dirty="0"/>
          </a:p>
          <a:p>
            <a:pPr marL="342900" indent="-342900">
              <a:spcAft>
                <a:spcPts val="800"/>
              </a:spcAft>
              <a:buSzPct val="100000"/>
              <a:buChar char="•"/>
            </a:pPr>
            <a:r>
              <a:rPr lang="en-US" sz="1150" dirty="0">
                <a:solidFill>
                  <a:srgbClr val="2B3445"/>
                </a:solidFill>
                <a:latin typeface="Calibri" pitchFamily="34" charset="0"/>
                <a:ea typeface="Calibri" pitchFamily="34" charset="-122"/>
                <a:cs typeface="Calibri" pitchFamily="34" charset="-120"/>
              </a:rPr>
              <a:t>Solutions shared after class</a:t>
            </a:r>
            <a:endParaRPr lang="en-US" sz="1150" dirty="0"/>
          </a:p>
        </p:txBody>
      </p:sp>
      <p:sp>
        <p:nvSpPr>
          <p:cNvPr id="33" name="Shape 31"/>
          <p:cNvSpPr/>
          <p:nvPr/>
        </p:nvSpPr>
        <p:spPr>
          <a:xfrm>
            <a:off x="548640" y="4937760"/>
            <a:ext cx="11064240" cy="914400"/>
          </a:xfrm>
          <a:prstGeom prst="roundRect">
            <a:avLst>
              <a:gd name="adj" fmla="val 9000"/>
            </a:avLst>
          </a:prstGeom>
          <a:solidFill>
            <a:srgbClr val="FFF6E0"/>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34" name="Text 32"/>
          <p:cNvSpPr txBox="1"/>
          <p:nvPr/>
        </p:nvSpPr>
        <p:spPr>
          <a:xfrm>
            <a:off x="868680" y="5120640"/>
            <a:ext cx="10424160" cy="457200"/>
          </a:xfrm>
          <a:prstGeom prst="rect">
            <a:avLst/>
          </a:prstGeom>
          <a:noFill/>
          <a:ln/>
        </p:spPr>
        <p:txBody>
          <a:bodyPr wrap="square" lIns="0" tIns="0" rIns="0" bIns="0" rtlCol="0" anchor="ctr"/>
          <a:lstStyle/>
          <a:p>
            <a:pPr indent="0" marL="0">
              <a:buNone/>
            </a:pPr>
            <a:r>
              <a:rPr lang="en-US" sz="1400" b="1" i="1" dirty="0">
                <a:solidFill>
                  <a:srgbClr val="8A5B00"/>
                </a:solidFill>
                <a:latin typeface="Calibri" pitchFamily="34" charset="0"/>
                <a:ea typeface="Calibri" pitchFamily="34" charset="-122"/>
                <a:cs typeface="Calibri" pitchFamily="34" charset="-120"/>
              </a:rPr>
              <a:t>For every summary you compute today, write the one sentence you would say to a non-statistician.</a:t>
            </a:r>
            <a:endParaRPr lang="en-US" sz="14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152238"/>
        </a:solidFill>
      </p:bgPr>
    </p:bg>
    <p:spTree>
      <p:nvGrpSpPr>
        <p:cNvPr id="1" name=""/>
        <p:cNvGrpSpPr/>
        <p:nvPr/>
      </p:nvGrpSpPr>
      <p:grpSpPr>
        <a:xfrm>
          <a:off x="0" y="0"/>
          <a:ext cx="0" cy="0"/>
          <a:chOff x="0" y="0"/>
          <a:chExt cx="0" cy="0"/>
        </a:xfrm>
      </p:grpSpPr>
      <p:sp>
        <p:nvSpPr>
          <p:cNvPr id="2" name="Text 0"/>
          <p:cNvSpPr txBox="1"/>
          <p:nvPr/>
        </p:nvSpPr>
        <p:spPr>
          <a:xfrm>
            <a:off x="8138160" y="6437376"/>
            <a:ext cx="3474720" cy="256032"/>
          </a:xfrm>
          <a:prstGeom prst="rect">
            <a:avLst/>
          </a:prstGeom>
          <a:noFill/>
          <a:ln/>
        </p:spPr>
        <p:txBody>
          <a:bodyPr wrap="square" lIns="0" tIns="0" rIns="0" bIns="0" rtlCol="0" anchor="ctr"/>
          <a:lstStyle/>
          <a:p>
            <a:pPr algn="r" indent="0" marL="0">
              <a:buNone/>
            </a:pPr>
            <a:r>
              <a:rPr lang="en-US" sz="900" dirty="0">
                <a:solidFill>
                  <a:srgbClr val="7E92B0"/>
                </a:solidFill>
                <a:latin typeface="Calibri" pitchFamily="34" charset="0"/>
                <a:ea typeface="Calibri" pitchFamily="34" charset="-122"/>
                <a:cs typeface="Calibri" pitchFamily="34" charset="-120"/>
              </a:rPr>
              <a:t>Slides by Srinivasa Sai Chava</a:t>
            </a:r>
            <a:endParaRPr lang="en-US" sz="900" dirty="0"/>
          </a:p>
        </p:txBody>
      </p:sp>
      <p:sp>
        <p:nvSpPr>
          <p:cNvPr id="3" name="Shape 1"/>
          <p:cNvSpPr/>
          <p:nvPr/>
        </p:nvSpPr>
        <p:spPr>
          <a:xfrm>
            <a:off x="9966960" y="4480560"/>
            <a:ext cx="3840480" cy="3840480"/>
          </a:xfrm>
          <a:prstGeom prst="ellipse">
            <a:avLst/>
          </a:prstGeom>
          <a:solidFill>
            <a:srgbClr val="1A2A46"/>
          </a:solidFill>
          <a:ln w="12700">
            <a:solidFill>
              <a:srgbClr val="333333"/>
            </a:solidFill>
            <a:prstDash val="solid"/>
          </a:ln>
        </p:spPr>
      </p:sp>
      <p:sp>
        <p:nvSpPr>
          <p:cNvPr id="4" name="Text 2"/>
          <p:cNvSpPr txBox="1"/>
          <p:nvPr/>
        </p:nvSpPr>
        <p:spPr>
          <a:xfrm>
            <a:off x="640080" y="457200"/>
            <a:ext cx="7315200" cy="274320"/>
          </a:xfrm>
          <a:prstGeom prst="rect">
            <a:avLst/>
          </a:prstGeom>
          <a:noFill/>
          <a:ln/>
        </p:spPr>
        <p:txBody>
          <a:bodyPr wrap="square" lIns="0" tIns="0" rIns="0" bIns="0" rtlCol="0" anchor="ctr"/>
          <a:lstStyle/>
          <a:p>
            <a:pPr indent="0" marL="0">
              <a:buNone/>
            </a:pPr>
            <a:r>
              <a:rPr lang="en-US" sz="1200" b="1" spc="200" kern="0" dirty="0">
                <a:solidFill>
                  <a:srgbClr val="FFC145"/>
                </a:solidFill>
                <a:latin typeface="Calibri" pitchFamily="34" charset="0"/>
                <a:ea typeface="Calibri" pitchFamily="34" charset="-122"/>
                <a:cs typeface="Calibri" pitchFamily="34" charset="-120"/>
              </a:rPr>
              <a:t>TODAY IN TWELVE LINES</a:t>
            </a:r>
            <a:endParaRPr lang="en-US" sz="1200" dirty="0"/>
          </a:p>
        </p:txBody>
      </p:sp>
      <p:sp>
        <p:nvSpPr>
          <p:cNvPr id="5" name="Text 3"/>
          <p:cNvSpPr txBox="1"/>
          <p:nvPr/>
        </p:nvSpPr>
        <p:spPr>
          <a:xfrm>
            <a:off x="640080" y="749808"/>
            <a:ext cx="7315200" cy="59436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Recap</a:t>
            </a:r>
            <a:endParaRPr lang="en-US" sz="3400" dirty="0"/>
          </a:p>
        </p:txBody>
      </p:sp>
      <p:sp>
        <p:nvSpPr>
          <p:cNvPr id="6" name="Shape 4"/>
          <p:cNvSpPr/>
          <p:nvPr/>
        </p:nvSpPr>
        <p:spPr>
          <a:xfrm>
            <a:off x="640080" y="1554480"/>
            <a:ext cx="329184" cy="329184"/>
          </a:xfrm>
          <a:prstGeom prst="ellipse">
            <a:avLst/>
          </a:prstGeom>
          <a:solidFill>
            <a:srgbClr val="FFC145"/>
          </a:solidFill>
          <a:ln w="12700">
            <a:solidFill>
              <a:srgbClr val="FFC145"/>
            </a:solidFill>
            <a:prstDash val="solid"/>
          </a:ln>
        </p:spPr>
      </p:sp>
      <p:sp>
        <p:nvSpPr>
          <p:cNvPr id="7" name="Text 5"/>
          <p:cNvSpPr txBox="1"/>
          <p:nvPr/>
        </p:nvSpPr>
        <p:spPr>
          <a:xfrm>
            <a:off x="640080" y="1554480"/>
            <a:ext cx="329184" cy="329184"/>
          </a:xfrm>
          <a:prstGeom prst="rect">
            <a:avLst/>
          </a:prstGeom>
          <a:noFill/>
          <a:ln/>
        </p:spPr>
        <p:txBody>
          <a:bodyPr wrap="square" lIns="0" tIns="0" rIns="0" bIns="0" rtlCol="0" anchor="ctr"/>
          <a:lstStyle/>
          <a:p>
            <a:pPr algn="ctr" indent="0" marL="0">
              <a:buNone/>
            </a:pPr>
            <a:r>
              <a:rPr lang="en-US" sz="1300" b="1" dirty="0">
                <a:solidFill>
                  <a:srgbClr val="152238"/>
                </a:solidFill>
                <a:latin typeface="Calibri" pitchFamily="34" charset="0"/>
                <a:ea typeface="Calibri" pitchFamily="34" charset="-122"/>
                <a:cs typeface="Calibri" pitchFamily="34" charset="-120"/>
              </a:rPr>
              <a:t>1</a:t>
            </a:r>
            <a:endParaRPr lang="en-US" sz="1300" dirty="0"/>
          </a:p>
        </p:txBody>
      </p:sp>
      <p:sp>
        <p:nvSpPr>
          <p:cNvPr id="8" name="Text 6"/>
          <p:cNvSpPr txBox="1"/>
          <p:nvPr/>
        </p:nvSpPr>
        <p:spPr>
          <a:xfrm>
            <a:off x="1115568" y="1536192"/>
            <a:ext cx="4892040" cy="411480"/>
          </a:xfrm>
          <a:prstGeom prst="rect">
            <a:avLst/>
          </a:prstGeom>
          <a:noFill/>
          <a:ln/>
        </p:spPr>
        <p:txBody>
          <a:bodyPr wrap="square" lIns="0" tIns="0" rIns="0" bIns="0" rtlCol="0" anchor="ctr"/>
          <a:lstStyle/>
          <a:p>
            <a:pPr indent="0" marL="0">
              <a:buNone/>
            </a:pPr>
            <a:r>
              <a:rPr lang="en-US" sz="1000" dirty="0">
                <a:solidFill>
                  <a:srgbClr val="DCE6F3"/>
                </a:solidFill>
                <a:latin typeface="Calibri" pitchFamily="34" charset="0"/>
                <a:ea typeface="Calibri" pitchFamily="34" charset="-122"/>
                <a:cs typeface="Calibri" pitchFamily="34" charset="-120"/>
              </a:rPr>
              <a:t>Describe any distribution with centre, spread and shape.</a:t>
            </a:r>
            <a:endParaRPr lang="en-US" sz="1000" dirty="0"/>
          </a:p>
        </p:txBody>
      </p:sp>
      <p:sp>
        <p:nvSpPr>
          <p:cNvPr id="9" name="Shape 7"/>
          <p:cNvSpPr/>
          <p:nvPr/>
        </p:nvSpPr>
        <p:spPr>
          <a:xfrm>
            <a:off x="640080" y="2121408"/>
            <a:ext cx="329184" cy="329184"/>
          </a:xfrm>
          <a:prstGeom prst="ellipse">
            <a:avLst/>
          </a:prstGeom>
          <a:solidFill>
            <a:srgbClr val="FFC145"/>
          </a:solidFill>
          <a:ln w="12700">
            <a:solidFill>
              <a:srgbClr val="FFC145"/>
            </a:solidFill>
            <a:prstDash val="solid"/>
          </a:ln>
        </p:spPr>
      </p:sp>
      <p:sp>
        <p:nvSpPr>
          <p:cNvPr id="10" name="Text 8"/>
          <p:cNvSpPr txBox="1"/>
          <p:nvPr/>
        </p:nvSpPr>
        <p:spPr>
          <a:xfrm>
            <a:off x="640080" y="2121408"/>
            <a:ext cx="329184" cy="329184"/>
          </a:xfrm>
          <a:prstGeom prst="rect">
            <a:avLst/>
          </a:prstGeom>
          <a:noFill/>
          <a:ln/>
        </p:spPr>
        <p:txBody>
          <a:bodyPr wrap="square" lIns="0" tIns="0" rIns="0" bIns="0" rtlCol="0" anchor="ctr"/>
          <a:lstStyle/>
          <a:p>
            <a:pPr algn="ctr" indent="0" marL="0">
              <a:buNone/>
            </a:pPr>
            <a:r>
              <a:rPr lang="en-US" sz="1300" b="1" dirty="0">
                <a:solidFill>
                  <a:srgbClr val="152238"/>
                </a:solidFill>
                <a:latin typeface="Calibri" pitchFamily="34" charset="0"/>
                <a:ea typeface="Calibri" pitchFamily="34" charset="-122"/>
                <a:cs typeface="Calibri" pitchFamily="34" charset="-120"/>
              </a:rPr>
              <a:t>2</a:t>
            </a:r>
            <a:endParaRPr lang="en-US" sz="1300" dirty="0"/>
          </a:p>
        </p:txBody>
      </p:sp>
      <p:sp>
        <p:nvSpPr>
          <p:cNvPr id="11" name="Text 9"/>
          <p:cNvSpPr txBox="1"/>
          <p:nvPr/>
        </p:nvSpPr>
        <p:spPr>
          <a:xfrm>
            <a:off x="1115568" y="2103120"/>
            <a:ext cx="4892040" cy="411480"/>
          </a:xfrm>
          <a:prstGeom prst="rect">
            <a:avLst/>
          </a:prstGeom>
          <a:noFill/>
          <a:ln/>
        </p:spPr>
        <p:txBody>
          <a:bodyPr wrap="square" lIns="0" tIns="0" rIns="0" bIns="0" rtlCol="0" anchor="ctr"/>
          <a:lstStyle/>
          <a:p>
            <a:pPr indent="0" marL="0">
              <a:buNone/>
            </a:pPr>
            <a:r>
              <a:rPr lang="en-US" sz="1000" dirty="0">
                <a:solidFill>
                  <a:srgbClr val="DCE6F3"/>
                </a:solidFill>
                <a:latin typeface="Calibri" pitchFamily="34" charset="0"/>
                <a:ea typeface="Calibri" pitchFamily="34" charset="-122"/>
                <a:cs typeface="Calibri" pitchFamily="34" charset="-120"/>
              </a:rPr>
              <a:t>The mean uses every value — its strength and its weakness.</a:t>
            </a:r>
            <a:endParaRPr lang="en-US" sz="1000" dirty="0"/>
          </a:p>
        </p:txBody>
      </p:sp>
      <p:sp>
        <p:nvSpPr>
          <p:cNvPr id="12" name="Shape 10"/>
          <p:cNvSpPr/>
          <p:nvPr/>
        </p:nvSpPr>
        <p:spPr>
          <a:xfrm>
            <a:off x="640080" y="2688336"/>
            <a:ext cx="329184" cy="329184"/>
          </a:xfrm>
          <a:prstGeom prst="ellipse">
            <a:avLst/>
          </a:prstGeom>
          <a:solidFill>
            <a:srgbClr val="FFC145"/>
          </a:solidFill>
          <a:ln w="12700">
            <a:solidFill>
              <a:srgbClr val="FFC145"/>
            </a:solidFill>
            <a:prstDash val="solid"/>
          </a:ln>
        </p:spPr>
      </p:sp>
      <p:sp>
        <p:nvSpPr>
          <p:cNvPr id="13" name="Text 11"/>
          <p:cNvSpPr txBox="1"/>
          <p:nvPr/>
        </p:nvSpPr>
        <p:spPr>
          <a:xfrm>
            <a:off x="640080" y="2688336"/>
            <a:ext cx="329184" cy="329184"/>
          </a:xfrm>
          <a:prstGeom prst="rect">
            <a:avLst/>
          </a:prstGeom>
          <a:noFill/>
          <a:ln/>
        </p:spPr>
        <p:txBody>
          <a:bodyPr wrap="square" lIns="0" tIns="0" rIns="0" bIns="0" rtlCol="0" anchor="ctr"/>
          <a:lstStyle/>
          <a:p>
            <a:pPr algn="ctr" indent="0" marL="0">
              <a:buNone/>
            </a:pPr>
            <a:r>
              <a:rPr lang="en-US" sz="1300" b="1" dirty="0">
                <a:solidFill>
                  <a:srgbClr val="152238"/>
                </a:solidFill>
                <a:latin typeface="Calibri" pitchFamily="34" charset="0"/>
                <a:ea typeface="Calibri" pitchFamily="34" charset="-122"/>
                <a:cs typeface="Calibri" pitchFamily="34" charset="-120"/>
              </a:rPr>
              <a:t>3</a:t>
            </a:r>
            <a:endParaRPr lang="en-US" sz="1300" dirty="0"/>
          </a:p>
        </p:txBody>
      </p:sp>
      <p:sp>
        <p:nvSpPr>
          <p:cNvPr id="14" name="Text 12"/>
          <p:cNvSpPr txBox="1"/>
          <p:nvPr/>
        </p:nvSpPr>
        <p:spPr>
          <a:xfrm>
            <a:off x="1115568" y="2670048"/>
            <a:ext cx="4892040" cy="411480"/>
          </a:xfrm>
          <a:prstGeom prst="rect">
            <a:avLst/>
          </a:prstGeom>
          <a:noFill/>
          <a:ln/>
        </p:spPr>
        <p:txBody>
          <a:bodyPr wrap="square" lIns="0" tIns="0" rIns="0" bIns="0" rtlCol="0" anchor="ctr"/>
          <a:lstStyle/>
          <a:p>
            <a:pPr indent="0" marL="0">
              <a:buNone/>
            </a:pPr>
            <a:r>
              <a:rPr lang="en-US" sz="1000" dirty="0">
                <a:solidFill>
                  <a:srgbClr val="DCE6F3"/>
                </a:solidFill>
                <a:latin typeface="Calibri" pitchFamily="34" charset="0"/>
                <a:ea typeface="Calibri" pitchFamily="34" charset="-122"/>
                <a:cs typeface="Calibri" pitchFamily="34" charset="-120"/>
              </a:rPr>
              <a:t>The median only cares about order, so outliers count once.</a:t>
            </a:r>
            <a:endParaRPr lang="en-US" sz="1000" dirty="0"/>
          </a:p>
        </p:txBody>
      </p:sp>
      <p:sp>
        <p:nvSpPr>
          <p:cNvPr id="15" name="Shape 13"/>
          <p:cNvSpPr/>
          <p:nvPr/>
        </p:nvSpPr>
        <p:spPr>
          <a:xfrm>
            <a:off x="640080" y="3255264"/>
            <a:ext cx="329184" cy="329184"/>
          </a:xfrm>
          <a:prstGeom prst="ellipse">
            <a:avLst/>
          </a:prstGeom>
          <a:solidFill>
            <a:srgbClr val="FFC145"/>
          </a:solidFill>
          <a:ln w="12700">
            <a:solidFill>
              <a:srgbClr val="FFC145"/>
            </a:solidFill>
            <a:prstDash val="solid"/>
          </a:ln>
        </p:spPr>
      </p:sp>
      <p:sp>
        <p:nvSpPr>
          <p:cNvPr id="16" name="Text 14"/>
          <p:cNvSpPr txBox="1"/>
          <p:nvPr/>
        </p:nvSpPr>
        <p:spPr>
          <a:xfrm>
            <a:off x="640080" y="3255264"/>
            <a:ext cx="329184" cy="329184"/>
          </a:xfrm>
          <a:prstGeom prst="rect">
            <a:avLst/>
          </a:prstGeom>
          <a:noFill/>
          <a:ln/>
        </p:spPr>
        <p:txBody>
          <a:bodyPr wrap="square" lIns="0" tIns="0" rIns="0" bIns="0" rtlCol="0" anchor="ctr"/>
          <a:lstStyle/>
          <a:p>
            <a:pPr algn="ctr" indent="0" marL="0">
              <a:buNone/>
            </a:pPr>
            <a:r>
              <a:rPr lang="en-US" sz="1300" b="1" dirty="0">
                <a:solidFill>
                  <a:srgbClr val="152238"/>
                </a:solidFill>
                <a:latin typeface="Calibri" pitchFamily="34" charset="0"/>
                <a:ea typeface="Calibri" pitchFamily="34" charset="-122"/>
                <a:cs typeface="Calibri" pitchFamily="34" charset="-120"/>
              </a:rPr>
              <a:t>4</a:t>
            </a:r>
            <a:endParaRPr lang="en-US" sz="1300" dirty="0"/>
          </a:p>
        </p:txBody>
      </p:sp>
      <p:sp>
        <p:nvSpPr>
          <p:cNvPr id="17" name="Text 15"/>
          <p:cNvSpPr txBox="1"/>
          <p:nvPr/>
        </p:nvSpPr>
        <p:spPr>
          <a:xfrm>
            <a:off x="1115568" y="3236976"/>
            <a:ext cx="4892040" cy="411480"/>
          </a:xfrm>
          <a:prstGeom prst="rect">
            <a:avLst/>
          </a:prstGeom>
          <a:noFill/>
          <a:ln/>
        </p:spPr>
        <p:txBody>
          <a:bodyPr wrap="square" lIns="0" tIns="0" rIns="0" bIns="0" rtlCol="0" anchor="ctr"/>
          <a:lstStyle/>
          <a:p>
            <a:pPr indent="0" marL="0">
              <a:buNone/>
            </a:pPr>
            <a:r>
              <a:rPr lang="en-US" sz="1000" dirty="0">
                <a:solidFill>
                  <a:srgbClr val="DCE6F3"/>
                </a:solidFill>
                <a:latin typeface="Calibri" pitchFamily="34" charset="0"/>
                <a:ea typeface="Calibri" pitchFamily="34" charset="-122"/>
                <a:cs typeface="Calibri" pitchFamily="34" charset="-120"/>
              </a:rPr>
              <a:t>Mean far from median = skew. Report BOTH; the gap is the finding.</a:t>
            </a:r>
            <a:endParaRPr lang="en-US" sz="1000" dirty="0"/>
          </a:p>
        </p:txBody>
      </p:sp>
      <p:sp>
        <p:nvSpPr>
          <p:cNvPr id="18" name="Shape 16"/>
          <p:cNvSpPr/>
          <p:nvPr/>
        </p:nvSpPr>
        <p:spPr>
          <a:xfrm>
            <a:off x="640080" y="3822192"/>
            <a:ext cx="329184" cy="329184"/>
          </a:xfrm>
          <a:prstGeom prst="ellipse">
            <a:avLst/>
          </a:prstGeom>
          <a:solidFill>
            <a:srgbClr val="FFC145"/>
          </a:solidFill>
          <a:ln w="12700">
            <a:solidFill>
              <a:srgbClr val="FFC145"/>
            </a:solidFill>
            <a:prstDash val="solid"/>
          </a:ln>
        </p:spPr>
      </p:sp>
      <p:sp>
        <p:nvSpPr>
          <p:cNvPr id="19" name="Text 17"/>
          <p:cNvSpPr txBox="1"/>
          <p:nvPr/>
        </p:nvSpPr>
        <p:spPr>
          <a:xfrm>
            <a:off x="640080" y="3822192"/>
            <a:ext cx="329184" cy="329184"/>
          </a:xfrm>
          <a:prstGeom prst="rect">
            <a:avLst/>
          </a:prstGeom>
          <a:noFill/>
          <a:ln/>
        </p:spPr>
        <p:txBody>
          <a:bodyPr wrap="square" lIns="0" tIns="0" rIns="0" bIns="0" rtlCol="0" anchor="ctr"/>
          <a:lstStyle/>
          <a:p>
            <a:pPr algn="ctr" indent="0" marL="0">
              <a:buNone/>
            </a:pPr>
            <a:r>
              <a:rPr lang="en-US" sz="1300" b="1" dirty="0">
                <a:solidFill>
                  <a:srgbClr val="152238"/>
                </a:solidFill>
                <a:latin typeface="Calibri" pitchFamily="34" charset="0"/>
                <a:ea typeface="Calibri" pitchFamily="34" charset="-122"/>
                <a:cs typeface="Calibri" pitchFamily="34" charset="-120"/>
              </a:rPr>
              <a:t>5</a:t>
            </a:r>
            <a:endParaRPr lang="en-US" sz="1300" dirty="0"/>
          </a:p>
        </p:txBody>
      </p:sp>
      <p:sp>
        <p:nvSpPr>
          <p:cNvPr id="20" name="Text 18"/>
          <p:cNvSpPr txBox="1"/>
          <p:nvPr/>
        </p:nvSpPr>
        <p:spPr>
          <a:xfrm>
            <a:off x="1115568" y="3803904"/>
            <a:ext cx="4892040" cy="411480"/>
          </a:xfrm>
          <a:prstGeom prst="rect">
            <a:avLst/>
          </a:prstGeom>
          <a:noFill/>
          <a:ln/>
        </p:spPr>
        <p:txBody>
          <a:bodyPr wrap="square" lIns="0" tIns="0" rIns="0" bIns="0" rtlCol="0" anchor="ctr"/>
          <a:lstStyle/>
          <a:p>
            <a:pPr indent="0" marL="0">
              <a:buNone/>
            </a:pPr>
            <a:r>
              <a:rPr lang="en-US" sz="1000" dirty="0">
                <a:solidFill>
                  <a:srgbClr val="DCE6F3"/>
                </a:solidFill>
                <a:latin typeface="Calibri" pitchFamily="34" charset="0"/>
                <a:ea typeface="Calibri" pitchFamily="34" charset="-122"/>
                <a:cs typeface="Calibri" pitchFamily="34" charset="-120"/>
              </a:rPr>
              <a:t>In the salary example, 94% of people earn below the average.</a:t>
            </a:r>
            <a:endParaRPr lang="en-US" sz="1000" dirty="0"/>
          </a:p>
        </p:txBody>
      </p:sp>
      <p:sp>
        <p:nvSpPr>
          <p:cNvPr id="21" name="Shape 19"/>
          <p:cNvSpPr/>
          <p:nvPr/>
        </p:nvSpPr>
        <p:spPr>
          <a:xfrm>
            <a:off x="640080" y="4389120"/>
            <a:ext cx="329184" cy="329184"/>
          </a:xfrm>
          <a:prstGeom prst="ellipse">
            <a:avLst/>
          </a:prstGeom>
          <a:solidFill>
            <a:srgbClr val="FFC145"/>
          </a:solidFill>
          <a:ln w="12700">
            <a:solidFill>
              <a:srgbClr val="FFC145"/>
            </a:solidFill>
            <a:prstDash val="solid"/>
          </a:ln>
        </p:spPr>
      </p:sp>
      <p:sp>
        <p:nvSpPr>
          <p:cNvPr id="22" name="Text 20"/>
          <p:cNvSpPr txBox="1"/>
          <p:nvPr/>
        </p:nvSpPr>
        <p:spPr>
          <a:xfrm>
            <a:off x="640080" y="4389120"/>
            <a:ext cx="329184" cy="329184"/>
          </a:xfrm>
          <a:prstGeom prst="rect">
            <a:avLst/>
          </a:prstGeom>
          <a:noFill/>
          <a:ln/>
        </p:spPr>
        <p:txBody>
          <a:bodyPr wrap="square" lIns="0" tIns="0" rIns="0" bIns="0" rtlCol="0" anchor="ctr"/>
          <a:lstStyle/>
          <a:p>
            <a:pPr algn="ctr" indent="0" marL="0">
              <a:buNone/>
            </a:pPr>
            <a:r>
              <a:rPr lang="en-US" sz="1300" b="1" dirty="0">
                <a:solidFill>
                  <a:srgbClr val="152238"/>
                </a:solidFill>
                <a:latin typeface="Calibri" pitchFamily="34" charset="0"/>
                <a:ea typeface="Calibri" pitchFamily="34" charset="-122"/>
                <a:cs typeface="Calibri" pitchFamily="34" charset="-120"/>
              </a:rPr>
              <a:t>6</a:t>
            </a:r>
            <a:endParaRPr lang="en-US" sz="1300" dirty="0"/>
          </a:p>
        </p:txBody>
      </p:sp>
      <p:sp>
        <p:nvSpPr>
          <p:cNvPr id="23" name="Text 21"/>
          <p:cNvSpPr txBox="1"/>
          <p:nvPr/>
        </p:nvSpPr>
        <p:spPr>
          <a:xfrm>
            <a:off x="1115568" y="4370832"/>
            <a:ext cx="4892040" cy="411480"/>
          </a:xfrm>
          <a:prstGeom prst="rect">
            <a:avLst/>
          </a:prstGeom>
          <a:noFill/>
          <a:ln/>
        </p:spPr>
        <p:txBody>
          <a:bodyPr wrap="square" lIns="0" tIns="0" rIns="0" bIns="0" rtlCol="0" anchor="ctr"/>
          <a:lstStyle/>
          <a:p>
            <a:pPr indent="0" marL="0">
              <a:buNone/>
            </a:pPr>
            <a:r>
              <a:rPr lang="en-US" sz="1000" dirty="0">
                <a:solidFill>
                  <a:srgbClr val="DCE6F3"/>
                </a:solidFill>
                <a:latin typeface="Calibri" pitchFamily="34" charset="0"/>
                <a:ea typeface="Calibri" pitchFamily="34" charset="-122"/>
                <a:cs typeface="Calibri" pitchFamily="34" charset="-120"/>
              </a:rPr>
              <a:t>mode() returns a Series, because ties are possible.</a:t>
            </a:r>
            <a:endParaRPr lang="en-US" sz="1000" dirty="0"/>
          </a:p>
        </p:txBody>
      </p:sp>
      <p:sp>
        <p:nvSpPr>
          <p:cNvPr id="24" name="Shape 22"/>
          <p:cNvSpPr/>
          <p:nvPr/>
        </p:nvSpPr>
        <p:spPr>
          <a:xfrm>
            <a:off x="6263640" y="1554480"/>
            <a:ext cx="329184" cy="329184"/>
          </a:xfrm>
          <a:prstGeom prst="ellipse">
            <a:avLst/>
          </a:prstGeom>
          <a:solidFill>
            <a:srgbClr val="3E7CB1"/>
          </a:solidFill>
          <a:ln w="12700">
            <a:solidFill>
              <a:srgbClr val="3E7CB1"/>
            </a:solidFill>
            <a:prstDash val="solid"/>
          </a:ln>
        </p:spPr>
      </p:sp>
      <p:sp>
        <p:nvSpPr>
          <p:cNvPr id="25" name="Text 23"/>
          <p:cNvSpPr txBox="1"/>
          <p:nvPr/>
        </p:nvSpPr>
        <p:spPr>
          <a:xfrm>
            <a:off x="6263640" y="1554480"/>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7</a:t>
            </a:r>
            <a:endParaRPr lang="en-US" sz="1300" dirty="0"/>
          </a:p>
        </p:txBody>
      </p:sp>
      <p:sp>
        <p:nvSpPr>
          <p:cNvPr id="26" name="Text 24"/>
          <p:cNvSpPr txBox="1"/>
          <p:nvPr/>
        </p:nvSpPr>
        <p:spPr>
          <a:xfrm>
            <a:off x="6739128" y="1536192"/>
            <a:ext cx="4892040" cy="411480"/>
          </a:xfrm>
          <a:prstGeom prst="rect">
            <a:avLst/>
          </a:prstGeom>
          <a:noFill/>
          <a:ln/>
        </p:spPr>
        <p:txBody>
          <a:bodyPr wrap="square" lIns="0" tIns="0" rIns="0" bIns="0" rtlCol="0" anchor="ctr"/>
          <a:lstStyle/>
          <a:p>
            <a:pPr indent="0" marL="0">
              <a:buNone/>
            </a:pPr>
            <a:r>
              <a:rPr lang="en-US" sz="1000" dirty="0">
                <a:solidFill>
                  <a:srgbClr val="DCE6F3"/>
                </a:solidFill>
                <a:latin typeface="Calibri" pitchFamily="34" charset="0"/>
                <a:ea typeface="Calibri" pitchFamily="34" charset="-122"/>
                <a:cs typeface="Calibri" pitchFamily="34" charset="-120"/>
              </a:rPr>
              <a:t>Variance is in squared units; quote the standard deviation.</a:t>
            </a:r>
            <a:endParaRPr lang="en-US" sz="1000" dirty="0"/>
          </a:p>
        </p:txBody>
      </p:sp>
      <p:sp>
        <p:nvSpPr>
          <p:cNvPr id="27" name="Shape 25"/>
          <p:cNvSpPr/>
          <p:nvPr/>
        </p:nvSpPr>
        <p:spPr>
          <a:xfrm>
            <a:off x="6263640" y="2121408"/>
            <a:ext cx="329184" cy="329184"/>
          </a:xfrm>
          <a:prstGeom prst="ellipse">
            <a:avLst/>
          </a:prstGeom>
          <a:solidFill>
            <a:srgbClr val="3E7CB1"/>
          </a:solidFill>
          <a:ln w="12700">
            <a:solidFill>
              <a:srgbClr val="3E7CB1"/>
            </a:solidFill>
            <a:prstDash val="solid"/>
          </a:ln>
        </p:spPr>
      </p:sp>
      <p:sp>
        <p:nvSpPr>
          <p:cNvPr id="28" name="Text 26"/>
          <p:cNvSpPr txBox="1"/>
          <p:nvPr/>
        </p:nvSpPr>
        <p:spPr>
          <a:xfrm>
            <a:off x="6263640" y="2121408"/>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8</a:t>
            </a:r>
            <a:endParaRPr lang="en-US" sz="1300" dirty="0"/>
          </a:p>
        </p:txBody>
      </p:sp>
      <p:sp>
        <p:nvSpPr>
          <p:cNvPr id="29" name="Text 27"/>
          <p:cNvSpPr txBox="1"/>
          <p:nvPr/>
        </p:nvSpPr>
        <p:spPr>
          <a:xfrm>
            <a:off x="6739128" y="2103120"/>
            <a:ext cx="4892040" cy="411480"/>
          </a:xfrm>
          <a:prstGeom prst="rect">
            <a:avLst/>
          </a:prstGeom>
          <a:noFill/>
          <a:ln/>
        </p:spPr>
        <p:txBody>
          <a:bodyPr wrap="square" lIns="0" tIns="0" rIns="0" bIns="0" rtlCol="0" anchor="ctr"/>
          <a:lstStyle/>
          <a:p>
            <a:pPr indent="0" marL="0">
              <a:buNone/>
            </a:pPr>
            <a:r>
              <a:rPr lang="en-US" sz="1000" dirty="0">
                <a:solidFill>
                  <a:srgbClr val="DCE6F3"/>
                </a:solidFill>
                <a:latin typeface="Calibri" pitchFamily="34" charset="0"/>
                <a:ea typeface="Calibri" pitchFamily="34" charset="-122"/>
                <a:cs typeface="Calibri" pitchFamily="34" charset="-120"/>
              </a:rPr>
              <a:t>⚠ Dividing by n understates the truth by exactly (n−1)/n.</a:t>
            </a:r>
            <a:endParaRPr lang="en-US" sz="1000" dirty="0"/>
          </a:p>
        </p:txBody>
      </p:sp>
      <p:sp>
        <p:nvSpPr>
          <p:cNvPr id="30" name="Shape 28"/>
          <p:cNvSpPr/>
          <p:nvPr/>
        </p:nvSpPr>
        <p:spPr>
          <a:xfrm>
            <a:off x="6263640" y="2688336"/>
            <a:ext cx="329184" cy="329184"/>
          </a:xfrm>
          <a:prstGeom prst="ellipse">
            <a:avLst/>
          </a:prstGeom>
          <a:solidFill>
            <a:srgbClr val="3E7CB1"/>
          </a:solidFill>
          <a:ln w="12700">
            <a:solidFill>
              <a:srgbClr val="3E7CB1"/>
            </a:solidFill>
            <a:prstDash val="solid"/>
          </a:ln>
        </p:spPr>
      </p:sp>
      <p:sp>
        <p:nvSpPr>
          <p:cNvPr id="31" name="Text 29"/>
          <p:cNvSpPr txBox="1"/>
          <p:nvPr/>
        </p:nvSpPr>
        <p:spPr>
          <a:xfrm>
            <a:off x="6263640" y="2688336"/>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9</a:t>
            </a:r>
            <a:endParaRPr lang="en-US" sz="1300" dirty="0"/>
          </a:p>
        </p:txBody>
      </p:sp>
      <p:sp>
        <p:nvSpPr>
          <p:cNvPr id="32" name="Text 30"/>
          <p:cNvSpPr txBox="1"/>
          <p:nvPr/>
        </p:nvSpPr>
        <p:spPr>
          <a:xfrm>
            <a:off x="6739128" y="2670048"/>
            <a:ext cx="4892040" cy="411480"/>
          </a:xfrm>
          <a:prstGeom prst="rect">
            <a:avLst/>
          </a:prstGeom>
          <a:noFill/>
          <a:ln/>
        </p:spPr>
        <p:txBody>
          <a:bodyPr wrap="square" lIns="0" tIns="0" rIns="0" bIns="0" rtlCol="0" anchor="ctr"/>
          <a:lstStyle/>
          <a:p>
            <a:pPr indent="0" marL="0">
              <a:buNone/>
            </a:pPr>
            <a:r>
              <a:rPr lang="en-US" sz="1000" dirty="0">
                <a:solidFill>
                  <a:srgbClr val="DCE6F3"/>
                </a:solidFill>
                <a:latin typeface="Calibri" pitchFamily="34" charset="0"/>
                <a:ea typeface="Calibri" pitchFamily="34" charset="-122"/>
                <a:cs typeface="Calibri" pitchFamily="34" charset="-120"/>
              </a:rPr>
              <a:t>So ddof=1 for a SAMPLE, ddof=0 for a whole POPULATION.</a:t>
            </a:r>
            <a:endParaRPr lang="en-US" sz="1000" dirty="0"/>
          </a:p>
        </p:txBody>
      </p:sp>
      <p:sp>
        <p:nvSpPr>
          <p:cNvPr id="33" name="Shape 31"/>
          <p:cNvSpPr/>
          <p:nvPr/>
        </p:nvSpPr>
        <p:spPr>
          <a:xfrm>
            <a:off x="6263640" y="3255264"/>
            <a:ext cx="329184" cy="329184"/>
          </a:xfrm>
          <a:prstGeom prst="ellipse">
            <a:avLst/>
          </a:prstGeom>
          <a:solidFill>
            <a:srgbClr val="3E7CB1"/>
          </a:solidFill>
          <a:ln w="12700">
            <a:solidFill>
              <a:srgbClr val="3E7CB1"/>
            </a:solidFill>
            <a:prstDash val="solid"/>
          </a:ln>
        </p:spPr>
      </p:sp>
      <p:sp>
        <p:nvSpPr>
          <p:cNvPr id="34" name="Text 32"/>
          <p:cNvSpPr txBox="1"/>
          <p:nvPr/>
        </p:nvSpPr>
        <p:spPr>
          <a:xfrm>
            <a:off x="6263640" y="3255264"/>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10</a:t>
            </a:r>
            <a:endParaRPr lang="en-US" sz="1300" dirty="0"/>
          </a:p>
        </p:txBody>
      </p:sp>
      <p:sp>
        <p:nvSpPr>
          <p:cNvPr id="35" name="Text 33"/>
          <p:cNvSpPr txBox="1"/>
          <p:nvPr/>
        </p:nvSpPr>
        <p:spPr>
          <a:xfrm>
            <a:off x="6739128" y="3236976"/>
            <a:ext cx="4892040" cy="411480"/>
          </a:xfrm>
          <a:prstGeom prst="rect">
            <a:avLst/>
          </a:prstGeom>
          <a:noFill/>
          <a:ln/>
        </p:spPr>
        <p:txBody>
          <a:bodyPr wrap="square" lIns="0" tIns="0" rIns="0" bIns="0" rtlCol="0" anchor="ctr"/>
          <a:lstStyle/>
          <a:p>
            <a:pPr indent="0" marL="0">
              <a:buNone/>
            </a:pPr>
            <a:r>
              <a:rPr lang="en-US" sz="1000" dirty="0">
                <a:solidFill>
                  <a:srgbClr val="DCE6F3"/>
                </a:solidFill>
                <a:latin typeface="Calibri" pitchFamily="34" charset="0"/>
                <a:ea typeface="Calibri" pitchFamily="34" charset="-122"/>
                <a:cs typeface="Calibri" pitchFamily="34" charset="-120"/>
              </a:rPr>
              <a:t>NumPy defaults to 0, pandas to 1. Neither is wrong. State it.</a:t>
            </a:r>
            <a:endParaRPr lang="en-US" sz="1000" dirty="0"/>
          </a:p>
        </p:txBody>
      </p:sp>
      <p:sp>
        <p:nvSpPr>
          <p:cNvPr id="36" name="Shape 34"/>
          <p:cNvSpPr/>
          <p:nvPr/>
        </p:nvSpPr>
        <p:spPr>
          <a:xfrm>
            <a:off x="6263640" y="3822192"/>
            <a:ext cx="329184" cy="329184"/>
          </a:xfrm>
          <a:prstGeom prst="ellipse">
            <a:avLst/>
          </a:prstGeom>
          <a:solidFill>
            <a:srgbClr val="3E7CB1"/>
          </a:solidFill>
          <a:ln w="12700">
            <a:solidFill>
              <a:srgbClr val="3E7CB1"/>
            </a:solidFill>
            <a:prstDash val="solid"/>
          </a:ln>
        </p:spPr>
      </p:sp>
      <p:sp>
        <p:nvSpPr>
          <p:cNvPr id="37" name="Text 35"/>
          <p:cNvSpPr txBox="1"/>
          <p:nvPr/>
        </p:nvSpPr>
        <p:spPr>
          <a:xfrm>
            <a:off x="6263640" y="3822192"/>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11</a:t>
            </a:r>
            <a:endParaRPr lang="en-US" sz="1300" dirty="0"/>
          </a:p>
        </p:txBody>
      </p:sp>
      <p:sp>
        <p:nvSpPr>
          <p:cNvPr id="38" name="Text 36"/>
          <p:cNvSpPr txBox="1"/>
          <p:nvPr/>
        </p:nvSpPr>
        <p:spPr>
          <a:xfrm>
            <a:off x="6739128" y="3803904"/>
            <a:ext cx="4892040" cy="411480"/>
          </a:xfrm>
          <a:prstGeom prst="rect">
            <a:avLst/>
          </a:prstGeom>
          <a:noFill/>
          <a:ln/>
        </p:spPr>
        <p:txBody>
          <a:bodyPr wrap="square" lIns="0" tIns="0" rIns="0" bIns="0" rtlCol="0" anchor="ctr"/>
          <a:lstStyle/>
          <a:p>
            <a:pPr indent="0" marL="0">
              <a:buNone/>
            </a:pPr>
            <a:r>
              <a:rPr lang="en-US" sz="1000" dirty="0">
                <a:solidFill>
                  <a:srgbClr val="DCE6F3"/>
                </a:solidFill>
                <a:latin typeface="Calibri" pitchFamily="34" charset="0"/>
                <a:ea typeface="Calibri" pitchFamily="34" charset="-122"/>
                <a:cs typeface="Calibri" pitchFamily="34" charset="-120"/>
              </a:rPr>
              <a:t>Skew says which tail; kurtosis says how heavy. Both guide the choice.</a:t>
            </a:r>
            <a:endParaRPr lang="en-US" sz="1000" dirty="0"/>
          </a:p>
        </p:txBody>
      </p:sp>
      <p:sp>
        <p:nvSpPr>
          <p:cNvPr id="39" name="Shape 37"/>
          <p:cNvSpPr/>
          <p:nvPr/>
        </p:nvSpPr>
        <p:spPr>
          <a:xfrm>
            <a:off x="6263640" y="4389120"/>
            <a:ext cx="329184" cy="329184"/>
          </a:xfrm>
          <a:prstGeom prst="ellipse">
            <a:avLst/>
          </a:prstGeom>
          <a:solidFill>
            <a:srgbClr val="3E7CB1"/>
          </a:solidFill>
          <a:ln w="12700">
            <a:solidFill>
              <a:srgbClr val="3E7CB1"/>
            </a:solidFill>
            <a:prstDash val="solid"/>
          </a:ln>
        </p:spPr>
      </p:sp>
      <p:sp>
        <p:nvSpPr>
          <p:cNvPr id="40" name="Text 38"/>
          <p:cNvSpPr txBox="1"/>
          <p:nvPr/>
        </p:nvSpPr>
        <p:spPr>
          <a:xfrm>
            <a:off x="6263640" y="4389120"/>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12</a:t>
            </a:r>
            <a:endParaRPr lang="en-US" sz="1300" dirty="0"/>
          </a:p>
        </p:txBody>
      </p:sp>
      <p:sp>
        <p:nvSpPr>
          <p:cNvPr id="41" name="Text 39"/>
          <p:cNvSpPr txBox="1"/>
          <p:nvPr/>
        </p:nvSpPr>
        <p:spPr>
          <a:xfrm>
            <a:off x="6739128" y="4370832"/>
            <a:ext cx="4892040" cy="411480"/>
          </a:xfrm>
          <a:prstGeom prst="rect">
            <a:avLst/>
          </a:prstGeom>
          <a:noFill/>
          <a:ln/>
        </p:spPr>
        <p:txBody>
          <a:bodyPr wrap="square" lIns="0" tIns="0" rIns="0" bIns="0" rtlCol="0" anchor="ctr"/>
          <a:lstStyle/>
          <a:p>
            <a:pPr indent="0" marL="0">
              <a:buNone/>
            </a:pPr>
            <a:r>
              <a:rPr lang="en-US" sz="1000" dirty="0">
                <a:solidFill>
                  <a:srgbClr val="DCE6F3"/>
                </a:solidFill>
                <a:latin typeface="Calibri" pitchFamily="34" charset="0"/>
                <a:ea typeface="Calibri" pitchFamily="34" charset="-122"/>
                <a:cs typeface="Calibri" pitchFamily="34" charset="-120"/>
              </a:rPr>
              <a:t>Two humps can share a mean and SD with one. Always plot.</a:t>
            </a:r>
            <a:endParaRPr lang="en-US" sz="1000" dirty="0"/>
          </a:p>
        </p:txBody>
      </p:sp>
      <p:sp>
        <p:nvSpPr>
          <p:cNvPr id="42" name="Shape 40"/>
          <p:cNvSpPr/>
          <p:nvPr/>
        </p:nvSpPr>
        <p:spPr>
          <a:xfrm>
            <a:off x="640080" y="5230368"/>
            <a:ext cx="5349240" cy="1097280"/>
          </a:xfrm>
          <a:prstGeom prst="roundRect">
            <a:avLst>
              <a:gd name="adj" fmla="val 7500"/>
            </a:avLst>
          </a:prstGeom>
          <a:solidFill>
            <a:srgbClr val="1E3151"/>
          </a:solidFill>
          <a:ln w="12700">
            <a:solidFill>
              <a:srgbClr val="333333"/>
            </a:solidFill>
            <a:prstDash val="solid"/>
          </a:ln>
        </p:spPr>
      </p:sp>
      <p:sp>
        <p:nvSpPr>
          <p:cNvPr id="43" name="Text 41"/>
          <p:cNvSpPr txBox="1"/>
          <p:nvPr/>
        </p:nvSpPr>
        <p:spPr>
          <a:xfrm>
            <a:off x="868680" y="5358384"/>
            <a:ext cx="4846320" cy="274320"/>
          </a:xfrm>
          <a:prstGeom prst="rect">
            <a:avLst/>
          </a:prstGeom>
          <a:noFill/>
          <a:ln/>
        </p:spPr>
        <p:txBody>
          <a:bodyPr wrap="square" lIns="0" tIns="0" rIns="0" bIns="0" rtlCol="0" anchor="ctr"/>
          <a:lstStyle/>
          <a:p>
            <a:pPr indent="0" marL="0">
              <a:buNone/>
            </a:pPr>
            <a:r>
              <a:rPr lang="en-US" sz="1300" b="1" dirty="0">
                <a:solidFill>
                  <a:srgbClr val="FFC145"/>
                </a:solidFill>
                <a:latin typeface="Calibri" pitchFamily="34" charset="0"/>
                <a:ea typeface="Calibri" pitchFamily="34" charset="-122"/>
                <a:cs typeface="Calibri" pitchFamily="34" charset="-120"/>
              </a:rPr>
              <a:t>Homework</a:t>
            </a:r>
            <a:endParaRPr lang="en-US" sz="1300" dirty="0"/>
          </a:p>
        </p:txBody>
      </p:sp>
      <p:sp>
        <p:nvSpPr>
          <p:cNvPr id="44" name="Text 42"/>
          <p:cNvSpPr txBox="1"/>
          <p:nvPr/>
        </p:nvSpPr>
        <p:spPr>
          <a:xfrm>
            <a:off x="868680" y="5632704"/>
            <a:ext cx="4892040" cy="658368"/>
          </a:xfrm>
          <a:prstGeom prst="rect">
            <a:avLst/>
          </a:prstGeom>
          <a:noFill/>
          <a:ln/>
        </p:spPr>
        <p:txBody>
          <a:bodyPr wrap="square" lIns="0" tIns="0" rIns="0" bIns="0" rtlCol="0" anchor="ctr"/>
          <a:lstStyle/>
          <a:p>
            <a:pPr indent="0" marL="0">
              <a:lnSpc>
                <a:spcPct val="110000"/>
              </a:lnSpc>
              <a:buNone/>
            </a:pPr>
            <a:r>
              <a:rPr lang="en-US" sz="950" dirty="0">
                <a:solidFill>
                  <a:srgbClr val="AFC2DC"/>
                </a:solidFill>
                <a:latin typeface="Calibri" pitchFamily="34" charset="0"/>
                <a:ea typeface="Calibri" pitchFamily="34" charset="-122"/>
                <a:cs typeface="Calibri" pitchFamily="34" charset="-120"/>
              </a:rPr>
              <a:t>Reproduce the n−1 simulation yourself and try n = 3, 10 and 50  ·  Find a real dataset where the mean and median disagree, and explain why  ·  Run honest_summary on three columns of your Day 21 project data</a:t>
            </a:r>
            <a:endParaRPr lang="en-US" sz="950" dirty="0"/>
          </a:p>
        </p:txBody>
      </p:sp>
      <p:sp>
        <p:nvSpPr>
          <p:cNvPr id="45" name="Shape 43"/>
          <p:cNvSpPr/>
          <p:nvPr/>
        </p:nvSpPr>
        <p:spPr>
          <a:xfrm>
            <a:off x="6263640" y="5230368"/>
            <a:ext cx="5349240" cy="1097280"/>
          </a:xfrm>
          <a:prstGeom prst="roundRect">
            <a:avLst>
              <a:gd name="adj" fmla="val 7500"/>
            </a:avLst>
          </a:prstGeom>
          <a:solidFill>
            <a:srgbClr val="1E3151"/>
          </a:solidFill>
          <a:ln w="12700">
            <a:solidFill>
              <a:srgbClr val="333333"/>
            </a:solidFill>
            <a:prstDash val="solid"/>
          </a:ln>
        </p:spPr>
      </p:sp>
      <p:sp>
        <p:nvSpPr>
          <p:cNvPr id="46" name="Text 44"/>
          <p:cNvSpPr txBox="1"/>
          <p:nvPr/>
        </p:nvSpPr>
        <p:spPr>
          <a:xfrm>
            <a:off x="6492240" y="5358384"/>
            <a:ext cx="4846320" cy="274320"/>
          </a:xfrm>
          <a:prstGeom prst="rect">
            <a:avLst/>
          </a:prstGeom>
          <a:noFill/>
          <a:ln/>
        </p:spPr>
        <p:txBody>
          <a:bodyPr wrap="square" lIns="0" tIns="0" rIns="0" bIns="0" rtlCol="0" anchor="ctr"/>
          <a:lstStyle/>
          <a:p>
            <a:pPr indent="0" marL="0">
              <a:buNone/>
            </a:pPr>
            <a:r>
              <a:rPr lang="en-US" sz="1300" b="1" dirty="0">
                <a:solidFill>
                  <a:srgbClr val="FFC145"/>
                </a:solidFill>
                <a:latin typeface="Calibri" pitchFamily="34" charset="0"/>
                <a:ea typeface="Calibri" pitchFamily="34" charset="-122"/>
                <a:cs typeface="Calibri" pitchFamily="34" charset="-120"/>
              </a:rPr>
              <a:t>Next class  —  Topic 2.4</a:t>
            </a:r>
            <a:endParaRPr lang="en-US" sz="1300" dirty="0"/>
          </a:p>
        </p:txBody>
      </p:sp>
      <p:sp>
        <p:nvSpPr>
          <p:cNvPr id="47" name="Text 45"/>
          <p:cNvSpPr txBox="1"/>
          <p:nvPr/>
        </p:nvSpPr>
        <p:spPr>
          <a:xfrm>
            <a:off x="6492240" y="5632704"/>
            <a:ext cx="4892040" cy="658368"/>
          </a:xfrm>
          <a:prstGeom prst="rect">
            <a:avLst/>
          </a:prstGeom>
          <a:noFill/>
          <a:ln/>
        </p:spPr>
        <p:txBody>
          <a:bodyPr wrap="square" lIns="0" tIns="0" rIns="0" bIns="0" rtlCol="0" anchor="ctr"/>
          <a:lstStyle/>
          <a:p>
            <a:pPr indent="0" marL="0">
              <a:lnSpc>
                <a:spcPct val="110000"/>
              </a:lnSpc>
              <a:buNone/>
            </a:pPr>
            <a:r>
              <a:rPr lang="en-US" sz="1050" dirty="0">
                <a:solidFill>
                  <a:srgbClr val="AFC2DC"/>
                </a:solidFill>
                <a:latin typeface="Calibri" pitchFamily="34" charset="0"/>
                <a:ea typeface="Calibri" pitchFamily="34" charset="-122"/>
                <a:cs typeface="Calibri" pitchFamily="34" charset="-120"/>
              </a:rPr>
              <a:t>The normal distribution: the bell curve, the 68-95-99.7 rule, and z-scores — where today's standard deviation becomes a ruler you can measure anything with.</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Day 23 - Descriptive Statistics &amp; Sampling</dc:title>
  <dc:subject>PptxGenJS Presentation</dc:subject>
  <dc:creator>Data Science Program</dc:creator>
  <cp:lastModifiedBy>Data Science Program</cp:lastModifiedBy>
  <cp:revision>1</cp:revision>
  <dcterms:created xsi:type="dcterms:W3CDTF">2026-10-07T12:51:30Z</dcterms:created>
  <dcterms:modified xsi:type="dcterms:W3CDTF">2026-10-07T12:51:30Z</dcterms:modified>
</cp:coreProperties>
</file>