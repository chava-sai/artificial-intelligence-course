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27. This is the payoff session. Days 24, 25 and 26 each ended with a bell curve nobody explained. Today explains it, and then shows the two situations where the explanation does not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moment on how unrelated these three are. The strangeness of the pattern is what makes the explanation worth having.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the stakes here. The CLT is not a curiosity; it is the licence for almost every inferential method they will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3 and 4 are the ones that separate this session from a textbook treatment. Most courses state the theorem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before showing it. One histogram of raw values, one histogram of averages. Students who hold these apart understand the rest of the module; students who do not will struggle with every confidence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mistake appears in published papers. Being able to name it is worth more than being able to state the theorem.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watch two things separately: shape and width. Students usually notice only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aloud twice, then take the four phrases one at a time. 'Any population' is the astonishing part and 'finite sigma' is the part that gets forgotten.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Pointing at the worst panel rather than the best is the honest move, and it sets up section 3 perfectly.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sigma-versus-SE confusion shows up constantly in reported results. Ask: does this number describe the people, or describe how well we measured the average?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immediately useful slide for anyone who will size an experiment. Make them say 'four times the data'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lognormal line is the one to dwell on, because lognormal is the default shape of most business data students will actually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one-liner: scipy.stats.skew(data), then n = (skew/0.3)**2. It is crude but it is defensible, which 'n=30'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Cauchy looks harmless - it is symmetric and bell-shaped - which is what makes it such a good warning. The tails are the whole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running-mean plot is a genuinely useful diagnostic and takes one line. Recommend it as a habit before quoting any average of heavy-tailed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failure students will actually hit, because almost all time-series and repeated-measures data is correlated and nothing in the analysis warns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photograph this. It is the practical version of the whole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connection explicit: 4.8 / sqrt(200) = 0.34. The skew rule from section 3 predicts the right-hand panel before you draw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Shapiro line is the teaching point of this slide. Students instinctively test their data for normality; show them it failing and the interval still being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misreading - confusing an interval for the mean with an interval for individuals - is the one that reaches newspapers. Name it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back: every tool in the rest of the course inherits both the power and the failure modes of this one theorem.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6 and 7 are the ones that produce confidently wrong published results. Rows 1 and 2 are the ones that produce confused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that the function cannot check independence is important - otherwise students will treat a green verdict as full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D's second half introduces the bootstrap without naming it as a topic. It is the natural answer to 'what do I do when the CLT does not apply'.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handover to Day 28 is tight: a hypothesis test is just this standard error with a decision rule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STATISTICS &amp; PROBABILITY  ·  TOPIC 2.7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 Theorem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  —  the result everything else in this module rests 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572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have been setting this 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48056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572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that decides everything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48056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572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it still fails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27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already seen this happen three times</a:t>
            </a:r>
            <a:endParaRPr lang="en-US" sz="3200" dirty="0"/>
          </a:p>
        </p:txBody>
      </p:sp>
      <p:pic>
        <p:nvPicPr>
          <p:cNvPr id="5" name="Image 0" descr="/home/claude/day27/fig/three_h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10698480" cy="25600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4498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unrelated distributions, one curve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8280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binomial counts successes out of n. A Poisson counts events in an interval. A uniform is a flat line with nothing interesting about it at all. They share no mechanism, no shape and no parameters.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turned into the same bell curve, and each time the session ended by saying “Day 27 explains why”. This is Day 27.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from Day 26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7922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P(X = exactly 5) zero?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9222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area, and a point has no width.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69464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5786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U(a, b) in scipy — write it.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uniform(a, b − a). The second argument is a width.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355848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364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of U(0,1)?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3649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1/√12 = 0.2887.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42232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1513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uniforms added together gave…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1513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bell curve. Nobody said why.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is today's whole session. And the answer is bigger than it looks: nearly every confidence interval, p-value and A/B test you will ever run is standing on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distinction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not your sample mean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says, and the √n law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large enough?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= 30 rule is not true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variance, and dependence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you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confidence interval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is short and it is the one that matters. Almost every mistake people make with this theorem comes from confusing two things that the next slide separates.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Distinction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not your sample mean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distributions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theorem does NOT say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THE DISTINCTION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Two different distributions, and people confuse them</a:t>
            </a:r>
            <a:endParaRPr lang="en-US" sz="3200" dirty="0"/>
          </a:p>
        </p:txBody>
      </p:sp>
      <p:pic>
        <p:nvPicPr>
          <p:cNvPr id="5" name="Image 0" descr="/home/claude/day27/fig/data_vs_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32166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56048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distribution of the DATA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3766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single observation looks like. Collect a million of them and this shape does not change.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956048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the distribution of the MEAN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3766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would get if you took the average of 30, over and over. This is what the theorem is about.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THE MISCONCEPTION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What the theorem does NOT say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 three wrong versions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“Big samples are normally distributed”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048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 million salaries are just as skewed as a hundred.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620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n &gt; 30 I can assume normality”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18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MEAN, sometimes. Never of the data.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753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“Everything in nature is normal”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313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city size and file size are all famously not.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17647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it actually says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1488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sample of n, compute its mean, and write that one number down. Do it again. And again.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of those MEANS is normal — almost regardless of what the data looked like.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stays exactly as skewed as it always was. Nothing happens to it at 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590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catch yourself making this mistake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1947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ever find yourself running a normality test on your raw data and then citing the CLT when it fails — stop. The CLT was never a claim about your raw data. It would not have made that data normal, and it does not need 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Theorem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says, and what it costs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happen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√n law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THE DEMONSTRATION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happen, one sample size at a time</a:t>
            </a:r>
            <a:endParaRPr lang="en-US" sz="3200" dirty="0"/>
          </a:p>
        </p:txBody>
      </p:sp>
      <p:pic>
        <p:nvPicPr>
          <p:cNvPr id="5" name="Image 0" descr="/home/claude/day27/fig/watch_it_hap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10698480" cy="240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1148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except 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608576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draws from the same hard-skewed exponential. At n = 1 you are just looking at the raw data again. By n = 30 the black normal curve lies on top of the bars.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notice the width shrinking at the same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411480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261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are happening at once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4608576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becomes normal, AND the spread narrows. They are separate claims and the theorem makes both.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skew number under each panel is not measured — it is predicted exactly, and section 3 gives the formula.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THE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theorem, in one sentence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samples of size n from any population with a finite mean μ and a finite</a:t>
            </a:r>
            <a:endParaRPr lang="en-US" sz="15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σ. Then the sample means are normal, centred on μ, with</a:t>
            </a:r>
            <a:endParaRPr lang="en-US" sz="15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σ/√n.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236976"/>
            <a:ext cx="118872" cy="365760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3264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population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2735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normality assumed. Skewed, bimodal, discrete — it does not matter.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950208"/>
            <a:ext cx="118872" cy="365760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3977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finite μ and 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9867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real condition. Section 4 shows what happens without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663440"/>
            <a:ext cx="118872" cy="365760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4690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centred on 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7000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mean is unbiased — it is not systematically too high or low.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76672"/>
            <a:ext cx="118872" cy="365760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54041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/ √n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54132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spread. This is called the STANDARD ERROR, and it is the price list.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FOUR POPULATIONS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“Any population” really does mean any</a:t>
            </a:r>
            <a:endParaRPr lang="en-US" sz="3200" dirty="0"/>
          </a:p>
        </p:txBody>
      </p:sp>
      <p:pic>
        <p:nvPicPr>
          <p:cNvPr id="5" name="Image 0" descr="/home/claude/day27/fig/any_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36192"/>
            <a:ext cx="8686800" cy="33959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47488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212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at the fourth column. That population takes only three values — 0, 1 and 7 — and its means at n = 30 are visibly ragged and sit slightly off the curve. The theorem is an APPROXIMATION that improves with n, not a switch that flips at some sample size.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σ / √n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error — how wrong your average typically is</a:t>
            </a:r>
            <a:endParaRPr lang="en-US" sz="3200" dirty="0"/>
          </a:p>
        </p:txBody>
      </p:sp>
      <p:pic>
        <p:nvPicPr>
          <p:cNvPr id="5" name="Image 0" descr="/home/claude/day27/fig/se_shr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309360" cy="30217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572768"/>
            <a:ext cx="4297680" cy="2194560"/>
          </a:xfrm>
          <a:prstGeom prst="roundRect">
            <a:avLst>
              <a:gd name="adj" fmla="val 37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571232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numbers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210312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is how spread out the DATA is. It does not change when you collect more.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= σ/√n  is how spread out the MEANS are. It shrinks as you collect more.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two is the second most common error in this topic.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0" y="3886200"/>
            <a:ext cx="4297680" cy="1965960"/>
          </a:xfrm>
          <a:prstGeom prst="roundRect">
            <a:avLst>
              <a:gd name="adj" fmla="val 418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571232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71232" y="4370832"/>
            <a:ext cx="3840480" cy="914400"/>
          </a:xfrm>
          <a:prstGeom prst="roundRect">
            <a:avLst>
              <a:gd name="adj" fmla="val 7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35824" y="4480560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data.std(ddof=1)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sd / np.sqrt(len(data))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571232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ddof=1, because you are estimating σ from a sample — Day 23.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THE √n LAW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is expensive, and the price is fixed</a:t>
            </a:r>
            <a:endParaRPr lang="en-US" sz="3200" dirty="0"/>
          </a:p>
        </p:txBody>
      </p:sp>
      <p:pic>
        <p:nvPicPr>
          <p:cNvPr id="5" name="Image 0" descr="/home/claude/day27/fig/sqrt_l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492240" cy="28537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572768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626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times the data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62672" y="21031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 only twice the precision. Not four times.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halve your error bars again you need another 4×, and then another. Going from n = 100 to n = 1600 is sixteen times the cost for four times the precision.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977640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62672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worth knowing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44805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arithmetic behind every “how many users do we need?” conversation. If someone asks you to halve the width of a confidence interval, the answer is four times the data — and that is a budget, not a detail.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Large Is Large Enough?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= 30 rule is not true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rule claims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decides it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THE TEST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“n = 30 is enough” is simply not true</a:t>
            </a:r>
            <a:endParaRPr lang="en-US" sz="3200" dirty="0"/>
          </a:p>
        </p:txBody>
      </p:sp>
      <p:pic>
        <p:nvPicPr>
          <p:cNvPr id="5" name="Image 0" descr="/home/claude/day27/fig/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400800" cy="2951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572768"/>
            <a:ext cx="4206240" cy="2103120"/>
          </a:xfrm>
          <a:prstGeom prst="roundRect">
            <a:avLst>
              <a:gd name="adj" fmla="val 3913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626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measured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62672" y="21031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sample, build a 95% confidence interval, and check whether it actually contains the true mean. Repeat 4,000 times.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method works, 95% of them should.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794760"/>
            <a:ext cx="4206240" cy="2057400"/>
          </a:xfrm>
          <a:prstGeom prst="roundRect">
            <a:avLst>
              <a:gd name="adj" fmla="val 4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62672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30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62672" y="4279392"/>
          <a:ext cx="3749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02920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68680" y="51755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lognormal data — which is what income, spend, file size and session length all look like — your “95%” interval is really an 87% interval. And even at n = 500 it has only reached 94%.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THE SKEW RULE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that actually decides how big n must be</a:t>
            </a:r>
            <a:endParaRPr lang="en-US" sz="3200" dirty="0"/>
          </a:p>
        </p:txBody>
      </p:sp>
      <p:pic>
        <p:nvPicPr>
          <p:cNvPr id="5" name="Image 0" descr="/home/claude/day27/fig/skew_r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400800" cy="30758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572768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626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of the mean  =  skew / √n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62672" y="21031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exact, not a rule of thumb. The sample mean inherits the population's skew, divided by √n.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“how large is large enough” has a real answer: large enough that this number is small.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977640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662672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44805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 mean-skew near 0.3 and the required n falls out: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skew 0.5  →  n ≈ 3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skew 2    →  n ≈ 44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skew 6    →  n ≈ 400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6675120" cy="868680"/>
          </a:xfrm>
          <a:prstGeom prst="roundRect">
            <a:avLst>
              <a:gd name="adj" fmla="val 9474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13892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honest rule is: measure your data's skew first, then pick n. A mildly skewed population is fine at a handful of observations; a heavily skewed one is still not fine at n = 100. The number 30 appears nowhere in this reasoning.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Fails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lose the guarantee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variance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INFINITE VARIANCE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failure: when σ does not exist</a:t>
            </a:r>
            <a:endParaRPr lang="en-US" sz="3200" dirty="0"/>
          </a:p>
        </p:txBody>
      </p:sp>
      <p:pic>
        <p:nvPicPr>
          <p:cNvPr id="5" name="Image 0" descr="/home/claude/day27/fig/cauchy_f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2966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5486400" cy="1280160"/>
          </a:xfrm>
          <a:prstGeom prst="roundRect">
            <a:avLst>
              <a:gd name="adj" fmla="val 642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panel is the law of large numbers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010912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data and the running average settles down. This is what everyone expects averages to 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457200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panel never settles, at any 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01091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a Cauchy mean is the SAME at n = 1 and at n = 10,000. Collecting more data buys you nothing at all.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HEAVY TAILS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happens, and where you would meet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 needed a finite σ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4884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Cauchy has a tail so heavy that its variance is infinite — not large, infinite. σ/√n is then ∞/√n, which is no promise at all.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practice: one enormous observation arrives and drags the average with it. Then a bigger one arrives. The average never converges because the next outlier is always big enough to move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2514600"/>
          </a:xfrm>
          <a:prstGeom prst="roundRect">
            <a:avLst>
              <a:gd name="adj" fmla="val 3273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65392" y="17647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that behaves like this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48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— one hurricane dwarfs a decade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and some income distributions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and firm sizes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returns in a crisis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sizes and network traffic bursts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53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test, and what to do instead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8231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running mean of your own data as you add observations. If it is still jumping after thousands of points, the mean may not be a sensible summary at all — use the median, or a trimmed mean, and say so. Reporting “average claim size” for insurance is a well-known way to be confidently wrong.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DEPENDENCE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failure: when the observations are not independent</a:t>
            </a:r>
            <a:endParaRPr lang="en-US" sz="3200" dirty="0"/>
          </a:p>
        </p:txBody>
      </p:sp>
      <p:pic>
        <p:nvPicPr>
          <p:cNvPr id="5" name="Image 0" descr="/home/claude/day27/fig/depen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27467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4700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observations, worth about 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today's value partly repeats yesterday's, each new reading carries less new information than an independent one would. Here σ/√n says the standard error is 0.10; the truth is 0.29. Every confidence interval built on it is three times too narrow, and every p-value far too small.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THE CHECKLIST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lean on the theorem, check four things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47088"/>
            <a:ext cx="457200" cy="457200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σ finite?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8836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running mean. If it is still jumping after thousands of points, stop.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871216"/>
            <a:ext cx="457200" cy="457200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797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observations independent?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907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measures on the same people, or anything over time, usually are not.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895344"/>
            <a:ext cx="457200" cy="45720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03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skewed is the population?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stats.skew(data). Then n ≈ (skew / 0.3)² is a defensible starting point.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919472"/>
            <a:ext cx="457200" cy="45720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828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talking about the data or the mean?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9560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 only ever licensed a claim about the mean.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1 and 2 are pass/fail — if they fail, the theorem gives you nothing. Check 3 is a dial, not a gate. Check 4 is free and catches the most common error of all.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Buys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confidence interval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95% actually means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·  A FULL 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through: what is our average customer worth?</a:t>
            </a:r>
            <a:endParaRPr lang="en-US" sz="3200" dirty="0"/>
          </a:p>
        </p:txBody>
      </p:sp>
      <p:pic>
        <p:nvPicPr>
          <p:cNvPr id="5" name="Image 0" descr="/home/claude/day27/fig/sp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36192"/>
            <a:ext cx="10698480" cy="31218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5488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will never be normal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1937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4.75. The typical customer spends 25; the average is 37, pulled up by a long tail. A normality test on this returns p = 4e-18 and always will.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754880"/>
            <a:ext cx="5303520" cy="1097280"/>
          </a:xfrm>
          <a:prstGeom prst="roundRect">
            <a:avLst>
              <a:gd name="adj" fmla="val 75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882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need to be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519379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of 200 has skew 0.34 — 4.75 divided by √200 — and sits almost exactly on the normal curve. That is the object we put an interval around.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·  THE ARITHMETIC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interval, one line at a time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520440"/>
          </a:xfrm>
          <a:prstGeom prst="roundRect">
            <a:avLst>
              <a:gd name="adj" fmla="val 181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we surveyed 200 customers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   = 200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xbar  = sample.mean()           # 33.41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   = sample.std(ddof=1)      # 34.80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--- 1. how wrong is this average likely to be?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sd / np.sqrt(n)            # 2.460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--- 2. the CLT says the mean is normal, so: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= xbar - 1.96 * se           # 28.58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= xbar + 1.96 * se           # 38.23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print(f"average spend: {xbar:.2f}  (95% CI {lo:.2f} to {hi:.2f})")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the sample itself is wildly non-normal: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stats.skew(sample)              # 3.01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stats.shapiro(sample).pvalue    # 3.6e-18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and that does not matter here.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810512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ddof=1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9842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σ from a sample — Day 23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350008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468880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√n, not ÷ 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6426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slip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3008376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3127248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3054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 is from Day 24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33009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2.5% in each tail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666744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78561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is about the MEAN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9593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where customers fall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4325112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4443984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4370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 fails — and is irrelevant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6177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tested the data, not the mean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98348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5102352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5029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mean is 36.78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52760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caught it, this time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961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left rests on one assumption: that the mean of 200 is normal. The CLT is what lets you assume it, and section 3 is how you check whether 200 was enough.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·  READING IT HONESTLY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“95% confident” actually means</a:t>
            </a:r>
            <a:endParaRPr lang="en-US" sz="3200" dirty="0"/>
          </a:p>
        </p:txBody>
      </p:sp>
      <p:pic>
        <p:nvPicPr>
          <p:cNvPr id="5" name="Image 0" descr="/home/claude/day27/fig/ci_m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943600" cy="3223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572768"/>
            <a:ext cx="4663440" cy="2103120"/>
          </a:xfrm>
          <a:prstGeom prst="roundRect">
            <a:avLst>
              <a:gd name="adj" fmla="val 391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205472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a long-run property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05472" y="210312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green bar is one survey's interval. The dashed line is the truth, which in real life you never see.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“95% confident” means: if you repeated the whole survey forever, 95% of the intervals you built would contain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3794760"/>
            <a:ext cx="4663440" cy="2057400"/>
          </a:xfrm>
          <a:prstGeom prst="roundRect">
            <a:avLst>
              <a:gd name="adj" fmla="val 4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205472" y="3950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What it does NOT mean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05472" y="429768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 95% chance the true mean is in THIS interval”. Your interval either contains it or it does not — there is no chance left in it.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 “95% of customers spend between 33 and 41”. That is a statement about people; this is a statement about an average.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937760"/>
            <a:ext cx="612648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08406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40 intervals missed. That is the method working as advertised — at 95%, missing about 1 in 20 is the deal you signed. An interval that never missed would mean you were being too cautious.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·  WHY IT MATTERS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everything ahead of you is standing on this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28800"/>
            <a:ext cx="118872" cy="420624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755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± you have ever seen reported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28800"/>
            <a:ext cx="118872" cy="42062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755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 and z-tests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difference real?” — Day 28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743200"/>
            <a:ext cx="118872" cy="42062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670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25's checkout experiment, done properly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56032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4808" y="2743200"/>
            <a:ext cx="118872" cy="42062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2670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margins of error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±3% is σ/√n with n ≈ 1,000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657600"/>
            <a:ext cx="118872" cy="420624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limits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24's ±3σ charts, applied to batch means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3474720"/>
            <a:ext cx="54406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64808" y="3657600"/>
            <a:ext cx="118872" cy="42062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standard errors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3, every coefficient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the failure cases are not academic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109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CLT quietly does not hold — heavy tails, correlated observations, a badly skewed population with a small n — none of these methods announce it. They all return a number, and the number is too confident. That is the whole reason section 4 exists.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CLT mistakes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  <a:gridCol w="3200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 “n &gt; 30, so my data is normal”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never becomes 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theorem is about the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the raw data for normality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fails, and it was never relevant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about the mean instead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divided σ by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error is far too 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by √n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σ where you needed 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describes people, SE describes the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= σ/√n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n = 30 on skewed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“95%” interval covering 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≈ (skew / 0.3)²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averaged heavy-tailed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mean never settles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the running mean; use a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 time series as if independent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intervals 3x too narrow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n, not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CI as “95% of customers”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about the mean, not people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“the average is between…”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 and 2 are the same misunderstanding and between them they account for most of the trouble people have with this topic.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 CLT health check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clt_check(data, n):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"""Can I trust a CLT-based interval from n of these?"""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 = np.asarray(data)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 = stats.skew(d)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1. does the mean settle at all?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 = np.cumsum(d) / np.arange(1, len(d) + 1)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= run[len(d)//2:]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drift = (tail.max() - tail.min()) / abs(d.mean())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2. how skewed will the sample mean be?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mean_skew = sk / np.sqrt(n)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3. what n would this population actually need?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n_needed = (sk / 0.3) ** 2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print(f"population skew   {sk:8.2f}")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print(f"running-mean drift{drift:8.2%}")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print(f"skew of mean(n={n}) {mean_skew:6.2f}")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print(f"n for skew 0.3    {n_needed:8.0f}")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print("verdict:", "OK" if abs(mean_skew) &lt; 0.3 and drift &lt; .05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else "use a bootstrap or a bigger n")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8196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checks, it does not assume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993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beat one rule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3774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5054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catches heavy tails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679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that will not settle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31912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3118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skew/√n is the real criterion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33649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sample size alone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7490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8770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803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n_needed is actionable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40507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to go and collect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44348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45628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4489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see dependence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7365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single-sample check can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51206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52486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5175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before every interval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5422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one line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984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note matters: nothing you can compute from one sample will tell you whether your observations were independent. Only knowing how the data was collected will.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28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665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vs σ, √n, skew of the mean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865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61488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642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9809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÷n, the wrong distribution, a bad CI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79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75888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557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953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Simulate, measure, size an experiment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590288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471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097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theorem, then rescue it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6085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45920"/>
            <a:ext cx="3200400" cy="2907792"/>
          </a:xfrm>
          <a:prstGeom prst="roundRect">
            <a:avLst>
              <a:gd name="adj" fmla="val 283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013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1671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Day27_Practice_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88036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or the mean of the data?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√n, never 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before you trust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550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asks you to construct a dataset where the CLT visibly fails, and then to produce a correct interval for it anyway. Both halves are the point.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Your DATA and your SAMPLE MEAN are two different distributions.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 is about the mean. It says nothing about the data.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means are normal, centred on μ, with sd σ/√n — from ANY population.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σ/√n is the STANDARD ERROR. σ describes people; SE describes the average.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 law: 4x the data buys 2x the precision. That is a budget.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data never becomes normal. A million salaries are still skewed.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“n = 30 is enough” is false. On lognormal data it gives an 87% interval.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of the mean = population skew / √n. Exact, and it decides 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rule:  n ≈ (skew / 0.3)².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Fails with infinite variance — a Cauchy mean never settles, at any 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Fails with dependence — 100 correlated points were worth 12.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interval, p-value and A/B test ahead of you rests on this.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clt_check on every numeric column of your Day 21 project and say which ones you could safely build an interval from  ·  Find a published ± figure and work out what n it implies  ·  Take one skewed column and find the n its skew actually demands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2.8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testing. Today you learned how far a sample mean typically lands from the truth. Next class turns that into a decision procedure: is this difference real, or is it the √n noise we just measured?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27 - The Central Limit Theorem</dc:title>
  <dc:subject>PptxGenJS Presentation</dc:subject>
  <dc:creator>Data Science Program</dc:creator>
  <cp:lastModifiedBy>Data Science Program</cp:lastModifiedBy>
  <cp:revision>1</cp:revision>
  <dcterms:created xsi:type="dcterms:W3CDTF">2026-10-13T04:10:52Z</dcterms:created>
  <dcterms:modified xsi:type="dcterms:W3CDTF">2026-10-13T04:10:52Z</dcterms:modified>
</cp:coreProperties>
</file>