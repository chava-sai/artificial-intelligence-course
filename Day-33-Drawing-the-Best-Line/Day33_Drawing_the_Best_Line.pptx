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31: what a model is. Day 32: getting the columns into shape. Today we actually BUILD one, and it is the simplest model there is - a straight line. Everything after this is a variation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them. The maths today is school maths. The ideas are the real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the class what they would guess for 6 hours. Most will say 'about 72'. That instinct IS the model - we are about to make it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diamond is the prediction. Stress: the line does not store the five students. It stores TWO NUMBERS, and those two numbers answer every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mark = 8 x hours + 26 on the board. Ask: what does the 8 mean in PLAIN ENGLISH? Keep asking until someone says 'an extra hour is worth 8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past this. The honest situation is that 'best' is undefined until we define it. The next section defines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actual MINUS line, in that order, so that a positive error means we under-predicted. Be consistent or the signs will confuse them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Ask them WHY the second line scores zero before you explain. Someone will spot the cancellation.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0 in the error column and the 14 next to it. One column is useless, the other is a real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squares are drawn to scale. Let them see that a long error makes a BIG square, not a slightly bigger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method that just ignores the sign - it is called MAE, and we use it later for REPORTING. For FITTING, squares win because they are smooth and easy to minimise.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'exactly one bottom'. In Day 38 onwards with bigger models this stops being true, and that is when things get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derive it. Just make it readable. The point of the next slide is to make it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hours is 3, average mark is 50. Have them check one row with you, then let them do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transferable idea of the day. They will meet gradient descent again in every deep learning course they ever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nudge is a derivative, but you do not need to say so. 'The direction that makes the error smaller' is the honest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slope row: it overshoots to 13.8 before coming back. Tell them to watch the ERROR, not the slope - the error only ever goes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Breathe here. This is the end of the hard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say it out loud. Seriously. 'One extra hour is worth eight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 1 means perfect. R2 = 0 means no better than the average. R2 BELOW zero means worse than the average, which does happen on hidden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1.00 row matters. On Day 31 a perfect training score meant memorising. Here it usually means the answer leaked into the inputs.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diagnostic in regression and it takes one line of code. Make them promise to draw it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not a better line. The fix is a curve, or a different feature. We meet both later in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running live if you can. The thrill is seeing the hand answer come back out of the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slope dropped from 8 to 5.44. Five students was never enough to pin it down - that is the real lesson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back explicitly to Day 31. Simple models underfit; they rarely overfit. That trade-off is the whole of Day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for life: a model is only trustworthy inside the range of the data it saw. Outside it, you are not predicting, you are extending a pencil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habit is worth more to them than any single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strip left to right. They will use this exact sequence for every model in the rest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Causation deserves its own minute. The line is agnostic about WHY the two move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lines. If they leave with these, the day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A is deliberately pen-and-paper. The numbers are small enough to do in the margin.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Tomorrow: two inputs instead of one. The maths barely changes; the picture becomes a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F33"/>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3E7CB1"/>
          </a:solidFill>
          <a:ln w="12700">
            <a:solidFill>
              <a:srgbClr val="333333"/>
            </a:solidFill>
            <a:prstDash val="solid"/>
          </a:ln>
        </p:spPr>
      </p:sp>
      <p:sp>
        <p:nvSpPr>
          <p:cNvPr id="3" name="Shape 1"/>
          <p:cNvSpPr/>
          <p:nvPr/>
        </p:nvSpPr>
        <p:spPr>
          <a:xfrm>
            <a:off x="9052560" y="-1645920"/>
            <a:ext cx="5120640" cy="5120640"/>
          </a:xfrm>
          <a:prstGeom prst="ellipse">
            <a:avLst/>
          </a:prstGeom>
          <a:solidFill>
            <a:srgbClr val="1A2A44"/>
          </a:solidFill>
          <a:ln w="12700">
            <a:solidFill>
              <a:srgbClr val="333333"/>
            </a:solidFill>
            <a:prstDash val="solid"/>
          </a:ln>
        </p:spPr>
      </p:sp>
      <p:sp>
        <p:nvSpPr>
          <p:cNvPr id="4" name="Shape 2"/>
          <p:cNvSpPr/>
          <p:nvPr/>
        </p:nvSpPr>
        <p:spPr>
          <a:xfrm>
            <a:off x="10332720" y="4114800"/>
            <a:ext cx="3291840" cy="3291840"/>
          </a:xfrm>
          <a:prstGeom prst="ellipse">
            <a:avLst/>
          </a:prstGeom>
          <a:solidFill>
            <a:srgbClr val="16243C"/>
          </a:solidFill>
          <a:ln w="12700">
            <a:solidFill>
              <a:srgbClr val="333333"/>
            </a:solidFill>
            <a:prstDash val="solid"/>
          </a:ln>
        </p:spPr>
      </p:sp>
      <p:sp>
        <p:nvSpPr>
          <p:cNvPr id="5" name="Text 3"/>
          <p:cNvSpPr txBox="1"/>
          <p:nvPr/>
        </p:nvSpPr>
        <p:spPr>
          <a:xfrm>
            <a:off x="914400" y="1417320"/>
            <a:ext cx="8229600" cy="292608"/>
          </a:xfrm>
          <a:prstGeom prst="rect">
            <a:avLst/>
          </a:prstGeom>
          <a:noFill/>
          <a:ln/>
        </p:spPr>
        <p:txBody>
          <a:bodyPr wrap="square" lIns="0" tIns="0" rIns="0" bIns="0" rtlCol="0" anchor="ctr"/>
          <a:lstStyle/>
          <a:p>
            <a:pPr indent="0" marL="0">
              <a:buNone/>
            </a:pPr>
            <a:r>
              <a:rPr lang="en-US" sz="1250" b="1" spc="240" kern="0" dirty="0">
                <a:solidFill>
                  <a:srgbClr val="F0A530"/>
                </a:solidFill>
                <a:latin typeface="Calibri" pitchFamily="34" charset="0"/>
                <a:ea typeface="Calibri" pitchFamily="34" charset="-122"/>
                <a:cs typeface="Calibri" pitchFamily="34" charset="-120"/>
              </a:rPr>
              <a:t>MODULE 3  ·  MACHINE LEARNING  ·  DAY 33</a:t>
            </a:r>
            <a:endParaRPr lang="en-US" sz="1250" dirty="0"/>
          </a:p>
        </p:txBody>
      </p:sp>
      <p:sp>
        <p:nvSpPr>
          <p:cNvPr id="6" name="Text 4"/>
          <p:cNvSpPr txBox="1"/>
          <p:nvPr/>
        </p:nvSpPr>
        <p:spPr>
          <a:xfrm>
            <a:off x="914400" y="1828800"/>
            <a:ext cx="8229600" cy="73152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Drawing the</a:t>
            </a:r>
            <a:endParaRPr lang="en-US" sz="4200" dirty="0"/>
          </a:p>
        </p:txBody>
      </p:sp>
      <p:sp>
        <p:nvSpPr>
          <p:cNvPr id="7" name="Text 5"/>
          <p:cNvSpPr txBox="1"/>
          <p:nvPr/>
        </p:nvSpPr>
        <p:spPr>
          <a:xfrm>
            <a:off x="914400" y="2578608"/>
            <a:ext cx="8229600" cy="731520"/>
          </a:xfrm>
          <a:prstGeom prst="rect">
            <a:avLst/>
          </a:prstGeom>
          <a:noFill/>
          <a:ln/>
        </p:spPr>
        <p:txBody>
          <a:bodyPr wrap="square" lIns="0" tIns="0" rIns="0" bIns="0" rtlCol="0" anchor="ctr"/>
          <a:lstStyle/>
          <a:p>
            <a:pPr indent="0" marL="0">
              <a:buNone/>
            </a:pPr>
            <a:r>
              <a:rPr lang="en-US" sz="4200" b="1" dirty="0">
                <a:solidFill>
                  <a:srgbClr val="8FB4D9"/>
                </a:solidFill>
                <a:latin typeface="Georgia" pitchFamily="34" charset="0"/>
                <a:ea typeface="Georgia" pitchFamily="34" charset="-122"/>
                <a:cs typeface="Georgia" pitchFamily="34" charset="-120"/>
              </a:rPr>
              <a:t>Best Line</a:t>
            </a:r>
            <a:endParaRPr lang="en-US" sz="4200" dirty="0"/>
          </a:p>
        </p:txBody>
      </p:sp>
      <p:sp>
        <p:nvSpPr>
          <p:cNvPr id="8" name="Text 6"/>
          <p:cNvSpPr txBox="1"/>
          <p:nvPr/>
        </p:nvSpPr>
        <p:spPr>
          <a:xfrm>
            <a:off x="932688" y="3456432"/>
            <a:ext cx="7863840" cy="365760"/>
          </a:xfrm>
          <a:prstGeom prst="rect">
            <a:avLst/>
          </a:prstGeom>
          <a:noFill/>
          <a:ln/>
        </p:spPr>
        <p:txBody>
          <a:bodyPr wrap="square" lIns="0" tIns="0" rIns="0" bIns="0" rtlCol="0" anchor="ctr"/>
          <a:lstStyle/>
          <a:p>
            <a:pPr indent="0" marL="0">
              <a:buNone/>
            </a:pPr>
            <a:r>
              <a:rPr lang="en-US" sz="1550" i="1" dirty="0">
                <a:solidFill>
                  <a:srgbClr val="AEC0D8"/>
                </a:solidFill>
                <a:latin typeface="Calibri" pitchFamily="34" charset="0"/>
                <a:ea typeface="Calibri" pitchFamily="34" charset="-122"/>
                <a:cs typeface="Calibri" pitchFamily="34" charset="-120"/>
              </a:rPr>
              <a:t>Your first machine learning model — simple linear regression.</a:t>
            </a:r>
            <a:endParaRPr lang="en-US" sz="1550" dirty="0"/>
          </a:p>
        </p:txBody>
      </p:sp>
      <p:sp>
        <p:nvSpPr>
          <p:cNvPr id="9" name="Shape 7"/>
          <p:cNvSpPr/>
          <p:nvPr/>
        </p:nvSpPr>
        <p:spPr>
          <a:xfrm>
            <a:off x="914400" y="4160520"/>
            <a:ext cx="2240280" cy="914400"/>
          </a:xfrm>
          <a:prstGeom prst="roundRect">
            <a:avLst>
              <a:gd name="adj" fmla="val 10000"/>
            </a:avLst>
          </a:prstGeom>
          <a:solidFill>
            <a:srgbClr val="1C2E4C"/>
          </a:solidFill>
          <a:ln w="12700">
            <a:solidFill>
              <a:srgbClr val="333333"/>
            </a:solidFill>
            <a:prstDash val="solid"/>
          </a:ln>
        </p:spPr>
      </p:sp>
      <p:sp>
        <p:nvSpPr>
          <p:cNvPr id="10" name="Text 8"/>
          <p:cNvSpPr txBox="1"/>
          <p:nvPr/>
        </p:nvSpPr>
        <p:spPr>
          <a:xfrm>
            <a:off x="1143000" y="4279392"/>
            <a:ext cx="1828800" cy="420624"/>
          </a:xfrm>
          <a:prstGeom prst="rect">
            <a:avLst/>
          </a:prstGeom>
          <a:noFill/>
          <a:ln/>
        </p:spPr>
        <p:txBody>
          <a:bodyPr wrap="square" lIns="0" tIns="0" rIns="0" bIns="0" rtlCol="0" anchor="ctr"/>
          <a:lstStyle/>
          <a:p>
            <a:pPr indent="0" marL="0">
              <a:buNone/>
            </a:pPr>
            <a:r>
              <a:rPr lang="en-US" sz="2600" b="1" dirty="0">
                <a:solidFill>
                  <a:srgbClr val="F0A530"/>
                </a:solidFill>
                <a:latin typeface="Georgia" pitchFamily="34" charset="0"/>
                <a:ea typeface="Georgia" pitchFamily="34" charset="-122"/>
                <a:cs typeface="Georgia" pitchFamily="34" charset="-120"/>
              </a:rPr>
              <a:t>5</a:t>
            </a:r>
            <a:endParaRPr lang="en-US" sz="2600" dirty="0"/>
          </a:p>
        </p:txBody>
      </p:sp>
      <p:sp>
        <p:nvSpPr>
          <p:cNvPr id="11" name="Text 9"/>
          <p:cNvSpPr txBox="1"/>
          <p:nvPr/>
        </p:nvSpPr>
        <p:spPr>
          <a:xfrm>
            <a:off x="1143000" y="4700016"/>
            <a:ext cx="1828800" cy="274320"/>
          </a:xfrm>
          <a:prstGeom prst="rect">
            <a:avLst/>
          </a:prstGeom>
          <a:noFill/>
          <a:ln/>
        </p:spPr>
        <p:txBody>
          <a:bodyPr wrap="square" lIns="0" tIns="0" rIns="0" bIns="0" rtlCol="0" anchor="ctr"/>
          <a:lstStyle/>
          <a:p>
            <a:pPr indent="0" marL="0">
              <a:buNone/>
            </a:pPr>
            <a:r>
              <a:rPr lang="en-US" sz="1150" dirty="0">
                <a:solidFill>
                  <a:srgbClr val="9FB2CC"/>
                </a:solidFill>
                <a:latin typeface="Calibri" pitchFamily="34" charset="0"/>
                <a:ea typeface="Calibri" pitchFamily="34" charset="-122"/>
                <a:cs typeface="Calibri" pitchFamily="34" charset="-120"/>
              </a:rPr>
              <a:t>sections</a:t>
            </a:r>
            <a:endParaRPr lang="en-US" sz="1150" dirty="0"/>
          </a:p>
        </p:txBody>
      </p:sp>
      <p:sp>
        <p:nvSpPr>
          <p:cNvPr id="12" name="Shape 10"/>
          <p:cNvSpPr/>
          <p:nvPr/>
        </p:nvSpPr>
        <p:spPr>
          <a:xfrm>
            <a:off x="3429000" y="4160520"/>
            <a:ext cx="2240280" cy="914400"/>
          </a:xfrm>
          <a:prstGeom prst="roundRect">
            <a:avLst>
              <a:gd name="adj" fmla="val 10000"/>
            </a:avLst>
          </a:prstGeom>
          <a:solidFill>
            <a:srgbClr val="1C2E4C"/>
          </a:solidFill>
          <a:ln w="12700">
            <a:solidFill>
              <a:srgbClr val="333333"/>
            </a:solidFill>
            <a:prstDash val="solid"/>
          </a:ln>
        </p:spPr>
      </p:sp>
      <p:sp>
        <p:nvSpPr>
          <p:cNvPr id="13" name="Text 11"/>
          <p:cNvSpPr txBox="1"/>
          <p:nvPr/>
        </p:nvSpPr>
        <p:spPr>
          <a:xfrm>
            <a:off x="3657600" y="4279392"/>
            <a:ext cx="1828800" cy="420624"/>
          </a:xfrm>
          <a:prstGeom prst="rect">
            <a:avLst/>
          </a:prstGeom>
          <a:noFill/>
          <a:ln/>
        </p:spPr>
        <p:txBody>
          <a:bodyPr wrap="square" lIns="0" tIns="0" rIns="0" bIns="0" rtlCol="0" anchor="ctr"/>
          <a:lstStyle/>
          <a:p>
            <a:pPr indent="0" marL="0">
              <a:buNone/>
            </a:pPr>
            <a:r>
              <a:rPr lang="en-US" sz="2600" b="1" dirty="0">
                <a:solidFill>
                  <a:srgbClr val="F0A530"/>
                </a:solidFill>
                <a:latin typeface="Georgia" pitchFamily="34" charset="0"/>
                <a:ea typeface="Georgia" pitchFamily="34" charset="-122"/>
                <a:cs typeface="Georgia" pitchFamily="34" charset="-120"/>
              </a:rPr>
              <a:t>17</a:t>
            </a:r>
            <a:endParaRPr lang="en-US" sz="2600" dirty="0"/>
          </a:p>
        </p:txBody>
      </p:sp>
      <p:sp>
        <p:nvSpPr>
          <p:cNvPr id="14" name="Text 12"/>
          <p:cNvSpPr txBox="1"/>
          <p:nvPr/>
        </p:nvSpPr>
        <p:spPr>
          <a:xfrm>
            <a:off x="3657600" y="4700016"/>
            <a:ext cx="1828800" cy="274320"/>
          </a:xfrm>
          <a:prstGeom prst="rect">
            <a:avLst/>
          </a:prstGeom>
          <a:noFill/>
          <a:ln/>
        </p:spPr>
        <p:txBody>
          <a:bodyPr wrap="square" lIns="0" tIns="0" rIns="0" bIns="0" rtlCol="0" anchor="ctr"/>
          <a:lstStyle/>
          <a:p>
            <a:pPr indent="0" marL="0">
              <a:buNone/>
            </a:pPr>
            <a:r>
              <a:rPr lang="en-US" sz="1150" dirty="0">
                <a:solidFill>
                  <a:srgbClr val="9FB2CC"/>
                </a:solidFill>
                <a:latin typeface="Calibri" pitchFamily="34" charset="0"/>
                <a:ea typeface="Calibri" pitchFamily="34" charset="-122"/>
                <a:cs typeface="Calibri" pitchFamily="34" charset="-120"/>
              </a:rPr>
              <a:t>worked pictures</a:t>
            </a:r>
            <a:endParaRPr lang="en-US" sz="1150" dirty="0"/>
          </a:p>
        </p:txBody>
      </p:sp>
      <p:sp>
        <p:nvSpPr>
          <p:cNvPr id="15" name="Shape 13"/>
          <p:cNvSpPr/>
          <p:nvPr/>
        </p:nvSpPr>
        <p:spPr>
          <a:xfrm>
            <a:off x="5943600" y="4160520"/>
            <a:ext cx="2240280" cy="914400"/>
          </a:xfrm>
          <a:prstGeom prst="roundRect">
            <a:avLst>
              <a:gd name="adj" fmla="val 10000"/>
            </a:avLst>
          </a:prstGeom>
          <a:solidFill>
            <a:srgbClr val="1C2E4C"/>
          </a:solidFill>
          <a:ln w="12700">
            <a:solidFill>
              <a:srgbClr val="333333"/>
            </a:solidFill>
            <a:prstDash val="solid"/>
          </a:ln>
        </p:spPr>
      </p:sp>
      <p:sp>
        <p:nvSpPr>
          <p:cNvPr id="16" name="Text 14"/>
          <p:cNvSpPr txBox="1"/>
          <p:nvPr/>
        </p:nvSpPr>
        <p:spPr>
          <a:xfrm>
            <a:off x="6172200" y="4279392"/>
            <a:ext cx="1828800" cy="420624"/>
          </a:xfrm>
          <a:prstGeom prst="rect">
            <a:avLst/>
          </a:prstGeom>
          <a:noFill/>
          <a:ln/>
        </p:spPr>
        <p:txBody>
          <a:bodyPr wrap="square" lIns="0" tIns="0" rIns="0" bIns="0" rtlCol="0" anchor="ctr"/>
          <a:lstStyle/>
          <a:p>
            <a:pPr indent="0" marL="0">
              <a:buNone/>
            </a:pPr>
            <a:r>
              <a:rPr lang="en-US" sz="2600" b="1" dirty="0">
                <a:solidFill>
                  <a:srgbClr val="F0A530"/>
                </a:solidFill>
                <a:latin typeface="Georgia" pitchFamily="34" charset="0"/>
                <a:ea typeface="Georgia" pitchFamily="34" charset="-122"/>
                <a:cs typeface="Georgia" pitchFamily="34" charset="-120"/>
              </a:rPr>
              <a:t>2</a:t>
            </a:r>
            <a:endParaRPr lang="en-US" sz="2600" dirty="0"/>
          </a:p>
        </p:txBody>
      </p:sp>
      <p:sp>
        <p:nvSpPr>
          <p:cNvPr id="17" name="Text 15"/>
          <p:cNvSpPr txBox="1"/>
          <p:nvPr/>
        </p:nvSpPr>
        <p:spPr>
          <a:xfrm>
            <a:off x="6172200" y="4700016"/>
            <a:ext cx="1828800" cy="274320"/>
          </a:xfrm>
          <a:prstGeom prst="rect">
            <a:avLst/>
          </a:prstGeom>
          <a:noFill/>
          <a:ln/>
        </p:spPr>
        <p:txBody>
          <a:bodyPr wrap="square" lIns="0" tIns="0" rIns="0" bIns="0" rtlCol="0" anchor="ctr"/>
          <a:lstStyle/>
          <a:p>
            <a:pPr indent="0" marL="0">
              <a:buNone/>
            </a:pPr>
            <a:r>
              <a:rPr lang="en-US" sz="1150" dirty="0">
                <a:solidFill>
                  <a:srgbClr val="9FB2CC"/>
                </a:solidFill>
                <a:latin typeface="Calibri" pitchFamily="34" charset="0"/>
                <a:ea typeface="Calibri" pitchFamily="34" charset="-122"/>
                <a:cs typeface="Calibri" pitchFamily="34" charset="-120"/>
              </a:rPr>
              <a:t>numbers to find</a:t>
            </a:r>
            <a:endParaRPr lang="en-US" sz="1150" dirty="0"/>
          </a:p>
        </p:txBody>
      </p:sp>
      <p:sp>
        <p:nvSpPr>
          <p:cNvPr id="18" name="Shape 16"/>
          <p:cNvSpPr/>
          <p:nvPr/>
        </p:nvSpPr>
        <p:spPr>
          <a:xfrm>
            <a:off x="9144000" y="1417320"/>
            <a:ext cx="2468880" cy="2468880"/>
          </a:xfrm>
          <a:prstGeom prst="roundRect">
            <a:avLst>
              <a:gd name="adj" fmla="val 4444"/>
            </a:avLst>
          </a:prstGeom>
          <a:solidFill>
            <a:srgbClr val="FFFFFF"/>
          </a:solidFill>
          <a:ln w="12700">
            <a:solidFill>
              <a:srgbClr val="333333"/>
            </a:solidFill>
            <a:prstDash val="solid"/>
          </a:ln>
          <a:effectLst>
            <a:outerShdw sx="100000" sy="100000" kx="0" ky="0" algn="bl" rotWithShape="0" blurRad="203200" dist="38100" dir="5400000">
              <a:srgbClr val="000000">
                <a:alpha val="40000"/>
              </a:srgbClr>
            </a:outerShdw>
          </a:effectLst>
        </p:spPr>
      </p:sp>
      <p:pic>
        <p:nvPicPr>
          <p:cNvPr id="19" name="Image 0" descr="/home/claude/d33n/bu_logo.png">    </p:cNvPr>
          <p:cNvPicPr>
            <a:picLocks noChangeAspect="1"/>
          </p:cNvPicPr>
          <p:nvPr/>
        </p:nvPicPr>
        <p:blipFill>
          <a:blip r:embed="rId1"/>
          <a:stretch>
            <a:fillRect/>
          </a:stretch>
        </p:blipFill>
        <p:spPr>
          <a:xfrm>
            <a:off x="9445752" y="1764792"/>
            <a:ext cx="1865376" cy="1737360"/>
          </a:xfrm>
          <a:prstGeom prst="rect">
            <a:avLst/>
          </a:prstGeom>
        </p:spPr>
      </p:pic>
      <p:sp>
        <p:nvSpPr>
          <p:cNvPr id="20" name="Text 17"/>
          <p:cNvSpPr txBox="1"/>
          <p:nvPr/>
        </p:nvSpPr>
        <p:spPr>
          <a:xfrm>
            <a:off x="9144000" y="4005072"/>
            <a:ext cx="2468880" cy="274320"/>
          </a:xfrm>
          <a:prstGeom prst="rect">
            <a:avLst/>
          </a:prstGeom>
          <a:noFill/>
          <a:ln/>
        </p:spPr>
        <p:txBody>
          <a:bodyPr wrap="square" lIns="0" tIns="0" rIns="0" bIns="0" rtlCol="0" anchor="ctr"/>
          <a:lstStyle/>
          <a:p>
            <a:pPr algn="ctr" indent="0" marL="0">
              <a:buNone/>
            </a:pPr>
            <a:r>
              <a:rPr lang="en-US" sz="1150" b="1" dirty="0">
                <a:solidFill>
                  <a:srgbClr val="AEC0D8"/>
                </a:solidFill>
                <a:latin typeface="Calibri" pitchFamily="34" charset="0"/>
                <a:ea typeface="Calibri" pitchFamily="34" charset="-122"/>
                <a:cs typeface="Calibri" pitchFamily="34" charset="-120"/>
              </a:rPr>
              <a:t>Boston University</a:t>
            </a:r>
            <a:endParaRPr lang="en-US" sz="1150" dirty="0"/>
          </a:p>
        </p:txBody>
      </p:sp>
      <p:sp>
        <p:nvSpPr>
          <p:cNvPr id="21" name="Text 18"/>
          <p:cNvSpPr txBox="1"/>
          <p:nvPr/>
        </p:nvSpPr>
        <p:spPr>
          <a:xfrm>
            <a:off x="932688" y="585216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0A530"/>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Text 1"/>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3E7CB1"/>
                </a:solidFill>
                <a:latin typeface="Calibri" pitchFamily="34" charset="0"/>
                <a:ea typeface="Calibri" pitchFamily="34" charset="-122"/>
                <a:cs typeface="Calibri" pitchFamily="34" charset="-120"/>
              </a:rPr>
              <a:t>WHERE WE ARE</a:t>
            </a:r>
            <a:endParaRPr lang="en-US" sz="1100" dirty="0"/>
          </a:p>
        </p:txBody>
      </p:sp>
      <p:sp>
        <p:nvSpPr>
          <p:cNvPr id="4" name="Text 2"/>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Today you build a model, not just talk about one</a:t>
            </a:r>
            <a:endParaRPr lang="en-US" sz="2700" dirty="0"/>
          </a:p>
        </p:txBody>
      </p:sp>
      <p:sp>
        <p:nvSpPr>
          <p:cNvPr id="5" name="Shape 3"/>
          <p:cNvSpPr/>
          <p:nvPr/>
        </p:nvSpPr>
        <p:spPr>
          <a:xfrm>
            <a:off x="585216" y="1444752"/>
            <a:ext cx="640080" cy="50292"/>
          </a:xfrm>
          <a:prstGeom prst="roundRect">
            <a:avLst>
              <a:gd name="adj" fmla="val 45455"/>
            </a:avLst>
          </a:prstGeom>
          <a:solidFill>
            <a:srgbClr val="3E7CB1"/>
          </a:solidFill>
          <a:ln w="12700">
            <a:solidFill>
              <a:srgbClr val="333333"/>
            </a:solidFill>
            <a:prstDash val="solid"/>
          </a:ln>
        </p:spPr>
      </p:sp>
      <p:sp>
        <p:nvSpPr>
          <p:cNvPr id="6" name="Shape 4"/>
          <p:cNvSpPr/>
          <p:nvPr/>
        </p:nvSpPr>
        <p:spPr>
          <a:xfrm>
            <a:off x="566928" y="1783080"/>
            <a:ext cx="3590544" cy="1371600"/>
          </a:xfrm>
          <a:prstGeom prst="roundRect">
            <a:avLst>
              <a:gd name="adj" fmla="val 666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7" name="Shape 5"/>
          <p:cNvSpPr/>
          <p:nvPr/>
        </p:nvSpPr>
        <p:spPr>
          <a:xfrm>
            <a:off x="566928" y="1783080"/>
            <a:ext cx="3590544" cy="64008"/>
          </a:xfrm>
          <a:prstGeom prst="roundRect">
            <a:avLst>
              <a:gd name="adj" fmla="val 42857"/>
            </a:avLst>
          </a:prstGeom>
          <a:solidFill>
            <a:srgbClr val="3E7CB1"/>
          </a:solidFill>
          <a:ln w="12700">
            <a:solidFill>
              <a:srgbClr val="333333"/>
            </a:solidFill>
            <a:prstDash val="solid"/>
          </a:ln>
        </p:spPr>
      </p:sp>
      <p:sp>
        <p:nvSpPr>
          <p:cNvPr id="8" name="Shape 6"/>
          <p:cNvSpPr/>
          <p:nvPr/>
        </p:nvSpPr>
        <p:spPr>
          <a:xfrm>
            <a:off x="749808" y="1984248"/>
            <a:ext cx="347472" cy="347472"/>
          </a:xfrm>
          <a:prstGeom prst="ellipse">
            <a:avLst/>
          </a:prstGeom>
          <a:solidFill>
            <a:srgbClr val="3E7CB1"/>
          </a:solidFill>
          <a:ln w="12700">
            <a:solidFill>
              <a:srgbClr val="333333"/>
            </a:solidFill>
            <a:prstDash val="solid"/>
          </a:ln>
        </p:spPr>
      </p:sp>
      <p:sp>
        <p:nvSpPr>
          <p:cNvPr id="9" name="Text 7"/>
          <p:cNvSpPr txBox="1"/>
          <p:nvPr/>
        </p:nvSpPr>
        <p:spPr>
          <a:xfrm>
            <a:off x="749808" y="198424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170432" y="2002536"/>
            <a:ext cx="2813304" cy="329184"/>
          </a:xfrm>
          <a:prstGeom prst="rect">
            <a:avLst/>
          </a:prstGeom>
          <a:noFill/>
          <a:ln/>
        </p:spPr>
        <p:txBody>
          <a:bodyPr wrap="square" lIns="0" tIns="0" rIns="0" bIns="0" rtlCol="0" anchor="ctr"/>
          <a:lstStyle/>
          <a:p>
            <a:pPr indent="0" marL="0">
              <a:buNone/>
            </a:pPr>
            <a:r>
              <a:rPr lang="en-US" sz="1300" b="1" dirty="0">
                <a:solidFill>
                  <a:srgbClr val="1B3558"/>
                </a:solidFill>
                <a:latin typeface="Calibri" pitchFamily="34" charset="0"/>
                <a:ea typeface="Calibri" pitchFamily="34" charset="-122"/>
                <a:cs typeface="Calibri" pitchFamily="34" charset="-120"/>
              </a:rPr>
              <a:t>Day 31</a:t>
            </a:r>
            <a:endParaRPr lang="en-US" sz="1300" dirty="0"/>
          </a:p>
        </p:txBody>
      </p:sp>
      <p:sp>
        <p:nvSpPr>
          <p:cNvPr id="11" name="Text 9"/>
          <p:cNvSpPr txBox="1"/>
          <p:nvPr/>
        </p:nvSpPr>
        <p:spPr>
          <a:xfrm>
            <a:off x="768096" y="2404872"/>
            <a:ext cx="3188208" cy="603504"/>
          </a:xfrm>
          <a:prstGeom prst="rect">
            <a:avLst/>
          </a:prstGeom>
          <a:noFill/>
          <a:ln/>
        </p:spPr>
        <p:txBody>
          <a:bodyPr wrap="square" lIns="0" tIns="0" rIns="0" bIns="0" rtlCol="0" anchor="ctr"/>
          <a:lstStyle/>
          <a:p>
            <a:pPr indent="0" marL="0">
              <a:lnSpc>
                <a:spcPct val="120000"/>
              </a:lnSpc>
              <a:buNone/>
            </a:pPr>
            <a:r>
              <a:rPr lang="en-US" sz="1150" dirty="0">
                <a:solidFill>
                  <a:srgbClr val="33415A"/>
                </a:solidFill>
                <a:latin typeface="Calibri" pitchFamily="34" charset="0"/>
                <a:ea typeface="Calibri" pitchFamily="34" charset="-122"/>
                <a:cs typeface="Calibri" pitchFamily="34" charset="-120"/>
              </a:rPr>
              <a:t>What a model IS. Features, labels, and why we hide rows.</a:t>
            </a:r>
            <a:endParaRPr lang="en-US" sz="1150" dirty="0"/>
          </a:p>
        </p:txBody>
      </p:sp>
      <p:sp>
        <p:nvSpPr>
          <p:cNvPr id="12" name="Shape 10"/>
          <p:cNvSpPr/>
          <p:nvPr/>
        </p:nvSpPr>
        <p:spPr>
          <a:xfrm>
            <a:off x="4303776" y="1783080"/>
            <a:ext cx="3590544" cy="1371600"/>
          </a:xfrm>
          <a:prstGeom prst="roundRect">
            <a:avLst>
              <a:gd name="adj" fmla="val 666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3" name="Shape 11"/>
          <p:cNvSpPr/>
          <p:nvPr/>
        </p:nvSpPr>
        <p:spPr>
          <a:xfrm>
            <a:off x="4303776" y="1783080"/>
            <a:ext cx="3590544" cy="64008"/>
          </a:xfrm>
          <a:prstGeom prst="roundRect">
            <a:avLst>
              <a:gd name="adj" fmla="val 42857"/>
            </a:avLst>
          </a:prstGeom>
          <a:solidFill>
            <a:srgbClr val="8268B5"/>
          </a:solidFill>
          <a:ln w="12700">
            <a:solidFill>
              <a:srgbClr val="333333"/>
            </a:solidFill>
            <a:prstDash val="solid"/>
          </a:ln>
        </p:spPr>
      </p:sp>
      <p:sp>
        <p:nvSpPr>
          <p:cNvPr id="14" name="Shape 12"/>
          <p:cNvSpPr/>
          <p:nvPr/>
        </p:nvSpPr>
        <p:spPr>
          <a:xfrm>
            <a:off x="4486656" y="1984248"/>
            <a:ext cx="347472" cy="347472"/>
          </a:xfrm>
          <a:prstGeom prst="ellipse">
            <a:avLst/>
          </a:prstGeom>
          <a:solidFill>
            <a:srgbClr val="8268B5"/>
          </a:solidFill>
          <a:ln w="12700">
            <a:solidFill>
              <a:srgbClr val="333333"/>
            </a:solidFill>
            <a:prstDash val="solid"/>
          </a:ln>
        </p:spPr>
      </p:sp>
      <p:sp>
        <p:nvSpPr>
          <p:cNvPr id="15" name="Text 13"/>
          <p:cNvSpPr txBox="1"/>
          <p:nvPr/>
        </p:nvSpPr>
        <p:spPr>
          <a:xfrm>
            <a:off x="4486656" y="198424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4907280" y="2002536"/>
            <a:ext cx="2813304" cy="329184"/>
          </a:xfrm>
          <a:prstGeom prst="rect">
            <a:avLst/>
          </a:prstGeom>
          <a:noFill/>
          <a:ln/>
        </p:spPr>
        <p:txBody>
          <a:bodyPr wrap="square" lIns="0" tIns="0" rIns="0" bIns="0" rtlCol="0" anchor="ctr"/>
          <a:lstStyle/>
          <a:p>
            <a:pPr indent="0" marL="0">
              <a:buNone/>
            </a:pPr>
            <a:r>
              <a:rPr lang="en-US" sz="1300" b="1" dirty="0">
                <a:solidFill>
                  <a:srgbClr val="1B3558"/>
                </a:solidFill>
                <a:latin typeface="Calibri" pitchFamily="34" charset="0"/>
                <a:ea typeface="Calibri" pitchFamily="34" charset="-122"/>
                <a:cs typeface="Calibri" pitchFamily="34" charset="-120"/>
              </a:rPr>
              <a:t>Day 32</a:t>
            </a:r>
            <a:endParaRPr lang="en-US" sz="1300" dirty="0"/>
          </a:p>
        </p:txBody>
      </p:sp>
      <p:sp>
        <p:nvSpPr>
          <p:cNvPr id="17" name="Text 15"/>
          <p:cNvSpPr txBox="1"/>
          <p:nvPr/>
        </p:nvSpPr>
        <p:spPr>
          <a:xfrm>
            <a:off x="4504944" y="2404872"/>
            <a:ext cx="3188208" cy="603504"/>
          </a:xfrm>
          <a:prstGeom prst="rect">
            <a:avLst/>
          </a:prstGeom>
          <a:noFill/>
          <a:ln/>
        </p:spPr>
        <p:txBody>
          <a:bodyPr wrap="square" lIns="0" tIns="0" rIns="0" bIns="0" rtlCol="0" anchor="ctr"/>
          <a:lstStyle/>
          <a:p>
            <a:pPr indent="0" marL="0">
              <a:lnSpc>
                <a:spcPct val="120000"/>
              </a:lnSpc>
              <a:buNone/>
            </a:pPr>
            <a:r>
              <a:rPr lang="en-US" sz="1150" dirty="0">
                <a:solidFill>
                  <a:srgbClr val="33415A"/>
                </a:solidFill>
                <a:latin typeface="Calibri" pitchFamily="34" charset="0"/>
                <a:ea typeface="Calibri" pitchFamily="34" charset="-122"/>
                <a:cs typeface="Calibri" pitchFamily="34" charset="-120"/>
              </a:rPr>
              <a:t>Getting the columns into a shape the model can read.</a:t>
            </a:r>
            <a:endParaRPr lang="en-US" sz="1150" dirty="0"/>
          </a:p>
        </p:txBody>
      </p:sp>
      <p:sp>
        <p:nvSpPr>
          <p:cNvPr id="18" name="Shape 16"/>
          <p:cNvSpPr/>
          <p:nvPr/>
        </p:nvSpPr>
        <p:spPr>
          <a:xfrm>
            <a:off x="8040624" y="1783080"/>
            <a:ext cx="3590544" cy="1371600"/>
          </a:xfrm>
          <a:prstGeom prst="roundRect">
            <a:avLst>
              <a:gd name="adj" fmla="val 666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9" name="Shape 17"/>
          <p:cNvSpPr/>
          <p:nvPr/>
        </p:nvSpPr>
        <p:spPr>
          <a:xfrm>
            <a:off x="8040624" y="1783080"/>
            <a:ext cx="3590544" cy="64008"/>
          </a:xfrm>
          <a:prstGeom prst="roundRect">
            <a:avLst>
              <a:gd name="adj" fmla="val 42857"/>
            </a:avLst>
          </a:prstGeom>
          <a:solidFill>
            <a:srgbClr val="1F9E86"/>
          </a:solidFill>
          <a:ln w="12700">
            <a:solidFill>
              <a:srgbClr val="333333"/>
            </a:solidFill>
            <a:prstDash val="solid"/>
          </a:ln>
        </p:spPr>
      </p:sp>
      <p:sp>
        <p:nvSpPr>
          <p:cNvPr id="20" name="Shape 18"/>
          <p:cNvSpPr/>
          <p:nvPr/>
        </p:nvSpPr>
        <p:spPr>
          <a:xfrm>
            <a:off x="8223504" y="1984248"/>
            <a:ext cx="347472" cy="347472"/>
          </a:xfrm>
          <a:prstGeom prst="ellipse">
            <a:avLst/>
          </a:prstGeom>
          <a:solidFill>
            <a:srgbClr val="1F9E86"/>
          </a:solidFill>
          <a:ln w="12700">
            <a:solidFill>
              <a:srgbClr val="333333"/>
            </a:solidFill>
            <a:prstDash val="solid"/>
          </a:ln>
        </p:spPr>
      </p:sp>
      <p:sp>
        <p:nvSpPr>
          <p:cNvPr id="21" name="Text 19"/>
          <p:cNvSpPr txBox="1"/>
          <p:nvPr/>
        </p:nvSpPr>
        <p:spPr>
          <a:xfrm>
            <a:off x="8223504" y="198424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8644128" y="2002536"/>
            <a:ext cx="2813304" cy="329184"/>
          </a:xfrm>
          <a:prstGeom prst="rect">
            <a:avLst/>
          </a:prstGeom>
          <a:noFill/>
          <a:ln/>
        </p:spPr>
        <p:txBody>
          <a:bodyPr wrap="square" lIns="0" tIns="0" rIns="0" bIns="0" rtlCol="0" anchor="ctr"/>
          <a:lstStyle/>
          <a:p>
            <a:pPr indent="0" marL="0">
              <a:buNone/>
            </a:pPr>
            <a:r>
              <a:rPr lang="en-US" sz="1300" b="1" dirty="0">
                <a:solidFill>
                  <a:srgbClr val="1B3558"/>
                </a:solidFill>
                <a:latin typeface="Calibri" pitchFamily="34" charset="0"/>
                <a:ea typeface="Calibri" pitchFamily="34" charset="-122"/>
                <a:cs typeface="Calibri" pitchFamily="34" charset="-120"/>
              </a:rPr>
              <a:t>TODAY</a:t>
            </a:r>
            <a:endParaRPr lang="en-US" sz="1300" dirty="0"/>
          </a:p>
        </p:txBody>
      </p:sp>
      <p:sp>
        <p:nvSpPr>
          <p:cNvPr id="23" name="Text 21"/>
          <p:cNvSpPr txBox="1"/>
          <p:nvPr/>
        </p:nvSpPr>
        <p:spPr>
          <a:xfrm>
            <a:off x="8241792" y="2404872"/>
            <a:ext cx="3188208" cy="603504"/>
          </a:xfrm>
          <a:prstGeom prst="rect">
            <a:avLst/>
          </a:prstGeom>
          <a:noFill/>
          <a:ln/>
        </p:spPr>
        <p:txBody>
          <a:bodyPr wrap="square" lIns="0" tIns="0" rIns="0" bIns="0" rtlCol="0" anchor="ctr"/>
          <a:lstStyle/>
          <a:p>
            <a:pPr indent="0" marL="0">
              <a:lnSpc>
                <a:spcPct val="120000"/>
              </a:lnSpc>
              <a:buNone/>
            </a:pPr>
            <a:r>
              <a:rPr lang="en-US" sz="1150" dirty="0">
                <a:solidFill>
                  <a:srgbClr val="33415A"/>
                </a:solidFill>
                <a:latin typeface="Calibri" pitchFamily="34" charset="0"/>
                <a:ea typeface="Calibri" pitchFamily="34" charset="-122"/>
                <a:cs typeface="Calibri" pitchFamily="34" charset="-120"/>
              </a:rPr>
              <a:t>Build the simplest model that exists, from scratch, by hand.</a:t>
            </a:r>
            <a:endParaRPr lang="en-US" sz="1150" dirty="0"/>
          </a:p>
        </p:txBody>
      </p:sp>
      <p:sp>
        <p:nvSpPr>
          <p:cNvPr id="24" name="Shape 22"/>
          <p:cNvSpPr/>
          <p:nvPr/>
        </p:nvSpPr>
        <p:spPr>
          <a:xfrm>
            <a:off x="566928" y="3429000"/>
            <a:ext cx="11064240" cy="1600200"/>
          </a:xfrm>
          <a:prstGeom prst="roundRect">
            <a:avLst>
              <a:gd name="adj" fmla="val 5714"/>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25" name="Text 23"/>
          <p:cNvSpPr txBox="1"/>
          <p:nvPr/>
        </p:nvSpPr>
        <p:spPr>
          <a:xfrm>
            <a:off x="868680" y="3584448"/>
            <a:ext cx="10424160" cy="310896"/>
          </a:xfrm>
          <a:prstGeom prst="rect">
            <a:avLst/>
          </a:prstGeom>
          <a:noFill/>
          <a:ln/>
        </p:spPr>
        <p:txBody>
          <a:bodyPr wrap="square" lIns="0" tIns="0" rIns="0" bIns="0" rtlCol="0" anchor="ctr"/>
          <a:lstStyle/>
          <a:p>
            <a:pPr indent="0" marL="0">
              <a:buNone/>
            </a:pPr>
            <a:r>
              <a:rPr lang="en-US" sz="1500" b="1" dirty="0">
                <a:solidFill>
                  <a:srgbClr val="1B3558"/>
                </a:solidFill>
                <a:latin typeface="Calibri" pitchFamily="34" charset="0"/>
                <a:ea typeface="Calibri" pitchFamily="34" charset="-122"/>
                <a:cs typeface="Calibri" pitchFamily="34" charset="-120"/>
              </a:rPr>
              <a:t>Everything you need, you already have</a:t>
            </a:r>
            <a:endParaRPr lang="en-US" sz="1500" dirty="0"/>
          </a:p>
        </p:txBody>
      </p:sp>
      <p:sp>
        <p:nvSpPr>
          <p:cNvPr id="26" name="Text 24"/>
          <p:cNvSpPr txBox="1"/>
          <p:nvPr/>
        </p:nvSpPr>
        <p:spPr>
          <a:xfrm>
            <a:off x="868680" y="3950208"/>
            <a:ext cx="10424160" cy="914400"/>
          </a:xfrm>
          <a:prstGeom prst="rect">
            <a:avLst/>
          </a:prstGeom>
          <a:noFill/>
          <a:ln/>
        </p:spPr>
        <p:txBody>
          <a:bodyPr wrap="square" lIns="0" tIns="0" rIns="0" bIns="0" rtlCol="0" anchor="ctr"/>
          <a:lstStyle/>
          <a:p>
            <a:pPr indent="0" marL="0">
              <a:lnSpc>
                <a:spcPct val="122000"/>
              </a:lnSpc>
              <a:buNone/>
            </a:pPr>
            <a:r>
              <a:rPr lang="en-US" sz="1400" b="1" dirty="0">
                <a:solidFill>
                  <a:srgbClr val="1B3558"/>
                </a:solidFill>
                <a:latin typeface="Calibri" pitchFamily="34" charset="0"/>
                <a:ea typeface="Calibri" pitchFamily="34" charset="-122"/>
                <a:cs typeface="Calibri" pitchFamily="34" charset="-120"/>
              </a:rPr>
              <a:t>No new maths. </a:t>
            </a:r>
            <a:pPr indent="0" marL="0">
              <a:lnSpc>
                <a:spcPct val="122000"/>
              </a:lnSpc>
              <a:buNone/>
            </a:pPr>
            <a:r>
              <a:rPr lang="en-US" sz="1400" dirty="0">
                <a:solidFill>
                  <a:srgbClr val="33415A"/>
                </a:solidFill>
                <a:latin typeface="Calibri" pitchFamily="34" charset="0"/>
                <a:ea typeface="Calibri" pitchFamily="34" charset="-122"/>
                <a:cs typeface="Calibri" pitchFamily="34" charset="-120"/>
              </a:rPr>
              <a:t>If you can read the equation of a straight line from school, you can follow every slide today. We will do the whole thing on FIVE students first, with numbers small enough to check in your head — and only then switch on the computer.</a:t>
            </a:r>
            <a:endParaRPr lang="en-US" sz="1400" dirty="0"/>
          </a:p>
        </p:txBody>
      </p:sp>
      <p:sp>
        <p:nvSpPr>
          <p:cNvPr id="27" name="Shape 25"/>
          <p:cNvSpPr/>
          <p:nvPr/>
        </p:nvSpPr>
        <p:spPr>
          <a:xfrm>
            <a:off x="566928" y="5230368"/>
            <a:ext cx="11064240" cy="731520"/>
          </a:xfrm>
          <a:prstGeom prst="roundRect">
            <a:avLst>
              <a:gd name="adj" fmla="val 12500"/>
            </a:avLst>
          </a:prstGeom>
          <a:solidFill>
            <a:srgbClr val="E6F5F1"/>
          </a:solidFill>
          <a:ln w="17780">
            <a:solidFill>
              <a:srgbClr val="1F9E86"/>
            </a:solidFill>
            <a:prstDash val="solid"/>
          </a:ln>
        </p:spPr>
      </p:sp>
      <p:sp>
        <p:nvSpPr>
          <p:cNvPr id="28" name="Shape 26"/>
          <p:cNvSpPr/>
          <p:nvPr/>
        </p:nvSpPr>
        <p:spPr>
          <a:xfrm>
            <a:off x="566928" y="5230368"/>
            <a:ext cx="82296" cy="731520"/>
          </a:xfrm>
          <a:prstGeom prst="roundRect">
            <a:avLst>
              <a:gd name="adj" fmla="val 44444"/>
            </a:avLst>
          </a:prstGeom>
          <a:solidFill>
            <a:srgbClr val="1F9E86"/>
          </a:solidFill>
          <a:ln w="12700">
            <a:solidFill>
              <a:srgbClr val="333333"/>
            </a:solidFill>
            <a:prstDash val="solid"/>
          </a:ln>
        </p:spPr>
      </p:sp>
      <p:sp>
        <p:nvSpPr>
          <p:cNvPr id="29" name="Text 27"/>
          <p:cNvSpPr txBox="1"/>
          <p:nvPr/>
        </p:nvSpPr>
        <p:spPr>
          <a:xfrm>
            <a:off x="868680" y="5303520"/>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A straight line is a toy model. But every idea in it — error, best fit, R², overfitting — comes back unchanged in every model for the rest of the course.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F3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3E7CB1"/>
          </a:solidFill>
          <a:ln w="12700">
            <a:solidFill>
              <a:srgbClr val="333333"/>
            </a:solidFill>
            <a:prstDash val="solid"/>
          </a:ln>
        </p:spPr>
      </p:sp>
      <p:sp>
        <p:nvSpPr>
          <p:cNvPr id="3" name="Shape 1"/>
          <p:cNvSpPr/>
          <p:nvPr/>
        </p:nvSpPr>
        <p:spPr>
          <a:xfrm>
            <a:off x="10881360" y="-1828800"/>
            <a:ext cx="4206240" cy="4206240"/>
          </a:xfrm>
          <a:prstGeom prst="ellipse">
            <a:avLst/>
          </a:prstGeom>
          <a:solidFill>
            <a:srgbClr val="1A2A44"/>
          </a:solidFill>
          <a:ln w="12700">
            <a:solidFill>
              <a:srgbClr val="333333"/>
            </a:solidFill>
            <a:prstDash val="solid"/>
          </a:ln>
        </p:spPr>
      </p:sp>
      <p:sp>
        <p:nvSpPr>
          <p:cNvPr id="4" name="Shape 2"/>
          <p:cNvSpPr/>
          <p:nvPr/>
        </p:nvSpPr>
        <p:spPr>
          <a:xfrm>
            <a:off x="9509760" y="4937760"/>
            <a:ext cx="2926080" cy="2926080"/>
          </a:xfrm>
          <a:prstGeom prst="ellipse">
            <a:avLst/>
          </a:prstGeom>
          <a:solidFill>
            <a:srgbClr val="172742"/>
          </a:solidFill>
          <a:ln w="12700">
            <a:solidFill>
              <a:srgbClr val="333333"/>
            </a:solidFill>
            <a:prstDash val="solid"/>
          </a:ln>
        </p:spPr>
      </p:sp>
      <p:sp>
        <p:nvSpPr>
          <p:cNvPr id="5" name="Text 3"/>
          <p:cNvSpPr txBox="1"/>
          <p:nvPr/>
        </p:nvSpPr>
        <p:spPr>
          <a:xfrm>
            <a:off x="914400" y="1920240"/>
            <a:ext cx="5486400" cy="274320"/>
          </a:xfrm>
          <a:prstGeom prst="rect">
            <a:avLst/>
          </a:prstGeom>
          <a:noFill/>
          <a:ln/>
        </p:spPr>
        <p:txBody>
          <a:bodyPr wrap="square" lIns="0" tIns="0" rIns="0" bIns="0" rtlCol="0" anchor="ctr"/>
          <a:lstStyle/>
          <a:p>
            <a:pPr indent="0" marL="0">
              <a:buNone/>
            </a:pPr>
            <a:r>
              <a:rPr lang="en-US" sz="1200" b="1" spc="240" kern="0" dirty="0">
                <a:solidFill>
                  <a:srgbClr val="3E7CB1"/>
                </a:solidFill>
                <a:latin typeface="Calibri" pitchFamily="34" charset="0"/>
                <a:ea typeface="Calibri" pitchFamily="34" charset="-122"/>
                <a:cs typeface="Calibri" pitchFamily="34" charset="-120"/>
              </a:rPr>
              <a:t>SECTION 1 OF 5</a:t>
            </a:r>
            <a:endParaRPr lang="en-US" sz="1200" dirty="0"/>
          </a:p>
        </p:txBody>
      </p:sp>
      <p:sp>
        <p:nvSpPr>
          <p:cNvPr id="6" name="Text 4"/>
          <p:cNvSpPr txBox="1"/>
          <p:nvPr/>
        </p:nvSpPr>
        <p:spPr>
          <a:xfrm>
            <a:off x="914400" y="2267712"/>
            <a:ext cx="7680960" cy="8686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What a line is for</a:t>
            </a:r>
            <a:endParaRPr lang="en-US" sz="4000" dirty="0"/>
          </a:p>
        </p:txBody>
      </p:sp>
      <p:sp>
        <p:nvSpPr>
          <p:cNvPr id="7" name="Text 5"/>
          <p:cNvSpPr txBox="1"/>
          <p:nvPr/>
        </p:nvSpPr>
        <p:spPr>
          <a:xfrm>
            <a:off x="932688" y="3218688"/>
            <a:ext cx="7498080" cy="685800"/>
          </a:xfrm>
          <a:prstGeom prst="rect">
            <a:avLst/>
          </a:prstGeom>
          <a:noFill/>
          <a:ln/>
        </p:spPr>
        <p:txBody>
          <a:bodyPr wrap="square" lIns="0" tIns="0" rIns="0" bIns="0" rtlCol="0" anchor="ctr"/>
          <a:lstStyle/>
          <a:p>
            <a:pPr indent="0" marL="0">
              <a:lnSpc>
                <a:spcPct val="120000"/>
              </a:lnSpc>
              <a:buNone/>
            </a:pPr>
            <a:r>
              <a:rPr lang="en-US" sz="1600" dirty="0">
                <a:solidFill>
                  <a:srgbClr val="AEC0D8"/>
                </a:solidFill>
                <a:latin typeface="Calibri" pitchFamily="34" charset="0"/>
                <a:ea typeface="Calibri" pitchFamily="34" charset="-122"/>
                <a:cs typeface="Calibri" pitchFamily="34" charset="-120"/>
              </a:rPr>
              <a:t>Five students, one question, and the rule that answers it.</a:t>
            </a:r>
            <a:endParaRPr lang="en-US" sz="1600" dirty="0"/>
          </a:p>
        </p:txBody>
      </p:sp>
      <p:sp>
        <p:nvSpPr>
          <p:cNvPr id="8" name="Shape 6"/>
          <p:cNvSpPr/>
          <p:nvPr/>
        </p:nvSpPr>
        <p:spPr>
          <a:xfrm>
            <a:off x="9144000" y="2450592"/>
            <a:ext cx="91440" cy="91440"/>
          </a:xfrm>
          <a:prstGeom prst="ellipse">
            <a:avLst/>
          </a:prstGeom>
          <a:solidFill>
            <a:srgbClr val="3E7CB1"/>
          </a:solidFill>
          <a:ln w="12700">
            <a:solidFill>
              <a:srgbClr val="333333"/>
            </a:solidFill>
            <a:prstDash val="solid"/>
          </a:ln>
        </p:spPr>
      </p:sp>
      <p:sp>
        <p:nvSpPr>
          <p:cNvPr id="9" name="Text 7"/>
          <p:cNvSpPr txBox="1"/>
          <p:nvPr/>
        </p:nvSpPr>
        <p:spPr>
          <a:xfrm>
            <a:off x="9381744" y="2377440"/>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A new student, no data</a:t>
            </a:r>
            <a:endParaRPr lang="en-US" sz="1250" dirty="0"/>
          </a:p>
        </p:txBody>
      </p:sp>
      <p:sp>
        <p:nvSpPr>
          <p:cNvPr id="10" name="Shape 8"/>
          <p:cNvSpPr/>
          <p:nvPr/>
        </p:nvSpPr>
        <p:spPr>
          <a:xfrm>
            <a:off x="9144000" y="2871216"/>
            <a:ext cx="91440" cy="91440"/>
          </a:xfrm>
          <a:prstGeom prst="ellipse">
            <a:avLst/>
          </a:prstGeom>
          <a:solidFill>
            <a:srgbClr val="3E7CB1"/>
          </a:solidFill>
          <a:ln w="12700">
            <a:solidFill>
              <a:srgbClr val="333333"/>
            </a:solidFill>
            <a:prstDash val="solid"/>
          </a:ln>
        </p:spPr>
      </p:sp>
      <p:sp>
        <p:nvSpPr>
          <p:cNvPr id="11" name="Text 9"/>
          <p:cNvSpPr txBox="1"/>
          <p:nvPr/>
        </p:nvSpPr>
        <p:spPr>
          <a:xfrm>
            <a:off x="9381744" y="2798064"/>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What a line really is</a:t>
            </a:r>
            <a:endParaRPr lang="en-US" sz="1250" dirty="0"/>
          </a:p>
        </p:txBody>
      </p:sp>
      <p:sp>
        <p:nvSpPr>
          <p:cNvPr id="12" name="Shape 10"/>
          <p:cNvSpPr/>
          <p:nvPr/>
        </p:nvSpPr>
        <p:spPr>
          <a:xfrm>
            <a:off x="9144000" y="3291840"/>
            <a:ext cx="91440" cy="91440"/>
          </a:xfrm>
          <a:prstGeom prst="ellipse">
            <a:avLst/>
          </a:prstGeom>
          <a:solidFill>
            <a:srgbClr val="3E7CB1"/>
          </a:solidFill>
          <a:ln w="12700">
            <a:solidFill>
              <a:srgbClr val="333333"/>
            </a:solidFill>
            <a:prstDash val="solid"/>
          </a:ln>
        </p:spPr>
      </p:sp>
      <p:sp>
        <p:nvSpPr>
          <p:cNvPr id="13" name="Text 11"/>
          <p:cNvSpPr txBox="1"/>
          <p:nvPr/>
        </p:nvSpPr>
        <p:spPr>
          <a:xfrm>
            <a:off x="9381744" y="3218688"/>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Slope and intercept</a:t>
            </a:r>
            <a:endParaRPr lang="en-US" sz="1250" dirty="0"/>
          </a:p>
        </p:txBody>
      </p:sp>
      <p:sp>
        <p:nvSpPr>
          <p:cNvPr id="14" name="Shape 12"/>
          <p:cNvSpPr/>
          <p:nvPr/>
        </p:nvSpPr>
        <p:spPr>
          <a:xfrm>
            <a:off x="9144000" y="3712464"/>
            <a:ext cx="91440" cy="91440"/>
          </a:xfrm>
          <a:prstGeom prst="ellipse">
            <a:avLst/>
          </a:prstGeom>
          <a:solidFill>
            <a:srgbClr val="3E7CB1"/>
          </a:solidFill>
          <a:ln w="12700">
            <a:solidFill>
              <a:srgbClr val="333333"/>
            </a:solidFill>
            <a:prstDash val="solid"/>
          </a:ln>
        </p:spPr>
      </p:sp>
      <p:sp>
        <p:nvSpPr>
          <p:cNvPr id="15" name="Text 13"/>
          <p:cNvSpPr txBox="1"/>
          <p:nvPr/>
        </p:nvSpPr>
        <p:spPr>
          <a:xfrm>
            <a:off x="9381744" y="3639312"/>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Which line is best?</a:t>
            </a:r>
            <a:endParaRPr lang="en-US" sz="1250" dirty="0"/>
          </a:p>
        </p:txBody>
      </p:sp>
      <p:sp>
        <p:nvSpPr>
          <p:cNvPr id="16" name="Text 14"/>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6E819C"/>
                </a:solidFill>
                <a:latin typeface="Calibri" pitchFamily="34" charset="0"/>
                <a:ea typeface="Calibri" pitchFamily="34" charset="-122"/>
                <a:cs typeface="Calibri" pitchFamily="34" charset="-120"/>
              </a:rPr>
              <a:t>Srinivasa Sai Chava  ·  Boston University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3E7CB1"/>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1 / 5   What a line is for</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3E7CB1"/>
                </a:solidFill>
                <a:latin typeface="Calibri" pitchFamily="34" charset="0"/>
                <a:ea typeface="Calibri" pitchFamily="34" charset="-122"/>
                <a:cs typeface="Calibri" pitchFamily="34" charset="-120"/>
              </a:rPr>
              <a:t>THE PROBLEM</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Five students. One question.</a:t>
            </a:r>
            <a:endParaRPr lang="en-US" sz="2700" dirty="0"/>
          </a:p>
        </p:txBody>
      </p:sp>
      <p:sp>
        <p:nvSpPr>
          <p:cNvPr id="11" name="Shape 9"/>
          <p:cNvSpPr/>
          <p:nvPr/>
        </p:nvSpPr>
        <p:spPr>
          <a:xfrm>
            <a:off x="585216" y="1444752"/>
            <a:ext cx="640080" cy="50292"/>
          </a:xfrm>
          <a:prstGeom prst="roundRect">
            <a:avLst>
              <a:gd name="adj" fmla="val 45455"/>
            </a:avLst>
          </a:prstGeom>
          <a:solidFill>
            <a:srgbClr val="3E7CB1"/>
          </a:solidFill>
          <a:ln w="12700">
            <a:solidFill>
              <a:srgbClr val="333333"/>
            </a:solidFill>
            <a:prstDash val="solid"/>
          </a:ln>
        </p:spPr>
      </p:sp>
      <p:sp>
        <p:nvSpPr>
          <p:cNvPr id="12" name="Shape 10"/>
          <p:cNvSpPr/>
          <p:nvPr/>
        </p:nvSpPr>
        <p:spPr>
          <a:xfrm>
            <a:off x="566928" y="1700784"/>
            <a:ext cx="11064240" cy="676656"/>
          </a:xfrm>
          <a:prstGeom prst="roundRect">
            <a:avLst>
              <a:gd name="adj" fmla="val 13514"/>
            </a:avLst>
          </a:prstGeom>
          <a:solidFill>
            <a:srgbClr val="EDF1F8"/>
          </a:solidFill>
          <a:ln w="12700">
            <a:solidFill>
              <a:srgbClr val="D5DEEC"/>
            </a:solidFill>
            <a:prstDash val="solid"/>
          </a:ln>
        </p:spPr>
      </p:sp>
      <p:sp>
        <p:nvSpPr>
          <p:cNvPr id="13" name="Shape 11"/>
          <p:cNvSpPr/>
          <p:nvPr/>
        </p:nvSpPr>
        <p:spPr>
          <a:xfrm>
            <a:off x="713232" y="1856232"/>
            <a:ext cx="1170432" cy="365760"/>
          </a:xfrm>
          <a:prstGeom prst="roundRect">
            <a:avLst>
              <a:gd name="adj" fmla="val 17500"/>
            </a:avLst>
          </a:prstGeom>
          <a:solidFill>
            <a:srgbClr val="1B3558"/>
          </a:solidFill>
          <a:ln w="12700">
            <a:solidFill>
              <a:srgbClr val="333333"/>
            </a:solidFill>
            <a:prstDash val="solid"/>
          </a:ln>
        </p:spPr>
      </p:sp>
      <p:sp>
        <p:nvSpPr>
          <p:cNvPr id="14" name="Text 12"/>
          <p:cNvSpPr txBox="1"/>
          <p:nvPr/>
        </p:nvSpPr>
        <p:spPr>
          <a:xfrm>
            <a:off x="713232" y="1856232"/>
            <a:ext cx="1170432"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EXAMPLE</a:t>
            </a:r>
            <a:endParaRPr lang="en-US" sz="1050" dirty="0"/>
          </a:p>
        </p:txBody>
      </p:sp>
      <p:sp>
        <p:nvSpPr>
          <p:cNvPr id="15" name="Text 13"/>
          <p:cNvSpPr txBox="1"/>
          <p:nvPr/>
        </p:nvSpPr>
        <p:spPr>
          <a:xfrm>
            <a:off x="2029968" y="1773936"/>
            <a:ext cx="9418320" cy="530352"/>
          </a:xfrm>
          <a:prstGeom prst="rect">
            <a:avLst/>
          </a:prstGeom>
          <a:noFill/>
          <a:ln/>
        </p:spPr>
        <p:txBody>
          <a:bodyPr wrap="square" lIns="0" tIns="0" rIns="0" bIns="0" rtlCol="0" anchor="ctr"/>
          <a:lstStyle/>
          <a:p>
            <a:pPr indent="0" marL="0">
              <a:buNone/>
            </a:pPr>
            <a:r>
              <a:rPr lang="en-US" sz="1450" b="1" dirty="0">
                <a:solidFill>
                  <a:srgbClr val="1B3558"/>
                </a:solidFill>
                <a:latin typeface="Calibri" pitchFamily="34" charset="0"/>
                <a:ea typeface="Calibri" pitchFamily="34" charset="-122"/>
                <a:cs typeface="Calibri" pitchFamily="34" charset="-120"/>
              </a:rPr>
              <a:t>You tracked five classmates: how many hours a week they studied, and what they scored.</a:t>
            </a:r>
            <a:endParaRPr lang="en-US" sz="1450" dirty="0"/>
          </a:p>
        </p:txBody>
      </p:sp>
      <p:pic>
        <p:nvPicPr>
          <p:cNvPr id="16" name="Image 0" descr="/home/claude/d33n/fig/the_question.png">    </p:cNvPr>
          <p:cNvPicPr>
            <a:picLocks noChangeAspect="1"/>
          </p:cNvPicPr>
          <p:nvPr/>
        </p:nvPicPr>
        <p:blipFill>
          <a:blip r:embed="rId1"/>
          <a:stretch>
            <a:fillRect/>
          </a:stretch>
        </p:blipFill>
        <p:spPr>
          <a:xfrm>
            <a:off x="1783080" y="2468880"/>
            <a:ext cx="8595360" cy="3143877"/>
          </a:xfrm>
          <a:prstGeom prst="rect">
            <a:avLst/>
          </a:prstGeom>
        </p:spPr>
      </p:pic>
      <p:sp>
        <p:nvSpPr>
          <p:cNvPr id="17" name="Shape 14"/>
          <p:cNvSpPr/>
          <p:nvPr/>
        </p:nvSpPr>
        <p:spPr>
          <a:xfrm>
            <a:off x="566928" y="5559552"/>
            <a:ext cx="11064240" cy="731520"/>
          </a:xfrm>
          <a:prstGeom prst="roundRect">
            <a:avLst>
              <a:gd name="adj" fmla="val 12500"/>
            </a:avLst>
          </a:prstGeom>
          <a:solidFill>
            <a:srgbClr val="EBF2FA"/>
          </a:solidFill>
          <a:ln w="17780">
            <a:solidFill>
              <a:srgbClr val="3E7CB1"/>
            </a:solidFill>
            <a:prstDash val="solid"/>
          </a:ln>
        </p:spPr>
      </p:sp>
      <p:sp>
        <p:nvSpPr>
          <p:cNvPr id="18" name="Shape 15"/>
          <p:cNvSpPr/>
          <p:nvPr/>
        </p:nvSpPr>
        <p:spPr>
          <a:xfrm>
            <a:off x="566928" y="5559552"/>
            <a:ext cx="82296" cy="731520"/>
          </a:xfrm>
          <a:prstGeom prst="roundRect">
            <a:avLst>
              <a:gd name="adj" fmla="val 44444"/>
            </a:avLst>
          </a:prstGeom>
          <a:solidFill>
            <a:srgbClr val="3E7CB1"/>
          </a:solidFill>
          <a:ln w="12700">
            <a:solidFill>
              <a:srgbClr val="333333"/>
            </a:solidFill>
            <a:prstDash val="solid"/>
          </a:ln>
        </p:spPr>
      </p:sp>
      <p:sp>
        <p:nvSpPr>
          <p:cNvPr id="19" name="Text 16"/>
          <p:cNvSpPr txBox="1"/>
          <p:nvPr/>
        </p:nvSpPr>
        <p:spPr>
          <a:xfrm>
            <a:off x="868680" y="5632704"/>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You cannot look this student up in the table — she is not in it. You need a RULE that turns any number of hours into a mark.</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3E7CB1"/>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1 / 5   What a line is for</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3E7CB1"/>
                </a:solidFill>
                <a:latin typeface="Calibri" pitchFamily="34" charset="0"/>
                <a:ea typeface="Calibri" pitchFamily="34" charset="-122"/>
                <a:cs typeface="Calibri" pitchFamily="34" charset="-120"/>
              </a:rPr>
              <a:t>THE IDEA</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A line is a rule you can carry around</a:t>
            </a:r>
            <a:endParaRPr lang="en-US" sz="2700" dirty="0"/>
          </a:p>
        </p:txBody>
      </p:sp>
      <p:sp>
        <p:nvSpPr>
          <p:cNvPr id="11" name="Shape 9"/>
          <p:cNvSpPr/>
          <p:nvPr/>
        </p:nvSpPr>
        <p:spPr>
          <a:xfrm>
            <a:off x="585216" y="1444752"/>
            <a:ext cx="640080" cy="50292"/>
          </a:xfrm>
          <a:prstGeom prst="roundRect">
            <a:avLst>
              <a:gd name="adj" fmla="val 45455"/>
            </a:avLst>
          </a:prstGeom>
          <a:solidFill>
            <a:srgbClr val="3E7CB1"/>
          </a:solidFill>
          <a:ln w="12700">
            <a:solidFill>
              <a:srgbClr val="333333"/>
            </a:solidFill>
            <a:prstDash val="solid"/>
          </a:ln>
        </p:spPr>
      </p:sp>
      <p:pic>
        <p:nvPicPr>
          <p:cNvPr id="12" name="Image 0" descr="/home/claude/d33n/fig/a_line_is_a_rule.png">    </p:cNvPr>
          <p:cNvPicPr>
            <a:picLocks noChangeAspect="1"/>
          </p:cNvPicPr>
          <p:nvPr/>
        </p:nvPicPr>
        <p:blipFill>
          <a:blip r:embed="rId1"/>
          <a:stretch>
            <a:fillRect/>
          </a:stretch>
        </p:blipFill>
        <p:spPr>
          <a:xfrm>
            <a:off x="1234440" y="1783080"/>
            <a:ext cx="9692640" cy="3545223"/>
          </a:xfrm>
          <a:prstGeom prst="rect">
            <a:avLst/>
          </a:prstGeom>
        </p:spPr>
      </p:pic>
      <p:sp>
        <p:nvSpPr>
          <p:cNvPr id="13" name="Shape 10"/>
          <p:cNvSpPr/>
          <p:nvPr/>
        </p:nvSpPr>
        <p:spPr>
          <a:xfrm>
            <a:off x="566928" y="5440680"/>
            <a:ext cx="11064240" cy="731520"/>
          </a:xfrm>
          <a:prstGeom prst="roundRect">
            <a:avLst>
              <a:gd name="adj" fmla="val 12500"/>
            </a:avLst>
          </a:prstGeom>
          <a:solidFill>
            <a:srgbClr val="EBF2FA"/>
          </a:solidFill>
          <a:ln w="17780">
            <a:solidFill>
              <a:srgbClr val="3E7CB1"/>
            </a:solidFill>
            <a:prstDash val="solid"/>
          </a:ln>
        </p:spPr>
      </p:sp>
      <p:sp>
        <p:nvSpPr>
          <p:cNvPr id="14" name="Shape 11"/>
          <p:cNvSpPr/>
          <p:nvPr/>
        </p:nvSpPr>
        <p:spPr>
          <a:xfrm>
            <a:off x="566928" y="5440680"/>
            <a:ext cx="82296" cy="731520"/>
          </a:xfrm>
          <a:prstGeom prst="roundRect">
            <a:avLst>
              <a:gd name="adj" fmla="val 44444"/>
            </a:avLst>
          </a:prstGeom>
          <a:solidFill>
            <a:srgbClr val="3E7CB1"/>
          </a:solidFill>
          <a:ln w="12700">
            <a:solidFill>
              <a:srgbClr val="333333"/>
            </a:solidFill>
            <a:prstDash val="solid"/>
          </a:ln>
        </p:spPr>
      </p:sp>
      <p:sp>
        <p:nvSpPr>
          <p:cNvPr id="15" name="Text 12"/>
          <p:cNvSpPr txBox="1"/>
          <p:nvPr/>
        </p:nvSpPr>
        <p:spPr>
          <a:xfrm>
            <a:off x="868680" y="551383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Give the rule any number of hours and it gives you back a mark. It works for students who were never in your table. That is the whole point of a model.</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3E7CB1"/>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1 / 5   What a line is for</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3E7CB1"/>
                </a:solidFill>
                <a:latin typeface="Calibri" pitchFamily="34" charset="0"/>
                <a:ea typeface="Calibri" pitchFamily="34" charset="-122"/>
                <a:cs typeface="Calibri" pitchFamily="34" charset="-120"/>
              </a:rPr>
              <a:t>SLOPE AND INTERCEPT</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The whole model is two numbers</a:t>
            </a:r>
            <a:endParaRPr lang="en-US" sz="2700" dirty="0"/>
          </a:p>
        </p:txBody>
      </p:sp>
      <p:sp>
        <p:nvSpPr>
          <p:cNvPr id="11" name="Shape 9"/>
          <p:cNvSpPr/>
          <p:nvPr/>
        </p:nvSpPr>
        <p:spPr>
          <a:xfrm>
            <a:off x="585216" y="1444752"/>
            <a:ext cx="640080" cy="50292"/>
          </a:xfrm>
          <a:prstGeom prst="roundRect">
            <a:avLst>
              <a:gd name="adj" fmla="val 45455"/>
            </a:avLst>
          </a:prstGeom>
          <a:solidFill>
            <a:srgbClr val="3E7CB1"/>
          </a:solidFill>
          <a:ln w="12700">
            <a:solidFill>
              <a:srgbClr val="333333"/>
            </a:solidFill>
            <a:prstDash val="solid"/>
          </a:ln>
        </p:spPr>
      </p:sp>
      <p:pic>
        <p:nvPicPr>
          <p:cNvPr id="12" name="Image 0" descr="/home/claude/d33n/fig/line_parts.png">    </p:cNvPr>
          <p:cNvPicPr>
            <a:picLocks noChangeAspect="1"/>
          </p:cNvPicPr>
          <p:nvPr/>
        </p:nvPicPr>
        <p:blipFill>
          <a:blip r:embed="rId1"/>
          <a:stretch>
            <a:fillRect/>
          </a:stretch>
        </p:blipFill>
        <p:spPr>
          <a:xfrm>
            <a:off x="1700784" y="1609344"/>
            <a:ext cx="8778240" cy="3378845"/>
          </a:xfrm>
          <a:prstGeom prst="rect">
            <a:avLst/>
          </a:prstGeom>
        </p:spPr>
      </p:pic>
      <p:sp>
        <p:nvSpPr>
          <p:cNvPr id="13" name="Shape 10"/>
          <p:cNvSpPr/>
          <p:nvPr/>
        </p:nvSpPr>
        <p:spPr>
          <a:xfrm>
            <a:off x="1700784" y="5084064"/>
            <a:ext cx="429768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4" name="Shape 11"/>
          <p:cNvSpPr/>
          <p:nvPr/>
        </p:nvSpPr>
        <p:spPr>
          <a:xfrm>
            <a:off x="1700784" y="5084064"/>
            <a:ext cx="4297680" cy="73152"/>
          </a:xfrm>
          <a:prstGeom prst="roundRect">
            <a:avLst>
              <a:gd name="adj" fmla="val 37500"/>
            </a:avLst>
          </a:prstGeom>
          <a:solidFill>
            <a:srgbClr val="F0A530"/>
          </a:solidFill>
          <a:ln w="12700">
            <a:solidFill>
              <a:srgbClr val="333333"/>
            </a:solidFill>
            <a:prstDash val="solid"/>
          </a:ln>
        </p:spPr>
      </p:sp>
      <p:sp>
        <p:nvSpPr>
          <p:cNvPr id="15" name="Text 12"/>
          <p:cNvSpPr txBox="1"/>
          <p:nvPr/>
        </p:nvSpPr>
        <p:spPr>
          <a:xfrm>
            <a:off x="1700784" y="5285232"/>
            <a:ext cx="4297680" cy="566928"/>
          </a:xfrm>
          <a:prstGeom prst="rect">
            <a:avLst/>
          </a:prstGeom>
          <a:noFill/>
          <a:ln/>
        </p:spPr>
        <p:txBody>
          <a:bodyPr wrap="square" lIns="0" tIns="0" rIns="0" bIns="0" rtlCol="0" anchor="ctr"/>
          <a:lstStyle/>
          <a:p>
            <a:pPr algn="ctr" indent="0" marL="0">
              <a:buNone/>
            </a:pPr>
            <a:r>
              <a:rPr lang="en-US" sz="3000" b="1" dirty="0">
                <a:solidFill>
                  <a:srgbClr val="A86F00"/>
                </a:solidFill>
                <a:latin typeface="Georgia" pitchFamily="34" charset="0"/>
                <a:ea typeface="Georgia" pitchFamily="34" charset="-122"/>
                <a:cs typeface="Georgia" pitchFamily="34" charset="-120"/>
              </a:rPr>
              <a:t>SLOPE  =  8</a:t>
            </a:r>
            <a:endParaRPr lang="en-US" sz="3000" dirty="0"/>
          </a:p>
        </p:txBody>
      </p:sp>
      <p:sp>
        <p:nvSpPr>
          <p:cNvPr id="16" name="Text 13"/>
          <p:cNvSpPr txBox="1"/>
          <p:nvPr/>
        </p:nvSpPr>
        <p:spPr>
          <a:xfrm>
            <a:off x="1837944" y="5888736"/>
            <a:ext cx="402336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how much the mark goes up for one extra hour</a:t>
            </a:r>
            <a:endParaRPr lang="en-US" sz="1150" dirty="0"/>
          </a:p>
        </p:txBody>
      </p:sp>
      <p:sp>
        <p:nvSpPr>
          <p:cNvPr id="17" name="Shape 14"/>
          <p:cNvSpPr/>
          <p:nvPr/>
        </p:nvSpPr>
        <p:spPr>
          <a:xfrm>
            <a:off x="6181344" y="5084064"/>
            <a:ext cx="429768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8" name="Shape 15"/>
          <p:cNvSpPr/>
          <p:nvPr/>
        </p:nvSpPr>
        <p:spPr>
          <a:xfrm>
            <a:off x="6181344" y="5084064"/>
            <a:ext cx="4297680" cy="73152"/>
          </a:xfrm>
          <a:prstGeom prst="roundRect">
            <a:avLst>
              <a:gd name="adj" fmla="val 37500"/>
            </a:avLst>
          </a:prstGeom>
          <a:solidFill>
            <a:srgbClr val="8268B5"/>
          </a:solidFill>
          <a:ln w="12700">
            <a:solidFill>
              <a:srgbClr val="333333"/>
            </a:solidFill>
            <a:prstDash val="solid"/>
          </a:ln>
        </p:spPr>
      </p:sp>
      <p:sp>
        <p:nvSpPr>
          <p:cNvPr id="19" name="Text 16"/>
          <p:cNvSpPr txBox="1"/>
          <p:nvPr/>
        </p:nvSpPr>
        <p:spPr>
          <a:xfrm>
            <a:off x="6181344" y="5285232"/>
            <a:ext cx="4297680" cy="566928"/>
          </a:xfrm>
          <a:prstGeom prst="rect">
            <a:avLst/>
          </a:prstGeom>
          <a:noFill/>
          <a:ln/>
        </p:spPr>
        <p:txBody>
          <a:bodyPr wrap="square" lIns="0" tIns="0" rIns="0" bIns="0" rtlCol="0" anchor="ctr"/>
          <a:lstStyle/>
          <a:p>
            <a:pPr algn="ctr" indent="0" marL="0">
              <a:buNone/>
            </a:pPr>
            <a:r>
              <a:rPr lang="en-US" sz="3000" b="1" dirty="0">
                <a:solidFill>
                  <a:srgbClr val="8268B5"/>
                </a:solidFill>
                <a:latin typeface="Georgia" pitchFamily="34" charset="0"/>
                <a:ea typeface="Georgia" pitchFamily="34" charset="-122"/>
                <a:cs typeface="Georgia" pitchFamily="34" charset="-120"/>
              </a:rPr>
              <a:t>INTERCEPT  =  26</a:t>
            </a:r>
            <a:endParaRPr lang="en-US" sz="3000" dirty="0"/>
          </a:p>
        </p:txBody>
      </p:sp>
      <p:sp>
        <p:nvSpPr>
          <p:cNvPr id="20" name="Text 17"/>
          <p:cNvSpPr txBox="1"/>
          <p:nvPr/>
        </p:nvSpPr>
        <p:spPr>
          <a:xfrm>
            <a:off x="6318504" y="5888736"/>
            <a:ext cx="402336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the mark the line predicts at zero hours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3E7CB1"/>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1 / 5   What a line is for</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3E7CB1"/>
                </a:solidFill>
                <a:latin typeface="Calibri" pitchFamily="34" charset="0"/>
                <a:ea typeface="Calibri" pitchFamily="34" charset="-122"/>
                <a:cs typeface="Calibri" pitchFamily="34" charset="-120"/>
              </a:rPr>
              <a:t>THE REAL QUESTION</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But I could draw a hundred lines. Which one?</a:t>
            </a:r>
            <a:endParaRPr lang="en-US" sz="2700" dirty="0"/>
          </a:p>
        </p:txBody>
      </p:sp>
      <p:sp>
        <p:nvSpPr>
          <p:cNvPr id="11" name="Shape 9"/>
          <p:cNvSpPr/>
          <p:nvPr/>
        </p:nvSpPr>
        <p:spPr>
          <a:xfrm>
            <a:off x="585216" y="1444752"/>
            <a:ext cx="640080" cy="50292"/>
          </a:xfrm>
          <a:prstGeom prst="roundRect">
            <a:avLst>
              <a:gd name="adj" fmla="val 45455"/>
            </a:avLst>
          </a:prstGeom>
          <a:solidFill>
            <a:srgbClr val="3E7CB1"/>
          </a:solidFill>
          <a:ln w="12700">
            <a:solidFill>
              <a:srgbClr val="333333"/>
            </a:solidFill>
            <a:prstDash val="solid"/>
          </a:ln>
        </p:spPr>
      </p:sp>
      <p:pic>
        <p:nvPicPr>
          <p:cNvPr id="12" name="Image 0" descr="/home/claude/d33n/fig/three_lines.png">    </p:cNvPr>
          <p:cNvPicPr>
            <a:picLocks noChangeAspect="1"/>
          </p:cNvPicPr>
          <p:nvPr/>
        </p:nvPicPr>
        <p:blipFill>
          <a:blip r:embed="rId1"/>
          <a:stretch>
            <a:fillRect/>
          </a:stretch>
        </p:blipFill>
        <p:spPr>
          <a:xfrm>
            <a:off x="1234440" y="1737360"/>
            <a:ext cx="9692640" cy="3545223"/>
          </a:xfrm>
          <a:prstGeom prst="rect">
            <a:avLst/>
          </a:prstGeom>
        </p:spPr>
      </p:pic>
      <p:sp>
        <p:nvSpPr>
          <p:cNvPr id="13" name="Shape 10"/>
          <p:cNvSpPr/>
          <p:nvPr/>
        </p:nvSpPr>
        <p:spPr>
          <a:xfrm>
            <a:off x="566928" y="5394960"/>
            <a:ext cx="11064240" cy="731520"/>
          </a:xfrm>
          <a:prstGeom prst="roundRect">
            <a:avLst>
              <a:gd name="adj" fmla="val 12500"/>
            </a:avLst>
          </a:prstGeom>
          <a:solidFill>
            <a:srgbClr val="FCEBE7"/>
          </a:solidFill>
          <a:ln w="17780">
            <a:solidFill>
              <a:srgbClr val="E05C45"/>
            </a:solidFill>
            <a:prstDash val="solid"/>
          </a:ln>
        </p:spPr>
      </p:sp>
      <p:sp>
        <p:nvSpPr>
          <p:cNvPr id="14" name="Shape 11"/>
          <p:cNvSpPr/>
          <p:nvPr/>
        </p:nvSpPr>
        <p:spPr>
          <a:xfrm>
            <a:off x="566928" y="5394960"/>
            <a:ext cx="82296" cy="731520"/>
          </a:xfrm>
          <a:prstGeom prst="roundRect">
            <a:avLst>
              <a:gd name="adj" fmla="val 44444"/>
            </a:avLst>
          </a:prstGeom>
          <a:solidFill>
            <a:srgbClr val="E05C45"/>
          </a:solidFill>
          <a:ln w="12700">
            <a:solidFill>
              <a:srgbClr val="333333"/>
            </a:solidFill>
            <a:prstDash val="solid"/>
          </a:ln>
        </p:spPr>
      </p:sp>
      <p:sp>
        <p:nvSpPr>
          <p:cNvPr id="15" name="Text 12"/>
          <p:cNvSpPr txBox="1"/>
          <p:nvPr/>
        </p:nvSpPr>
        <p:spPr>
          <a:xfrm>
            <a:off x="868680" y="546811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All three go through the middle of the dots. Before we can pick one, we need to agree on what "best" MEANS — as a number we can compute.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F3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9E86"/>
          </a:solidFill>
          <a:ln w="12700">
            <a:solidFill>
              <a:srgbClr val="333333"/>
            </a:solidFill>
            <a:prstDash val="solid"/>
          </a:ln>
        </p:spPr>
      </p:sp>
      <p:sp>
        <p:nvSpPr>
          <p:cNvPr id="3" name="Shape 1"/>
          <p:cNvSpPr/>
          <p:nvPr/>
        </p:nvSpPr>
        <p:spPr>
          <a:xfrm>
            <a:off x="10881360" y="-1828800"/>
            <a:ext cx="4206240" cy="4206240"/>
          </a:xfrm>
          <a:prstGeom prst="ellipse">
            <a:avLst/>
          </a:prstGeom>
          <a:solidFill>
            <a:srgbClr val="1A2A44"/>
          </a:solidFill>
          <a:ln w="12700">
            <a:solidFill>
              <a:srgbClr val="333333"/>
            </a:solidFill>
            <a:prstDash val="solid"/>
          </a:ln>
        </p:spPr>
      </p:sp>
      <p:sp>
        <p:nvSpPr>
          <p:cNvPr id="4" name="Shape 2"/>
          <p:cNvSpPr/>
          <p:nvPr/>
        </p:nvSpPr>
        <p:spPr>
          <a:xfrm>
            <a:off x="9509760" y="4937760"/>
            <a:ext cx="2926080" cy="2926080"/>
          </a:xfrm>
          <a:prstGeom prst="ellipse">
            <a:avLst/>
          </a:prstGeom>
          <a:solidFill>
            <a:srgbClr val="172742"/>
          </a:solidFill>
          <a:ln w="12700">
            <a:solidFill>
              <a:srgbClr val="333333"/>
            </a:solidFill>
            <a:prstDash val="solid"/>
          </a:ln>
        </p:spPr>
      </p:sp>
      <p:sp>
        <p:nvSpPr>
          <p:cNvPr id="5" name="Text 3"/>
          <p:cNvSpPr txBox="1"/>
          <p:nvPr/>
        </p:nvSpPr>
        <p:spPr>
          <a:xfrm>
            <a:off x="914400" y="1920240"/>
            <a:ext cx="5486400" cy="274320"/>
          </a:xfrm>
          <a:prstGeom prst="rect">
            <a:avLst/>
          </a:prstGeom>
          <a:noFill/>
          <a:ln/>
        </p:spPr>
        <p:txBody>
          <a:bodyPr wrap="square" lIns="0" tIns="0" rIns="0" bIns="0" rtlCol="0" anchor="ctr"/>
          <a:lstStyle/>
          <a:p>
            <a:pPr indent="0" marL="0">
              <a:buNone/>
            </a:pPr>
            <a:r>
              <a:rPr lang="en-US" sz="1200" b="1" spc="240" kern="0" dirty="0">
                <a:solidFill>
                  <a:srgbClr val="1F9E86"/>
                </a:solidFill>
                <a:latin typeface="Calibri" pitchFamily="34" charset="0"/>
                <a:ea typeface="Calibri" pitchFamily="34" charset="-122"/>
                <a:cs typeface="Calibri" pitchFamily="34" charset="-120"/>
              </a:rPr>
              <a:t>SECTION 2 OF 5</a:t>
            </a:r>
            <a:endParaRPr lang="en-US" sz="1200" dirty="0"/>
          </a:p>
        </p:txBody>
      </p:sp>
      <p:sp>
        <p:nvSpPr>
          <p:cNvPr id="6" name="Text 4"/>
          <p:cNvSpPr txBox="1"/>
          <p:nvPr/>
        </p:nvSpPr>
        <p:spPr>
          <a:xfrm>
            <a:off x="914400" y="2267712"/>
            <a:ext cx="7680960" cy="8686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How wrong is a line?</a:t>
            </a:r>
            <a:endParaRPr lang="en-US" sz="4000" dirty="0"/>
          </a:p>
        </p:txBody>
      </p:sp>
      <p:sp>
        <p:nvSpPr>
          <p:cNvPr id="7" name="Text 5"/>
          <p:cNvSpPr txBox="1"/>
          <p:nvPr/>
        </p:nvSpPr>
        <p:spPr>
          <a:xfrm>
            <a:off x="932688" y="3218688"/>
            <a:ext cx="7498080" cy="685800"/>
          </a:xfrm>
          <a:prstGeom prst="rect">
            <a:avLst/>
          </a:prstGeom>
          <a:noFill/>
          <a:ln/>
        </p:spPr>
        <p:txBody>
          <a:bodyPr wrap="square" lIns="0" tIns="0" rIns="0" bIns="0" rtlCol="0" anchor="ctr"/>
          <a:lstStyle/>
          <a:p>
            <a:pPr indent="0" marL="0">
              <a:lnSpc>
                <a:spcPct val="120000"/>
              </a:lnSpc>
              <a:buNone/>
            </a:pPr>
            <a:r>
              <a:rPr lang="en-US" sz="1600" dirty="0">
                <a:solidFill>
                  <a:srgbClr val="AEC0D8"/>
                </a:solidFill>
                <a:latin typeface="Calibri" pitchFamily="34" charset="0"/>
                <a:ea typeface="Calibri" pitchFamily="34" charset="-122"/>
                <a:cs typeface="Calibri" pitchFamily="34" charset="-120"/>
              </a:rPr>
              <a:t>Turn "best" from an opinion into a number.</a:t>
            </a:r>
            <a:endParaRPr lang="en-US" sz="1600" dirty="0"/>
          </a:p>
        </p:txBody>
      </p:sp>
      <p:sp>
        <p:nvSpPr>
          <p:cNvPr id="8" name="Shape 6"/>
          <p:cNvSpPr/>
          <p:nvPr/>
        </p:nvSpPr>
        <p:spPr>
          <a:xfrm>
            <a:off x="9144000" y="2450592"/>
            <a:ext cx="91440" cy="91440"/>
          </a:xfrm>
          <a:prstGeom prst="ellipse">
            <a:avLst/>
          </a:prstGeom>
          <a:solidFill>
            <a:srgbClr val="1F9E86"/>
          </a:solidFill>
          <a:ln w="12700">
            <a:solidFill>
              <a:srgbClr val="333333"/>
            </a:solidFill>
            <a:prstDash val="solid"/>
          </a:ln>
        </p:spPr>
      </p:sp>
      <p:sp>
        <p:nvSpPr>
          <p:cNvPr id="9" name="Text 7"/>
          <p:cNvSpPr txBox="1"/>
          <p:nvPr/>
        </p:nvSpPr>
        <p:spPr>
          <a:xfrm>
            <a:off x="9381744" y="2377440"/>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The error on one student</a:t>
            </a:r>
            <a:endParaRPr lang="en-US" sz="1250" dirty="0"/>
          </a:p>
        </p:txBody>
      </p:sp>
      <p:sp>
        <p:nvSpPr>
          <p:cNvPr id="10" name="Shape 8"/>
          <p:cNvSpPr/>
          <p:nvPr/>
        </p:nvSpPr>
        <p:spPr>
          <a:xfrm>
            <a:off x="9144000" y="2871216"/>
            <a:ext cx="91440" cy="91440"/>
          </a:xfrm>
          <a:prstGeom prst="ellipse">
            <a:avLst/>
          </a:prstGeom>
          <a:solidFill>
            <a:srgbClr val="1F9E86"/>
          </a:solidFill>
          <a:ln w="12700">
            <a:solidFill>
              <a:srgbClr val="333333"/>
            </a:solidFill>
            <a:prstDash val="solid"/>
          </a:ln>
        </p:spPr>
      </p:sp>
      <p:sp>
        <p:nvSpPr>
          <p:cNvPr id="11" name="Text 9"/>
          <p:cNvSpPr txBox="1"/>
          <p:nvPr/>
        </p:nvSpPr>
        <p:spPr>
          <a:xfrm>
            <a:off x="9381744" y="2798064"/>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Why adding fails</a:t>
            </a:r>
            <a:endParaRPr lang="en-US" sz="1250" dirty="0"/>
          </a:p>
        </p:txBody>
      </p:sp>
      <p:sp>
        <p:nvSpPr>
          <p:cNvPr id="12" name="Shape 10"/>
          <p:cNvSpPr/>
          <p:nvPr/>
        </p:nvSpPr>
        <p:spPr>
          <a:xfrm>
            <a:off x="9144000" y="3291840"/>
            <a:ext cx="91440" cy="91440"/>
          </a:xfrm>
          <a:prstGeom prst="ellipse">
            <a:avLst/>
          </a:prstGeom>
          <a:solidFill>
            <a:srgbClr val="1F9E86"/>
          </a:solidFill>
          <a:ln w="12700">
            <a:solidFill>
              <a:srgbClr val="333333"/>
            </a:solidFill>
            <a:prstDash val="solid"/>
          </a:ln>
        </p:spPr>
      </p:sp>
      <p:sp>
        <p:nvSpPr>
          <p:cNvPr id="13" name="Text 11"/>
          <p:cNvSpPr txBox="1"/>
          <p:nvPr/>
        </p:nvSpPr>
        <p:spPr>
          <a:xfrm>
            <a:off x="9381744" y="3218688"/>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Squaring</a:t>
            </a:r>
            <a:endParaRPr lang="en-US" sz="1250" dirty="0"/>
          </a:p>
        </p:txBody>
      </p:sp>
      <p:sp>
        <p:nvSpPr>
          <p:cNvPr id="14" name="Shape 12"/>
          <p:cNvSpPr/>
          <p:nvPr/>
        </p:nvSpPr>
        <p:spPr>
          <a:xfrm>
            <a:off x="9144000" y="3712464"/>
            <a:ext cx="91440" cy="91440"/>
          </a:xfrm>
          <a:prstGeom prst="ellipse">
            <a:avLst/>
          </a:prstGeom>
          <a:solidFill>
            <a:srgbClr val="1F9E86"/>
          </a:solidFill>
          <a:ln w="12700">
            <a:solidFill>
              <a:srgbClr val="333333"/>
            </a:solidFill>
            <a:prstDash val="solid"/>
          </a:ln>
        </p:spPr>
      </p:sp>
      <p:sp>
        <p:nvSpPr>
          <p:cNvPr id="15" name="Text 13"/>
          <p:cNvSpPr txBox="1"/>
          <p:nvPr/>
        </p:nvSpPr>
        <p:spPr>
          <a:xfrm>
            <a:off x="9381744" y="3639312"/>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Least squares</a:t>
            </a:r>
            <a:endParaRPr lang="en-US" sz="1250" dirty="0"/>
          </a:p>
        </p:txBody>
      </p:sp>
      <p:sp>
        <p:nvSpPr>
          <p:cNvPr id="16" name="Text 14"/>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6E819C"/>
                </a:solidFill>
                <a:latin typeface="Calibri" pitchFamily="34" charset="0"/>
                <a:ea typeface="Calibri" pitchFamily="34" charset="-122"/>
                <a:cs typeface="Calibri" pitchFamily="34" charset="-120"/>
              </a:rPr>
              <a:t>Srinivasa Sai Chava  ·  Boston University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1F9E86"/>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2 / 5   How wrong is a line?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1F9E86"/>
                </a:solidFill>
                <a:latin typeface="Calibri" pitchFamily="34" charset="0"/>
                <a:ea typeface="Calibri" pitchFamily="34" charset="-122"/>
                <a:cs typeface="Calibri" pitchFamily="34" charset="-120"/>
              </a:rPr>
              <a:t>MEASURING THE DAMAGE</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Start with one student</a:t>
            </a:r>
            <a:endParaRPr lang="en-US" sz="2700" dirty="0"/>
          </a:p>
        </p:txBody>
      </p:sp>
      <p:sp>
        <p:nvSpPr>
          <p:cNvPr id="11" name="Shape 9"/>
          <p:cNvSpPr/>
          <p:nvPr/>
        </p:nvSpPr>
        <p:spPr>
          <a:xfrm>
            <a:off x="585216" y="1444752"/>
            <a:ext cx="640080" cy="50292"/>
          </a:xfrm>
          <a:prstGeom prst="roundRect">
            <a:avLst>
              <a:gd name="adj" fmla="val 45455"/>
            </a:avLst>
          </a:prstGeom>
          <a:solidFill>
            <a:srgbClr val="1F9E86"/>
          </a:solidFill>
          <a:ln w="12700">
            <a:solidFill>
              <a:srgbClr val="333333"/>
            </a:solidFill>
            <a:prstDash val="solid"/>
          </a:ln>
        </p:spPr>
      </p:sp>
      <p:pic>
        <p:nvPicPr>
          <p:cNvPr id="12" name="Image 0" descr="/home/claude/d33n/fig/one_error.png">    </p:cNvPr>
          <p:cNvPicPr>
            <a:picLocks noChangeAspect="1"/>
          </p:cNvPicPr>
          <p:nvPr/>
        </p:nvPicPr>
        <p:blipFill>
          <a:blip r:embed="rId1"/>
          <a:stretch>
            <a:fillRect/>
          </a:stretch>
        </p:blipFill>
        <p:spPr>
          <a:xfrm>
            <a:off x="1234440" y="1572768"/>
            <a:ext cx="9692640" cy="3638378"/>
          </a:xfrm>
          <a:prstGeom prst="rect">
            <a:avLst/>
          </a:prstGeom>
        </p:spPr>
      </p:pic>
      <p:sp>
        <p:nvSpPr>
          <p:cNvPr id="13" name="Shape 10"/>
          <p:cNvSpPr/>
          <p:nvPr/>
        </p:nvSpPr>
        <p:spPr>
          <a:xfrm>
            <a:off x="566928" y="5394960"/>
            <a:ext cx="11064240" cy="731520"/>
          </a:xfrm>
          <a:prstGeom prst="roundRect">
            <a:avLst>
              <a:gd name="adj" fmla="val 12500"/>
            </a:avLst>
          </a:prstGeom>
          <a:solidFill>
            <a:srgbClr val="E6F5F1"/>
          </a:solidFill>
          <a:ln w="17780">
            <a:solidFill>
              <a:srgbClr val="1F9E86"/>
            </a:solidFill>
            <a:prstDash val="solid"/>
          </a:ln>
        </p:spPr>
      </p:sp>
      <p:sp>
        <p:nvSpPr>
          <p:cNvPr id="14" name="Shape 11"/>
          <p:cNvSpPr/>
          <p:nvPr/>
        </p:nvSpPr>
        <p:spPr>
          <a:xfrm>
            <a:off x="566928" y="5394960"/>
            <a:ext cx="82296" cy="731520"/>
          </a:xfrm>
          <a:prstGeom prst="roundRect">
            <a:avLst>
              <a:gd name="adj" fmla="val 44444"/>
            </a:avLst>
          </a:prstGeom>
          <a:solidFill>
            <a:srgbClr val="1F9E86"/>
          </a:solidFill>
          <a:ln w="12700">
            <a:solidFill>
              <a:srgbClr val="333333"/>
            </a:solidFill>
            <a:prstDash val="solid"/>
          </a:ln>
        </p:spPr>
      </p:sp>
      <p:sp>
        <p:nvSpPr>
          <p:cNvPr id="15" name="Text 12"/>
          <p:cNvSpPr txBox="1"/>
          <p:nvPr/>
        </p:nvSpPr>
        <p:spPr>
          <a:xfrm>
            <a:off x="868680" y="546811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One number per student: how far the dot sits from the line. Positive means the line guessed too low. That is all an error is.</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1F9E86"/>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2 / 5   How wrong is a line?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1F9E86"/>
                </a:solidFill>
                <a:latin typeface="Calibri" pitchFamily="34" charset="0"/>
                <a:ea typeface="Calibri" pitchFamily="34" charset="-122"/>
                <a:cs typeface="Calibri" pitchFamily="34" charset="-120"/>
              </a:rPr>
              <a:t>THE FIRST IDEA, AND WHY IT FAILS</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Adding the errors up does not work</a:t>
            </a:r>
            <a:endParaRPr lang="en-US" sz="2700" dirty="0"/>
          </a:p>
        </p:txBody>
      </p:sp>
      <p:sp>
        <p:nvSpPr>
          <p:cNvPr id="11" name="Shape 9"/>
          <p:cNvSpPr/>
          <p:nvPr/>
        </p:nvSpPr>
        <p:spPr>
          <a:xfrm>
            <a:off x="585216" y="1444752"/>
            <a:ext cx="640080" cy="50292"/>
          </a:xfrm>
          <a:prstGeom prst="roundRect">
            <a:avLst>
              <a:gd name="adj" fmla="val 45455"/>
            </a:avLst>
          </a:prstGeom>
          <a:solidFill>
            <a:srgbClr val="1F9E86"/>
          </a:solidFill>
          <a:ln w="12700">
            <a:solidFill>
              <a:srgbClr val="333333"/>
            </a:solidFill>
            <a:prstDash val="solid"/>
          </a:ln>
        </p:spPr>
      </p:sp>
      <p:pic>
        <p:nvPicPr>
          <p:cNvPr id="12" name="Image 0" descr="/home/claude/d33n/fig/sum_fails.png">    </p:cNvPr>
          <p:cNvPicPr>
            <a:picLocks noChangeAspect="1"/>
          </p:cNvPicPr>
          <p:nvPr/>
        </p:nvPicPr>
        <p:blipFill>
          <a:blip r:embed="rId1"/>
          <a:stretch>
            <a:fillRect/>
          </a:stretch>
        </p:blipFill>
        <p:spPr>
          <a:xfrm>
            <a:off x="713232" y="1572768"/>
            <a:ext cx="10789920" cy="3587074"/>
          </a:xfrm>
          <a:prstGeom prst="rect">
            <a:avLst/>
          </a:prstGeom>
        </p:spPr>
      </p:pic>
      <p:sp>
        <p:nvSpPr>
          <p:cNvPr id="13" name="Shape 10"/>
          <p:cNvSpPr/>
          <p:nvPr/>
        </p:nvSpPr>
        <p:spPr>
          <a:xfrm>
            <a:off x="566928" y="5285232"/>
            <a:ext cx="11064240" cy="731520"/>
          </a:xfrm>
          <a:prstGeom prst="roundRect">
            <a:avLst>
              <a:gd name="adj" fmla="val 12500"/>
            </a:avLst>
          </a:prstGeom>
          <a:solidFill>
            <a:srgbClr val="FCEBE7"/>
          </a:solidFill>
          <a:ln w="17780">
            <a:solidFill>
              <a:srgbClr val="E05C45"/>
            </a:solidFill>
            <a:prstDash val="solid"/>
          </a:ln>
        </p:spPr>
      </p:sp>
      <p:sp>
        <p:nvSpPr>
          <p:cNvPr id="14" name="Shape 11"/>
          <p:cNvSpPr/>
          <p:nvPr/>
        </p:nvSpPr>
        <p:spPr>
          <a:xfrm>
            <a:off x="566928" y="5285232"/>
            <a:ext cx="82296" cy="731520"/>
          </a:xfrm>
          <a:prstGeom prst="roundRect">
            <a:avLst>
              <a:gd name="adj" fmla="val 44444"/>
            </a:avLst>
          </a:prstGeom>
          <a:solidFill>
            <a:srgbClr val="E05C45"/>
          </a:solidFill>
          <a:ln w="12700">
            <a:solidFill>
              <a:srgbClr val="333333"/>
            </a:solidFill>
            <a:prstDash val="solid"/>
          </a:ln>
        </p:spPr>
      </p:sp>
      <p:sp>
        <p:nvSpPr>
          <p:cNvPr id="15" name="Text 12"/>
          <p:cNvSpPr txBox="1"/>
          <p:nvPr/>
        </p:nvSpPr>
        <p:spPr>
          <a:xfrm>
            <a:off x="868680" y="5358384"/>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The best line and the exactly-upside-down line BOTH score zero. The pluses and the minuses cancel, and the score tells you nothing at all.</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1F9E86"/>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2 / 5   How wrong is a line?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1F9E86"/>
                </a:solidFill>
                <a:latin typeface="Calibri" pitchFamily="34" charset="0"/>
                <a:ea typeface="Calibri" pitchFamily="34" charset="-122"/>
                <a:cs typeface="Calibri" pitchFamily="34" charset="-120"/>
              </a:rPr>
              <a:t>THE FIX</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So square every error before adding</a:t>
            </a:r>
            <a:endParaRPr lang="en-US" sz="2700" dirty="0"/>
          </a:p>
        </p:txBody>
      </p:sp>
      <p:sp>
        <p:nvSpPr>
          <p:cNvPr id="11" name="Shape 9"/>
          <p:cNvSpPr/>
          <p:nvPr/>
        </p:nvSpPr>
        <p:spPr>
          <a:xfrm>
            <a:off x="585216" y="1444752"/>
            <a:ext cx="640080" cy="50292"/>
          </a:xfrm>
          <a:prstGeom prst="roundRect">
            <a:avLst>
              <a:gd name="adj" fmla="val 45455"/>
            </a:avLst>
          </a:prstGeom>
          <a:solidFill>
            <a:srgbClr val="1F9E86"/>
          </a:solidFill>
          <a:ln w="12700">
            <a:solidFill>
              <a:srgbClr val="333333"/>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325880" y="1783080"/>
          <a:ext cx="9509760" cy="914400"/>
        </p:xfrm>
        <a:graphic>
          <a:graphicData uri="http://schemas.openxmlformats.org/drawingml/2006/table">
            <a:tbl>
              <a:tblPr/>
              <a:tblGrid>
                <a:gridCol w="1554480"/>
                <a:gridCol w="2103120"/>
                <a:gridCol w="2103120"/>
                <a:gridCol w="1737360"/>
                <a:gridCol w="2011680"/>
              </a:tblGrid>
              <a:tr h="315468">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hours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actual mark</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the line says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error</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error squared</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r>
              <a:tr h="315468">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34</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34</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15468">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44</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42</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15468">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47</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50</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9</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15468">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58</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58</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15468">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67</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66</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50" dirty="0">
                          <a:solidFill>
                            <a:srgbClr val="33415A"/>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15468">
                <a:tc>
                  <a:txBody>
                    <a:bodyPr/>
                    <a:lstStyle/>
                    <a:p>
                      <a:pPr algn="ctr" indent="0" marL="0">
                        <a:buNone/>
                      </a:pP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6F5F1"/>
                    </a:solidFill>
                  </a:tcPr>
                </a:tc>
                <a:tc>
                  <a:txBody>
                    <a:bodyPr/>
                    <a:lstStyle/>
                    <a:p>
                      <a:pPr algn="ctr" indent="0" marL="0">
                        <a:buNone/>
                      </a:pP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6F5F1"/>
                    </a:solidFill>
                  </a:tcPr>
                </a:tc>
                <a:tc>
                  <a:txBody>
                    <a:bodyPr/>
                    <a:lstStyle/>
                    <a:p>
                      <a:pPr algn="ctr" indent="0" marL="0">
                        <a:buNone/>
                      </a:pPr>
                      <a:r>
                        <a:rPr lang="en-US" sz="1350" b="1" dirty="0">
                          <a:solidFill>
                            <a:srgbClr val="1B3558"/>
                          </a:solidFill>
                          <a:latin typeface="Calibri" pitchFamily="34" charset="0"/>
                          <a:ea typeface="Calibri" pitchFamily="34" charset="-122"/>
                          <a:cs typeface="Calibri" pitchFamily="34" charset="-120"/>
                        </a:rPr>
                        <a:t>total</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6F5F1"/>
                    </a:solidFill>
                  </a:tcPr>
                </a:tc>
                <a:tc>
                  <a:txBody>
                    <a:bodyPr/>
                    <a:lstStyle/>
                    <a:p>
                      <a:pPr algn="ctr" indent="0" marL="0">
                        <a:buNone/>
                      </a:pPr>
                      <a:r>
                        <a:rPr lang="en-US" sz="1350" b="1" dirty="0">
                          <a:solidFill>
                            <a:srgbClr val="E05C45"/>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6F5F1"/>
                    </a:solidFill>
                  </a:tcPr>
                </a:tc>
                <a:tc>
                  <a:txBody>
                    <a:bodyPr/>
                    <a:lstStyle/>
                    <a:p>
                      <a:pPr algn="ctr" indent="0" marL="0">
                        <a:buNone/>
                      </a:pPr>
                      <a:r>
                        <a:rPr lang="en-US" sz="1350" b="1" dirty="0">
                          <a:solidFill>
                            <a:srgbClr val="1F9E86"/>
                          </a:solidFill>
                          <a:latin typeface="Calibri" pitchFamily="34" charset="0"/>
                          <a:ea typeface="Calibri" pitchFamily="34" charset="-122"/>
                          <a:cs typeface="Calibri" pitchFamily="34" charset="-120"/>
                        </a:rPr>
                        <a:t>14</a:t>
                      </a:r>
                      <a:endParaRPr lang="en-US" sz="13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6F5F1"/>
                    </a:solidFill>
                  </a:tcPr>
                </a:tc>
              </a:tr>
            </a:tbl>
          </a:graphicData>
        </a:graphic>
      </p:graphicFrame>
      <p:sp>
        <p:nvSpPr>
          <p:cNvPr id="13" name="Text 10"/>
          <p:cNvSpPr txBox="1"/>
          <p:nvPr/>
        </p:nvSpPr>
        <p:spPr>
          <a:xfrm>
            <a:off x="1325880" y="4315968"/>
            <a:ext cx="9509760" cy="310896"/>
          </a:xfrm>
          <a:prstGeom prst="rect">
            <a:avLst/>
          </a:prstGeom>
          <a:noFill/>
          <a:ln/>
        </p:spPr>
        <p:txBody>
          <a:bodyPr wrap="square" lIns="0" tIns="0" rIns="0" bIns="0" rtlCol="0" anchor="ctr"/>
          <a:lstStyle/>
          <a:p>
            <a:pPr algn="ctr" indent="0" marL="0">
              <a:buNone/>
            </a:pPr>
            <a:r>
              <a:rPr lang="en-US" sz="1400" dirty="0">
                <a:solidFill>
                  <a:srgbClr val="33415A"/>
                </a:solidFill>
                <a:latin typeface="Calibri" pitchFamily="34" charset="0"/>
                <a:ea typeface="Calibri" pitchFamily="34" charset="-122"/>
                <a:cs typeface="Calibri" pitchFamily="34" charset="-120"/>
              </a:rPr>
              <a:t>Squaring throws away the sign. A miss of −3 and a miss of +3 both cost 9.</a:t>
            </a:r>
            <a:endParaRPr lang="en-US" sz="1400" dirty="0"/>
          </a:p>
        </p:txBody>
      </p:sp>
      <p:sp>
        <p:nvSpPr>
          <p:cNvPr id="14" name="Shape 11"/>
          <p:cNvSpPr/>
          <p:nvPr/>
        </p:nvSpPr>
        <p:spPr>
          <a:xfrm>
            <a:off x="566928" y="4846320"/>
            <a:ext cx="11064240" cy="731520"/>
          </a:xfrm>
          <a:prstGeom prst="roundRect">
            <a:avLst>
              <a:gd name="adj" fmla="val 12500"/>
            </a:avLst>
          </a:prstGeom>
          <a:solidFill>
            <a:srgbClr val="E6F5F1"/>
          </a:solidFill>
          <a:ln w="17780">
            <a:solidFill>
              <a:srgbClr val="1F9E86"/>
            </a:solidFill>
            <a:prstDash val="solid"/>
          </a:ln>
        </p:spPr>
      </p:sp>
      <p:sp>
        <p:nvSpPr>
          <p:cNvPr id="15" name="Shape 12"/>
          <p:cNvSpPr/>
          <p:nvPr/>
        </p:nvSpPr>
        <p:spPr>
          <a:xfrm>
            <a:off x="566928" y="4846320"/>
            <a:ext cx="82296" cy="731520"/>
          </a:xfrm>
          <a:prstGeom prst="roundRect">
            <a:avLst>
              <a:gd name="adj" fmla="val 44444"/>
            </a:avLst>
          </a:prstGeom>
          <a:solidFill>
            <a:srgbClr val="1F9E86"/>
          </a:solidFill>
          <a:ln w="12700">
            <a:solidFill>
              <a:srgbClr val="333333"/>
            </a:solidFill>
            <a:prstDash val="solid"/>
          </a:ln>
        </p:spPr>
      </p:sp>
      <p:sp>
        <p:nvSpPr>
          <p:cNvPr id="16" name="Text 13"/>
          <p:cNvSpPr txBox="1"/>
          <p:nvPr/>
        </p:nvSpPr>
        <p:spPr>
          <a:xfrm>
            <a:off x="868680" y="491947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Total squared error = 14. Now "best" has a definition: the best line is the one with the SMALLEST total squared error. That name is literally "least squares".</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1F9E86"/>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2 / 5   How wrong is a line?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1F9E86"/>
                </a:solidFill>
                <a:latin typeface="Calibri" pitchFamily="34" charset="0"/>
                <a:ea typeface="Calibri" pitchFamily="34" charset="-122"/>
                <a:cs typeface="Calibri" pitchFamily="34" charset="-120"/>
              </a:rPr>
              <a:t>THE PICTURE BEHIND THE NAME</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Why it is called least squares</a:t>
            </a:r>
            <a:endParaRPr lang="en-US" sz="2700" dirty="0"/>
          </a:p>
        </p:txBody>
      </p:sp>
      <p:sp>
        <p:nvSpPr>
          <p:cNvPr id="11" name="Shape 9"/>
          <p:cNvSpPr/>
          <p:nvPr/>
        </p:nvSpPr>
        <p:spPr>
          <a:xfrm>
            <a:off x="585216" y="1444752"/>
            <a:ext cx="640080" cy="50292"/>
          </a:xfrm>
          <a:prstGeom prst="roundRect">
            <a:avLst>
              <a:gd name="adj" fmla="val 45455"/>
            </a:avLst>
          </a:prstGeom>
          <a:solidFill>
            <a:srgbClr val="1F9E86"/>
          </a:solidFill>
          <a:ln w="12700">
            <a:solidFill>
              <a:srgbClr val="333333"/>
            </a:solidFill>
            <a:prstDash val="solid"/>
          </a:ln>
        </p:spPr>
      </p:sp>
      <p:pic>
        <p:nvPicPr>
          <p:cNvPr id="12" name="Image 0" descr="/home/claude/d33n/fig/the_squares.png">    </p:cNvPr>
          <p:cNvPicPr>
            <a:picLocks noChangeAspect="1"/>
          </p:cNvPicPr>
          <p:nvPr/>
        </p:nvPicPr>
        <p:blipFill>
          <a:blip r:embed="rId1"/>
          <a:stretch>
            <a:fillRect/>
          </a:stretch>
        </p:blipFill>
        <p:spPr>
          <a:xfrm>
            <a:off x="658368" y="1536192"/>
            <a:ext cx="10881360" cy="3571172"/>
          </a:xfrm>
          <a:prstGeom prst="rect">
            <a:avLst/>
          </a:prstGeom>
        </p:spPr>
      </p:pic>
      <p:sp>
        <p:nvSpPr>
          <p:cNvPr id="13" name="Shape 10"/>
          <p:cNvSpPr/>
          <p:nvPr/>
        </p:nvSpPr>
        <p:spPr>
          <a:xfrm>
            <a:off x="566928" y="5303520"/>
            <a:ext cx="11064240" cy="731520"/>
          </a:xfrm>
          <a:prstGeom prst="roundRect">
            <a:avLst>
              <a:gd name="adj" fmla="val 12500"/>
            </a:avLst>
          </a:prstGeom>
          <a:solidFill>
            <a:srgbClr val="E6F5F1"/>
          </a:solidFill>
          <a:ln w="17780">
            <a:solidFill>
              <a:srgbClr val="1F9E86"/>
            </a:solidFill>
            <a:prstDash val="solid"/>
          </a:ln>
        </p:spPr>
      </p:sp>
      <p:sp>
        <p:nvSpPr>
          <p:cNvPr id="14" name="Shape 11"/>
          <p:cNvSpPr/>
          <p:nvPr/>
        </p:nvSpPr>
        <p:spPr>
          <a:xfrm>
            <a:off x="566928" y="5303520"/>
            <a:ext cx="82296" cy="731520"/>
          </a:xfrm>
          <a:prstGeom prst="roundRect">
            <a:avLst>
              <a:gd name="adj" fmla="val 44444"/>
            </a:avLst>
          </a:prstGeom>
          <a:solidFill>
            <a:srgbClr val="1F9E86"/>
          </a:solidFill>
          <a:ln w="12700">
            <a:solidFill>
              <a:srgbClr val="333333"/>
            </a:solidFill>
            <a:prstDash val="solid"/>
          </a:ln>
        </p:spPr>
      </p:sp>
      <p:sp>
        <p:nvSpPr>
          <p:cNvPr id="15" name="Text 12"/>
          <p:cNvSpPr txBox="1"/>
          <p:nvPr/>
        </p:nvSpPr>
        <p:spPr>
          <a:xfrm>
            <a:off x="868680" y="537667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Each error becomes an actual square on the chart. Fitting a line means shrinking the total shaded area — from 104 down to 14.</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1F9E86"/>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2 / 5   How wrong is a line?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1F9E86"/>
                </a:solidFill>
                <a:latin typeface="Calibri" pitchFamily="34" charset="0"/>
                <a:ea typeface="Calibri" pitchFamily="34" charset="-122"/>
                <a:cs typeface="Calibri" pitchFamily="34" charset="-120"/>
              </a:rPr>
              <a:t>A FAIR QUESTION</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Why squaring, and not just ignoring the minus sign?</a:t>
            </a:r>
            <a:endParaRPr lang="en-US" sz="2700" dirty="0"/>
          </a:p>
        </p:txBody>
      </p:sp>
      <p:sp>
        <p:nvSpPr>
          <p:cNvPr id="11" name="Shape 9"/>
          <p:cNvSpPr/>
          <p:nvPr/>
        </p:nvSpPr>
        <p:spPr>
          <a:xfrm>
            <a:off x="585216" y="1444752"/>
            <a:ext cx="640080" cy="50292"/>
          </a:xfrm>
          <a:prstGeom prst="roundRect">
            <a:avLst>
              <a:gd name="adj" fmla="val 45455"/>
            </a:avLst>
          </a:prstGeom>
          <a:solidFill>
            <a:srgbClr val="1F9E86"/>
          </a:solidFill>
          <a:ln w="12700">
            <a:solidFill>
              <a:srgbClr val="333333"/>
            </a:solidFill>
            <a:prstDash val="solid"/>
          </a:ln>
        </p:spPr>
      </p:sp>
      <p:pic>
        <p:nvPicPr>
          <p:cNvPr id="12" name="Image 0" descr="/home/claude/d33n/fig/why_square.png">    </p:cNvPr>
          <p:cNvPicPr>
            <a:picLocks noChangeAspect="1"/>
          </p:cNvPicPr>
          <p:nvPr/>
        </p:nvPicPr>
        <p:blipFill>
          <a:blip r:embed="rId1"/>
          <a:stretch>
            <a:fillRect/>
          </a:stretch>
        </p:blipFill>
        <p:spPr>
          <a:xfrm>
            <a:off x="1051560" y="1783080"/>
            <a:ext cx="10058400" cy="2572481"/>
          </a:xfrm>
          <a:prstGeom prst="rect">
            <a:avLst/>
          </a:prstGeom>
        </p:spPr>
      </p:pic>
      <p:sp>
        <p:nvSpPr>
          <p:cNvPr id="13" name="Shape 10"/>
          <p:cNvSpPr/>
          <p:nvPr/>
        </p:nvSpPr>
        <p:spPr>
          <a:xfrm>
            <a:off x="566928" y="4480560"/>
            <a:ext cx="11064240" cy="987552"/>
          </a:xfrm>
          <a:prstGeom prst="roundRect">
            <a:avLst>
              <a:gd name="adj" fmla="val 9259"/>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4" name="Text 11"/>
          <p:cNvSpPr txBox="1"/>
          <p:nvPr/>
        </p:nvSpPr>
        <p:spPr>
          <a:xfrm>
            <a:off x="868680" y="4608576"/>
            <a:ext cx="10424160" cy="749808"/>
          </a:xfrm>
          <a:prstGeom prst="rect">
            <a:avLst/>
          </a:prstGeom>
          <a:noFill/>
          <a:ln/>
        </p:spPr>
        <p:txBody>
          <a:bodyPr wrap="square" lIns="0" tIns="0" rIns="0" bIns="0" rtlCol="0" anchor="ctr"/>
          <a:lstStyle/>
          <a:p>
            <a:pPr indent="0" marL="0">
              <a:lnSpc>
                <a:spcPct val="120000"/>
              </a:lnSpc>
              <a:buNone/>
            </a:pPr>
            <a:r>
              <a:rPr lang="en-US" sz="1350" b="1" dirty="0">
                <a:solidFill>
                  <a:srgbClr val="1B3558"/>
                </a:solidFill>
                <a:latin typeface="Calibri" pitchFamily="34" charset="0"/>
                <a:ea typeface="Calibri" pitchFamily="34" charset="-122"/>
                <a:cs typeface="Calibri" pitchFamily="34" charset="-120"/>
              </a:rPr>
              <a:t>Both options remove the sign. </a:t>
            </a:r>
            <a:pPr indent="0" marL="0">
              <a:lnSpc>
                <a:spcPct val="120000"/>
              </a:lnSpc>
              <a:buNone/>
            </a:pPr>
            <a:r>
              <a:rPr lang="en-US" sz="1350" dirty="0">
                <a:solidFill>
                  <a:srgbClr val="33415A"/>
                </a:solidFill>
                <a:latin typeface="Calibri" pitchFamily="34" charset="0"/>
                <a:ea typeface="Calibri" pitchFamily="34" charset="-122"/>
                <a:cs typeface="Calibri" pitchFamily="34" charset="-120"/>
              </a:rPr>
              <a:t>Squaring goes further: it says a few small misses are forgivable, but one enormous miss is not. For predicting a mark, a model that is usually within 2 and occasionally out by 30 is worse than one that is always out by 5 — and squaring is what encodes that preference.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1F3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0A530"/>
          </a:solidFill>
          <a:ln w="12700">
            <a:solidFill>
              <a:srgbClr val="333333"/>
            </a:solidFill>
            <a:prstDash val="solid"/>
          </a:ln>
        </p:spPr>
      </p:sp>
      <p:sp>
        <p:nvSpPr>
          <p:cNvPr id="3" name="Shape 1"/>
          <p:cNvSpPr/>
          <p:nvPr/>
        </p:nvSpPr>
        <p:spPr>
          <a:xfrm>
            <a:off x="10881360" y="-1828800"/>
            <a:ext cx="4206240" cy="4206240"/>
          </a:xfrm>
          <a:prstGeom prst="ellipse">
            <a:avLst/>
          </a:prstGeom>
          <a:solidFill>
            <a:srgbClr val="1A2A44"/>
          </a:solidFill>
          <a:ln w="12700">
            <a:solidFill>
              <a:srgbClr val="333333"/>
            </a:solidFill>
            <a:prstDash val="solid"/>
          </a:ln>
        </p:spPr>
      </p:sp>
      <p:sp>
        <p:nvSpPr>
          <p:cNvPr id="4" name="Shape 2"/>
          <p:cNvSpPr/>
          <p:nvPr/>
        </p:nvSpPr>
        <p:spPr>
          <a:xfrm>
            <a:off x="9509760" y="4937760"/>
            <a:ext cx="2926080" cy="2926080"/>
          </a:xfrm>
          <a:prstGeom prst="ellipse">
            <a:avLst/>
          </a:prstGeom>
          <a:solidFill>
            <a:srgbClr val="172742"/>
          </a:solidFill>
          <a:ln w="12700">
            <a:solidFill>
              <a:srgbClr val="333333"/>
            </a:solidFill>
            <a:prstDash val="solid"/>
          </a:ln>
        </p:spPr>
      </p:sp>
      <p:sp>
        <p:nvSpPr>
          <p:cNvPr id="5" name="Text 3"/>
          <p:cNvSpPr txBox="1"/>
          <p:nvPr/>
        </p:nvSpPr>
        <p:spPr>
          <a:xfrm>
            <a:off x="914400" y="1920240"/>
            <a:ext cx="5486400" cy="274320"/>
          </a:xfrm>
          <a:prstGeom prst="rect">
            <a:avLst/>
          </a:prstGeom>
          <a:noFill/>
          <a:ln/>
        </p:spPr>
        <p:txBody>
          <a:bodyPr wrap="square" lIns="0" tIns="0" rIns="0" bIns="0" rtlCol="0" anchor="ctr"/>
          <a:lstStyle/>
          <a:p>
            <a:pPr indent="0" marL="0">
              <a:buNone/>
            </a:pPr>
            <a:r>
              <a:rPr lang="en-US" sz="1200" b="1" spc="240" kern="0" dirty="0">
                <a:solidFill>
                  <a:srgbClr val="F0A530"/>
                </a:solidFill>
                <a:latin typeface="Calibri" pitchFamily="34" charset="0"/>
                <a:ea typeface="Calibri" pitchFamily="34" charset="-122"/>
                <a:cs typeface="Calibri" pitchFamily="34" charset="-120"/>
              </a:rPr>
              <a:t>SECTION 3 OF 5</a:t>
            </a:r>
            <a:endParaRPr lang="en-US" sz="1200" dirty="0"/>
          </a:p>
        </p:txBody>
      </p:sp>
      <p:sp>
        <p:nvSpPr>
          <p:cNvPr id="6" name="Text 4"/>
          <p:cNvSpPr txBox="1"/>
          <p:nvPr/>
        </p:nvSpPr>
        <p:spPr>
          <a:xfrm>
            <a:off x="914400" y="2267712"/>
            <a:ext cx="7680960" cy="8686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Finding the best one</a:t>
            </a:r>
            <a:endParaRPr lang="en-US" sz="4000" dirty="0"/>
          </a:p>
        </p:txBody>
      </p:sp>
      <p:sp>
        <p:nvSpPr>
          <p:cNvPr id="7" name="Text 5"/>
          <p:cNvSpPr txBox="1"/>
          <p:nvPr/>
        </p:nvSpPr>
        <p:spPr>
          <a:xfrm>
            <a:off x="932688" y="3218688"/>
            <a:ext cx="7498080" cy="685800"/>
          </a:xfrm>
          <a:prstGeom prst="rect">
            <a:avLst/>
          </a:prstGeom>
          <a:noFill/>
          <a:ln/>
        </p:spPr>
        <p:txBody>
          <a:bodyPr wrap="square" lIns="0" tIns="0" rIns="0" bIns="0" rtlCol="0" anchor="ctr"/>
          <a:lstStyle/>
          <a:p>
            <a:pPr indent="0" marL="0">
              <a:lnSpc>
                <a:spcPct val="120000"/>
              </a:lnSpc>
              <a:buNone/>
            </a:pPr>
            <a:r>
              <a:rPr lang="en-US" sz="1600" dirty="0">
                <a:solidFill>
                  <a:srgbClr val="AEC0D8"/>
                </a:solidFill>
                <a:latin typeface="Calibri" pitchFamily="34" charset="0"/>
                <a:ea typeface="Calibri" pitchFamily="34" charset="-122"/>
                <a:cs typeface="Calibri" pitchFamily="34" charset="-120"/>
              </a:rPr>
              <a:t>Two different routes. Exactly the same answer.</a:t>
            </a:r>
            <a:endParaRPr lang="en-US" sz="1600" dirty="0"/>
          </a:p>
        </p:txBody>
      </p:sp>
      <p:sp>
        <p:nvSpPr>
          <p:cNvPr id="8" name="Shape 6"/>
          <p:cNvSpPr/>
          <p:nvPr/>
        </p:nvSpPr>
        <p:spPr>
          <a:xfrm>
            <a:off x="9144000" y="2450592"/>
            <a:ext cx="91440" cy="91440"/>
          </a:xfrm>
          <a:prstGeom prst="ellipse">
            <a:avLst/>
          </a:prstGeom>
          <a:solidFill>
            <a:srgbClr val="F0A530"/>
          </a:solidFill>
          <a:ln w="12700">
            <a:solidFill>
              <a:srgbClr val="333333"/>
            </a:solidFill>
            <a:prstDash val="solid"/>
          </a:ln>
        </p:spPr>
      </p:sp>
      <p:sp>
        <p:nvSpPr>
          <p:cNvPr id="9" name="Text 7"/>
          <p:cNvSpPr txBox="1"/>
          <p:nvPr/>
        </p:nvSpPr>
        <p:spPr>
          <a:xfrm>
            <a:off x="9381744" y="2377440"/>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The bowl</a:t>
            </a:r>
            <a:endParaRPr lang="en-US" sz="1250" dirty="0"/>
          </a:p>
        </p:txBody>
      </p:sp>
      <p:sp>
        <p:nvSpPr>
          <p:cNvPr id="10" name="Shape 8"/>
          <p:cNvSpPr/>
          <p:nvPr/>
        </p:nvSpPr>
        <p:spPr>
          <a:xfrm>
            <a:off x="9144000" y="2871216"/>
            <a:ext cx="91440" cy="91440"/>
          </a:xfrm>
          <a:prstGeom prst="ellipse">
            <a:avLst/>
          </a:prstGeom>
          <a:solidFill>
            <a:srgbClr val="F0A530"/>
          </a:solidFill>
          <a:ln w="12700">
            <a:solidFill>
              <a:srgbClr val="333333"/>
            </a:solidFill>
            <a:prstDash val="solid"/>
          </a:ln>
        </p:spPr>
      </p:sp>
      <p:sp>
        <p:nvSpPr>
          <p:cNvPr id="11" name="Text 9"/>
          <p:cNvSpPr txBox="1"/>
          <p:nvPr/>
        </p:nvSpPr>
        <p:spPr>
          <a:xfrm>
            <a:off x="9381744" y="2798064"/>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The formula, by hand</a:t>
            </a:r>
            <a:endParaRPr lang="en-US" sz="1250" dirty="0"/>
          </a:p>
        </p:txBody>
      </p:sp>
      <p:sp>
        <p:nvSpPr>
          <p:cNvPr id="12" name="Shape 10"/>
          <p:cNvSpPr/>
          <p:nvPr/>
        </p:nvSpPr>
        <p:spPr>
          <a:xfrm>
            <a:off x="9144000" y="3291840"/>
            <a:ext cx="91440" cy="91440"/>
          </a:xfrm>
          <a:prstGeom prst="ellipse">
            <a:avLst/>
          </a:prstGeom>
          <a:solidFill>
            <a:srgbClr val="F0A530"/>
          </a:solidFill>
          <a:ln w="12700">
            <a:solidFill>
              <a:srgbClr val="333333"/>
            </a:solidFill>
            <a:prstDash val="solid"/>
          </a:ln>
        </p:spPr>
      </p:sp>
      <p:sp>
        <p:nvSpPr>
          <p:cNvPr id="13" name="Text 11"/>
          <p:cNvSpPr txBox="1"/>
          <p:nvPr/>
        </p:nvSpPr>
        <p:spPr>
          <a:xfrm>
            <a:off x="9381744" y="3218688"/>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Gradient descent</a:t>
            </a:r>
            <a:endParaRPr lang="en-US" sz="1250" dirty="0"/>
          </a:p>
        </p:txBody>
      </p:sp>
      <p:sp>
        <p:nvSpPr>
          <p:cNvPr id="14" name="Shape 12"/>
          <p:cNvSpPr/>
          <p:nvPr/>
        </p:nvSpPr>
        <p:spPr>
          <a:xfrm>
            <a:off x="9144000" y="3712464"/>
            <a:ext cx="91440" cy="91440"/>
          </a:xfrm>
          <a:prstGeom prst="ellipse">
            <a:avLst/>
          </a:prstGeom>
          <a:solidFill>
            <a:srgbClr val="F0A530"/>
          </a:solidFill>
          <a:ln w="12700">
            <a:solidFill>
              <a:srgbClr val="333333"/>
            </a:solidFill>
            <a:prstDash val="solid"/>
          </a:ln>
        </p:spPr>
      </p:sp>
      <p:sp>
        <p:nvSpPr>
          <p:cNvPr id="15" name="Text 13"/>
          <p:cNvSpPr txBox="1"/>
          <p:nvPr/>
        </p:nvSpPr>
        <p:spPr>
          <a:xfrm>
            <a:off x="9381744" y="3639312"/>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Why both matter</a:t>
            </a:r>
            <a:endParaRPr lang="en-US" sz="1250" dirty="0"/>
          </a:p>
        </p:txBody>
      </p:sp>
      <p:sp>
        <p:nvSpPr>
          <p:cNvPr id="16" name="Text 14"/>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6E819C"/>
                </a:solidFill>
                <a:latin typeface="Calibri" pitchFamily="34" charset="0"/>
                <a:ea typeface="Calibri" pitchFamily="34" charset="-122"/>
                <a:cs typeface="Calibri" pitchFamily="34" charset="-120"/>
              </a:rPr>
              <a:t>Srinivasa Sai Chava  ·  Boston University</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F0A530"/>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3 / 5   Finding the best one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A86F00"/>
                </a:solidFill>
                <a:latin typeface="Calibri" pitchFamily="34" charset="0"/>
                <a:ea typeface="Calibri" pitchFamily="34" charset="-122"/>
                <a:cs typeface="Calibri" pitchFamily="34" charset="-120"/>
              </a:rPr>
              <a:t>WHAT WE ARE LOOKING FOR</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Try every slope and the errors make a bowl</a:t>
            </a:r>
            <a:endParaRPr lang="en-US" sz="2700" dirty="0"/>
          </a:p>
        </p:txBody>
      </p:sp>
      <p:sp>
        <p:nvSpPr>
          <p:cNvPr id="11" name="Shape 9"/>
          <p:cNvSpPr/>
          <p:nvPr/>
        </p:nvSpPr>
        <p:spPr>
          <a:xfrm>
            <a:off x="585216" y="1444752"/>
            <a:ext cx="640080" cy="50292"/>
          </a:xfrm>
          <a:prstGeom prst="roundRect">
            <a:avLst>
              <a:gd name="adj" fmla="val 45455"/>
            </a:avLst>
          </a:prstGeom>
          <a:solidFill>
            <a:srgbClr val="F0A530"/>
          </a:solidFill>
          <a:ln w="12700">
            <a:solidFill>
              <a:srgbClr val="333333"/>
            </a:solidFill>
            <a:prstDash val="solid"/>
          </a:ln>
        </p:spPr>
      </p:sp>
      <p:pic>
        <p:nvPicPr>
          <p:cNvPr id="12" name="Image 0" descr="/home/claude/d33n/fig/the_bowl.png">    </p:cNvPr>
          <p:cNvPicPr>
            <a:picLocks noChangeAspect="1"/>
          </p:cNvPicPr>
          <p:nvPr/>
        </p:nvPicPr>
        <p:blipFill>
          <a:blip r:embed="rId1"/>
          <a:stretch>
            <a:fillRect/>
          </a:stretch>
        </p:blipFill>
        <p:spPr>
          <a:xfrm>
            <a:off x="1143000" y="1627632"/>
            <a:ext cx="9875520" cy="3450566"/>
          </a:xfrm>
          <a:prstGeom prst="rect">
            <a:avLst/>
          </a:prstGeom>
        </p:spPr>
      </p:pic>
      <p:sp>
        <p:nvSpPr>
          <p:cNvPr id="13" name="Shape 10"/>
          <p:cNvSpPr/>
          <p:nvPr/>
        </p:nvSpPr>
        <p:spPr>
          <a:xfrm>
            <a:off x="566928" y="5285232"/>
            <a:ext cx="11064240" cy="731520"/>
          </a:xfrm>
          <a:prstGeom prst="roundRect">
            <a:avLst>
              <a:gd name="adj" fmla="val 12500"/>
            </a:avLst>
          </a:prstGeom>
          <a:solidFill>
            <a:srgbClr val="FDF3E0"/>
          </a:solidFill>
          <a:ln w="17780">
            <a:solidFill>
              <a:srgbClr val="F0A530"/>
            </a:solidFill>
            <a:prstDash val="solid"/>
          </a:ln>
        </p:spPr>
      </p:sp>
      <p:sp>
        <p:nvSpPr>
          <p:cNvPr id="14" name="Shape 11"/>
          <p:cNvSpPr/>
          <p:nvPr/>
        </p:nvSpPr>
        <p:spPr>
          <a:xfrm>
            <a:off x="566928" y="5285232"/>
            <a:ext cx="82296" cy="731520"/>
          </a:xfrm>
          <a:prstGeom prst="roundRect">
            <a:avLst>
              <a:gd name="adj" fmla="val 44444"/>
            </a:avLst>
          </a:prstGeom>
          <a:solidFill>
            <a:srgbClr val="F0A530"/>
          </a:solidFill>
          <a:ln w="12700">
            <a:solidFill>
              <a:srgbClr val="333333"/>
            </a:solidFill>
            <a:prstDash val="solid"/>
          </a:ln>
        </p:spPr>
      </p:sp>
      <p:sp>
        <p:nvSpPr>
          <p:cNvPr id="15" name="Text 12"/>
          <p:cNvSpPr txBox="1"/>
          <p:nvPr/>
        </p:nvSpPr>
        <p:spPr>
          <a:xfrm>
            <a:off x="868680" y="5358384"/>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There is exactly one bottom, and no other dips to get stuck in. For a straight line this is always true — which is why the problem is solvable at all.</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F0A530"/>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3 / 5   Finding the best one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A86F00"/>
                </a:solidFill>
                <a:latin typeface="Calibri" pitchFamily="34" charset="0"/>
                <a:ea typeface="Calibri" pitchFamily="34" charset="-122"/>
                <a:cs typeface="Calibri" pitchFamily="34" charset="-120"/>
              </a:rPr>
              <a:t>THE EXACT ANSWER</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Route 1 · There is a formula</a:t>
            </a:r>
            <a:endParaRPr lang="en-US" sz="2700" dirty="0"/>
          </a:p>
        </p:txBody>
      </p:sp>
      <p:sp>
        <p:nvSpPr>
          <p:cNvPr id="11" name="Shape 9"/>
          <p:cNvSpPr/>
          <p:nvPr/>
        </p:nvSpPr>
        <p:spPr>
          <a:xfrm>
            <a:off x="585216" y="1444752"/>
            <a:ext cx="640080" cy="50292"/>
          </a:xfrm>
          <a:prstGeom prst="roundRect">
            <a:avLst>
              <a:gd name="adj" fmla="val 45455"/>
            </a:avLst>
          </a:prstGeom>
          <a:solidFill>
            <a:srgbClr val="F0A530"/>
          </a:solidFill>
          <a:ln w="12700">
            <a:solidFill>
              <a:srgbClr val="333333"/>
            </a:solidFill>
            <a:prstDash val="solid"/>
          </a:ln>
        </p:spPr>
      </p:sp>
      <p:sp>
        <p:nvSpPr>
          <p:cNvPr id="12" name="Shape 10"/>
          <p:cNvSpPr/>
          <p:nvPr/>
        </p:nvSpPr>
        <p:spPr>
          <a:xfrm>
            <a:off x="566928" y="1737360"/>
            <a:ext cx="11064240" cy="1261872"/>
          </a:xfrm>
          <a:prstGeom prst="roundRect">
            <a:avLst>
              <a:gd name="adj" fmla="val 7246"/>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3" name="Text 11"/>
          <p:cNvSpPr txBox="1"/>
          <p:nvPr/>
        </p:nvSpPr>
        <p:spPr>
          <a:xfrm>
            <a:off x="868680" y="1883664"/>
            <a:ext cx="10424160" cy="969264"/>
          </a:xfrm>
          <a:prstGeom prst="rect">
            <a:avLst/>
          </a:prstGeom>
          <a:noFill/>
          <a:ln/>
        </p:spPr>
        <p:txBody>
          <a:bodyPr wrap="square" lIns="0" tIns="0" rIns="0" bIns="0" rtlCol="0" anchor="ctr"/>
          <a:lstStyle/>
          <a:p>
            <a:pPr algn="ctr" indent="0" marL="0">
              <a:lnSpc>
                <a:spcPct val="135000"/>
              </a:lnSpc>
              <a:buNone/>
            </a:pPr>
            <a:r>
              <a:rPr lang="en-US" sz="1500" b="1" dirty="0">
                <a:solidFill>
                  <a:srgbClr val="1B3558"/>
                </a:solidFill>
                <a:latin typeface="Consolas" pitchFamily="34" charset="0"/>
                <a:ea typeface="Consolas" pitchFamily="34" charset="-122"/>
                <a:cs typeface="Consolas" pitchFamily="34" charset="-120"/>
              </a:rPr>
              <a:t>slope  =  sum of (hours − average hours) × (mark − average mark)</a:t>
            </a:r>
            <a:endParaRPr lang="en-US" sz="1500" dirty="0"/>
          </a:p>
          <a:p>
            <a:pPr algn="ctr" indent="0" marL="0">
              <a:lnSpc>
                <a:spcPct val="135000"/>
              </a:lnSpc>
              <a:buNone/>
            </a:pPr>
            <a:r>
              <a:rPr lang="en-US" sz="1500" b="1" dirty="0">
                <a:solidFill>
                  <a:srgbClr val="1B3558"/>
                </a:solidFill>
                <a:latin typeface="Consolas" pitchFamily="34" charset="0"/>
                <a:ea typeface="Consolas" pitchFamily="34" charset="-122"/>
                <a:cs typeface="Consolas" pitchFamily="34" charset="-120"/>
              </a:rPr>
              <a:t>              ÷  sum of (hours − average hours)²</a:t>
            </a:r>
            <a:endParaRPr lang="en-US" sz="1500" dirty="0"/>
          </a:p>
        </p:txBody>
      </p:sp>
      <p:sp>
        <p:nvSpPr>
          <p:cNvPr id="14" name="Text 12"/>
          <p:cNvSpPr txBox="1"/>
          <p:nvPr/>
        </p:nvSpPr>
        <p:spPr>
          <a:xfrm>
            <a:off x="566928" y="3163824"/>
            <a:ext cx="1828800" cy="274320"/>
          </a:xfrm>
          <a:prstGeom prst="rect">
            <a:avLst/>
          </a:prstGeom>
          <a:noFill/>
          <a:ln/>
        </p:spPr>
        <p:txBody>
          <a:bodyPr wrap="square" lIns="0" tIns="0" rIns="0" bIns="0" rtlCol="0" anchor="ctr"/>
          <a:lstStyle/>
          <a:p>
            <a:pPr indent="0" marL="0">
              <a:buNone/>
            </a:pPr>
            <a:r>
              <a:rPr lang="en-US" sz="1400" b="1" dirty="0">
                <a:solidFill>
                  <a:srgbClr val="1B3558"/>
                </a:solidFill>
                <a:latin typeface="Calibri" pitchFamily="34" charset="0"/>
                <a:ea typeface="Calibri" pitchFamily="34" charset="-122"/>
                <a:cs typeface="Calibri" pitchFamily="34" charset="-120"/>
              </a:rPr>
              <a:t>In words:</a:t>
            </a:r>
            <a:endParaRPr lang="en-US" sz="1400" dirty="0"/>
          </a:p>
        </p:txBody>
      </p:sp>
      <p:sp>
        <p:nvSpPr>
          <p:cNvPr id="15" name="Text 13"/>
          <p:cNvSpPr txBox="1"/>
          <p:nvPr/>
        </p:nvSpPr>
        <p:spPr>
          <a:xfrm>
            <a:off x="566928" y="3474720"/>
            <a:ext cx="11064240" cy="137160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33415A"/>
                </a:solidFill>
                <a:latin typeface="Calibri" pitchFamily="34" charset="0"/>
                <a:ea typeface="Calibri" pitchFamily="34" charset="-122"/>
                <a:cs typeface="Calibri" pitchFamily="34" charset="-120"/>
              </a:rPr>
              <a:t>For every student, work out how far they sit from the average hours, and from the average mark.</a:t>
            </a:r>
            <a:endParaRPr lang="en-US" sz="1400" dirty="0"/>
          </a:p>
          <a:p>
            <a:pPr marL="342900" indent="-342900">
              <a:spcAft>
                <a:spcPts val="900"/>
              </a:spcAft>
              <a:buSzPct val="100000"/>
              <a:buChar char="•"/>
            </a:pPr>
            <a:r>
              <a:rPr lang="en-US" sz="1400" dirty="0">
                <a:solidFill>
                  <a:srgbClr val="33415A"/>
                </a:solidFill>
                <a:latin typeface="Calibri" pitchFamily="34" charset="0"/>
                <a:ea typeface="Calibri" pitchFamily="34" charset="-122"/>
                <a:cs typeface="Calibri" pitchFamily="34" charset="-120"/>
              </a:rPr>
              <a:t>Multiply those two gaps together. A student above average in both pushes the slope UP.</a:t>
            </a:r>
            <a:endParaRPr lang="en-US" sz="1400" dirty="0"/>
          </a:p>
          <a:p>
            <a:pPr marL="342900" indent="-342900">
              <a:spcAft>
                <a:spcPts val="900"/>
              </a:spcAft>
              <a:buSzPct val="100000"/>
              <a:buChar char="•"/>
            </a:pPr>
            <a:r>
              <a:rPr lang="en-US" sz="1400" dirty="0">
                <a:solidFill>
                  <a:srgbClr val="33415A"/>
                </a:solidFill>
                <a:latin typeface="Calibri" pitchFamily="34" charset="0"/>
                <a:ea typeface="Calibri" pitchFamily="34" charset="-122"/>
                <a:cs typeface="Calibri" pitchFamily="34" charset="-120"/>
              </a:rPr>
              <a:t>Add it all up, then divide by how spread out the hours were.</a:t>
            </a:r>
            <a:endParaRPr lang="en-US" sz="1400" dirty="0"/>
          </a:p>
        </p:txBody>
      </p:sp>
      <p:sp>
        <p:nvSpPr>
          <p:cNvPr id="16" name="Shape 14"/>
          <p:cNvSpPr/>
          <p:nvPr/>
        </p:nvSpPr>
        <p:spPr>
          <a:xfrm>
            <a:off x="566928" y="5047488"/>
            <a:ext cx="11064240" cy="731520"/>
          </a:xfrm>
          <a:prstGeom prst="roundRect">
            <a:avLst>
              <a:gd name="adj" fmla="val 12500"/>
            </a:avLst>
          </a:prstGeom>
          <a:solidFill>
            <a:srgbClr val="FDF3E0"/>
          </a:solidFill>
          <a:ln w="17780">
            <a:solidFill>
              <a:srgbClr val="F0A530"/>
            </a:solidFill>
            <a:prstDash val="solid"/>
          </a:ln>
        </p:spPr>
      </p:sp>
      <p:sp>
        <p:nvSpPr>
          <p:cNvPr id="17" name="Shape 15"/>
          <p:cNvSpPr/>
          <p:nvPr/>
        </p:nvSpPr>
        <p:spPr>
          <a:xfrm>
            <a:off x="566928" y="5047488"/>
            <a:ext cx="82296" cy="731520"/>
          </a:xfrm>
          <a:prstGeom prst="roundRect">
            <a:avLst>
              <a:gd name="adj" fmla="val 44444"/>
            </a:avLst>
          </a:prstGeom>
          <a:solidFill>
            <a:srgbClr val="F0A530"/>
          </a:solidFill>
          <a:ln w="12700">
            <a:solidFill>
              <a:srgbClr val="333333"/>
            </a:solidFill>
            <a:prstDash val="solid"/>
          </a:ln>
        </p:spPr>
      </p:sp>
      <p:sp>
        <p:nvSpPr>
          <p:cNvPr id="18" name="Text 16"/>
          <p:cNvSpPr txBox="1"/>
          <p:nvPr/>
        </p:nvSpPr>
        <p:spPr>
          <a:xfrm>
            <a:off x="868680" y="5120640"/>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You will never type this formula in real life — one line of scikit-learn does it. Work through it once so that the answer is never magic.</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F0A530"/>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3 / 5   Finding the best one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A86F00"/>
                </a:solidFill>
                <a:latin typeface="Calibri" pitchFamily="34" charset="0"/>
                <a:ea typeface="Calibri" pitchFamily="34" charset="-122"/>
                <a:cs typeface="Calibri" pitchFamily="34" charset="-120"/>
              </a:rPr>
              <a:t>BY HAND</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The same formula, worked on our five students</a:t>
            </a:r>
            <a:endParaRPr lang="en-US" sz="2700" dirty="0"/>
          </a:p>
        </p:txBody>
      </p:sp>
      <p:sp>
        <p:nvSpPr>
          <p:cNvPr id="11" name="Shape 9"/>
          <p:cNvSpPr/>
          <p:nvPr/>
        </p:nvSpPr>
        <p:spPr>
          <a:xfrm>
            <a:off x="585216" y="1444752"/>
            <a:ext cx="640080" cy="50292"/>
          </a:xfrm>
          <a:prstGeom prst="roundRect">
            <a:avLst>
              <a:gd name="adj" fmla="val 45455"/>
            </a:avLst>
          </a:prstGeom>
          <a:solidFill>
            <a:srgbClr val="F0A530"/>
          </a:solidFill>
          <a:ln w="12700">
            <a:solidFill>
              <a:srgbClr val="333333"/>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005840" y="1755648"/>
          <a:ext cx="10149840" cy="914400"/>
        </p:xfrm>
        <a:graphic>
          <a:graphicData uri="http://schemas.openxmlformats.org/drawingml/2006/table">
            <a:tbl>
              <a:tblPr/>
              <a:tblGrid>
                <a:gridCol w="1371600"/>
                <a:gridCol w="1371600"/>
                <a:gridCol w="1828800"/>
                <a:gridCol w="1828800"/>
                <a:gridCol w="1828800"/>
                <a:gridCol w="1920240"/>
              </a:tblGrid>
              <a:tr h="301752">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hours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mark</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hours − 3</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mark − 50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multiply</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(hours − 3)²</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r>
              <a:tr h="301752">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32</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01752">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44</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01752">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47</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01752">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58</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01752">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300" dirty="0">
                          <a:solidFill>
                            <a:srgbClr val="33415A"/>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01752">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BF2FA"/>
                    </a:solidFill>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BF2FA"/>
                    </a:solidFill>
                  </a:tcPr>
                </a:tc>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BF2FA"/>
                    </a:solidFill>
                  </a:tcPr>
                </a:tc>
                <a:tc>
                  <a:txBody>
                    <a:bodyPr/>
                    <a:lstStyle/>
                    <a:p>
                      <a:pPr algn="ctr" indent="0" marL="0">
                        <a:buNone/>
                      </a:pPr>
                      <a:r>
                        <a:rPr lang="en-US" sz="1300" b="1" dirty="0">
                          <a:solidFill>
                            <a:srgbClr val="1B3558"/>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BF2FA"/>
                    </a:solidFill>
                  </a:tcPr>
                </a:tc>
                <a:tc>
                  <a:txBody>
                    <a:bodyPr/>
                    <a:lstStyle/>
                    <a:p>
                      <a:pPr algn="ctr" indent="0" marL="0">
                        <a:buNone/>
                      </a:pPr>
                      <a:r>
                        <a:rPr lang="en-US" sz="1300" b="1" dirty="0">
                          <a:solidFill>
                            <a:srgbClr val="3E7CB1"/>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BF2FA"/>
                    </a:solidFill>
                  </a:tcPr>
                </a:tc>
                <a:tc>
                  <a:txBody>
                    <a:bodyPr/>
                    <a:lstStyle/>
                    <a:p>
                      <a:pPr algn="ctr" indent="0" marL="0">
                        <a:buNone/>
                      </a:pPr>
                      <a:r>
                        <a:rPr lang="en-US" sz="1300" b="1" dirty="0">
                          <a:solidFill>
                            <a:srgbClr val="3E7CB1"/>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BF2FA"/>
                    </a:solidFill>
                  </a:tcPr>
                </a:tc>
              </a:tr>
            </a:tbl>
          </a:graphicData>
        </a:graphic>
      </p:graphicFrame>
      <p:sp>
        <p:nvSpPr>
          <p:cNvPr id="13" name="Shape 10"/>
          <p:cNvSpPr/>
          <p:nvPr/>
        </p:nvSpPr>
        <p:spPr>
          <a:xfrm>
            <a:off x="566928" y="4114800"/>
            <a:ext cx="5330952" cy="896112"/>
          </a:xfrm>
          <a:prstGeom prst="roundRect">
            <a:avLst>
              <a:gd name="adj" fmla="val 9184"/>
            </a:avLst>
          </a:prstGeom>
          <a:solidFill>
            <a:srgbClr val="EBF2FA"/>
          </a:solidFill>
          <a:ln w="20320">
            <a:solidFill>
              <a:srgbClr val="3E7CB1"/>
            </a:solidFill>
            <a:prstDash val="solid"/>
          </a:ln>
        </p:spPr>
      </p:sp>
      <p:sp>
        <p:nvSpPr>
          <p:cNvPr id="14" name="Text 11"/>
          <p:cNvSpPr txBox="1"/>
          <p:nvPr/>
        </p:nvSpPr>
        <p:spPr>
          <a:xfrm>
            <a:off x="658368" y="4224528"/>
            <a:ext cx="5148072" cy="420624"/>
          </a:xfrm>
          <a:prstGeom prst="rect">
            <a:avLst/>
          </a:prstGeom>
          <a:noFill/>
          <a:ln/>
        </p:spPr>
        <p:txBody>
          <a:bodyPr wrap="square" lIns="0" tIns="0" rIns="0" bIns="0" rtlCol="0" anchor="ctr"/>
          <a:lstStyle/>
          <a:p>
            <a:pPr algn="ctr" indent="0" marL="0">
              <a:buNone/>
            </a:pPr>
            <a:r>
              <a:rPr lang="en-US" sz="2000" b="1" dirty="0">
                <a:solidFill>
                  <a:srgbClr val="3E7CB1"/>
                </a:solidFill>
                <a:latin typeface="Georgia" pitchFamily="34" charset="0"/>
                <a:ea typeface="Georgia" pitchFamily="34" charset="-122"/>
                <a:cs typeface="Georgia" pitchFamily="34" charset="-120"/>
              </a:rPr>
              <a:t>80 ÷ 10  =  8</a:t>
            </a:r>
            <a:endParaRPr lang="en-US" sz="2000" dirty="0"/>
          </a:p>
        </p:txBody>
      </p:sp>
      <p:sp>
        <p:nvSpPr>
          <p:cNvPr id="15" name="Text 12"/>
          <p:cNvSpPr txBox="1"/>
          <p:nvPr/>
        </p:nvSpPr>
        <p:spPr>
          <a:xfrm>
            <a:off x="658368" y="4663440"/>
            <a:ext cx="5148072" cy="292608"/>
          </a:xfrm>
          <a:prstGeom prst="rect">
            <a:avLst/>
          </a:prstGeom>
          <a:noFill/>
          <a:ln/>
        </p:spPr>
        <p:txBody>
          <a:bodyPr wrap="square" lIns="0" tIns="0" rIns="0" bIns="0" rtlCol="0" anchor="ctr"/>
          <a:lstStyle/>
          <a:p>
            <a:pPr algn="ctr" indent="0" marL="0">
              <a:buNone/>
            </a:pPr>
            <a:r>
              <a:rPr lang="en-US" sz="1100" dirty="0">
                <a:solidFill>
                  <a:srgbClr val="33415A"/>
                </a:solidFill>
                <a:latin typeface="Calibri" pitchFamily="34" charset="0"/>
                <a:ea typeface="Calibri" pitchFamily="34" charset="-122"/>
                <a:cs typeface="Calibri" pitchFamily="34" charset="-120"/>
              </a:rPr>
              <a:t>the slope</a:t>
            </a:r>
            <a:endParaRPr lang="en-US" sz="1100" dirty="0"/>
          </a:p>
        </p:txBody>
      </p:sp>
      <p:sp>
        <p:nvSpPr>
          <p:cNvPr id="16" name="Text 13"/>
          <p:cNvSpPr txBox="1"/>
          <p:nvPr/>
        </p:nvSpPr>
        <p:spPr>
          <a:xfrm>
            <a:off x="5897880" y="4114800"/>
            <a:ext cx="402336" cy="896112"/>
          </a:xfrm>
          <a:prstGeom prst="rect">
            <a:avLst/>
          </a:prstGeom>
          <a:noFill/>
          <a:ln/>
        </p:spPr>
        <p:txBody>
          <a:bodyPr wrap="square" lIns="0" tIns="0" rIns="0" bIns="0" rtlCol="0" anchor="ctr"/>
          <a:lstStyle/>
          <a:p>
            <a:pPr algn="ctr" indent="0" marL="0">
              <a:buNone/>
            </a:pPr>
            <a:r>
              <a:rPr lang="en-US" sz="2200" dirty="0">
                <a:solidFill>
                  <a:srgbClr val="7B8AA1"/>
                </a:solidFill>
                <a:latin typeface="Calibri" pitchFamily="34" charset="0"/>
                <a:ea typeface="Calibri" pitchFamily="34" charset="-122"/>
                <a:cs typeface="Calibri" pitchFamily="34" charset="-120"/>
              </a:rPr>
              <a:t>→</a:t>
            </a:r>
            <a:endParaRPr lang="en-US" sz="2200" dirty="0"/>
          </a:p>
        </p:txBody>
      </p:sp>
      <p:sp>
        <p:nvSpPr>
          <p:cNvPr id="17" name="Shape 14"/>
          <p:cNvSpPr/>
          <p:nvPr/>
        </p:nvSpPr>
        <p:spPr>
          <a:xfrm>
            <a:off x="6300216" y="4114800"/>
            <a:ext cx="5330952" cy="896112"/>
          </a:xfrm>
          <a:prstGeom prst="roundRect">
            <a:avLst>
              <a:gd name="adj" fmla="val 9184"/>
            </a:avLst>
          </a:prstGeom>
          <a:solidFill>
            <a:srgbClr val="F1EDF9"/>
          </a:solidFill>
          <a:ln w="20320">
            <a:solidFill>
              <a:srgbClr val="8268B5"/>
            </a:solidFill>
            <a:prstDash val="solid"/>
          </a:ln>
        </p:spPr>
      </p:sp>
      <p:sp>
        <p:nvSpPr>
          <p:cNvPr id="18" name="Text 15"/>
          <p:cNvSpPr txBox="1"/>
          <p:nvPr/>
        </p:nvSpPr>
        <p:spPr>
          <a:xfrm>
            <a:off x="6391656" y="4224528"/>
            <a:ext cx="5148072" cy="420624"/>
          </a:xfrm>
          <a:prstGeom prst="rect">
            <a:avLst/>
          </a:prstGeom>
          <a:noFill/>
          <a:ln/>
        </p:spPr>
        <p:txBody>
          <a:bodyPr wrap="square" lIns="0" tIns="0" rIns="0" bIns="0" rtlCol="0" anchor="ctr"/>
          <a:lstStyle/>
          <a:p>
            <a:pPr algn="ctr" indent="0" marL="0">
              <a:buNone/>
            </a:pPr>
            <a:r>
              <a:rPr lang="en-US" sz="2000" b="1" dirty="0">
                <a:solidFill>
                  <a:srgbClr val="8268B5"/>
                </a:solidFill>
                <a:latin typeface="Georgia" pitchFamily="34" charset="0"/>
                <a:ea typeface="Georgia" pitchFamily="34" charset="-122"/>
                <a:cs typeface="Georgia" pitchFamily="34" charset="-120"/>
              </a:rPr>
              <a:t>50 − 8 × 3  =  26</a:t>
            </a:r>
            <a:endParaRPr lang="en-US" sz="2000" dirty="0"/>
          </a:p>
        </p:txBody>
      </p:sp>
      <p:sp>
        <p:nvSpPr>
          <p:cNvPr id="19" name="Text 16"/>
          <p:cNvSpPr txBox="1"/>
          <p:nvPr/>
        </p:nvSpPr>
        <p:spPr>
          <a:xfrm>
            <a:off x="6391656" y="4663440"/>
            <a:ext cx="5148072" cy="292608"/>
          </a:xfrm>
          <a:prstGeom prst="rect">
            <a:avLst/>
          </a:prstGeom>
          <a:noFill/>
          <a:ln/>
        </p:spPr>
        <p:txBody>
          <a:bodyPr wrap="square" lIns="0" tIns="0" rIns="0" bIns="0" rtlCol="0" anchor="ctr"/>
          <a:lstStyle/>
          <a:p>
            <a:pPr algn="ctr" indent="0" marL="0">
              <a:buNone/>
            </a:pPr>
            <a:r>
              <a:rPr lang="en-US" sz="1100" dirty="0">
                <a:solidFill>
                  <a:srgbClr val="33415A"/>
                </a:solidFill>
                <a:latin typeface="Calibri" pitchFamily="34" charset="0"/>
                <a:ea typeface="Calibri" pitchFamily="34" charset="-122"/>
                <a:cs typeface="Calibri" pitchFamily="34" charset="-120"/>
              </a:rPr>
              <a:t>the intercept</a:t>
            </a:r>
            <a:endParaRPr lang="en-US" sz="1100" dirty="0"/>
          </a:p>
        </p:txBody>
      </p:sp>
      <p:sp>
        <p:nvSpPr>
          <p:cNvPr id="20" name="Shape 17"/>
          <p:cNvSpPr/>
          <p:nvPr/>
        </p:nvSpPr>
        <p:spPr>
          <a:xfrm>
            <a:off x="566928" y="5230368"/>
            <a:ext cx="11064240" cy="731520"/>
          </a:xfrm>
          <a:prstGeom prst="roundRect">
            <a:avLst>
              <a:gd name="adj" fmla="val 12500"/>
            </a:avLst>
          </a:prstGeom>
          <a:solidFill>
            <a:srgbClr val="E6F5F1"/>
          </a:solidFill>
          <a:ln w="17780">
            <a:solidFill>
              <a:srgbClr val="1F9E86"/>
            </a:solidFill>
            <a:prstDash val="solid"/>
          </a:ln>
        </p:spPr>
      </p:sp>
      <p:sp>
        <p:nvSpPr>
          <p:cNvPr id="21" name="Shape 18"/>
          <p:cNvSpPr/>
          <p:nvPr/>
        </p:nvSpPr>
        <p:spPr>
          <a:xfrm>
            <a:off x="566928" y="5230368"/>
            <a:ext cx="82296" cy="731520"/>
          </a:xfrm>
          <a:prstGeom prst="roundRect">
            <a:avLst>
              <a:gd name="adj" fmla="val 44444"/>
            </a:avLst>
          </a:prstGeom>
          <a:solidFill>
            <a:srgbClr val="1F9E86"/>
          </a:solidFill>
          <a:ln w="12700">
            <a:solidFill>
              <a:srgbClr val="333333"/>
            </a:solidFill>
            <a:prstDash val="solid"/>
          </a:ln>
        </p:spPr>
      </p:sp>
      <p:sp>
        <p:nvSpPr>
          <p:cNvPr id="22" name="Text 19"/>
          <p:cNvSpPr txBox="1"/>
          <p:nvPr/>
        </p:nvSpPr>
        <p:spPr>
          <a:xfrm>
            <a:off x="868680" y="5303520"/>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mark = 8 × hours + 26.  The average student does 3 hours and gets 50, so the line is forced through that point — the intercept just follows.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F0A530"/>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3 / 5   Finding the best one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A86F00"/>
                </a:solidFill>
                <a:latin typeface="Calibri" pitchFamily="34" charset="0"/>
                <a:ea typeface="Calibri" pitchFamily="34" charset="-122"/>
                <a:cs typeface="Calibri" pitchFamily="34" charset="-120"/>
              </a:rPr>
              <a:t>GRADIENT DESCENT</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Route 2 · Guess, then walk downhill</a:t>
            </a:r>
            <a:endParaRPr lang="en-US" sz="2700" dirty="0"/>
          </a:p>
        </p:txBody>
      </p:sp>
      <p:sp>
        <p:nvSpPr>
          <p:cNvPr id="11" name="Shape 9"/>
          <p:cNvSpPr/>
          <p:nvPr/>
        </p:nvSpPr>
        <p:spPr>
          <a:xfrm>
            <a:off x="585216" y="1444752"/>
            <a:ext cx="640080" cy="50292"/>
          </a:xfrm>
          <a:prstGeom prst="roundRect">
            <a:avLst>
              <a:gd name="adj" fmla="val 45455"/>
            </a:avLst>
          </a:prstGeom>
          <a:solidFill>
            <a:srgbClr val="F0A530"/>
          </a:solidFill>
          <a:ln w="12700">
            <a:solidFill>
              <a:srgbClr val="333333"/>
            </a:solidFill>
            <a:prstDash val="solid"/>
          </a:ln>
        </p:spPr>
      </p:sp>
      <p:sp>
        <p:nvSpPr>
          <p:cNvPr id="12" name="Shape 10"/>
          <p:cNvSpPr/>
          <p:nvPr/>
        </p:nvSpPr>
        <p:spPr>
          <a:xfrm>
            <a:off x="566928" y="1737360"/>
            <a:ext cx="5394960" cy="2880360"/>
          </a:xfrm>
          <a:prstGeom prst="roundRect">
            <a:avLst>
              <a:gd name="adj" fmla="val 3175"/>
            </a:avLst>
          </a:prstGeom>
          <a:solidFill>
            <a:srgbClr val="FDF3E0"/>
          </a:solidFill>
          <a:ln w="22860">
            <a:solidFill>
              <a:srgbClr val="F0A530"/>
            </a:solidFill>
            <a:prstDash val="solid"/>
          </a:ln>
        </p:spPr>
      </p:sp>
      <p:sp>
        <p:nvSpPr>
          <p:cNvPr id="13" name="Shape 11"/>
          <p:cNvSpPr/>
          <p:nvPr/>
        </p:nvSpPr>
        <p:spPr>
          <a:xfrm>
            <a:off x="566928" y="1737360"/>
            <a:ext cx="5394960" cy="402336"/>
          </a:xfrm>
          <a:prstGeom prst="roundRect">
            <a:avLst>
              <a:gd name="adj" fmla="val 22727"/>
            </a:avLst>
          </a:prstGeom>
          <a:solidFill>
            <a:srgbClr val="F0A530"/>
          </a:solidFill>
          <a:ln w="22860">
            <a:solidFill>
              <a:srgbClr val="F0A530"/>
            </a:solidFill>
            <a:prstDash val="solid"/>
          </a:ln>
        </p:spPr>
      </p:sp>
      <p:sp>
        <p:nvSpPr>
          <p:cNvPr id="14" name="Shape 12"/>
          <p:cNvSpPr/>
          <p:nvPr/>
        </p:nvSpPr>
        <p:spPr>
          <a:xfrm>
            <a:off x="566928" y="1975104"/>
            <a:ext cx="5394960" cy="164592"/>
          </a:xfrm>
          <a:prstGeom prst="rect">
            <a:avLst/>
          </a:prstGeom>
          <a:solidFill>
            <a:srgbClr val="F0A530"/>
          </a:solidFill>
          <a:ln w="12700">
            <a:solidFill>
              <a:srgbClr val="333333"/>
            </a:solidFill>
            <a:prstDash val="solid"/>
          </a:ln>
        </p:spPr>
      </p:sp>
      <p:sp>
        <p:nvSpPr>
          <p:cNvPr id="15" name="Text 13"/>
          <p:cNvSpPr txBox="1"/>
          <p:nvPr/>
        </p:nvSpPr>
        <p:spPr>
          <a:xfrm>
            <a:off x="768096" y="1773936"/>
            <a:ext cx="4992624" cy="347472"/>
          </a:xfrm>
          <a:prstGeom prst="rect">
            <a:avLst/>
          </a:prstGeom>
          <a:noFill/>
          <a:ln/>
        </p:spPr>
        <p:txBody>
          <a:bodyPr wrap="square" lIns="0" tIns="0" rIns="0" bIns="0" rtlCol="0" anchor="ctr"/>
          <a:lstStyle/>
          <a:p>
            <a:pPr indent="0" marL="0">
              <a:buNone/>
            </a:pPr>
            <a:r>
              <a:rPr lang="en-US" sz="1300" b="1" dirty="0">
                <a:solidFill>
                  <a:srgbClr val="131F33"/>
                </a:solidFill>
                <a:latin typeface="Calibri" pitchFamily="34" charset="0"/>
                <a:ea typeface="Calibri" pitchFamily="34" charset="-122"/>
                <a:cs typeface="Calibri" pitchFamily="34" charset="-120"/>
              </a:rPr>
              <a:t>THE IDEA, IN FOUR LINES</a:t>
            </a:r>
            <a:endParaRPr lang="en-US" sz="1300" dirty="0"/>
          </a:p>
        </p:txBody>
      </p:sp>
      <p:sp>
        <p:nvSpPr>
          <p:cNvPr id="16" name="Text 14"/>
          <p:cNvSpPr txBox="1"/>
          <p:nvPr/>
        </p:nvSpPr>
        <p:spPr>
          <a:xfrm>
            <a:off x="777240" y="2331720"/>
            <a:ext cx="4983480" cy="2194560"/>
          </a:xfrm>
          <a:prstGeom prst="rect">
            <a:avLst/>
          </a:prstGeom>
          <a:noFill/>
          <a:ln/>
        </p:spPr>
        <p:txBody>
          <a:bodyPr wrap="square" lIns="0" tIns="0" rIns="0" bIns="0" rtlCol="0" anchor="t"/>
          <a:lstStyle/>
          <a:p>
            <a:pPr marL="342900" indent="-342900">
              <a:spcAft>
                <a:spcPts val="900"/>
              </a:spcAft>
              <a:buSzPct val="100000"/>
              <a:buChar char="•"/>
            </a:pPr>
            <a:r>
              <a:rPr lang="en-US" sz="1350" dirty="0">
                <a:solidFill>
                  <a:srgbClr val="33415A"/>
                </a:solidFill>
                <a:latin typeface="Calibri" pitchFamily="34" charset="0"/>
                <a:ea typeface="Calibri" pitchFamily="34" charset="-122"/>
                <a:cs typeface="Calibri" pitchFamily="34" charset="-120"/>
              </a:rPr>
              <a:t>Start with any slope and intercept at all. Zero and zero will do.</a:t>
            </a:r>
            <a:endParaRPr lang="en-US" sz="1350" dirty="0"/>
          </a:p>
          <a:p>
            <a:pPr marL="342900" indent="-342900">
              <a:spcAft>
                <a:spcPts val="900"/>
              </a:spcAft>
              <a:buSzPct val="100000"/>
              <a:buChar char="•"/>
            </a:pPr>
            <a:r>
              <a:rPr lang="en-US" sz="1350" dirty="0">
                <a:solidFill>
                  <a:srgbClr val="33415A"/>
                </a:solidFill>
                <a:latin typeface="Calibri" pitchFamily="34" charset="0"/>
                <a:ea typeface="Calibri" pitchFamily="34" charset="-122"/>
                <a:cs typeface="Calibri" pitchFamily="34" charset="-120"/>
              </a:rPr>
              <a:t>Work out the total squared error.</a:t>
            </a:r>
            <a:endParaRPr lang="en-US" sz="1350" dirty="0"/>
          </a:p>
          <a:p>
            <a:pPr marL="342900" indent="-342900">
              <a:spcAft>
                <a:spcPts val="900"/>
              </a:spcAft>
              <a:buSzPct val="100000"/>
              <a:buChar char="•"/>
            </a:pPr>
            <a:r>
              <a:rPr lang="en-US" sz="1350" dirty="0">
                <a:solidFill>
                  <a:srgbClr val="33415A"/>
                </a:solidFill>
                <a:latin typeface="Calibri" pitchFamily="34" charset="0"/>
                <a:ea typeface="Calibri" pitchFamily="34" charset="-122"/>
                <a:cs typeface="Calibri" pitchFamily="34" charset="-120"/>
              </a:rPr>
              <a:t>Nudge both numbers in whatever direction makes that error smaller.</a:t>
            </a:r>
            <a:endParaRPr lang="en-US" sz="1350" dirty="0"/>
          </a:p>
          <a:p>
            <a:pPr marL="342900" indent="-342900">
              <a:spcAft>
                <a:spcPts val="900"/>
              </a:spcAft>
              <a:buSzPct val="100000"/>
              <a:buChar char="•"/>
            </a:pPr>
            <a:r>
              <a:rPr lang="en-US" sz="1350" dirty="0">
                <a:solidFill>
                  <a:srgbClr val="33415A"/>
                </a:solidFill>
                <a:latin typeface="Calibri" pitchFamily="34" charset="0"/>
                <a:ea typeface="Calibri" pitchFamily="34" charset="-122"/>
                <a:cs typeface="Calibri" pitchFamily="34" charset="-120"/>
              </a:rPr>
              <a:t>Repeat a few hundred times, and stop when it stops improving.</a:t>
            </a:r>
            <a:endParaRPr lang="en-US" sz="1350" dirty="0"/>
          </a:p>
        </p:txBody>
      </p:sp>
      <p:sp>
        <p:nvSpPr>
          <p:cNvPr id="17" name="Shape 15"/>
          <p:cNvSpPr/>
          <p:nvPr/>
        </p:nvSpPr>
        <p:spPr>
          <a:xfrm>
            <a:off x="6236208" y="1737360"/>
            <a:ext cx="5394960" cy="2880360"/>
          </a:xfrm>
          <a:prstGeom prst="roundRect">
            <a:avLst>
              <a:gd name="adj" fmla="val 3175"/>
            </a:avLst>
          </a:prstGeom>
          <a:solidFill>
            <a:srgbClr val="E6F5F1"/>
          </a:solidFill>
          <a:ln w="22860">
            <a:solidFill>
              <a:srgbClr val="1F9E86"/>
            </a:solidFill>
            <a:prstDash val="solid"/>
          </a:ln>
        </p:spPr>
      </p:sp>
      <p:sp>
        <p:nvSpPr>
          <p:cNvPr id="18" name="Shape 16"/>
          <p:cNvSpPr/>
          <p:nvPr/>
        </p:nvSpPr>
        <p:spPr>
          <a:xfrm>
            <a:off x="6236208" y="1737360"/>
            <a:ext cx="5394960" cy="402336"/>
          </a:xfrm>
          <a:prstGeom prst="roundRect">
            <a:avLst>
              <a:gd name="adj" fmla="val 22727"/>
            </a:avLst>
          </a:prstGeom>
          <a:solidFill>
            <a:srgbClr val="1F9E86"/>
          </a:solidFill>
          <a:ln w="22860">
            <a:solidFill>
              <a:srgbClr val="1F9E86"/>
            </a:solidFill>
            <a:prstDash val="solid"/>
          </a:ln>
        </p:spPr>
      </p:sp>
      <p:sp>
        <p:nvSpPr>
          <p:cNvPr id="19" name="Shape 17"/>
          <p:cNvSpPr/>
          <p:nvPr/>
        </p:nvSpPr>
        <p:spPr>
          <a:xfrm>
            <a:off x="6236208" y="1975104"/>
            <a:ext cx="5394960" cy="164592"/>
          </a:xfrm>
          <a:prstGeom prst="rect">
            <a:avLst/>
          </a:prstGeom>
          <a:solidFill>
            <a:srgbClr val="1F9E86"/>
          </a:solidFill>
          <a:ln w="12700">
            <a:solidFill>
              <a:srgbClr val="333333"/>
            </a:solidFill>
            <a:prstDash val="solid"/>
          </a:ln>
        </p:spPr>
      </p:sp>
      <p:sp>
        <p:nvSpPr>
          <p:cNvPr id="20" name="Text 18"/>
          <p:cNvSpPr txBox="1"/>
          <p:nvPr/>
        </p:nvSpPr>
        <p:spPr>
          <a:xfrm>
            <a:off x="6437376" y="1773936"/>
            <a:ext cx="4992624"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BOTHER, IF A FORMULA EXISTS?</a:t>
            </a:r>
            <a:endParaRPr lang="en-US" sz="1300" dirty="0"/>
          </a:p>
        </p:txBody>
      </p:sp>
      <p:sp>
        <p:nvSpPr>
          <p:cNvPr id="21" name="Text 19"/>
          <p:cNvSpPr txBox="1"/>
          <p:nvPr/>
        </p:nvSpPr>
        <p:spPr>
          <a:xfrm>
            <a:off x="6446520" y="2331720"/>
            <a:ext cx="4983480" cy="2194560"/>
          </a:xfrm>
          <a:prstGeom prst="rect">
            <a:avLst/>
          </a:prstGeom>
          <a:noFill/>
          <a:ln/>
        </p:spPr>
        <p:txBody>
          <a:bodyPr wrap="square" lIns="0" tIns="0" rIns="0" bIns="0" rtlCol="0" anchor="ctr"/>
          <a:lstStyle/>
          <a:p>
            <a:pPr indent="0" marL="0">
              <a:lnSpc>
                <a:spcPct val="125000"/>
              </a:lnSpc>
              <a:buNone/>
            </a:pPr>
            <a:r>
              <a:rPr lang="en-US" sz="1350" dirty="0">
                <a:solidFill>
                  <a:srgbClr val="33415A"/>
                </a:solidFill>
                <a:latin typeface="Calibri" pitchFamily="34" charset="0"/>
                <a:ea typeface="Calibri" pitchFamily="34" charset="-122"/>
                <a:cs typeface="Calibri" pitchFamily="34" charset="-120"/>
              </a:rPr>
              <a:t>Because the formula only exists for simple cases like a straight line. A neural network has millions of numbers to choose and no formula at all that could ever give them to you.</a:t>
            </a:r>
            <a:endParaRPr lang="en-US" sz="1350" dirty="0"/>
          </a:p>
          <a:p>
            <a:pPr indent="0" marL="0">
              <a:lnSpc>
                <a:spcPct val="125000"/>
              </a:lnSpc>
              <a:buNone/>
            </a:pPr>
            <a:endParaRPr lang="en-US" sz="1350" dirty="0"/>
          </a:p>
          <a:p>
            <a:pPr indent="0" marL="0">
              <a:lnSpc>
                <a:spcPct val="125000"/>
              </a:lnSpc>
              <a:buNone/>
            </a:pPr>
            <a:r>
              <a:rPr lang="en-US" sz="1350" dirty="0">
                <a:solidFill>
                  <a:srgbClr val="33415A"/>
                </a:solidFill>
                <a:latin typeface="Calibri" pitchFamily="34" charset="0"/>
                <a:ea typeface="Calibri" pitchFamily="34" charset="-122"/>
                <a:cs typeface="Calibri" pitchFamily="34" charset="-120"/>
              </a:rPr>
              <a:t>Walking downhill still works there. It is how essentially every modern model is trained — including the ones behind the chatbots you use.</a:t>
            </a:r>
            <a:endParaRPr lang="en-US" sz="1350" dirty="0"/>
          </a:p>
        </p:txBody>
      </p:sp>
      <p:sp>
        <p:nvSpPr>
          <p:cNvPr id="22" name="Shape 20"/>
          <p:cNvSpPr/>
          <p:nvPr/>
        </p:nvSpPr>
        <p:spPr>
          <a:xfrm>
            <a:off x="566928" y="4846320"/>
            <a:ext cx="11064240" cy="731520"/>
          </a:xfrm>
          <a:prstGeom prst="roundRect">
            <a:avLst>
              <a:gd name="adj" fmla="val 12500"/>
            </a:avLst>
          </a:prstGeom>
          <a:solidFill>
            <a:srgbClr val="FDF3E0"/>
          </a:solidFill>
          <a:ln w="17780">
            <a:solidFill>
              <a:srgbClr val="F0A530"/>
            </a:solidFill>
            <a:prstDash val="solid"/>
          </a:ln>
        </p:spPr>
      </p:sp>
      <p:sp>
        <p:nvSpPr>
          <p:cNvPr id="23" name="Shape 21"/>
          <p:cNvSpPr/>
          <p:nvPr/>
        </p:nvSpPr>
        <p:spPr>
          <a:xfrm>
            <a:off x="566928" y="4846320"/>
            <a:ext cx="82296" cy="731520"/>
          </a:xfrm>
          <a:prstGeom prst="roundRect">
            <a:avLst>
              <a:gd name="adj" fmla="val 44444"/>
            </a:avLst>
          </a:prstGeom>
          <a:solidFill>
            <a:srgbClr val="F0A530"/>
          </a:solidFill>
          <a:ln w="12700">
            <a:solidFill>
              <a:srgbClr val="333333"/>
            </a:solidFill>
            <a:prstDash val="solid"/>
          </a:ln>
        </p:spPr>
      </p:sp>
      <p:sp>
        <p:nvSpPr>
          <p:cNvPr id="24" name="Text 22"/>
          <p:cNvSpPr txBox="1"/>
          <p:nvPr/>
        </p:nvSpPr>
        <p:spPr>
          <a:xfrm>
            <a:off x="868680" y="491947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Route 1 is a shortcut that happens to exist for straight lines. Route 2 is the method that scales to everything else — which is why it is worth meeting on a problem small enough to check by hand.</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F0A530"/>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3 / 5   Finding the best one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A86F00"/>
                </a:solidFill>
                <a:latin typeface="Calibri" pitchFamily="34" charset="0"/>
                <a:ea typeface="Calibri" pitchFamily="34" charset="-122"/>
                <a:cs typeface="Calibri" pitchFamily="34" charset="-120"/>
              </a:rPr>
              <a:t>NO CODE YET</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One step of gradient descent, done by hand</a:t>
            </a:r>
            <a:endParaRPr lang="en-US" sz="2700" dirty="0"/>
          </a:p>
        </p:txBody>
      </p:sp>
      <p:sp>
        <p:nvSpPr>
          <p:cNvPr id="11" name="Shape 9"/>
          <p:cNvSpPr/>
          <p:nvPr/>
        </p:nvSpPr>
        <p:spPr>
          <a:xfrm>
            <a:off x="585216" y="1444752"/>
            <a:ext cx="640080" cy="50292"/>
          </a:xfrm>
          <a:prstGeom prst="roundRect">
            <a:avLst>
              <a:gd name="adj" fmla="val 45455"/>
            </a:avLst>
          </a:prstGeom>
          <a:solidFill>
            <a:srgbClr val="F0A530"/>
          </a:solidFill>
          <a:ln w="12700">
            <a:solidFill>
              <a:srgbClr val="333333"/>
            </a:solidFill>
            <a:prstDash val="solid"/>
          </a:ln>
        </p:spPr>
      </p:sp>
      <p:sp>
        <p:nvSpPr>
          <p:cNvPr id="12" name="Text 10"/>
          <p:cNvSpPr txBox="1"/>
          <p:nvPr/>
        </p:nvSpPr>
        <p:spPr>
          <a:xfrm>
            <a:off x="566928" y="1737360"/>
            <a:ext cx="11064240" cy="274320"/>
          </a:xfrm>
          <a:prstGeom prst="rect">
            <a:avLst/>
          </a:prstGeom>
          <a:noFill/>
          <a:ln/>
        </p:spPr>
        <p:txBody>
          <a:bodyPr wrap="square" lIns="0" tIns="0" rIns="0" bIns="0" rtlCol="0" anchor="ctr"/>
          <a:lstStyle/>
          <a:p>
            <a:pPr indent="0" marL="0">
              <a:buNone/>
            </a:pPr>
            <a:r>
              <a:rPr lang="en-US" sz="1400" dirty="0">
                <a:solidFill>
                  <a:srgbClr val="33415A"/>
                </a:solidFill>
                <a:latin typeface="Calibri" pitchFamily="34" charset="0"/>
                <a:ea typeface="Calibri" pitchFamily="34" charset="-122"/>
                <a:cs typeface="Calibri" pitchFamily="34" charset="-120"/>
              </a:rPr>
              <a:t>Start from the worst possible guess: slope 0, intercept 0 — a flat line along the bottom.</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2103120"/>
          <a:ext cx="11064240" cy="914400"/>
        </p:xfrm>
        <a:graphic>
          <a:graphicData uri="http://schemas.openxmlformats.org/drawingml/2006/table">
            <a:tbl>
              <a:tblPr/>
              <a:tblGrid>
                <a:gridCol w="777240"/>
                <a:gridCol w="3931920"/>
                <a:gridCol w="3246120"/>
                <a:gridCol w="3108960"/>
              </a:tblGrid>
              <a:tr h="3383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step</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you compute</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on our numbers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result</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r>
              <a:tr h="338328">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every error  (line − actual)</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−34, −44, −47, −58, −67</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all badly too low</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38328">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slope nudge  =  ⅖ × Σ(error × hours)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⅖ × (−830)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−332</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38328">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intercept nudge  =  ⅖ × Σ(error)</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⅖ × (−250)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38328">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step a little way against each nudge</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0 − 0.03 × (−332)</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slope → 9.96</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38328">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and the same for the intercept</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0 − 0.03 × (−100)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intercept → 3.00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bl>
          </a:graphicData>
        </a:graphic>
      </p:graphicFrame>
      <p:sp>
        <p:nvSpPr>
          <p:cNvPr id="14" name="Text 11"/>
          <p:cNvSpPr txBox="1"/>
          <p:nvPr/>
        </p:nvSpPr>
        <p:spPr>
          <a:xfrm>
            <a:off x="566928" y="4224528"/>
            <a:ext cx="11064240" cy="310896"/>
          </a:xfrm>
          <a:prstGeom prst="rect">
            <a:avLst/>
          </a:prstGeom>
          <a:noFill/>
          <a:ln/>
        </p:spPr>
        <p:txBody>
          <a:bodyPr wrap="square" lIns="0" tIns="0" rIns="0" bIns="0" rtlCol="0" anchor="ctr"/>
          <a:lstStyle/>
          <a:p>
            <a:pPr indent="0" marL="0">
              <a:buNone/>
            </a:pPr>
            <a:r>
              <a:rPr lang="en-US" sz="1350" i="1" dirty="0">
                <a:solidFill>
                  <a:srgbClr val="7B8AA1"/>
                </a:solidFill>
                <a:latin typeface="Calibri" pitchFamily="34" charset="0"/>
                <a:ea typeface="Calibri" pitchFamily="34" charset="-122"/>
                <a:cs typeface="Calibri" pitchFamily="34" charset="-120"/>
              </a:rPr>
              <a:t>That 0.03 is the LEARNING RATE — how big a step to take. Too small and it crawls; too big and it flies past the bottom.</a:t>
            </a:r>
            <a:endParaRPr lang="en-US" sz="1350" dirty="0"/>
          </a:p>
        </p:txBody>
      </p:sp>
      <p:sp>
        <p:nvSpPr>
          <p:cNvPr id="15" name="Shape 12"/>
          <p:cNvSpPr/>
          <p:nvPr/>
        </p:nvSpPr>
        <p:spPr>
          <a:xfrm>
            <a:off x="566928" y="4663440"/>
            <a:ext cx="11064240" cy="731520"/>
          </a:xfrm>
          <a:prstGeom prst="roundRect">
            <a:avLst>
              <a:gd name="adj" fmla="val 12500"/>
            </a:avLst>
          </a:prstGeom>
          <a:solidFill>
            <a:srgbClr val="FDF3E0"/>
          </a:solidFill>
          <a:ln w="17780">
            <a:solidFill>
              <a:srgbClr val="F0A530"/>
            </a:solidFill>
            <a:prstDash val="solid"/>
          </a:ln>
        </p:spPr>
      </p:sp>
      <p:sp>
        <p:nvSpPr>
          <p:cNvPr id="16" name="Shape 13"/>
          <p:cNvSpPr/>
          <p:nvPr/>
        </p:nvSpPr>
        <p:spPr>
          <a:xfrm>
            <a:off x="566928" y="4663440"/>
            <a:ext cx="82296" cy="731520"/>
          </a:xfrm>
          <a:prstGeom prst="roundRect">
            <a:avLst>
              <a:gd name="adj" fmla="val 44444"/>
            </a:avLst>
          </a:prstGeom>
          <a:solidFill>
            <a:srgbClr val="F0A530"/>
          </a:solidFill>
          <a:ln w="12700">
            <a:solidFill>
              <a:srgbClr val="333333"/>
            </a:solidFill>
            <a:prstDash val="solid"/>
          </a:ln>
        </p:spPr>
      </p:sp>
      <p:sp>
        <p:nvSpPr>
          <p:cNvPr id="17" name="Text 14"/>
          <p:cNvSpPr txBox="1"/>
          <p:nvPr/>
        </p:nvSpPr>
        <p:spPr>
          <a:xfrm>
            <a:off x="868680" y="473659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One step took us from slope 0 to slope 9.96. The error fell from 13,154 to 1,518. Nothing clever happened — we just moved in the direction that helped.</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F0A530"/>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3 / 5   Finding the best one</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A86F00"/>
                </a:solidFill>
                <a:latin typeface="Calibri" pitchFamily="34" charset="0"/>
                <a:ea typeface="Calibri" pitchFamily="34" charset="-122"/>
                <a:cs typeface="Calibri" pitchFamily="34" charset="-120"/>
              </a:rPr>
              <a:t>GRADIENT DESCENT, RUNNING</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Repeat it, and watch the line settle</a:t>
            </a:r>
            <a:endParaRPr lang="en-US" sz="2700" dirty="0"/>
          </a:p>
        </p:txBody>
      </p:sp>
      <p:sp>
        <p:nvSpPr>
          <p:cNvPr id="11" name="Shape 9"/>
          <p:cNvSpPr/>
          <p:nvPr/>
        </p:nvSpPr>
        <p:spPr>
          <a:xfrm>
            <a:off x="585216" y="1444752"/>
            <a:ext cx="640080" cy="50292"/>
          </a:xfrm>
          <a:prstGeom prst="roundRect">
            <a:avLst>
              <a:gd name="adj" fmla="val 45455"/>
            </a:avLst>
          </a:prstGeom>
          <a:solidFill>
            <a:srgbClr val="F0A530"/>
          </a:solidFill>
          <a:ln w="12700">
            <a:solidFill>
              <a:srgbClr val="333333"/>
            </a:solidFill>
            <a:prstDash val="solid"/>
          </a:ln>
        </p:spPr>
      </p:sp>
      <p:pic>
        <p:nvPicPr>
          <p:cNvPr id="12" name="Image 0" descr="/home/claude/d33n/fig/gd_path.png">    </p:cNvPr>
          <p:cNvPicPr>
            <a:picLocks noChangeAspect="1"/>
          </p:cNvPicPr>
          <p:nvPr/>
        </p:nvPicPr>
        <p:blipFill>
          <a:blip r:embed="rId1"/>
          <a:stretch>
            <a:fillRect/>
          </a:stretch>
        </p:blipFill>
        <p:spPr>
          <a:xfrm>
            <a:off x="822960" y="1627632"/>
            <a:ext cx="10515600" cy="3225644"/>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22960" y="4956048"/>
          <a:ext cx="10515600" cy="914400"/>
        </p:xfrm>
        <a:graphic>
          <a:graphicData uri="http://schemas.openxmlformats.org/drawingml/2006/table">
            <a:tbl>
              <a:tblPr/>
              <a:tblGrid>
                <a:gridCol w="2377440"/>
                <a:gridCol w="1188720"/>
                <a:gridCol w="1115568"/>
                <a:gridCol w="1115568"/>
                <a:gridCol w="1115568"/>
                <a:gridCol w="1115568"/>
                <a:gridCol w="1243584"/>
                <a:gridCol w="1243584"/>
              </a:tblGrid>
              <a:tr h="274320">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after</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 step</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500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1500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r>
              <a:tr h="274320">
                <a:tc>
                  <a:txBody>
                    <a:bodyPr/>
                    <a:lstStyle/>
                    <a:p>
                      <a:pPr algn="ctr" indent="0" marL="0">
                        <a:buNone/>
                      </a:pPr>
                      <a:r>
                        <a:rPr lang="en-US" sz="1150" b="1" dirty="0">
                          <a:solidFill>
                            <a:srgbClr val="1B3558"/>
                          </a:solidFill>
                          <a:latin typeface="Calibri" pitchFamily="34" charset="0"/>
                          <a:ea typeface="Calibri" pitchFamily="34" charset="-122"/>
                          <a:cs typeface="Calibri" pitchFamily="34" charset="-120"/>
                        </a:rPr>
                        <a:t>slope</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9.96</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12.81</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13.79</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12.99</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10.21</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8.04</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8.00</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274320">
                <a:tc>
                  <a:txBody>
                    <a:bodyPr/>
                    <a:lstStyle/>
                    <a:p>
                      <a:pPr algn="ctr" indent="0" marL="0">
                        <a:buNone/>
                      </a:pPr>
                      <a:r>
                        <a:rPr lang="en-US" sz="1150" b="1" dirty="0">
                          <a:solidFill>
                            <a:srgbClr val="1B3558"/>
                          </a:solidFill>
                          <a:latin typeface="Calibri" pitchFamily="34" charset="0"/>
                          <a:ea typeface="Calibri" pitchFamily="34" charset="-122"/>
                          <a:cs typeface="Calibri" pitchFamily="34" charset="-120"/>
                        </a:rPr>
                        <a:t>intercept</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4.03</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7.98</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18.03</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25.86</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26.00</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274320">
                <a:tc>
                  <a:txBody>
                    <a:bodyPr/>
                    <a:lstStyle/>
                    <a:p>
                      <a:pPr algn="ctr" indent="0" marL="0">
                        <a:buNone/>
                      </a:pPr>
                      <a:r>
                        <a:rPr lang="en-US" sz="1150" b="1" dirty="0">
                          <a:solidFill>
                            <a:srgbClr val="1B3558"/>
                          </a:solidFill>
                          <a:latin typeface="Calibri" pitchFamily="34" charset="0"/>
                          <a:ea typeface="Calibri" pitchFamily="34" charset="-122"/>
                          <a:cs typeface="Calibri" pitchFamily="34" charset="-120"/>
                        </a:rPr>
                        <a:t>total squared error</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1518</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530</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415</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309</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72</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dirty="0">
                          <a:solidFill>
                            <a:srgbClr val="33415A"/>
                          </a:solidFill>
                          <a:latin typeface="Calibri" pitchFamily="34" charset="0"/>
                          <a:ea typeface="Calibri" pitchFamily="34" charset="-122"/>
                          <a:cs typeface="Calibri" pitchFamily="34" charset="-120"/>
                        </a:rPr>
                        <a:t>14.0</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algn="ctr" indent="0" marL="0">
                        <a:buNone/>
                      </a:pPr>
                      <a:r>
                        <a:rPr lang="en-US" sz="1150" b="1" dirty="0">
                          <a:solidFill>
                            <a:srgbClr val="1F9E86"/>
                          </a:solidFill>
                          <a:latin typeface="Calibri" pitchFamily="34" charset="0"/>
                          <a:ea typeface="Calibri" pitchFamily="34" charset="-122"/>
                          <a:cs typeface="Calibri" pitchFamily="34" charset="-120"/>
                        </a:rPr>
                        <a:t>14.0</a:t>
                      </a:r>
                      <a:endParaRPr lang="en-US" sz="11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6F5F1"/>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F0A530"/>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3 / 5   Finding the best one</a:t>
            </a:r>
            <a:endParaRPr lang="en-US" sz="950" dirty="0"/>
          </a:p>
        </p:txBody>
      </p:sp>
      <p:sp>
        <p:nvSpPr>
          <p:cNvPr id="9" name="Shape 7"/>
          <p:cNvSpPr/>
          <p:nvPr/>
        </p:nvSpPr>
        <p:spPr>
          <a:xfrm>
            <a:off x="822960" y="2331720"/>
            <a:ext cx="82296" cy="1828800"/>
          </a:xfrm>
          <a:prstGeom prst="roundRect">
            <a:avLst>
              <a:gd name="adj" fmla="val 44444"/>
            </a:avLst>
          </a:prstGeom>
          <a:solidFill>
            <a:srgbClr val="1F9E86"/>
          </a:solidFill>
          <a:ln w="12700">
            <a:solidFill>
              <a:srgbClr val="333333"/>
            </a:solidFill>
            <a:prstDash val="solid"/>
          </a:ln>
        </p:spPr>
      </p:sp>
      <p:sp>
        <p:nvSpPr>
          <p:cNvPr id="10" name="Text 8"/>
          <p:cNvSpPr txBox="1"/>
          <p:nvPr/>
        </p:nvSpPr>
        <p:spPr>
          <a:xfrm>
            <a:off x="1234440" y="2286000"/>
            <a:ext cx="9966960" cy="1371600"/>
          </a:xfrm>
          <a:prstGeom prst="rect">
            <a:avLst/>
          </a:prstGeom>
          <a:noFill/>
          <a:ln/>
        </p:spPr>
        <p:txBody>
          <a:bodyPr wrap="square" lIns="0" tIns="0" rIns="0" bIns="0" rtlCol="0" anchor="ctr"/>
          <a:lstStyle/>
          <a:p>
            <a:pPr indent="0" marL="0">
              <a:lnSpc>
                <a:spcPct val="112000"/>
              </a:lnSpc>
              <a:buNone/>
            </a:pPr>
            <a:r>
              <a:rPr lang="en-US" sz="3600" b="1" dirty="0">
                <a:solidFill>
                  <a:srgbClr val="1B3558"/>
                </a:solidFill>
                <a:latin typeface="Georgia" pitchFamily="34" charset="0"/>
                <a:ea typeface="Georgia" pitchFamily="34" charset="-122"/>
                <a:cs typeface="Georgia" pitchFamily="34" charset="-120"/>
              </a:rPr>
              <a:t>Two routes.</a:t>
            </a:r>
            <a:endParaRPr lang="en-US" sz="3600" dirty="0"/>
          </a:p>
          <a:p>
            <a:pPr indent="0" marL="0">
              <a:lnSpc>
                <a:spcPct val="112000"/>
              </a:lnSpc>
              <a:buNone/>
            </a:pPr>
            <a:r>
              <a:rPr lang="en-US" sz="3600" b="1" dirty="0">
                <a:solidFill>
                  <a:srgbClr val="1B3558"/>
                </a:solidFill>
                <a:latin typeface="Georgia" pitchFamily="34" charset="0"/>
                <a:ea typeface="Georgia" pitchFamily="34" charset="-122"/>
                <a:cs typeface="Georgia" pitchFamily="34" charset="-120"/>
              </a:rPr>
              <a:t>The same two numbers.</a:t>
            </a:r>
            <a:endParaRPr lang="en-US" sz="3600" dirty="0"/>
          </a:p>
        </p:txBody>
      </p:sp>
      <p:sp>
        <p:nvSpPr>
          <p:cNvPr id="11" name="Text 9"/>
          <p:cNvSpPr txBox="1"/>
          <p:nvPr/>
        </p:nvSpPr>
        <p:spPr>
          <a:xfrm>
            <a:off x="1252728" y="3749040"/>
            <a:ext cx="9692640" cy="548640"/>
          </a:xfrm>
          <a:prstGeom prst="rect">
            <a:avLst/>
          </a:prstGeom>
          <a:noFill/>
          <a:ln/>
        </p:spPr>
        <p:txBody>
          <a:bodyPr wrap="square" lIns="0" tIns="0" rIns="0" bIns="0" rtlCol="0" anchor="ctr"/>
          <a:lstStyle/>
          <a:p>
            <a:pPr indent="0" marL="0">
              <a:lnSpc>
                <a:spcPct val="120000"/>
              </a:lnSpc>
              <a:buNone/>
            </a:pPr>
            <a:r>
              <a:rPr lang="en-US" sz="1600" dirty="0">
                <a:solidFill>
                  <a:srgbClr val="33415A"/>
                </a:solidFill>
                <a:latin typeface="Calibri" pitchFamily="34" charset="0"/>
                <a:ea typeface="Calibri" pitchFamily="34" charset="-122"/>
                <a:cs typeface="Calibri" pitchFamily="34" charset="-120"/>
              </a:rPr>
              <a:t>The formula gets there in one calculation. Gradient descent takes about 800 steps. Both land on slope 8 and intercept 26 — because there is only one bottom to the bowl.</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31F3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8268B5"/>
          </a:solidFill>
          <a:ln w="12700">
            <a:solidFill>
              <a:srgbClr val="333333"/>
            </a:solidFill>
            <a:prstDash val="solid"/>
          </a:ln>
        </p:spPr>
      </p:sp>
      <p:sp>
        <p:nvSpPr>
          <p:cNvPr id="3" name="Shape 1"/>
          <p:cNvSpPr/>
          <p:nvPr/>
        </p:nvSpPr>
        <p:spPr>
          <a:xfrm>
            <a:off x="10881360" y="-1828800"/>
            <a:ext cx="4206240" cy="4206240"/>
          </a:xfrm>
          <a:prstGeom prst="ellipse">
            <a:avLst/>
          </a:prstGeom>
          <a:solidFill>
            <a:srgbClr val="1A2A44"/>
          </a:solidFill>
          <a:ln w="12700">
            <a:solidFill>
              <a:srgbClr val="333333"/>
            </a:solidFill>
            <a:prstDash val="solid"/>
          </a:ln>
        </p:spPr>
      </p:sp>
      <p:sp>
        <p:nvSpPr>
          <p:cNvPr id="4" name="Shape 2"/>
          <p:cNvSpPr/>
          <p:nvPr/>
        </p:nvSpPr>
        <p:spPr>
          <a:xfrm>
            <a:off x="9509760" y="4937760"/>
            <a:ext cx="2926080" cy="2926080"/>
          </a:xfrm>
          <a:prstGeom prst="ellipse">
            <a:avLst/>
          </a:prstGeom>
          <a:solidFill>
            <a:srgbClr val="172742"/>
          </a:solidFill>
          <a:ln w="12700">
            <a:solidFill>
              <a:srgbClr val="333333"/>
            </a:solidFill>
            <a:prstDash val="solid"/>
          </a:ln>
        </p:spPr>
      </p:sp>
      <p:sp>
        <p:nvSpPr>
          <p:cNvPr id="5" name="Text 3"/>
          <p:cNvSpPr txBox="1"/>
          <p:nvPr/>
        </p:nvSpPr>
        <p:spPr>
          <a:xfrm>
            <a:off x="914400" y="1920240"/>
            <a:ext cx="5486400" cy="274320"/>
          </a:xfrm>
          <a:prstGeom prst="rect">
            <a:avLst/>
          </a:prstGeom>
          <a:noFill/>
          <a:ln/>
        </p:spPr>
        <p:txBody>
          <a:bodyPr wrap="square" lIns="0" tIns="0" rIns="0" bIns="0" rtlCol="0" anchor="ctr"/>
          <a:lstStyle/>
          <a:p>
            <a:pPr indent="0" marL="0">
              <a:buNone/>
            </a:pPr>
            <a:r>
              <a:rPr lang="en-US" sz="1200" b="1" spc="240" kern="0" dirty="0">
                <a:solidFill>
                  <a:srgbClr val="8268B5"/>
                </a:solidFill>
                <a:latin typeface="Calibri" pitchFamily="34" charset="0"/>
                <a:ea typeface="Calibri" pitchFamily="34" charset="-122"/>
                <a:cs typeface="Calibri" pitchFamily="34" charset="-120"/>
              </a:rPr>
              <a:t>SECTION 4 OF 5</a:t>
            </a:r>
            <a:endParaRPr lang="en-US" sz="1200" dirty="0"/>
          </a:p>
        </p:txBody>
      </p:sp>
      <p:sp>
        <p:nvSpPr>
          <p:cNvPr id="6" name="Text 4"/>
          <p:cNvSpPr txBox="1"/>
          <p:nvPr/>
        </p:nvSpPr>
        <p:spPr>
          <a:xfrm>
            <a:off x="914400" y="2267712"/>
            <a:ext cx="7680960" cy="8686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Reading the model</a:t>
            </a:r>
            <a:endParaRPr lang="en-US" sz="4000" dirty="0"/>
          </a:p>
        </p:txBody>
      </p:sp>
      <p:sp>
        <p:nvSpPr>
          <p:cNvPr id="7" name="Text 5"/>
          <p:cNvSpPr txBox="1"/>
          <p:nvPr/>
        </p:nvSpPr>
        <p:spPr>
          <a:xfrm>
            <a:off x="932688" y="3218688"/>
            <a:ext cx="7498080" cy="685800"/>
          </a:xfrm>
          <a:prstGeom prst="rect">
            <a:avLst/>
          </a:prstGeom>
          <a:noFill/>
          <a:ln/>
        </p:spPr>
        <p:txBody>
          <a:bodyPr wrap="square" lIns="0" tIns="0" rIns="0" bIns="0" rtlCol="0" anchor="ctr"/>
          <a:lstStyle/>
          <a:p>
            <a:pPr indent="0" marL="0">
              <a:lnSpc>
                <a:spcPct val="120000"/>
              </a:lnSpc>
              <a:buNone/>
            </a:pPr>
            <a:r>
              <a:rPr lang="en-US" sz="1600" dirty="0">
                <a:solidFill>
                  <a:srgbClr val="AEC0D8"/>
                </a:solidFill>
                <a:latin typeface="Calibri" pitchFamily="34" charset="0"/>
                <a:ea typeface="Calibri" pitchFamily="34" charset="-122"/>
                <a:cs typeface="Calibri" pitchFamily="34" charset="-120"/>
              </a:rPr>
              <a:t>A line you cannot explain is not worth having.</a:t>
            </a:r>
            <a:endParaRPr lang="en-US" sz="1600" dirty="0"/>
          </a:p>
        </p:txBody>
      </p:sp>
      <p:sp>
        <p:nvSpPr>
          <p:cNvPr id="8" name="Shape 6"/>
          <p:cNvSpPr/>
          <p:nvPr/>
        </p:nvSpPr>
        <p:spPr>
          <a:xfrm>
            <a:off x="9144000" y="2450592"/>
            <a:ext cx="91440" cy="91440"/>
          </a:xfrm>
          <a:prstGeom prst="ellipse">
            <a:avLst/>
          </a:prstGeom>
          <a:solidFill>
            <a:srgbClr val="8268B5"/>
          </a:solidFill>
          <a:ln w="12700">
            <a:solidFill>
              <a:srgbClr val="333333"/>
            </a:solidFill>
            <a:prstDash val="solid"/>
          </a:ln>
        </p:spPr>
      </p:sp>
      <p:sp>
        <p:nvSpPr>
          <p:cNvPr id="9" name="Text 7"/>
          <p:cNvSpPr txBox="1"/>
          <p:nvPr/>
        </p:nvSpPr>
        <p:spPr>
          <a:xfrm>
            <a:off x="9381744" y="2377440"/>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What the slope means</a:t>
            </a:r>
            <a:endParaRPr lang="en-US" sz="1250" dirty="0"/>
          </a:p>
        </p:txBody>
      </p:sp>
      <p:sp>
        <p:nvSpPr>
          <p:cNvPr id="10" name="Shape 8"/>
          <p:cNvSpPr/>
          <p:nvPr/>
        </p:nvSpPr>
        <p:spPr>
          <a:xfrm>
            <a:off x="9144000" y="2871216"/>
            <a:ext cx="91440" cy="91440"/>
          </a:xfrm>
          <a:prstGeom prst="ellipse">
            <a:avLst/>
          </a:prstGeom>
          <a:solidFill>
            <a:srgbClr val="8268B5"/>
          </a:solidFill>
          <a:ln w="12700">
            <a:solidFill>
              <a:srgbClr val="333333"/>
            </a:solidFill>
            <a:prstDash val="solid"/>
          </a:ln>
        </p:spPr>
      </p:sp>
      <p:sp>
        <p:nvSpPr>
          <p:cNvPr id="11" name="Text 9"/>
          <p:cNvSpPr txBox="1"/>
          <p:nvPr/>
        </p:nvSpPr>
        <p:spPr>
          <a:xfrm>
            <a:off x="9381744" y="2798064"/>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The intercept trap</a:t>
            </a:r>
            <a:endParaRPr lang="en-US" sz="1250" dirty="0"/>
          </a:p>
        </p:txBody>
      </p:sp>
      <p:sp>
        <p:nvSpPr>
          <p:cNvPr id="12" name="Shape 10"/>
          <p:cNvSpPr/>
          <p:nvPr/>
        </p:nvSpPr>
        <p:spPr>
          <a:xfrm>
            <a:off x="9144000" y="3291840"/>
            <a:ext cx="91440" cy="91440"/>
          </a:xfrm>
          <a:prstGeom prst="ellipse">
            <a:avLst/>
          </a:prstGeom>
          <a:solidFill>
            <a:srgbClr val="8268B5"/>
          </a:solidFill>
          <a:ln w="12700">
            <a:solidFill>
              <a:srgbClr val="333333"/>
            </a:solidFill>
            <a:prstDash val="solid"/>
          </a:ln>
        </p:spPr>
      </p:sp>
      <p:sp>
        <p:nvSpPr>
          <p:cNvPr id="13" name="Text 11"/>
          <p:cNvSpPr txBox="1"/>
          <p:nvPr/>
        </p:nvSpPr>
        <p:spPr>
          <a:xfrm>
            <a:off x="9381744" y="3218688"/>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R², honestly</a:t>
            </a:r>
            <a:endParaRPr lang="en-US" sz="1250" dirty="0"/>
          </a:p>
        </p:txBody>
      </p:sp>
      <p:sp>
        <p:nvSpPr>
          <p:cNvPr id="14" name="Shape 12"/>
          <p:cNvSpPr/>
          <p:nvPr/>
        </p:nvSpPr>
        <p:spPr>
          <a:xfrm>
            <a:off x="9144000" y="3712464"/>
            <a:ext cx="91440" cy="91440"/>
          </a:xfrm>
          <a:prstGeom prst="ellipse">
            <a:avLst/>
          </a:prstGeom>
          <a:solidFill>
            <a:srgbClr val="8268B5"/>
          </a:solidFill>
          <a:ln w="12700">
            <a:solidFill>
              <a:srgbClr val="333333"/>
            </a:solidFill>
            <a:prstDash val="solid"/>
          </a:ln>
        </p:spPr>
      </p:sp>
      <p:sp>
        <p:nvSpPr>
          <p:cNvPr id="15" name="Text 13"/>
          <p:cNvSpPr txBox="1"/>
          <p:nvPr/>
        </p:nvSpPr>
        <p:spPr>
          <a:xfrm>
            <a:off x="9381744" y="3639312"/>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Looking at the errors</a:t>
            </a:r>
            <a:endParaRPr lang="en-US" sz="1250" dirty="0"/>
          </a:p>
        </p:txBody>
      </p:sp>
      <p:sp>
        <p:nvSpPr>
          <p:cNvPr id="16" name="Text 14"/>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6E819C"/>
                </a:solidFill>
                <a:latin typeface="Calibri" pitchFamily="34" charset="0"/>
                <a:ea typeface="Calibri" pitchFamily="34" charset="-122"/>
                <a:cs typeface="Calibri" pitchFamily="34" charset="-120"/>
              </a:rPr>
              <a:t>Srinivasa Sai Chava  ·  Boston University</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8268B5"/>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4 / 5   Reading the model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8268B5"/>
                </a:solidFill>
                <a:latin typeface="Calibri" pitchFamily="34" charset="0"/>
                <a:ea typeface="Calibri" pitchFamily="34" charset="-122"/>
                <a:cs typeface="Calibri" pitchFamily="34" charset="-120"/>
              </a:rPr>
              <a:t>READING THE MODEL</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Say the slope out loud, in English</a:t>
            </a:r>
            <a:endParaRPr lang="en-US" sz="2700" dirty="0"/>
          </a:p>
        </p:txBody>
      </p:sp>
      <p:sp>
        <p:nvSpPr>
          <p:cNvPr id="11" name="Shape 9"/>
          <p:cNvSpPr/>
          <p:nvPr/>
        </p:nvSpPr>
        <p:spPr>
          <a:xfrm>
            <a:off x="585216" y="1444752"/>
            <a:ext cx="640080" cy="50292"/>
          </a:xfrm>
          <a:prstGeom prst="roundRect">
            <a:avLst>
              <a:gd name="adj" fmla="val 45455"/>
            </a:avLst>
          </a:prstGeom>
          <a:solidFill>
            <a:srgbClr val="8268B5"/>
          </a:solidFill>
          <a:ln w="12700">
            <a:solidFill>
              <a:srgbClr val="333333"/>
            </a:solidFill>
            <a:prstDash val="solid"/>
          </a:ln>
        </p:spPr>
      </p:sp>
      <p:sp>
        <p:nvSpPr>
          <p:cNvPr id="12" name="Shape 10"/>
          <p:cNvSpPr/>
          <p:nvPr/>
        </p:nvSpPr>
        <p:spPr>
          <a:xfrm>
            <a:off x="566928" y="1737360"/>
            <a:ext cx="11064240" cy="822960"/>
          </a:xfrm>
          <a:prstGeom prst="roundRect">
            <a:avLst>
              <a:gd name="adj" fmla="val 11111"/>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3" name="Text 11"/>
          <p:cNvSpPr txBox="1"/>
          <p:nvPr/>
        </p:nvSpPr>
        <p:spPr>
          <a:xfrm>
            <a:off x="566928" y="1737360"/>
            <a:ext cx="11064240" cy="822960"/>
          </a:xfrm>
          <a:prstGeom prst="rect">
            <a:avLst/>
          </a:prstGeom>
          <a:noFill/>
          <a:ln/>
        </p:spPr>
        <p:txBody>
          <a:bodyPr wrap="square" lIns="0" tIns="0" rIns="0" bIns="0" rtlCol="0" anchor="ctr"/>
          <a:lstStyle/>
          <a:p>
            <a:pPr algn="ctr" indent="0" marL="0">
              <a:buNone/>
            </a:pPr>
            <a:r>
              <a:rPr lang="en-US" sz="2100" b="1" dirty="0">
                <a:solidFill>
                  <a:srgbClr val="1B3558"/>
                </a:solidFill>
                <a:latin typeface="Consolas" pitchFamily="34" charset="0"/>
                <a:ea typeface="Consolas" pitchFamily="34" charset="-122"/>
                <a:cs typeface="Consolas" pitchFamily="34" charset="-120"/>
              </a:rPr>
              <a:t>mark  =  8 × hours  +  26</a:t>
            </a:r>
            <a:endParaRPr lang="en-US" sz="2100" dirty="0"/>
          </a:p>
        </p:txBody>
      </p:sp>
      <p:sp>
        <p:nvSpPr>
          <p:cNvPr id="14" name="Shape 12"/>
          <p:cNvSpPr/>
          <p:nvPr/>
        </p:nvSpPr>
        <p:spPr>
          <a:xfrm>
            <a:off x="566928" y="2743200"/>
            <a:ext cx="5394960" cy="2286000"/>
          </a:xfrm>
          <a:prstGeom prst="roundRect">
            <a:avLst>
              <a:gd name="adj" fmla="val 4000"/>
            </a:avLst>
          </a:prstGeom>
          <a:solidFill>
            <a:srgbClr val="E6F5F1"/>
          </a:solidFill>
          <a:ln w="22860">
            <a:solidFill>
              <a:srgbClr val="1F9E86"/>
            </a:solidFill>
            <a:prstDash val="solid"/>
          </a:ln>
        </p:spPr>
      </p:sp>
      <p:sp>
        <p:nvSpPr>
          <p:cNvPr id="15" name="Shape 13"/>
          <p:cNvSpPr/>
          <p:nvPr/>
        </p:nvSpPr>
        <p:spPr>
          <a:xfrm>
            <a:off x="566928" y="2743200"/>
            <a:ext cx="5394960" cy="402336"/>
          </a:xfrm>
          <a:prstGeom prst="roundRect">
            <a:avLst>
              <a:gd name="adj" fmla="val 22727"/>
            </a:avLst>
          </a:prstGeom>
          <a:solidFill>
            <a:srgbClr val="1F9E86"/>
          </a:solidFill>
          <a:ln w="22860">
            <a:solidFill>
              <a:srgbClr val="1F9E86"/>
            </a:solidFill>
            <a:prstDash val="solid"/>
          </a:ln>
        </p:spPr>
      </p:sp>
      <p:sp>
        <p:nvSpPr>
          <p:cNvPr id="16" name="Shape 14"/>
          <p:cNvSpPr/>
          <p:nvPr/>
        </p:nvSpPr>
        <p:spPr>
          <a:xfrm>
            <a:off x="566928" y="2980944"/>
            <a:ext cx="5394960" cy="164592"/>
          </a:xfrm>
          <a:prstGeom prst="rect">
            <a:avLst/>
          </a:prstGeom>
          <a:solidFill>
            <a:srgbClr val="1F9E86"/>
          </a:solidFill>
          <a:ln w="12700">
            <a:solidFill>
              <a:srgbClr val="333333"/>
            </a:solidFill>
            <a:prstDash val="solid"/>
          </a:ln>
        </p:spPr>
      </p:sp>
      <p:sp>
        <p:nvSpPr>
          <p:cNvPr id="17" name="Text 15"/>
          <p:cNvSpPr txBox="1"/>
          <p:nvPr/>
        </p:nvSpPr>
        <p:spPr>
          <a:xfrm>
            <a:off x="768096" y="2779776"/>
            <a:ext cx="4992624"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SLOPE,  8</a:t>
            </a:r>
            <a:endParaRPr lang="en-US" sz="1300" dirty="0"/>
          </a:p>
        </p:txBody>
      </p:sp>
      <p:sp>
        <p:nvSpPr>
          <p:cNvPr id="18" name="Text 16"/>
          <p:cNvSpPr txBox="1"/>
          <p:nvPr/>
        </p:nvSpPr>
        <p:spPr>
          <a:xfrm>
            <a:off x="786384" y="3273552"/>
            <a:ext cx="4956048" cy="1645920"/>
          </a:xfrm>
          <a:prstGeom prst="rect">
            <a:avLst/>
          </a:prstGeom>
          <a:noFill/>
          <a:ln/>
        </p:spPr>
        <p:txBody>
          <a:bodyPr wrap="square" lIns="0" tIns="0" rIns="0" bIns="0" rtlCol="0" anchor="ctr"/>
          <a:lstStyle/>
          <a:p>
            <a:pPr indent="0" marL="0">
              <a:lnSpc>
                <a:spcPct val="118000"/>
              </a:lnSpc>
              <a:buNone/>
            </a:pPr>
            <a:r>
              <a:rPr lang="en-US" sz="1300" dirty="0">
                <a:solidFill>
                  <a:srgbClr val="33415A"/>
                </a:solidFill>
                <a:latin typeface="Calibri" pitchFamily="34" charset="0"/>
                <a:ea typeface="Calibri" pitchFamily="34" charset="-122"/>
                <a:cs typeface="Calibri" pitchFamily="34" charset="-120"/>
              </a:rPr>
              <a:t>“One extra hour of study a week is worth about 8 more marks.”</a:t>
            </a:r>
            <a:endParaRPr lang="en-US" sz="1300" dirty="0"/>
          </a:p>
          <a:p>
            <a:pPr indent="0" marL="0">
              <a:lnSpc>
                <a:spcPct val="118000"/>
              </a:lnSpc>
              <a:buNone/>
            </a:pPr>
            <a:endParaRPr lang="en-US" sz="1300" dirty="0"/>
          </a:p>
          <a:p>
            <a:pPr indent="0" marL="0">
              <a:lnSpc>
                <a:spcPct val="118000"/>
              </a:lnSpc>
              <a:buNone/>
            </a:pPr>
            <a:r>
              <a:rPr lang="en-US" sz="1300" dirty="0">
                <a:solidFill>
                  <a:srgbClr val="33415A"/>
                </a:solidFill>
                <a:latin typeface="Calibri" pitchFamily="34" charset="0"/>
                <a:ea typeface="Calibri" pitchFamily="34" charset="-122"/>
                <a:cs typeface="Calibri" pitchFamily="34" charset="-120"/>
              </a:rPr>
              <a:t>This is the sentence you would actually say to a student. It is the whole reason anyone fits a line instead of a black box.</a:t>
            </a:r>
            <a:endParaRPr lang="en-US" sz="1300" dirty="0"/>
          </a:p>
        </p:txBody>
      </p:sp>
      <p:sp>
        <p:nvSpPr>
          <p:cNvPr id="19" name="Shape 17"/>
          <p:cNvSpPr/>
          <p:nvPr/>
        </p:nvSpPr>
        <p:spPr>
          <a:xfrm>
            <a:off x="6236208" y="2743200"/>
            <a:ext cx="5394960" cy="2286000"/>
          </a:xfrm>
          <a:prstGeom prst="roundRect">
            <a:avLst>
              <a:gd name="adj" fmla="val 4000"/>
            </a:avLst>
          </a:prstGeom>
          <a:solidFill>
            <a:srgbClr val="F1EDF9"/>
          </a:solidFill>
          <a:ln w="22860">
            <a:solidFill>
              <a:srgbClr val="8268B5"/>
            </a:solidFill>
            <a:prstDash val="solid"/>
          </a:ln>
        </p:spPr>
      </p:sp>
      <p:sp>
        <p:nvSpPr>
          <p:cNvPr id="20" name="Shape 18"/>
          <p:cNvSpPr/>
          <p:nvPr/>
        </p:nvSpPr>
        <p:spPr>
          <a:xfrm>
            <a:off x="6236208" y="2743200"/>
            <a:ext cx="5394960" cy="402336"/>
          </a:xfrm>
          <a:prstGeom prst="roundRect">
            <a:avLst>
              <a:gd name="adj" fmla="val 22727"/>
            </a:avLst>
          </a:prstGeom>
          <a:solidFill>
            <a:srgbClr val="8268B5"/>
          </a:solidFill>
          <a:ln w="22860">
            <a:solidFill>
              <a:srgbClr val="8268B5"/>
            </a:solidFill>
            <a:prstDash val="solid"/>
          </a:ln>
        </p:spPr>
      </p:sp>
      <p:sp>
        <p:nvSpPr>
          <p:cNvPr id="21" name="Shape 19"/>
          <p:cNvSpPr/>
          <p:nvPr/>
        </p:nvSpPr>
        <p:spPr>
          <a:xfrm>
            <a:off x="6236208" y="2980944"/>
            <a:ext cx="5394960" cy="164592"/>
          </a:xfrm>
          <a:prstGeom prst="rect">
            <a:avLst/>
          </a:prstGeom>
          <a:solidFill>
            <a:srgbClr val="8268B5"/>
          </a:solidFill>
          <a:ln w="12700">
            <a:solidFill>
              <a:srgbClr val="333333"/>
            </a:solidFill>
            <a:prstDash val="solid"/>
          </a:ln>
        </p:spPr>
      </p:sp>
      <p:sp>
        <p:nvSpPr>
          <p:cNvPr id="22" name="Text 20"/>
          <p:cNvSpPr txBox="1"/>
          <p:nvPr/>
        </p:nvSpPr>
        <p:spPr>
          <a:xfrm>
            <a:off x="6437376" y="2779776"/>
            <a:ext cx="4992624"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INTERCEPT,  26</a:t>
            </a:r>
            <a:endParaRPr lang="en-US" sz="1300" dirty="0"/>
          </a:p>
        </p:txBody>
      </p:sp>
      <p:sp>
        <p:nvSpPr>
          <p:cNvPr id="23" name="Text 21"/>
          <p:cNvSpPr txBox="1"/>
          <p:nvPr/>
        </p:nvSpPr>
        <p:spPr>
          <a:xfrm>
            <a:off x="6455664" y="3273552"/>
            <a:ext cx="4956048" cy="1645920"/>
          </a:xfrm>
          <a:prstGeom prst="rect">
            <a:avLst/>
          </a:prstGeom>
          <a:noFill/>
          <a:ln/>
        </p:spPr>
        <p:txBody>
          <a:bodyPr wrap="square" lIns="0" tIns="0" rIns="0" bIns="0" rtlCol="0" anchor="ctr"/>
          <a:lstStyle/>
          <a:p>
            <a:pPr indent="0" marL="0">
              <a:lnSpc>
                <a:spcPct val="118000"/>
              </a:lnSpc>
              <a:buNone/>
            </a:pPr>
            <a:r>
              <a:rPr lang="en-US" sz="1300" dirty="0">
                <a:solidFill>
                  <a:srgbClr val="33415A"/>
                </a:solidFill>
                <a:latin typeface="Calibri" pitchFamily="34" charset="0"/>
                <a:ea typeface="Calibri" pitchFamily="34" charset="-122"/>
                <a:cs typeface="Calibri" pitchFamily="34" charset="-120"/>
              </a:rPr>
              <a:t>“A student who studies zero hours would score 26.”</a:t>
            </a:r>
            <a:endParaRPr lang="en-US" sz="1300" dirty="0"/>
          </a:p>
          <a:p>
            <a:pPr indent="0" marL="0">
              <a:lnSpc>
                <a:spcPct val="118000"/>
              </a:lnSpc>
              <a:buNone/>
            </a:pPr>
            <a:endParaRPr lang="en-US" sz="1300" dirty="0"/>
          </a:p>
          <a:p>
            <a:pPr indent="0" marL="0">
              <a:lnSpc>
                <a:spcPct val="118000"/>
              </a:lnSpc>
              <a:buNone/>
            </a:pPr>
            <a:r>
              <a:rPr lang="en-US" sz="1300" dirty="0">
                <a:solidFill>
                  <a:srgbClr val="33415A"/>
                </a:solidFill>
                <a:latin typeface="Calibri" pitchFamily="34" charset="0"/>
                <a:ea typeface="Calibri" pitchFamily="34" charset="-122"/>
                <a:cs typeface="Calibri" pitchFamily="34" charset="-120"/>
              </a:rPr>
              <a:t>True of the LINE. But nobody in our five studied zero hours — the lowest was 1. So this number is an extrapolation, and you should not quote it.</a:t>
            </a:r>
            <a:endParaRPr lang="en-US" sz="1300" dirty="0"/>
          </a:p>
        </p:txBody>
      </p:sp>
      <p:sp>
        <p:nvSpPr>
          <p:cNvPr id="24" name="Shape 22"/>
          <p:cNvSpPr/>
          <p:nvPr/>
        </p:nvSpPr>
        <p:spPr>
          <a:xfrm>
            <a:off x="566928" y="5193792"/>
            <a:ext cx="11064240" cy="731520"/>
          </a:xfrm>
          <a:prstGeom prst="roundRect">
            <a:avLst>
              <a:gd name="adj" fmla="val 12500"/>
            </a:avLst>
          </a:prstGeom>
          <a:solidFill>
            <a:srgbClr val="E6F5F1"/>
          </a:solidFill>
          <a:ln w="17780">
            <a:solidFill>
              <a:srgbClr val="1F9E86"/>
            </a:solidFill>
            <a:prstDash val="solid"/>
          </a:ln>
        </p:spPr>
      </p:sp>
      <p:sp>
        <p:nvSpPr>
          <p:cNvPr id="25" name="Shape 23"/>
          <p:cNvSpPr/>
          <p:nvPr/>
        </p:nvSpPr>
        <p:spPr>
          <a:xfrm>
            <a:off x="566928" y="5193792"/>
            <a:ext cx="82296" cy="731520"/>
          </a:xfrm>
          <a:prstGeom prst="roundRect">
            <a:avLst>
              <a:gd name="adj" fmla="val 44444"/>
            </a:avLst>
          </a:prstGeom>
          <a:solidFill>
            <a:srgbClr val="1F9E86"/>
          </a:solidFill>
          <a:ln w="12700">
            <a:solidFill>
              <a:srgbClr val="333333"/>
            </a:solidFill>
            <a:prstDash val="solid"/>
          </a:ln>
        </p:spPr>
      </p:sp>
      <p:sp>
        <p:nvSpPr>
          <p:cNvPr id="26" name="Text 24"/>
          <p:cNvSpPr txBox="1"/>
          <p:nvPr/>
        </p:nvSpPr>
        <p:spPr>
          <a:xfrm>
            <a:off x="868680" y="5266944"/>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If you cannot finish the sentence “one more unit of X is worth ___ of Y”, you have not understood your own model yet.</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8268B5"/>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4 / 5   Reading the model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8268B5"/>
                </a:solidFill>
                <a:latin typeface="Calibri" pitchFamily="34" charset="0"/>
                <a:ea typeface="Calibri" pitchFamily="34" charset="-122"/>
                <a:cs typeface="Calibri" pitchFamily="34" charset="-120"/>
              </a:rPr>
              <a:t>SCORING THE MODEL</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R² · compared with just guessing the average</a:t>
            </a:r>
            <a:endParaRPr lang="en-US" sz="2700" dirty="0"/>
          </a:p>
        </p:txBody>
      </p:sp>
      <p:sp>
        <p:nvSpPr>
          <p:cNvPr id="11" name="Shape 9"/>
          <p:cNvSpPr/>
          <p:nvPr/>
        </p:nvSpPr>
        <p:spPr>
          <a:xfrm>
            <a:off x="585216" y="1444752"/>
            <a:ext cx="640080" cy="50292"/>
          </a:xfrm>
          <a:prstGeom prst="roundRect">
            <a:avLst>
              <a:gd name="adj" fmla="val 45455"/>
            </a:avLst>
          </a:prstGeom>
          <a:solidFill>
            <a:srgbClr val="8268B5"/>
          </a:solidFill>
          <a:ln w="12700">
            <a:solidFill>
              <a:srgbClr val="333333"/>
            </a:solidFill>
            <a:prstDash val="solid"/>
          </a:ln>
        </p:spPr>
      </p:sp>
      <p:pic>
        <p:nvPicPr>
          <p:cNvPr id="12" name="Image 0" descr="/home/claude/d33n/fig/r2_picture.png">    </p:cNvPr>
          <p:cNvPicPr>
            <a:picLocks noChangeAspect="1"/>
          </p:cNvPicPr>
          <p:nvPr/>
        </p:nvPicPr>
        <p:blipFill>
          <a:blip r:embed="rId1"/>
          <a:stretch>
            <a:fillRect/>
          </a:stretch>
        </p:blipFill>
        <p:spPr>
          <a:xfrm>
            <a:off x="777240" y="1627632"/>
            <a:ext cx="10607040" cy="3562996"/>
          </a:xfrm>
          <a:prstGeom prst="rect">
            <a:avLst/>
          </a:prstGeom>
        </p:spPr>
      </p:pic>
      <p:sp>
        <p:nvSpPr>
          <p:cNvPr id="13" name="Shape 10"/>
          <p:cNvSpPr/>
          <p:nvPr/>
        </p:nvSpPr>
        <p:spPr>
          <a:xfrm>
            <a:off x="822960" y="5266944"/>
            <a:ext cx="10515600" cy="713232"/>
          </a:xfrm>
          <a:prstGeom prst="roundRect">
            <a:avLst>
              <a:gd name="adj" fmla="val 12821"/>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4" name="Text 11"/>
          <p:cNvSpPr txBox="1"/>
          <p:nvPr/>
        </p:nvSpPr>
        <p:spPr>
          <a:xfrm>
            <a:off x="1051560" y="5266944"/>
            <a:ext cx="10058400" cy="713232"/>
          </a:xfrm>
          <a:prstGeom prst="rect">
            <a:avLst/>
          </a:prstGeom>
          <a:noFill/>
          <a:ln/>
        </p:spPr>
        <p:txBody>
          <a:bodyPr wrap="square" lIns="0" tIns="0" rIns="0" bIns="0" rtlCol="0" anchor="ctr"/>
          <a:lstStyle/>
          <a:p>
            <a:pPr indent="0" marL="0">
              <a:buNone/>
            </a:pPr>
            <a:r>
              <a:rPr lang="en-US" sz="1600" b="1" dirty="0">
                <a:solidFill>
                  <a:srgbClr val="1F9E86"/>
                </a:solidFill>
                <a:latin typeface="Consolas" pitchFamily="34" charset="0"/>
                <a:ea typeface="Consolas" pitchFamily="34" charset="-122"/>
                <a:cs typeface="Consolas" pitchFamily="34" charset="-120"/>
              </a:rPr>
              <a:t>R²  =  1 − ( 14 ÷ 654 )  =  0.979</a:t>
            </a:r>
            <a:pPr indent="0" marL="0">
              <a:buNone/>
            </a:pPr>
            <a:r>
              <a:rPr lang="en-US" sz="1300" dirty="0">
                <a:solidFill>
                  <a:srgbClr val="33415A"/>
                </a:solidFill>
                <a:latin typeface="Calibri" pitchFamily="34" charset="0"/>
                <a:ea typeface="Calibri" pitchFamily="34" charset="-122"/>
                <a:cs typeface="Calibri" pitchFamily="34" charset="-120"/>
              </a:rPr>
              <a:t>        the line removed 97.9% of the error that guessing the average would have left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8268B5"/>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4 / 5   Reading the model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8268B5"/>
                </a:solidFill>
                <a:latin typeface="Calibri" pitchFamily="34" charset="0"/>
                <a:ea typeface="Calibri" pitchFamily="34" charset="-122"/>
                <a:cs typeface="Calibri" pitchFamily="34" charset="-120"/>
              </a:rPr>
              <a:t>AND WHAT IT IS NOT</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What R² is actually telling you</a:t>
            </a:r>
            <a:endParaRPr lang="en-US" sz="2700" dirty="0"/>
          </a:p>
        </p:txBody>
      </p:sp>
      <p:sp>
        <p:nvSpPr>
          <p:cNvPr id="11" name="Shape 9"/>
          <p:cNvSpPr/>
          <p:nvPr/>
        </p:nvSpPr>
        <p:spPr>
          <a:xfrm>
            <a:off x="585216" y="1444752"/>
            <a:ext cx="640080" cy="50292"/>
          </a:xfrm>
          <a:prstGeom prst="roundRect">
            <a:avLst>
              <a:gd name="adj" fmla="val 45455"/>
            </a:avLst>
          </a:prstGeom>
          <a:solidFill>
            <a:srgbClr val="8268B5"/>
          </a:solidFill>
          <a:ln w="12700">
            <a:solidFill>
              <a:srgbClr val="333333"/>
            </a:solidFill>
            <a:prstDash val="solid"/>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64240" cy="914400"/>
        </p:xfrm>
        <a:graphic>
          <a:graphicData uri="http://schemas.openxmlformats.org/drawingml/2006/table">
            <a:tbl>
              <a:tblPr/>
              <a:tblGrid>
                <a:gridCol w="1554480"/>
                <a:gridCol w="5120640"/>
                <a:gridCol w="438912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R²</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means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should you be happy?</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r>
              <a:tr h="384048">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every point sits exactly on the line</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b="1" dirty="0">
                          <a:solidFill>
                            <a:srgbClr val="E05C45"/>
                          </a:solidFill>
                          <a:latin typeface="Calibri" pitchFamily="34" charset="0"/>
                          <a:ea typeface="Calibri" pitchFamily="34" charset="-122"/>
                          <a:cs typeface="Calibri" pitchFamily="34" charset="-120"/>
                        </a:rPr>
                        <a:t>No — check for a mistake</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84048">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0.98</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our five students</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Yes, but five points is not evidence</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84048">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a real, noisy relationship</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Often very useful</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84048">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no better than always guessing the average</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The line found nothing</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384048">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below 0</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worse than guessing the average</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b="1" dirty="0">
                          <a:solidFill>
                            <a:srgbClr val="E05C45"/>
                          </a:solidFill>
                          <a:latin typeface="Calibri" pitchFamily="34" charset="0"/>
                          <a:ea typeface="Calibri" pitchFamily="34" charset="-122"/>
                          <a:cs typeface="Calibri" pitchFamily="34" charset="-120"/>
                        </a:rPr>
                        <a:t>Something is wrong</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bl>
          </a:graphicData>
        </a:graphic>
      </p:graphicFrame>
      <p:sp>
        <p:nvSpPr>
          <p:cNvPr id="13" name="Text 10"/>
          <p:cNvSpPr txBox="1"/>
          <p:nvPr/>
        </p:nvSpPr>
        <p:spPr>
          <a:xfrm>
            <a:off x="566928" y="4224528"/>
            <a:ext cx="11064240" cy="566928"/>
          </a:xfrm>
          <a:prstGeom prst="rect">
            <a:avLst/>
          </a:prstGeom>
          <a:noFill/>
          <a:ln/>
        </p:spPr>
        <p:txBody>
          <a:bodyPr wrap="square" lIns="0" tIns="0" rIns="0" bIns="0" rtlCol="0" anchor="ctr"/>
          <a:lstStyle/>
          <a:p>
            <a:pPr indent="0" marL="0">
              <a:lnSpc>
                <a:spcPct val="120000"/>
              </a:lnSpc>
              <a:buNone/>
            </a:pPr>
            <a:r>
              <a:rPr lang="en-US" sz="1350" dirty="0">
                <a:solidFill>
                  <a:srgbClr val="33415A"/>
                </a:solidFill>
                <a:latin typeface="Calibri" pitchFamily="34" charset="0"/>
                <a:ea typeface="Calibri" pitchFamily="34" charset="-122"/>
                <a:cs typeface="Calibri" pitchFamily="34" charset="-120"/>
              </a:rPr>
              <a:t>A high R² does NOT mean the line is the right shape, that hours CAUSE marks, or that the model will work on new students. It only compares the line with the flat average.</a:t>
            </a:r>
            <a:endParaRPr lang="en-US" sz="1350" dirty="0"/>
          </a:p>
        </p:txBody>
      </p:sp>
      <p:sp>
        <p:nvSpPr>
          <p:cNvPr id="14" name="Shape 11"/>
          <p:cNvSpPr/>
          <p:nvPr/>
        </p:nvSpPr>
        <p:spPr>
          <a:xfrm>
            <a:off x="566928" y="4937760"/>
            <a:ext cx="11064240" cy="731520"/>
          </a:xfrm>
          <a:prstGeom prst="roundRect">
            <a:avLst>
              <a:gd name="adj" fmla="val 12500"/>
            </a:avLst>
          </a:prstGeom>
          <a:solidFill>
            <a:srgbClr val="FCEBE7"/>
          </a:solidFill>
          <a:ln w="17780">
            <a:solidFill>
              <a:srgbClr val="E05C45"/>
            </a:solidFill>
            <a:prstDash val="solid"/>
          </a:ln>
        </p:spPr>
      </p:sp>
      <p:sp>
        <p:nvSpPr>
          <p:cNvPr id="15" name="Shape 12"/>
          <p:cNvSpPr/>
          <p:nvPr/>
        </p:nvSpPr>
        <p:spPr>
          <a:xfrm>
            <a:off x="566928" y="4937760"/>
            <a:ext cx="82296" cy="731520"/>
          </a:xfrm>
          <a:prstGeom prst="roundRect">
            <a:avLst>
              <a:gd name="adj" fmla="val 44444"/>
            </a:avLst>
          </a:prstGeom>
          <a:solidFill>
            <a:srgbClr val="E05C45"/>
          </a:solidFill>
          <a:ln w="12700">
            <a:solidFill>
              <a:srgbClr val="333333"/>
            </a:solidFill>
            <a:prstDash val="solid"/>
          </a:ln>
        </p:spPr>
      </p:sp>
      <p:sp>
        <p:nvSpPr>
          <p:cNvPr id="16" name="Text 13"/>
          <p:cNvSpPr txBox="1"/>
          <p:nvPr/>
        </p:nvSpPr>
        <p:spPr>
          <a:xfrm>
            <a:off x="868680" y="501091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A good R² is a reason to look closer, never a reason to stop looking. The next slide shows an R² of 0.75 hiding a line that is simply the wrong shape.</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8268B5"/>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4 / 5   Reading the model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8268B5"/>
                </a:solidFill>
                <a:latin typeface="Calibri" pitchFamily="34" charset="0"/>
                <a:ea typeface="Calibri" pitchFamily="34" charset="-122"/>
                <a:cs typeface="Calibri" pitchFamily="34" charset="-120"/>
              </a:rPr>
              <a:t>THE RESIDUAL PLOT</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Always look at the errors, not just the score</a:t>
            </a:r>
            <a:endParaRPr lang="en-US" sz="2700" dirty="0"/>
          </a:p>
        </p:txBody>
      </p:sp>
      <p:sp>
        <p:nvSpPr>
          <p:cNvPr id="11" name="Shape 9"/>
          <p:cNvSpPr/>
          <p:nvPr/>
        </p:nvSpPr>
        <p:spPr>
          <a:xfrm>
            <a:off x="585216" y="1444752"/>
            <a:ext cx="640080" cy="50292"/>
          </a:xfrm>
          <a:prstGeom prst="roundRect">
            <a:avLst>
              <a:gd name="adj" fmla="val 45455"/>
            </a:avLst>
          </a:prstGeom>
          <a:solidFill>
            <a:srgbClr val="8268B5"/>
          </a:solidFill>
          <a:ln w="12700">
            <a:solidFill>
              <a:srgbClr val="333333"/>
            </a:solidFill>
            <a:prstDash val="solid"/>
          </a:ln>
        </p:spPr>
      </p:sp>
      <p:pic>
        <p:nvPicPr>
          <p:cNvPr id="12" name="Image 0" descr="/home/claude/d33n/fig/residuals.png">    </p:cNvPr>
          <p:cNvPicPr>
            <a:picLocks noChangeAspect="1"/>
          </p:cNvPicPr>
          <p:nvPr/>
        </p:nvPicPr>
        <p:blipFill>
          <a:blip r:embed="rId1"/>
          <a:stretch>
            <a:fillRect/>
          </a:stretch>
        </p:blipFill>
        <p:spPr>
          <a:xfrm>
            <a:off x="868680" y="1645920"/>
            <a:ext cx="10424160" cy="3079516"/>
          </a:xfrm>
          <a:prstGeom prst="rect">
            <a:avLst/>
          </a:prstGeom>
        </p:spPr>
      </p:pic>
      <p:sp>
        <p:nvSpPr>
          <p:cNvPr id="13" name="Shape 10"/>
          <p:cNvSpPr/>
          <p:nvPr/>
        </p:nvSpPr>
        <p:spPr>
          <a:xfrm>
            <a:off x="566928" y="5029200"/>
            <a:ext cx="11064240" cy="731520"/>
          </a:xfrm>
          <a:prstGeom prst="roundRect">
            <a:avLst>
              <a:gd name="adj" fmla="val 12500"/>
            </a:avLst>
          </a:prstGeom>
          <a:solidFill>
            <a:srgbClr val="FCEBE7"/>
          </a:solidFill>
          <a:ln w="17780">
            <a:solidFill>
              <a:srgbClr val="E05C45"/>
            </a:solidFill>
            <a:prstDash val="solid"/>
          </a:ln>
        </p:spPr>
      </p:sp>
      <p:sp>
        <p:nvSpPr>
          <p:cNvPr id="14" name="Shape 11"/>
          <p:cNvSpPr/>
          <p:nvPr/>
        </p:nvSpPr>
        <p:spPr>
          <a:xfrm>
            <a:off x="566928" y="5029200"/>
            <a:ext cx="82296" cy="731520"/>
          </a:xfrm>
          <a:prstGeom prst="roundRect">
            <a:avLst>
              <a:gd name="adj" fmla="val 44444"/>
            </a:avLst>
          </a:prstGeom>
          <a:solidFill>
            <a:srgbClr val="E05C45"/>
          </a:solidFill>
          <a:ln w="12700">
            <a:solidFill>
              <a:srgbClr val="333333"/>
            </a:solidFill>
            <a:prstDash val="solid"/>
          </a:ln>
        </p:spPr>
      </p:sp>
      <p:sp>
        <p:nvSpPr>
          <p:cNvPr id="15" name="Text 12"/>
          <p:cNvSpPr txBox="1"/>
          <p:nvPr/>
        </p:nvSpPr>
        <p:spPr>
          <a:xfrm>
            <a:off x="868680" y="510235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Plot the errors against the input. If they scatter randomly around zero, the line fits. If they make a PATTERN, the line is the wrong shape — whatever R² says.</a:t>
            </a:r>
            <a:endParaRPr lang="en-US" sz="14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8268B5"/>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DCE4EF"/>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4 / 5   Reading the model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8268B5"/>
                </a:solidFill>
                <a:latin typeface="Calibri" pitchFamily="34" charset="0"/>
                <a:ea typeface="Calibri" pitchFamily="34" charset="-122"/>
                <a:cs typeface="Calibri" pitchFamily="34" charset="-120"/>
              </a:rPr>
              <a:t>WHAT THE PATTERN MEANT</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An R² of 0.75, and the line is still wrong</a:t>
            </a:r>
            <a:endParaRPr lang="en-US" sz="2700" dirty="0"/>
          </a:p>
        </p:txBody>
      </p:sp>
      <p:sp>
        <p:nvSpPr>
          <p:cNvPr id="11" name="Shape 9"/>
          <p:cNvSpPr/>
          <p:nvPr/>
        </p:nvSpPr>
        <p:spPr>
          <a:xfrm>
            <a:off x="585216" y="1444752"/>
            <a:ext cx="640080" cy="50292"/>
          </a:xfrm>
          <a:prstGeom prst="roundRect">
            <a:avLst>
              <a:gd name="adj" fmla="val 45455"/>
            </a:avLst>
          </a:prstGeom>
          <a:solidFill>
            <a:srgbClr val="8268B5"/>
          </a:solidFill>
          <a:ln w="12700">
            <a:solidFill>
              <a:srgbClr val="333333"/>
            </a:solidFill>
            <a:prstDash val="solid"/>
          </a:ln>
        </p:spPr>
      </p:sp>
      <p:pic>
        <p:nvPicPr>
          <p:cNvPr id="12" name="Image 0" descr="/home/claude/d33n/fig/wrong_shape.png">    </p:cNvPr>
          <p:cNvPicPr>
            <a:picLocks noChangeAspect="1"/>
          </p:cNvPicPr>
          <p:nvPr/>
        </p:nvPicPr>
        <p:blipFill>
          <a:blip r:embed="rId1"/>
          <a:stretch>
            <a:fillRect/>
          </a:stretch>
        </p:blipFill>
        <p:spPr>
          <a:xfrm>
            <a:off x="1143000" y="1627632"/>
            <a:ext cx="9875520" cy="3450566"/>
          </a:xfrm>
          <a:prstGeom prst="rect">
            <a:avLst/>
          </a:prstGeom>
        </p:spPr>
      </p:pic>
      <p:sp>
        <p:nvSpPr>
          <p:cNvPr id="13" name="Shape 10"/>
          <p:cNvSpPr/>
          <p:nvPr/>
        </p:nvSpPr>
        <p:spPr>
          <a:xfrm>
            <a:off x="566928" y="5285232"/>
            <a:ext cx="11064240" cy="731520"/>
          </a:xfrm>
          <a:prstGeom prst="roundRect">
            <a:avLst>
              <a:gd name="adj" fmla="val 12500"/>
            </a:avLst>
          </a:prstGeom>
          <a:solidFill>
            <a:srgbClr val="FCEBE7"/>
          </a:solidFill>
          <a:ln w="17780">
            <a:solidFill>
              <a:srgbClr val="E05C45"/>
            </a:solidFill>
            <a:prstDash val="solid"/>
          </a:ln>
        </p:spPr>
      </p:sp>
      <p:sp>
        <p:nvSpPr>
          <p:cNvPr id="14" name="Shape 11"/>
          <p:cNvSpPr/>
          <p:nvPr/>
        </p:nvSpPr>
        <p:spPr>
          <a:xfrm>
            <a:off x="566928" y="5285232"/>
            <a:ext cx="82296" cy="731520"/>
          </a:xfrm>
          <a:prstGeom prst="roundRect">
            <a:avLst>
              <a:gd name="adj" fmla="val 44444"/>
            </a:avLst>
          </a:prstGeom>
          <a:solidFill>
            <a:srgbClr val="E05C45"/>
          </a:solidFill>
          <a:ln w="12700">
            <a:solidFill>
              <a:srgbClr val="333333"/>
            </a:solidFill>
            <a:prstDash val="solid"/>
          </a:ln>
        </p:spPr>
      </p:sp>
      <p:sp>
        <p:nvSpPr>
          <p:cNvPr id="15" name="Text 12"/>
          <p:cNvSpPr txBox="1"/>
          <p:nvPr/>
        </p:nvSpPr>
        <p:spPr>
          <a:xfrm>
            <a:off x="868680" y="5358384"/>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Studying helps a lot at first and then levels off. A straight line cannot level off, so it under-predicts at both ends and over-predicts in the middle — exactly the pattern in the errors.</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1F3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05C45"/>
          </a:solidFill>
          <a:ln w="12700">
            <a:solidFill>
              <a:srgbClr val="333333"/>
            </a:solidFill>
            <a:prstDash val="solid"/>
          </a:ln>
        </p:spPr>
      </p:sp>
      <p:sp>
        <p:nvSpPr>
          <p:cNvPr id="3" name="Shape 1"/>
          <p:cNvSpPr/>
          <p:nvPr/>
        </p:nvSpPr>
        <p:spPr>
          <a:xfrm>
            <a:off x="10881360" y="-1828800"/>
            <a:ext cx="4206240" cy="4206240"/>
          </a:xfrm>
          <a:prstGeom prst="ellipse">
            <a:avLst/>
          </a:prstGeom>
          <a:solidFill>
            <a:srgbClr val="1A2A44"/>
          </a:solidFill>
          <a:ln w="12700">
            <a:solidFill>
              <a:srgbClr val="333333"/>
            </a:solidFill>
            <a:prstDash val="solid"/>
          </a:ln>
        </p:spPr>
      </p:sp>
      <p:sp>
        <p:nvSpPr>
          <p:cNvPr id="4" name="Shape 2"/>
          <p:cNvSpPr/>
          <p:nvPr/>
        </p:nvSpPr>
        <p:spPr>
          <a:xfrm>
            <a:off x="9509760" y="4937760"/>
            <a:ext cx="2926080" cy="2926080"/>
          </a:xfrm>
          <a:prstGeom prst="ellipse">
            <a:avLst/>
          </a:prstGeom>
          <a:solidFill>
            <a:srgbClr val="172742"/>
          </a:solidFill>
          <a:ln w="12700">
            <a:solidFill>
              <a:srgbClr val="333333"/>
            </a:solidFill>
            <a:prstDash val="solid"/>
          </a:ln>
        </p:spPr>
      </p:sp>
      <p:sp>
        <p:nvSpPr>
          <p:cNvPr id="5" name="Text 3"/>
          <p:cNvSpPr txBox="1"/>
          <p:nvPr/>
        </p:nvSpPr>
        <p:spPr>
          <a:xfrm>
            <a:off x="914400" y="1920240"/>
            <a:ext cx="5486400" cy="274320"/>
          </a:xfrm>
          <a:prstGeom prst="rect">
            <a:avLst/>
          </a:prstGeom>
          <a:noFill/>
          <a:ln/>
        </p:spPr>
        <p:txBody>
          <a:bodyPr wrap="square" lIns="0" tIns="0" rIns="0" bIns="0" rtlCol="0" anchor="ctr"/>
          <a:lstStyle/>
          <a:p>
            <a:pPr indent="0" marL="0">
              <a:buNone/>
            </a:pPr>
            <a:r>
              <a:rPr lang="en-US" sz="1200" b="1" spc="240" kern="0" dirty="0">
                <a:solidFill>
                  <a:srgbClr val="E05C45"/>
                </a:solidFill>
                <a:latin typeface="Calibri" pitchFamily="34" charset="0"/>
                <a:ea typeface="Calibri" pitchFamily="34" charset="-122"/>
                <a:cs typeface="Calibri" pitchFamily="34" charset="-120"/>
              </a:rPr>
              <a:t>SECTION 5 OF 5</a:t>
            </a:r>
            <a:endParaRPr lang="en-US" sz="1200" dirty="0"/>
          </a:p>
        </p:txBody>
      </p:sp>
      <p:sp>
        <p:nvSpPr>
          <p:cNvPr id="6" name="Text 4"/>
          <p:cNvSpPr txBox="1"/>
          <p:nvPr/>
        </p:nvSpPr>
        <p:spPr>
          <a:xfrm>
            <a:off x="914400" y="2267712"/>
            <a:ext cx="7680960" cy="8686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Doing it for real</a:t>
            </a:r>
            <a:endParaRPr lang="en-US" sz="4000" dirty="0"/>
          </a:p>
        </p:txBody>
      </p:sp>
      <p:sp>
        <p:nvSpPr>
          <p:cNvPr id="7" name="Text 5"/>
          <p:cNvSpPr txBox="1"/>
          <p:nvPr/>
        </p:nvSpPr>
        <p:spPr>
          <a:xfrm>
            <a:off x="932688" y="3218688"/>
            <a:ext cx="7498080" cy="685800"/>
          </a:xfrm>
          <a:prstGeom prst="rect">
            <a:avLst/>
          </a:prstGeom>
          <a:noFill/>
          <a:ln/>
        </p:spPr>
        <p:txBody>
          <a:bodyPr wrap="square" lIns="0" tIns="0" rIns="0" bIns="0" rtlCol="0" anchor="ctr"/>
          <a:lstStyle/>
          <a:p>
            <a:pPr indent="0" marL="0">
              <a:lnSpc>
                <a:spcPct val="120000"/>
              </a:lnSpc>
              <a:buNone/>
            </a:pPr>
            <a:r>
              <a:rPr lang="en-US" sz="1600" dirty="0">
                <a:solidFill>
                  <a:srgbClr val="AEC0D8"/>
                </a:solidFill>
                <a:latin typeface="Calibri" pitchFamily="34" charset="0"/>
                <a:ea typeface="Calibri" pitchFamily="34" charset="-122"/>
                <a:cs typeface="Calibri" pitchFamily="34" charset="-120"/>
              </a:rPr>
              <a:t>Sixty students, three lines of code, and one trap.</a:t>
            </a:r>
            <a:endParaRPr lang="en-US" sz="1600" dirty="0"/>
          </a:p>
        </p:txBody>
      </p:sp>
      <p:sp>
        <p:nvSpPr>
          <p:cNvPr id="8" name="Shape 6"/>
          <p:cNvSpPr/>
          <p:nvPr/>
        </p:nvSpPr>
        <p:spPr>
          <a:xfrm>
            <a:off x="9144000" y="2450592"/>
            <a:ext cx="91440" cy="91440"/>
          </a:xfrm>
          <a:prstGeom prst="ellipse">
            <a:avLst/>
          </a:prstGeom>
          <a:solidFill>
            <a:srgbClr val="E05C45"/>
          </a:solidFill>
          <a:ln w="12700">
            <a:solidFill>
              <a:srgbClr val="333333"/>
            </a:solidFill>
            <a:prstDash val="solid"/>
          </a:ln>
        </p:spPr>
      </p:sp>
      <p:sp>
        <p:nvSpPr>
          <p:cNvPr id="9" name="Text 7"/>
          <p:cNvSpPr txBox="1"/>
          <p:nvPr/>
        </p:nvSpPr>
        <p:spPr>
          <a:xfrm>
            <a:off x="9381744" y="2377440"/>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scikit-learn</a:t>
            </a:r>
            <a:endParaRPr lang="en-US" sz="1250" dirty="0"/>
          </a:p>
        </p:txBody>
      </p:sp>
      <p:sp>
        <p:nvSpPr>
          <p:cNvPr id="10" name="Shape 8"/>
          <p:cNvSpPr/>
          <p:nvPr/>
        </p:nvSpPr>
        <p:spPr>
          <a:xfrm>
            <a:off x="9144000" y="2871216"/>
            <a:ext cx="91440" cy="91440"/>
          </a:xfrm>
          <a:prstGeom prst="ellipse">
            <a:avLst/>
          </a:prstGeom>
          <a:solidFill>
            <a:srgbClr val="E05C45"/>
          </a:solidFill>
          <a:ln w="12700">
            <a:solidFill>
              <a:srgbClr val="333333"/>
            </a:solidFill>
            <a:prstDash val="solid"/>
          </a:ln>
        </p:spPr>
      </p:sp>
      <p:sp>
        <p:nvSpPr>
          <p:cNvPr id="11" name="Text 9"/>
          <p:cNvSpPr txBox="1"/>
          <p:nvPr/>
        </p:nvSpPr>
        <p:spPr>
          <a:xfrm>
            <a:off x="9381744" y="2798064"/>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Split first</a:t>
            </a:r>
            <a:endParaRPr lang="en-US" sz="1250" dirty="0"/>
          </a:p>
        </p:txBody>
      </p:sp>
      <p:sp>
        <p:nvSpPr>
          <p:cNvPr id="12" name="Shape 10"/>
          <p:cNvSpPr/>
          <p:nvPr/>
        </p:nvSpPr>
        <p:spPr>
          <a:xfrm>
            <a:off x="9144000" y="3291840"/>
            <a:ext cx="91440" cy="91440"/>
          </a:xfrm>
          <a:prstGeom prst="ellipse">
            <a:avLst/>
          </a:prstGeom>
          <a:solidFill>
            <a:srgbClr val="E05C45"/>
          </a:solidFill>
          <a:ln w="12700">
            <a:solidFill>
              <a:srgbClr val="333333"/>
            </a:solidFill>
            <a:prstDash val="solid"/>
          </a:ln>
        </p:spPr>
      </p:sp>
      <p:sp>
        <p:nvSpPr>
          <p:cNvPr id="13" name="Text 11"/>
          <p:cNvSpPr txBox="1"/>
          <p:nvPr/>
        </p:nvSpPr>
        <p:spPr>
          <a:xfrm>
            <a:off x="9381744" y="3218688"/>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Reading the output</a:t>
            </a:r>
            <a:endParaRPr lang="en-US" sz="1250" dirty="0"/>
          </a:p>
        </p:txBody>
      </p:sp>
      <p:sp>
        <p:nvSpPr>
          <p:cNvPr id="14" name="Shape 12"/>
          <p:cNvSpPr/>
          <p:nvPr/>
        </p:nvSpPr>
        <p:spPr>
          <a:xfrm>
            <a:off x="9144000" y="3712464"/>
            <a:ext cx="91440" cy="91440"/>
          </a:xfrm>
          <a:prstGeom prst="ellipse">
            <a:avLst/>
          </a:prstGeom>
          <a:solidFill>
            <a:srgbClr val="E05C45"/>
          </a:solidFill>
          <a:ln w="12700">
            <a:solidFill>
              <a:srgbClr val="333333"/>
            </a:solidFill>
            <a:prstDash val="solid"/>
          </a:ln>
        </p:spPr>
      </p:sp>
      <p:sp>
        <p:nvSpPr>
          <p:cNvPr id="15" name="Text 13"/>
          <p:cNvSpPr txBox="1"/>
          <p:nvPr/>
        </p:nvSpPr>
        <p:spPr>
          <a:xfrm>
            <a:off x="9381744" y="3639312"/>
            <a:ext cx="2377440" cy="274320"/>
          </a:xfrm>
          <a:prstGeom prst="rect">
            <a:avLst/>
          </a:prstGeom>
          <a:noFill/>
          <a:ln/>
        </p:spPr>
        <p:txBody>
          <a:bodyPr wrap="square" lIns="0" tIns="0" rIns="0" bIns="0" rtlCol="0" anchor="ctr"/>
          <a:lstStyle/>
          <a:p>
            <a:pPr indent="0" marL="0">
              <a:buNone/>
            </a:pPr>
            <a:r>
              <a:rPr lang="en-US" sz="1250" dirty="0">
                <a:solidFill>
                  <a:srgbClr val="9FB2CC"/>
                </a:solidFill>
                <a:latin typeface="Calibri" pitchFamily="34" charset="0"/>
                <a:ea typeface="Calibri" pitchFamily="34" charset="-122"/>
                <a:cs typeface="Calibri" pitchFamily="34" charset="-120"/>
              </a:rPr>
              <a:t>Never extrapolate</a:t>
            </a:r>
            <a:endParaRPr lang="en-US" sz="1250" dirty="0"/>
          </a:p>
        </p:txBody>
      </p:sp>
      <p:sp>
        <p:nvSpPr>
          <p:cNvPr id="16" name="Text 14"/>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6E819C"/>
                </a:solidFill>
                <a:latin typeface="Calibri" pitchFamily="34" charset="0"/>
                <a:ea typeface="Calibri" pitchFamily="34" charset="-122"/>
                <a:cs typeface="Calibri" pitchFamily="34" charset="-120"/>
              </a:rPr>
              <a:t>Srinivasa Sai Chava  ·  Boston University</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SCIKIT-LEARN</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The entire thing, in three lines</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sp>
        <p:nvSpPr>
          <p:cNvPr id="12" name="Shape 10"/>
          <p:cNvSpPr/>
          <p:nvPr/>
        </p:nvSpPr>
        <p:spPr>
          <a:xfrm>
            <a:off x="566928" y="1783080"/>
            <a:ext cx="11064240" cy="1572768"/>
          </a:xfrm>
          <a:prstGeom prst="roundRect">
            <a:avLst>
              <a:gd name="adj" fmla="val 4651"/>
            </a:avLst>
          </a:prstGeom>
          <a:solidFill>
            <a:srgbClr val="172540"/>
          </a:solidFill>
          <a:ln w="12700">
            <a:solidFill>
              <a:srgbClr val="172540"/>
            </a:solidFill>
            <a:prstDash val="solid"/>
          </a:ln>
        </p:spPr>
      </p:sp>
      <p:sp>
        <p:nvSpPr>
          <p:cNvPr id="13" name="Text 11"/>
          <p:cNvSpPr txBox="1"/>
          <p:nvPr/>
        </p:nvSpPr>
        <p:spPr>
          <a:xfrm>
            <a:off x="749808" y="1911096"/>
            <a:ext cx="10698480" cy="1316736"/>
          </a:xfrm>
          <a:prstGeom prst="rect">
            <a:avLst/>
          </a:prstGeom>
          <a:noFill/>
          <a:ln/>
        </p:spPr>
        <p:txBody>
          <a:bodyPr wrap="square" lIns="0" tIns="0" rIns="0" bIns="0" rtlCol="0" anchor="t"/>
          <a:lstStyle/>
          <a:p>
            <a:pPr indent="0" marL="0">
              <a:lnSpc>
                <a:spcPct val="114000"/>
              </a:lnSpc>
              <a:buNone/>
            </a:pPr>
            <a:r>
              <a:rPr lang="en-US" sz="1400" dirty="0">
                <a:solidFill>
                  <a:srgbClr val="E8EFFA"/>
                </a:solidFill>
                <a:latin typeface="Consolas" pitchFamily="34" charset="0"/>
                <a:ea typeface="Consolas" pitchFamily="34" charset="-122"/>
                <a:cs typeface="Consolas" pitchFamily="34" charset="-120"/>
              </a:rPr>
              <a:t>from sklearn.linear_model import LinearRegression</a:t>
            </a:r>
            <a:endParaRPr lang="en-US" sz="1400" dirty="0"/>
          </a:p>
          <a:p>
            <a:pPr indent="0" marL="0">
              <a:lnSpc>
                <a:spcPct val="114000"/>
              </a:lnSpc>
              <a:buNone/>
            </a:pPr>
            <a:endParaRPr lang="en-US" sz="1400" dirty="0"/>
          </a:p>
          <a:p>
            <a:pPr indent="0" marL="0">
              <a:lnSpc>
                <a:spcPct val="114000"/>
              </a:lnSpc>
              <a:buNone/>
            </a:pPr>
            <a:r>
              <a:rPr lang="en-US" sz="1400" dirty="0">
                <a:solidFill>
                  <a:srgbClr val="E8EFFA"/>
                </a:solidFill>
                <a:latin typeface="Consolas" pitchFamily="34" charset="0"/>
                <a:ea typeface="Consolas" pitchFamily="34" charset="-122"/>
                <a:cs typeface="Consolas" pitchFamily="34" charset="-120"/>
              </a:rPr>
              <a:t>model = LinearRegression().fit(hours, marks)</a:t>
            </a:r>
            <a:endParaRPr lang="en-US" sz="1400" dirty="0"/>
          </a:p>
          <a:p>
            <a:pPr indent="0" marL="0">
              <a:lnSpc>
                <a:spcPct val="114000"/>
              </a:lnSpc>
              <a:buNone/>
            </a:pPr>
            <a:r>
              <a:rPr lang="en-US" sz="1400" dirty="0">
                <a:solidFill>
                  <a:srgbClr val="E8EFFA"/>
                </a:solidFill>
                <a:latin typeface="Consolas" pitchFamily="34" charset="0"/>
                <a:ea typeface="Consolas" pitchFamily="34" charset="-122"/>
                <a:cs typeface="Consolas" pitchFamily="34" charset="-120"/>
              </a:rPr>
              <a:t>print(model.coef_[0], model.intercept_)      #  8.0   26.0</a:t>
            </a:r>
            <a:endParaRPr lang="en-US" sz="1400" dirty="0"/>
          </a:p>
        </p:txBody>
      </p:sp>
      <p:sp>
        <p:nvSpPr>
          <p:cNvPr id="14" name="Shape 12"/>
          <p:cNvSpPr/>
          <p:nvPr/>
        </p:nvSpPr>
        <p:spPr>
          <a:xfrm>
            <a:off x="566928" y="3611880"/>
            <a:ext cx="2651760" cy="1389888"/>
          </a:xfrm>
          <a:prstGeom prst="roundRect">
            <a:avLst>
              <a:gd name="adj" fmla="val 6579"/>
            </a:avLst>
          </a:prstGeom>
          <a:solidFill>
            <a:srgbClr val="EBF2FA"/>
          </a:solidFill>
          <a:ln w="22860">
            <a:solidFill>
              <a:srgbClr val="3E7CB1"/>
            </a:solidFill>
            <a:prstDash val="solid"/>
          </a:ln>
        </p:spPr>
      </p:sp>
      <p:sp>
        <p:nvSpPr>
          <p:cNvPr id="15" name="Shape 13"/>
          <p:cNvSpPr/>
          <p:nvPr/>
        </p:nvSpPr>
        <p:spPr>
          <a:xfrm>
            <a:off x="566928" y="3611880"/>
            <a:ext cx="2651760" cy="402336"/>
          </a:xfrm>
          <a:prstGeom prst="roundRect">
            <a:avLst>
              <a:gd name="adj" fmla="val 22727"/>
            </a:avLst>
          </a:prstGeom>
          <a:solidFill>
            <a:srgbClr val="3E7CB1"/>
          </a:solidFill>
          <a:ln w="22860">
            <a:solidFill>
              <a:srgbClr val="3E7CB1"/>
            </a:solidFill>
            <a:prstDash val="solid"/>
          </a:ln>
        </p:spPr>
      </p:sp>
      <p:sp>
        <p:nvSpPr>
          <p:cNvPr id="16" name="Shape 14"/>
          <p:cNvSpPr/>
          <p:nvPr/>
        </p:nvSpPr>
        <p:spPr>
          <a:xfrm>
            <a:off x="566928" y="3849624"/>
            <a:ext cx="2651760" cy="164592"/>
          </a:xfrm>
          <a:prstGeom prst="rect">
            <a:avLst/>
          </a:prstGeom>
          <a:solidFill>
            <a:srgbClr val="3E7CB1"/>
          </a:solidFill>
          <a:ln w="12700">
            <a:solidFill>
              <a:srgbClr val="333333"/>
            </a:solidFill>
            <a:prstDash val="solid"/>
          </a:ln>
        </p:spPr>
      </p:sp>
      <p:sp>
        <p:nvSpPr>
          <p:cNvPr id="17" name="Text 15"/>
          <p:cNvSpPr txBox="1"/>
          <p:nvPr/>
        </p:nvSpPr>
        <p:spPr>
          <a:xfrm>
            <a:off x="768096" y="3648456"/>
            <a:ext cx="2249424"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.fit(X, y)</a:t>
            </a:r>
            <a:endParaRPr lang="en-US" sz="1300" dirty="0"/>
          </a:p>
        </p:txBody>
      </p:sp>
      <p:sp>
        <p:nvSpPr>
          <p:cNvPr id="18" name="Text 16"/>
          <p:cNvSpPr txBox="1"/>
          <p:nvPr/>
        </p:nvSpPr>
        <p:spPr>
          <a:xfrm>
            <a:off x="749808" y="4133088"/>
            <a:ext cx="2286000" cy="777240"/>
          </a:xfrm>
          <a:prstGeom prst="rect">
            <a:avLst/>
          </a:prstGeom>
          <a:noFill/>
          <a:ln/>
        </p:spPr>
        <p:txBody>
          <a:bodyPr wrap="square" lIns="0" tIns="0" rIns="0" bIns="0" rtlCol="0" anchor="ctr"/>
          <a:lstStyle/>
          <a:p>
            <a:pPr indent="0" marL="0">
              <a:lnSpc>
                <a:spcPct val="120000"/>
              </a:lnSpc>
              <a:buNone/>
            </a:pPr>
            <a:r>
              <a:rPr lang="en-US" sz="1150" dirty="0">
                <a:solidFill>
                  <a:srgbClr val="33415A"/>
                </a:solidFill>
                <a:latin typeface="Calibri" pitchFamily="34" charset="0"/>
                <a:ea typeface="Calibri" pitchFamily="34" charset="-122"/>
                <a:cs typeface="Calibri" pitchFamily="34" charset="-120"/>
              </a:rPr>
              <a:t>does all of it — the formula from slide 14, in one call</a:t>
            </a:r>
            <a:endParaRPr lang="en-US" sz="1150" dirty="0"/>
          </a:p>
        </p:txBody>
      </p:sp>
      <p:sp>
        <p:nvSpPr>
          <p:cNvPr id="19" name="Shape 17"/>
          <p:cNvSpPr/>
          <p:nvPr/>
        </p:nvSpPr>
        <p:spPr>
          <a:xfrm>
            <a:off x="3383280" y="3611880"/>
            <a:ext cx="2651760" cy="1389888"/>
          </a:xfrm>
          <a:prstGeom prst="roundRect">
            <a:avLst>
              <a:gd name="adj" fmla="val 6579"/>
            </a:avLst>
          </a:prstGeom>
          <a:solidFill>
            <a:srgbClr val="E6F5F1"/>
          </a:solidFill>
          <a:ln w="22860">
            <a:solidFill>
              <a:srgbClr val="1F9E86"/>
            </a:solidFill>
            <a:prstDash val="solid"/>
          </a:ln>
        </p:spPr>
      </p:sp>
      <p:sp>
        <p:nvSpPr>
          <p:cNvPr id="20" name="Shape 18"/>
          <p:cNvSpPr/>
          <p:nvPr/>
        </p:nvSpPr>
        <p:spPr>
          <a:xfrm>
            <a:off x="3383280" y="3611880"/>
            <a:ext cx="2651760" cy="402336"/>
          </a:xfrm>
          <a:prstGeom prst="roundRect">
            <a:avLst>
              <a:gd name="adj" fmla="val 22727"/>
            </a:avLst>
          </a:prstGeom>
          <a:solidFill>
            <a:srgbClr val="1F9E86"/>
          </a:solidFill>
          <a:ln w="22860">
            <a:solidFill>
              <a:srgbClr val="1F9E86"/>
            </a:solidFill>
            <a:prstDash val="solid"/>
          </a:ln>
        </p:spPr>
      </p:sp>
      <p:sp>
        <p:nvSpPr>
          <p:cNvPr id="21" name="Shape 19"/>
          <p:cNvSpPr/>
          <p:nvPr/>
        </p:nvSpPr>
        <p:spPr>
          <a:xfrm>
            <a:off x="3383280" y="3849624"/>
            <a:ext cx="2651760" cy="164592"/>
          </a:xfrm>
          <a:prstGeom prst="rect">
            <a:avLst/>
          </a:prstGeom>
          <a:solidFill>
            <a:srgbClr val="1F9E86"/>
          </a:solidFill>
          <a:ln w="12700">
            <a:solidFill>
              <a:srgbClr val="333333"/>
            </a:solidFill>
            <a:prstDash val="solid"/>
          </a:ln>
        </p:spPr>
      </p:sp>
      <p:sp>
        <p:nvSpPr>
          <p:cNvPr id="22" name="Text 20"/>
          <p:cNvSpPr txBox="1"/>
          <p:nvPr/>
        </p:nvSpPr>
        <p:spPr>
          <a:xfrm>
            <a:off x="3584448" y="3648456"/>
            <a:ext cx="2249424"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.coef_</a:t>
            </a:r>
            <a:endParaRPr lang="en-US" sz="1300" dirty="0"/>
          </a:p>
        </p:txBody>
      </p:sp>
      <p:sp>
        <p:nvSpPr>
          <p:cNvPr id="23" name="Text 21"/>
          <p:cNvSpPr txBox="1"/>
          <p:nvPr/>
        </p:nvSpPr>
        <p:spPr>
          <a:xfrm>
            <a:off x="3566160" y="4133088"/>
            <a:ext cx="2286000" cy="777240"/>
          </a:xfrm>
          <a:prstGeom prst="rect">
            <a:avLst/>
          </a:prstGeom>
          <a:noFill/>
          <a:ln/>
        </p:spPr>
        <p:txBody>
          <a:bodyPr wrap="square" lIns="0" tIns="0" rIns="0" bIns="0" rtlCol="0" anchor="ctr"/>
          <a:lstStyle/>
          <a:p>
            <a:pPr indent="0" marL="0">
              <a:lnSpc>
                <a:spcPct val="120000"/>
              </a:lnSpc>
              <a:buNone/>
            </a:pPr>
            <a:r>
              <a:rPr lang="en-US" sz="1150" dirty="0">
                <a:solidFill>
                  <a:srgbClr val="33415A"/>
                </a:solidFill>
                <a:latin typeface="Calibri" pitchFamily="34" charset="0"/>
                <a:ea typeface="Calibri" pitchFamily="34" charset="-122"/>
                <a:cs typeface="Calibri" pitchFamily="34" charset="-120"/>
              </a:rPr>
              <a:t>the slope. One per input column, so it is always a list</a:t>
            </a:r>
            <a:endParaRPr lang="en-US" sz="1150" dirty="0"/>
          </a:p>
        </p:txBody>
      </p:sp>
      <p:sp>
        <p:nvSpPr>
          <p:cNvPr id="24" name="Shape 22"/>
          <p:cNvSpPr/>
          <p:nvPr/>
        </p:nvSpPr>
        <p:spPr>
          <a:xfrm>
            <a:off x="6199632" y="3611880"/>
            <a:ext cx="2651760" cy="1389888"/>
          </a:xfrm>
          <a:prstGeom prst="roundRect">
            <a:avLst>
              <a:gd name="adj" fmla="val 6579"/>
            </a:avLst>
          </a:prstGeom>
          <a:solidFill>
            <a:srgbClr val="F1EDF9"/>
          </a:solidFill>
          <a:ln w="22860">
            <a:solidFill>
              <a:srgbClr val="8268B5"/>
            </a:solidFill>
            <a:prstDash val="solid"/>
          </a:ln>
        </p:spPr>
      </p:sp>
      <p:sp>
        <p:nvSpPr>
          <p:cNvPr id="25" name="Shape 23"/>
          <p:cNvSpPr/>
          <p:nvPr/>
        </p:nvSpPr>
        <p:spPr>
          <a:xfrm>
            <a:off x="6199632" y="3611880"/>
            <a:ext cx="2651760" cy="402336"/>
          </a:xfrm>
          <a:prstGeom prst="roundRect">
            <a:avLst>
              <a:gd name="adj" fmla="val 22727"/>
            </a:avLst>
          </a:prstGeom>
          <a:solidFill>
            <a:srgbClr val="8268B5"/>
          </a:solidFill>
          <a:ln w="22860">
            <a:solidFill>
              <a:srgbClr val="8268B5"/>
            </a:solidFill>
            <a:prstDash val="solid"/>
          </a:ln>
        </p:spPr>
      </p:sp>
      <p:sp>
        <p:nvSpPr>
          <p:cNvPr id="26" name="Shape 24"/>
          <p:cNvSpPr/>
          <p:nvPr/>
        </p:nvSpPr>
        <p:spPr>
          <a:xfrm>
            <a:off x="6199632" y="3849624"/>
            <a:ext cx="2651760" cy="164592"/>
          </a:xfrm>
          <a:prstGeom prst="rect">
            <a:avLst/>
          </a:prstGeom>
          <a:solidFill>
            <a:srgbClr val="8268B5"/>
          </a:solidFill>
          <a:ln w="12700">
            <a:solidFill>
              <a:srgbClr val="333333"/>
            </a:solidFill>
            <a:prstDash val="solid"/>
          </a:ln>
        </p:spPr>
      </p:sp>
      <p:sp>
        <p:nvSpPr>
          <p:cNvPr id="27" name="Text 25"/>
          <p:cNvSpPr txBox="1"/>
          <p:nvPr/>
        </p:nvSpPr>
        <p:spPr>
          <a:xfrm>
            <a:off x="6400800" y="3648456"/>
            <a:ext cx="2249424"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.intercept_</a:t>
            </a:r>
            <a:endParaRPr lang="en-US" sz="1300" dirty="0"/>
          </a:p>
        </p:txBody>
      </p:sp>
      <p:sp>
        <p:nvSpPr>
          <p:cNvPr id="28" name="Text 26"/>
          <p:cNvSpPr txBox="1"/>
          <p:nvPr/>
        </p:nvSpPr>
        <p:spPr>
          <a:xfrm>
            <a:off x="6382512" y="4133088"/>
            <a:ext cx="2286000" cy="777240"/>
          </a:xfrm>
          <a:prstGeom prst="rect">
            <a:avLst/>
          </a:prstGeom>
          <a:noFill/>
          <a:ln/>
        </p:spPr>
        <p:txBody>
          <a:bodyPr wrap="square" lIns="0" tIns="0" rIns="0" bIns="0" rtlCol="0" anchor="ctr"/>
          <a:lstStyle/>
          <a:p>
            <a:pPr indent="0" marL="0">
              <a:lnSpc>
                <a:spcPct val="120000"/>
              </a:lnSpc>
              <a:buNone/>
            </a:pPr>
            <a:r>
              <a:rPr lang="en-US" sz="1150" dirty="0">
                <a:solidFill>
                  <a:srgbClr val="33415A"/>
                </a:solidFill>
                <a:latin typeface="Calibri" pitchFamily="34" charset="0"/>
                <a:ea typeface="Calibri" pitchFamily="34" charset="-122"/>
                <a:cs typeface="Calibri" pitchFamily="34" charset="-120"/>
              </a:rPr>
              <a:t>the intercept. A single number</a:t>
            </a:r>
            <a:endParaRPr lang="en-US" sz="1150" dirty="0"/>
          </a:p>
        </p:txBody>
      </p:sp>
      <p:sp>
        <p:nvSpPr>
          <p:cNvPr id="29" name="Shape 27"/>
          <p:cNvSpPr/>
          <p:nvPr/>
        </p:nvSpPr>
        <p:spPr>
          <a:xfrm>
            <a:off x="9015984" y="3611880"/>
            <a:ext cx="2651760" cy="1389888"/>
          </a:xfrm>
          <a:prstGeom prst="roundRect">
            <a:avLst>
              <a:gd name="adj" fmla="val 6579"/>
            </a:avLst>
          </a:prstGeom>
          <a:solidFill>
            <a:srgbClr val="FDF3E0"/>
          </a:solidFill>
          <a:ln w="22860">
            <a:solidFill>
              <a:srgbClr val="F0A530"/>
            </a:solidFill>
            <a:prstDash val="solid"/>
          </a:ln>
        </p:spPr>
      </p:sp>
      <p:sp>
        <p:nvSpPr>
          <p:cNvPr id="30" name="Shape 28"/>
          <p:cNvSpPr/>
          <p:nvPr/>
        </p:nvSpPr>
        <p:spPr>
          <a:xfrm>
            <a:off x="9015984" y="3611880"/>
            <a:ext cx="2651760" cy="402336"/>
          </a:xfrm>
          <a:prstGeom prst="roundRect">
            <a:avLst>
              <a:gd name="adj" fmla="val 22727"/>
            </a:avLst>
          </a:prstGeom>
          <a:solidFill>
            <a:srgbClr val="F0A530"/>
          </a:solidFill>
          <a:ln w="22860">
            <a:solidFill>
              <a:srgbClr val="F0A530"/>
            </a:solidFill>
            <a:prstDash val="solid"/>
          </a:ln>
        </p:spPr>
      </p:sp>
      <p:sp>
        <p:nvSpPr>
          <p:cNvPr id="31" name="Shape 29"/>
          <p:cNvSpPr/>
          <p:nvPr/>
        </p:nvSpPr>
        <p:spPr>
          <a:xfrm>
            <a:off x="9015984" y="3849624"/>
            <a:ext cx="2651760" cy="164592"/>
          </a:xfrm>
          <a:prstGeom prst="rect">
            <a:avLst/>
          </a:prstGeom>
          <a:solidFill>
            <a:srgbClr val="F0A530"/>
          </a:solidFill>
          <a:ln w="12700">
            <a:solidFill>
              <a:srgbClr val="333333"/>
            </a:solidFill>
            <a:prstDash val="solid"/>
          </a:ln>
        </p:spPr>
      </p:sp>
      <p:sp>
        <p:nvSpPr>
          <p:cNvPr id="32" name="Text 30"/>
          <p:cNvSpPr txBox="1"/>
          <p:nvPr/>
        </p:nvSpPr>
        <p:spPr>
          <a:xfrm>
            <a:off x="9217152" y="3648456"/>
            <a:ext cx="2249424" cy="347472"/>
          </a:xfrm>
          <a:prstGeom prst="rect">
            <a:avLst/>
          </a:prstGeom>
          <a:noFill/>
          <a:ln/>
        </p:spPr>
        <p:txBody>
          <a:bodyPr wrap="square" lIns="0" tIns="0" rIns="0" bIns="0" rtlCol="0" anchor="ctr"/>
          <a:lstStyle/>
          <a:p>
            <a:pPr indent="0" marL="0">
              <a:buNone/>
            </a:pPr>
            <a:r>
              <a:rPr lang="en-US" sz="1300" b="1" dirty="0">
                <a:solidFill>
                  <a:srgbClr val="131F33"/>
                </a:solidFill>
                <a:latin typeface="Calibri" pitchFamily="34" charset="0"/>
                <a:ea typeface="Calibri" pitchFamily="34" charset="-122"/>
                <a:cs typeface="Calibri" pitchFamily="34" charset="-120"/>
              </a:rPr>
              <a:t>.predict(X)</a:t>
            </a:r>
            <a:endParaRPr lang="en-US" sz="1300" dirty="0"/>
          </a:p>
        </p:txBody>
      </p:sp>
      <p:sp>
        <p:nvSpPr>
          <p:cNvPr id="33" name="Text 31"/>
          <p:cNvSpPr txBox="1"/>
          <p:nvPr/>
        </p:nvSpPr>
        <p:spPr>
          <a:xfrm>
            <a:off x="9198864" y="4133088"/>
            <a:ext cx="2286000" cy="777240"/>
          </a:xfrm>
          <a:prstGeom prst="rect">
            <a:avLst/>
          </a:prstGeom>
          <a:noFill/>
          <a:ln/>
        </p:spPr>
        <p:txBody>
          <a:bodyPr wrap="square" lIns="0" tIns="0" rIns="0" bIns="0" rtlCol="0" anchor="ctr"/>
          <a:lstStyle/>
          <a:p>
            <a:pPr indent="0" marL="0">
              <a:lnSpc>
                <a:spcPct val="120000"/>
              </a:lnSpc>
              <a:buNone/>
            </a:pPr>
            <a:r>
              <a:rPr lang="en-US" sz="1150" dirty="0">
                <a:solidFill>
                  <a:srgbClr val="33415A"/>
                </a:solidFill>
                <a:latin typeface="Calibri" pitchFamily="34" charset="0"/>
                <a:ea typeface="Calibri" pitchFamily="34" charset="-122"/>
                <a:cs typeface="Calibri" pitchFamily="34" charset="-120"/>
              </a:rPr>
              <a:t>run the rule on new students</a:t>
            </a:r>
            <a:endParaRPr lang="en-US" sz="1150" dirty="0"/>
          </a:p>
        </p:txBody>
      </p:sp>
      <p:sp>
        <p:nvSpPr>
          <p:cNvPr id="34" name="Shape 32"/>
          <p:cNvSpPr/>
          <p:nvPr/>
        </p:nvSpPr>
        <p:spPr>
          <a:xfrm>
            <a:off x="566928" y="5193792"/>
            <a:ext cx="11064240" cy="731520"/>
          </a:xfrm>
          <a:prstGeom prst="roundRect">
            <a:avLst>
              <a:gd name="adj" fmla="val 12500"/>
            </a:avLst>
          </a:prstGeom>
          <a:solidFill>
            <a:srgbClr val="E6F5F1"/>
          </a:solidFill>
          <a:ln w="17780">
            <a:solidFill>
              <a:srgbClr val="1F9E86"/>
            </a:solidFill>
            <a:prstDash val="solid"/>
          </a:ln>
        </p:spPr>
      </p:sp>
      <p:sp>
        <p:nvSpPr>
          <p:cNvPr id="35" name="Shape 33"/>
          <p:cNvSpPr/>
          <p:nvPr/>
        </p:nvSpPr>
        <p:spPr>
          <a:xfrm>
            <a:off x="566928" y="5193792"/>
            <a:ext cx="82296" cy="731520"/>
          </a:xfrm>
          <a:prstGeom prst="roundRect">
            <a:avLst>
              <a:gd name="adj" fmla="val 44444"/>
            </a:avLst>
          </a:prstGeom>
          <a:solidFill>
            <a:srgbClr val="1F9E86"/>
          </a:solidFill>
          <a:ln w="12700">
            <a:solidFill>
              <a:srgbClr val="333333"/>
            </a:solidFill>
            <a:prstDash val="solid"/>
          </a:ln>
        </p:spPr>
      </p:sp>
      <p:sp>
        <p:nvSpPr>
          <p:cNvPr id="36" name="Text 34"/>
          <p:cNvSpPr txBox="1"/>
          <p:nvPr/>
        </p:nvSpPr>
        <p:spPr>
          <a:xfrm>
            <a:off x="868680" y="5266944"/>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It returns 8.0 and 26.0 — the same two numbers you worked out by hand. The computer is not doing anything you have not already done on paper.</a:t>
            </a:r>
            <a:endParaRPr lang="en-US" sz="14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A REAL-SIZED DATASET</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Now sixty students instead of five</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pic>
        <p:nvPicPr>
          <p:cNvPr id="12" name="Image 0" descr="/home/claude/d33n/fig/real_fit.png">    </p:cNvPr>
          <p:cNvPicPr>
            <a:picLocks noChangeAspect="1"/>
          </p:cNvPicPr>
          <p:nvPr/>
        </p:nvPicPr>
        <p:blipFill>
          <a:blip r:embed="rId1"/>
          <a:stretch>
            <a:fillRect/>
          </a:stretch>
        </p:blipFill>
        <p:spPr>
          <a:xfrm>
            <a:off x="1143000" y="1645920"/>
            <a:ext cx="9875520" cy="3450566"/>
          </a:xfrm>
          <a:prstGeom prst="rect">
            <a:avLst/>
          </a:prstGeom>
        </p:spPr>
      </p:pic>
      <p:sp>
        <p:nvSpPr>
          <p:cNvPr id="13" name="Shape 10"/>
          <p:cNvSpPr/>
          <p:nvPr/>
        </p:nvSpPr>
        <p:spPr>
          <a:xfrm>
            <a:off x="566928" y="5193792"/>
            <a:ext cx="265176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4" name="Shape 11"/>
          <p:cNvSpPr/>
          <p:nvPr/>
        </p:nvSpPr>
        <p:spPr>
          <a:xfrm>
            <a:off x="566928" y="5193792"/>
            <a:ext cx="2651760" cy="73152"/>
          </a:xfrm>
          <a:prstGeom prst="roundRect">
            <a:avLst>
              <a:gd name="adj" fmla="val 37500"/>
            </a:avLst>
          </a:prstGeom>
          <a:solidFill>
            <a:srgbClr val="1F9E86"/>
          </a:solidFill>
          <a:ln w="12700">
            <a:solidFill>
              <a:srgbClr val="333333"/>
            </a:solidFill>
            <a:prstDash val="solid"/>
          </a:ln>
        </p:spPr>
      </p:sp>
      <p:sp>
        <p:nvSpPr>
          <p:cNvPr id="15" name="Text 12"/>
          <p:cNvSpPr txBox="1"/>
          <p:nvPr/>
        </p:nvSpPr>
        <p:spPr>
          <a:xfrm>
            <a:off x="566928" y="5394960"/>
            <a:ext cx="2651760" cy="566928"/>
          </a:xfrm>
          <a:prstGeom prst="rect">
            <a:avLst/>
          </a:prstGeom>
          <a:noFill/>
          <a:ln/>
        </p:spPr>
        <p:txBody>
          <a:bodyPr wrap="square" lIns="0" tIns="0" rIns="0" bIns="0" rtlCol="0" anchor="ctr"/>
          <a:lstStyle/>
          <a:p>
            <a:pPr algn="ctr" indent="0" marL="0">
              <a:buNone/>
            </a:pPr>
            <a:r>
              <a:rPr lang="en-US" sz="3000" b="1" dirty="0">
                <a:solidFill>
                  <a:srgbClr val="1F9E86"/>
                </a:solidFill>
                <a:latin typeface="Georgia" pitchFamily="34" charset="0"/>
                <a:ea typeface="Georgia" pitchFamily="34" charset="-122"/>
                <a:cs typeface="Georgia" pitchFamily="34" charset="-120"/>
              </a:rPr>
              <a:t>5.44</a:t>
            </a:r>
            <a:endParaRPr lang="en-US" sz="3000" dirty="0"/>
          </a:p>
        </p:txBody>
      </p:sp>
      <p:sp>
        <p:nvSpPr>
          <p:cNvPr id="16" name="Text 13"/>
          <p:cNvSpPr txBox="1"/>
          <p:nvPr/>
        </p:nvSpPr>
        <p:spPr>
          <a:xfrm>
            <a:off x="704088" y="5998464"/>
            <a:ext cx="237744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marks per extra hour</a:t>
            </a:r>
            <a:endParaRPr lang="en-US" sz="1150" dirty="0"/>
          </a:p>
        </p:txBody>
      </p:sp>
      <p:sp>
        <p:nvSpPr>
          <p:cNvPr id="17" name="Shape 14"/>
          <p:cNvSpPr/>
          <p:nvPr/>
        </p:nvSpPr>
        <p:spPr>
          <a:xfrm>
            <a:off x="3383280" y="5193792"/>
            <a:ext cx="265176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8" name="Shape 15"/>
          <p:cNvSpPr/>
          <p:nvPr/>
        </p:nvSpPr>
        <p:spPr>
          <a:xfrm>
            <a:off x="3383280" y="5193792"/>
            <a:ext cx="2651760" cy="73152"/>
          </a:xfrm>
          <a:prstGeom prst="roundRect">
            <a:avLst>
              <a:gd name="adj" fmla="val 37500"/>
            </a:avLst>
          </a:prstGeom>
          <a:solidFill>
            <a:srgbClr val="3E7CB1"/>
          </a:solidFill>
          <a:ln w="12700">
            <a:solidFill>
              <a:srgbClr val="333333"/>
            </a:solidFill>
            <a:prstDash val="solid"/>
          </a:ln>
        </p:spPr>
      </p:sp>
      <p:sp>
        <p:nvSpPr>
          <p:cNvPr id="19" name="Text 16"/>
          <p:cNvSpPr txBox="1"/>
          <p:nvPr/>
        </p:nvSpPr>
        <p:spPr>
          <a:xfrm>
            <a:off x="3383280" y="5394960"/>
            <a:ext cx="2651760" cy="566928"/>
          </a:xfrm>
          <a:prstGeom prst="rect">
            <a:avLst/>
          </a:prstGeom>
          <a:noFill/>
          <a:ln/>
        </p:spPr>
        <p:txBody>
          <a:bodyPr wrap="square" lIns="0" tIns="0" rIns="0" bIns="0" rtlCol="0" anchor="ctr"/>
          <a:lstStyle/>
          <a:p>
            <a:pPr algn="ctr" indent="0" marL="0">
              <a:buNone/>
            </a:pPr>
            <a:r>
              <a:rPr lang="en-US" sz="3000" b="1" dirty="0">
                <a:solidFill>
                  <a:srgbClr val="3E7CB1"/>
                </a:solidFill>
                <a:latin typeface="Georgia" pitchFamily="34" charset="0"/>
                <a:ea typeface="Georgia" pitchFamily="34" charset="-122"/>
                <a:cs typeface="Georgia" pitchFamily="34" charset="-120"/>
              </a:rPr>
              <a:t>0.896</a:t>
            </a:r>
            <a:endParaRPr lang="en-US" sz="3000" dirty="0"/>
          </a:p>
        </p:txBody>
      </p:sp>
      <p:sp>
        <p:nvSpPr>
          <p:cNvPr id="20" name="Text 17"/>
          <p:cNvSpPr txBox="1"/>
          <p:nvPr/>
        </p:nvSpPr>
        <p:spPr>
          <a:xfrm>
            <a:off x="3520440" y="5998464"/>
            <a:ext cx="237744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R² on the rows it studied</a:t>
            </a:r>
            <a:endParaRPr lang="en-US" sz="1150" dirty="0"/>
          </a:p>
        </p:txBody>
      </p:sp>
      <p:sp>
        <p:nvSpPr>
          <p:cNvPr id="21" name="Shape 18"/>
          <p:cNvSpPr/>
          <p:nvPr/>
        </p:nvSpPr>
        <p:spPr>
          <a:xfrm>
            <a:off x="6199632" y="5193792"/>
            <a:ext cx="265176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22" name="Shape 19"/>
          <p:cNvSpPr/>
          <p:nvPr/>
        </p:nvSpPr>
        <p:spPr>
          <a:xfrm>
            <a:off x="6199632" y="5193792"/>
            <a:ext cx="2651760" cy="73152"/>
          </a:xfrm>
          <a:prstGeom prst="roundRect">
            <a:avLst>
              <a:gd name="adj" fmla="val 37500"/>
            </a:avLst>
          </a:prstGeom>
          <a:solidFill>
            <a:srgbClr val="F0A530"/>
          </a:solidFill>
          <a:ln w="12700">
            <a:solidFill>
              <a:srgbClr val="333333"/>
            </a:solidFill>
            <a:prstDash val="solid"/>
          </a:ln>
        </p:spPr>
      </p:sp>
      <p:sp>
        <p:nvSpPr>
          <p:cNvPr id="23" name="Text 20"/>
          <p:cNvSpPr txBox="1"/>
          <p:nvPr/>
        </p:nvSpPr>
        <p:spPr>
          <a:xfrm>
            <a:off x="6199632" y="5394960"/>
            <a:ext cx="2651760" cy="566928"/>
          </a:xfrm>
          <a:prstGeom prst="rect">
            <a:avLst/>
          </a:prstGeom>
          <a:noFill/>
          <a:ln/>
        </p:spPr>
        <p:txBody>
          <a:bodyPr wrap="square" lIns="0" tIns="0" rIns="0" bIns="0" rtlCol="0" anchor="ctr"/>
          <a:lstStyle/>
          <a:p>
            <a:pPr algn="ctr" indent="0" marL="0">
              <a:buNone/>
            </a:pPr>
            <a:r>
              <a:rPr lang="en-US" sz="3000" b="1" dirty="0">
                <a:solidFill>
                  <a:srgbClr val="A86F00"/>
                </a:solidFill>
                <a:latin typeface="Georgia" pitchFamily="34" charset="0"/>
                <a:ea typeface="Georgia" pitchFamily="34" charset="-122"/>
                <a:cs typeface="Georgia" pitchFamily="34" charset="-120"/>
              </a:rPr>
              <a:t>4.5</a:t>
            </a:r>
            <a:endParaRPr lang="en-US" sz="3000" dirty="0"/>
          </a:p>
        </p:txBody>
      </p:sp>
      <p:sp>
        <p:nvSpPr>
          <p:cNvPr id="24" name="Text 21"/>
          <p:cNvSpPr txBox="1"/>
          <p:nvPr/>
        </p:nvSpPr>
        <p:spPr>
          <a:xfrm>
            <a:off x="6336792" y="5998464"/>
            <a:ext cx="237744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average miss, in marks</a:t>
            </a:r>
            <a:endParaRPr lang="en-US" sz="1150" dirty="0"/>
          </a:p>
        </p:txBody>
      </p:sp>
      <p:sp>
        <p:nvSpPr>
          <p:cNvPr id="25" name="Shape 22"/>
          <p:cNvSpPr/>
          <p:nvPr/>
        </p:nvSpPr>
        <p:spPr>
          <a:xfrm>
            <a:off x="9015984" y="5193792"/>
            <a:ext cx="265176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26" name="Shape 23"/>
          <p:cNvSpPr/>
          <p:nvPr/>
        </p:nvSpPr>
        <p:spPr>
          <a:xfrm>
            <a:off x="9015984" y="5193792"/>
            <a:ext cx="2651760" cy="73152"/>
          </a:xfrm>
          <a:prstGeom prst="roundRect">
            <a:avLst>
              <a:gd name="adj" fmla="val 37500"/>
            </a:avLst>
          </a:prstGeom>
          <a:solidFill>
            <a:srgbClr val="8268B5"/>
          </a:solidFill>
          <a:ln w="12700">
            <a:solidFill>
              <a:srgbClr val="333333"/>
            </a:solidFill>
            <a:prstDash val="solid"/>
          </a:ln>
        </p:spPr>
      </p:sp>
      <p:sp>
        <p:nvSpPr>
          <p:cNvPr id="27" name="Text 24"/>
          <p:cNvSpPr txBox="1"/>
          <p:nvPr/>
        </p:nvSpPr>
        <p:spPr>
          <a:xfrm>
            <a:off x="9015984" y="5394960"/>
            <a:ext cx="2651760" cy="566928"/>
          </a:xfrm>
          <a:prstGeom prst="rect">
            <a:avLst/>
          </a:prstGeom>
          <a:noFill/>
          <a:ln/>
        </p:spPr>
        <p:txBody>
          <a:bodyPr wrap="square" lIns="0" tIns="0" rIns="0" bIns="0" rtlCol="0" anchor="ctr"/>
          <a:lstStyle/>
          <a:p>
            <a:pPr algn="ctr" indent="0" marL="0">
              <a:buNone/>
            </a:pPr>
            <a:r>
              <a:rPr lang="en-US" sz="3000" b="1" dirty="0">
                <a:solidFill>
                  <a:srgbClr val="8268B5"/>
                </a:solidFill>
                <a:latin typeface="Georgia" pitchFamily="34" charset="0"/>
                <a:ea typeface="Georgia" pitchFamily="34" charset="-122"/>
                <a:cs typeface="Georgia" pitchFamily="34" charset="-120"/>
              </a:rPr>
              <a:t>60</a:t>
            </a:r>
            <a:endParaRPr lang="en-US" sz="3000" dirty="0"/>
          </a:p>
        </p:txBody>
      </p:sp>
      <p:sp>
        <p:nvSpPr>
          <p:cNvPr id="28" name="Text 25"/>
          <p:cNvSpPr txBox="1"/>
          <p:nvPr/>
        </p:nvSpPr>
        <p:spPr>
          <a:xfrm>
            <a:off x="9153144" y="5998464"/>
            <a:ext cx="237744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students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THE RULE FROM DAY 31, AGAIN</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Hide some students before you fit</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sp>
        <p:nvSpPr>
          <p:cNvPr id="12" name="Shape 10"/>
          <p:cNvSpPr/>
          <p:nvPr/>
        </p:nvSpPr>
        <p:spPr>
          <a:xfrm>
            <a:off x="566928" y="1737360"/>
            <a:ext cx="11064240" cy="676656"/>
          </a:xfrm>
          <a:prstGeom prst="roundRect">
            <a:avLst>
              <a:gd name="adj" fmla="val 13514"/>
            </a:avLst>
          </a:prstGeom>
          <a:solidFill>
            <a:srgbClr val="EDF1F8"/>
          </a:solidFill>
          <a:ln w="12700">
            <a:solidFill>
              <a:srgbClr val="D5DEEC"/>
            </a:solidFill>
            <a:prstDash val="solid"/>
          </a:ln>
        </p:spPr>
      </p:sp>
      <p:sp>
        <p:nvSpPr>
          <p:cNvPr id="13" name="Shape 11"/>
          <p:cNvSpPr/>
          <p:nvPr/>
        </p:nvSpPr>
        <p:spPr>
          <a:xfrm>
            <a:off x="713232" y="1892808"/>
            <a:ext cx="1170432" cy="365760"/>
          </a:xfrm>
          <a:prstGeom prst="roundRect">
            <a:avLst>
              <a:gd name="adj" fmla="val 17500"/>
            </a:avLst>
          </a:prstGeom>
          <a:solidFill>
            <a:srgbClr val="1B3558"/>
          </a:solidFill>
          <a:ln w="12700">
            <a:solidFill>
              <a:srgbClr val="333333"/>
            </a:solidFill>
            <a:prstDash val="solid"/>
          </a:ln>
        </p:spPr>
      </p:sp>
      <p:sp>
        <p:nvSpPr>
          <p:cNvPr id="14" name="Text 12"/>
          <p:cNvSpPr txBox="1"/>
          <p:nvPr/>
        </p:nvSpPr>
        <p:spPr>
          <a:xfrm>
            <a:off x="713232" y="1892808"/>
            <a:ext cx="1170432"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EXAMPLE</a:t>
            </a:r>
            <a:endParaRPr lang="en-US" sz="1050" dirty="0"/>
          </a:p>
        </p:txBody>
      </p:sp>
      <p:sp>
        <p:nvSpPr>
          <p:cNvPr id="15" name="Text 13"/>
          <p:cNvSpPr txBox="1"/>
          <p:nvPr/>
        </p:nvSpPr>
        <p:spPr>
          <a:xfrm>
            <a:off x="2029968" y="1810512"/>
            <a:ext cx="9418320" cy="530352"/>
          </a:xfrm>
          <a:prstGeom prst="rect">
            <a:avLst/>
          </a:prstGeom>
          <a:noFill/>
          <a:ln/>
        </p:spPr>
        <p:txBody>
          <a:bodyPr wrap="square" lIns="0" tIns="0" rIns="0" bIns="0" rtlCol="0" anchor="ctr"/>
          <a:lstStyle/>
          <a:p>
            <a:pPr indent="0" marL="0">
              <a:buNone/>
            </a:pPr>
            <a:r>
              <a:rPr lang="en-US" sz="1450" b="1" dirty="0">
                <a:solidFill>
                  <a:srgbClr val="1B3558"/>
                </a:solidFill>
                <a:latin typeface="Calibri" pitchFamily="34" charset="0"/>
                <a:ea typeface="Calibri" pitchFamily="34" charset="-122"/>
                <a:cs typeface="Calibri" pitchFamily="34" charset="-120"/>
              </a:rPr>
              <a:t>Fit on 70% of the students. Score on the 30% the model has never seen.</a:t>
            </a:r>
            <a:endParaRPr lang="en-US" sz="1450" dirty="0"/>
          </a:p>
        </p:txBody>
      </p:sp>
      <p:sp>
        <p:nvSpPr>
          <p:cNvPr id="16" name="Shape 14"/>
          <p:cNvSpPr/>
          <p:nvPr/>
        </p:nvSpPr>
        <p:spPr>
          <a:xfrm>
            <a:off x="566928" y="2578608"/>
            <a:ext cx="11064240" cy="1188720"/>
          </a:xfrm>
          <a:prstGeom prst="roundRect">
            <a:avLst>
              <a:gd name="adj" fmla="val 6154"/>
            </a:avLst>
          </a:prstGeom>
          <a:solidFill>
            <a:srgbClr val="172540"/>
          </a:solidFill>
          <a:ln w="12700">
            <a:solidFill>
              <a:srgbClr val="172540"/>
            </a:solidFill>
            <a:prstDash val="solid"/>
          </a:ln>
        </p:spPr>
      </p:sp>
      <p:sp>
        <p:nvSpPr>
          <p:cNvPr id="17" name="Text 15"/>
          <p:cNvSpPr txBox="1"/>
          <p:nvPr/>
        </p:nvSpPr>
        <p:spPr>
          <a:xfrm>
            <a:off x="749808" y="2706624"/>
            <a:ext cx="10698480" cy="932688"/>
          </a:xfrm>
          <a:prstGeom prst="rect">
            <a:avLst/>
          </a:prstGeom>
          <a:noFill/>
          <a:ln/>
        </p:spPr>
        <p:txBody>
          <a:bodyPr wrap="square" lIns="0" tIns="0" rIns="0" bIns="0" rtlCol="0" anchor="t"/>
          <a:lstStyle/>
          <a:p>
            <a:pPr indent="0" marL="0">
              <a:lnSpc>
                <a:spcPct val="114000"/>
              </a:lnSpc>
              <a:buNone/>
            </a:pPr>
            <a:r>
              <a:rPr lang="en-US" sz="1350" dirty="0">
                <a:solidFill>
                  <a:srgbClr val="E8EFFA"/>
                </a:solidFill>
                <a:latin typeface="Consolas" pitchFamily="34" charset="0"/>
                <a:ea typeface="Consolas" pitchFamily="34" charset="-122"/>
                <a:cs typeface="Consolas" pitchFamily="34" charset="-120"/>
              </a:rPr>
              <a:t>a, b, c, d = train_test_split(X, y, test_size=0.3, random_state=0)</a:t>
            </a:r>
            <a:endParaRPr lang="en-US" sz="1350" dirty="0"/>
          </a:p>
          <a:p>
            <a:pPr indent="0" marL="0">
              <a:lnSpc>
                <a:spcPct val="114000"/>
              </a:lnSpc>
              <a:buNone/>
            </a:pPr>
            <a:r>
              <a:rPr lang="en-US" sz="1350" dirty="0">
                <a:solidFill>
                  <a:srgbClr val="E8EFFA"/>
                </a:solidFill>
                <a:latin typeface="Consolas" pitchFamily="34" charset="0"/>
                <a:ea typeface="Consolas" pitchFamily="34" charset="-122"/>
                <a:cs typeface="Consolas" pitchFamily="34" charset="-120"/>
              </a:rPr>
              <a:t>model = LinearRegression().fit(a, c)</a:t>
            </a:r>
            <a:endParaRPr lang="en-US" sz="1350" dirty="0"/>
          </a:p>
          <a:p>
            <a:pPr indent="0" marL="0">
              <a:lnSpc>
                <a:spcPct val="114000"/>
              </a:lnSpc>
              <a:buNone/>
            </a:pPr>
            <a:r>
              <a:rPr lang="en-US" sz="1350" dirty="0">
                <a:solidFill>
                  <a:srgbClr val="E8EFFA"/>
                </a:solidFill>
                <a:latin typeface="Consolas" pitchFamily="34" charset="0"/>
                <a:ea typeface="Consolas" pitchFamily="34" charset="-122"/>
                <a:cs typeface="Consolas" pitchFamily="34" charset="-120"/>
              </a:rPr>
              <a:t>print(model.score(a, c), model.score(b, d))       #  0.900   0.883</a:t>
            </a:r>
            <a:endParaRPr lang="en-US" sz="1350" dirty="0"/>
          </a:p>
        </p:txBody>
      </p:sp>
      <p:sp>
        <p:nvSpPr>
          <p:cNvPr id="18" name="Shape 16"/>
          <p:cNvSpPr/>
          <p:nvPr/>
        </p:nvSpPr>
        <p:spPr>
          <a:xfrm>
            <a:off x="566928" y="3931920"/>
            <a:ext cx="356616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9" name="Shape 17"/>
          <p:cNvSpPr/>
          <p:nvPr/>
        </p:nvSpPr>
        <p:spPr>
          <a:xfrm>
            <a:off x="566928" y="3931920"/>
            <a:ext cx="3566160" cy="73152"/>
          </a:xfrm>
          <a:prstGeom prst="roundRect">
            <a:avLst>
              <a:gd name="adj" fmla="val 37500"/>
            </a:avLst>
          </a:prstGeom>
          <a:solidFill>
            <a:srgbClr val="3E7CB1"/>
          </a:solidFill>
          <a:ln w="12700">
            <a:solidFill>
              <a:srgbClr val="333333"/>
            </a:solidFill>
            <a:prstDash val="solid"/>
          </a:ln>
        </p:spPr>
      </p:sp>
      <p:sp>
        <p:nvSpPr>
          <p:cNvPr id="20" name="Text 18"/>
          <p:cNvSpPr txBox="1"/>
          <p:nvPr/>
        </p:nvSpPr>
        <p:spPr>
          <a:xfrm>
            <a:off x="566928" y="4133088"/>
            <a:ext cx="3566160" cy="566928"/>
          </a:xfrm>
          <a:prstGeom prst="rect">
            <a:avLst/>
          </a:prstGeom>
          <a:noFill/>
          <a:ln/>
        </p:spPr>
        <p:txBody>
          <a:bodyPr wrap="square" lIns="0" tIns="0" rIns="0" bIns="0" rtlCol="0" anchor="ctr"/>
          <a:lstStyle/>
          <a:p>
            <a:pPr algn="ctr" indent="0" marL="0">
              <a:buNone/>
            </a:pPr>
            <a:r>
              <a:rPr lang="en-US" sz="3000" b="1" dirty="0">
                <a:solidFill>
                  <a:srgbClr val="3E7CB1"/>
                </a:solidFill>
                <a:latin typeface="Georgia" pitchFamily="34" charset="0"/>
                <a:ea typeface="Georgia" pitchFamily="34" charset="-122"/>
                <a:cs typeface="Georgia" pitchFamily="34" charset="-120"/>
              </a:rPr>
              <a:t>0.900</a:t>
            </a:r>
            <a:endParaRPr lang="en-US" sz="3000" dirty="0"/>
          </a:p>
        </p:txBody>
      </p:sp>
      <p:sp>
        <p:nvSpPr>
          <p:cNvPr id="21" name="Text 19"/>
          <p:cNvSpPr txBox="1"/>
          <p:nvPr/>
        </p:nvSpPr>
        <p:spPr>
          <a:xfrm>
            <a:off x="704088" y="4736592"/>
            <a:ext cx="329184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on the rows it studied</a:t>
            </a:r>
            <a:endParaRPr lang="en-US" sz="1150" dirty="0"/>
          </a:p>
        </p:txBody>
      </p:sp>
      <p:sp>
        <p:nvSpPr>
          <p:cNvPr id="22" name="Shape 20"/>
          <p:cNvSpPr/>
          <p:nvPr/>
        </p:nvSpPr>
        <p:spPr>
          <a:xfrm>
            <a:off x="4315968" y="3931920"/>
            <a:ext cx="356616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23" name="Shape 21"/>
          <p:cNvSpPr/>
          <p:nvPr/>
        </p:nvSpPr>
        <p:spPr>
          <a:xfrm>
            <a:off x="4315968" y="3931920"/>
            <a:ext cx="3566160" cy="73152"/>
          </a:xfrm>
          <a:prstGeom prst="roundRect">
            <a:avLst>
              <a:gd name="adj" fmla="val 37500"/>
            </a:avLst>
          </a:prstGeom>
          <a:solidFill>
            <a:srgbClr val="1F9E86"/>
          </a:solidFill>
          <a:ln w="12700">
            <a:solidFill>
              <a:srgbClr val="333333"/>
            </a:solidFill>
            <a:prstDash val="solid"/>
          </a:ln>
        </p:spPr>
      </p:sp>
      <p:sp>
        <p:nvSpPr>
          <p:cNvPr id="24" name="Text 22"/>
          <p:cNvSpPr txBox="1"/>
          <p:nvPr/>
        </p:nvSpPr>
        <p:spPr>
          <a:xfrm>
            <a:off x="4315968" y="4133088"/>
            <a:ext cx="3566160" cy="566928"/>
          </a:xfrm>
          <a:prstGeom prst="rect">
            <a:avLst/>
          </a:prstGeom>
          <a:noFill/>
          <a:ln/>
        </p:spPr>
        <p:txBody>
          <a:bodyPr wrap="square" lIns="0" tIns="0" rIns="0" bIns="0" rtlCol="0" anchor="ctr"/>
          <a:lstStyle/>
          <a:p>
            <a:pPr algn="ctr" indent="0" marL="0">
              <a:buNone/>
            </a:pPr>
            <a:r>
              <a:rPr lang="en-US" sz="3000" b="1" dirty="0">
                <a:solidFill>
                  <a:srgbClr val="1F9E86"/>
                </a:solidFill>
                <a:latin typeface="Georgia" pitchFamily="34" charset="0"/>
                <a:ea typeface="Georgia" pitchFamily="34" charset="-122"/>
                <a:cs typeface="Georgia" pitchFamily="34" charset="-120"/>
              </a:rPr>
              <a:t>0.883</a:t>
            </a:r>
            <a:endParaRPr lang="en-US" sz="3000" dirty="0"/>
          </a:p>
        </p:txBody>
      </p:sp>
      <p:sp>
        <p:nvSpPr>
          <p:cNvPr id="25" name="Text 23"/>
          <p:cNvSpPr txBox="1"/>
          <p:nvPr/>
        </p:nvSpPr>
        <p:spPr>
          <a:xfrm>
            <a:off x="4453128" y="4736592"/>
            <a:ext cx="329184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on rows it had never seen</a:t>
            </a:r>
            <a:endParaRPr lang="en-US" sz="1150" dirty="0"/>
          </a:p>
        </p:txBody>
      </p:sp>
      <p:sp>
        <p:nvSpPr>
          <p:cNvPr id="26" name="Shape 24"/>
          <p:cNvSpPr/>
          <p:nvPr/>
        </p:nvSpPr>
        <p:spPr>
          <a:xfrm>
            <a:off x="8065008" y="3931920"/>
            <a:ext cx="3566160" cy="1234440"/>
          </a:xfrm>
          <a:prstGeom prst="roundRect">
            <a:avLst>
              <a:gd name="adj" fmla="val 7407"/>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27" name="Shape 25"/>
          <p:cNvSpPr/>
          <p:nvPr/>
        </p:nvSpPr>
        <p:spPr>
          <a:xfrm>
            <a:off x="8065008" y="3931920"/>
            <a:ext cx="3566160" cy="73152"/>
          </a:xfrm>
          <a:prstGeom prst="roundRect">
            <a:avLst>
              <a:gd name="adj" fmla="val 37500"/>
            </a:avLst>
          </a:prstGeom>
          <a:solidFill>
            <a:srgbClr val="7B8AA1"/>
          </a:solidFill>
          <a:ln w="12700">
            <a:solidFill>
              <a:srgbClr val="333333"/>
            </a:solidFill>
            <a:prstDash val="solid"/>
          </a:ln>
        </p:spPr>
      </p:sp>
      <p:sp>
        <p:nvSpPr>
          <p:cNvPr id="28" name="Text 26"/>
          <p:cNvSpPr txBox="1"/>
          <p:nvPr/>
        </p:nvSpPr>
        <p:spPr>
          <a:xfrm>
            <a:off x="8065008" y="4133088"/>
            <a:ext cx="3566160" cy="566928"/>
          </a:xfrm>
          <a:prstGeom prst="rect">
            <a:avLst/>
          </a:prstGeom>
          <a:noFill/>
          <a:ln/>
        </p:spPr>
        <p:txBody>
          <a:bodyPr wrap="square" lIns="0" tIns="0" rIns="0" bIns="0" rtlCol="0" anchor="ctr"/>
          <a:lstStyle/>
          <a:p>
            <a:pPr algn="ctr" indent="0" marL="0">
              <a:buNone/>
            </a:pPr>
            <a:r>
              <a:rPr lang="en-US" sz="3000" b="1" dirty="0">
                <a:solidFill>
                  <a:srgbClr val="7B8AA1"/>
                </a:solidFill>
                <a:latin typeface="Georgia" pitchFamily="34" charset="0"/>
                <a:ea typeface="Georgia" pitchFamily="34" charset="-122"/>
                <a:cs typeface="Georgia" pitchFamily="34" charset="-120"/>
              </a:rPr>
              <a:t>0.017</a:t>
            </a:r>
            <a:endParaRPr lang="en-US" sz="3000" dirty="0"/>
          </a:p>
        </p:txBody>
      </p:sp>
      <p:sp>
        <p:nvSpPr>
          <p:cNvPr id="29" name="Text 27"/>
          <p:cNvSpPr txBox="1"/>
          <p:nvPr/>
        </p:nvSpPr>
        <p:spPr>
          <a:xfrm>
            <a:off x="8202168" y="4736592"/>
            <a:ext cx="3291840" cy="347472"/>
          </a:xfrm>
          <a:prstGeom prst="rect">
            <a:avLst/>
          </a:prstGeom>
          <a:noFill/>
          <a:ln/>
        </p:spPr>
        <p:txBody>
          <a:bodyPr wrap="square" lIns="0" tIns="0" rIns="0" bIns="0" rtlCol="0" anchor="t"/>
          <a:lstStyle/>
          <a:p>
            <a:pPr algn="ctr" indent="0" marL="0">
              <a:lnSpc>
                <a:spcPct val="115000"/>
              </a:lnSpc>
              <a:buNone/>
            </a:pPr>
            <a:r>
              <a:rPr lang="en-US" sz="1150" dirty="0">
                <a:solidFill>
                  <a:srgbClr val="33415A"/>
                </a:solidFill>
                <a:latin typeface="Calibri" pitchFamily="34" charset="0"/>
                <a:ea typeface="Calibri" pitchFamily="34" charset="-122"/>
                <a:cs typeface="Calibri" pitchFamily="34" charset="-120"/>
              </a:rPr>
              <a:t>the gap between them</a:t>
            </a:r>
            <a:endParaRPr lang="en-US" sz="1150" dirty="0"/>
          </a:p>
        </p:txBody>
      </p:sp>
      <p:sp>
        <p:nvSpPr>
          <p:cNvPr id="30" name="Shape 28"/>
          <p:cNvSpPr/>
          <p:nvPr/>
        </p:nvSpPr>
        <p:spPr>
          <a:xfrm>
            <a:off x="566928" y="5285232"/>
            <a:ext cx="11064240" cy="731520"/>
          </a:xfrm>
          <a:prstGeom prst="roundRect">
            <a:avLst>
              <a:gd name="adj" fmla="val 12500"/>
            </a:avLst>
          </a:prstGeom>
          <a:solidFill>
            <a:srgbClr val="E6F5F1"/>
          </a:solidFill>
          <a:ln w="17780">
            <a:solidFill>
              <a:srgbClr val="1F9E86"/>
            </a:solidFill>
            <a:prstDash val="solid"/>
          </a:ln>
        </p:spPr>
      </p:sp>
      <p:sp>
        <p:nvSpPr>
          <p:cNvPr id="31" name="Shape 29"/>
          <p:cNvSpPr/>
          <p:nvPr/>
        </p:nvSpPr>
        <p:spPr>
          <a:xfrm>
            <a:off x="566928" y="5285232"/>
            <a:ext cx="82296" cy="731520"/>
          </a:xfrm>
          <a:prstGeom prst="roundRect">
            <a:avLst>
              <a:gd name="adj" fmla="val 44444"/>
            </a:avLst>
          </a:prstGeom>
          <a:solidFill>
            <a:srgbClr val="1F9E86"/>
          </a:solidFill>
          <a:ln w="12700">
            <a:solidFill>
              <a:srgbClr val="333333"/>
            </a:solidFill>
            <a:prstDash val="solid"/>
          </a:ln>
        </p:spPr>
      </p:sp>
      <p:sp>
        <p:nvSpPr>
          <p:cNvPr id="32" name="Text 30"/>
          <p:cNvSpPr txBox="1"/>
          <p:nvPr/>
        </p:nvSpPr>
        <p:spPr>
          <a:xfrm>
            <a:off x="868680" y="5358384"/>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A gap of 0.017 is nothing. A straight line has only two numbers to adjust, so it is almost impossible for it to memorise — the opposite of the tree on Day 31 that scored a perfect 1.000 and then collapsed.</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THE TRAP</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A line will answer a stupid question without blinking</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pic>
        <p:nvPicPr>
          <p:cNvPr id="12" name="Image 0" descr="/home/claude/d33n/fig/extrapolate.png">    </p:cNvPr>
          <p:cNvPicPr>
            <a:picLocks noChangeAspect="1"/>
          </p:cNvPicPr>
          <p:nvPr/>
        </p:nvPicPr>
        <p:blipFill>
          <a:blip r:embed="rId1"/>
          <a:stretch>
            <a:fillRect/>
          </a:stretch>
        </p:blipFill>
        <p:spPr>
          <a:xfrm>
            <a:off x="1188720" y="1627632"/>
            <a:ext cx="9784080" cy="3510614"/>
          </a:xfrm>
          <a:prstGeom prst="rect">
            <a:avLst/>
          </a:prstGeom>
        </p:spPr>
      </p:pic>
      <p:sp>
        <p:nvSpPr>
          <p:cNvPr id="13" name="Shape 10"/>
          <p:cNvSpPr/>
          <p:nvPr/>
        </p:nvSpPr>
        <p:spPr>
          <a:xfrm>
            <a:off x="566928" y="5376672"/>
            <a:ext cx="11064240" cy="731520"/>
          </a:xfrm>
          <a:prstGeom prst="roundRect">
            <a:avLst>
              <a:gd name="adj" fmla="val 12500"/>
            </a:avLst>
          </a:prstGeom>
          <a:solidFill>
            <a:srgbClr val="FCEBE7"/>
          </a:solidFill>
          <a:ln w="17780">
            <a:solidFill>
              <a:srgbClr val="E05C45"/>
            </a:solidFill>
            <a:prstDash val="solid"/>
          </a:ln>
        </p:spPr>
      </p:sp>
      <p:sp>
        <p:nvSpPr>
          <p:cNvPr id="14" name="Shape 11"/>
          <p:cNvSpPr/>
          <p:nvPr/>
        </p:nvSpPr>
        <p:spPr>
          <a:xfrm>
            <a:off x="566928" y="5376672"/>
            <a:ext cx="82296" cy="731520"/>
          </a:xfrm>
          <a:prstGeom prst="roundRect">
            <a:avLst>
              <a:gd name="adj" fmla="val 44444"/>
            </a:avLst>
          </a:prstGeom>
          <a:solidFill>
            <a:srgbClr val="E05C45"/>
          </a:solidFill>
          <a:ln w="12700">
            <a:solidFill>
              <a:srgbClr val="333333"/>
            </a:solidFill>
            <a:prstDash val="solid"/>
          </a:ln>
        </p:spPr>
      </p:sp>
      <p:sp>
        <p:nvSpPr>
          <p:cNvPr id="15" name="Text 12"/>
          <p:cNvSpPr txBox="1"/>
          <p:nvPr/>
        </p:nvSpPr>
        <p:spPr>
          <a:xfrm>
            <a:off x="868680" y="5449824"/>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Nobody in the data studied more than 11.9 hours. Ask about 25 and the line says 164 marks on a paper out of 100. The line has no idea the exam has a ceiling — or that a week has 168 hours.</a:t>
            </a:r>
            <a:endParaRPr lang="en-US" sz="14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JUDGEMENT</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When is a straight line the right choice?</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sp>
        <p:nvSpPr>
          <p:cNvPr id="12" name="Shape 10"/>
          <p:cNvSpPr/>
          <p:nvPr/>
        </p:nvSpPr>
        <p:spPr>
          <a:xfrm>
            <a:off x="566928" y="1783080"/>
            <a:ext cx="5394960" cy="2651760"/>
          </a:xfrm>
          <a:prstGeom prst="roundRect">
            <a:avLst>
              <a:gd name="adj" fmla="val 3448"/>
            </a:avLst>
          </a:prstGeom>
          <a:solidFill>
            <a:srgbClr val="E6F5F1"/>
          </a:solidFill>
          <a:ln w="22860">
            <a:solidFill>
              <a:srgbClr val="1F9E86"/>
            </a:solidFill>
            <a:prstDash val="solid"/>
          </a:ln>
        </p:spPr>
      </p:sp>
      <p:sp>
        <p:nvSpPr>
          <p:cNvPr id="13" name="Shape 11"/>
          <p:cNvSpPr/>
          <p:nvPr/>
        </p:nvSpPr>
        <p:spPr>
          <a:xfrm>
            <a:off x="566928" y="1783080"/>
            <a:ext cx="5394960" cy="402336"/>
          </a:xfrm>
          <a:prstGeom prst="roundRect">
            <a:avLst>
              <a:gd name="adj" fmla="val 22727"/>
            </a:avLst>
          </a:prstGeom>
          <a:solidFill>
            <a:srgbClr val="1F9E86"/>
          </a:solidFill>
          <a:ln w="22860">
            <a:solidFill>
              <a:srgbClr val="1F9E86"/>
            </a:solidFill>
            <a:prstDash val="solid"/>
          </a:ln>
        </p:spPr>
      </p:sp>
      <p:sp>
        <p:nvSpPr>
          <p:cNvPr id="14" name="Shape 12"/>
          <p:cNvSpPr/>
          <p:nvPr/>
        </p:nvSpPr>
        <p:spPr>
          <a:xfrm>
            <a:off x="566928" y="2020824"/>
            <a:ext cx="5394960" cy="164592"/>
          </a:xfrm>
          <a:prstGeom prst="rect">
            <a:avLst/>
          </a:prstGeom>
          <a:solidFill>
            <a:srgbClr val="1F9E86"/>
          </a:solidFill>
          <a:ln w="12700">
            <a:solidFill>
              <a:srgbClr val="333333"/>
            </a:solidFill>
            <a:prstDash val="solid"/>
          </a:ln>
        </p:spPr>
      </p:sp>
      <p:sp>
        <p:nvSpPr>
          <p:cNvPr id="15" name="Text 13"/>
          <p:cNvSpPr txBox="1"/>
          <p:nvPr/>
        </p:nvSpPr>
        <p:spPr>
          <a:xfrm>
            <a:off x="768096" y="1819656"/>
            <a:ext cx="4992624"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 A LINE WHEN</a:t>
            </a:r>
            <a:endParaRPr lang="en-US" sz="1300" dirty="0"/>
          </a:p>
        </p:txBody>
      </p:sp>
      <p:sp>
        <p:nvSpPr>
          <p:cNvPr id="16" name="Text 14"/>
          <p:cNvSpPr txBox="1"/>
          <p:nvPr/>
        </p:nvSpPr>
        <p:spPr>
          <a:xfrm>
            <a:off x="786384" y="2359152"/>
            <a:ext cx="4956048" cy="192024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33415A"/>
                </a:solidFill>
                <a:latin typeface="Calibri" pitchFamily="34" charset="0"/>
                <a:ea typeface="Calibri" pitchFamily="34" charset="-122"/>
                <a:cs typeface="Calibri" pitchFamily="34" charset="-120"/>
              </a:rPr>
              <a:t>the scatter plot genuinely looks like a band going up or down</a:t>
            </a:r>
            <a:endParaRPr lang="en-US" sz="1300" dirty="0"/>
          </a:p>
          <a:p>
            <a:pPr marL="342900" indent="-342900">
              <a:spcAft>
                <a:spcPts val="900"/>
              </a:spcAft>
              <a:buSzPct val="100000"/>
              <a:buChar char="•"/>
            </a:pPr>
            <a:r>
              <a:rPr lang="en-US" sz="1300" dirty="0">
                <a:solidFill>
                  <a:srgbClr val="33415A"/>
                </a:solidFill>
                <a:latin typeface="Calibri" pitchFamily="34" charset="0"/>
                <a:ea typeface="Calibri" pitchFamily="34" charset="-122"/>
                <a:cs typeface="Calibri" pitchFamily="34" charset="-120"/>
              </a:rPr>
              <a:t>you need to EXPLAIN the result to somebody</a:t>
            </a:r>
            <a:endParaRPr lang="en-US" sz="1300" dirty="0"/>
          </a:p>
          <a:p>
            <a:pPr marL="342900" indent="-342900">
              <a:spcAft>
                <a:spcPts val="900"/>
              </a:spcAft>
              <a:buSzPct val="100000"/>
              <a:buChar char="•"/>
            </a:pPr>
            <a:r>
              <a:rPr lang="en-US" sz="1300" dirty="0">
                <a:solidFill>
                  <a:srgbClr val="33415A"/>
                </a:solidFill>
                <a:latin typeface="Calibri" pitchFamily="34" charset="0"/>
                <a:ea typeface="Calibri" pitchFamily="34" charset="-122"/>
                <a:cs typeface="Calibri" pitchFamily="34" charset="-120"/>
              </a:rPr>
              <a:t>you have few rows</a:t>
            </a:r>
            <a:endParaRPr lang="en-US" sz="1300" dirty="0"/>
          </a:p>
          <a:p>
            <a:pPr marL="342900" indent="-342900">
              <a:spcAft>
                <a:spcPts val="900"/>
              </a:spcAft>
              <a:buSzPct val="100000"/>
              <a:buChar char="•"/>
            </a:pPr>
            <a:r>
              <a:rPr lang="en-US" sz="1300" dirty="0">
                <a:solidFill>
                  <a:srgbClr val="33415A"/>
                </a:solidFill>
                <a:latin typeface="Calibri" pitchFamily="34" charset="0"/>
                <a:ea typeface="Calibri" pitchFamily="34" charset="-122"/>
                <a:cs typeface="Calibri" pitchFamily="34" charset="-120"/>
              </a:rPr>
              <a:t>you want a baseline to beat</a:t>
            </a:r>
            <a:endParaRPr lang="en-US" sz="1300" dirty="0"/>
          </a:p>
        </p:txBody>
      </p:sp>
      <p:sp>
        <p:nvSpPr>
          <p:cNvPr id="17" name="Shape 15"/>
          <p:cNvSpPr/>
          <p:nvPr/>
        </p:nvSpPr>
        <p:spPr>
          <a:xfrm>
            <a:off x="6236208" y="1783080"/>
            <a:ext cx="5394960" cy="2651760"/>
          </a:xfrm>
          <a:prstGeom prst="roundRect">
            <a:avLst>
              <a:gd name="adj" fmla="val 3448"/>
            </a:avLst>
          </a:prstGeom>
          <a:solidFill>
            <a:srgbClr val="FCEBE7"/>
          </a:solidFill>
          <a:ln w="22860">
            <a:solidFill>
              <a:srgbClr val="E05C45"/>
            </a:solidFill>
            <a:prstDash val="solid"/>
          </a:ln>
        </p:spPr>
      </p:sp>
      <p:sp>
        <p:nvSpPr>
          <p:cNvPr id="18" name="Shape 16"/>
          <p:cNvSpPr/>
          <p:nvPr/>
        </p:nvSpPr>
        <p:spPr>
          <a:xfrm>
            <a:off x="6236208" y="1783080"/>
            <a:ext cx="5394960" cy="402336"/>
          </a:xfrm>
          <a:prstGeom prst="roundRect">
            <a:avLst>
              <a:gd name="adj" fmla="val 22727"/>
            </a:avLst>
          </a:prstGeom>
          <a:solidFill>
            <a:srgbClr val="E05C45"/>
          </a:solidFill>
          <a:ln w="22860">
            <a:solidFill>
              <a:srgbClr val="E05C45"/>
            </a:solidFill>
            <a:prstDash val="solid"/>
          </a:ln>
        </p:spPr>
      </p:sp>
      <p:sp>
        <p:nvSpPr>
          <p:cNvPr id="19" name="Shape 17"/>
          <p:cNvSpPr/>
          <p:nvPr/>
        </p:nvSpPr>
        <p:spPr>
          <a:xfrm>
            <a:off x="6236208" y="2020824"/>
            <a:ext cx="5394960" cy="164592"/>
          </a:xfrm>
          <a:prstGeom prst="rect">
            <a:avLst/>
          </a:prstGeom>
          <a:solidFill>
            <a:srgbClr val="E05C45"/>
          </a:solidFill>
          <a:ln w="12700">
            <a:solidFill>
              <a:srgbClr val="333333"/>
            </a:solidFill>
            <a:prstDash val="solid"/>
          </a:ln>
        </p:spPr>
      </p:sp>
      <p:sp>
        <p:nvSpPr>
          <p:cNvPr id="20" name="Text 18"/>
          <p:cNvSpPr txBox="1"/>
          <p:nvPr/>
        </p:nvSpPr>
        <p:spPr>
          <a:xfrm>
            <a:off x="6437376" y="1819656"/>
            <a:ext cx="4992624"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 NOT USE A LINE WHEN</a:t>
            </a:r>
            <a:endParaRPr lang="en-US" sz="1300" dirty="0"/>
          </a:p>
        </p:txBody>
      </p:sp>
      <p:sp>
        <p:nvSpPr>
          <p:cNvPr id="21" name="Text 19"/>
          <p:cNvSpPr txBox="1"/>
          <p:nvPr/>
        </p:nvSpPr>
        <p:spPr>
          <a:xfrm>
            <a:off x="6455664" y="2359152"/>
            <a:ext cx="4956048" cy="192024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rgbClr val="33415A"/>
                </a:solidFill>
                <a:latin typeface="Calibri" pitchFamily="34" charset="0"/>
                <a:ea typeface="Calibri" pitchFamily="34" charset="-122"/>
                <a:cs typeface="Calibri" pitchFamily="34" charset="-120"/>
              </a:rPr>
              <a:t>the scatter plot curves or levels off</a:t>
            </a:r>
            <a:endParaRPr lang="en-US" sz="1300" dirty="0"/>
          </a:p>
          <a:p>
            <a:pPr marL="342900" indent="-342900">
              <a:spcAft>
                <a:spcPts val="900"/>
              </a:spcAft>
              <a:buSzPct val="100000"/>
              <a:buChar char="•"/>
            </a:pPr>
            <a:r>
              <a:rPr lang="en-US" sz="1300" dirty="0">
                <a:solidFill>
                  <a:srgbClr val="33415A"/>
                </a:solidFill>
                <a:latin typeface="Calibri" pitchFamily="34" charset="0"/>
                <a:ea typeface="Calibri" pitchFamily="34" charset="-122"/>
                <a:cs typeface="Calibri" pitchFamily="34" charset="-120"/>
              </a:rPr>
              <a:t>the spread grows as x grows</a:t>
            </a:r>
            <a:endParaRPr lang="en-US" sz="1300" dirty="0"/>
          </a:p>
          <a:p>
            <a:pPr marL="342900" indent="-342900">
              <a:spcAft>
                <a:spcPts val="900"/>
              </a:spcAft>
              <a:buSzPct val="100000"/>
              <a:buChar char="•"/>
            </a:pPr>
            <a:r>
              <a:rPr lang="en-US" sz="1300" dirty="0">
                <a:solidFill>
                  <a:srgbClr val="33415A"/>
                </a:solidFill>
                <a:latin typeface="Calibri" pitchFamily="34" charset="0"/>
                <a:ea typeface="Calibri" pitchFamily="34" charset="-122"/>
                <a:cs typeface="Calibri" pitchFamily="34" charset="-120"/>
              </a:rPr>
              <a:t>there are a few extreme outliers dragging it</a:t>
            </a:r>
            <a:endParaRPr lang="en-US" sz="1300" dirty="0"/>
          </a:p>
          <a:p>
            <a:pPr marL="342900" indent="-342900">
              <a:spcAft>
                <a:spcPts val="900"/>
              </a:spcAft>
              <a:buSzPct val="100000"/>
              <a:buChar char="•"/>
            </a:pPr>
            <a:r>
              <a:rPr lang="en-US" sz="1300" dirty="0">
                <a:solidFill>
                  <a:srgbClr val="33415A"/>
                </a:solidFill>
                <a:latin typeface="Calibri" pitchFamily="34" charset="0"/>
                <a:ea typeface="Calibri" pitchFamily="34" charset="-122"/>
                <a:cs typeface="Calibri" pitchFamily="34" charset="-120"/>
              </a:rPr>
              <a:t>the real pattern is a step, not a slope</a:t>
            </a:r>
            <a:endParaRPr lang="en-US" sz="1300" dirty="0"/>
          </a:p>
        </p:txBody>
      </p:sp>
      <p:sp>
        <p:nvSpPr>
          <p:cNvPr id="22" name="Shape 20"/>
          <p:cNvSpPr/>
          <p:nvPr/>
        </p:nvSpPr>
        <p:spPr>
          <a:xfrm>
            <a:off x="566928" y="4617720"/>
            <a:ext cx="11064240" cy="841248"/>
          </a:xfrm>
          <a:prstGeom prst="roundRect">
            <a:avLst>
              <a:gd name="adj" fmla="val 10870"/>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23" name="Text 21"/>
          <p:cNvSpPr txBox="1"/>
          <p:nvPr/>
        </p:nvSpPr>
        <p:spPr>
          <a:xfrm>
            <a:off x="868680" y="4736592"/>
            <a:ext cx="10424160" cy="621792"/>
          </a:xfrm>
          <a:prstGeom prst="rect">
            <a:avLst/>
          </a:prstGeom>
          <a:noFill/>
          <a:ln/>
        </p:spPr>
        <p:txBody>
          <a:bodyPr wrap="square" lIns="0" tIns="0" rIns="0" bIns="0" rtlCol="0" anchor="ctr"/>
          <a:lstStyle/>
          <a:p>
            <a:pPr indent="0" marL="0">
              <a:lnSpc>
                <a:spcPct val="120000"/>
              </a:lnSpc>
              <a:buNone/>
            </a:pPr>
            <a:r>
              <a:rPr lang="en-US" sz="1350" b="1" dirty="0">
                <a:solidFill>
                  <a:srgbClr val="1B3558"/>
                </a:solidFill>
                <a:latin typeface="Calibri" pitchFamily="34" charset="0"/>
                <a:ea typeface="Calibri" pitchFamily="34" charset="-122"/>
                <a:cs typeface="Calibri" pitchFamily="34" charset="-120"/>
              </a:rPr>
              <a:t>Always fit the line first anyway. </a:t>
            </a:r>
            <a:pPr indent="0" marL="0">
              <a:lnSpc>
                <a:spcPct val="120000"/>
              </a:lnSpc>
              <a:buNone/>
            </a:pPr>
            <a:r>
              <a:rPr lang="en-US" sz="1350" dirty="0">
                <a:solidFill>
                  <a:srgbClr val="33415A"/>
                </a:solidFill>
                <a:latin typeface="Calibri" pitchFamily="34" charset="0"/>
                <a:ea typeface="Calibri" pitchFamily="34" charset="-122"/>
                <a:cs typeface="Calibri" pitchFamily="34" charset="-120"/>
              </a:rPr>
              <a:t>It takes ten seconds and it gives you a number every fancier model has to beat. A gradient-boosted forest that scores 0.62 against a straight line's 0.60 was not worth the afternoon.</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PUT IT TOGETHER</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The five steps, every time</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pic>
        <p:nvPicPr>
          <p:cNvPr id="12" name="Image 0" descr="/home/claude/d33n/fig/workflow.png">    </p:cNvPr>
          <p:cNvPicPr>
            <a:picLocks noChangeAspect="1"/>
          </p:cNvPicPr>
          <p:nvPr/>
        </p:nvPicPr>
        <p:blipFill>
          <a:blip r:embed="rId1"/>
          <a:stretch>
            <a:fillRect/>
          </a:stretch>
        </p:blipFill>
        <p:spPr>
          <a:xfrm>
            <a:off x="566928" y="1920240"/>
            <a:ext cx="11064240" cy="2320034"/>
          </a:xfrm>
          <a:prstGeom prst="rect">
            <a:avLst/>
          </a:prstGeom>
        </p:spPr>
      </p:pic>
      <p:sp>
        <p:nvSpPr>
          <p:cNvPr id="13" name="Shape 10"/>
          <p:cNvSpPr/>
          <p:nvPr/>
        </p:nvSpPr>
        <p:spPr>
          <a:xfrm>
            <a:off x="566928" y="4480560"/>
            <a:ext cx="11064240" cy="987552"/>
          </a:xfrm>
          <a:prstGeom prst="roundRect">
            <a:avLst>
              <a:gd name="adj" fmla="val 9259"/>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4" name="Text 11"/>
          <p:cNvSpPr txBox="1"/>
          <p:nvPr/>
        </p:nvSpPr>
        <p:spPr>
          <a:xfrm>
            <a:off x="868680" y="4608576"/>
            <a:ext cx="10424160" cy="749808"/>
          </a:xfrm>
          <a:prstGeom prst="rect">
            <a:avLst/>
          </a:prstGeom>
          <a:noFill/>
          <a:ln/>
        </p:spPr>
        <p:txBody>
          <a:bodyPr wrap="square" lIns="0" tIns="0" rIns="0" bIns="0" rtlCol="0" anchor="ctr"/>
          <a:lstStyle/>
          <a:p>
            <a:pPr indent="0" marL="0">
              <a:lnSpc>
                <a:spcPct val="120000"/>
              </a:lnSpc>
              <a:buNone/>
            </a:pPr>
            <a:r>
              <a:rPr lang="en-US" sz="1350" b="1" dirty="0">
                <a:solidFill>
                  <a:srgbClr val="1B3558"/>
                </a:solidFill>
                <a:latin typeface="Calibri" pitchFamily="34" charset="0"/>
                <a:ea typeface="Calibri" pitchFamily="34" charset="-122"/>
                <a:cs typeface="Calibri" pitchFamily="34" charset="-120"/>
              </a:rPr>
              <a:t>Step 1 is the one people skip. </a:t>
            </a:r>
            <a:pPr indent="0" marL="0">
              <a:lnSpc>
                <a:spcPct val="120000"/>
              </a:lnSpc>
              <a:buNone/>
            </a:pPr>
            <a:r>
              <a:rPr lang="en-US" sz="1350" dirty="0">
                <a:solidFill>
                  <a:srgbClr val="33415A"/>
                </a:solidFill>
                <a:latin typeface="Calibri" pitchFamily="34" charset="0"/>
                <a:ea typeface="Calibri" pitchFamily="34" charset="-122"/>
                <a:cs typeface="Calibri" pitchFamily="34" charset="-120"/>
              </a:rPr>
              <a:t>Draw the scatter plot before you fit anything. Ten seconds of looking will tell you whether a straight line is even the right shape — and will save you from reporting an R² of 0.75 on data that curves.</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BEFORE YOU GO</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Five mistakes everybody makes once</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64240" cy="914400"/>
        </p:xfrm>
        <a:graphic>
          <a:graphicData uri="http://schemas.openxmlformats.org/drawingml/2006/table">
            <a:tbl>
              <a:tblPr/>
              <a:tblGrid>
                <a:gridCol w="548640"/>
                <a:gridCol w="3566160"/>
                <a:gridCol w="3566160"/>
                <a:gridCol w="3383280"/>
              </a:tblGrid>
              <a:tr h="43891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mistake</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you will see</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the fix</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1B3558"/>
                    </a:solidFill>
                  </a:tcPr>
                </a:tc>
              </a:tr>
              <a:tr h="438912">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Fitting without plotting first</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A respectable R² on data that curves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Draw the scatter. Always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438912">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Quoting the intercept</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“Zero hours gives 26 marks”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Check 0 is inside your data</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438912">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Predicting outside the data</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164 marks out of 100</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Note your min and max, and stay inside</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438912">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Trusting R² on its own</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A pattern hiding in the errors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Plot the errors against the input</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438912">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Saying hours CAUSE marks</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A confident, unprovable claim</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250" dirty="0">
                          <a:solidFill>
                            <a:srgbClr val="33415A"/>
                          </a:solidFill>
                          <a:latin typeface="Calibri" pitchFamily="34" charset="0"/>
                          <a:ea typeface="Calibri" pitchFamily="34" charset="-122"/>
                          <a:cs typeface="Calibri" pitchFamily="34" charset="-120"/>
                        </a:rPr>
                        <a:t>A line measures movement, not cause</a:t>
                      </a:r>
                      <a:endParaRPr lang="en-US" sz="125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bl>
          </a:graphicData>
        </a:graphic>
      </p:graphicFrame>
      <p:sp>
        <p:nvSpPr>
          <p:cNvPr id="13" name="Shape 10"/>
          <p:cNvSpPr/>
          <p:nvPr/>
        </p:nvSpPr>
        <p:spPr>
          <a:xfrm>
            <a:off x="566928" y="4663440"/>
            <a:ext cx="11064240" cy="731520"/>
          </a:xfrm>
          <a:prstGeom prst="roundRect">
            <a:avLst>
              <a:gd name="adj" fmla="val 12500"/>
            </a:avLst>
          </a:prstGeom>
          <a:solidFill>
            <a:srgbClr val="FCEBE7"/>
          </a:solidFill>
          <a:ln w="17780">
            <a:solidFill>
              <a:srgbClr val="E05C45"/>
            </a:solidFill>
            <a:prstDash val="solid"/>
          </a:ln>
        </p:spPr>
      </p:sp>
      <p:sp>
        <p:nvSpPr>
          <p:cNvPr id="14" name="Shape 11"/>
          <p:cNvSpPr/>
          <p:nvPr/>
        </p:nvSpPr>
        <p:spPr>
          <a:xfrm>
            <a:off x="566928" y="4663440"/>
            <a:ext cx="82296" cy="731520"/>
          </a:xfrm>
          <a:prstGeom prst="roundRect">
            <a:avLst>
              <a:gd name="adj" fmla="val 44444"/>
            </a:avLst>
          </a:prstGeom>
          <a:solidFill>
            <a:srgbClr val="E05C45"/>
          </a:solidFill>
          <a:ln w="12700">
            <a:solidFill>
              <a:srgbClr val="333333"/>
            </a:solidFill>
            <a:prstDash val="solid"/>
          </a:ln>
        </p:spPr>
      </p:sp>
      <p:sp>
        <p:nvSpPr>
          <p:cNvPr id="15" name="Text 12"/>
          <p:cNvSpPr txBox="1"/>
          <p:nvPr/>
        </p:nvSpPr>
        <p:spPr>
          <a:xfrm>
            <a:off x="868680" y="473659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Number 5 is the one that gets people into print. Students who study more may also sleep better, attend more, and start earlier — the line cannot separate any of that.</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SUMMARY</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What to remember from today</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64240" cy="914400"/>
        </p:xfrm>
        <a:graphic>
          <a:graphicData uri="http://schemas.openxmlformats.org/drawingml/2006/table">
            <a:tbl>
              <a:tblPr/>
              <a:tblGrid>
                <a:gridCol w="3200400"/>
                <a:gridCol w="7863840"/>
              </a:tblGrid>
              <a:tr h="512064">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A line is two numbers</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6F5F1"/>
                    </a:solidFill>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slope and intercept. That is the entire model — nothing else is stored.</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E6F5F1"/>
                    </a:solidFill>
                  </a:tcPr>
                </a:tc>
              </a:tr>
              <a:tr h="512064">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“Best” had to be defined</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Adding errors gives zero for the worst line imaginable. Squaring them first is what makes the score mean something.</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512064">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Least squares, literally</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Every error becomes a square on the chart. The best line is the one with the smallest total area: 14, not 104.</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512064">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Two routes, one answer</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A formula gives slope 8 in one calculation. Gradient descent walks there in 800 steps. Only the second survives into big models.</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512064">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R² compares with the average</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0.979 means the line removed 97.9% of the error that guessing 50 every time would have left. It does not mean the line is the right shape.</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tcPr>
                </a:tc>
              </a:tr>
              <a:tr h="512064">
                <a:tc>
                  <a:txBody>
                    <a:bodyPr/>
                    <a:lstStyle/>
                    <a:p>
                      <a:pPr indent="0" marL="0">
                        <a:buNone/>
                      </a:pPr>
                      <a:r>
                        <a:rPr lang="en-US" sz="1300" b="1" dirty="0">
                          <a:solidFill>
                            <a:srgbClr val="1B3558"/>
                          </a:solidFill>
                          <a:latin typeface="Calibri" pitchFamily="34" charset="0"/>
                          <a:ea typeface="Calibri" pitchFamily="34" charset="-122"/>
                          <a:cs typeface="Calibri" pitchFamily="34" charset="-120"/>
                        </a:rPr>
                        <a:t>Look at the errors</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CEBE7"/>
                    </a:solidFill>
                  </a:tcPr>
                </a:tc>
                <a:tc>
                  <a:txBody>
                    <a:bodyPr/>
                    <a:lstStyle/>
                    <a:p>
                      <a:pPr indent="0" marL="0">
                        <a:buNone/>
                      </a:pPr>
                      <a:r>
                        <a:rPr lang="en-US" sz="1300" dirty="0">
                          <a:solidFill>
                            <a:srgbClr val="33415A"/>
                          </a:solidFill>
                          <a:latin typeface="Calibri" pitchFamily="34" charset="0"/>
                          <a:ea typeface="Calibri" pitchFamily="34" charset="-122"/>
                          <a:cs typeface="Calibri" pitchFamily="34" charset="-120"/>
                        </a:rPr>
                        <a:t>A pattern in the errors beats any score. And never ask the line about hours it has never seen.</a:t>
                      </a:r>
                      <a:endParaRPr lang="en-US" sz="1300" dirty="0">
                        <a:latin typeface="Calibri" charset="0"/>
                        <a:ea typeface="Calibri" charset="0"/>
                        <a:cs typeface="Calibri" charset="0"/>
                      </a:endParaRPr>
                    </a:p>
                  </a:txBody>
                  <a:tcPr marL="91440" marR="91440" marT="45720" marB="45720" anchor="ctr">
                    <a:lnL w="12700" cap="flat" cmpd="sng" algn="ctr">
                      <a:solidFill>
                        <a:srgbClr val="E2E8F2"/>
                      </a:solidFill>
                      <a:prstDash val="solid"/>
                      <a:round/>
                      <a:headEnd type="none" w="med" len="med"/>
                      <a:tailEnd type="none" w="med" len="med"/>
                    </a:lnL>
                    <a:lnR w="12700" cap="flat" cmpd="sng" algn="ctr">
                      <a:solidFill>
                        <a:srgbClr val="E2E8F2"/>
                      </a:solidFill>
                      <a:prstDash val="solid"/>
                      <a:round/>
                      <a:headEnd type="none" w="med" len="med"/>
                      <a:tailEnd type="none" w="med" len="med"/>
                    </a:lnR>
                    <a:lnT w="12700" cap="flat" cmpd="sng" algn="ctr">
                      <a:solidFill>
                        <a:srgbClr val="E2E8F2"/>
                      </a:solidFill>
                      <a:prstDash val="solid"/>
                      <a:round/>
                      <a:headEnd type="none" w="med" len="med"/>
                      <a:tailEnd type="none" w="med" len="med"/>
                    </a:lnT>
                    <a:lnB w="12700" cap="flat" cmpd="sng" algn="ctr">
                      <a:solidFill>
                        <a:srgbClr val="E2E8F2"/>
                      </a:solidFill>
                      <a:prstDash val="solid"/>
                      <a:round/>
                      <a:headEnd type="none" w="med" len="med"/>
                      <a:tailEnd type="none" w="med" len="med"/>
                    </a:lnB>
                    <a:solidFill>
                      <a:srgbClr val="FCEBE7"/>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7863840" y="6464808"/>
            <a:ext cx="3840480" cy="237744"/>
          </a:xfrm>
          <a:prstGeom prst="rect">
            <a:avLst/>
          </a:prstGeom>
          <a:noFill/>
          <a:ln/>
        </p:spPr>
        <p:txBody>
          <a:bodyPr wrap="square" lIns="0" tIns="0" rIns="0" bIns="0" rtlCol="0" anchor="ctr"/>
          <a:lstStyle/>
          <a:p>
            <a:pPr algn="r" indent="0" marL="0">
              <a:buNone/>
            </a:pPr>
            <a:r>
              <a:rPr lang="en-US" sz="900" dirty="0">
                <a:solidFill>
                  <a:srgbClr val="A7B3C4"/>
                </a:solidFill>
                <a:latin typeface="Calibri" pitchFamily="34" charset="0"/>
                <a:ea typeface="Calibri" pitchFamily="34" charset="-122"/>
                <a:cs typeface="Calibri" pitchFamily="34" charset="-120"/>
              </a:rPr>
              <a:t>Srinivasa Sai Chava  ·  Boston University</a:t>
            </a:r>
            <a:endParaRPr lang="en-US" sz="900" dirty="0"/>
          </a:p>
        </p:txBody>
      </p:sp>
      <p:sp>
        <p:nvSpPr>
          <p:cNvPr id="3" name="Shape 1"/>
          <p:cNvSpPr/>
          <p:nvPr/>
        </p:nvSpPr>
        <p:spPr>
          <a:xfrm>
            <a:off x="566928" y="274320"/>
            <a:ext cx="475488" cy="68580"/>
          </a:xfrm>
          <a:prstGeom prst="roundRect">
            <a:avLst>
              <a:gd name="adj" fmla="val 46667"/>
            </a:avLst>
          </a:prstGeom>
          <a:solidFill>
            <a:srgbClr val="DCE4EF"/>
          </a:solidFill>
          <a:ln w="12700">
            <a:solidFill>
              <a:srgbClr val="333333"/>
            </a:solidFill>
            <a:prstDash val="solid"/>
          </a:ln>
        </p:spPr>
      </p:sp>
      <p:sp>
        <p:nvSpPr>
          <p:cNvPr id="4" name="Shape 2"/>
          <p:cNvSpPr/>
          <p:nvPr/>
        </p:nvSpPr>
        <p:spPr>
          <a:xfrm>
            <a:off x="1115568" y="274320"/>
            <a:ext cx="475488" cy="68580"/>
          </a:xfrm>
          <a:prstGeom prst="roundRect">
            <a:avLst>
              <a:gd name="adj" fmla="val 46667"/>
            </a:avLst>
          </a:prstGeom>
          <a:solidFill>
            <a:srgbClr val="DCE4EF"/>
          </a:solidFill>
          <a:ln w="12700">
            <a:solidFill>
              <a:srgbClr val="333333"/>
            </a:solidFill>
            <a:prstDash val="solid"/>
          </a:ln>
        </p:spPr>
      </p:sp>
      <p:sp>
        <p:nvSpPr>
          <p:cNvPr id="5" name="Shape 3"/>
          <p:cNvSpPr/>
          <p:nvPr/>
        </p:nvSpPr>
        <p:spPr>
          <a:xfrm>
            <a:off x="1664208" y="274320"/>
            <a:ext cx="475488" cy="68580"/>
          </a:xfrm>
          <a:prstGeom prst="roundRect">
            <a:avLst>
              <a:gd name="adj" fmla="val 46667"/>
            </a:avLst>
          </a:prstGeom>
          <a:solidFill>
            <a:srgbClr val="DCE4EF"/>
          </a:solidFill>
          <a:ln w="12700">
            <a:solidFill>
              <a:srgbClr val="333333"/>
            </a:solidFill>
            <a:prstDash val="solid"/>
          </a:ln>
        </p:spPr>
      </p:sp>
      <p:sp>
        <p:nvSpPr>
          <p:cNvPr id="6" name="Shape 4"/>
          <p:cNvSpPr/>
          <p:nvPr/>
        </p:nvSpPr>
        <p:spPr>
          <a:xfrm>
            <a:off x="2212848" y="274320"/>
            <a:ext cx="475488" cy="68580"/>
          </a:xfrm>
          <a:prstGeom prst="roundRect">
            <a:avLst>
              <a:gd name="adj" fmla="val 46667"/>
            </a:avLst>
          </a:prstGeom>
          <a:solidFill>
            <a:srgbClr val="DCE4EF"/>
          </a:solidFill>
          <a:ln w="12700">
            <a:solidFill>
              <a:srgbClr val="333333"/>
            </a:solidFill>
            <a:prstDash val="solid"/>
          </a:ln>
        </p:spPr>
      </p:sp>
      <p:sp>
        <p:nvSpPr>
          <p:cNvPr id="7" name="Shape 5"/>
          <p:cNvSpPr/>
          <p:nvPr/>
        </p:nvSpPr>
        <p:spPr>
          <a:xfrm>
            <a:off x="2761488" y="274320"/>
            <a:ext cx="475488" cy="68580"/>
          </a:xfrm>
          <a:prstGeom prst="roundRect">
            <a:avLst>
              <a:gd name="adj" fmla="val 46667"/>
            </a:avLst>
          </a:prstGeom>
          <a:solidFill>
            <a:srgbClr val="E05C45"/>
          </a:solidFill>
          <a:ln w="12700">
            <a:solidFill>
              <a:srgbClr val="333333"/>
            </a:solidFill>
            <a:prstDash val="solid"/>
          </a:ln>
        </p:spPr>
      </p:sp>
      <p:sp>
        <p:nvSpPr>
          <p:cNvPr id="8" name="Text 6"/>
          <p:cNvSpPr txBox="1"/>
          <p:nvPr/>
        </p:nvSpPr>
        <p:spPr>
          <a:xfrm>
            <a:off x="3520440" y="192024"/>
            <a:ext cx="5029200" cy="237744"/>
          </a:xfrm>
          <a:prstGeom prst="rect">
            <a:avLst/>
          </a:prstGeom>
          <a:noFill/>
          <a:ln/>
        </p:spPr>
        <p:txBody>
          <a:bodyPr wrap="square" lIns="0" tIns="0" rIns="0" bIns="0" rtlCol="0" anchor="ctr"/>
          <a:lstStyle/>
          <a:p>
            <a:pPr indent="0" marL="0">
              <a:buNone/>
            </a:pPr>
            <a:r>
              <a:rPr lang="en-US" sz="950" b="1" spc="80" kern="0" dirty="0">
                <a:solidFill>
                  <a:srgbClr val="7B8AA1"/>
                </a:solidFill>
                <a:latin typeface="Calibri" pitchFamily="34" charset="0"/>
                <a:ea typeface="Calibri" pitchFamily="34" charset="-122"/>
                <a:cs typeface="Calibri" pitchFamily="34" charset="-120"/>
              </a:rPr>
              <a:t>5 / 5   Doing it for real</a:t>
            </a:r>
            <a:endParaRPr lang="en-US" sz="950" dirty="0"/>
          </a:p>
        </p:txBody>
      </p:sp>
      <p:sp>
        <p:nvSpPr>
          <p:cNvPr id="9" name="Text 7"/>
          <p:cNvSpPr txBox="1"/>
          <p:nvPr/>
        </p:nvSpPr>
        <p:spPr>
          <a:xfrm>
            <a:off x="566928" y="512064"/>
            <a:ext cx="10607040" cy="237744"/>
          </a:xfrm>
          <a:prstGeom prst="rect">
            <a:avLst/>
          </a:prstGeom>
          <a:noFill/>
          <a:ln/>
        </p:spPr>
        <p:txBody>
          <a:bodyPr wrap="square" lIns="0" tIns="0" rIns="0" bIns="0" rtlCol="0" anchor="ctr"/>
          <a:lstStyle/>
          <a:p>
            <a:pPr indent="0" marL="0">
              <a:buNone/>
            </a:pPr>
            <a:r>
              <a:rPr lang="en-US" sz="1100" b="1" spc="180" kern="0" dirty="0">
                <a:solidFill>
                  <a:srgbClr val="E05C45"/>
                </a:solidFill>
                <a:latin typeface="Calibri" pitchFamily="34" charset="0"/>
                <a:ea typeface="Calibri" pitchFamily="34" charset="-122"/>
                <a:cs typeface="Calibri" pitchFamily="34" charset="-120"/>
              </a:rPr>
              <a:t>19 QUESTIONS</a:t>
            </a:r>
            <a:endParaRPr lang="en-US" sz="1100" dirty="0"/>
          </a:p>
        </p:txBody>
      </p:sp>
      <p:sp>
        <p:nvSpPr>
          <p:cNvPr id="10" name="Text 8"/>
          <p:cNvSpPr txBox="1"/>
          <p:nvPr/>
        </p:nvSpPr>
        <p:spPr>
          <a:xfrm>
            <a:off x="566928" y="731520"/>
            <a:ext cx="11064240" cy="713232"/>
          </a:xfrm>
          <a:prstGeom prst="rect">
            <a:avLst/>
          </a:prstGeom>
          <a:noFill/>
          <a:ln/>
        </p:spPr>
        <p:txBody>
          <a:bodyPr wrap="square" lIns="0" tIns="0" rIns="0" bIns="0" rtlCol="0" anchor="ctr"/>
          <a:lstStyle/>
          <a:p>
            <a:pPr indent="0" marL="0">
              <a:buNone/>
            </a:pPr>
            <a:r>
              <a:rPr lang="en-US" sz="2700" b="1" dirty="0">
                <a:solidFill>
                  <a:srgbClr val="1B3558"/>
                </a:solidFill>
                <a:latin typeface="Georgia" pitchFamily="34" charset="0"/>
                <a:ea typeface="Georgia" pitchFamily="34" charset="-122"/>
                <a:cs typeface="Georgia" pitchFamily="34" charset="-120"/>
              </a:rPr>
              <a:t>Tonight's practice</a:t>
            </a:r>
            <a:endParaRPr lang="en-US" sz="2700" dirty="0"/>
          </a:p>
        </p:txBody>
      </p:sp>
      <p:sp>
        <p:nvSpPr>
          <p:cNvPr id="11" name="Shape 9"/>
          <p:cNvSpPr/>
          <p:nvPr/>
        </p:nvSpPr>
        <p:spPr>
          <a:xfrm>
            <a:off x="585216" y="1444752"/>
            <a:ext cx="640080" cy="50292"/>
          </a:xfrm>
          <a:prstGeom prst="roundRect">
            <a:avLst>
              <a:gd name="adj" fmla="val 45455"/>
            </a:avLst>
          </a:prstGeom>
          <a:solidFill>
            <a:srgbClr val="E05C45"/>
          </a:solidFill>
          <a:ln w="12700">
            <a:solidFill>
              <a:srgbClr val="333333"/>
            </a:solidFill>
            <a:prstDash val="solid"/>
          </a:ln>
        </p:spPr>
      </p:sp>
      <p:sp>
        <p:nvSpPr>
          <p:cNvPr id="12" name="Shape 10"/>
          <p:cNvSpPr/>
          <p:nvPr/>
        </p:nvSpPr>
        <p:spPr>
          <a:xfrm>
            <a:off x="566928" y="1783080"/>
            <a:ext cx="11064240" cy="749808"/>
          </a:xfrm>
          <a:prstGeom prst="roundRect">
            <a:avLst>
              <a:gd name="adj" fmla="val 12195"/>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3" name="Shape 11"/>
          <p:cNvSpPr/>
          <p:nvPr/>
        </p:nvSpPr>
        <p:spPr>
          <a:xfrm>
            <a:off x="749808" y="1956816"/>
            <a:ext cx="402336" cy="402336"/>
          </a:xfrm>
          <a:prstGeom prst="ellipse">
            <a:avLst/>
          </a:prstGeom>
          <a:solidFill>
            <a:srgbClr val="3E7CB1"/>
          </a:solidFill>
          <a:ln w="12700">
            <a:solidFill>
              <a:srgbClr val="333333"/>
            </a:solidFill>
            <a:prstDash val="solid"/>
          </a:ln>
        </p:spPr>
      </p:sp>
      <p:sp>
        <p:nvSpPr>
          <p:cNvPr id="14" name="Text 12"/>
          <p:cNvSpPr txBox="1"/>
          <p:nvPr/>
        </p:nvSpPr>
        <p:spPr>
          <a:xfrm>
            <a:off x="749808" y="1956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5" name="Text 13"/>
          <p:cNvSpPr txBox="1"/>
          <p:nvPr/>
        </p:nvSpPr>
        <p:spPr>
          <a:xfrm>
            <a:off x="1316736" y="1856232"/>
            <a:ext cx="2651760" cy="301752"/>
          </a:xfrm>
          <a:prstGeom prst="rect">
            <a:avLst/>
          </a:prstGeom>
          <a:noFill/>
          <a:ln/>
        </p:spPr>
        <p:txBody>
          <a:bodyPr wrap="square" lIns="0" tIns="0" rIns="0" bIns="0" rtlCol="0" anchor="ctr"/>
          <a:lstStyle/>
          <a:p>
            <a:pPr indent="0" marL="0">
              <a:buNone/>
            </a:pPr>
            <a:r>
              <a:rPr lang="en-US" sz="1450" b="1" dirty="0">
                <a:solidFill>
                  <a:srgbClr val="1B3558"/>
                </a:solidFill>
                <a:latin typeface="Calibri" pitchFamily="34" charset="0"/>
                <a:ea typeface="Calibri" pitchFamily="34" charset="-122"/>
                <a:cs typeface="Calibri" pitchFamily="34" charset="-120"/>
              </a:rPr>
              <a:t>Work it out</a:t>
            </a:r>
            <a:endParaRPr lang="en-US" sz="1450" dirty="0"/>
          </a:p>
        </p:txBody>
      </p:sp>
      <p:sp>
        <p:nvSpPr>
          <p:cNvPr id="16" name="Text 14"/>
          <p:cNvSpPr txBox="1"/>
          <p:nvPr/>
        </p:nvSpPr>
        <p:spPr>
          <a:xfrm>
            <a:off x="1316736" y="2176272"/>
            <a:ext cx="7863840" cy="292608"/>
          </a:xfrm>
          <a:prstGeom prst="rect">
            <a:avLst/>
          </a:prstGeom>
          <a:noFill/>
          <a:ln/>
        </p:spPr>
        <p:txBody>
          <a:bodyPr wrap="square" lIns="0" tIns="0" rIns="0" bIns="0" rtlCol="0" anchor="ctr"/>
          <a:lstStyle/>
          <a:p>
            <a:pPr indent="0" marL="0">
              <a:buNone/>
            </a:pPr>
            <a:r>
              <a:rPr lang="en-US" sz="1250" dirty="0">
                <a:solidFill>
                  <a:srgbClr val="33415A"/>
                </a:solidFill>
                <a:latin typeface="Calibri" pitchFamily="34" charset="0"/>
                <a:ea typeface="Calibri" pitchFamily="34" charset="-122"/>
                <a:cs typeface="Calibri" pitchFamily="34" charset="-120"/>
              </a:rPr>
              <a:t>Find the best line by hand, twice, with no computer</a:t>
            </a:r>
            <a:endParaRPr lang="en-US" sz="1250" dirty="0"/>
          </a:p>
        </p:txBody>
      </p:sp>
      <p:sp>
        <p:nvSpPr>
          <p:cNvPr id="17" name="Text 15"/>
          <p:cNvSpPr txBox="1"/>
          <p:nvPr/>
        </p:nvSpPr>
        <p:spPr>
          <a:xfrm>
            <a:off x="9601200" y="1956816"/>
            <a:ext cx="1828800" cy="402336"/>
          </a:xfrm>
          <a:prstGeom prst="rect">
            <a:avLst/>
          </a:prstGeom>
          <a:noFill/>
          <a:ln/>
        </p:spPr>
        <p:txBody>
          <a:bodyPr wrap="square" lIns="0" tIns="0" rIns="0" bIns="0" rtlCol="0" anchor="ctr"/>
          <a:lstStyle/>
          <a:p>
            <a:pPr algn="r" indent="0" marL="0">
              <a:buNone/>
            </a:pPr>
            <a:r>
              <a:rPr lang="en-US" sz="1250" b="1" dirty="0">
                <a:solidFill>
                  <a:srgbClr val="3E7CB1"/>
                </a:solidFill>
                <a:latin typeface="Calibri" pitchFamily="34" charset="0"/>
                <a:ea typeface="Calibri" pitchFamily="34" charset="-122"/>
                <a:cs typeface="Calibri" pitchFamily="34" charset="-120"/>
              </a:rPr>
              <a:t>8 questions</a:t>
            </a:r>
            <a:endParaRPr lang="en-US" sz="1250" dirty="0"/>
          </a:p>
        </p:txBody>
      </p:sp>
      <p:sp>
        <p:nvSpPr>
          <p:cNvPr id="18" name="Shape 16"/>
          <p:cNvSpPr/>
          <p:nvPr/>
        </p:nvSpPr>
        <p:spPr>
          <a:xfrm>
            <a:off x="566928" y="2651760"/>
            <a:ext cx="11064240" cy="749808"/>
          </a:xfrm>
          <a:prstGeom prst="roundRect">
            <a:avLst>
              <a:gd name="adj" fmla="val 12195"/>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19" name="Shape 17"/>
          <p:cNvSpPr/>
          <p:nvPr/>
        </p:nvSpPr>
        <p:spPr>
          <a:xfrm>
            <a:off x="749808" y="2825496"/>
            <a:ext cx="402336" cy="402336"/>
          </a:xfrm>
          <a:prstGeom prst="ellipse">
            <a:avLst/>
          </a:prstGeom>
          <a:solidFill>
            <a:srgbClr val="F0A530"/>
          </a:solidFill>
          <a:ln w="12700">
            <a:solidFill>
              <a:srgbClr val="333333"/>
            </a:solidFill>
            <a:prstDash val="solid"/>
          </a:ln>
        </p:spPr>
      </p:sp>
      <p:sp>
        <p:nvSpPr>
          <p:cNvPr id="20" name="Text 18"/>
          <p:cNvSpPr txBox="1"/>
          <p:nvPr/>
        </p:nvSpPr>
        <p:spPr>
          <a:xfrm>
            <a:off x="749808" y="2825496"/>
            <a:ext cx="402336" cy="402336"/>
          </a:xfrm>
          <a:prstGeom prst="rect">
            <a:avLst/>
          </a:prstGeom>
          <a:noFill/>
          <a:ln/>
        </p:spPr>
        <p:txBody>
          <a:bodyPr wrap="square" lIns="0" tIns="0" rIns="0" bIns="0" rtlCol="0" anchor="ctr"/>
          <a:lstStyle/>
          <a:p>
            <a:pPr algn="ctr" indent="0" marL="0">
              <a:buNone/>
            </a:pPr>
            <a:r>
              <a:rPr lang="en-US" sz="1400" b="1" dirty="0">
                <a:solidFill>
                  <a:srgbClr val="131F33"/>
                </a:solidFill>
                <a:latin typeface="Calibri" pitchFamily="34" charset="0"/>
                <a:ea typeface="Calibri" pitchFamily="34" charset="-122"/>
                <a:cs typeface="Calibri" pitchFamily="34" charset="-120"/>
              </a:rPr>
              <a:t>B</a:t>
            </a:r>
            <a:endParaRPr lang="en-US" sz="1400" dirty="0"/>
          </a:p>
        </p:txBody>
      </p:sp>
      <p:sp>
        <p:nvSpPr>
          <p:cNvPr id="21" name="Text 19"/>
          <p:cNvSpPr txBox="1"/>
          <p:nvPr/>
        </p:nvSpPr>
        <p:spPr>
          <a:xfrm>
            <a:off x="1316736" y="2724912"/>
            <a:ext cx="2651760" cy="301752"/>
          </a:xfrm>
          <a:prstGeom prst="rect">
            <a:avLst/>
          </a:prstGeom>
          <a:noFill/>
          <a:ln/>
        </p:spPr>
        <p:txBody>
          <a:bodyPr wrap="square" lIns="0" tIns="0" rIns="0" bIns="0" rtlCol="0" anchor="ctr"/>
          <a:lstStyle/>
          <a:p>
            <a:pPr indent="0" marL="0">
              <a:buNone/>
            </a:pPr>
            <a:r>
              <a:rPr lang="en-US" sz="1450" b="1" dirty="0">
                <a:solidFill>
                  <a:srgbClr val="1B3558"/>
                </a:solidFill>
                <a:latin typeface="Calibri" pitchFamily="34" charset="0"/>
                <a:ea typeface="Calibri" pitchFamily="34" charset="-122"/>
                <a:cs typeface="Calibri" pitchFamily="34" charset="-120"/>
              </a:rPr>
              <a:t>Find the mistake</a:t>
            </a:r>
            <a:endParaRPr lang="en-US" sz="1450" dirty="0"/>
          </a:p>
        </p:txBody>
      </p:sp>
      <p:sp>
        <p:nvSpPr>
          <p:cNvPr id="22" name="Text 20"/>
          <p:cNvSpPr txBox="1"/>
          <p:nvPr/>
        </p:nvSpPr>
        <p:spPr>
          <a:xfrm>
            <a:off x="1316736" y="3044952"/>
            <a:ext cx="7863840" cy="292608"/>
          </a:xfrm>
          <a:prstGeom prst="rect">
            <a:avLst/>
          </a:prstGeom>
          <a:noFill/>
          <a:ln/>
        </p:spPr>
        <p:txBody>
          <a:bodyPr wrap="square" lIns="0" tIns="0" rIns="0" bIns="0" rtlCol="0" anchor="ctr"/>
          <a:lstStyle/>
          <a:p>
            <a:pPr indent="0" marL="0">
              <a:buNone/>
            </a:pPr>
            <a:r>
              <a:rPr lang="en-US" sz="1250" dirty="0">
                <a:solidFill>
                  <a:srgbClr val="33415A"/>
                </a:solidFill>
                <a:latin typeface="Calibri" pitchFamily="34" charset="0"/>
                <a:ea typeface="Calibri" pitchFamily="34" charset="-122"/>
                <a:cs typeface="Calibri" pitchFamily="34" charset="-120"/>
              </a:rPr>
              <a:t>Four programs: wrong shape, bad extrapolation, leaked split</a:t>
            </a:r>
            <a:endParaRPr lang="en-US" sz="1250" dirty="0"/>
          </a:p>
        </p:txBody>
      </p:sp>
      <p:sp>
        <p:nvSpPr>
          <p:cNvPr id="23" name="Text 21"/>
          <p:cNvSpPr txBox="1"/>
          <p:nvPr/>
        </p:nvSpPr>
        <p:spPr>
          <a:xfrm>
            <a:off x="9601200" y="2825496"/>
            <a:ext cx="1828800" cy="402336"/>
          </a:xfrm>
          <a:prstGeom prst="rect">
            <a:avLst/>
          </a:prstGeom>
          <a:noFill/>
          <a:ln/>
        </p:spPr>
        <p:txBody>
          <a:bodyPr wrap="square" lIns="0" tIns="0" rIns="0" bIns="0" rtlCol="0" anchor="ctr"/>
          <a:lstStyle/>
          <a:p>
            <a:pPr algn="r" indent="0" marL="0">
              <a:buNone/>
            </a:pPr>
            <a:r>
              <a:rPr lang="en-US" sz="1250" b="1" dirty="0">
                <a:solidFill>
                  <a:srgbClr val="F0A530"/>
                </a:solidFill>
                <a:latin typeface="Calibri" pitchFamily="34" charset="0"/>
                <a:ea typeface="Calibri" pitchFamily="34" charset="-122"/>
                <a:cs typeface="Calibri" pitchFamily="34" charset="-120"/>
              </a:rPr>
              <a:t>4 questions</a:t>
            </a:r>
            <a:endParaRPr lang="en-US" sz="1250" dirty="0"/>
          </a:p>
        </p:txBody>
      </p:sp>
      <p:sp>
        <p:nvSpPr>
          <p:cNvPr id="24" name="Shape 22"/>
          <p:cNvSpPr/>
          <p:nvPr/>
        </p:nvSpPr>
        <p:spPr>
          <a:xfrm>
            <a:off x="566928" y="3520440"/>
            <a:ext cx="11064240" cy="749808"/>
          </a:xfrm>
          <a:prstGeom prst="roundRect">
            <a:avLst>
              <a:gd name="adj" fmla="val 12195"/>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25" name="Shape 23"/>
          <p:cNvSpPr/>
          <p:nvPr/>
        </p:nvSpPr>
        <p:spPr>
          <a:xfrm>
            <a:off x="749808" y="3694176"/>
            <a:ext cx="402336" cy="402336"/>
          </a:xfrm>
          <a:prstGeom prst="ellipse">
            <a:avLst/>
          </a:prstGeom>
          <a:solidFill>
            <a:srgbClr val="1F9E86"/>
          </a:solidFill>
          <a:ln w="12700">
            <a:solidFill>
              <a:srgbClr val="333333"/>
            </a:solidFill>
            <a:prstDash val="solid"/>
          </a:ln>
        </p:spPr>
      </p:sp>
      <p:sp>
        <p:nvSpPr>
          <p:cNvPr id="26" name="Text 24"/>
          <p:cNvSpPr txBox="1"/>
          <p:nvPr/>
        </p:nvSpPr>
        <p:spPr>
          <a:xfrm>
            <a:off x="749808" y="3694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7" name="Text 25"/>
          <p:cNvSpPr txBox="1"/>
          <p:nvPr/>
        </p:nvSpPr>
        <p:spPr>
          <a:xfrm>
            <a:off x="1316736" y="3593592"/>
            <a:ext cx="2651760" cy="301752"/>
          </a:xfrm>
          <a:prstGeom prst="rect">
            <a:avLst/>
          </a:prstGeom>
          <a:noFill/>
          <a:ln/>
        </p:spPr>
        <p:txBody>
          <a:bodyPr wrap="square" lIns="0" tIns="0" rIns="0" bIns="0" rtlCol="0" anchor="ctr"/>
          <a:lstStyle/>
          <a:p>
            <a:pPr indent="0" marL="0">
              <a:buNone/>
            </a:pPr>
            <a:r>
              <a:rPr lang="en-US" sz="1450" b="1" dirty="0">
                <a:solidFill>
                  <a:srgbClr val="1B3558"/>
                </a:solidFill>
                <a:latin typeface="Calibri" pitchFamily="34" charset="0"/>
                <a:ea typeface="Calibri" pitchFamily="34" charset="-122"/>
                <a:cs typeface="Calibri" pitchFamily="34" charset="-120"/>
              </a:rPr>
              <a:t>Write the code</a:t>
            </a:r>
            <a:endParaRPr lang="en-US" sz="1450" dirty="0"/>
          </a:p>
        </p:txBody>
      </p:sp>
      <p:sp>
        <p:nvSpPr>
          <p:cNvPr id="28" name="Text 26"/>
          <p:cNvSpPr txBox="1"/>
          <p:nvPr/>
        </p:nvSpPr>
        <p:spPr>
          <a:xfrm>
            <a:off x="1316736" y="3913632"/>
            <a:ext cx="7863840" cy="292608"/>
          </a:xfrm>
          <a:prstGeom prst="rect">
            <a:avLst/>
          </a:prstGeom>
          <a:noFill/>
          <a:ln/>
        </p:spPr>
        <p:txBody>
          <a:bodyPr wrap="square" lIns="0" tIns="0" rIns="0" bIns="0" rtlCol="0" anchor="ctr"/>
          <a:lstStyle/>
          <a:p>
            <a:pPr indent="0" marL="0">
              <a:buNone/>
            </a:pPr>
            <a:r>
              <a:rPr lang="en-US" sz="1250" dirty="0">
                <a:solidFill>
                  <a:srgbClr val="33415A"/>
                </a:solidFill>
                <a:latin typeface="Calibri" pitchFamily="34" charset="0"/>
                <a:ea typeface="Calibri" pitchFamily="34" charset="-122"/>
                <a:cs typeface="Calibri" pitchFamily="34" charset="-120"/>
              </a:rPr>
              <a:t>Fit, read, score and diagnose a line on real data</a:t>
            </a:r>
            <a:endParaRPr lang="en-US" sz="1250" dirty="0"/>
          </a:p>
        </p:txBody>
      </p:sp>
      <p:sp>
        <p:nvSpPr>
          <p:cNvPr id="29" name="Text 27"/>
          <p:cNvSpPr txBox="1"/>
          <p:nvPr/>
        </p:nvSpPr>
        <p:spPr>
          <a:xfrm>
            <a:off x="9601200" y="3694176"/>
            <a:ext cx="1828800" cy="402336"/>
          </a:xfrm>
          <a:prstGeom prst="rect">
            <a:avLst/>
          </a:prstGeom>
          <a:noFill/>
          <a:ln/>
        </p:spPr>
        <p:txBody>
          <a:bodyPr wrap="square" lIns="0" tIns="0" rIns="0" bIns="0" rtlCol="0" anchor="ctr"/>
          <a:lstStyle/>
          <a:p>
            <a:pPr algn="r" indent="0" marL="0">
              <a:buNone/>
            </a:pPr>
            <a:r>
              <a:rPr lang="en-US" sz="1250" b="1" dirty="0">
                <a:solidFill>
                  <a:srgbClr val="1F9E86"/>
                </a:solidFill>
                <a:latin typeface="Calibri" pitchFamily="34" charset="0"/>
                <a:ea typeface="Calibri" pitchFamily="34" charset="-122"/>
                <a:cs typeface="Calibri" pitchFamily="34" charset="-120"/>
              </a:rPr>
              <a:t>5 tasks</a:t>
            </a:r>
            <a:endParaRPr lang="en-US" sz="1250" dirty="0"/>
          </a:p>
        </p:txBody>
      </p:sp>
      <p:sp>
        <p:nvSpPr>
          <p:cNvPr id="30" name="Shape 28"/>
          <p:cNvSpPr/>
          <p:nvPr/>
        </p:nvSpPr>
        <p:spPr>
          <a:xfrm>
            <a:off x="566928" y="4389120"/>
            <a:ext cx="11064240" cy="749808"/>
          </a:xfrm>
          <a:prstGeom prst="roundRect">
            <a:avLst>
              <a:gd name="adj" fmla="val 12195"/>
            </a:avLst>
          </a:prstGeom>
          <a:solidFill>
            <a:srgbClr val="FFFFFF"/>
          </a:solidFill>
          <a:ln w="12700">
            <a:solidFill>
              <a:srgbClr val="E2E8F2"/>
            </a:solidFill>
            <a:prstDash val="solid"/>
          </a:ln>
          <a:effectLst>
            <a:outerShdw sx="100000" sy="100000" kx="0" ky="0" algn="bl" rotWithShape="0" blurRad="152400" dist="25400" dir="5400000">
              <a:srgbClr val="A9B6C9">
                <a:alpha val="25000"/>
              </a:srgbClr>
            </a:outerShdw>
          </a:effectLst>
        </p:spPr>
      </p:sp>
      <p:sp>
        <p:nvSpPr>
          <p:cNvPr id="31" name="Shape 29"/>
          <p:cNvSpPr/>
          <p:nvPr/>
        </p:nvSpPr>
        <p:spPr>
          <a:xfrm>
            <a:off x="749808" y="4562856"/>
            <a:ext cx="402336" cy="402336"/>
          </a:xfrm>
          <a:prstGeom prst="ellipse">
            <a:avLst/>
          </a:prstGeom>
          <a:solidFill>
            <a:srgbClr val="E05C45"/>
          </a:solidFill>
          <a:ln w="12700">
            <a:solidFill>
              <a:srgbClr val="333333"/>
            </a:solidFill>
            <a:prstDash val="solid"/>
          </a:ln>
        </p:spPr>
      </p:sp>
      <p:sp>
        <p:nvSpPr>
          <p:cNvPr id="32" name="Text 30"/>
          <p:cNvSpPr txBox="1"/>
          <p:nvPr/>
        </p:nvSpPr>
        <p:spPr>
          <a:xfrm>
            <a:off x="749808" y="4562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33" name="Text 31"/>
          <p:cNvSpPr txBox="1"/>
          <p:nvPr/>
        </p:nvSpPr>
        <p:spPr>
          <a:xfrm>
            <a:off x="1316736" y="4462272"/>
            <a:ext cx="2651760" cy="301752"/>
          </a:xfrm>
          <a:prstGeom prst="rect">
            <a:avLst/>
          </a:prstGeom>
          <a:noFill/>
          <a:ln/>
        </p:spPr>
        <p:txBody>
          <a:bodyPr wrap="square" lIns="0" tIns="0" rIns="0" bIns="0" rtlCol="0" anchor="ctr"/>
          <a:lstStyle/>
          <a:p>
            <a:pPr indent="0" marL="0">
              <a:buNone/>
            </a:pPr>
            <a:r>
              <a:rPr lang="en-US" sz="1450" b="1" dirty="0">
                <a:solidFill>
                  <a:srgbClr val="1B3558"/>
                </a:solidFill>
                <a:latin typeface="Calibri" pitchFamily="34" charset="0"/>
                <a:ea typeface="Calibri" pitchFamily="34" charset="-122"/>
                <a:cs typeface="Calibri" pitchFamily="34" charset="-120"/>
              </a:rPr>
              <a:t>Challenge</a:t>
            </a:r>
            <a:endParaRPr lang="en-US" sz="1450" dirty="0"/>
          </a:p>
        </p:txBody>
      </p:sp>
      <p:sp>
        <p:nvSpPr>
          <p:cNvPr id="34" name="Text 32"/>
          <p:cNvSpPr txBox="1"/>
          <p:nvPr/>
        </p:nvSpPr>
        <p:spPr>
          <a:xfrm>
            <a:off x="1316736" y="4782312"/>
            <a:ext cx="7863840" cy="292608"/>
          </a:xfrm>
          <a:prstGeom prst="rect">
            <a:avLst/>
          </a:prstGeom>
          <a:noFill/>
          <a:ln/>
        </p:spPr>
        <p:txBody>
          <a:bodyPr wrap="square" lIns="0" tIns="0" rIns="0" bIns="0" rtlCol="0" anchor="ctr"/>
          <a:lstStyle/>
          <a:p>
            <a:pPr indent="0" marL="0">
              <a:buNone/>
            </a:pPr>
            <a:r>
              <a:rPr lang="en-US" sz="1250" dirty="0">
                <a:solidFill>
                  <a:srgbClr val="33415A"/>
                </a:solidFill>
                <a:latin typeface="Calibri" pitchFamily="34" charset="0"/>
                <a:ea typeface="Calibri" pitchFamily="34" charset="-122"/>
                <a:cs typeface="Calibri" pitchFamily="34" charset="-120"/>
              </a:rPr>
              <a:t>Build least squares from scratch, then catch a line that lies</a:t>
            </a:r>
            <a:endParaRPr lang="en-US" sz="1250" dirty="0"/>
          </a:p>
        </p:txBody>
      </p:sp>
      <p:sp>
        <p:nvSpPr>
          <p:cNvPr id="35" name="Text 33"/>
          <p:cNvSpPr txBox="1"/>
          <p:nvPr/>
        </p:nvSpPr>
        <p:spPr>
          <a:xfrm>
            <a:off x="9601200" y="4562856"/>
            <a:ext cx="1828800" cy="402336"/>
          </a:xfrm>
          <a:prstGeom prst="rect">
            <a:avLst/>
          </a:prstGeom>
          <a:noFill/>
          <a:ln/>
        </p:spPr>
        <p:txBody>
          <a:bodyPr wrap="square" lIns="0" tIns="0" rIns="0" bIns="0" rtlCol="0" anchor="ctr"/>
          <a:lstStyle/>
          <a:p>
            <a:pPr algn="r" indent="0" marL="0">
              <a:buNone/>
            </a:pPr>
            <a:r>
              <a:rPr lang="en-US" sz="1250" b="1" dirty="0">
                <a:solidFill>
                  <a:srgbClr val="E05C45"/>
                </a:solidFill>
                <a:latin typeface="Calibri" pitchFamily="34" charset="0"/>
                <a:ea typeface="Calibri" pitchFamily="34" charset="-122"/>
                <a:cs typeface="Calibri" pitchFamily="34" charset="-120"/>
              </a:rPr>
              <a:t>2 tasks</a:t>
            </a:r>
            <a:endParaRPr lang="en-US" sz="1250" dirty="0"/>
          </a:p>
        </p:txBody>
      </p:sp>
      <p:sp>
        <p:nvSpPr>
          <p:cNvPr id="36" name="Shape 34"/>
          <p:cNvSpPr/>
          <p:nvPr/>
        </p:nvSpPr>
        <p:spPr>
          <a:xfrm>
            <a:off x="566928" y="5394960"/>
            <a:ext cx="11064240" cy="731520"/>
          </a:xfrm>
          <a:prstGeom prst="roundRect">
            <a:avLst>
              <a:gd name="adj" fmla="val 12500"/>
            </a:avLst>
          </a:prstGeom>
          <a:solidFill>
            <a:srgbClr val="FCEBE7"/>
          </a:solidFill>
          <a:ln w="17780">
            <a:solidFill>
              <a:srgbClr val="E05C45"/>
            </a:solidFill>
            <a:prstDash val="solid"/>
          </a:ln>
        </p:spPr>
      </p:sp>
      <p:sp>
        <p:nvSpPr>
          <p:cNvPr id="37" name="Shape 35"/>
          <p:cNvSpPr/>
          <p:nvPr/>
        </p:nvSpPr>
        <p:spPr>
          <a:xfrm>
            <a:off x="566928" y="5394960"/>
            <a:ext cx="82296" cy="731520"/>
          </a:xfrm>
          <a:prstGeom prst="roundRect">
            <a:avLst>
              <a:gd name="adj" fmla="val 44444"/>
            </a:avLst>
          </a:prstGeom>
          <a:solidFill>
            <a:srgbClr val="E05C45"/>
          </a:solidFill>
          <a:ln w="12700">
            <a:solidFill>
              <a:srgbClr val="333333"/>
            </a:solidFill>
            <a:prstDash val="solid"/>
          </a:ln>
        </p:spPr>
      </p:sp>
      <p:sp>
        <p:nvSpPr>
          <p:cNvPr id="38" name="Text 36"/>
          <p:cNvSpPr txBox="1"/>
          <p:nvPr/>
        </p:nvSpPr>
        <p:spPr>
          <a:xfrm>
            <a:off x="868680" y="5468112"/>
            <a:ext cx="10607040" cy="585216"/>
          </a:xfrm>
          <a:prstGeom prst="rect">
            <a:avLst/>
          </a:prstGeom>
          <a:noFill/>
          <a:ln/>
        </p:spPr>
        <p:txBody>
          <a:bodyPr wrap="square" lIns="0" tIns="0" rIns="0" bIns="0" rtlCol="0" anchor="ctr"/>
          <a:lstStyle/>
          <a:p>
            <a:pPr indent="0" marL="0">
              <a:lnSpc>
                <a:spcPct val="115000"/>
              </a:lnSpc>
              <a:buNone/>
            </a:pPr>
            <a:r>
              <a:rPr lang="en-US" sz="1450" dirty="0">
                <a:solidFill>
                  <a:srgbClr val="33415A"/>
                </a:solidFill>
                <a:latin typeface="Calibri" pitchFamily="34" charset="0"/>
                <a:ea typeface="Calibri" pitchFamily="34" charset="-122"/>
                <a:cs typeface="Calibri" pitchFamily="34" charset="-120"/>
              </a:rPr>
              <a:t>Part D hands you a model with an R² of 0.93 and asks you to prove that its headline claim is worthless.</a:t>
            </a:r>
            <a:endParaRPr lang="en-US" sz="14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31F33"/>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1F9E86"/>
          </a:solidFill>
          <a:ln w="12700">
            <a:solidFill>
              <a:srgbClr val="333333"/>
            </a:solidFill>
            <a:prstDash val="solid"/>
          </a:ln>
        </p:spPr>
      </p:sp>
      <p:sp>
        <p:nvSpPr>
          <p:cNvPr id="3" name="Shape 1"/>
          <p:cNvSpPr/>
          <p:nvPr/>
        </p:nvSpPr>
        <p:spPr>
          <a:xfrm>
            <a:off x="9326880" y="-2011680"/>
            <a:ext cx="4937760" cy="4937760"/>
          </a:xfrm>
          <a:prstGeom prst="ellipse">
            <a:avLst/>
          </a:prstGeom>
          <a:solidFill>
            <a:srgbClr val="1A2A44"/>
          </a:solidFill>
          <a:ln w="12700">
            <a:solidFill>
              <a:srgbClr val="333333"/>
            </a:solidFill>
            <a:prstDash val="solid"/>
          </a:ln>
        </p:spPr>
      </p:sp>
      <p:sp>
        <p:nvSpPr>
          <p:cNvPr id="4" name="Text 2"/>
          <p:cNvSpPr txBox="1"/>
          <p:nvPr/>
        </p:nvSpPr>
        <p:spPr>
          <a:xfrm>
            <a:off x="1005840" y="2148840"/>
            <a:ext cx="9692640" cy="731520"/>
          </a:xfrm>
          <a:prstGeom prst="rect">
            <a:avLst/>
          </a:prstGeom>
          <a:noFill/>
          <a:ln/>
        </p:spPr>
        <p:txBody>
          <a:bodyPr wrap="square" lIns="0" tIns="0" rIns="0" bIns="0" rtlCol="0" anchor="ctr"/>
          <a:lstStyle/>
          <a:p>
            <a:pPr indent="0" marL="0">
              <a:buNone/>
            </a:pPr>
            <a:r>
              <a:rPr lang="en-US" sz="3400" b="1" dirty="0">
                <a:solidFill>
                  <a:srgbClr val="FFFFFF"/>
                </a:solidFill>
                <a:latin typeface="Consolas" pitchFamily="34" charset="0"/>
                <a:ea typeface="Consolas" pitchFamily="34" charset="-122"/>
                <a:cs typeface="Consolas" pitchFamily="34" charset="-120"/>
              </a:rPr>
              <a:t>mark  =  8 × hours  +  26</a:t>
            </a:r>
            <a:endParaRPr lang="en-US" sz="3400" dirty="0"/>
          </a:p>
        </p:txBody>
      </p:sp>
      <p:sp>
        <p:nvSpPr>
          <p:cNvPr id="5" name="Text 3"/>
          <p:cNvSpPr txBox="1"/>
          <p:nvPr/>
        </p:nvSpPr>
        <p:spPr>
          <a:xfrm>
            <a:off x="1024128" y="3108960"/>
            <a:ext cx="8778240" cy="822960"/>
          </a:xfrm>
          <a:prstGeom prst="rect">
            <a:avLst/>
          </a:prstGeom>
          <a:noFill/>
          <a:ln/>
        </p:spPr>
        <p:txBody>
          <a:bodyPr wrap="square" lIns="0" tIns="0" rIns="0" bIns="0" rtlCol="0" anchor="ctr"/>
          <a:lstStyle/>
          <a:p>
            <a:pPr indent="0" marL="0">
              <a:lnSpc>
                <a:spcPct val="125000"/>
              </a:lnSpc>
              <a:buNone/>
            </a:pPr>
            <a:r>
              <a:rPr lang="en-US" sz="1600" dirty="0">
                <a:solidFill>
                  <a:srgbClr val="AEC0D8"/>
                </a:solidFill>
                <a:latin typeface="Calibri" pitchFamily="34" charset="0"/>
                <a:ea typeface="Calibri" pitchFamily="34" charset="-122"/>
                <a:cs typeface="Calibri" pitchFamily="34" charset="-120"/>
              </a:rPr>
              <a:t>Two numbers, found by hand, confirmed by the computer. Every model you meet for the rest of this course is a bigger version of exactly this.</a:t>
            </a:r>
            <a:endParaRPr lang="en-US" sz="1600" dirty="0"/>
          </a:p>
        </p:txBody>
      </p:sp>
      <p:sp>
        <p:nvSpPr>
          <p:cNvPr id="6" name="Text 4"/>
          <p:cNvSpPr txBox="1"/>
          <p:nvPr/>
        </p:nvSpPr>
        <p:spPr>
          <a:xfrm>
            <a:off x="1024128" y="4297680"/>
            <a:ext cx="5486400" cy="274320"/>
          </a:xfrm>
          <a:prstGeom prst="rect">
            <a:avLst/>
          </a:prstGeom>
          <a:noFill/>
          <a:ln/>
        </p:spPr>
        <p:txBody>
          <a:bodyPr wrap="square" lIns="0" tIns="0" rIns="0" bIns="0" rtlCol="0" anchor="ctr"/>
          <a:lstStyle/>
          <a:p>
            <a:pPr indent="0" marL="0">
              <a:buNone/>
            </a:pPr>
            <a:r>
              <a:rPr lang="en-US" sz="1150" b="1" spc="220" kern="0" dirty="0">
                <a:solidFill>
                  <a:srgbClr val="1F9E86"/>
                </a:solidFill>
                <a:latin typeface="Calibri" pitchFamily="34" charset="0"/>
                <a:ea typeface="Calibri" pitchFamily="34" charset="-122"/>
                <a:cs typeface="Calibri" pitchFamily="34" charset="-120"/>
              </a:rPr>
              <a:t>NEXT  ·  DAY 34</a:t>
            </a:r>
            <a:endParaRPr lang="en-US" sz="1150" dirty="0"/>
          </a:p>
        </p:txBody>
      </p:sp>
      <p:sp>
        <p:nvSpPr>
          <p:cNvPr id="7" name="Text 5"/>
          <p:cNvSpPr txBox="1"/>
          <p:nvPr/>
        </p:nvSpPr>
        <p:spPr>
          <a:xfrm>
            <a:off x="1024128" y="4590288"/>
            <a:ext cx="8595360" cy="548640"/>
          </a:xfrm>
          <a:prstGeom prst="rect">
            <a:avLst/>
          </a:prstGeom>
          <a:noFill/>
          <a:ln/>
        </p:spPr>
        <p:txBody>
          <a:bodyPr wrap="square" lIns="0" tIns="0" rIns="0" bIns="0" rtlCol="0" anchor="ctr"/>
          <a:lstStyle/>
          <a:p>
            <a:pPr indent="0" marL="0">
              <a:buNone/>
            </a:pPr>
            <a:r>
              <a:rPr lang="en-US" sz="1500" dirty="0">
                <a:solidFill>
                  <a:srgbClr val="DCE6F2"/>
                </a:solidFill>
                <a:latin typeface="Calibri" pitchFamily="34" charset="0"/>
                <a:ea typeface="Calibri" pitchFamily="34" charset="-122"/>
                <a:cs typeface="Calibri" pitchFamily="34" charset="-120"/>
              </a:rPr>
              <a:t>Multiple linear regression — what happens when you have more than one input column.</a:t>
            </a:r>
            <a:endParaRPr lang="en-US" sz="1500" dirty="0"/>
          </a:p>
        </p:txBody>
      </p:sp>
      <p:sp>
        <p:nvSpPr>
          <p:cNvPr id="8" name="Text 6"/>
          <p:cNvSpPr txBox="1"/>
          <p:nvPr/>
        </p:nvSpPr>
        <p:spPr>
          <a:xfrm>
            <a:off x="1024128" y="5852160"/>
            <a:ext cx="82296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Slides &amp; notebooks by  </a:t>
            </a:r>
            <a:pPr indent="0" marL="0">
              <a:buNone/>
            </a:pPr>
            <a:r>
              <a:rPr lang="en-US" sz="1300" b="1" dirty="0">
                <a:solidFill>
                  <a:srgbClr val="1F9E86"/>
                </a:solidFill>
                <a:latin typeface="Calibri" pitchFamily="34" charset="0"/>
                <a:ea typeface="Calibri" pitchFamily="34" charset="-122"/>
                <a:cs typeface="Calibri" pitchFamily="34" charset="-120"/>
              </a:rPr>
              <a:t>Srinivasa Sai Chava</a:t>
            </a:r>
            <a:pPr indent="0" marL="0">
              <a:buNone/>
            </a:pPr>
            <a:r>
              <a:rPr lang="en-US" sz="1300" dirty="0">
                <a:solidFill>
                  <a:srgbClr val="8FA6C4"/>
                </a:solidFill>
                <a:latin typeface="Calibri" pitchFamily="34" charset="0"/>
                <a:ea typeface="Calibri" pitchFamily="34" charset="-122"/>
                <a:cs typeface="Calibri" pitchFamily="34" charset="-120"/>
              </a:rPr>
              <a:t>   ·   Boston University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33 - Drawing the Best Line</dc:title>
  <dc:subject>PptxGenJS Presentation</dc:subject>
  <dc:creator>Data Science Program</dc:creator>
  <cp:lastModifiedBy>Data Science Program</cp:lastModifiedBy>
  <cp:revision>1</cp:revision>
  <dcterms:created xsi:type="dcterms:W3CDTF">2026-10-29T03:25:05Z</dcterms:created>
  <dcterms:modified xsi:type="dcterms:W3CDTF">2026-10-29T03:25:05Z</dcterms:modified>
</cp:coreProperties>
</file>