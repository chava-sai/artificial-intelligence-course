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Intro is done - today we start the actual language. Everything in the next four months sits on top of these three ideas: names, types, operators. Set expectations: 90 min teaching, then 30 min on the practice notebook which I will share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them the whole arc so they understand why Day 1 matters. The boolean-mask line is the one that lands - tell them the df[df.age &gt; 30] they will write in week 4 IS today's comparison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the 90/30 split so nobody is surprised when I stop talking at the 90 minute mark. Tell them the questions notebook is shared now, solutions after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error-reading line slowly. It is the single highest-leverage habit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too if you can. The box metaphor from C/Java is what causes confusion later with mutable objects and aliasing - kill it now. Point at the arrow: assignment moves the arrow, it never changes the object at the end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cost side to real data work: a single stray string in a numeric CSV column makes the whole pandas column dtype=object, and every mean() you try afterwards fails. That is this slide, three weeks from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keyword list live. Then type 'class = 5' in a cell and let them watch the colour change before it even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swap is the crowd-pleaser. Ask them how they would do it in another language (three lines with a temp) then show this. Mention tuple unpacking is coming back in Topic 1.4.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short - it is a map, not the territory. The next four slides do the detail. Ask them to guess the type of 2.0 before you move on (float, not int).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0.1+0.2 live. The room always reacts. Then immediately give the fix so they do not leave thinking Python is broken. This exact bug appears in their model-evaluation code in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box is the setup for the input() trap two slides later. Say out loud: plus on strings glues, plus on numbers adds - Python decides by TYPE, and that is why type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the room on bool('False') before revealing. Roughly half say False. This is question A2 in the practice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arrows left to right and back. Emphasise that str-&gt;int is the only edge with a landmine, which is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one live with a real input box. Type 25, show type() says str, watch the TypeError, then fix it. It is question B1 in the practice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list-indexing consequence at the bottom is worth 30 seconds - it is the reason // exists and the reason they will use it in loops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60/60/60/17 blocks make // and % click for people who found the definitions abstract. Negatives are a genuine gotcha - mention it, do not dwell.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2**3**2 by show of hands before revealing. Most say 64. Right-associativity is the point. Do not make them memorise the pyramid - make them use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Chained comparison is genuinely delightful - sell it. And the Apple/apple line explains a sorting bug they will hit when they sort a name column in 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Short-circuiting is the practical payoff of this slide. The n != 0 guard pattern is one they will copy for the rest of their careers.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a/b/c list demo is worth running live: append to c, show a changed. That is aliasing, and it previews the mutability discussion in Topic 1.4.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photograph. Tell them so - it gives permission to stop scribbling and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questions notebook link now. Circulate. Do not solve for them - ask 'what does the error say?' every single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time. Read the twelve lines aloud quickly - it is a spaced-repetition pass. Confirm homework and remind them the solutions notebook lands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Data Types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Operators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—  where every Python program begins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1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today sits in the 4-month journey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9933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8716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topics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85416" y="182880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85416" y="19933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CD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276856" y="248716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topics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22192" y="182880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22192" y="19933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CD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248716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topics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58968" y="182880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58968" y="19933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CD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550408" y="248716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50408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topics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95744" y="182880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095744" y="19933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CD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248716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topics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32520" y="182880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732520" y="19933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CD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248716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topics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369296" y="182880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369296" y="199339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3CD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10460736" y="2487168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460736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767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2960" y="45537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is not optional background — it is the language every later module is written in.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90118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built on Python data types. A NumPy boolean mask is the comparison operator you learn today, applied to a million rows at once. A model's hyperparameters are floats you will cast, compare and tune. Nothing here is throwaway.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binding, rules, conventions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· float · str · bool · None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type(), casting, the input() trap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logical, identity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using all of it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notebooks go with this session:  teaching notebook  ·  practice questions  ·  practice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&amp; name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variables and name them the way professional Python code does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types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int, float, str, bool and None apart — and check with type()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safely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between types and avoid the three traps that break beginner code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compare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every operator family, and predict precedence without running the code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habit to build today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 message. Every error in Python tells you the type, the line and usually the fix. Students who read errors learn twice as fast as students who re-run the cell hoping it changes.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is a label, not a box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binding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&amp; unpack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THE MENTAL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is a name bound to an object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09928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happen: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52928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creates the object 10 in memory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creates the name 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binds the name to the object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3931920" cy="123444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=  as “gets”, never as “equals”.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50840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gets 10.”  Equality is  ==  , which we meet in Section 4.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67208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5780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 MEMORY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228600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22860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0" y="2615184"/>
            <a:ext cx="1554480" cy="0"/>
          </a:xfrm>
          <a:prstGeom prst="line">
            <a:avLst/>
          </a:prstGeom>
          <a:noFill/>
          <a:ln w="28575">
            <a:solidFill>
              <a:srgbClr val="2FA9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0" y="228600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0" y="22860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378440" y="22860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0" y="33832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33832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949440" y="3712464"/>
            <a:ext cx="1554480" cy="0"/>
          </a:xfrm>
          <a:prstGeom prst="line">
            <a:avLst/>
          </a:prstGeom>
          <a:noFill/>
          <a:ln w="28575">
            <a:solidFill>
              <a:srgbClr val="3E7CB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95360" y="338328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0" y="33832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"Ravi"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0378440" y="33832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57800" y="44805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57800" y="44805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949440" y="4809744"/>
            <a:ext cx="1554480" cy="0"/>
          </a:xfrm>
          <a:prstGeom prst="line">
            <a:avLst/>
          </a:prstGeom>
          <a:noFill/>
          <a:ln w="28575">
            <a:solidFill>
              <a:srgbClr val="E8674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95360" y="448056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95360" y="44805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0378440" y="448056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5440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belongs to the object on the right — never to the name on the left.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REBINDING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is dynamically typed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declare a type. The value carries the type, so the same name can point at anything.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1305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languages (Java / 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4846320" cy="1280160"/>
          </a:xfrm>
          <a:prstGeom prst="roundRect">
            <a:avLst>
              <a:gd name="adj" fmla="val 5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596896"/>
            <a:ext cx="4517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x = 10;      // type locked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x = "hi";   // ERROR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is declared once and fixed.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1305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487168"/>
            <a:ext cx="4846320" cy="1280160"/>
          </a:xfrm>
          <a:prstGeom prst="roundRect">
            <a:avLst>
              <a:gd name="adj" fmla="val 5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56832" y="2596896"/>
            <a:ext cx="4517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           # x is an int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3.14         # now a float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"hello"      # now a str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True         # now a bool   -- all legal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370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less boilerplate to write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prototyping — ideal for analysis 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4370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— and it is real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4709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typo can silently change a column's type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surface at runtime, not before you run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IDENTIFIERS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Naming: the rules you must follow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926080"/>
                <a:gridCol w="256032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you 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start with a letter or 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  _temp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2nd_value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Letters, digits and _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total_marks_2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total-marks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student_name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 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a keyword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class_name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   for   if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and age are two different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35 reserved keywords. Never memorise them — just check: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5175504"/>
            <a:ext cx="5760720" cy="566928"/>
          </a:xfrm>
          <a:prstGeom prst="roundRect">
            <a:avLst>
              <a:gd name="adj" fmla="val 1129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87552" y="5285232"/>
            <a:ext cx="5431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keyword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print(keyword.kwlist)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49560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and every editor colour keywords differently. If your variable name changes colour as you type it, pick another name.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STYLE (PEP 8)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Conventions: the rules professionals follow anyway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665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functions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student_score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084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74C"/>
                </a:solidFill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studentScore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679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UPPER_CASE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026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715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MAX_ROWS = 1000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044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74C"/>
                </a:solidFill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maxrows = 1000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descriptive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you will thank you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675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df_sales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4005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74C"/>
                </a:solidFill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1645920"/>
            <a:ext cx="4937760" cy="2880360"/>
          </a:xfrm>
          <a:prstGeom prst="roundRect">
            <a:avLst>
              <a:gd name="adj" fmla="val 2857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49440" y="1810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shadow a built-in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2212848"/>
            <a:ext cx="4389120" cy="1417320"/>
          </a:xfrm>
          <a:prstGeom prst="roundRect">
            <a:avLst>
              <a:gd name="adj" fmla="val 451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14032" y="2322576"/>
            <a:ext cx="40599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100          # looks harmless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sum([1, 2, 3])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'int' object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 not callable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749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 list  str  sum  type  id  max  min  dict  input  print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assignment &amp; the one-line swap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5148072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" y="5257800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 = c = 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age, cgpa = "Ravi", 23, 8.4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5148072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91072" y="525780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 q = 5, 9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 q = q, p        # swapped, no temp var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· float · str · bool · None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 &amp; the float trap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f-strings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&amp; truthiness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None value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types everything else is built from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83664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8836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267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 -7   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 science: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row indices, class labels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1883664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18836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267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   -0.5   2.0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 science: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Measurements, probabilities, weights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758184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581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"Mumbai"   'A'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 science: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categories, column headers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758184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7581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False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 science: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masks, conditions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5650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one more:  </a:t>
            </a:r>
            <a:pPr indent="0" marL="0">
              <a:buNone/>
            </a:pPr>
            <a:r>
              <a:rPr lang="en-US" sz="135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NoneType value meaning “no value yet”. You will meet it constantly as a placeholder for missing data.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NUMBERS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 and float in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—  unlimited 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4846320" cy="1463040"/>
          </a:xfrm>
          <a:prstGeom prst="roundRect">
            <a:avLst>
              <a:gd name="adj" fmla="val 437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258568"/>
            <a:ext cx="45171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45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= 2 ** 200        # no overflow!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= 1_400_000_000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underscores are for humans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Python ignores them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 —  has a decimal point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4846320" cy="1463040"/>
          </a:xfrm>
          <a:prstGeom prst="roundRect">
            <a:avLst>
              <a:gd name="adj" fmla="val 437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2258568"/>
            <a:ext cx="45171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   = 3.14159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2.0      # float, NOT int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   = 1.5e3    # 1.5 x 10^3 = 1500.0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type(2)  -&gt; int    type(2.0) -&gt; float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187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floating-point trap — every data scientist hits this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457200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3272" y="4681728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0.30000000000000004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 == 0.3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572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45537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cannot store 0.1 exactly, just as decimal cannot store 1/3 exactly. Not a Python bug — it is IEEE-754, and it happens in every language.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5212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 </a:t>
            </a:r>
            <a:pPr indent="0" marL="0">
              <a:buNone/>
            </a:pPr>
            <a:r>
              <a:rPr lang="en-US" sz="12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pPr indent="0" marL="0"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then  </a:t>
            </a:r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math.isclose(a, b)</a:t>
            </a:r>
            <a:pPr indent="0" marL="0"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never compare floats with  ==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STRINGS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 — text, and the f-string you should always 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0078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sequences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06654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6654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16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27048" y="206654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27048" y="206654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2816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85416" y="206654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85416" y="206654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185416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85416" y="2816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43784" y="206654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43784" y="206654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843784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43784" y="2816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206654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02152" y="206654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502152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02152" y="2816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206654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EDF2F9"/>
          </a:solidFill>
          <a:ln w="12700">
            <a:solidFill>
              <a:srgbClr val="CBD8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60520" y="206654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26151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2816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30449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index  ·  negative index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8680" y="329184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3272" y="3401568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name[0]  -&gt; 'P'      name[-1] -&gt; 'N'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name[0:3] -&gt; 'PYT'   len(name) -&gt; 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1572768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492240" y="170078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methods you will use daily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492240" y="2066544"/>
            <a:ext cx="4846320" cy="1737360"/>
          </a:xfrm>
          <a:prstGeom prst="roundRect">
            <a:avLst>
              <a:gd name="adj" fmla="val 36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56832" y="2176272"/>
            <a:ext cx="45171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"   Ravi Kumar   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raw.strip()        # drop outer spaces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raw.upper()        # RAVI KUMAR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raw.replace("a","@")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raw.split()        # ['Ravi','Kumar']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"Ravi" in raw      # True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160520"/>
            <a:ext cx="6858000" cy="1783080"/>
          </a:xfrm>
          <a:prstGeom prst="roundRect">
            <a:avLst>
              <a:gd name="adj" fmla="val 4615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22960" y="4297680"/>
            <a:ext cx="6309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— use these everywhere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22960" y="4645152"/>
            <a:ext cx="630936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7552" y="4754880"/>
            <a:ext cx="5980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 scored {score:.2f}")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print(f"{score/100:.1%}")     # 92.5%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print(f"|{name:&gt;10}|")        # right-pad to 10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print(f"{a=}, {b=}")          # a=7, b=3  &lt;- debugging gold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680960" y="4160520"/>
            <a:ext cx="3931920" cy="1783080"/>
          </a:xfrm>
          <a:prstGeom prst="roundRect">
            <a:avLst>
              <a:gd name="adj" fmla="val 461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7936992" y="42976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 + number = TypeError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936992" y="4645152"/>
            <a:ext cx="342900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01584" y="4754880"/>
            <a:ext cx="30998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 + 5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TypeError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 + "5"  -&gt; '105'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"ab" * 3    -&gt; 'ababab'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TRUE / FALSE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 and truthiness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is a subclass of int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484632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212848"/>
            <a:ext cx="45171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behaves as 1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behaves as 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+ True + False   -&gt;  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73736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is genuinely useful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103120"/>
            <a:ext cx="484632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56832" y="2212848"/>
            <a:ext cx="45171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[45, 78, 33, 90, 62]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[m &gt;= 40 for m in marks]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sum(passed)   -&gt;  4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summing booleans = counting Trues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can be used as a condition. These are the falsy values — everything else is truthy.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6596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6596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8328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0060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3524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3524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5256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469880" y="40233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DECE8"/>
          </a:solidFill>
          <a:ln w="12700">
            <a:solidFill>
              <a:srgbClr val="F2C9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69880" y="40233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68680" y="51023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catches everybody: 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bool("False")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because it is a non-empty string. Python looks at whether the string has characters, not at what those characters say. Same for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types, casting, and three traps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vs isinstance()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coercion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input() trap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CASTING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and converting types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3736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type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617720" cy="1280160"/>
          </a:xfrm>
          <a:prstGeom prst="roundRect">
            <a:avLst>
              <a:gd name="adj" fmla="val 5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2885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type(3.14)                 # &lt;class 'float'&gt;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isinstance(3.14, float)    # True  &lt;- preferred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isinstance(x, (int, float))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^ 'is it numeric?' in one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572768"/>
            <a:ext cx="5669280" cy="1965960"/>
          </a:xfrm>
          <a:prstGeom prst="roundRect">
            <a:avLst>
              <a:gd name="adj" fmla="val 418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99632" y="173736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conversion — Python does it for you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9632" y="2103120"/>
            <a:ext cx="5166360" cy="1280160"/>
          </a:xfrm>
          <a:prstGeom prst="roundRect">
            <a:avLst>
              <a:gd name="adj" fmla="val 5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212848"/>
            <a:ext cx="48371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+ 2.0    -&gt;  7.0    (int upgraded to float)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+ 4.5 -&gt;  5.5    (bool -&gt; int -&gt; float)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widens to avoid losing precision.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886200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conversion (casting) — you do it yourself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4434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4498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"42"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64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4434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4498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864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35240" y="4434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4498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42.0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864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54680" y="4818888"/>
            <a:ext cx="1188720" cy="0"/>
          </a:xfrm>
          <a:prstGeom prst="line">
            <a:avLst/>
          </a:prstGeom>
          <a:noFill/>
          <a:ln w="25400">
            <a:solidFill>
              <a:srgbClr val="6B778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108960" y="4142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4818888"/>
            <a:ext cx="1188720" cy="0"/>
          </a:xfrm>
          <a:prstGeom prst="line">
            <a:avLst/>
          </a:prstGeom>
          <a:noFill/>
          <a:ln w="25400">
            <a:solidFill>
              <a:srgbClr val="6B778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309360" y="4142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49240" y="5212080"/>
            <a:ext cx="0" cy="256032"/>
          </a:xfrm>
          <a:prstGeom prst="line">
            <a:avLst/>
          </a:prstGeom>
          <a:noFill/>
          <a:ln w="25400">
            <a:solidFill>
              <a:srgbClr val="6B778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5212080"/>
            <a:ext cx="0" cy="256032"/>
          </a:xfrm>
          <a:prstGeom prst="line">
            <a:avLst/>
          </a:prstGeom>
          <a:noFill/>
          <a:ln w="25400">
            <a:solidFill>
              <a:srgbClr val="6B778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5468112"/>
            <a:ext cx="6400800" cy="0"/>
          </a:xfrm>
          <a:prstGeom prst="line">
            <a:avLst/>
          </a:prstGeom>
          <a:noFill/>
          <a:ln w="25400">
            <a:solidFill>
              <a:srgbClr val="6B7789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2148840" y="5212080"/>
            <a:ext cx="0" cy="256032"/>
          </a:xfrm>
          <a:prstGeom prst="line">
            <a:avLst/>
          </a:prstGeom>
          <a:noFill/>
          <a:ln w="25400">
            <a:solidFill>
              <a:srgbClr val="6B77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0" y="5513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str()  —  anything converts back to text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4480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bool() takes anything: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4800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bool("data")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bool("")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WHAT BREAKS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casting traps — and the input() trap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402336" cy="402336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7373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truncates,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round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450592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2560320"/>
            <a:ext cx="27340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int(9.99)    -&gt;  9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int(-9.99)   -&gt; -9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round(9.99)  -&gt; 10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round() when you mean rounding.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9392" y="1572768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783080"/>
            <a:ext cx="402336" cy="402336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799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7373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cannot parse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decimal string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07992" y="2450592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2560320"/>
            <a:ext cx="27340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int("3.5")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ValueError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int(float("3.5"))  -&gt; 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through float() first.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0144" y="1572768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8744" y="1783080"/>
            <a:ext cx="402336" cy="402336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38744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2" y="17373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strings raise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ValueError, not NaN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38744" y="2450592"/>
            <a:ext cx="306324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03336" y="2560320"/>
            <a:ext cx="27340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int("abc")   -&gt; ValueError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int("1,00,000") -&gt; ValueError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  100  ") -&gt; 100  (ok)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57032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risky casts in try / except.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68680" y="4507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input() ALWAYS returns a string — the number-one Day-1 bug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8680" y="4901184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3272" y="5010912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input("Age: ")      # you type 25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+ 1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TypeError: can only concatenate str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4901184"/>
            <a:ext cx="507492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8232" y="5010912"/>
            <a:ext cx="47457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int(input("Age: "))   # cast it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              # 26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decimals use float(input(...))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· comparison · logical · assignment · membership · identity  ·  30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arithmetic ops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and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comparison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/ not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vs ==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a = 17,  b =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48840"/>
                <a:gridCol w="2103120"/>
                <a:gridCol w="155448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+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strings it concatenates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-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*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string it repeats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/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returns a 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//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 DOWN, not toward zero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%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follows the divisor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**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Right-associative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5</a:t>
            </a:r>
            <a:pPr indent="0" marL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 </a:t>
            </a:r>
            <a:pPr indent="0" marL="0">
              <a:buNone/>
            </a:pPr>
            <a:r>
              <a:rPr lang="en-US" sz="135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 float)  ·  </a:t>
            </a:r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// 5</a:t>
            </a:r>
            <a:pPr indent="0" marL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 </a:t>
            </a:r>
            <a:pPr indent="0" marL="0">
              <a:buNone/>
            </a:pPr>
            <a:r>
              <a:rPr lang="en-US" sz="1350" b="1" dirty="0">
                <a:solidFill>
                  <a:srgbClr val="2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3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 int).  If you index a list with the first one, you get a TypeError.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THE USEFUL PAIR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// and % split a number into groups and leftovers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minutes  →  how many whole hours, and what is left?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08960" y="21945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49240" y="21945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219456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21945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063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 // 60  =  3  whole hours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3467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197 %  60  =  17  minutes left over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778240" y="219456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42832" y="2304288"/>
            <a:ext cx="2276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197 // 60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197 %  60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f"{h} hr {m} min"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'3 hr 17 min'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07822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use: divisibility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443984"/>
            <a:ext cx="484632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4553712"/>
            <a:ext cx="45171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% 2 == 0    -&gt;  n is even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% 2 == 1    -&gt;  n is odd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% 5 == 0    -&gt;  divisible by 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will use this in every loop.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92240" y="407822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Negatives behave differently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92240" y="4443984"/>
            <a:ext cx="484632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56832" y="4553712"/>
            <a:ext cx="45171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// 2  -&gt;  3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 // 2  -&gt; -4    (not -3!)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7 %  3  -&gt;  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-7 %  3  -&gt;  2    (sign follows divisor)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// floors toward -infinity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ORDER OF EVALUATION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precedence — who goes first?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402336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5727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779008" cy="402336"/>
          </a:xfrm>
          <a:prstGeom prst="roundRect">
            <a:avLst>
              <a:gd name="adj" fmla="val 13636"/>
            </a:avLst>
          </a:prstGeom>
          <a:solidFill>
            <a:srgbClr val="2450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057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05740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 (right-to-left)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5522976" cy="402336"/>
          </a:xfrm>
          <a:prstGeom prst="roundRect">
            <a:avLst>
              <a:gd name="adj" fmla="val 13636"/>
            </a:avLst>
          </a:prstGeom>
          <a:solidFill>
            <a:srgbClr val="2F5D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5420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+x  -x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542032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sign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5266944" cy="402336"/>
          </a:xfrm>
          <a:prstGeom prst="roundRect">
            <a:avLst>
              <a:gd name="adj" fmla="val 13636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026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/  //  %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302666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&amp; divide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5010912" cy="402336"/>
          </a:xfrm>
          <a:prstGeom prst="roundRect">
            <a:avLst>
              <a:gd name="adj" fmla="val 13636"/>
            </a:avLst>
          </a:prstGeom>
          <a:solidFill>
            <a:srgbClr val="5C93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51129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511296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subtract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95928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7FA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9959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&lt;=  &gt;  &gt;=  ==  !=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39959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4498848" cy="402336"/>
          </a:xfrm>
          <a:prstGeom prst="roundRect">
            <a:avLst>
              <a:gd name="adj" fmla="val 13636"/>
            </a:avLst>
          </a:prstGeom>
          <a:solidFill>
            <a:srgbClr val="9CBB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4805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448056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NOT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965192"/>
            <a:ext cx="4242816" cy="402336"/>
          </a:xfrm>
          <a:prstGeom prst="roundRect">
            <a:avLst>
              <a:gd name="adj" fmla="val 13636"/>
            </a:avLst>
          </a:prstGeom>
          <a:solidFill>
            <a:srgbClr val="B4CD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49651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154680" y="496519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449824"/>
            <a:ext cx="3986784" cy="402336"/>
          </a:xfrm>
          <a:prstGeom prst="roundRect">
            <a:avLst>
              <a:gd name="adj" fmla="val 13636"/>
            </a:avLst>
          </a:prstGeom>
          <a:solidFill>
            <a:srgbClr val="CBD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54498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5449824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967728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67728" y="5532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84848" y="1874520"/>
            <a:ext cx="0" cy="3657600"/>
          </a:xfrm>
          <a:prstGeom prst="line">
            <a:avLst/>
          </a:prstGeom>
          <a:noFill/>
          <a:ln w="25400">
            <a:solidFill>
              <a:srgbClr val="C3CDD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46720" y="1572768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275320" y="17190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these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8275320" y="2084832"/>
            <a:ext cx="3108960" cy="1828800"/>
          </a:xfrm>
          <a:prstGeom prst="roundRect">
            <a:avLst>
              <a:gd name="adj" fmla="val 35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39912" y="2194560"/>
            <a:ext cx="27797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* 4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14, not 20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** 3 ** 2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512, not 64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(= 2 ** (3 ** 2))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10 - 4 - 3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3  (left to right)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46720" y="434340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75320" y="449884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saves you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add parentheses. Nobody has ever been criticised in code review for making an expression too obvious.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RELATIONAL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 — these return a bool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463040"/>
                <a:gridCol w="9144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x=10, y=3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==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!=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&gt;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&lt;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or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&gt;= 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or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&lt;= 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600200"/>
            <a:ext cx="5029200" cy="1554480"/>
          </a:xfrm>
          <a:prstGeom prst="roundRect">
            <a:avLst>
              <a:gd name="adj" fmla="val 5294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0" y="1755648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=  vs  ==   —  the classic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0" y="2121408"/>
            <a:ext cx="4480560" cy="914400"/>
          </a:xfrm>
          <a:prstGeom prst="roundRect">
            <a:avLst>
              <a:gd name="adj" fmla="val 7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22592" y="2231136"/>
            <a:ext cx="4151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90     # ASSIGN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== 90    # COMPARE -&gt; True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= 90:  -&gt; SyntaxError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2560320"/>
          </a:xfrm>
          <a:prstGeom prst="roundRect">
            <a:avLst>
              <a:gd name="adj" fmla="val 321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58000" y="345643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comparison — a Python superpower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8039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languages force you to write the condition twice. Python lets you write it the way maths does.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0" y="4389120"/>
            <a:ext cx="4480560" cy="1325880"/>
          </a:xfrm>
          <a:prstGeom prst="roundRect">
            <a:avLst>
              <a:gd name="adj" fmla="val 48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22592" y="4498848"/>
            <a:ext cx="415137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other languages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&gt; 0 &amp;&amp; x &lt; 100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&lt;= marks &lt;= 100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&lt;= marks &lt; 80    # grade band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61772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04672" y="47731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compare too — alphabetically, by Unicode order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04672" y="5102352"/>
            <a:ext cx="5257800" cy="621792"/>
          </a:xfrm>
          <a:prstGeom prst="roundRect">
            <a:avLst>
              <a:gd name="adj" fmla="val 1029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9264" y="5212080"/>
            <a:ext cx="4928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 &lt; "banana"   -&gt;  True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 &lt; "apple"    -&gt;  True   (caps sort first)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and  /  or  /  not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 and short-circuiting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1206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084832"/>
          <a:ext cx="4617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1051560"/>
                <a:gridCol w="96012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and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67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A9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572768"/>
            <a:ext cx="566928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99632" y="17190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use: placement eligibility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9632" y="2084832"/>
            <a:ext cx="5166360" cy="2057400"/>
          </a:xfrm>
          <a:prstGeom prst="roundRect">
            <a:avLst>
              <a:gd name="adj" fmla="val 311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64224" y="2194560"/>
            <a:ext cx="483717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    = 82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    = 76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backlogs  = 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is_placed = False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eligible = (marks &gt;= 70)   and \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(attend &gt;= 75)  and \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(backlogs == 0) and \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(not is_placed)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eligible   -&gt;  True    # all four hold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47091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evaluation — and why it prevents crashes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029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stops at the first False.  or stops at the first True.  The rest is never evaluated.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4754880"/>
            <a:ext cx="448056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22592" y="4864608"/>
            <a:ext cx="4151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 != 0 and total / n &gt; 10: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^ when n is 0 the division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NEVER RUNS -&gt; no crash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– 4.7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Assignment, membership and identity operators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assignment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084832"/>
            <a:ext cx="3063240" cy="1572768"/>
          </a:xfrm>
          <a:prstGeom prst="roundRect">
            <a:avLst>
              <a:gd name="adj" fmla="val 407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" y="2194560"/>
            <a:ext cx="27340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+= 5    x = x + 5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-= 5    x = x - 5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*= 5    x = x *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/= 5    x = x /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//= 5    x = x //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%= 5    x = x % 5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**= 5    x = x ** 5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12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str and list too: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950208"/>
            <a:ext cx="3063240" cy="329184"/>
          </a:xfrm>
          <a:prstGeom prst="roundRect">
            <a:avLst>
              <a:gd name="adj" fmla="val 1944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4059936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+= " Science"     items += [3, 4]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572768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26280" y="17190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Membership:  in / not in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0665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this container hold this item?” Returns a bool.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2606040"/>
            <a:ext cx="3063240" cy="1572768"/>
          </a:xfrm>
          <a:prstGeom prst="roundRect">
            <a:avLst>
              <a:gd name="adj" fmla="val 407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90872" y="2715768"/>
            <a:ext cx="27340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subjects = ["Python",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"Statistics"]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 in subjects  -&gt; True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 not in subjects -&gt; True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"@" in email          -&gt; True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572768"/>
            <a:ext cx="3566160" cy="2788920"/>
          </a:xfrm>
          <a:prstGeom prst="roundRect">
            <a:avLst>
              <a:gd name="adj" fmla="val 2951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75320" y="17190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 is / is not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0665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VALUE?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same OBJECT in memory?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75320" y="2697480"/>
            <a:ext cx="3108960" cy="1481328"/>
          </a:xfrm>
          <a:prstGeom prst="roundRect">
            <a:avLst>
              <a:gd name="adj" fmla="val 432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9912" y="2807208"/>
            <a:ext cx="27797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[1,2,3]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[1,2,3]   # separate list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         # same object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 -&gt; True   a is b -&gt; False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is c -&gt; True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47731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use 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with 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 Use  ==  for everything else.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13892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caches small integers (-5 to 256), so 256 is 256 gives True but 257 is 257 often gives False. Same value, different objects. That is an implementation detail — never build logic on it.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the eight errors you will actually hit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84048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input() + 1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int(input())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int("3.5")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int(float("3.5"))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x = 5: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x == 5: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0.1+0.2 == 0.3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silently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math.isclose(a, b)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** 3 **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512, not 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 ** 3) **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 = [1,2]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destroyed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numbers = [1,2]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int(9.99)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— truncated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round(9.99)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is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for equal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==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50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in the practice notebook. If you can predict all eight without running the code, you have today's material.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 BEFORE running the cell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47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error type, then fix 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converter, BMI, eligibility checker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9959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sum with // and %, safe float comparison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020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Colab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alone first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look up answers for the first two minutes of being stuck. That two minutes is where the learning happens.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assigns.  ==  compares.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 bound to an object.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snake_case, no keywords, never shadow built-ins.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types: int, float, str, bool  —  plus None.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+ 0.2 != 0.3. Use math.isclose().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a str. Cast it.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int(9.99) is 9.  round(9.99) is 10.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int("3.5") is a ValueError — go via float().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gives float, // floors, % gives remainder.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is right-to-left:  2**3**2 == 512.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Falsy: 0, 0.0, "", [], {}, (), None, False.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compares identity, == compares value.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eligibility checker using input() with try/except  ·  Write a tip calculator (bill, tip %, people → per-person amount)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Conditionals:  if / elif / else, for and while loops, break, continue, pass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Variables, Data Types &amp; Operators</dc:title>
  <dc:subject>PptxGenJS Presentation</dc:subject>
  <dc:creator>Data Science Program</dc:creator>
  <cp:lastModifiedBy>Data Science Program</cp:lastModifiedBy>
  <cp:revision>1</cp:revision>
  <dcterms:created xsi:type="dcterms:W3CDTF">2026-09-02T10:13:35Z</dcterms:created>
  <dcterms:modified xsi:type="dcterms:W3CDTF">2026-09-02T10:13:35Z</dcterms:modified>
</cp:coreProperties>
</file>