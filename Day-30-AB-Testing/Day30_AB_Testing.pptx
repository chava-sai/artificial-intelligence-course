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30 closes Module 2. Everything from Day 23 onwards now gets used at once on a single real decision, which is what makes it the right 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whole module here: Days 23-29 built the tools, and today is the one session where they are all pointed at a single decision someone has to make on Monday.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continuity explicit. Students who felt Days 23-29 were disconnected should leave today seeing one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 before section 4 is deliberate. Sizing is a planning skill and it is where the real leverage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true effect here is +2.0. The randomised estimate of +2.4 is a third of a standard error from it; the observational estimate of +21 is wrong by a factor of ten. That contrast is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often think randomisation makes groups identical. It makes them identical in expectation. The whole of statistics is the correction for the difference between those two things.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pre-registration point matters more than any formula today. Nobody sets out to p-hack; they just make reasonable-sounding decisions after seeing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quadrupling comes from n scaling as 1/MDE-squared. Say it out loud - it is the single most useful piece of planning intuition in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Showing the hand version next to the library version is the point: students should be able to reproduce the number, then stop reproducing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80% power in the right panel is an independent check on the sample-size formula - 14,751 was computed for 80% and the simulation measured 80%.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 2 is the practical one. Teams do need to watch for disasters; the rule is that you may stop for harm, never for success.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SRM is the single highest-value automated check in an experimentation platform. At large tech companies it catches a meaningful fraction of all experiments.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daily-versus-cumulative distinction is the practical takeaway. Most experiment dashboards show only the cumulative line, which is exactly the one that hides novelty decay.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pooled/unpooled distinction is the kind of thing that never gets taught and then shows up as a reviewer comment. Two minutes here saves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 common myth here: people say heavy tails 'break' the t-test's error rate. Measured, it is conservative, not anti-conservative. The real cost is power, and that is a much bigger practical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common way a dead A/B test gets resurrected in a meeting. Students will meet it within a month of starting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have the same verdict and completely different information content. The interval is what separates them, and the p-value cannot.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Industry figures for the share of A/B tests that produce a shippable win are typically quoted around 10-30%. The exact number varies by company; the point is that killing ideas is the normal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true lift built into this simulation was +1.20pp and the test measured +1.54pp, comfortably inside its own interval. Worth saying out loud: even a clean, well-powered test lands a little off the truth, which is exactly what the interval is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paragraph aloud. It is about eighty words and it contains everything. Students consistently believe honest reporting is long; it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row matters: if you want to stop early you must choose that design before you start. There is no valid way to bolt it on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of the eight failures are the same root cause. Make that the one thing they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 function refuses to analyse an SRM-failing test rather than printing a warning. A warning gets ignored; a refusal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D is an audit exercise. Reading someone else's experiment critically is the skill they will actually be paid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module deliberately. Days 23-29 built the parts; today assembled them. The habit that carries into Module 3 is deciding the rule before seeing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STATISTICS &amp; PROBABILITY  ·  TOPIC 2.19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A/B Test Design &amp; Analysis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  —  the last statistics session, and the only one where you are allowed to say “caused”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02336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41696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448056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size. The sum takes one line.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66160" y="402336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67328" y="41696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767328" y="448056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look. Three bugs to watch for.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402336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0528" y="41696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448056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interval, not the verdict.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98280" y="1371600"/>
            <a:ext cx="25146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0" descr="/home/claude/day30/b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1737360"/>
            <a:ext cx="1911096" cy="178308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98280" y="3977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University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5806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&amp; presented by  </a:t>
            </a:r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SESSION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Yesterday: five explanations. Today: how to rule out four of them.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647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were stuck with yesterday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76272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· confounding · reverse causation · selection · cause.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observational data you can argue about which one it is, but you can never settle it — because you did not control who got what.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303520" cy="2148840"/>
          </a:xfrm>
          <a:prstGeom prst="roundRect">
            <a:avLst>
              <a:gd name="adj" fmla="val 383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65392" y="17647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coin flip buys you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565392" y="2176272"/>
            <a:ext cx="4800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coin decides who sees which version, the two groups differ in exactly one way on average — the thing you changed.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Confounding, reverse causation and selection are all switched off by the design. Only chance is left, and chance is what the maths handles.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11064240" cy="1965960"/>
          </a:xfrm>
          <a:prstGeom prst="roundRect">
            <a:avLst>
              <a:gd name="adj" fmla="val 4186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4041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you will see today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14400" y="4398264"/>
            <a:ext cx="292608" cy="292608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398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38912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users give a +21 effect observationally and +2.4 when randomised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4400" y="4764024"/>
            <a:ext cx="292608" cy="292608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764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75488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test that “wins” overstates the lift by 3.3× — and it is still “significant”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5129784"/>
            <a:ext cx="292608" cy="292608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5129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512064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the dashboard 20 times turns a 5% error rate into 25%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4400" y="5495544"/>
            <a:ext cx="292608" cy="292608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5495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53312" y="548640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revenue, a real +10% lift is invisible at n = 1,000 — 9% power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 ·  5 MINUTES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questions from Day 29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83080"/>
            <a:ext cx="365760" cy="36576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79222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r actually measure?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79222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Tightness around a STRAIGHT line. Nothing else.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414016"/>
            <a:ext cx="1106424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569464"/>
            <a:ext cx="365760" cy="36576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25786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0.3 — how much is explained?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57860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9%. Report r², always.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1106424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355848"/>
            <a:ext cx="365760" cy="36576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336499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five explanations.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36499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Chance, confounding, reverse, selection, cause.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986784"/>
            <a:ext cx="1106424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142232"/>
            <a:ext cx="365760" cy="36576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98448" y="415137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does a coin flip remove?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415137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them — and that is today.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68680" y="51206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Day 23 onwards gets used today at once: a mean, a standard error, a sampling distribution, a p-value, a confidence interval, power, and the multiplicity problem. An A/B test is the whole module applied to one decision.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today's two hours are structured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74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A/B test is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randomising actually buys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9672" y="2039112"/>
            <a:ext cx="420624" cy="420624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9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1874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it before you run it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MDE, power, and the winner's curse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364992"/>
            <a:ext cx="420624" cy="420624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200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it without breaking it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Peeking, SRM, novelty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19672" y="336499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9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3200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it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test, revenue, and segments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424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" y="469087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526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and reporting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417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Ship, kill, or learn nothing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709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63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19672" y="469087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19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4526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notebook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design one, then break one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0424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is the one that saves you the most time in practice. Most failed A/B tests were doomed before a single user saw them, because nobody did the sum.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A/B Test Is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design that earns the word “caused”  ·  15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decisions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·  RANDOMISATION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⭐ A coin flip is the entire trick</a:t>
            </a:r>
            <a:endParaRPr lang="en-US" sz="3200" dirty="0"/>
          </a:p>
        </p:txBody>
      </p:sp>
      <p:pic>
        <p:nvPicPr>
          <p:cNvPr id="5" name="Image 0" descr="/home/claude/day30/fig/random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536192"/>
            <a:ext cx="10241280" cy="3119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846320"/>
            <a:ext cx="5486400" cy="1005840"/>
          </a:xfrm>
          <a:prstGeom prst="roundRect">
            <a:avLst>
              <a:gd name="adj" fmla="val 8182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" y="49560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the observational answer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5266944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who adopted the feature spend 21 more. But engaged users are the ones who adopt — the gap mostly measures who they already were.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4846320"/>
            <a:ext cx="5303520" cy="1005840"/>
          </a:xfrm>
          <a:prstGeom prst="roundRect">
            <a:avLst>
              <a:gd name="adj" fmla="val 8182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65392" y="49560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the randomised answer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565392" y="526694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users, same engagement. A coin assigns the arm, so engagement is balanced on average. The true effect built into this simulation was +2.0.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·  THE GUARANTEE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coin fixes — and what it does not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395728"/>
          </a:xfrm>
          <a:prstGeom prst="roundRect">
            <a:avLst>
              <a:gd name="adj" fmla="val 3435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Switched off by the design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21408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Confounding — every variable, including the ones you never measured or thought of, is balanced on average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causation — the coin came first, in time, so the outcome cannot have caused the assignment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— you decide who is in the test, before anyone has an outcome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572768"/>
            <a:ext cx="5303520" cy="2395728"/>
          </a:xfrm>
          <a:prstGeom prst="roundRect">
            <a:avLst>
              <a:gd name="adj" fmla="val 3435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65392" y="17373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Still entirely your problem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656832" y="2121408"/>
            <a:ext cx="4663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— the coin balances things on average, not in your particular test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 a test — randomising badly-sized arms answers nothing, correctly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the wrong thing — a clean test of a metric nobody cares about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horizon — you measured a week, and shipped for a year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51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“Balanced on average” is the exact claim. In any one test the groups will differ by chance — that is precisely the uncertainty the p-value and the interval are measuring.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·  THE DESIGN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decisions, all made before the test starts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131673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011680"/>
            <a:ext cx="457200" cy="457200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17647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13055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randomised — almost always the USER, not the session or the pageview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87452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 by pageview and the same person sees both versions. They notice, and their pageviews are not independent, so every p-value is wrong.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11064240" cy="131673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3474720"/>
            <a:ext cx="457200" cy="45720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32278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359359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primary metric, written down before you look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33756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a secondary metric or a guardrail, and secondary metrics cannot win the test. They can only lose it.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11064240" cy="131673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" y="4937760"/>
            <a:ext cx="457200" cy="457200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46908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81328" y="505663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users, worked out from the smallest effect worth shipping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480060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section 2. It takes one line of code and it is the step that is almost always skipped.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all three in a one-page plan and have somebody sign it. After the data arrives, every one of these decisions becomes negotiable — and that is how tests get p-hacked without anyone deciding to cheat.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It Before You Run It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 that saves the whole test  ·  20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MDE and sample size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winner's curse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·  SIZING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“how many users?” but “how small an effect?”</a:t>
            </a:r>
            <a:endParaRPr lang="en-US" sz="3200" dirty="0"/>
          </a:p>
        </p:txBody>
      </p:sp>
      <p:pic>
        <p:nvPicPr>
          <p:cNvPr id="5" name="Image 0" descr="/home/claude/day30/fig/siz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36192"/>
            <a:ext cx="10698480" cy="31028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754880"/>
            <a:ext cx="5486400" cy="1097280"/>
          </a:xfrm>
          <a:prstGeom prst="roundRect">
            <a:avLst>
              <a:gd name="adj" fmla="val 750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" y="48737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business, not the stats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518464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what is the smallest lift that would make us ship this? That is the MDE. Everything else follows from it mechanically.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4754880"/>
            <a:ext cx="5303520" cy="1097280"/>
          </a:xfrm>
          <a:prstGeom prst="roundRect">
            <a:avLst>
              <a:gd name="adj" fmla="val 75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65392" y="48737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quadrupling rule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565392" y="5184648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 the effect you want to catch and you need roughly four times the users. +2pp costs 3,841 per arm; +1pp costs 14,751; +0.5pp costs 57,763 and a month.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THE FORMULA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sum itself — one line, four inputs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58368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6080760" cy="2423160"/>
          </a:xfrm>
          <a:prstGeom prst="roundRect">
            <a:avLst>
              <a:gd name="adj" fmla="val 2642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892808"/>
            <a:ext cx="5751576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 import stats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n_per_arm(p0, mde, power=0.80, alpha=0.05):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"""Users needed in EACH arm of a two-sided proportion test."""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p1   = p0 + mde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pbar = (p0 + p1) / 2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za   = stats.norm.ppf(1 - alpha/2)     # 1.96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zb   = stats.norm.ppf(power)           # 0.84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  = (za*np.sqrt(2*pbar*(1-pbar)) +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zb*np.sqrt(p0*(1-p0) + p1*(1-p1)))**2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int(np.ceil(num / mde**2))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n_per_arm(0.10, 0.01)      # -&gt; 14751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06640" y="1572768"/>
            <a:ext cx="4206240" cy="2834640"/>
          </a:xfrm>
          <a:prstGeom prst="roundRect">
            <a:avLst>
              <a:gd name="adj" fmla="val 2903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662672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inputs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662672" y="21214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67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662672" y="23408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current rate — look it up, do not guess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662672" y="26700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67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662672" y="28895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lift worth shipping — a business call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662672" y="32186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67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662672" y="34381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 — chance of catching a real effect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662672" y="37673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67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662672" y="398678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 — chance of a false alarm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6868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statsmodels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50292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hand-written version gives 14,751 where statsmodels' NormalIndPower gives 14,745 — a 0.04% difference from a different variance convention. Either is fine. Write it yourself once so you know what the inputs mean, then use the library.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·  THE WINNER'S CURSE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An underpowered test does not just miss — it lies about the size</a:t>
            </a:r>
            <a:endParaRPr lang="en-US" sz="3200" dirty="0"/>
          </a:p>
        </p:txBody>
      </p:sp>
      <p:pic>
        <p:nvPicPr>
          <p:cNvPr id="5" name="Image 0" descr="/home/claude/day30/fig/cu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10515600" cy="28896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572000"/>
            <a:ext cx="5486400" cy="1280160"/>
          </a:xfrm>
          <a:prstGeom prst="roundRect">
            <a:avLst>
              <a:gd name="adj" fmla="val 6429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" y="47000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those tests was correct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5010912"/>
            <a:ext cx="4983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true lift is +1.00pp in all three panels. At n = 1,000 the only tests that reach p &lt; 0.05 are the ones where noise happened to push the gap up — so the winners average +3.32pp. That is a 3.3× overstatement, with a significant p-value attached.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4572000"/>
            <a:ext cx="5303520" cy="1280160"/>
          </a:xfrm>
          <a:prstGeom prst="roundRect">
            <a:avLst>
              <a:gd name="adj" fmla="val 6429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65392" y="47000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on Monday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565392" y="5010912"/>
            <a:ext cx="4800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shipped features so often fail to deliver the lift the test promised — and why a properly sized test (right-hand panel, 80% power) overstates by only 1.12×. Power is not just about finding effects. It is about measuring them.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It Without Breaking It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a clean design goes wrong  ·  20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ratio mismatch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PEEKING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Watching the dashboard is a statistical procedure</a:t>
            </a:r>
            <a:endParaRPr lang="en-US" sz="3200" dirty="0"/>
          </a:p>
        </p:txBody>
      </p:sp>
      <p:pic>
        <p:nvPicPr>
          <p:cNvPr id="5" name="Image 0" descr="/home/claude/day30/fig/pee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536192"/>
            <a:ext cx="7955280" cy="28823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572000"/>
            <a:ext cx="5486400" cy="1280160"/>
          </a:xfrm>
          <a:prstGeom prst="roundRect">
            <a:avLst>
              <a:gd name="adj" fmla="val 6429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" y="47000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5010912"/>
            <a:ext cx="4983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p-value wanders as data arrives. Stop the moment it dips under 0.05 and you have given yourself twenty chances to catch a fluctuation instead of one. Nobody intends this — it is just what happens when a dashboard exists.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4572000"/>
            <a:ext cx="5303520" cy="1280160"/>
          </a:xfrm>
          <a:prstGeom prst="roundRect">
            <a:avLst>
              <a:gd name="adj" fmla="val 6429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65392" y="47000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honest options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565392" y="501091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Fix the end date from the sample-size sum and do not look.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Look, but only at guardrails — crashes, errors, refunds.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 a method built for it: sequential testing, or always-valid p-values. Not a plain t-test checked daily.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·  SRM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ratio mismatch — the best five minutes you will spend</a:t>
            </a:r>
            <a:endParaRPr lang="en-US" sz="3200" dirty="0"/>
          </a:p>
        </p:txBody>
      </p:sp>
      <p:pic>
        <p:nvPicPr>
          <p:cNvPr id="5" name="Image 0" descr="/home/claude/day30/fig/s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536192"/>
            <a:ext cx="8503920" cy="28140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572000"/>
            <a:ext cx="5486400" cy="1280160"/>
          </a:xfrm>
          <a:prstGeom prst="roundRect">
            <a:avLst>
              <a:gd name="adj" fmla="val 6429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" y="47000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5010912"/>
            <a:ext cx="4983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asked for a 50/50 split. Check whether you got one, with a chi-square test on the two counts. On 40,000 users, 51.5/48.5 gives p = 2e-9 — that cannot be bad luck.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4572000"/>
            <a:ext cx="5303520" cy="1280160"/>
          </a:xfrm>
          <a:prstGeom prst="roundRect">
            <a:avLst>
              <a:gd name="adj" fmla="val 6429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65392" y="47000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It invalidates the whole test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565392" y="501091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 split means users were lost unevenly — a redirect that timed out, a bot filter that hit one arm, logging that dropped slow sessions. Whatever was lost was not random, so the groups are no longer comparable. Fix the bug and rerun; do not analyse it.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·  TIME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Novelty, weekends, and why you run whole weeks</a:t>
            </a:r>
            <a:endParaRPr lang="en-US" sz="3200" dirty="0"/>
          </a:p>
        </p:txBody>
      </p:sp>
      <p:pic>
        <p:nvPicPr>
          <p:cNvPr id="5" name="Image 0" descr="/home/claude/day30/fig/novel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10698480" cy="280873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434840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" y="4572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lags the truth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4892040"/>
            <a:ext cx="4983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shows +1.79pp. By day 14 the daily lift is +0.02pp — effectively gone — but the cumulative figure still reads +0.45pp, because it is still averaging in week one.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4434840"/>
            <a:ext cx="5303520" cy="1417320"/>
          </a:xfrm>
          <a:prstGeom prst="roundRect">
            <a:avLst>
              <a:gd name="adj" fmla="val 5806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65392" y="4572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rules that follow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565392" y="48920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WHOLE WEEKS — the baseline swings 2.1pp between weekdays and weekends, so a Monday-to-Friday test measures a different population.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plot the DAILY lift, not only the cumulative one. A decaying daily line means you have not reached the long-run effect yet.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Analysing It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easy part, and its three traps  ·  20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metrics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·  THE TEST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analysis is five lines. That was always the easy part.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5836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6080760" cy="2788920"/>
          </a:xfrm>
          <a:prstGeom prst="roundRect">
            <a:avLst>
              <a:gd name="adj" fmla="val 229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892808"/>
            <a:ext cx="5751576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two_prop(c_a, n_a, c_b, n_b, alpha=0.05):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p_a, p_b = c_a/n_a, c_b/n_b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diff = p_b - p_a                       # ABSOLUTE lift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pooled SE for the test (assumes H0 true)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pbar = (c_a + c_b) / (n_a + n_b)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 = diff / np.sqrt(pbar*(1-pbar)*(1/n_a + 1/n_b))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= 2 * (1 - stats.norm.cdf(abs(z)))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UNpooled SE for the interval (does not assume H0)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 = np.sqrt(p_a*(1-p_a)/n_a + p_b*(1-p_b)/n_b)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 = stats.norm.ppf(1 - alpha/2)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diff, p, (diff - c*se, diff + c*se)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06640" y="1572768"/>
            <a:ext cx="4206240" cy="3200400"/>
          </a:xfrm>
          <a:prstGeom prst="roundRect">
            <a:avLst>
              <a:gd name="adj" fmla="val 2571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662672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details worth the minute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662672" y="21031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vs unpooled SE — the test assumes the null is true, so it pools the two rates. The interval does not assume that, so it must not pool. Using one for both is a common and quiet error.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662672" y="33832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vs relative — “+1.5 percentage points” and “+15%” are the same result. Pick one, label it, and never mix them in a sentence.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8680" y="51206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continuous metric — time on page, items per order — use stats.ttest_ind(a, b, equal_var=False) instead. Day 28's lesson still applies: Welch, always.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·  HEAVY TAILS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Revenue metrics: the test is honest, it is just blind</a:t>
            </a:r>
            <a:endParaRPr lang="en-US" sz="3200" dirty="0"/>
          </a:p>
        </p:txBody>
      </p:sp>
      <p:pic>
        <p:nvPicPr>
          <p:cNvPr id="5" name="Image 0" descr="/home/claude/day30/fig/reve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10698480" cy="27999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434840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" y="4572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should worry you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4892040"/>
            <a:ext cx="4983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+10% revenue lift, at 1,000 users per arm: 9% power. You would miss it nine times out of ten. The same +10% on a well-behaved metric at the same n: 96% power.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4434840"/>
            <a:ext cx="5303520" cy="1417320"/>
          </a:xfrm>
          <a:prstGeom prst="roundRect">
            <a:avLst>
              <a:gd name="adj" fmla="val 5806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65392" y="4572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helps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565392" y="48920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the top 1% before testing, decided in advance: power at 20,000/arm goes from 56% to 94%. Or test conversion rate instead, which is far better behaved. The false-positive rate was never the problem — it measured 3.4–4.3%, slightly under the nominal 5%.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·  SEGMENTS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“It didn't work overall, but it worked for …”</a:t>
            </a:r>
            <a:endParaRPr lang="en-US" sz="3200" dirty="0"/>
          </a:p>
        </p:txBody>
      </p:sp>
      <p:pic>
        <p:nvPicPr>
          <p:cNvPr id="5" name="Image 0" descr="/home/claude/day30/fig/seg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1554480"/>
            <a:ext cx="8229600" cy="285452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663440"/>
            <a:ext cx="5486400" cy="1188720"/>
          </a:xfrm>
          <a:prstGeom prst="roundRect">
            <a:avLst>
              <a:gd name="adj" fmla="val 6923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" y="47914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28 and Day 29, again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5102352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a flat test eight ways and you have a 34% chance of finding a “winning” segment in data with no effect in it. Twelve ways and it is 46%.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4663440"/>
            <a:ext cx="5303520" cy="1188720"/>
          </a:xfrm>
          <a:prstGeom prst="roundRect">
            <a:avLst>
              <a:gd name="adj" fmla="val 692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65392" y="47914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565392" y="510235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named in the plan BEFORE the test are hypotheses. Segments found afterwards are observations — report them as “worth a follow-up test”, never as a result, and correct for how many you looked at.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Deciding and Reporting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Ship, kill, or admit you learned nothing  ·  15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flat result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 ·  READING A FLAT TEST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⭐ “Not significant” is three different results</a:t>
            </a:r>
            <a:endParaRPr lang="en-US" sz="3200" dirty="0"/>
          </a:p>
        </p:txBody>
      </p:sp>
      <p:pic>
        <p:nvPicPr>
          <p:cNvPr id="5" name="Image 0" descr="/home/claude/day30/fig/inconclus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554480"/>
            <a:ext cx="9235440" cy="29926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75488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4873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1,200: nothing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15721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interval allows a +2pp win and a −2.8pp disaster. You spent two weeks to learn nothing at all.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15968" y="475488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44568" y="4873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6,000: still nothing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44568" y="515721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0.08, and a +2pp win is still entirely compatible with the data. This is the one people wrongly call “no effect”.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92440" y="475488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321040" y="4873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60,000: a real answer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515721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above +0.43pp is ruled out. Below the ship threshold, so: do not ship. That is a finding.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 ·  SHIP OR KILL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is about the interval, not the verdict</a:t>
            </a:r>
            <a:endParaRPr lang="en-US" sz="3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749040"/>
                <a:gridCol w="32918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 95% interval sits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Entirely above the ship threshold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win big enough to be worth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Crosses the threshold, excludes zero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real, but maybe too small to pay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judgement call — weigh the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Entirely inside ± the threshold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effect is too small to matter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KILL, and you have learned something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Wide, crossing everything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test was too small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INCONCLUSIVE — do not call it “no effect”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Entirely below zero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change actively hurt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KILL, and understand why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46320"/>
            <a:ext cx="5486400" cy="1005840"/>
          </a:xfrm>
          <a:prstGeom prst="roundRect">
            <a:avLst>
              <a:gd name="adj" fmla="val 8182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" y="49651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≠ practical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527608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significant +0.05pp on 10 million users is real and not worth the engineering. Decide the threshold BEFORE the test, with the people who pay for it.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4846320"/>
            <a:ext cx="5303520" cy="1005840"/>
          </a:xfrm>
          <a:prstGeom prst="roundRect">
            <a:avLst>
              <a:gd name="adj" fmla="val 8182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65392" y="49651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kill is a success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565392" y="527608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tested ideas do not work. A well-powered test that rules out anything worth shipping has saved the team months, and that is the common outcome, not the failure case.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 ·  A FULL EXAMPLE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through: a checkout redesign, start to finish</a:t>
            </a:r>
            <a:endParaRPr lang="en-US" sz="3200" dirty="0"/>
          </a:p>
        </p:txBody>
      </p:sp>
      <p:pic>
        <p:nvPicPr>
          <p:cNvPr id="5" name="Image 0" descr="/home/claude/day30/fig/wor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36192"/>
            <a:ext cx="10698480" cy="31671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754880"/>
            <a:ext cx="4206240" cy="1097280"/>
          </a:xfrm>
          <a:prstGeom prst="roundRect">
            <a:avLst>
              <a:gd name="adj" fmla="val 750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48737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Planned, before any data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157216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10%. Smallest worthwhile lift +1pp → 14,751/arm → 7.4 days → round up to 14, two whole weeks.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37760" y="4754880"/>
            <a:ext cx="3200400" cy="1097280"/>
          </a:xfrm>
          <a:prstGeom prst="roundRect">
            <a:avLst>
              <a:gd name="adj" fmla="val 75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166360" y="48737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passed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166360" y="5157216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SRM: 14,900 vs 14,900, p = 1.00. Ran 14 whole days. Nobody peeked.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321040" y="4754880"/>
            <a:ext cx="3291840" cy="1097280"/>
          </a:xfrm>
          <a:prstGeom prst="roundRect">
            <a:avLst>
              <a:gd name="adj" fmla="val 75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549640" y="48737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SHIP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549640" y="5157216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interval (+0.83 to +2.24pp) sits above the +0.5pp threshold. Not just significant — big enough.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 ·  THE REPORT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write when it is 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583680" cy="3017520"/>
          </a:xfrm>
          <a:prstGeom prst="roundRect">
            <a:avLst>
              <a:gd name="adj" fmla="val 2727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paragraph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6080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tested a checkout redesign against the current page, randomised by user, 14,900 users per arm over 14 days (planned for 14,751 to detect +1pp at 80% power). Checkout conversion rose from 9.95% to 11.49%: an absolute lift of +1.54pp, 95% CI +0.83 to +2.24pp (p = 1.8e-05), a relative lift of +15.4%. The split passed an SRM check. Revenue per user rose +2.33 (p = 0.033), which we treat as directional. The interval sits entirely above our +0.5pp ship threshold, so we recommend shipping.”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06640" y="1572768"/>
            <a:ext cx="4206240" cy="3017520"/>
          </a:xfrm>
          <a:prstGeom prst="roundRect">
            <a:avLst>
              <a:gd name="adj" fmla="val 2727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662672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it contains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54112" y="210312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changed, and the unit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per arm, and the planned n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rates, not just the lift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lift AND its interval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lift, clearly labelled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p, not “p &lt; 0.05”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SRM check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metrics, marked as secondary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decision, and the threshold it was judged against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49834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one line that is harder to write: “We looked at N segments / ran M tests this quarter.” Nothing else in the report tells the reader how much searching went into it, and nothing else changes how they should read it as much.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— the test, the trap, the fix</a:t>
            </a:r>
            <a:endParaRPr lang="en-US" sz="3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017520"/>
                <a:gridCol w="41148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or situation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scipy / formula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rate, two arms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two-proportion z-test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two_prop(ca, na, cb, nb)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Time, items, value per user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Welch t-test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ttest_ind(a, b, equal_var=False)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(heavy tailed)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the top 1% first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np.minimum(x, cap)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the split come out right?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 on the counts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stats.chisquare([na, nb])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users do I need?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calculation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n_per_arm(p0, mde)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than two arms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for the comparisons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alpha / n_comparisons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want to stop early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test, not a t-test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 plan it in advance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2920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5193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report together: both rates, n per arm, the absolute lift with its 95% interval, the exact p, the relative lift, and the SRM check. Six numbers, and a reader can judge the whole test.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corner — eight ways an A/B test goes wrong</a:t>
            </a:r>
            <a:endParaRPr lang="en-US" sz="3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931920"/>
                <a:gridCol w="32918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did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goes wrong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 it until it looked significant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looks → 25% false positives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the end date from the sum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skipped the sample-size sum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winners overstate the lift 3.3×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n_per_arm(p0, mde) — one 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randomised by pageview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user sees both arms; p is wrong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randomise by user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checked the 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51.5/48.5 split invalidates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 on the two counts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 Monday to Friday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baseline swings 2.1pp at weekends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whole weeks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stopped on day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novelty, not effect: +1.33pp vs +0.02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 the daily lift, not cumulative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sliced it 8 ways after it went flat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 chance of a fake winner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pre-specify segments, or correct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“no significant difference”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hides whether you learned anything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the interval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5955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56875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1, 5 and 6 all disappear if you fix row 2: do the sample-size sum first, and write the end date in the calendar before the test launches.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·  MINI BUILD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 — one function for the whole test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58368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6080760" cy="3931920"/>
          </a:xfrm>
          <a:prstGeom prst="roundRect">
            <a:avLst>
              <a:gd name="adj" fmla="val 162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892808"/>
            <a:ext cx="575157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ab_test(c_a, n_a, c_b, n_b, ship_threshold=0.005, alpha=.05):</a:t>
            </a: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"""Analyse a conversion A/B test and recommend a decision."""</a:t>
            </a: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 0. SRM first - if the split is broken, nothing else matters</a:t>
            </a: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 = n_a + n_b</a:t>
            </a: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srm_p = stats.chisquare([n_a, n_b], [tot/2, tot/2]).pvalue</a:t>
            </a: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srm_p &lt; 0.01:</a:t>
            </a: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print(f"STOP: sample ratio mismatch (p={srm_p:.1e}). "</a:t>
            </a: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f"Fix the bug and rerun - do not analyse this.")</a:t>
            </a: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p_a, p_b = c_a/n_a, c_b/n_b</a:t>
            </a: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diff = p_b - p_a</a:t>
            </a: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pbar = (c_a + c_b) / tot                          # pooled, for the test</a:t>
            </a: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 = diff / np.sqrt(pbar*(1-pbar)*(1/n_a + 1/n_b))</a:t>
            </a: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= 2*(1 - stats.norm.cdf(abs(z)))</a:t>
            </a: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 = np.sqrt(p_a*(1-p_a)/n_a + p_b*(1-p_b)/n_b)   # unpooled, for the CI</a:t>
            </a: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lo, hi = diff - 1.96*se, diff + 1.96*se</a:t>
            </a: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print(f"control {p_a:.3%} ({c_a:,}/{n_a:,}) | treat {p_b:.3%} ({c_b:,}/{n_b:,})")</a:t>
            </a: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print(f"lift {diff*100:+.3f}pp  95% CI [{lo*100:+.3f}, {hi*100:+.3f}]pp")</a:t>
            </a: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print(f"relative {diff/p_a:+.2%}   p = {p:.3e}   SRM p = {srm_p:.2f}")</a:t>
            </a: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ship_threshold</a:t>
            </a: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verdict = ("SHIP"          if lo &gt;  t else</a:t>
            </a: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"KILL - hurts"  if hi &lt;  0 else</a:t>
            </a: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"KILL - too small to matter" if (lo &gt; -t and hi &lt; t) else</a:t>
            </a: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"JUDGEMENT CALL - real but maybe too small" if lo &gt; 0 else</a:t>
            </a: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"INCONCLUSIVE - underpowered, not 'no effect'")</a:t>
            </a:r>
            <a:endParaRPr lang="en-US" sz="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print("-&gt;", verdict)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7406640" y="1691640"/>
            <a:ext cx="4206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62088" y="1819656"/>
            <a:ext cx="118872" cy="329184"/>
          </a:xfrm>
          <a:prstGeom prst="roundRect">
            <a:avLst>
              <a:gd name="adj" fmla="val 38462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90688" y="17465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is checked first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790688" y="19933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broken split voids everything after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06640" y="2377440"/>
            <a:ext cx="4206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62088" y="2505456"/>
            <a:ext cx="118872" cy="329184"/>
          </a:xfrm>
          <a:prstGeom prst="roundRect">
            <a:avLst>
              <a:gd name="adj" fmla="val 38462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90688" y="24323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for z, unpooled for CI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26791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answer different questions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3063240"/>
            <a:ext cx="4206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62088" y="3191256"/>
            <a:ext cx="118872" cy="329184"/>
          </a:xfrm>
          <a:prstGeom prst="roundRect">
            <a:avLst>
              <a:gd name="adj" fmla="val 3846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90688" y="31181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rates printed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790688" y="33649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lift with no baseline is unreadable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06640" y="3749040"/>
            <a:ext cx="4206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62088" y="3877056"/>
            <a:ext cx="118872" cy="329184"/>
          </a:xfrm>
          <a:prstGeom prst="roundRect">
            <a:avLst>
              <a:gd name="adj" fmla="val 3846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90688" y="38039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interval, not just p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790688" y="40507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what the decision uses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06640" y="4434840"/>
            <a:ext cx="4206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62088" y="4562856"/>
            <a:ext cx="118872" cy="329184"/>
          </a:xfrm>
          <a:prstGeom prst="roundRect">
            <a:avLst>
              <a:gd name="adj" fmla="val 3846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90688" y="44897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threshold, not zero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790688" y="47365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≠ worth shipping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06640" y="5120640"/>
            <a:ext cx="4206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62088" y="5248656"/>
            <a:ext cx="118872" cy="329184"/>
          </a:xfrm>
          <a:prstGeom prst="roundRect">
            <a:avLst>
              <a:gd name="adj" fmla="val 3846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90688" y="51755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“Inconclusive” is a verdict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790688" y="54223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never “no effect”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9846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cannot do is size the test for you before it runs. That is n_per_arm(), and it is the half that matters most.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TO YOU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session — 30 minutes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75895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47088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7282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066544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Sizing, lift, intervals, SRM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8653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questions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75895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761488"/>
            <a:ext cx="420624" cy="420624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642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&amp; fix the bug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980944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Peeking, pageview units, segment mining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7797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questions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75895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675888"/>
            <a:ext cx="420624" cy="420624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5570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code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895344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it, test it, check it, decide it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6941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tasks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389120"/>
            <a:ext cx="75895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4590288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590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4714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4809744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one from scratch, then audit a bad one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46085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tasks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0" y="1645920"/>
            <a:ext cx="3200400" cy="2907792"/>
          </a:xfrm>
          <a:prstGeom prst="roundRect">
            <a:avLst>
              <a:gd name="adj" fmla="val 283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686800" y="180136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21671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Day30_Practice_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Questions.ipynb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796528" y="2880360"/>
            <a:ext cx="2651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it before you run it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split first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from the interval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shared after class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68680" y="555040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 gives you a real-looking experiment write-up with four separate things wrong with it, and asks you to find them and say what each one does to the conclusion. That is the job.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9966960" y="4480560"/>
            <a:ext cx="3840480" cy="384048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IN TWELVE LINES  ·  AND THE END OF MODULE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A coin flip removes confounding, reverse causation and selection at once.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121408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remove chance — that is what the p-value and interval are for.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three things first: the unit, ONE primary metric, and the size.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255264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 by USER. By pageview, one person sees both arms.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 the effect you want to catch → roughly 4× the users. +1pp = 14,751/arm.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" y="438912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At 11% power, winning tests overstated a +1.00pp lift as +3.32pp.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63640" y="155448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3912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Peeking 20 times turns a 5% false-positive rate into 25%.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63640" y="2121408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3912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 51.5/48.5 split on 40,000 users is p = 2e-9. It is a bug, not luck.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63640" y="2688336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3912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Novelty: day 1 read +1.79pp; by day 14 the daily lift was +0.02pp.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63640" y="3255264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6364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73912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 real +10% revenue lift had 9% power at n = 1,000. Cap the top 1%.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63640" y="3822192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6364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73912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Eight segments on a flat test → 34% chance of a fake winner.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63640" y="438912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6364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73912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from the INTERVAL against a threshold. “Not significant” ≠ “no effect”.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008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68680" y="5358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868680" y="5632704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one-page test plan for a change you would actually make — unit, primary metric, MDE, n per arm, end date  ·  Find a published A/B result and work out what is missing from the report  ·  Take a feature you believe works and name the smallest lift that would justify it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6364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92240" y="53583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ends here  —  next: Topic 2.20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6492240" y="5632704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statistics mini project: hypothesis testing on business data, then the Module 2 assessment. After that, Module 3 — Machine Learning, where today's “decide the threshold before you look” becomes train/test discipline.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30 - A-B Testing</dc:title>
  <dc:subject>PptxGenJS Presentation</dc:subject>
  <dc:creator>Data Science Program</dc:creator>
  <cp:lastModifiedBy>Data Science Program</cp:lastModifiedBy>
  <cp:revision>1</cp:revision>
  <dcterms:created xsi:type="dcterms:W3CDTF">2026-10-17T13:21:39Z</dcterms:created>
  <dcterms:modified xsi:type="dcterms:W3CDTF">2026-10-17T13:21:39Z</dcterms:modified>
</cp:coreProperties>
</file>