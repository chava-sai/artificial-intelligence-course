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3. So far every program has been one long script. Today we learn to package code into named, reusable pieces. Frame it: every library you will import for the rest of this course - pandas, sklearn, matplotlib - is just thousands of functions someone else wrote.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Cold-call. The closing line is the bridge into today - say it out loud, it lowers the perceived difficulty of def.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 the clock in section 2 - argument forms take longer than people expect because students want to try every combination.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Signature-first is a genuine professional habit. Model it live every time you write a function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exam is out of 400 now, not 300 - how many places do you edit on the left?' That question sells functions better than any definition.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a def cell with no call and let them see the empty output. Then add the call. This removes a whole class of 'my code does nothing' questions during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of the day. Half of all beginner function bugs are print-where-return-was-needed. Run both versions side by side and show the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Multiple return values is the one that delights people - tie it back to Day 1's p, q = q, p swap so it feels familiar rather than new.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swapped-argument example is worth running - no error, just nonsense output. That is exactly why keyword arguments are worth the extra typing on any call with more than two arguments.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sklearn callback lands well here - they will type train_test_split(X, y, test_size=0.2) in Module 3 and this is why it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broken version three times live. The growing list gets a real reaction. Then connect it explicitly to Day 1 aliasing - it is the same idea wearing a different hat, not a new rule to memorise.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 and ** are the operators; args/kwargs are just names. Students often think the words are magic keywords.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scope as protection rather than a rule that gets in the way. The 'fifty functions can all use total' line is the one that makes it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callback to Day 1 shadowing turns two separate warnings into one idea. Say it explicitly - students remember unified explanations far better than lists of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separate gotchas across three days all reduce to aliasing. Draw that connection on the board - it is the most valuable minute of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help() and Shift+Tab live in Colab. Seeing their own docstring appear in the tooltip is what makes students actually write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lambda brief - recognition level today. The pandas .apply() callback is the reason to introduce it now rather than skipping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Photograph slide. Row 2 - calling without parentheses - looks trivial but catches people who came from other languages.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the Day 1 result-calculator slide up beside this if you can. The visual contrast between one 25-line block and three named functions is the whole argument for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bottom line answers about 70% of the questions you will get in the next 30 minutes. Say it before you release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twelve lines aloud. Flag that tomorrow's mutability topic is the fourth appearance of aliasing - by then it should feel obvious rather than surprising.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238"/>
        </a:solidFill>
      </p:bgPr>
    </p:bg>
    <p:spTree>
      <p:nvGrpSpPr>
        <p:cNvPr id="1" name=""/>
        <p:cNvGrpSpPr/>
        <p:nvPr/>
      </p:nvGrpSpPr>
      <p:grpSpPr>
        <a:xfrm>
          <a:off x="0" y="0"/>
          <a:ext cx="0" cy="0"/>
          <a:chOff x="0" y="0"/>
          <a:chExt cx="0" cy="0"/>
        </a:xfrm>
      </p:grpSpPr>
      <p:sp>
        <p:nvSpPr>
          <p:cNvPr id="2" name="Shape 0"/>
          <p:cNvSpPr/>
          <p:nvPr/>
        </p:nvSpPr>
        <p:spPr>
          <a:xfrm>
            <a:off x="9509760" y="-1371600"/>
            <a:ext cx="4754880" cy="4754880"/>
          </a:xfrm>
          <a:prstGeom prst="ellipse">
            <a:avLst/>
          </a:prstGeom>
          <a:solidFill>
            <a:srgbClr val="1D3050"/>
          </a:solidFill>
          <a:ln w="12700">
            <a:solidFill>
              <a:srgbClr val="333333"/>
            </a:solidFill>
            <a:prstDash val="solid"/>
          </a:ln>
        </p:spPr>
      </p:sp>
      <p:sp>
        <p:nvSpPr>
          <p:cNvPr id="3" name="Shape 1"/>
          <p:cNvSpPr/>
          <p:nvPr/>
        </p:nvSpPr>
        <p:spPr>
          <a:xfrm>
            <a:off x="10607040" y="4206240"/>
            <a:ext cx="3108960" cy="3108960"/>
          </a:xfrm>
          <a:prstGeom prst="ellipse">
            <a:avLst/>
          </a:prstGeom>
          <a:solidFill>
            <a:srgbClr val="1A2A46"/>
          </a:solidFill>
          <a:ln w="12700">
            <a:solidFill>
              <a:srgbClr val="333333"/>
            </a:solidFill>
            <a:prstDash val="solid"/>
          </a:ln>
        </p:spPr>
      </p:sp>
      <p:sp>
        <p:nvSpPr>
          <p:cNvPr id="4" name="Text 2"/>
          <p:cNvSpPr txBox="1"/>
          <p:nvPr/>
        </p:nvSpPr>
        <p:spPr>
          <a:xfrm>
            <a:off x="822960" y="1417320"/>
            <a:ext cx="8686800" cy="320040"/>
          </a:xfrm>
          <a:prstGeom prst="rect">
            <a:avLst/>
          </a:prstGeom>
          <a:noFill/>
          <a:ln/>
        </p:spPr>
        <p:txBody>
          <a:bodyPr wrap="square" lIns="0" tIns="0" rIns="0" bIns="0" rtlCol="0" anchor="ctr"/>
          <a:lstStyle/>
          <a:p>
            <a:pPr indent="0" marL="0">
              <a:buNone/>
            </a:pPr>
            <a:r>
              <a:rPr lang="en-US" sz="1300" b="1" spc="200" kern="0" dirty="0">
                <a:solidFill>
                  <a:srgbClr val="FFC145"/>
                </a:solidFill>
                <a:latin typeface="Calibri" pitchFamily="34" charset="0"/>
                <a:ea typeface="Calibri" pitchFamily="34" charset="-122"/>
                <a:cs typeface="Calibri" pitchFamily="34" charset="-120"/>
              </a:rPr>
              <a:t>PYTHON FOR DATA SCIENCE  ·  MODULE 1  ·  TOPIC 1.3</a:t>
            </a:r>
            <a:endParaRPr lang="en-US" sz="1300" dirty="0"/>
          </a:p>
        </p:txBody>
      </p:sp>
      <p:sp>
        <p:nvSpPr>
          <p:cNvPr id="5" name="Text 3"/>
          <p:cNvSpPr txBox="1"/>
          <p:nvPr/>
        </p:nvSpPr>
        <p:spPr>
          <a:xfrm>
            <a:off x="822960" y="1874520"/>
            <a:ext cx="8412480" cy="1737360"/>
          </a:xfrm>
          <a:prstGeom prst="rect">
            <a:avLst/>
          </a:prstGeom>
          <a:noFill/>
          <a:ln/>
        </p:spPr>
        <p:txBody>
          <a:bodyPr wrap="square" lIns="0" tIns="0" rIns="0" bIns="0" rtlCol="0" anchor="ctr"/>
          <a:lstStyle/>
          <a:p>
            <a:pPr indent="0" marL="0">
              <a:lnSpc>
                <a:spcPct val="105000"/>
              </a:lnSpc>
              <a:buNone/>
            </a:pPr>
            <a:r>
              <a:rPr lang="en-US" sz="4800" b="1" dirty="0">
                <a:solidFill>
                  <a:srgbClr val="FFFFFF"/>
                </a:solidFill>
                <a:latin typeface="Cambria" pitchFamily="34" charset="0"/>
                <a:ea typeface="Cambria" pitchFamily="34" charset="-122"/>
                <a:cs typeface="Cambria" pitchFamily="34" charset="-120"/>
              </a:rPr>
              <a:t>Functions</a:t>
            </a:r>
            <a:endParaRPr lang="en-US" sz="4800" dirty="0"/>
          </a:p>
          <a:p>
            <a:pPr indent="0" marL="0">
              <a:lnSpc>
                <a:spcPct val="105000"/>
              </a:lnSpc>
              <a:buNone/>
            </a:pPr>
            <a:r>
              <a:rPr lang="en-US" sz="4800" b="1" dirty="0">
                <a:solidFill>
                  <a:srgbClr val="FFFFFF"/>
                </a:solidFill>
                <a:latin typeface="Cambria" pitchFamily="34" charset="0"/>
                <a:ea typeface="Cambria" pitchFamily="34" charset="-122"/>
                <a:cs typeface="Cambria" pitchFamily="34" charset="-120"/>
              </a:rPr>
              <a:t>&amp; Scope</a:t>
            </a:r>
            <a:endParaRPr lang="en-US" sz="4800" dirty="0"/>
          </a:p>
        </p:txBody>
      </p:sp>
      <p:sp>
        <p:nvSpPr>
          <p:cNvPr id="6" name="Text 4"/>
          <p:cNvSpPr txBox="1"/>
          <p:nvPr/>
        </p:nvSpPr>
        <p:spPr>
          <a:xfrm>
            <a:off x="841248" y="3703320"/>
            <a:ext cx="8229600" cy="365760"/>
          </a:xfrm>
          <a:prstGeom prst="rect">
            <a:avLst/>
          </a:prstGeom>
          <a:noFill/>
          <a:ln/>
        </p:spPr>
        <p:txBody>
          <a:bodyPr wrap="square" lIns="0" tIns="0" rIns="0" bIns="0" rtlCol="0" anchor="ctr"/>
          <a:lstStyle/>
          <a:p>
            <a:pPr indent="0" marL="0">
              <a:buNone/>
            </a:pPr>
            <a:r>
              <a:rPr lang="en-US" sz="1800" i="1" dirty="0">
                <a:solidFill>
                  <a:srgbClr val="AFC2DC"/>
                </a:solidFill>
                <a:latin typeface="Calibri" pitchFamily="34" charset="0"/>
                <a:ea typeface="Calibri" pitchFamily="34" charset="-122"/>
                <a:cs typeface="Calibri" pitchFamily="34" charset="-120"/>
              </a:rPr>
              <a:t>Day 3  —  writing code once and reusing it everywhere</a:t>
            </a:r>
            <a:endParaRPr lang="en-US" sz="1800" dirty="0"/>
          </a:p>
        </p:txBody>
      </p:sp>
      <p:sp>
        <p:nvSpPr>
          <p:cNvPr id="7" name="Shape 5"/>
          <p:cNvSpPr/>
          <p:nvPr/>
        </p:nvSpPr>
        <p:spPr>
          <a:xfrm>
            <a:off x="822960" y="4526280"/>
            <a:ext cx="2468880" cy="960120"/>
          </a:xfrm>
          <a:prstGeom prst="roundRect">
            <a:avLst>
              <a:gd name="adj" fmla="val 8571"/>
            </a:avLst>
          </a:prstGeom>
          <a:solidFill>
            <a:srgbClr val="1E3151"/>
          </a:solidFill>
          <a:ln w="12700">
            <a:solidFill>
              <a:srgbClr val="1E3151"/>
            </a:solidFill>
            <a:prstDash val="solid"/>
          </a:ln>
        </p:spPr>
      </p:sp>
      <p:sp>
        <p:nvSpPr>
          <p:cNvPr id="8" name="Text 6"/>
          <p:cNvSpPr txBox="1"/>
          <p:nvPr/>
        </p:nvSpPr>
        <p:spPr>
          <a:xfrm>
            <a:off x="1024128" y="4626864"/>
            <a:ext cx="2103120" cy="384048"/>
          </a:xfrm>
          <a:prstGeom prst="rect">
            <a:avLst/>
          </a:prstGeom>
          <a:noFill/>
          <a:ln/>
        </p:spPr>
        <p:txBody>
          <a:bodyPr wrap="square" lIns="0" tIns="0" rIns="0" bIns="0" rtlCol="0" anchor="ctr"/>
          <a:lstStyle/>
          <a:p>
            <a:pPr indent="0" marL="0">
              <a:buNone/>
            </a:pPr>
            <a:r>
              <a:rPr lang="en-US" sz="2200" b="1" dirty="0">
                <a:solidFill>
                  <a:srgbClr val="FFC145"/>
                </a:solidFill>
                <a:latin typeface="Cambria" pitchFamily="34" charset="0"/>
                <a:ea typeface="Cambria" pitchFamily="34" charset="-122"/>
                <a:cs typeface="Cambria" pitchFamily="34" charset="-120"/>
              </a:rPr>
              <a:t>90 min</a:t>
            </a:r>
            <a:endParaRPr lang="en-US" sz="2200" dirty="0"/>
          </a:p>
        </p:txBody>
      </p:sp>
      <p:sp>
        <p:nvSpPr>
          <p:cNvPr id="9" name="Text 7"/>
          <p:cNvSpPr txBox="1"/>
          <p:nvPr/>
        </p:nvSpPr>
        <p:spPr>
          <a:xfrm>
            <a:off x="1024128" y="5029200"/>
            <a:ext cx="2103120" cy="320040"/>
          </a:xfrm>
          <a:prstGeom prst="rect">
            <a:avLst/>
          </a:prstGeom>
          <a:noFill/>
          <a:ln/>
        </p:spPr>
        <p:txBody>
          <a:bodyPr wrap="square" lIns="0" tIns="0" rIns="0" bIns="0" rtlCol="0" anchor="ctr"/>
          <a:lstStyle/>
          <a:p>
            <a:pPr indent="0" marL="0">
              <a:buNone/>
            </a:pPr>
            <a:r>
              <a:rPr lang="en-US" sz="1200" dirty="0">
                <a:solidFill>
                  <a:srgbClr val="9DB2CE"/>
                </a:solidFill>
                <a:latin typeface="Calibri" pitchFamily="34" charset="0"/>
                <a:ea typeface="Calibri" pitchFamily="34" charset="-122"/>
                <a:cs typeface="Calibri" pitchFamily="34" charset="-120"/>
              </a:rPr>
              <a:t>Concepts + live code</a:t>
            </a:r>
            <a:endParaRPr lang="en-US" sz="1200" dirty="0"/>
          </a:p>
        </p:txBody>
      </p:sp>
      <p:sp>
        <p:nvSpPr>
          <p:cNvPr id="10" name="Shape 8"/>
          <p:cNvSpPr/>
          <p:nvPr/>
        </p:nvSpPr>
        <p:spPr>
          <a:xfrm>
            <a:off x="3566160" y="4526280"/>
            <a:ext cx="2468880" cy="960120"/>
          </a:xfrm>
          <a:prstGeom prst="roundRect">
            <a:avLst>
              <a:gd name="adj" fmla="val 8571"/>
            </a:avLst>
          </a:prstGeom>
          <a:solidFill>
            <a:srgbClr val="1E3151"/>
          </a:solidFill>
          <a:ln w="12700">
            <a:solidFill>
              <a:srgbClr val="1E3151"/>
            </a:solidFill>
            <a:prstDash val="solid"/>
          </a:ln>
        </p:spPr>
      </p:sp>
      <p:sp>
        <p:nvSpPr>
          <p:cNvPr id="11" name="Text 9"/>
          <p:cNvSpPr txBox="1"/>
          <p:nvPr/>
        </p:nvSpPr>
        <p:spPr>
          <a:xfrm>
            <a:off x="3767328" y="4626864"/>
            <a:ext cx="2103120" cy="384048"/>
          </a:xfrm>
          <a:prstGeom prst="rect">
            <a:avLst/>
          </a:prstGeom>
          <a:noFill/>
          <a:ln/>
        </p:spPr>
        <p:txBody>
          <a:bodyPr wrap="square" lIns="0" tIns="0" rIns="0" bIns="0" rtlCol="0" anchor="ctr"/>
          <a:lstStyle/>
          <a:p>
            <a:pPr indent="0" marL="0">
              <a:buNone/>
            </a:pPr>
            <a:r>
              <a:rPr lang="en-US" sz="2200" b="1" dirty="0">
                <a:solidFill>
                  <a:srgbClr val="FFC145"/>
                </a:solidFill>
                <a:latin typeface="Cambria" pitchFamily="34" charset="0"/>
                <a:ea typeface="Cambria" pitchFamily="34" charset="-122"/>
                <a:cs typeface="Cambria" pitchFamily="34" charset="-120"/>
              </a:rPr>
              <a:t>30 min</a:t>
            </a:r>
            <a:endParaRPr lang="en-US" sz="2200" dirty="0"/>
          </a:p>
        </p:txBody>
      </p:sp>
      <p:sp>
        <p:nvSpPr>
          <p:cNvPr id="12" name="Text 10"/>
          <p:cNvSpPr txBox="1"/>
          <p:nvPr/>
        </p:nvSpPr>
        <p:spPr>
          <a:xfrm>
            <a:off x="3767328" y="5029200"/>
            <a:ext cx="2103120" cy="320040"/>
          </a:xfrm>
          <a:prstGeom prst="rect">
            <a:avLst/>
          </a:prstGeom>
          <a:noFill/>
          <a:ln/>
        </p:spPr>
        <p:txBody>
          <a:bodyPr wrap="square" lIns="0" tIns="0" rIns="0" bIns="0" rtlCol="0" anchor="ctr"/>
          <a:lstStyle/>
          <a:p>
            <a:pPr indent="0" marL="0">
              <a:buNone/>
            </a:pPr>
            <a:r>
              <a:rPr lang="en-US" sz="1200" dirty="0">
                <a:solidFill>
                  <a:srgbClr val="9DB2CE"/>
                </a:solidFill>
                <a:latin typeface="Calibri" pitchFamily="34" charset="0"/>
                <a:ea typeface="Calibri" pitchFamily="34" charset="-122"/>
                <a:cs typeface="Calibri" pitchFamily="34" charset="-120"/>
              </a:rPr>
              <a:t>Practice notebook</a:t>
            </a:r>
            <a:endParaRPr lang="en-US" sz="1200" dirty="0"/>
          </a:p>
        </p:txBody>
      </p:sp>
      <p:sp>
        <p:nvSpPr>
          <p:cNvPr id="13" name="Shape 11"/>
          <p:cNvSpPr/>
          <p:nvPr/>
        </p:nvSpPr>
        <p:spPr>
          <a:xfrm>
            <a:off x="6309360" y="4526280"/>
            <a:ext cx="2468880" cy="960120"/>
          </a:xfrm>
          <a:prstGeom prst="roundRect">
            <a:avLst>
              <a:gd name="adj" fmla="val 8571"/>
            </a:avLst>
          </a:prstGeom>
          <a:solidFill>
            <a:srgbClr val="1E3151"/>
          </a:solidFill>
          <a:ln w="12700">
            <a:solidFill>
              <a:srgbClr val="1E3151"/>
            </a:solidFill>
            <a:prstDash val="solid"/>
          </a:ln>
        </p:spPr>
      </p:sp>
      <p:sp>
        <p:nvSpPr>
          <p:cNvPr id="14" name="Text 12"/>
          <p:cNvSpPr txBox="1"/>
          <p:nvPr/>
        </p:nvSpPr>
        <p:spPr>
          <a:xfrm>
            <a:off x="6510528" y="4626864"/>
            <a:ext cx="2103120" cy="384048"/>
          </a:xfrm>
          <a:prstGeom prst="rect">
            <a:avLst/>
          </a:prstGeom>
          <a:noFill/>
          <a:ln/>
        </p:spPr>
        <p:txBody>
          <a:bodyPr wrap="square" lIns="0" tIns="0" rIns="0" bIns="0" rtlCol="0" anchor="ctr"/>
          <a:lstStyle/>
          <a:p>
            <a:pPr indent="0" marL="0">
              <a:buNone/>
            </a:pPr>
            <a:r>
              <a:rPr lang="en-US" sz="2200" b="1" dirty="0">
                <a:solidFill>
                  <a:srgbClr val="FFC145"/>
                </a:solidFill>
                <a:latin typeface="Cambria" pitchFamily="34" charset="0"/>
                <a:ea typeface="Cambria" pitchFamily="34" charset="-122"/>
                <a:cs typeface="Cambria" pitchFamily="34" charset="-120"/>
              </a:rPr>
              <a:t>4</a:t>
            </a:r>
            <a:endParaRPr lang="en-US" sz="2200" dirty="0"/>
          </a:p>
        </p:txBody>
      </p:sp>
      <p:sp>
        <p:nvSpPr>
          <p:cNvPr id="15" name="Text 13"/>
          <p:cNvSpPr txBox="1"/>
          <p:nvPr/>
        </p:nvSpPr>
        <p:spPr>
          <a:xfrm>
            <a:off x="6510528" y="5029200"/>
            <a:ext cx="2103120" cy="320040"/>
          </a:xfrm>
          <a:prstGeom prst="rect">
            <a:avLst/>
          </a:prstGeom>
          <a:noFill/>
          <a:ln/>
        </p:spPr>
        <p:txBody>
          <a:bodyPr wrap="square" lIns="0" tIns="0" rIns="0" bIns="0" rtlCol="0" anchor="ctr"/>
          <a:lstStyle/>
          <a:p>
            <a:pPr indent="0" marL="0">
              <a:buNone/>
            </a:pPr>
            <a:r>
              <a:rPr lang="en-US" sz="1200" dirty="0">
                <a:solidFill>
                  <a:srgbClr val="9DB2CE"/>
                </a:solidFill>
                <a:latin typeface="Calibri" pitchFamily="34" charset="0"/>
                <a:ea typeface="Calibri" pitchFamily="34" charset="-122"/>
                <a:cs typeface="Calibri" pitchFamily="34" charset="-120"/>
              </a:rPr>
              <a:t>Ways to pass arguments</a:t>
            </a:r>
            <a:endParaRPr lang="en-US" sz="1200" dirty="0"/>
          </a:p>
        </p:txBody>
      </p:sp>
      <p:sp>
        <p:nvSpPr>
          <p:cNvPr id="16" name="Shape 14"/>
          <p:cNvSpPr/>
          <p:nvPr/>
        </p:nvSpPr>
        <p:spPr>
          <a:xfrm>
            <a:off x="9098280" y="1371600"/>
            <a:ext cx="2514600" cy="2514600"/>
          </a:xfrm>
          <a:prstGeom prst="roundRect">
            <a:avLst>
              <a:gd name="adj" fmla="val 3636"/>
            </a:avLst>
          </a:prstGeom>
          <a:solidFill>
            <a:srgbClr val="FFFFFF"/>
          </a:solidFill>
          <a:ln w="12700">
            <a:solidFill>
              <a:srgbClr val="333333"/>
            </a:solidFill>
            <a:prstDash val="solid"/>
          </a:ln>
          <a:effectLst>
            <a:outerShdw sx="100000" sy="100000" kx="0" ky="0" algn="bl" rotWithShape="0" blurRad="177800" dist="38100" dir="5400000">
              <a:srgbClr val="000000">
                <a:alpha val="35000"/>
              </a:srgbClr>
            </a:outerShdw>
          </a:effectLst>
        </p:spPr>
      </p:sp>
      <p:pic>
        <p:nvPicPr>
          <p:cNvPr id="17" name="Image 0" descr="/home/claude/day3/bu_logo.png">    </p:cNvPr>
          <p:cNvPicPr>
            <a:picLocks noChangeAspect="1"/>
          </p:cNvPicPr>
          <p:nvPr/>
        </p:nvPicPr>
        <p:blipFill>
          <a:blip r:embed="rId1"/>
          <a:stretch>
            <a:fillRect/>
          </a:stretch>
        </p:blipFill>
        <p:spPr>
          <a:xfrm>
            <a:off x="9400032" y="1737360"/>
            <a:ext cx="1911096" cy="1783080"/>
          </a:xfrm>
          <a:prstGeom prst="rect">
            <a:avLst/>
          </a:prstGeom>
        </p:spPr>
      </p:pic>
      <p:sp>
        <p:nvSpPr>
          <p:cNvPr id="18" name="Text 15"/>
          <p:cNvSpPr txBox="1"/>
          <p:nvPr/>
        </p:nvSpPr>
        <p:spPr>
          <a:xfrm>
            <a:off x="9098280" y="3977640"/>
            <a:ext cx="2514600" cy="274320"/>
          </a:xfrm>
          <a:prstGeom prst="rect">
            <a:avLst/>
          </a:prstGeom>
          <a:noFill/>
          <a:ln/>
        </p:spPr>
        <p:txBody>
          <a:bodyPr wrap="square" lIns="0" tIns="0" rIns="0" bIns="0" rtlCol="0" anchor="ctr"/>
          <a:lstStyle/>
          <a:p>
            <a:pPr algn="ctr" indent="0" marL="0">
              <a:buNone/>
            </a:pPr>
            <a:r>
              <a:rPr lang="en-US" sz="1200" b="1" dirty="0">
                <a:solidFill>
                  <a:srgbClr val="AFC2DC"/>
                </a:solidFill>
                <a:latin typeface="Calibri" pitchFamily="34" charset="0"/>
                <a:ea typeface="Calibri" pitchFamily="34" charset="-122"/>
                <a:cs typeface="Calibri" pitchFamily="34" charset="-120"/>
              </a:rPr>
              <a:t>Boston University</a:t>
            </a:r>
            <a:endParaRPr lang="en-US" sz="1200" dirty="0"/>
          </a:p>
        </p:txBody>
      </p:sp>
      <p:sp>
        <p:nvSpPr>
          <p:cNvPr id="19" name="Text 16"/>
          <p:cNvSpPr txBox="1"/>
          <p:nvPr/>
        </p:nvSpPr>
        <p:spPr>
          <a:xfrm>
            <a:off x="841248" y="5806440"/>
            <a:ext cx="7315200" cy="292608"/>
          </a:xfrm>
          <a:prstGeom prst="rect">
            <a:avLst/>
          </a:prstGeom>
          <a:noFill/>
          <a:ln/>
        </p:spPr>
        <p:txBody>
          <a:bodyPr wrap="square" lIns="0" tIns="0" rIns="0" bIns="0" rtlCol="0" anchor="ctr"/>
          <a:lstStyle/>
          <a:p>
            <a:pPr indent="0" marL="0">
              <a:buNone/>
            </a:pPr>
            <a:r>
              <a:rPr lang="en-US" sz="1300" dirty="0">
                <a:solidFill>
                  <a:srgbClr val="8FA6C4"/>
                </a:solidFill>
                <a:latin typeface="Calibri" pitchFamily="34" charset="0"/>
                <a:ea typeface="Calibri" pitchFamily="34" charset="-122"/>
                <a:cs typeface="Calibri" pitchFamily="34" charset="-120"/>
              </a:rPr>
              <a:t>Prepared &amp; presented by  </a:t>
            </a:r>
            <a:pPr indent="0" marL="0">
              <a:buNone/>
            </a:pPr>
            <a:r>
              <a:rPr lang="en-US" sz="1300" b="1" dirty="0">
                <a:solidFill>
                  <a:srgbClr val="FFC145"/>
                </a:solidFill>
                <a:latin typeface="Calibri" pitchFamily="34" charset="0"/>
                <a:ea typeface="Calibri" pitchFamily="34" charset="-122"/>
                <a:cs typeface="Calibri" pitchFamily="34" charset="-120"/>
              </a:rPr>
              <a:t>Srinivasa Sai Chava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WARM-UP  ·  5 MINUTES</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Before we start — five questions from Day 2</a:t>
            </a:r>
            <a:endParaRPr lang="en-US" sz="3200" dirty="0"/>
          </a:p>
        </p:txBody>
      </p:sp>
      <p:sp>
        <p:nvSpPr>
          <p:cNvPr id="5" name="Shape 3"/>
          <p:cNvSpPr/>
          <p:nvPr/>
        </p:nvSpPr>
        <p:spPr>
          <a:xfrm>
            <a:off x="548640" y="1572768"/>
            <a:ext cx="11064240" cy="731520"/>
          </a:xfrm>
          <a:prstGeom prst="roundRect">
            <a:avLst>
              <a:gd name="adj" fmla="val 1125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777240" y="1746504"/>
            <a:ext cx="384048" cy="384048"/>
          </a:xfrm>
          <a:prstGeom prst="ellipse">
            <a:avLst/>
          </a:prstGeom>
          <a:solidFill>
            <a:srgbClr val="3E7CB1"/>
          </a:solidFill>
          <a:ln w="12700">
            <a:solidFill>
              <a:srgbClr val="3E7CB1"/>
            </a:solidFill>
            <a:prstDash val="solid"/>
          </a:ln>
        </p:spPr>
      </p:sp>
      <p:sp>
        <p:nvSpPr>
          <p:cNvPr id="7" name="Text 5"/>
          <p:cNvSpPr txBox="1"/>
          <p:nvPr/>
        </p:nvSpPr>
        <p:spPr>
          <a:xfrm>
            <a:off x="777240" y="17465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325880" y="1773936"/>
            <a:ext cx="4572000" cy="329184"/>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range(1, 5) gives which numbers?</a:t>
            </a:r>
            <a:endParaRPr lang="en-US" sz="1400" dirty="0"/>
          </a:p>
        </p:txBody>
      </p:sp>
      <p:sp>
        <p:nvSpPr>
          <p:cNvPr id="9" name="Text 7"/>
          <p:cNvSpPr txBox="1"/>
          <p:nvPr/>
        </p:nvSpPr>
        <p:spPr>
          <a:xfrm>
            <a:off x="6035040" y="1773936"/>
            <a:ext cx="5394960" cy="329184"/>
          </a:xfrm>
          <a:prstGeom prst="rect">
            <a:avLst/>
          </a:prstGeom>
          <a:noFill/>
          <a:ln/>
        </p:spPr>
        <p:txBody>
          <a:bodyPr wrap="square" lIns="0" tIns="0" rIns="0" bIns="0" rtlCol="0" anchor="ctr"/>
          <a:lstStyle/>
          <a:p>
            <a:pPr indent="0" marL="0">
              <a:buNone/>
            </a:pPr>
            <a:r>
              <a:rPr lang="en-US" sz="1300" b="1" dirty="0">
                <a:solidFill>
                  <a:srgbClr val="2FA98C"/>
                </a:solidFill>
                <a:latin typeface="Calibri" pitchFamily="34" charset="0"/>
                <a:ea typeface="Calibri" pitchFamily="34" charset="-122"/>
                <a:cs typeface="Calibri" pitchFamily="34" charset="-120"/>
              </a:rPr>
              <a:t>→   </a:t>
            </a:r>
            <a:pPr indent="0" marL="0">
              <a:buNone/>
            </a:pPr>
            <a:r>
              <a:rPr lang="en-US" sz="1300" dirty="0">
                <a:solidFill>
                  <a:srgbClr val="2B3445"/>
                </a:solidFill>
                <a:latin typeface="Calibri" pitchFamily="34" charset="0"/>
                <a:ea typeface="Calibri" pitchFamily="34" charset="-122"/>
                <a:cs typeface="Calibri" pitchFamily="34" charset="-120"/>
              </a:rPr>
              <a:t>1, 2, 3, 4  —  the stop value is excluded.</a:t>
            </a:r>
            <a:endParaRPr lang="en-US" sz="1300" dirty="0"/>
          </a:p>
        </p:txBody>
      </p:sp>
      <p:sp>
        <p:nvSpPr>
          <p:cNvPr id="10" name="Shape 8"/>
          <p:cNvSpPr/>
          <p:nvPr/>
        </p:nvSpPr>
        <p:spPr>
          <a:xfrm>
            <a:off x="548640" y="2414016"/>
            <a:ext cx="11064240" cy="731520"/>
          </a:xfrm>
          <a:prstGeom prst="roundRect">
            <a:avLst>
              <a:gd name="adj" fmla="val 1125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1" name="Shape 9"/>
          <p:cNvSpPr/>
          <p:nvPr/>
        </p:nvSpPr>
        <p:spPr>
          <a:xfrm>
            <a:off x="777240" y="2587752"/>
            <a:ext cx="384048" cy="384048"/>
          </a:xfrm>
          <a:prstGeom prst="ellipse">
            <a:avLst/>
          </a:prstGeom>
          <a:solidFill>
            <a:srgbClr val="3E7CB1"/>
          </a:solidFill>
          <a:ln w="12700">
            <a:solidFill>
              <a:srgbClr val="3E7CB1"/>
            </a:solidFill>
            <a:prstDash val="solid"/>
          </a:ln>
        </p:spPr>
      </p:sp>
      <p:sp>
        <p:nvSpPr>
          <p:cNvPr id="12" name="Text 10"/>
          <p:cNvSpPr txBox="1"/>
          <p:nvPr/>
        </p:nvSpPr>
        <p:spPr>
          <a:xfrm>
            <a:off x="777240" y="25877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1325880" y="2615184"/>
            <a:ext cx="4572000" cy="329184"/>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Does continue stop the loop?</a:t>
            </a:r>
            <a:endParaRPr lang="en-US" sz="1400" dirty="0"/>
          </a:p>
        </p:txBody>
      </p:sp>
      <p:sp>
        <p:nvSpPr>
          <p:cNvPr id="14" name="Text 12"/>
          <p:cNvSpPr txBox="1"/>
          <p:nvPr/>
        </p:nvSpPr>
        <p:spPr>
          <a:xfrm>
            <a:off x="6035040" y="2615184"/>
            <a:ext cx="5394960" cy="329184"/>
          </a:xfrm>
          <a:prstGeom prst="rect">
            <a:avLst/>
          </a:prstGeom>
          <a:noFill/>
          <a:ln/>
        </p:spPr>
        <p:txBody>
          <a:bodyPr wrap="square" lIns="0" tIns="0" rIns="0" bIns="0" rtlCol="0" anchor="ctr"/>
          <a:lstStyle/>
          <a:p>
            <a:pPr indent="0" marL="0">
              <a:buNone/>
            </a:pPr>
            <a:r>
              <a:rPr lang="en-US" sz="1300" b="1" dirty="0">
                <a:solidFill>
                  <a:srgbClr val="2FA98C"/>
                </a:solidFill>
                <a:latin typeface="Calibri" pitchFamily="34" charset="0"/>
                <a:ea typeface="Calibri" pitchFamily="34" charset="-122"/>
                <a:cs typeface="Calibri" pitchFamily="34" charset="-120"/>
              </a:rPr>
              <a:t>→   </a:t>
            </a:r>
            <a:pPr indent="0" marL="0">
              <a:buNone/>
            </a:pPr>
            <a:r>
              <a:rPr lang="en-US" sz="1300" dirty="0">
                <a:solidFill>
                  <a:srgbClr val="2B3445"/>
                </a:solidFill>
                <a:latin typeface="Calibri" pitchFamily="34" charset="0"/>
                <a:ea typeface="Calibri" pitchFamily="34" charset="-122"/>
                <a:cs typeface="Calibri" pitchFamily="34" charset="-120"/>
              </a:rPr>
              <a:t>No. It skips one item. Only break stops it.</a:t>
            </a:r>
            <a:endParaRPr lang="en-US" sz="1300" dirty="0"/>
          </a:p>
        </p:txBody>
      </p:sp>
      <p:sp>
        <p:nvSpPr>
          <p:cNvPr id="15" name="Shape 13"/>
          <p:cNvSpPr/>
          <p:nvPr/>
        </p:nvSpPr>
        <p:spPr>
          <a:xfrm>
            <a:off x="548640" y="3255264"/>
            <a:ext cx="11064240" cy="731520"/>
          </a:xfrm>
          <a:prstGeom prst="roundRect">
            <a:avLst>
              <a:gd name="adj" fmla="val 1125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6" name="Shape 14"/>
          <p:cNvSpPr/>
          <p:nvPr/>
        </p:nvSpPr>
        <p:spPr>
          <a:xfrm>
            <a:off x="777240" y="3429000"/>
            <a:ext cx="384048" cy="384048"/>
          </a:xfrm>
          <a:prstGeom prst="ellipse">
            <a:avLst/>
          </a:prstGeom>
          <a:solidFill>
            <a:srgbClr val="3E7CB1"/>
          </a:solidFill>
          <a:ln w="12700">
            <a:solidFill>
              <a:srgbClr val="3E7CB1"/>
            </a:solidFill>
            <a:prstDash val="solid"/>
          </a:ln>
        </p:spPr>
      </p:sp>
      <p:sp>
        <p:nvSpPr>
          <p:cNvPr id="17" name="Text 15"/>
          <p:cNvSpPr txBox="1"/>
          <p:nvPr/>
        </p:nvSpPr>
        <p:spPr>
          <a:xfrm>
            <a:off x="777240" y="34290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1325880" y="3456432"/>
            <a:ext cx="4572000" cy="329184"/>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Why do three separate ifs go wrong?</a:t>
            </a:r>
            <a:endParaRPr lang="en-US" sz="1400" dirty="0"/>
          </a:p>
        </p:txBody>
      </p:sp>
      <p:sp>
        <p:nvSpPr>
          <p:cNvPr id="19" name="Text 17"/>
          <p:cNvSpPr txBox="1"/>
          <p:nvPr/>
        </p:nvSpPr>
        <p:spPr>
          <a:xfrm>
            <a:off x="6035040" y="3456432"/>
            <a:ext cx="5394960" cy="329184"/>
          </a:xfrm>
          <a:prstGeom prst="rect">
            <a:avLst/>
          </a:prstGeom>
          <a:noFill/>
          <a:ln/>
        </p:spPr>
        <p:txBody>
          <a:bodyPr wrap="square" lIns="0" tIns="0" rIns="0" bIns="0" rtlCol="0" anchor="ctr"/>
          <a:lstStyle/>
          <a:p>
            <a:pPr indent="0" marL="0">
              <a:buNone/>
            </a:pPr>
            <a:r>
              <a:rPr lang="en-US" sz="1300" b="1" dirty="0">
                <a:solidFill>
                  <a:srgbClr val="2FA98C"/>
                </a:solidFill>
                <a:latin typeface="Calibri" pitchFamily="34" charset="0"/>
                <a:ea typeface="Calibri" pitchFamily="34" charset="-122"/>
                <a:cs typeface="Calibri" pitchFamily="34" charset="-120"/>
              </a:rPr>
              <a:t>→   </a:t>
            </a:r>
            <a:pPr indent="0" marL="0">
              <a:buNone/>
            </a:pPr>
            <a:r>
              <a:rPr lang="en-US" sz="1300" dirty="0">
                <a:solidFill>
                  <a:srgbClr val="2B3445"/>
                </a:solidFill>
                <a:latin typeface="Calibri" pitchFamily="34" charset="0"/>
                <a:ea typeface="Calibri" pitchFamily="34" charset="-122"/>
                <a:cs typeface="Calibri" pitchFamily="34" charset="-120"/>
              </a:rPr>
              <a:t>All are tested; each match overwrites the last. Use elif.</a:t>
            </a:r>
            <a:endParaRPr lang="en-US" sz="1300" dirty="0"/>
          </a:p>
        </p:txBody>
      </p:sp>
      <p:sp>
        <p:nvSpPr>
          <p:cNvPr id="20" name="Shape 18"/>
          <p:cNvSpPr/>
          <p:nvPr/>
        </p:nvSpPr>
        <p:spPr>
          <a:xfrm>
            <a:off x="548640" y="4096512"/>
            <a:ext cx="11064240" cy="731520"/>
          </a:xfrm>
          <a:prstGeom prst="roundRect">
            <a:avLst>
              <a:gd name="adj" fmla="val 1125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1" name="Shape 19"/>
          <p:cNvSpPr/>
          <p:nvPr/>
        </p:nvSpPr>
        <p:spPr>
          <a:xfrm>
            <a:off x="777240" y="4270248"/>
            <a:ext cx="384048" cy="384048"/>
          </a:xfrm>
          <a:prstGeom prst="ellipse">
            <a:avLst/>
          </a:prstGeom>
          <a:solidFill>
            <a:srgbClr val="3E7CB1"/>
          </a:solidFill>
          <a:ln w="12700">
            <a:solidFill>
              <a:srgbClr val="3E7CB1"/>
            </a:solidFill>
            <a:prstDash val="solid"/>
          </a:ln>
        </p:spPr>
      </p:sp>
      <p:sp>
        <p:nvSpPr>
          <p:cNvPr id="22" name="Text 20"/>
          <p:cNvSpPr txBox="1"/>
          <p:nvPr/>
        </p:nvSpPr>
        <p:spPr>
          <a:xfrm>
            <a:off x="777240" y="42702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txBox="1"/>
          <p:nvPr/>
        </p:nvSpPr>
        <p:spPr>
          <a:xfrm>
            <a:off x="1325880" y="4297680"/>
            <a:ext cx="4572000" cy="329184"/>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What makes a while loop run forever?</a:t>
            </a:r>
            <a:endParaRPr lang="en-US" sz="1400" dirty="0"/>
          </a:p>
        </p:txBody>
      </p:sp>
      <p:sp>
        <p:nvSpPr>
          <p:cNvPr id="24" name="Text 22"/>
          <p:cNvSpPr txBox="1"/>
          <p:nvPr/>
        </p:nvSpPr>
        <p:spPr>
          <a:xfrm>
            <a:off x="6035040" y="4297680"/>
            <a:ext cx="5394960" cy="329184"/>
          </a:xfrm>
          <a:prstGeom prst="rect">
            <a:avLst/>
          </a:prstGeom>
          <a:noFill/>
          <a:ln/>
        </p:spPr>
        <p:txBody>
          <a:bodyPr wrap="square" lIns="0" tIns="0" rIns="0" bIns="0" rtlCol="0" anchor="ctr"/>
          <a:lstStyle/>
          <a:p>
            <a:pPr indent="0" marL="0">
              <a:buNone/>
            </a:pPr>
            <a:r>
              <a:rPr lang="en-US" sz="1300" b="1" dirty="0">
                <a:solidFill>
                  <a:srgbClr val="2FA98C"/>
                </a:solidFill>
                <a:latin typeface="Calibri" pitchFamily="34" charset="0"/>
                <a:ea typeface="Calibri" pitchFamily="34" charset="-122"/>
                <a:cs typeface="Calibri" pitchFamily="34" charset="-120"/>
              </a:rPr>
              <a:t>→   </a:t>
            </a:r>
            <a:pPr indent="0" marL="0">
              <a:buNone/>
            </a:pPr>
            <a:r>
              <a:rPr lang="en-US" sz="1300" dirty="0">
                <a:solidFill>
                  <a:srgbClr val="2B3445"/>
                </a:solidFill>
                <a:latin typeface="Calibri" pitchFamily="34" charset="0"/>
                <a:ea typeface="Calibri" pitchFamily="34" charset="-122"/>
                <a:cs typeface="Calibri" pitchFamily="34" charset="-120"/>
              </a:rPr>
              <a:t>No update inside the body. Press stop in Colab.</a:t>
            </a:r>
            <a:endParaRPr lang="en-US" sz="1300" dirty="0"/>
          </a:p>
        </p:txBody>
      </p:sp>
      <p:sp>
        <p:nvSpPr>
          <p:cNvPr id="25" name="Shape 23"/>
          <p:cNvSpPr/>
          <p:nvPr/>
        </p:nvSpPr>
        <p:spPr>
          <a:xfrm>
            <a:off x="548640" y="4937760"/>
            <a:ext cx="11064240" cy="731520"/>
          </a:xfrm>
          <a:prstGeom prst="roundRect">
            <a:avLst>
              <a:gd name="adj" fmla="val 1125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6" name="Shape 24"/>
          <p:cNvSpPr/>
          <p:nvPr/>
        </p:nvSpPr>
        <p:spPr>
          <a:xfrm>
            <a:off x="777240" y="5111496"/>
            <a:ext cx="384048" cy="384048"/>
          </a:xfrm>
          <a:prstGeom prst="ellipse">
            <a:avLst/>
          </a:prstGeom>
          <a:solidFill>
            <a:srgbClr val="3E7CB1"/>
          </a:solidFill>
          <a:ln w="12700">
            <a:solidFill>
              <a:srgbClr val="3E7CB1"/>
            </a:solidFill>
            <a:prstDash val="solid"/>
          </a:ln>
        </p:spPr>
      </p:sp>
      <p:sp>
        <p:nvSpPr>
          <p:cNvPr id="27" name="Text 25"/>
          <p:cNvSpPr txBox="1"/>
          <p:nvPr/>
        </p:nvSpPr>
        <p:spPr>
          <a:xfrm>
            <a:off x="777240" y="51114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Text 26"/>
          <p:cNvSpPr txBox="1"/>
          <p:nvPr/>
        </p:nvSpPr>
        <p:spPr>
          <a:xfrm>
            <a:off x="1325880" y="5138928"/>
            <a:ext cx="4572000" cy="329184"/>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for n in nums: n = n*2  — what changes?</a:t>
            </a:r>
            <a:endParaRPr lang="en-US" sz="1400" dirty="0"/>
          </a:p>
        </p:txBody>
      </p:sp>
      <p:sp>
        <p:nvSpPr>
          <p:cNvPr id="29" name="Text 27"/>
          <p:cNvSpPr txBox="1"/>
          <p:nvPr/>
        </p:nvSpPr>
        <p:spPr>
          <a:xfrm>
            <a:off x="6035040" y="5138928"/>
            <a:ext cx="5394960" cy="329184"/>
          </a:xfrm>
          <a:prstGeom prst="rect">
            <a:avLst/>
          </a:prstGeom>
          <a:noFill/>
          <a:ln/>
        </p:spPr>
        <p:txBody>
          <a:bodyPr wrap="square" lIns="0" tIns="0" rIns="0" bIns="0" rtlCol="0" anchor="ctr"/>
          <a:lstStyle/>
          <a:p>
            <a:pPr indent="0" marL="0">
              <a:buNone/>
            </a:pPr>
            <a:r>
              <a:rPr lang="en-US" sz="1300" b="1" dirty="0">
                <a:solidFill>
                  <a:srgbClr val="2FA98C"/>
                </a:solidFill>
                <a:latin typeface="Calibri" pitchFamily="34" charset="0"/>
                <a:ea typeface="Calibri" pitchFamily="34" charset="-122"/>
                <a:cs typeface="Calibri" pitchFamily="34" charset="-120"/>
              </a:rPr>
              <a:t>→   </a:t>
            </a:r>
            <a:pPr indent="0" marL="0">
              <a:buNone/>
            </a:pPr>
            <a:r>
              <a:rPr lang="en-US" sz="1300" dirty="0">
                <a:solidFill>
                  <a:srgbClr val="2B3445"/>
                </a:solidFill>
                <a:latin typeface="Calibri" pitchFamily="34" charset="0"/>
                <a:ea typeface="Calibri" pitchFamily="34" charset="-122"/>
                <a:cs typeface="Calibri" pitchFamily="34" charset="-120"/>
              </a:rPr>
              <a:t>Nothing. n is a copy; append to a new list.</a:t>
            </a:r>
            <a:endParaRPr lang="en-US" sz="1300" dirty="0"/>
          </a:p>
        </p:txBody>
      </p:sp>
      <p:sp>
        <p:nvSpPr>
          <p:cNvPr id="30" name="Text 28"/>
          <p:cNvSpPr txBox="1"/>
          <p:nvPr/>
        </p:nvSpPr>
        <p:spPr>
          <a:xfrm>
            <a:off x="548640" y="5852160"/>
            <a:ext cx="11064240" cy="292608"/>
          </a:xfrm>
          <a:prstGeom prst="rect">
            <a:avLst/>
          </a:prstGeom>
          <a:noFill/>
          <a:ln/>
        </p:spPr>
        <p:txBody>
          <a:bodyPr wrap="square" lIns="0" tIns="0" rIns="0" bIns="0" rtlCol="0" anchor="ctr"/>
          <a:lstStyle/>
          <a:p>
            <a:pPr indent="0" marL="0">
              <a:buNone/>
            </a:pPr>
            <a:r>
              <a:rPr lang="en-US" sz="1300" i="1" dirty="0">
                <a:solidFill>
                  <a:srgbClr val="6B7789"/>
                </a:solidFill>
                <a:latin typeface="Calibri" pitchFamily="34" charset="0"/>
                <a:ea typeface="Calibri" pitchFamily="34" charset="-122"/>
                <a:cs typeface="Calibri" pitchFamily="34" charset="-120"/>
              </a:rPr>
              <a:t>A function body is just another indented block — yesterday's indentation work carries straight over.</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SESSION PLAN</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How today's two hours are structured</a:t>
            </a:r>
            <a:endParaRPr lang="en-US" sz="3200" dirty="0"/>
          </a:p>
        </p:txBody>
      </p:sp>
      <p:sp>
        <p:nvSpPr>
          <p:cNvPr id="5" name="Shape 3"/>
          <p:cNvSpPr/>
          <p:nvPr/>
        </p:nvSpPr>
        <p:spPr>
          <a:xfrm>
            <a:off x="548640" y="169164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804672" y="2039112"/>
            <a:ext cx="420624" cy="420624"/>
          </a:xfrm>
          <a:prstGeom prst="ellipse">
            <a:avLst/>
          </a:prstGeom>
          <a:solidFill>
            <a:srgbClr val="3E7CB1"/>
          </a:solidFill>
          <a:ln w="12700">
            <a:solidFill>
              <a:srgbClr val="3E7CB1"/>
            </a:solidFill>
            <a:prstDash val="solid"/>
          </a:ln>
        </p:spPr>
      </p:sp>
      <p:sp>
        <p:nvSpPr>
          <p:cNvPr id="7" name="Text 5"/>
          <p:cNvSpPr txBox="1"/>
          <p:nvPr/>
        </p:nvSpPr>
        <p:spPr>
          <a:xfrm>
            <a:off x="804672" y="203911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417320" y="1874520"/>
            <a:ext cx="3200400" cy="347472"/>
          </a:xfrm>
          <a:prstGeom prst="rect">
            <a:avLst/>
          </a:prstGeom>
          <a:noFill/>
          <a:ln/>
        </p:spPr>
        <p:txBody>
          <a:bodyPr wrap="square" lIns="0" tIns="0" rIns="0" bIns="0" rtlCol="0" anchor="ctr"/>
          <a:lstStyle/>
          <a:p>
            <a:pPr indent="0" marL="0">
              <a:buNone/>
            </a:pPr>
            <a:r>
              <a:rPr lang="en-US" sz="1600" b="1" dirty="0">
                <a:solidFill>
                  <a:srgbClr val="1F3A5F"/>
                </a:solidFill>
                <a:latin typeface="Calibri" pitchFamily="34" charset="0"/>
                <a:ea typeface="Calibri" pitchFamily="34" charset="-122"/>
                <a:cs typeface="Calibri" pitchFamily="34" charset="-120"/>
              </a:rPr>
              <a:t>Defining &amp; calling</a:t>
            </a:r>
            <a:endParaRPr lang="en-US" sz="1600" dirty="0"/>
          </a:p>
        </p:txBody>
      </p:sp>
      <p:sp>
        <p:nvSpPr>
          <p:cNvPr id="9" name="Text 7"/>
          <p:cNvSpPr txBox="1"/>
          <p:nvPr/>
        </p:nvSpPr>
        <p:spPr>
          <a:xfrm>
            <a:off x="1417320" y="224028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def, parameters, return vs print</a:t>
            </a:r>
            <a:endParaRPr lang="en-US" sz="1250" dirty="0"/>
          </a:p>
        </p:txBody>
      </p:sp>
      <p:sp>
        <p:nvSpPr>
          <p:cNvPr id="10" name="Text 8"/>
          <p:cNvSpPr txBox="1"/>
          <p:nvPr/>
        </p:nvSpPr>
        <p:spPr>
          <a:xfrm>
            <a:off x="4709160" y="1874520"/>
            <a:ext cx="109728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20 min</a:t>
            </a:r>
            <a:endParaRPr lang="en-US" sz="1300" dirty="0"/>
          </a:p>
        </p:txBody>
      </p:sp>
      <p:sp>
        <p:nvSpPr>
          <p:cNvPr id="11" name="Shape 9"/>
          <p:cNvSpPr/>
          <p:nvPr/>
        </p:nvSpPr>
        <p:spPr>
          <a:xfrm>
            <a:off x="6263640" y="169164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2" name="Shape 10"/>
          <p:cNvSpPr/>
          <p:nvPr/>
        </p:nvSpPr>
        <p:spPr>
          <a:xfrm>
            <a:off x="6519672" y="2039112"/>
            <a:ext cx="420624" cy="420624"/>
          </a:xfrm>
          <a:prstGeom prst="ellipse">
            <a:avLst/>
          </a:prstGeom>
          <a:solidFill>
            <a:srgbClr val="3E7CB1"/>
          </a:solidFill>
          <a:ln w="12700">
            <a:solidFill>
              <a:srgbClr val="3E7CB1"/>
            </a:solidFill>
            <a:prstDash val="solid"/>
          </a:ln>
        </p:spPr>
      </p:sp>
      <p:sp>
        <p:nvSpPr>
          <p:cNvPr id="13" name="Text 11"/>
          <p:cNvSpPr txBox="1"/>
          <p:nvPr/>
        </p:nvSpPr>
        <p:spPr>
          <a:xfrm>
            <a:off x="6519672" y="203911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7132320" y="1874520"/>
            <a:ext cx="3200400" cy="347472"/>
          </a:xfrm>
          <a:prstGeom prst="rect">
            <a:avLst/>
          </a:prstGeom>
          <a:noFill/>
          <a:ln/>
        </p:spPr>
        <p:txBody>
          <a:bodyPr wrap="square" lIns="0" tIns="0" rIns="0" bIns="0" rtlCol="0" anchor="ctr"/>
          <a:lstStyle/>
          <a:p>
            <a:pPr indent="0" marL="0">
              <a:buNone/>
            </a:pPr>
            <a:r>
              <a:rPr lang="en-US" sz="1600" b="1" dirty="0">
                <a:solidFill>
                  <a:srgbClr val="1F3A5F"/>
                </a:solidFill>
                <a:latin typeface="Calibri" pitchFamily="34" charset="0"/>
                <a:ea typeface="Calibri" pitchFamily="34" charset="-122"/>
                <a:cs typeface="Calibri" pitchFamily="34" charset="-120"/>
              </a:rPr>
              <a:t>Arguments</a:t>
            </a:r>
            <a:endParaRPr lang="en-US" sz="1600" dirty="0"/>
          </a:p>
        </p:txBody>
      </p:sp>
      <p:sp>
        <p:nvSpPr>
          <p:cNvPr id="15" name="Text 13"/>
          <p:cNvSpPr txBox="1"/>
          <p:nvPr/>
        </p:nvSpPr>
        <p:spPr>
          <a:xfrm>
            <a:off x="7132320" y="224028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Positional, keyword, defaults, *args, **kwargs</a:t>
            </a:r>
            <a:endParaRPr lang="en-US" sz="1250" dirty="0"/>
          </a:p>
        </p:txBody>
      </p:sp>
      <p:sp>
        <p:nvSpPr>
          <p:cNvPr id="16" name="Text 14"/>
          <p:cNvSpPr txBox="1"/>
          <p:nvPr/>
        </p:nvSpPr>
        <p:spPr>
          <a:xfrm>
            <a:off x="10424160" y="1874520"/>
            <a:ext cx="109728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30 min</a:t>
            </a:r>
            <a:endParaRPr lang="en-US" sz="1300" dirty="0"/>
          </a:p>
        </p:txBody>
      </p:sp>
      <p:sp>
        <p:nvSpPr>
          <p:cNvPr id="17" name="Shape 15"/>
          <p:cNvSpPr/>
          <p:nvPr/>
        </p:nvSpPr>
        <p:spPr>
          <a:xfrm>
            <a:off x="548640" y="301752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8" name="Shape 16"/>
          <p:cNvSpPr/>
          <p:nvPr/>
        </p:nvSpPr>
        <p:spPr>
          <a:xfrm>
            <a:off x="804672" y="3364992"/>
            <a:ext cx="420624" cy="420624"/>
          </a:xfrm>
          <a:prstGeom prst="ellipse">
            <a:avLst/>
          </a:prstGeom>
          <a:solidFill>
            <a:srgbClr val="3E7CB1"/>
          </a:solidFill>
          <a:ln w="12700">
            <a:solidFill>
              <a:srgbClr val="3E7CB1"/>
            </a:solidFill>
            <a:prstDash val="solid"/>
          </a:ln>
        </p:spPr>
      </p:sp>
      <p:sp>
        <p:nvSpPr>
          <p:cNvPr id="19" name="Text 17"/>
          <p:cNvSpPr txBox="1"/>
          <p:nvPr/>
        </p:nvSpPr>
        <p:spPr>
          <a:xfrm>
            <a:off x="804672" y="336499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1417320" y="3200400"/>
            <a:ext cx="3200400" cy="347472"/>
          </a:xfrm>
          <a:prstGeom prst="rect">
            <a:avLst/>
          </a:prstGeom>
          <a:noFill/>
          <a:ln/>
        </p:spPr>
        <p:txBody>
          <a:bodyPr wrap="square" lIns="0" tIns="0" rIns="0" bIns="0" rtlCol="0" anchor="ctr"/>
          <a:lstStyle/>
          <a:p>
            <a:pPr indent="0" marL="0">
              <a:buNone/>
            </a:pPr>
            <a:r>
              <a:rPr lang="en-US" sz="1600" b="1" dirty="0">
                <a:solidFill>
                  <a:srgbClr val="1F3A5F"/>
                </a:solidFill>
                <a:latin typeface="Calibri" pitchFamily="34" charset="0"/>
                <a:ea typeface="Calibri" pitchFamily="34" charset="-122"/>
                <a:cs typeface="Calibri" pitchFamily="34" charset="-120"/>
              </a:rPr>
              <a:t>Scope</a:t>
            </a:r>
            <a:endParaRPr lang="en-US" sz="1600" dirty="0"/>
          </a:p>
        </p:txBody>
      </p:sp>
      <p:sp>
        <p:nvSpPr>
          <p:cNvPr id="21" name="Text 19"/>
          <p:cNvSpPr txBox="1"/>
          <p:nvPr/>
        </p:nvSpPr>
        <p:spPr>
          <a:xfrm>
            <a:off x="1417320" y="356616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Local vs global, the LEGB rule</a:t>
            </a:r>
            <a:endParaRPr lang="en-US" sz="1250" dirty="0"/>
          </a:p>
        </p:txBody>
      </p:sp>
      <p:sp>
        <p:nvSpPr>
          <p:cNvPr id="22" name="Text 20"/>
          <p:cNvSpPr txBox="1"/>
          <p:nvPr/>
        </p:nvSpPr>
        <p:spPr>
          <a:xfrm>
            <a:off x="4709160" y="3200400"/>
            <a:ext cx="109728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25 min</a:t>
            </a:r>
            <a:endParaRPr lang="en-US" sz="1300" dirty="0"/>
          </a:p>
        </p:txBody>
      </p:sp>
      <p:sp>
        <p:nvSpPr>
          <p:cNvPr id="23" name="Shape 21"/>
          <p:cNvSpPr/>
          <p:nvPr/>
        </p:nvSpPr>
        <p:spPr>
          <a:xfrm>
            <a:off x="6263640" y="301752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4" name="Shape 22"/>
          <p:cNvSpPr/>
          <p:nvPr/>
        </p:nvSpPr>
        <p:spPr>
          <a:xfrm>
            <a:off x="6519672" y="3364992"/>
            <a:ext cx="420624" cy="420624"/>
          </a:xfrm>
          <a:prstGeom prst="ellipse">
            <a:avLst/>
          </a:prstGeom>
          <a:solidFill>
            <a:srgbClr val="3E7CB1"/>
          </a:solidFill>
          <a:ln w="12700">
            <a:solidFill>
              <a:srgbClr val="3E7CB1"/>
            </a:solidFill>
            <a:prstDash val="solid"/>
          </a:ln>
        </p:spPr>
      </p:sp>
      <p:sp>
        <p:nvSpPr>
          <p:cNvPr id="25" name="Text 23"/>
          <p:cNvSpPr txBox="1"/>
          <p:nvPr/>
        </p:nvSpPr>
        <p:spPr>
          <a:xfrm>
            <a:off x="6519672" y="336499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4"/>
          <p:cNvSpPr txBox="1"/>
          <p:nvPr/>
        </p:nvSpPr>
        <p:spPr>
          <a:xfrm>
            <a:off x="7132320" y="3200400"/>
            <a:ext cx="3200400" cy="347472"/>
          </a:xfrm>
          <a:prstGeom prst="rect">
            <a:avLst/>
          </a:prstGeom>
          <a:noFill/>
          <a:ln/>
        </p:spPr>
        <p:txBody>
          <a:bodyPr wrap="square" lIns="0" tIns="0" rIns="0" bIns="0" rtlCol="0" anchor="ctr"/>
          <a:lstStyle/>
          <a:p>
            <a:pPr indent="0" marL="0">
              <a:buNone/>
            </a:pPr>
            <a:r>
              <a:rPr lang="en-US" sz="1600" b="1" dirty="0">
                <a:solidFill>
                  <a:srgbClr val="1F3A5F"/>
                </a:solidFill>
                <a:latin typeface="Calibri" pitchFamily="34" charset="0"/>
                <a:ea typeface="Calibri" pitchFamily="34" charset="-122"/>
                <a:cs typeface="Calibri" pitchFamily="34" charset="-120"/>
              </a:rPr>
              <a:t>Writing them well</a:t>
            </a:r>
            <a:endParaRPr lang="en-US" sz="1600" dirty="0"/>
          </a:p>
        </p:txBody>
      </p:sp>
      <p:sp>
        <p:nvSpPr>
          <p:cNvPr id="27" name="Text 25"/>
          <p:cNvSpPr txBox="1"/>
          <p:nvPr/>
        </p:nvSpPr>
        <p:spPr>
          <a:xfrm>
            <a:off x="7132320" y="356616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Docstrings, type hints, lambda</a:t>
            </a:r>
            <a:endParaRPr lang="en-US" sz="1250" dirty="0"/>
          </a:p>
        </p:txBody>
      </p:sp>
      <p:sp>
        <p:nvSpPr>
          <p:cNvPr id="28" name="Text 26"/>
          <p:cNvSpPr txBox="1"/>
          <p:nvPr/>
        </p:nvSpPr>
        <p:spPr>
          <a:xfrm>
            <a:off x="10424160" y="3200400"/>
            <a:ext cx="109728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10 min</a:t>
            </a:r>
            <a:endParaRPr lang="en-US" sz="1300" dirty="0"/>
          </a:p>
        </p:txBody>
      </p:sp>
      <p:sp>
        <p:nvSpPr>
          <p:cNvPr id="29" name="Shape 27"/>
          <p:cNvSpPr/>
          <p:nvPr/>
        </p:nvSpPr>
        <p:spPr>
          <a:xfrm>
            <a:off x="548640" y="434340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0" name="Shape 28"/>
          <p:cNvSpPr/>
          <p:nvPr/>
        </p:nvSpPr>
        <p:spPr>
          <a:xfrm>
            <a:off x="804672" y="4690872"/>
            <a:ext cx="420624" cy="420624"/>
          </a:xfrm>
          <a:prstGeom prst="ellipse">
            <a:avLst/>
          </a:prstGeom>
          <a:solidFill>
            <a:srgbClr val="2FA98C"/>
          </a:solidFill>
          <a:ln w="12700">
            <a:solidFill>
              <a:srgbClr val="2FA98C"/>
            </a:solidFill>
            <a:prstDash val="solid"/>
          </a:ln>
        </p:spPr>
      </p:sp>
      <p:sp>
        <p:nvSpPr>
          <p:cNvPr id="31" name="Text 29"/>
          <p:cNvSpPr txBox="1"/>
          <p:nvPr/>
        </p:nvSpPr>
        <p:spPr>
          <a:xfrm>
            <a:off x="804672" y="469087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2" name="Text 30"/>
          <p:cNvSpPr txBox="1"/>
          <p:nvPr/>
        </p:nvSpPr>
        <p:spPr>
          <a:xfrm>
            <a:off x="1417320" y="4526280"/>
            <a:ext cx="3200400" cy="347472"/>
          </a:xfrm>
          <a:prstGeom prst="rect">
            <a:avLst/>
          </a:prstGeom>
          <a:noFill/>
          <a:ln/>
        </p:spPr>
        <p:txBody>
          <a:bodyPr wrap="square" lIns="0" tIns="0" rIns="0" bIns="0" rtlCol="0" anchor="ctr"/>
          <a:lstStyle/>
          <a:p>
            <a:pPr indent="0" marL="0">
              <a:buNone/>
            </a:pPr>
            <a:r>
              <a:rPr lang="en-US" sz="1600" b="1" dirty="0">
                <a:solidFill>
                  <a:srgbClr val="1F3A5F"/>
                </a:solidFill>
                <a:latin typeface="Calibri" pitchFamily="34" charset="0"/>
                <a:ea typeface="Calibri" pitchFamily="34" charset="-122"/>
                <a:cs typeface="Calibri" pitchFamily="34" charset="-120"/>
              </a:rPr>
              <a:t>Mini build</a:t>
            </a:r>
            <a:endParaRPr lang="en-US" sz="1600" dirty="0"/>
          </a:p>
        </p:txBody>
      </p:sp>
      <p:sp>
        <p:nvSpPr>
          <p:cNvPr id="33" name="Text 31"/>
          <p:cNvSpPr txBox="1"/>
          <p:nvPr/>
        </p:nvSpPr>
        <p:spPr>
          <a:xfrm>
            <a:off x="1417320" y="489204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Refactoring Day 1's result calculator</a:t>
            </a:r>
            <a:endParaRPr lang="en-US" sz="1250" dirty="0"/>
          </a:p>
        </p:txBody>
      </p:sp>
      <p:sp>
        <p:nvSpPr>
          <p:cNvPr id="34" name="Text 32"/>
          <p:cNvSpPr txBox="1"/>
          <p:nvPr/>
        </p:nvSpPr>
        <p:spPr>
          <a:xfrm>
            <a:off x="4709160" y="4526280"/>
            <a:ext cx="109728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5 min</a:t>
            </a:r>
            <a:endParaRPr lang="en-US" sz="1300" dirty="0"/>
          </a:p>
        </p:txBody>
      </p:sp>
      <p:sp>
        <p:nvSpPr>
          <p:cNvPr id="35" name="Shape 33"/>
          <p:cNvSpPr/>
          <p:nvPr/>
        </p:nvSpPr>
        <p:spPr>
          <a:xfrm>
            <a:off x="6263640" y="434340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6" name="Shape 34"/>
          <p:cNvSpPr/>
          <p:nvPr/>
        </p:nvSpPr>
        <p:spPr>
          <a:xfrm>
            <a:off x="6519672" y="4690872"/>
            <a:ext cx="420624" cy="420624"/>
          </a:xfrm>
          <a:prstGeom prst="ellipse">
            <a:avLst/>
          </a:prstGeom>
          <a:solidFill>
            <a:srgbClr val="FFC145"/>
          </a:solidFill>
          <a:ln w="12700">
            <a:solidFill>
              <a:srgbClr val="FFC145"/>
            </a:solidFill>
            <a:prstDash val="solid"/>
          </a:ln>
        </p:spPr>
      </p:sp>
      <p:sp>
        <p:nvSpPr>
          <p:cNvPr id="37" name="Text 35"/>
          <p:cNvSpPr txBox="1"/>
          <p:nvPr/>
        </p:nvSpPr>
        <p:spPr>
          <a:xfrm>
            <a:off x="6519672" y="4690872"/>
            <a:ext cx="420624" cy="42062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6</a:t>
            </a:r>
            <a:endParaRPr lang="en-US" sz="1300" dirty="0"/>
          </a:p>
        </p:txBody>
      </p:sp>
      <p:sp>
        <p:nvSpPr>
          <p:cNvPr id="38" name="Text 36"/>
          <p:cNvSpPr txBox="1"/>
          <p:nvPr/>
        </p:nvSpPr>
        <p:spPr>
          <a:xfrm>
            <a:off x="7132320" y="4526280"/>
            <a:ext cx="3200400" cy="347472"/>
          </a:xfrm>
          <a:prstGeom prst="rect">
            <a:avLst/>
          </a:prstGeom>
          <a:noFill/>
          <a:ln/>
        </p:spPr>
        <p:txBody>
          <a:bodyPr wrap="square" lIns="0" tIns="0" rIns="0" bIns="0" rtlCol="0" anchor="ctr"/>
          <a:lstStyle/>
          <a:p>
            <a:pPr indent="0" marL="0">
              <a:buNone/>
            </a:pPr>
            <a:r>
              <a:rPr lang="en-US" sz="1600" b="1" dirty="0">
                <a:solidFill>
                  <a:srgbClr val="1F3A5F"/>
                </a:solidFill>
                <a:latin typeface="Calibri" pitchFamily="34" charset="0"/>
                <a:ea typeface="Calibri" pitchFamily="34" charset="-122"/>
                <a:cs typeface="Calibri" pitchFamily="34" charset="-120"/>
              </a:rPr>
              <a:t>Practice notebook</a:t>
            </a:r>
            <a:endParaRPr lang="en-US" sz="1600" dirty="0"/>
          </a:p>
        </p:txBody>
      </p:sp>
      <p:sp>
        <p:nvSpPr>
          <p:cNvPr id="39" name="Text 37"/>
          <p:cNvSpPr txBox="1"/>
          <p:nvPr/>
        </p:nvSpPr>
        <p:spPr>
          <a:xfrm>
            <a:off x="7132320" y="489204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You code, I walk around</a:t>
            </a:r>
            <a:endParaRPr lang="en-US" sz="1250" dirty="0"/>
          </a:p>
        </p:txBody>
      </p:sp>
      <p:sp>
        <p:nvSpPr>
          <p:cNvPr id="40" name="Text 38"/>
          <p:cNvSpPr txBox="1"/>
          <p:nvPr/>
        </p:nvSpPr>
        <p:spPr>
          <a:xfrm>
            <a:off x="10424160" y="4526280"/>
            <a:ext cx="1097280" cy="320040"/>
          </a:xfrm>
          <a:prstGeom prst="rect">
            <a:avLst/>
          </a:prstGeom>
          <a:noFill/>
          <a:ln/>
        </p:spPr>
        <p:txBody>
          <a:bodyPr wrap="square" lIns="0" tIns="0" rIns="0" bIns="0" rtlCol="0" anchor="ctr"/>
          <a:lstStyle/>
          <a:p>
            <a:pPr algn="r" indent="0" marL="0">
              <a:buNone/>
            </a:pPr>
            <a:r>
              <a:rPr lang="en-US" sz="1300" b="1" dirty="0">
                <a:solidFill>
                  <a:srgbClr val="E8674C"/>
                </a:solidFill>
                <a:latin typeface="Calibri" pitchFamily="34" charset="0"/>
                <a:ea typeface="Calibri" pitchFamily="34" charset="-122"/>
                <a:cs typeface="Calibri" pitchFamily="34" charset="-120"/>
              </a:rPr>
              <a:t>30 min</a:t>
            </a:r>
            <a:endParaRPr lang="en-US" sz="1300" dirty="0"/>
          </a:p>
        </p:txBody>
      </p:sp>
      <p:sp>
        <p:nvSpPr>
          <p:cNvPr id="41" name="Text 39"/>
          <p:cNvSpPr txBox="1"/>
          <p:nvPr/>
        </p:nvSpPr>
        <p:spPr>
          <a:xfrm>
            <a:off x="548640" y="5806440"/>
            <a:ext cx="11064240" cy="320040"/>
          </a:xfrm>
          <a:prstGeom prst="rect">
            <a:avLst/>
          </a:prstGeom>
          <a:noFill/>
          <a:ln/>
        </p:spPr>
        <p:txBody>
          <a:bodyPr wrap="square" lIns="0" tIns="0" rIns="0" bIns="0" rtlCol="0" anchor="ctr"/>
          <a:lstStyle/>
          <a:p>
            <a:pPr indent="0" marL="0">
              <a:buNone/>
            </a:pPr>
            <a:r>
              <a:rPr lang="en-US" sz="1300" i="1" dirty="0">
                <a:solidFill>
                  <a:srgbClr val="6B7789"/>
                </a:solidFill>
                <a:latin typeface="Calibri" pitchFamily="34" charset="0"/>
                <a:ea typeface="Calibri" pitchFamily="34" charset="-122"/>
                <a:cs typeface="Calibri" pitchFamily="34" charset="-120"/>
              </a:rPr>
              <a:t>Section 2 is the long one — five different ways to hand data to a function, and one famous trap.</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LEARNING OUTCOMES</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By the end of today you will be able to</a:t>
            </a:r>
            <a:endParaRPr lang="en-US" sz="3200" dirty="0"/>
          </a:p>
        </p:txBody>
      </p:sp>
      <p:sp>
        <p:nvSpPr>
          <p:cNvPr id="5" name="Shape 3"/>
          <p:cNvSpPr/>
          <p:nvPr/>
        </p:nvSpPr>
        <p:spPr>
          <a:xfrm>
            <a:off x="548640" y="1828800"/>
            <a:ext cx="2606040" cy="2514600"/>
          </a:xfrm>
          <a:prstGeom prst="roundRect">
            <a:avLst>
              <a:gd name="adj" fmla="val 327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804672" y="2084832"/>
            <a:ext cx="438912" cy="438912"/>
          </a:xfrm>
          <a:prstGeom prst="ellipse">
            <a:avLst/>
          </a:prstGeom>
          <a:solidFill>
            <a:srgbClr val="FFC145"/>
          </a:solidFill>
          <a:ln w="12700">
            <a:solidFill>
              <a:srgbClr val="FFC145"/>
            </a:solidFill>
            <a:prstDash val="solid"/>
          </a:ln>
        </p:spPr>
      </p:sp>
      <p:sp>
        <p:nvSpPr>
          <p:cNvPr id="7" name="Text 5"/>
          <p:cNvSpPr txBox="1"/>
          <p:nvPr/>
        </p:nvSpPr>
        <p:spPr>
          <a:xfrm>
            <a:off x="804672" y="2084832"/>
            <a:ext cx="438912" cy="438912"/>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804672" y="2697480"/>
            <a:ext cx="2103120" cy="411480"/>
          </a:xfrm>
          <a:prstGeom prst="rect">
            <a:avLst/>
          </a:prstGeom>
          <a:noFill/>
          <a:ln/>
        </p:spPr>
        <p:txBody>
          <a:bodyPr wrap="square" lIns="0" tIns="0" rIns="0" bIns="0" rtlCol="0" anchor="ctr"/>
          <a:lstStyle/>
          <a:p>
            <a:pPr indent="0" marL="0">
              <a:buNone/>
            </a:pPr>
            <a:r>
              <a:rPr lang="en-US" sz="1600" b="1" dirty="0">
                <a:solidFill>
                  <a:srgbClr val="1F3A5F"/>
                </a:solidFill>
                <a:latin typeface="Calibri" pitchFamily="34" charset="0"/>
                <a:ea typeface="Calibri" pitchFamily="34" charset="-122"/>
                <a:cs typeface="Calibri" pitchFamily="34" charset="-120"/>
              </a:rPr>
              <a:t>Define</a:t>
            </a:r>
            <a:endParaRPr lang="en-US" sz="1600" dirty="0"/>
          </a:p>
        </p:txBody>
      </p:sp>
      <p:sp>
        <p:nvSpPr>
          <p:cNvPr id="9" name="Text 7"/>
          <p:cNvSpPr txBox="1"/>
          <p:nvPr/>
        </p:nvSpPr>
        <p:spPr>
          <a:xfrm>
            <a:off x="804672" y="3154680"/>
            <a:ext cx="2121408" cy="1097280"/>
          </a:xfrm>
          <a:prstGeom prst="rect">
            <a:avLst/>
          </a:prstGeom>
          <a:noFill/>
          <a:ln/>
        </p:spPr>
        <p:txBody>
          <a:bodyPr wrap="square" lIns="0" tIns="0" rIns="0" bIns="0" rtlCol="0" anchor="ctr"/>
          <a:lstStyle/>
          <a:p>
            <a:pPr indent="0" marL="0">
              <a:lnSpc>
                <a:spcPct val="115000"/>
              </a:lnSpc>
              <a:buNone/>
            </a:pPr>
            <a:r>
              <a:rPr lang="en-US" sz="1250" dirty="0">
                <a:solidFill>
                  <a:srgbClr val="2B3445"/>
                </a:solidFill>
                <a:latin typeface="Calibri" pitchFamily="34" charset="0"/>
                <a:ea typeface="Calibri" pitchFamily="34" charset="-122"/>
                <a:cs typeface="Calibri" pitchFamily="34" charset="-120"/>
              </a:rPr>
              <a:t>Write a function with def, call it, and return a value from it</a:t>
            </a:r>
            <a:endParaRPr lang="en-US" sz="1250" dirty="0"/>
          </a:p>
        </p:txBody>
      </p:sp>
      <p:sp>
        <p:nvSpPr>
          <p:cNvPr id="10" name="Shape 8"/>
          <p:cNvSpPr/>
          <p:nvPr/>
        </p:nvSpPr>
        <p:spPr>
          <a:xfrm>
            <a:off x="3410712" y="1828800"/>
            <a:ext cx="2606040" cy="2514600"/>
          </a:xfrm>
          <a:prstGeom prst="roundRect">
            <a:avLst>
              <a:gd name="adj" fmla="val 327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1" name="Shape 9"/>
          <p:cNvSpPr/>
          <p:nvPr/>
        </p:nvSpPr>
        <p:spPr>
          <a:xfrm>
            <a:off x="3666744" y="2084832"/>
            <a:ext cx="438912" cy="438912"/>
          </a:xfrm>
          <a:prstGeom prst="ellipse">
            <a:avLst/>
          </a:prstGeom>
          <a:solidFill>
            <a:srgbClr val="FFC145"/>
          </a:solidFill>
          <a:ln w="12700">
            <a:solidFill>
              <a:srgbClr val="FFC145"/>
            </a:solidFill>
            <a:prstDash val="solid"/>
          </a:ln>
        </p:spPr>
      </p:sp>
      <p:sp>
        <p:nvSpPr>
          <p:cNvPr id="12" name="Text 10"/>
          <p:cNvSpPr txBox="1"/>
          <p:nvPr/>
        </p:nvSpPr>
        <p:spPr>
          <a:xfrm>
            <a:off x="3666744" y="2084832"/>
            <a:ext cx="438912" cy="438912"/>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3666744" y="2697480"/>
            <a:ext cx="2103120" cy="411480"/>
          </a:xfrm>
          <a:prstGeom prst="rect">
            <a:avLst/>
          </a:prstGeom>
          <a:noFill/>
          <a:ln/>
        </p:spPr>
        <p:txBody>
          <a:bodyPr wrap="square" lIns="0" tIns="0" rIns="0" bIns="0" rtlCol="0" anchor="ctr"/>
          <a:lstStyle/>
          <a:p>
            <a:pPr indent="0" marL="0">
              <a:buNone/>
            </a:pPr>
            <a:r>
              <a:rPr lang="en-US" sz="1600" b="1" dirty="0">
                <a:solidFill>
                  <a:srgbClr val="1F3A5F"/>
                </a:solidFill>
                <a:latin typeface="Calibri" pitchFamily="34" charset="0"/>
                <a:ea typeface="Calibri" pitchFamily="34" charset="-122"/>
                <a:cs typeface="Calibri" pitchFamily="34" charset="-120"/>
              </a:rPr>
              <a:t>Pass</a:t>
            </a:r>
            <a:endParaRPr lang="en-US" sz="1600" dirty="0"/>
          </a:p>
        </p:txBody>
      </p:sp>
      <p:sp>
        <p:nvSpPr>
          <p:cNvPr id="14" name="Text 12"/>
          <p:cNvSpPr txBox="1"/>
          <p:nvPr/>
        </p:nvSpPr>
        <p:spPr>
          <a:xfrm>
            <a:off x="3666744" y="3154680"/>
            <a:ext cx="2121408" cy="1097280"/>
          </a:xfrm>
          <a:prstGeom prst="rect">
            <a:avLst/>
          </a:prstGeom>
          <a:noFill/>
          <a:ln/>
        </p:spPr>
        <p:txBody>
          <a:bodyPr wrap="square" lIns="0" tIns="0" rIns="0" bIns="0" rtlCol="0" anchor="ctr"/>
          <a:lstStyle/>
          <a:p>
            <a:pPr indent="0" marL="0">
              <a:lnSpc>
                <a:spcPct val="115000"/>
              </a:lnSpc>
              <a:buNone/>
            </a:pPr>
            <a:r>
              <a:rPr lang="en-US" sz="1250" dirty="0">
                <a:solidFill>
                  <a:srgbClr val="2B3445"/>
                </a:solidFill>
                <a:latin typeface="Calibri" pitchFamily="34" charset="0"/>
                <a:ea typeface="Calibri" pitchFamily="34" charset="-122"/>
                <a:cs typeface="Calibri" pitchFamily="34" charset="-120"/>
              </a:rPr>
              <a:t>Use positional, keyword and default arguments — and *args / **kwargs</a:t>
            </a:r>
            <a:endParaRPr lang="en-US" sz="1250" dirty="0"/>
          </a:p>
        </p:txBody>
      </p:sp>
      <p:sp>
        <p:nvSpPr>
          <p:cNvPr id="15" name="Shape 13"/>
          <p:cNvSpPr/>
          <p:nvPr/>
        </p:nvSpPr>
        <p:spPr>
          <a:xfrm>
            <a:off x="6272784" y="1828800"/>
            <a:ext cx="2606040" cy="2514600"/>
          </a:xfrm>
          <a:prstGeom prst="roundRect">
            <a:avLst>
              <a:gd name="adj" fmla="val 327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6" name="Shape 14"/>
          <p:cNvSpPr/>
          <p:nvPr/>
        </p:nvSpPr>
        <p:spPr>
          <a:xfrm>
            <a:off x="6528816" y="2084832"/>
            <a:ext cx="438912" cy="438912"/>
          </a:xfrm>
          <a:prstGeom prst="ellipse">
            <a:avLst/>
          </a:prstGeom>
          <a:solidFill>
            <a:srgbClr val="FFC145"/>
          </a:solidFill>
          <a:ln w="12700">
            <a:solidFill>
              <a:srgbClr val="FFC145"/>
            </a:solidFill>
            <a:prstDash val="solid"/>
          </a:ln>
        </p:spPr>
      </p:sp>
      <p:sp>
        <p:nvSpPr>
          <p:cNvPr id="17" name="Text 15"/>
          <p:cNvSpPr txBox="1"/>
          <p:nvPr/>
        </p:nvSpPr>
        <p:spPr>
          <a:xfrm>
            <a:off x="6528816" y="2084832"/>
            <a:ext cx="438912" cy="438912"/>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6528816" y="2697480"/>
            <a:ext cx="2103120" cy="411480"/>
          </a:xfrm>
          <a:prstGeom prst="rect">
            <a:avLst/>
          </a:prstGeom>
          <a:noFill/>
          <a:ln/>
        </p:spPr>
        <p:txBody>
          <a:bodyPr wrap="square" lIns="0" tIns="0" rIns="0" bIns="0" rtlCol="0" anchor="ctr"/>
          <a:lstStyle/>
          <a:p>
            <a:pPr indent="0" marL="0">
              <a:buNone/>
            </a:pPr>
            <a:r>
              <a:rPr lang="en-US" sz="1600" b="1" dirty="0">
                <a:solidFill>
                  <a:srgbClr val="1F3A5F"/>
                </a:solidFill>
                <a:latin typeface="Calibri" pitchFamily="34" charset="0"/>
                <a:ea typeface="Calibri" pitchFamily="34" charset="-122"/>
                <a:cs typeface="Calibri" pitchFamily="34" charset="-120"/>
              </a:rPr>
              <a:t>Reason</a:t>
            </a:r>
            <a:endParaRPr lang="en-US" sz="1600" dirty="0"/>
          </a:p>
        </p:txBody>
      </p:sp>
      <p:sp>
        <p:nvSpPr>
          <p:cNvPr id="19" name="Text 17"/>
          <p:cNvSpPr txBox="1"/>
          <p:nvPr/>
        </p:nvSpPr>
        <p:spPr>
          <a:xfrm>
            <a:off x="6528816" y="3154680"/>
            <a:ext cx="2121408" cy="1097280"/>
          </a:xfrm>
          <a:prstGeom prst="rect">
            <a:avLst/>
          </a:prstGeom>
          <a:noFill/>
          <a:ln/>
        </p:spPr>
        <p:txBody>
          <a:bodyPr wrap="square" lIns="0" tIns="0" rIns="0" bIns="0" rtlCol="0" anchor="ctr"/>
          <a:lstStyle/>
          <a:p>
            <a:pPr indent="0" marL="0">
              <a:lnSpc>
                <a:spcPct val="115000"/>
              </a:lnSpc>
              <a:buNone/>
            </a:pPr>
            <a:r>
              <a:rPr lang="en-US" sz="1250" dirty="0">
                <a:solidFill>
                  <a:srgbClr val="2B3445"/>
                </a:solidFill>
                <a:latin typeface="Calibri" pitchFamily="34" charset="0"/>
                <a:ea typeface="Calibri" pitchFamily="34" charset="-122"/>
                <a:cs typeface="Calibri" pitchFamily="34" charset="-120"/>
              </a:rPr>
              <a:t>Predict which variables a function can see, and which it cannot</a:t>
            </a:r>
            <a:endParaRPr lang="en-US" sz="1250" dirty="0"/>
          </a:p>
        </p:txBody>
      </p:sp>
      <p:sp>
        <p:nvSpPr>
          <p:cNvPr id="20" name="Shape 18"/>
          <p:cNvSpPr/>
          <p:nvPr/>
        </p:nvSpPr>
        <p:spPr>
          <a:xfrm>
            <a:off x="9134856" y="1828800"/>
            <a:ext cx="2606040" cy="2514600"/>
          </a:xfrm>
          <a:prstGeom prst="roundRect">
            <a:avLst>
              <a:gd name="adj" fmla="val 327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1" name="Shape 19"/>
          <p:cNvSpPr/>
          <p:nvPr/>
        </p:nvSpPr>
        <p:spPr>
          <a:xfrm>
            <a:off x="9390888" y="2084832"/>
            <a:ext cx="438912" cy="438912"/>
          </a:xfrm>
          <a:prstGeom prst="ellipse">
            <a:avLst/>
          </a:prstGeom>
          <a:solidFill>
            <a:srgbClr val="FFC145"/>
          </a:solidFill>
          <a:ln w="12700">
            <a:solidFill>
              <a:srgbClr val="FFC145"/>
            </a:solidFill>
            <a:prstDash val="solid"/>
          </a:ln>
        </p:spPr>
      </p:sp>
      <p:sp>
        <p:nvSpPr>
          <p:cNvPr id="22" name="Text 20"/>
          <p:cNvSpPr txBox="1"/>
          <p:nvPr/>
        </p:nvSpPr>
        <p:spPr>
          <a:xfrm>
            <a:off x="9390888" y="2084832"/>
            <a:ext cx="438912" cy="438912"/>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4</a:t>
            </a:r>
            <a:endParaRPr lang="en-US" sz="1300" dirty="0"/>
          </a:p>
        </p:txBody>
      </p:sp>
      <p:sp>
        <p:nvSpPr>
          <p:cNvPr id="23" name="Text 21"/>
          <p:cNvSpPr txBox="1"/>
          <p:nvPr/>
        </p:nvSpPr>
        <p:spPr>
          <a:xfrm>
            <a:off x="9390888" y="2697480"/>
            <a:ext cx="2103120" cy="411480"/>
          </a:xfrm>
          <a:prstGeom prst="rect">
            <a:avLst/>
          </a:prstGeom>
          <a:noFill/>
          <a:ln/>
        </p:spPr>
        <p:txBody>
          <a:bodyPr wrap="square" lIns="0" tIns="0" rIns="0" bIns="0" rtlCol="0" anchor="ctr"/>
          <a:lstStyle/>
          <a:p>
            <a:pPr indent="0" marL="0">
              <a:buNone/>
            </a:pPr>
            <a:r>
              <a:rPr lang="en-US" sz="1600" b="1" dirty="0">
                <a:solidFill>
                  <a:srgbClr val="1F3A5F"/>
                </a:solidFill>
                <a:latin typeface="Calibri" pitchFamily="34" charset="0"/>
                <a:ea typeface="Calibri" pitchFamily="34" charset="-122"/>
                <a:cs typeface="Calibri" pitchFamily="34" charset="-120"/>
              </a:rPr>
              <a:t>Refactor</a:t>
            </a:r>
            <a:endParaRPr lang="en-US" sz="1600" dirty="0"/>
          </a:p>
        </p:txBody>
      </p:sp>
      <p:sp>
        <p:nvSpPr>
          <p:cNvPr id="24" name="Text 22"/>
          <p:cNvSpPr txBox="1"/>
          <p:nvPr/>
        </p:nvSpPr>
        <p:spPr>
          <a:xfrm>
            <a:off x="9390888" y="3154680"/>
            <a:ext cx="2121408" cy="1097280"/>
          </a:xfrm>
          <a:prstGeom prst="rect">
            <a:avLst/>
          </a:prstGeom>
          <a:noFill/>
          <a:ln/>
        </p:spPr>
        <p:txBody>
          <a:bodyPr wrap="square" lIns="0" tIns="0" rIns="0" bIns="0" rtlCol="0" anchor="ctr"/>
          <a:lstStyle/>
          <a:p>
            <a:pPr indent="0" marL="0">
              <a:lnSpc>
                <a:spcPct val="115000"/>
              </a:lnSpc>
              <a:buNone/>
            </a:pPr>
            <a:r>
              <a:rPr lang="en-US" sz="1250" dirty="0">
                <a:solidFill>
                  <a:srgbClr val="2B3445"/>
                </a:solidFill>
                <a:latin typeface="Calibri" pitchFamily="34" charset="0"/>
                <a:ea typeface="Calibri" pitchFamily="34" charset="-122"/>
                <a:cs typeface="Calibri" pitchFamily="34" charset="-120"/>
              </a:rPr>
              <a:t>Take a repetitive script and reshape it into clean, reusable functions</a:t>
            </a:r>
            <a:endParaRPr lang="en-US" sz="1250" dirty="0"/>
          </a:p>
        </p:txBody>
      </p:sp>
      <p:sp>
        <p:nvSpPr>
          <p:cNvPr id="25" name="Shape 23"/>
          <p:cNvSpPr/>
          <p:nvPr/>
        </p:nvSpPr>
        <p:spPr>
          <a:xfrm>
            <a:off x="548640" y="4709160"/>
            <a:ext cx="11064240" cy="1097280"/>
          </a:xfrm>
          <a:prstGeom prst="roundRect">
            <a:avLst>
              <a:gd name="adj" fmla="val 750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6" name="Text 24"/>
          <p:cNvSpPr txBox="1"/>
          <p:nvPr/>
        </p:nvSpPr>
        <p:spPr>
          <a:xfrm>
            <a:off x="868680" y="4864608"/>
            <a:ext cx="4572000" cy="292608"/>
          </a:xfrm>
          <a:prstGeom prst="rect">
            <a:avLst/>
          </a:prstGeom>
          <a:noFill/>
          <a:ln/>
        </p:spPr>
        <p:txBody>
          <a:bodyPr wrap="square" lIns="0" tIns="0" rIns="0" bIns="0" rtlCol="0" anchor="ctr"/>
          <a:lstStyle/>
          <a:p>
            <a:pPr indent="0" marL="0">
              <a:buNone/>
            </a:pPr>
            <a:r>
              <a:rPr lang="en-US" sz="1400" b="1" dirty="0">
                <a:solidFill>
                  <a:srgbClr val="8A5B00"/>
                </a:solidFill>
                <a:latin typeface="Calibri" pitchFamily="34" charset="0"/>
                <a:ea typeface="Calibri" pitchFamily="34" charset="-122"/>
                <a:cs typeface="Calibri" pitchFamily="34" charset="-120"/>
              </a:rPr>
              <a:t>The habit to build today</a:t>
            </a:r>
            <a:endParaRPr lang="en-US" sz="1400" dirty="0"/>
          </a:p>
        </p:txBody>
      </p:sp>
      <p:sp>
        <p:nvSpPr>
          <p:cNvPr id="27" name="Text 25"/>
          <p:cNvSpPr txBox="1"/>
          <p:nvPr/>
        </p:nvSpPr>
        <p:spPr>
          <a:xfrm>
            <a:off x="868680" y="5193792"/>
            <a:ext cx="10424160" cy="502920"/>
          </a:xfrm>
          <a:prstGeom prst="rect">
            <a:avLst/>
          </a:prstGeom>
          <a:noFill/>
          <a:ln/>
        </p:spPr>
        <p:txBody>
          <a:bodyPr wrap="square" lIns="0" tIns="0" rIns="0" bIns="0" rtlCol="0" anchor="ctr"/>
          <a:lstStyle/>
          <a:p>
            <a:pPr indent="0" marL="0">
              <a:buNone/>
            </a:pPr>
            <a:r>
              <a:rPr lang="en-US" sz="1300" dirty="0">
                <a:solidFill>
                  <a:srgbClr val="6B4A0B"/>
                </a:solidFill>
                <a:latin typeface="Calibri" pitchFamily="34" charset="0"/>
                <a:ea typeface="Calibri" pitchFamily="34" charset="-122"/>
                <a:cs typeface="Calibri" pitchFamily="34" charset="-120"/>
              </a:rPr>
              <a:t>Write the function signature and the docstring FIRST, before any logic. Deciding what goes in and what comes out — before you write the body — is most of the design work. It also stops you writing a function that quietly does three unrelated things.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822960" y="2057400"/>
            <a:ext cx="777240" cy="777240"/>
          </a:xfrm>
          <a:prstGeom prst="ellipse">
            <a:avLst/>
          </a:prstGeom>
          <a:solidFill>
            <a:srgbClr val="FFC145"/>
          </a:solidFill>
          <a:ln w="12700">
            <a:solidFill>
              <a:srgbClr val="FFC145"/>
            </a:solidFill>
            <a:prstDash val="solid"/>
          </a:ln>
        </p:spPr>
      </p:sp>
      <p:sp>
        <p:nvSpPr>
          <p:cNvPr id="4" name="Text 2"/>
          <p:cNvSpPr txBox="1"/>
          <p:nvPr/>
        </p:nvSpPr>
        <p:spPr>
          <a:xfrm>
            <a:off x="822960" y="2057400"/>
            <a:ext cx="777240" cy="777240"/>
          </a:xfrm>
          <a:prstGeom prst="rect">
            <a:avLst/>
          </a:prstGeom>
          <a:noFill/>
          <a:ln/>
        </p:spPr>
        <p:txBody>
          <a:bodyPr wrap="square" lIns="0" tIns="0" rIns="0" bIns="0" rtlCol="0" anchor="ctr"/>
          <a:lstStyle/>
          <a:p>
            <a:pPr algn="ctr" indent="0" marL="0">
              <a:buNone/>
            </a:pPr>
            <a:r>
              <a:rPr lang="en-US" sz="3000" b="1" dirty="0">
                <a:solidFill>
                  <a:srgbClr val="152238"/>
                </a:solidFill>
                <a:latin typeface="Calibri" pitchFamily="34" charset="0"/>
                <a:ea typeface="Calibri" pitchFamily="34" charset="-122"/>
                <a:cs typeface="Calibri" pitchFamily="34" charset="-120"/>
              </a:rPr>
              <a:t>1</a:t>
            </a:r>
            <a:endParaRPr lang="en-US" sz="3000" dirty="0"/>
          </a:p>
        </p:txBody>
      </p:sp>
      <p:sp>
        <p:nvSpPr>
          <p:cNvPr id="5" name="Text 3"/>
          <p:cNvSpPr txBox="1"/>
          <p:nvPr/>
        </p:nvSpPr>
        <p:spPr>
          <a:xfrm>
            <a:off x="1920240" y="1965960"/>
            <a:ext cx="676656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Defining &amp; Calling</a:t>
            </a:r>
            <a:endParaRPr lang="en-US" sz="4000" dirty="0"/>
          </a:p>
        </p:txBody>
      </p:sp>
      <p:sp>
        <p:nvSpPr>
          <p:cNvPr id="6" name="Text 4"/>
          <p:cNvSpPr txBox="1"/>
          <p:nvPr/>
        </p:nvSpPr>
        <p:spPr>
          <a:xfrm>
            <a:off x="1947672" y="2788920"/>
            <a:ext cx="6949440" cy="457200"/>
          </a:xfrm>
          <a:prstGeom prst="rect">
            <a:avLst/>
          </a:prstGeom>
          <a:noFill/>
          <a:ln/>
        </p:spPr>
        <p:txBody>
          <a:bodyPr wrap="square" lIns="0" tIns="0" rIns="0" bIns="0" rtlCol="0" anchor="ctr"/>
          <a:lstStyle/>
          <a:p>
            <a:pPr indent="0" marL="0">
              <a:buNone/>
            </a:pPr>
            <a:r>
              <a:rPr lang="en-US" sz="1600" dirty="0">
                <a:solidFill>
                  <a:srgbClr val="AFC2DC"/>
                </a:solidFill>
                <a:latin typeface="Calibri" pitchFamily="34" charset="0"/>
                <a:ea typeface="Calibri" pitchFamily="34" charset="-122"/>
                <a:cs typeface="Calibri" pitchFamily="34" charset="-120"/>
              </a:rPr>
              <a:t>Packaging code under a name  ·  20 minutes</a:t>
            </a:r>
            <a:endParaRPr lang="en-US" sz="1600" dirty="0"/>
          </a:p>
        </p:txBody>
      </p:sp>
      <p:sp>
        <p:nvSpPr>
          <p:cNvPr id="7" name="Text 5"/>
          <p:cNvSpPr txBox="1"/>
          <p:nvPr/>
        </p:nvSpPr>
        <p:spPr>
          <a:xfrm>
            <a:off x="9144000" y="2011680"/>
            <a:ext cx="2468880" cy="21945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Why functions</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def anatomy</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return vs print</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Multiple returns</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Early return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1.1  ·  MOTIVATION</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Why functions? Because copy-paste does not scale</a:t>
            </a:r>
            <a:endParaRPr lang="en-US" sz="3200" dirty="0"/>
          </a:p>
        </p:txBody>
      </p:sp>
      <p:sp>
        <p:nvSpPr>
          <p:cNvPr id="5" name="Shape 3"/>
          <p:cNvSpPr/>
          <p:nvPr/>
        </p:nvSpPr>
        <p:spPr>
          <a:xfrm>
            <a:off x="548640" y="1572768"/>
            <a:ext cx="5486400" cy="2834640"/>
          </a:xfrm>
          <a:prstGeom prst="roundRect">
            <a:avLst>
              <a:gd name="adj" fmla="val 2903"/>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19072"/>
            <a:ext cx="4937760" cy="301752"/>
          </a:xfrm>
          <a:prstGeom prst="rect">
            <a:avLst/>
          </a:prstGeom>
          <a:noFill/>
          <a:ln/>
        </p:spPr>
        <p:txBody>
          <a:bodyPr wrap="square" lIns="0" tIns="0" rIns="0" bIns="0" rtlCol="0" anchor="ctr"/>
          <a:lstStyle/>
          <a:p>
            <a:pPr indent="0" marL="0">
              <a:buNone/>
            </a:pPr>
            <a:r>
              <a:rPr lang="en-US" sz="1500" b="1" dirty="0">
                <a:solidFill>
                  <a:srgbClr val="A63B24"/>
                </a:solidFill>
                <a:latin typeface="Calibri" pitchFamily="34" charset="0"/>
                <a:ea typeface="Calibri" pitchFamily="34" charset="-122"/>
                <a:cs typeface="Calibri" pitchFamily="34" charset="-120"/>
              </a:rPr>
              <a:t>Without a function</a:t>
            </a:r>
            <a:endParaRPr lang="en-US" sz="1500" dirty="0"/>
          </a:p>
        </p:txBody>
      </p:sp>
      <p:sp>
        <p:nvSpPr>
          <p:cNvPr id="7" name="Shape 5"/>
          <p:cNvSpPr/>
          <p:nvPr/>
        </p:nvSpPr>
        <p:spPr>
          <a:xfrm>
            <a:off x="804672" y="2103120"/>
            <a:ext cx="4983480" cy="2148840"/>
          </a:xfrm>
          <a:prstGeom prst="roundRect">
            <a:avLst>
              <a:gd name="adj" fmla="val 2979"/>
            </a:avLst>
          </a:prstGeom>
          <a:solidFill>
            <a:srgbClr val="1B2B45"/>
          </a:solidFill>
          <a:ln w="12700">
            <a:solidFill>
              <a:srgbClr val="1B2B45"/>
            </a:solidFill>
            <a:prstDash val="solid"/>
          </a:ln>
        </p:spPr>
      </p:sp>
      <p:sp>
        <p:nvSpPr>
          <p:cNvPr id="8" name="Text 6"/>
          <p:cNvSpPr txBox="1"/>
          <p:nvPr/>
        </p:nvSpPr>
        <p:spPr>
          <a:xfrm>
            <a:off x="969264" y="2212848"/>
            <a:ext cx="4654296" cy="1929384"/>
          </a:xfrm>
          <a:prstGeom prst="rect">
            <a:avLst/>
          </a:prstGeom>
          <a:noFill/>
          <a:ln/>
        </p:spPr>
        <p:txBody>
          <a:bodyPr wrap="square" lIns="0" tIns="0" rIns="0" bIns="0" rtlCol="0" anchor="t"/>
          <a:lstStyle/>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Ravi</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total = 88 + 71 + 64</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pct   = total / 300 * 100</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print(f"Ravi: {pct:.1f}%")</a:t>
            </a:r>
            <a:endParaRPr lang="en-US" sz="1050" dirty="0"/>
          </a:p>
          <a:p>
            <a:pPr indent="0" marL="0">
              <a:lnSpc>
                <a:spcPct val="112000"/>
              </a:lnSpc>
              <a:buNone/>
            </a:pP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Sara</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total = 91 + 84 + 79</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pct   = total / 300 * 100</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print(f"Sara: {pct:.1f}%")</a:t>
            </a:r>
            <a:endParaRPr lang="en-US" sz="1050" dirty="0"/>
          </a:p>
          <a:p>
            <a:pPr indent="0" marL="0">
              <a:lnSpc>
                <a:spcPct val="112000"/>
              </a:lnSpc>
              <a:buNone/>
            </a:pP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...and again for every student</a:t>
            </a:r>
            <a:endParaRPr lang="en-US" sz="1050" dirty="0"/>
          </a:p>
        </p:txBody>
      </p:sp>
      <p:sp>
        <p:nvSpPr>
          <p:cNvPr id="9" name="Shape 7"/>
          <p:cNvSpPr/>
          <p:nvPr/>
        </p:nvSpPr>
        <p:spPr>
          <a:xfrm>
            <a:off x="6309360" y="1572768"/>
            <a:ext cx="5303520" cy="2834640"/>
          </a:xfrm>
          <a:prstGeom prst="roundRect">
            <a:avLst>
              <a:gd name="adj" fmla="val 2903"/>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8"/>
          <p:cNvSpPr txBox="1"/>
          <p:nvPr/>
        </p:nvSpPr>
        <p:spPr>
          <a:xfrm>
            <a:off x="6565392" y="1719072"/>
            <a:ext cx="4754880" cy="301752"/>
          </a:xfrm>
          <a:prstGeom prst="rect">
            <a:avLst/>
          </a:prstGeom>
          <a:noFill/>
          <a:ln/>
        </p:spPr>
        <p:txBody>
          <a:bodyPr wrap="square" lIns="0" tIns="0" rIns="0" bIns="0" rtlCol="0" anchor="ctr"/>
          <a:lstStyle/>
          <a:p>
            <a:pPr indent="0" marL="0">
              <a:buNone/>
            </a:pPr>
            <a:r>
              <a:rPr lang="en-US" sz="1500" b="1" dirty="0">
                <a:solidFill>
                  <a:srgbClr val="1C6F5C"/>
                </a:solidFill>
                <a:latin typeface="Calibri" pitchFamily="34" charset="0"/>
                <a:ea typeface="Calibri" pitchFamily="34" charset="-122"/>
                <a:cs typeface="Calibri" pitchFamily="34" charset="-120"/>
              </a:rPr>
              <a:t>With a function</a:t>
            </a:r>
            <a:endParaRPr lang="en-US" sz="1500" dirty="0"/>
          </a:p>
        </p:txBody>
      </p:sp>
      <p:sp>
        <p:nvSpPr>
          <p:cNvPr id="11" name="Shape 9"/>
          <p:cNvSpPr/>
          <p:nvPr/>
        </p:nvSpPr>
        <p:spPr>
          <a:xfrm>
            <a:off x="6565392" y="2103120"/>
            <a:ext cx="4800600" cy="2148840"/>
          </a:xfrm>
          <a:prstGeom prst="roundRect">
            <a:avLst>
              <a:gd name="adj" fmla="val 2979"/>
            </a:avLst>
          </a:prstGeom>
          <a:solidFill>
            <a:srgbClr val="1B2B45"/>
          </a:solidFill>
          <a:ln w="12700">
            <a:solidFill>
              <a:srgbClr val="1B2B45"/>
            </a:solidFill>
            <a:prstDash val="solid"/>
          </a:ln>
        </p:spPr>
      </p:sp>
      <p:sp>
        <p:nvSpPr>
          <p:cNvPr id="12" name="Text 10"/>
          <p:cNvSpPr txBox="1"/>
          <p:nvPr/>
        </p:nvSpPr>
        <p:spPr>
          <a:xfrm>
            <a:off x="6729984" y="2212848"/>
            <a:ext cx="4471416" cy="1929384"/>
          </a:xfrm>
          <a:prstGeom prst="rect">
            <a:avLst/>
          </a:prstGeom>
          <a:noFill/>
          <a:ln/>
        </p:spPr>
        <p:txBody>
          <a:bodyPr wrap="square" lIns="0" tIns="0" rIns="0" bIns="0" rtlCol="0" anchor="t"/>
          <a:lstStyle/>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def percentage(a, b, c):</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total = a + b + c</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return total / 300 * 100</a:t>
            </a:r>
            <a:endParaRPr lang="en-US" sz="1050" dirty="0"/>
          </a:p>
          <a:p>
            <a:pPr indent="0" marL="0">
              <a:lnSpc>
                <a:spcPct val="112000"/>
              </a:lnSpc>
              <a:buNone/>
            </a:pP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print(f"Ravi: {percentage(88,71,64):.1f}%")</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print(f"Sara: {percentage(91,84,79):.1f}%")</a:t>
            </a:r>
            <a:endParaRPr lang="en-US" sz="1050" dirty="0"/>
          </a:p>
          <a:p>
            <a:pPr indent="0" marL="0">
              <a:lnSpc>
                <a:spcPct val="112000"/>
              </a:lnSpc>
              <a:buNone/>
            </a:pP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The formula is written ONCE.</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Fix it once, and every caller is fixed.</a:t>
            </a:r>
            <a:endParaRPr lang="en-US" sz="1050" dirty="0"/>
          </a:p>
        </p:txBody>
      </p:sp>
      <p:sp>
        <p:nvSpPr>
          <p:cNvPr id="13" name="Shape 11"/>
          <p:cNvSpPr/>
          <p:nvPr/>
        </p:nvSpPr>
        <p:spPr>
          <a:xfrm>
            <a:off x="548640" y="4617720"/>
            <a:ext cx="2606040" cy="1188720"/>
          </a:xfrm>
          <a:prstGeom prst="roundRect">
            <a:avLst>
              <a:gd name="adj" fmla="val 692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4" name="Text 12"/>
          <p:cNvSpPr txBox="1"/>
          <p:nvPr/>
        </p:nvSpPr>
        <p:spPr>
          <a:xfrm>
            <a:off x="749808" y="4754880"/>
            <a:ext cx="2240280" cy="292608"/>
          </a:xfrm>
          <a:prstGeom prst="rect">
            <a:avLst/>
          </a:prstGeom>
          <a:noFill/>
          <a:ln/>
        </p:spPr>
        <p:txBody>
          <a:bodyPr wrap="square" lIns="0" tIns="0" rIns="0" bIns="0" rtlCol="0" anchor="ctr"/>
          <a:lstStyle/>
          <a:p>
            <a:pPr indent="0" marL="0">
              <a:buNone/>
            </a:pPr>
            <a:r>
              <a:rPr lang="en-US" sz="1350" b="1" dirty="0">
                <a:solidFill>
                  <a:srgbClr val="1F3A5F"/>
                </a:solidFill>
                <a:latin typeface="Calibri" pitchFamily="34" charset="0"/>
                <a:ea typeface="Calibri" pitchFamily="34" charset="-122"/>
                <a:cs typeface="Calibri" pitchFamily="34" charset="-120"/>
              </a:rPr>
              <a:t>Don't Repeat Yourself</a:t>
            </a:r>
            <a:endParaRPr lang="en-US" sz="1350" dirty="0"/>
          </a:p>
        </p:txBody>
      </p:sp>
      <p:sp>
        <p:nvSpPr>
          <p:cNvPr id="15" name="Text 13"/>
          <p:cNvSpPr txBox="1"/>
          <p:nvPr/>
        </p:nvSpPr>
        <p:spPr>
          <a:xfrm>
            <a:off x="749808" y="5065776"/>
            <a:ext cx="2240280" cy="621792"/>
          </a:xfrm>
          <a:prstGeom prst="rect">
            <a:avLst/>
          </a:prstGeom>
          <a:noFill/>
          <a:ln/>
        </p:spPr>
        <p:txBody>
          <a:bodyPr wrap="square" lIns="0" tIns="0" rIns="0" bIns="0" rtlCol="0" anchor="ctr"/>
          <a:lstStyle/>
          <a:p>
            <a:pPr indent="0" marL="0">
              <a:lnSpc>
                <a:spcPct val="115000"/>
              </a:lnSpc>
              <a:buNone/>
            </a:pPr>
            <a:r>
              <a:rPr lang="en-US" sz="1150" dirty="0">
                <a:solidFill>
                  <a:srgbClr val="6B7789"/>
                </a:solidFill>
                <a:latin typeface="Calibri" pitchFamily="34" charset="0"/>
                <a:ea typeface="Calibri" pitchFamily="34" charset="-122"/>
                <a:cs typeface="Calibri" pitchFamily="34" charset="-120"/>
              </a:rPr>
              <a:t>One definition, many uses</a:t>
            </a:r>
            <a:endParaRPr lang="en-US" sz="1150" dirty="0"/>
          </a:p>
        </p:txBody>
      </p:sp>
      <p:sp>
        <p:nvSpPr>
          <p:cNvPr id="16" name="Shape 14"/>
          <p:cNvSpPr/>
          <p:nvPr/>
        </p:nvSpPr>
        <p:spPr>
          <a:xfrm>
            <a:off x="3410712" y="4617720"/>
            <a:ext cx="2606040" cy="1188720"/>
          </a:xfrm>
          <a:prstGeom prst="roundRect">
            <a:avLst>
              <a:gd name="adj" fmla="val 692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7" name="Text 15"/>
          <p:cNvSpPr txBox="1"/>
          <p:nvPr/>
        </p:nvSpPr>
        <p:spPr>
          <a:xfrm>
            <a:off x="3611880" y="4754880"/>
            <a:ext cx="2240280" cy="292608"/>
          </a:xfrm>
          <a:prstGeom prst="rect">
            <a:avLst/>
          </a:prstGeom>
          <a:noFill/>
          <a:ln/>
        </p:spPr>
        <p:txBody>
          <a:bodyPr wrap="square" lIns="0" tIns="0" rIns="0" bIns="0" rtlCol="0" anchor="ctr"/>
          <a:lstStyle/>
          <a:p>
            <a:pPr indent="0" marL="0">
              <a:buNone/>
            </a:pPr>
            <a:r>
              <a:rPr lang="en-US" sz="1350" b="1" dirty="0">
                <a:solidFill>
                  <a:srgbClr val="1F3A5F"/>
                </a:solidFill>
                <a:latin typeface="Calibri" pitchFamily="34" charset="0"/>
                <a:ea typeface="Calibri" pitchFamily="34" charset="-122"/>
                <a:cs typeface="Calibri" pitchFamily="34" charset="-120"/>
              </a:rPr>
              <a:t>One place to fix</a:t>
            </a:r>
            <a:endParaRPr lang="en-US" sz="1350" dirty="0"/>
          </a:p>
        </p:txBody>
      </p:sp>
      <p:sp>
        <p:nvSpPr>
          <p:cNvPr id="18" name="Text 16"/>
          <p:cNvSpPr txBox="1"/>
          <p:nvPr/>
        </p:nvSpPr>
        <p:spPr>
          <a:xfrm>
            <a:off x="3611880" y="5065776"/>
            <a:ext cx="2240280" cy="621792"/>
          </a:xfrm>
          <a:prstGeom prst="rect">
            <a:avLst/>
          </a:prstGeom>
          <a:noFill/>
          <a:ln/>
        </p:spPr>
        <p:txBody>
          <a:bodyPr wrap="square" lIns="0" tIns="0" rIns="0" bIns="0" rtlCol="0" anchor="ctr"/>
          <a:lstStyle/>
          <a:p>
            <a:pPr indent="0" marL="0">
              <a:lnSpc>
                <a:spcPct val="115000"/>
              </a:lnSpc>
              <a:buNone/>
            </a:pPr>
            <a:r>
              <a:rPr lang="en-US" sz="1150" dirty="0">
                <a:solidFill>
                  <a:srgbClr val="6B7789"/>
                </a:solidFill>
                <a:latin typeface="Calibri" pitchFamily="34" charset="0"/>
                <a:ea typeface="Calibri" pitchFamily="34" charset="-122"/>
                <a:cs typeface="Calibri" pitchFamily="34" charset="-120"/>
              </a:rPr>
              <a:t>A bug lives in one spot, not twenty</a:t>
            </a:r>
            <a:endParaRPr lang="en-US" sz="1150" dirty="0"/>
          </a:p>
        </p:txBody>
      </p:sp>
      <p:sp>
        <p:nvSpPr>
          <p:cNvPr id="19" name="Shape 17"/>
          <p:cNvSpPr/>
          <p:nvPr/>
        </p:nvSpPr>
        <p:spPr>
          <a:xfrm>
            <a:off x="6272784" y="4617720"/>
            <a:ext cx="2606040" cy="1188720"/>
          </a:xfrm>
          <a:prstGeom prst="roundRect">
            <a:avLst>
              <a:gd name="adj" fmla="val 692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0" name="Text 18"/>
          <p:cNvSpPr txBox="1"/>
          <p:nvPr/>
        </p:nvSpPr>
        <p:spPr>
          <a:xfrm>
            <a:off x="6473952" y="4754880"/>
            <a:ext cx="2240280" cy="292608"/>
          </a:xfrm>
          <a:prstGeom prst="rect">
            <a:avLst/>
          </a:prstGeom>
          <a:noFill/>
          <a:ln/>
        </p:spPr>
        <p:txBody>
          <a:bodyPr wrap="square" lIns="0" tIns="0" rIns="0" bIns="0" rtlCol="0" anchor="ctr"/>
          <a:lstStyle/>
          <a:p>
            <a:pPr indent="0" marL="0">
              <a:buNone/>
            </a:pPr>
            <a:r>
              <a:rPr lang="en-US" sz="1350" b="1" dirty="0">
                <a:solidFill>
                  <a:srgbClr val="1F3A5F"/>
                </a:solidFill>
                <a:latin typeface="Calibri" pitchFamily="34" charset="0"/>
                <a:ea typeface="Calibri" pitchFamily="34" charset="-122"/>
                <a:cs typeface="Calibri" pitchFamily="34" charset="-120"/>
              </a:rPr>
              <a:t>Readable</a:t>
            </a:r>
            <a:endParaRPr lang="en-US" sz="1350" dirty="0"/>
          </a:p>
        </p:txBody>
      </p:sp>
      <p:sp>
        <p:nvSpPr>
          <p:cNvPr id="21" name="Text 19"/>
          <p:cNvSpPr txBox="1"/>
          <p:nvPr/>
        </p:nvSpPr>
        <p:spPr>
          <a:xfrm>
            <a:off x="6473952" y="5065776"/>
            <a:ext cx="2240280" cy="621792"/>
          </a:xfrm>
          <a:prstGeom prst="rect">
            <a:avLst/>
          </a:prstGeom>
          <a:noFill/>
          <a:ln/>
        </p:spPr>
        <p:txBody>
          <a:bodyPr wrap="square" lIns="0" tIns="0" rIns="0" bIns="0" rtlCol="0" anchor="ctr"/>
          <a:lstStyle/>
          <a:p>
            <a:pPr indent="0" marL="0">
              <a:lnSpc>
                <a:spcPct val="115000"/>
              </a:lnSpc>
              <a:buNone/>
            </a:pPr>
            <a:r>
              <a:rPr lang="en-US" sz="1150" dirty="0">
                <a:solidFill>
                  <a:srgbClr val="6B7789"/>
                </a:solidFill>
                <a:latin typeface="Calibri" pitchFamily="34" charset="0"/>
                <a:ea typeface="Calibri" pitchFamily="34" charset="-122"/>
                <a:cs typeface="Calibri" pitchFamily="34" charset="-120"/>
              </a:rPr>
              <a:t>percentage(...) says what it does</a:t>
            </a:r>
            <a:endParaRPr lang="en-US" sz="1150" dirty="0"/>
          </a:p>
        </p:txBody>
      </p:sp>
      <p:sp>
        <p:nvSpPr>
          <p:cNvPr id="22" name="Shape 20"/>
          <p:cNvSpPr/>
          <p:nvPr/>
        </p:nvSpPr>
        <p:spPr>
          <a:xfrm>
            <a:off x="9134856" y="4617720"/>
            <a:ext cx="2606040" cy="1188720"/>
          </a:xfrm>
          <a:prstGeom prst="roundRect">
            <a:avLst>
              <a:gd name="adj" fmla="val 692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3" name="Text 21"/>
          <p:cNvSpPr txBox="1"/>
          <p:nvPr/>
        </p:nvSpPr>
        <p:spPr>
          <a:xfrm>
            <a:off x="9336024" y="4754880"/>
            <a:ext cx="2240280" cy="292608"/>
          </a:xfrm>
          <a:prstGeom prst="rect">
            <a:avLst/>
          </a:prstGeom>
          <a:noFill/>
          <a:ln/>
        </p:spPr>
        <p:txBody>
          <a:bodyPr wrap="square" lIns="0" tIns="0" rIns="0" bIns="0" rtlCol="0" anchor="ctr"/>
          <a:lstStyle/>
          <a:p>
            <a:pPr indent="0" marL="0">
              <a:buNone/>
            </a:pPr>
            <a:r>
              <a:rPr lang="en-US" sz="1350" b="1" dirty="0">
                <a:solidFill>
                  <a:srgbClr val="1F3A5F"/>
                </a:solidFill>
                <a:latin typeface="Calibri" pitchFamily="34" charset="0"/>
                <a:ea typeface="Calibri" pitchFamily="34" charset="-122"/>
                <a:cs typeface="Calibri" pitchFamily="34" charset="-120"/>
              </a:rPr>
              <a:t>Testable</a:t>
            </a:r>
            <a:endParaRPr lang="en-US" sz="1350" dirty="0"/>
          </a:p>
        </p:txBody>
      </p:sp>
      <p:sp>
        <p:nvSpPr>
          <p:cNvPr id="24" name="Text 22"/>
          <p:cNvSpPr txBox="1"/>
          <p:nvPr/>
        </p:nvSpPr>
        <p:spPr>
          <a:xfrm>
            <a:off x="9336024" y="5065776"/>
            <a:ext cx="2240280" cy="621792"/>
          </a:xfrm>
          <a:prstGeom prst="rect">
            <a:avLst/>
          </a:prstGeom>
          <a:noFill/>
          <a:ln/>
        </p:spPr>
        <p:txBody>
          <a:bodyPr wrap="square" lIns="0" tIns="0" rIns="0" bIns="0" rtlCol="0" anchor="ctr"/>
          <a:lstStyle/>
          <a:p>
            <a:pPr indent="0" marL="0">
              <a:lnSpc>
                <a:spcPct val="115000"/>
              </a:lnSpc>
              <a:buNone/>
            </a:pPr>
            <a:r>
              <a:rPr lang="en-US" sz="1150" dirty="0">
                <a:solidFill>
                  <a:srgbClr val="6B7789"/>
                </a:solidFill>
                <a:latin typeface="Calibri" pitchFamily="34" charset="0"/>
                <a:ea typeface="Calibri" pitchFamily="34" charset="-122"/>
                <a:cs typeface="Calibri" pitchFamily="34" charset="-120"/>
              </a:rPr>
              <a:t>You can check one piece in isolation</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1.2  ·  def</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Anatomy of a function</a:t>
            </a:r>
            <a:endParaRPr lang="en-US" sz="3200" dirty="0"/>
          </a:p>
        </p:txBody>
      </p:sp>
      <p:sp>
        <p:nvSpPr>
          <p:cNvPr id="5" name="Shape 3"/>
          <p:cNvSpPr/>
          <p:nvPr/>
        </p:nvSpPr>
        <p:spPr>
          <a:xfrm>
            <a:off x="548640" y="1572768"/>
            <a:ext cx="5760720" cy="2514600"/>
          </a:xfrm>
          <a:prstGeom prst="roundRect">
            <a:avLst>
              <a:gd name="adj" fmla="val 327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804672" y="1783080"/>
            <a:ext cx="5257800" cy="1234440"/>
          </a:xfrm>
          <a:prstGeom prst="roundRect">
            <a:avLst>
              <a:gd name="adj" fmla="val 5185"/>
            </a:avLst>
          </a:prstGeom>
          <a:solidFill>
            <a:srgbClr val="1B2B45"/>
          </a:solidFill>
          <a:ln w="12700">
            <a:solidFill>
              <a:srgbClr val="1B2B45"/>
            </a:solidFill>
            <a:prstDash val="solid"/>
          </a:ln>
        </p:spPr>
      </p:sp>
      <p:sp>
        <p:nvSpPr>
          <p:cNvPr id="7" name="Text 5"/>
          <p:cNvSpPr txBox="1"/>
          <p:nvPr/>
        </p:nvSpPr>
        <p:spPr>
          <a:xfrm>
            <a:off x="969264" y="1892808"/>
            <a:ext cx="4928616" cy="1014984"/>
          </a:xfrm>
          <a:prstGeom prst="rect">
            <a:avLst/>
          </a:prstGeom>
          <a:noFill/>
          <a:ln/>
        </p:spPr>
        <p:txBody>
          <a:bodyPr wrap="square" lIns="0" tIns="0" rIns="0" bIns="0" rtlCol="0" anchor="t"/>
          <a:lstStyle/>
          <a:p>
            <a:pPr indent="0" marL="0">
              <a:lnSpc>
                <a:spcPct val="112000"/>
              </a:lnSpc>
              <a:buNone/>
            </a:pPr>
            <a:r>
              <a:rPr lang="en-US" sz="1200" dirty="0">
                <a:solidFill>
                  <a:srgbClr val="E7EEF8"/>
                </a:solidFill>
                <a:latin typeface="Courier New" pitchFamily="34" charset="0"/>
                <a:ea typeface="Courier New" pitchFamily="34" charset="-122"/>
                <a:cs typeface="Courier New" pitchFamily="34" charset="-120"/>
              </a:rPr>
              <a:t>def greet(name):</a:t>
            </a:r>
            <a:endParaRPr lang="en-US" sz="1200" dirty="0"/>
          </a:p>
          <a:p>
            <a:pPr indent="0" marL="0">
              <a:lnSpc>
                <a:spcPct val="112000"/>
              </a:lnSpc>
              <a:buNone/>
            </a:pPr>
            <a:r>
              <a:rPr lang="en-US" sz="1200" dirty="0">
                <a:solidFill>
                  <a:srgbClr val="E7EEF8"/>
                </a:solidFill>
                <a:latin typeface="Courier New" pitchFamily="34" charset="0"/>
                <a:ea typeface="Courier New" pitchFamily="34" charset="-122"/>
                <a:cs typeface="Courier New" pitchFamily="34" charset="-120"/>
              </a:rPr>
              <a:t>    message = f"Hello, {name}!"</a:t>
            </a:r>
            <a:endParaRPr lang="en-US" sz="1200" dirty="0"/>
          </a:p>
          <a:p>
            <a:pPr indent="0" marL="0">
              <a:lnSpc>
                <a:spcPct val="112000"/>
              </a:lnSpc>
              <a:buNone/>
            </a:pPr>
            <a:r>
              <a:rPr lang="en-US" sz="1200" dirty="0">
                <a:solidFill>
                  <a:srgbClr val="E7EEF8"/>
                </a:solidFill>
                <a:latin typeface="Courier New" pitchFamily="34" charset="0"/>
                <a:ea typeface="Courier New" pitchFamily="34" charset="-122"/>
                <a:cs typeface="Courier New" pitchFamily="34" charset="-120"/>
              </a:rPr>
              <a:t>    return message</a:t>
            </a:r>
            <a:endParaRPr lang="en-US" sz="1200" dirty="0"/>
          </a:p>
          <a:p>
            <a:pPr indent="0" marL="0">
              <a:lnSpc>
                <a:spcPct val="112000"/>
              </a:lnSpc>
              <a:buNone/>
            </a:pPr>
            <a:endParaRPr lang="en-US" sz="1200" dirty="0"/>
          </a:p>
          <a:p>
            <a:pPr indent="0" marL="0">
              <a:lnSpc>
                <a:spcPct val="112000"/>
              </a:lnSpc>
              <a:buNone/>
            </a:pPr>
            <a:r>
              <a:rPr lang="en-US" sz="1200" dirty="0">
                <a:solidFill>
                  <a:srgbClr val="E7EEF8"/>
                </a:solidFill>
                <a:latin typeface="Courier New" pitchFamily="34" charset="0"/>
                <a:ea typeface="Courier New" pitchFamily="34" charset="-122"/>
                <a:cs typeface="Courier New" pitchFamily="34" charset="-120"/>
              </a:rPr>
              <a:t>result = greet("Ravi")</a:t>
            </a:r>
            <a:endParaRPr lang="en-US" sz="1200" dirty="0"/>
          </a:p>
        </p:txBody>
      </p:sp>
      <p:sp>
        <p:nvSpPr>
          <p:cNvPr id="8" name="Text 6"/>
          <p:cNvSpPr txBox="1"/>
          <p:nvPr/>
        </p:nvSpPr>
        <p:spPr>
          <a:xfrm>
            <a:off x="868680" y="3154680"/>
            <a:ext cx="5212080" cy="182880"/>
          </a:xfrm>
          <a:prstGeom prst="rect">
            <a:avLst/>
          </a:prstGeom>
          <a:noFill/>
          <a:ln/>
        </p:spPr>
        <p:txBody>
          <a:bodyPr wrap="square" lIns="0" tIns="0" rIns="0" bIns="0" rtlCol="0" anchor="ctr"/>
          <a:lstStyle/>
          <a:p>
            <a:pPr indent="0" marL="0">
              <a:buNone/>
            </a:pPr>
            <a:r>
              <a:rPr lang="en-US" sz="1050" b="1" dirty="0">
                <a:solidFill>
                  <a:srgbClr val="1F3A5F"/>
                </a:solidFill>
                <a:latin typeface="Courier New" pitchFamily="34" charset="0"/>
                <a:ea typeface="Courier New" pitchFamily="34" charset="-122"/>
                <a:cs typeface="Courier New" pitchFamily="34" charset="-120"/>
              </a:rPr>
              <a:t>def      </a:t>
            </a:r>
            <a:pPr indent="0" marL="0">
              <a:buNone/>
            </a:pPr>
            <a:r>
              <a:rPr lang="en-US" sz="1050" dirty="0">
                <a:solidFill>
                  <a:srgbClr val="6B7789"/>
                </a:solidFill>
                <a:latin typeface="Calibri" pitchFamily="34" charset="0"/>
                <a:ea typeface="Calibri" pitchFamily="34" charset="-122"/>
                <a:cs typeface="Calibri" pitchFamily="34" charset="-120"/>
              </a:rPr>
              <a:t>the keyword that starts a definition</a:t>
            </a:r>
            <a:endParaRPr lang="en-US" sz="1050" dirty="0"/>
          </a:p>
        </p:txBody>
      </p:sp>
      <p:sp>
        <p:nvSpPr>
          <p:cNvPr id="9" name="Text 7"/>
          <p:cNvSpPr txBox="1"/>
          <p:nvPr/>
        </p:nvSpPr>
        <p:spPr>
          <a:xfrm>
            <a:off x="868680" y="3328416"/>
            <a:ext cx="5212080" cy="182880"/>
          </a:xfrm>
          <a:prstGeom prst="rect">
            <a:avLst/>
          </a:prstGeom>
          <a:noFill/>
          <a:ln/>
        </p:spPr>
        <p:txBody>
          <a:bodyPr wrap="square" lIns="0" tIns="0" rIns="0" bIns="0" rtlCol="0" anchor="ctr"/>
          <a:lstStyle/>
          <a:p>
            <a:pPr indent="0" marL="0">
              <a:buNone/>
            </a:pPr>
            <a:r>
              <a:rPr lang="en-US" sz="1050" b="1" dirty="0">
                <a:solidFill>
                  <a:srgbClr val="1F3A5F"/>
                </a:solidFill>
                <a:latin typeface="Courier New" pitchFamily="34" charset="0"/>
                <a:ea typeface="Courier New" pitchFamily="34" charset="-122"/>
                <a:cs typeface="Courier New" pitchFamily="34" charset="-120"/>
              </a:rPr>
              <a:t>greet    </a:t>
            </a:r>
            <a:pPr indent="0" marL="0">
              <a:buNone/>
            </a:pPr>
            <a:r>
              <a:rPr lang="en-US" sz="1050" dirty="0">
                <a:solidFill>
                  <a:srgbClr val="6B7789"/>
                </a:solidFill>
                <a:latin typeface="Calibri" pitchFamily="34" charset="0"/>
                <a:ea typeface="Calibri" pitchFamily="34" charset="-122"/>
                <a:cs typeface="Calibri" pitchFamily="34" charset="-120"/>
              </a:rPr>
              <a:t>the function's name (snake_case)</a:t>
            </a:r>
            <a:endParaRPr lang="en-US" sz="1050" dirty="0"/>
          </a:p>
        </p:txBody>
      </p:sp>
      <p:sp>
        <p:nvSpPr>
          <p:cNvPr id="10" name="Text 8"/>
          <p:cNvSpPr txBox="1"/>
          <p:nvPr/>
        </p:nvSpPr>
        <p:spPr>
          <a:xfrm>
            <a:off x="868680" y="3502152"/>
            <a:ext cx="5212080" cy="182880"/>
          </a:xfrm>
          <a:prstGeom prst="rect">
            <a:avLst/>
          </a:prstGeom>
          <a:noFill/>
          <a:ln/>
        </p:spPr>
        <p:txBody>
          <a:bodyPr wrap="square" lIns="0" tIns="0" rIns="0" bIns="0" rtlCol="0" anchor="ctr"/>
          <a:lstStyle/>
          <a:p>
            <a:pPr indent="0" marL="0">
              <a:buNone/>
            </a:pPr>
            <a:r>
              <a:rPr lang="en-US" sz="1050" b="1" dirty="0">
                <a:solidFill>
                  <a:srgbClr val="1F3A5F"/>
                </a:solidFill>
                <a:latin typeface="Courier New" pitchFamily="34" charset="0"/>
                <a:ea typeface="Courier New" pitchFamily="34" charset="-122"/>
                <a:cs typeface="Courier New" pitchFamily="34" charset="-120"/>
              </a:rPr>
              <a:t>(name)   </a:t>
            </a:r>
            <a:pPr indent="0" marL="0">
              <a:buNone/>
            </a:pPr>
            <a:r>
              <a:rPr lang="en-US" sz="1050" dirty="0">
                <a:solidFill>
                  <a:srgbClr val="6B7789"/>
                </a:solidFill>
                <a:latin typeface="Calibri" pitchFamily="34" charset="0"/>
                <a:ea typeface="Calibri" pitchFamily="34" charset="-122"/>
                <a:cs typeface="Calibri" pitchFamily="34" charset="-120"/>
              </a:rPr>
              <a:t>the parameter list</a:t>
            </a:r>
            <a:endParaRPr lang="en-US" sz="1050" dirty="0"/>
          </a:p>
        </p:txBody>
      </p:sp>
      <p:sp>
        <p:nvSpPr>
          <p:cNvPr id="11" name="Text 9"/>
          <p:cNvSpPr txBox="1"/>
          <p:nvPr/>
        </p:nvSpPr>
        <p:spPr>
          <a:xfrm>
            <a:off x="868680" y="3675888"/>
            <a:ext cx="5212080" cy="182880"/>
          </a:xfrm>
          <a:prstGeom prst="rect">
            <a:avLst/>
          </a:prstGeom>
          <a:noFill/>
          <a:ln/>
        </p:spPr>
        <p:txBody>
          <a:bodyPr wrap="square" lIns="0" tIns="0" rIns="0" bIns="0" rtlCol="0" anchor="ctr"/>
          <a:lstStyle/>
          <a:p>
            <a:pPr indent="0" marL="0">
              <a:buNone/>
            </a:pPr>
            <a:r>
              <a:rPr lang="en-US" sz="1050" b="1" dirty="0">
                <a:solidFill>
                  <a:srgbClr val="1F3A5F"/>
                </a:solidFill>
                <a:latin typeface="Courier New" pitchFamily="34" charset="0"/>
                <a:ea typeface="Courier New" pitchFamily="34" charset="-122"/>
                <a:cs typeface="Courier New" pitchFamily="34" charset="-120"/>
              </a:rPr>
              <a:t>:        </a:t>
            </a:r>
            <a:pPr indent="0" marL="0">
              <a:buNone/>
            </a:pPr>
            <a:r>
              <a:rPr lang="en-US" sz="1050" dirty="0">
                <a:solidFill>
                  <a:srgbClr val="6B7789"/>
                </a:solidFill>
                <a:latin typeface="Calibri" pitchFamily="34" charset="0"/>
                <a:ea typeface="Calibri" pitchFamily="34" charset="-122"/>
                <a:cs typeface="Calibri" pitchFamily="34" charset="-120"/>
              </a:rPr>
              <a:t>opens the block — body is indented</a:t>
            </a:r>
            <a:endParaRPr lang="en-US" sz="1050" dirty="0"/>
          </a:p>
        </p:txBody>
      </p:sp>
      <p:sp>
        <p:nvSpPr>
          <p:cNvPr id="12" name="Text 10"/>
          <p:cNvSpPr txBox="1"/>
          <p:nvPr/>
        </p:nvSpPr>
        <p:spPr>
          <a:xfrm>
            <a:off x="868680" y="3849624"/>
            <a:ext cx="5212080" cy="182880"/>
          </a:xfrm>
          <a:prstGeom prst="rect">
            <a:avLst/>
          </a:prstGeom>
          <a:noFill/>
          <a:ln/>
        </p:spPr>
        <p:txBody>
          <a:bodyPr wrap="square" lIns="0" tIns="0" rIns="0" bIns="0" rtlCol="0" anchor="ctr"/>
          <a:lstStyle/>
          <a:p>
            <a:pPr indent="0" marL="0">
              <a:buNone/>
            </a:pPr>
            <a:r>
              <a:rPr lang="en-US" sz="1050" b="1" dirty="0">
                <a:solidFill>
                  <a:srgbClr val="1F3A5F"/>
                </a:solidFill>
                <a:latin typeface="Courier New" pitchFamily="34" charset="0"/>
                <a:ea typeface="Courier New" pitchFamily="34" charset="-122"/>
                <a:cs typeface="Courier New" pitchFamily="34" charset="-120"/>
              </a:rPr>
              <a:t>return   </a:t>
            </a:r>
            <a:pPr indent="0" marL="0">
              <a:buNone/>
            </a:pPr>
            <a:r>
              <a:rPr lang="en-US" sz="1050" dirty="0">
                <a:solidFill>
                  <a:srgbClr val="6B7789"/>
                </a:solidFill>
                <a:latin typeface="Calibri" pitchFamily="34" charset="0"/>
                <a:ea typeface="Calibri" pitchFamily="34" charset="-122"/>
                <a:cs typeface="Calibri" pitchFamily="34" charset="-120"/>
              </a:rPr>
              <a:t>sends a value back to the caller</a:t>
            </a:r>
            <a:endParaRPr lang="en-US" sz="1050" dirty="0"/>
          </a:p>
        </p:txBody>
      </p:sp>
      <p:sp>
        <p:nvSpPr>
          <p:cNvPr id="13" name="Shape 11"/>
          <p:cNvSpPr/>
          <p:nvPr/>
        </p:nvSpPr>
        <p:spPr>
          <a:xfrm>
            <a:off x="6583680" y="1572768"/>
            <a:ext cx="5029200" cy="2514600"/>
          </a:xfrm>
          <a:prstGeom prst="roundRect">
            <a:avLst>
              <a:gd name="adj" fmla="val 327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4" name="Text 12"/>
          <p:cNvSpPr txBox="1"/>
          <p:nvPr/>
        </p:nvSpPr>
        <p:spPr>
          <a:xfrm>
            <a:off x="6839712" y="1719072"/>
            <a:ext cx="4480560" cy="301752"/>
          </a:xfrm>
          <a:prstGeom prst="rect">
            <a:avLst/>
          </a:prstGeom>
          <a:noFill/>
          <a:ln/>
        </p:spPr>
        <p:txBody>
          <a:bodyPr wrap="square" lIns="0" tIns="0" rIns="0" bIns="0" rtlCol="0" anchor="ctr"/>
          <a:lstStyle/>
          <a:p>
            <a:pPr indent="0" marL="0">
              <a:buNone/>
            </a:pPr>
            <a:r>
              <a:rPr lang="en-US" sz="1450" b="1" dirty="0">
                <a:solidFill>
                  <a:srgbClr val="1F3A5F"/>
                </a:solidFill>
                <a:latin typeface="Calibri" pitchFamily="34" charset="0"/>
                <a:ea typeface="Calibri" pitchFamily="34" charset="-122"/>
                <a:cs typeface="Calibri" pitchFamily="34" charset="-120"/>
              </a:rPr>
              <a:t>What happens when you call it</a:t>
            </a:r>
            <a:endParaRPr lang="en-US" sz="1450" dirty="0"/>
          </a:p>
        </p:txBody>
      </p:sp>
      <p:sp>
        <p:nvSpPr>
          <p:cNvPr id="15" name="Shape 13"/>
          <p:cNvSpPr/>
          <p:nvPr/>
        </p:nvSpPr>
        <p:spPr>
          <a:xfrm>
            <a:off x="6949440" y="2240280"/>
            <a:ext cx="1737360" cy="365760"/>
          </a:xfrm>
          <a:prstGeom prst="roundRect">
            <a:avLst>
              <a:gd name="adj" fmla="val 20000"/>
            </a:avLst>
          </a:prstGeom>
          <a:solidFill>
            <a:srgbClr val="3E7CB1"/>
          </a:solidFill>
          <a:ln w="12700">
            <a:solidFill>
              <a:srgbClr val="333333"/>
            </a:solidFill>
            <a:prstDash val="solid"/>
          </a:ln>
        </p:spPr>
      </p:sp>
      <p:sp>
        <p:nvSpPr>
          <p:cNvPr id="16" name="Text 14"/>
          <p:cNvSpPr txBox="1"/>
          <p:nvPr/>
        </p:nvSpPr>
        <p:spPr>
          <a:xfrm>
            <a:off x="6949440" y="2240280"/>
            <a:ext cx="17373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greet("Ravi")</a:t>
            </a:r>
            <a:endParaRPr lang="en-US" sz="1000" dirty="0"/>
          </a:p>
        </p:txBody>
      </p:sp>
      <p:sp>
        <p:nvSpPr>
          <p:cNvPr id="17" name="Shape 15"/>
          <p:cNvSpPr/>
          <p:nvPr/>
        </p:nvSpPr>
        <p:spPr>
          <a:xfrm>
            <a:off x="8686800" y="2423160"/>
            <a:ext cx="685800" cy="0"/>
          </a:xfrm>
          <a:prstGeom prst="line">
            <a:avLst/>
          </a:prstGeom>
          <a:noFill/>
          <a:ln w="25400">
            <a:solidFill>
              <a:srgbClr val="8FA0B6"/>
            </a:solidFill>
            <a:prstDash val="solid"/>
            <a:tailEnd type="triangle"/>
          </a:ln>
        </p:spPr>
      </p:sp>
      <p:sp>
        <p:nvSpPr>
          <p:cNvPr id="18" name="Shape 16"/>
          <p:cNvSpPr/>
          <p:nvPr/>
        </p:nvSpPr>
        <p:spPr>
          <a:xfrm>
            <a:off x="9464040" y="2240280"/>
            <a:ext cx="1737360" cy="365760"/>
          </a:xfrm>
          <a:prstGeom prst="roundRect">
            <a:avLst>
              <a:gd name="adj" fmla="val 20000"/>
            </a:avLst>
          </a:prstGeom>
          <a:solidFill>
            <a:srgbClr val="FFC145"/>
          </a:solidFill>
          <a:ln w="12700">
            <a:solidFill>
              <a:srgbClr val="333333"/>
            </a:solidFill>
            <a:prstDash val="solid"/>
          </a:ln>
        </p:spPr>
      </p:sp>
      <p:sp>
        <p:nvSpPr>
          <p:cNvPr id="19" name="Text 17"/>
          <p:cNvSpPr txBox="1"/>
          <p:nvPr/>
        </p:nvSpPr>
        <p:spPr>
          <a:xfrm>
            <a:off x="9464040" y="2240280"/>
            <a:ext cx="1737360" cy="365760"/>
          </a:xfrm>
          <a:prstGeom prst="rect">
            <a:avLst/>
          </a:prstGeom>
          <a:noFill/>
          <a:ln/>
        </p:spPr>
        <p:txBody>
          <a:bodyPr wrap="square" lIns="0" tIns="0" rIns="0" bIns="0" rtlCol="0" anchor="ctr"/>
          <a:lstStyle/>
          <a:p>
            <a:pPr algn="ctr" indent="0" marL="0">
              <a:buNone/>
            </a:pPr>
            <a:r>
              <a:rPr lang="en-US" sz="1000" b="1" dirty="0">
                <a:solidFill>
                  <a:srgbClr val="152238"/>
                </a:solidFill>
                <a:latin typeface="Courier New" pitchFamily="34" charset="0"/>
                <a:ea typeface="Courier New" pitchFamily="34" charset="-122"/>
                <a:cs typeface="Courier New" pitchFamily="34" charset="-120"/>
              </a:rPr>
              <a:t>name = "Ravi"</a:t>
            </a:r>
            <a:endParaRPr lang="en-US" sz="1000" dirty="0"/>
          </a:p>
        </p:txBody>
      </p:sp>
      <p:sp>
        <p:nvSpPr>
          <p:cNvPr id="20" name="Shape 18"/>
          <p:cNvSpPr/>
          <p:nvPr/>
        </p:nvSpPr>
        <p:spPr>
          <a:xfrm>
            <a:off x="10332720" y="2606040"/>
            <a:ext cx="0" cy="201168"/>
          </a:xfrm>
          <a:prstGeom prst="line">
            <a:avLst/>
          </a:prstGeom>
          <a:noFill/>
          <a:ln w="25400">
            <a:solidFill>
              <a:srgbClr val="8FA0B6"/>
            </a:solidFill>
            <a:prstDash val="solid"/>
            <a:tailEnd type="triangle"/>
          </a:ln>
        </p:spPr>
      </p:sp>
      <p:sp>
        <p:nvSpPr>
          <p:cNvPr id="21" name="Shape 19"/>
          <p:cNvSpPr/>
          <p:nvPr/>
        </p:nvSpPr>
        <p:spPr>
          <a:xfrm>
            <a:off x="9281160" y="2807208"/>
            <a:ext cx="2103120" cy="365760"/>
          </a:xfrm>
          <a:prstGeom prst="roundRect">
            <a:avLst>
              <a:gd name="adj" fmla="val 20000"/>
            </a:avLst>
          </a:prstGeom>
          <a:solidFill>
            <a:srgbClr val="2FA98C"/>
          </a:solidFill>
          <a:ln w="12700">
            <a:solidFill>
              <a:srgbClr val="333333"/>
            </a:solidFill>
            <a:prstDash val="solid"/>
          </a:ln>
        </p:spPr>
      </p:sp>
      <p:sp>
        <p:nvSpPr>
          <p:cNvPr id="22" name="Text 20"/>
          <p:cNvSpPr txBox="1"/>
          <p:nvPr/>
        </p:nvSpPr>
        <p:spPr>
          <a:xfrm>
            <a:off x="9281160" y="2807208"/>
            <a:ext cx="210312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body runs</a:t>
            </a:r>
            <a:endParaRPr lang="en-US" sz="1000" dirty="0"/>
          </a:p>
        </p:txBody>
      </p:sp>
      <p:sp>
        <p:nvSpPr>
          <p:cNvPr id="23" name="Shape 21"/>
          <p:cNvSpPr/>
          <p:nvPr/>
        </p:nvSpPr>
        <p:spPr>
          <a:xfrm>
            <a:off x="10332720" y="3172968"/>
            <a:ext cx="0" cy="201168"/>
          </a:xfrm>
          <a:prstGeom prst="line">
            <a:avLst/>
          </a:prstGeom>
          <a:noFill/>
          <a:ln w="25400">
            <a:solidFill>
              <a:srgbClr val="8FA0B6"/>
            </a:solidFill>
            <a:prstDash val="solid"/>
            <a:tailEnd type="triangle"/>
          </a:ln>
        </p:spPr>
      </p:sp>
      <p:sp>
        <p:nvSpPr>
          <p:cNvPr id="24" name="Shape 22"/>
          <p:cNvSpPr/>
          <p:nvPr/>
        </p:nvSpPr>
        <p:spPr>
          <a:xfrm>
            <a:off x="9281160" y="3374136"/>
            <a:ext cx="2103120" cy="365760"/>
          </a:xfrm>
          <a:prstGeom prst="roundRect">
            <a:avLst>
              <a:gd name="adj" fmla="val 20000"/>
            </a:avLst>
          </a:prstGeom>
          <a:solidFill>
            <a:srgbClr val="2FA98C"/>
          </a:solidFill>
          <a:ln w="12700">
            <a:solidFill>
              <a:srgbClr val="333333"/>
            </a:solidFill>
            <a:prstDash val="solid"/>
          </a:ln>
        </p:spPr>
      </p:sp>
      <p:sp>
        <p:nvSpPr>
          <p:cNvPr id="25" name="Text 23"/>
          <p:cNvSpPr txBox="1"/>
          <p:nvPr/>
        </p:nvSpPr>
        <p:spPr>
          <a:xfrm>
            <a:off x="9281160" y="3374136"/>
            <a:ext cx="2103120"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return "Hello, Ravi!"</a:t>
            </a:r>
            <a:endParaRPr lang="en-US" sz="900" dirty="0"/>
          </a:p>
        </p:txBody>
      </p:sp>
      <p:sp>
        <p:nvSpPr>
          <p:cNvPr id="26" name="Shape 24"/>
          <p:cNvSpPr/>
          <p:nvPr/>
        </p:nvSpPr>
        <p:spPr>
          <a:xfrm>
            <a:off x="9281160" y="3557016"/>
            <a:ext cx="-594360" cy="0"/>
          </a:xfrm>
          <a:prstGeom prst="line">
            <a:avLst/>
          </a:prstGeom>
          <a:noFill/>
          <a:ln w="25400">
            <a:solidFill>
              <a:srgbClr val="8FA0B6"/>
            </a:solidFill>
            <a:prstDash val="solid"/>
            <a:tailEnd type="triangle"/>
          </a:ln>
        </p:spPr>
      </p:sp>
      <p:sp>
        <p:nvSpPr>
          <p:cNvPr id="27" name="Shape 25"/>
          <p:cNvSpPr/>
          <p:nvPr/>
        </p:nvSpPr>
        <p:spPr>
          <a:xfrm>
            <a:off x="6949440" y="3374136"/>
            <a:ext cx="1737360" cy="365760"/>
          </a:xfrm>
          <a:prstGeom prst="roundRect">
            <a:avLst>
              <a:gd name="adj" fmla="val 20000"/>
            </a:avLst>
          </a:prstGeom>
          <a:solidFill>
            <a:srgbClr val="3E7CB1"/>
          </a:solidFill>
          <a:ln w="12700">
            <a:solidFill>
              <a:srgbClr val="333333"/>
            </a:solidFill>
            <a:prstDash val="solid"/>
          </a:ln>
        </p:spPr>
      </p:sp>
      <p:sp>
        <p:nvSpPr>
          <p:cNvPr id="28" name="Text 26"/>
          <p:cNvSpPr txBox="1"/>
          <p:nvPr/>
        </p:nvSpPr>
        <p:spPr>
          <a:xfrm>
            <a:off x="6949440" y="3374136"/>
            <a:ext cx="17373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result</a:t>
            </a:r>
            <a:endParaRPr lang="en-US" sz="1000" dirty="0"/>
          </a:p>
        </p:txBody>
      </p:sp>
      <p:sp>
        <p:nvSpPr>
          <p:cNvPr id="29" name="Text 27"/>
          <p:cNvSpPr txBox="1"/>
          <p:nvPr/>
        </p:nvSpPr>
        <p:spPr>
          <a:xfrm>
            <a:off x="8577072" y="2084832"/>
            <a:ext cx="914400" cy="237744"/>
          </a:xfrm>
          <a:prstGeom prst="rect">
            <a:avLst/>
          </a:prstGeom>
          <a:noFill/>
          <a:ln/>
        </p:spPr>
        <p:txBody>
          <a:bodyPr wrap="square" lIns="0" tIns="0" rIns="0" bIns="0" rtlCol="0" anchor="ctr"/>
          <a:lstStyle/>
          <a:p>
            <a:pPr algn="ctr" indent="0" marL="0">
              <a:buNone/>
            </a:pPr>
            <a:r>
              <a:rPr lang="en-US" sz="950" b="1" dirty="0">
                <a:solidFill>
                  <a:srgbClr val="6B7789"/>
                </a:solidFill>
                <a:latin typeface="Calibri" pitchFamily="34" charset="0"/>
                <a:ea typeface="Calibri" pitchFamily="34" charset="-122"/>
                <a:cs typeface="Calibri" pitchFamily="34" charset="-120"/>
              </a:rPr>
              <a:t>call</a:t>
            </a:r>
            <a:endParaRPr lang="en-US" sz="950" dirty="0"/>
          </a:p>
        </p:txBody>
      </p:sp>
      <p:sp>
        <p:nvSpPr>
          <p:cNvPr id="30" name="Text 28"/>
          <p:cNvSpPr txBox="1"/>
          <p:nvPr/>
        </p:nvSpPr>
        <p:spPr>
          <a:xfrm>
            <a:off x="6903720" y="3767328"/>
            <a:ext cx="1828800" cy="237744"/>
          </a:xfrm>
          <a:prstGeom prst="rect">
            <a:avLst/>
          </a:prstGeom>
          <a:noFill/>
          <a:ln/>
        </p:spPr>
        <p:txBody>
          <a:bodyPr wrap="square" lIns="0" tIns="0" rIns="0" bIns="0" rtlCol="0" anchor="ctr"/>
          <a:lstStyle/>
          <a:p>
            <a:pPr algn="ctr" indent="0" marL="0">
              <a:buNone/>
            </a:pPr>
            <a:r>
              <a:rPr lang="en-US" sz="950" b="1" dirty="0">
                <a:solidFill>
                  <a:srgbClr val="6B7789"/>
                </a:solidFill>
                <a:latin typeface="Calibri" pitchFamily="34" charset="0"/>
                <a:ea typeface="Calibri" pitchFamily="34" charset="-122"/>
                <a:cs typeface="Calibri" pitchFamily="34" charset="-120"/>
              </a:rPr>
              <a:t>value comes back</a:t>
            </a:r>
            <a:endParaRPr lang="en-US" sz="950" dirty="0"/>
          </a:p>
        </p:txBody>
      </p:sp>
      <p:sp>
        <p:nvSpPr>
          <p:cNvPr id="31" name="Shape 29"/>
          <p:cNvSpPr/>
          <p:nvPr/>
        </p:nvSpPr>
        <p:spPr>
          <a:xfrm>
            <a:off x="548640" y="4251960"/>
            <a:ext cx="11064240" cy="1600200"/>
          </a:xfrm>
          <a:prstGeom prst="roundRect">
            <a:avLst>
              <a:gd name="adj" fmla="val 5143"/>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2" name="Text 30"/>
          <p:cNvSpPr txBox="1"/>
          <p:nvPr/>
        </p:nvSpPr>
        <p:spPr>
          <a:xfrm>
            <a:off x="868680" y="4407408"/>
            <a:ext cx="5943600" cy="292608"/>
          </a:xfrm>
          <a:prstGeom prst="rect">
            <a:avLst/>
          </a:prstGeom>
          <a:noFill/>
          <a:ln/>
        </p:spPr>
        <p:txBody>
          <a:bodyPr wrap="square" lIns="0" tIns="0" rIns="0" bIns="0" rtlCol="0" anchor="ctr"/>
          <a:lstStyle/>
          <a:p>
            <a:pPr indent="0" marL="0">
              <a:buNone/>
            </a:pPr>
            <a:r>
              <a:rPr lang="en-US" sz="1500" b="1" dirty="0">
                <a:solidFill>
                  <a:srgbClr val="8A5B00"/>
                </a:solidFill>
                <a:latin typeface="Calibri" pitchFamily="34" charset="0"/>
                <a:ea typeface="Calibri" pitchFamily="34" charset="-122"/>
                <a:cs typeface="Calibri" pitchFamily="34" charset="-120"/>
              </a:rPr>
              <a:t>Defining is not running</a:t>
            </a:r>
            <a:endParaRPr lang="en-US" sz="1500" dirty="0"/>
          </a:p>
        </p:txBody>
      </p:sp>
      <p:sp>
        <p:nvSpPr>
          <p:cNvPr id="33" name="Shape 31"/>
          <p:cNvSpPr/>
          <p:nvPr/>
        </p:nvSpPr>
        <p:spPr>
          <a:xfrm>
            <a:off x="868680" y="4754880"/>
            <a:ext cx="5212080" cy="914400"/>
          </a:xfrm>
          <a:prstGeom prst="roundRect">
            <a:avLst>
              <a:gd name="adj" fmla="val 7000"/>
            </a:avLst>
          </a:prstGeom>
          <a:solidFill>
            <a:srgbClr val="1B2B45"/>
          </a:solidFill>
          <a:ln w="12700">
            <a:solidFill>
              <a:srgbClr val="1B2B45"/>
            </a:solidFill>
            <a:prstDash val="solid"/>
          </a:ln>
        </p:spPr>
      </p:sp>
      <p:sp>
        <p:nvSpPr>
          <p:cNvPr id="34" name="Text 32"/>
          <p:cNvSpPr txBox="1"/>
          <p:nvPr/>
        </p:nvSpPr>
        <p:spPr>
          <a:xfrm>
            <a:off x="1033272" y="4864608"/>
            <a:ext cx="4882896" cy="694944"/>
          </a:xfrm>
          <a:prstGeom prst="rect">
            <a:avLst/>
          </a:prstGeom>
          <a:noFill/>
          <a:ln/>
        </p:spPr>
        <p:txBody>
          <a:bodyPr wrap="square" lIns="0" tIns="0" rIns="0" bIns="0" rtlCol="0" anchor="t"/>
          <a:lstStyle/>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def greet(name):        # defining: nothing happens yet</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print("Hello")</a:t>
            </a:r>
            <a:endParaRPr lang="en-US" sz="1100" dirty="0"/>
          </a:p>
          <a:p>
            <a:pPr indent="0" marL="0">
              <a:lnSpc>
                <a:spcPct val="112000"/>
              </a:lnSpc>
              <a:buNone/>
            </a:pP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greet("Ravi")           # calling: NOW the body runs</a:t>
            </a:r>
            <a:endParaRPr lang="en-US" sz="1100" dirty="0"/>
          </a:p>
        </p:txBody>
      </p:sp>
      <p:sp>
        <p:nvSpPr>
          <p:cNvPr id="35" name="Text 33"/>
          <p:cNvSpPr txBox="1"/>
          <p:nvPr/>
        </p:nvSpPr>
        <p:spPr>
          <a:xfrm>
            <a:off x="6400800" y="4736592"/>
            <a:ext cx="4983480" cy="960120"/>
          </a:xfrm>
          <a:prstGeom prst="rect">
            <a:avLst/>
          </a:prstGeom>
          <a:noFill/>
          <a:ln/>
        </p:spPr>
        <p:txBody>
          <a:bodyPr wrap="square" lIns="0" tIns="0" rIns="0" bIns="0" rtlCol="0" anchor="ctr"/>
          <a:lstStyle/>
          <a:p>
            <a:pPr indent="0" marL="0">
              <a:lnSpc>
                <a:spcPct val="115000"/>
              </a:lnSpc>
              <a:buNone/>
            </a:pPr>
            <a:r>
              <a:rPr lang="en-US" sz="1250" dirty="0">
                <a:solidFill>
                  <a:srgbClr val="6B4A0B"/>
                </a:solidFill>
                <a:latin typeface="Calibri" pitchFamily="34" charset="0"/>
                <a:ea typeface="Calibri" pitchFamily="34" charset="-122"/>
                <a:cs typeface="Calibri" pitchFamily="34" charset="-120"/>
              </a:rPr>
              <a:t>A very common first-week confusion: students write a perfect function, run the cell, see no output, and assume it is broken. The definition only teaches Python the recipe. Nothing cooks until you call it — and the parentheses are what make it a call.</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1.3  ·  RETURN</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return vs print — the distinction that matters most today</a:t>
            </a:r>
            <a:endParaRPr lang="en-US" sz="3200" dirty="0"/>
          </a:p>
        </p:txBody>
      </p:sp>
      <p:sp>
        <p:nvSpPr>
          <p:cNvPr id="5" name="Shape 3"/>
          <p:cNvSpPr/>
          <p:nvPr/>
        </p:nvSpPr>
        <p:spPr>
          <a:xfrm>
            <a:off x="548640" y="1572768"/>
            <a:ext cx="5486400" cy="2743200"/>
          </a:xfrm>
          <a:prstGeom prst="roundRect">
            <a:avLst>
              <a:gd name="adj" fmla="val 3000"/>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19072"/>
            <a:ext cx="4937760" cy="301752"/>
          </a:xfrm>
          <a:prstGeom prst="rect">
            <a:avLst/>
          </a:prstGeom>
          <a:noFill/>
          <a:ln/>
        </p:spPr>
        <p:txBody>
          <a:bodyPr wrap="square" lIns="0" tIns="0" rIns="0" bIns="0" rtlCol="0" anchor="ctr"/>
          <a:lstStyle/>
          <a:p>
            <a:pPr indent="0" marL="0">
              <a:buNone/>
            </a:pPr>
            <a:r>
              <a:rPr lang="en-US" sz="1500" b="1" dirty="0">
                <a:solidFill>
                  <a:srgbClr val="A63B24"/>
                </a:solidFill>
                <a:latin typeface="Calibri" pitchFamily="34" charset="0"/>
                <a:ea typeface="Calibri" pitchFamily="34" charset="-122"/>
                <a:cs typeface="Calibri" pitchFamily="34" charset="-120"/>
              </a:rPr>
              <a:t>print  —  shows text on screen</a:t>
            </a:r>
            <a:endParaRPr lang="en-US" sz="1500" dirty="0"/>
          </a:p>
        </p:txBody>
      </p:sp>
      <p:sp>
        <p:nvSpPr>
          <p:cNvPr id="7" name="Shape 5"/>
          <p:cNvSpPr/>
          <p:nvPr/>
        </p:nvSpPr>
        <p:spPr>
          <a:xfrm>
            <a:off x="804672" y="2103120"/>
            <a:ext cx="4983480" cy="2057400"/>
          </a:xfrm>
          <a:prstGeom prst="roundRect">
            <a:avLst>
              <a:gd name="adj" fmla="val 3111"/>
            </a:avLst>
          </a:prstGeom>
          <a:solidFill>
            <a:srgbClr val="1B2B45"/>
          </a:solidFill>
          <a:ln w="12700">
            <a:solidFill>
              <a:srgbClr val="1B2B45"/>
            </a:solidFill>
            <a:prstDash val="solid"/>
          </a:ln>
        </p:spPr>
      </p:sp>
      <p:sp>
        <p:nvSpPr>
          <p:cNvPr id="8" name="Text 6"/>
          <p:cNvSpPr txBox="1"/>
          <p:nvPr/>
        </p:nvSpPr>
        <p:spPr>
          <a:xfrm>
            <a:off x="969264" y="2212848"/>
            <a:ext cx="4654296" cy="1837944"/>
          </a:xfrm>
          <a:prstGeom prst="rect">
            <a:avLst/>
          </a:prstGeom>
          <a:noFill/>
          <a:ln/>
        </p:spPr>
        <p:txBody>
          <a:bodyPr wrap="square" lIns="0" tIns="0" rIns="0" bIns="0" rtlCol="0" anchor="t"/>
          <a:lstStyle/>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def add(a, b):</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print(a + b)          # shows it</a:t>
            </a:r>
            <a:endParaRPr lang="en-US" sz="1050" dirty="0"/>
          </a:p>
          <a:p>
            <a:pPr indent="0" marL="0">
              <a:lnSpc>
                <a:spcPct val="112000"/>
              </a:lnSpc>
              <a:buNone/>
            </a:pP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result = add(2, 3)        # displays 5</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print(result)             # None !</a:t>
            </a:r>
            <a:endParaRPr lang="en-US" sz="1050" dirty="0"/>
          </a:p>
          <a:p>
            <a:pPr indent="0" marL="0">
              <a:lnSpc>
                <a:spcPct val="112000"/>
              </a:lnSpc>
              <a:buNone/>
            </a:pP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print(result * 2)</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-&gt; TypeError: unsupported operand</a:t>
            </a:r>
            <a:endParaRPr lang="en-US" sz="1050" dirty="0"/>
          </a:p>
          <a:p>
            <a:pPr indent="0" marL="0">
              <a:lnSpc>
                <a:spcPct val="112000"/>
              </a:lnSpc>
              <a:buNone/>
            </a:pP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The value was never handed back.</a:t>
            </a:r>
            <a:endParaRPr lang="en-US" sz="1050" dirty="0"/>
          </a:p>
        </p:txBody>
      </p:sp>
      <p:sp>
        <p:nvSpPr>
          <p:cNvPr id="9" name="Shape 7"/>
          <p:cNvSpPr/>
          <p:nvPr/>
        </p:nvSpPr>
        <p:spPr>
          <a:xfrm>
            <a:off x="6309360" y="1572768"/>
            <a:ext cx="5303520" cy="2743200"/>
          </a:xfrm>
          <a:prstGeom prst="roundRect">
            <a:avLst>
              <a:gd name="adj" fmla="val 3000"/>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8"/>
          <p:cNvSpPr txBox="1"/>
          <p:nvPr/>
        </p:nvSpPr>
        <p:spPr>
          <a:xfrm>
            <a:off x="6565392" y="1719072"/>
            <a:ext cx="4754880" cy="301752"/>
          </a:xfrm>
          <a:prstGeom prst="rect">
            <a:avLst/>
          </a:prstGeom>
          <a:noFill/>
          <a:ln/>
        </p:spPr>
        <p:txBody>
          <a:bodyPr wrap="square" lIns="0" tIns="0" rIns="0" bIns="0" rtlCol="0" anchor="ctr"/>
          <a:lstStyle/>
          <a:p>
            <a:pPr indent="0" marL="0">
              <a:buNone/>
            </a:pPr>
            <a:r>
              <a:rPr lang="en-US" sz="1500" b="1" dirty="0">
                <a:solidFill>
                  <a:srgbClr val="1C6F5C"/>
                </a:solidFill>
                <a:latin typeface="Calibri" pitchFamily="34" charset="0"/>
                <a:ea typeface="Calibri" pitchFamily="34" charset="-122"/>
                <a:cs typeface="Calibri" pitchFamily="34" charset="-120"/>
              </a:rPr>
              <a:t>return  —  hands the value back</a:t>
            </a:r>
            <a:endParaRPr lang="en-US" sz="1500" dirty="0"/>
          </a:p>
        </p:txBody>
      </p:sp>
      <p:sp>
        <p:nvSpPr>
          <p:cNvPr id="11" name="Shape 9"/>
          <p:cNvSpPr/>
          <p:nvPr/>
        </p:nvSpPr>
        <p:spPr>
          <a:xfrm>
            <a:off x="6565392" y="2103120"/>
            <a:ext cx="4800600" cy="2057400"/>
          </a:xfrm>
          <a:prstGeom prst="roundRect">
            <a:avLst>
              <a:gd name="adj" fmla="val 3111"/>
            </a:avLst>
          </a:prstGeom>
          <a:solidFill>
            <a:srgbClr val="1B2B45"/>
          </a:solidFill>
          <a:ln w="12700">
            <a:solidFill>
              <a:srgbClr val="1B2B45"/>
            </a:solidFill>
            <a:prstDash val="solid"/>
          </a:ln>
        </p:spPr>
      </p:sp>
      <p:sp>
        <p:nvSpPr>
          <p:cNvPr id="12" name="Text 10"/>
          <p:cNvSpPr txBox="1"/>
          <p:nvPr/>
        </p:nvSpPr>
        <p:spPr>
          <a:xfrm>
            <a:off x="6729984" y="2212848"/>
            <a:ext cx="4471416" cy="1837944"/>
          </a:xfrm>
          <a:prstGeom prst="rect">
            <a:avLst/>
          </a:prstGeom>
          <a:noFill/>
          <a:ln/>
        </p:spPr>
        <p:txBody>
          <a:bodyPr wrap="square" lIns="0" tIns="0" rIns="0" bIns="0" rtlCol="0" anchor="t"/>
          <a:lstStyle/>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def add(a, b):</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return a + b          # gives it back</a:t>
            </a:r>
            <a:endParaRPr lang="en-US" sz="1050" dirty="0"/>
          </a:p>
          <a:p>
            <a:pPr indent="0" marL="0">
              <a:lnSpc>
                <a:spcPct val="112000"/>
              </a:lnSpc>
              <a:buNone/>
            </a:pP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result = add(2, 3)        # nothing displayed</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print(result)             # 5</a:t>
            </a:r>
            <a:endParaRPr lang="en-US" sz="1050" dirty="0"/>
          </a:p>
          <a:p>
            <a:pPr indent="0" marL="0">
              <a:lnSpc>
                <a:spcPct val="112000"/>
              </a:lnSpc>
              <a:buNone/>
            </a:pP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print(result * 2)         # 10  - it is a real number</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total = add(1,2) + add(3,4)   # composable</a:t>
            </a:r>
            <a:endParaRPr lang="en-US" sz="1050" dirty="0"/>
          </a:p>
          <a:p>
            <a:pPr indent="0" marL="0">
              <a:lnSpc>
                <a:spcPct val="112000"/>
              </a:lnSpc>
              <a:buNone/>
            </a:pP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The value can now be USED.</a:t>
            </a:r>
            <a:endParaRPr lang="en-US" sz="1050" dirty="0"/>
          </a:p>
        </p:txBody>
      </p:sp>
      <p:sp>
        <p:nvSpPr>
          <p:cNvPr id="13" name="Shape 11"/>
          <p:cNvSpPr/>
          <p:nvPr/>
        </p:nvSpPr>
        <p:spPr>
          <a:xfrm>
            <a:off x="548640" y="4526280"/>
            <a:ext cx="11064240" cy="1325880"/>
          </a:xfrm>
          <a:prstGeom prst="roundRect">
            <a:avLst>
              <a:gd name="adj" fmla="val 6207"/>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4" name="Text 12"/>
          <p:cNvSpPr txBox="1"/>
          <p:nvPr/>
        </p:nvSpPr>
        <p:spPr>
          <a:xfrm>
            <a:off x="868680" y="4681728"/>
            <a:ext cx="10424160" cy="457200"/>
          </a:xfrm>
          <a:prstGeom prst="rect">
            <a:avLst/>
          </a:prstGeom>
          <a:noFill/>
          <a:ln/>
        </p:spPr>
        <p:txBody>
          <a:bodyPr wrap="square" lIns="0" tIns="0" rIns="0" bIns="0" rtlCol="0" anchor="ctr"/>
          <a:lstStyle/>
          <a:p>
            <a:pPr indent="0" marL="0">
              <a:buNone/>
            </a:pPr>
            <a:r>
              <a:rPr lang="en-US" sz="1400" b="1" dirty="0">
                <a:solidFill>
                  <a:srgbClr val="8A5B00"/>
                </a:solidFill>
                <a:latin typeface="Calibri" pitchFamily="34" charset="0"/>
                <a:ea typeface="Calibri" pitchFamily="34" charset="-122"/>
                <a:cs typeface="Calibri" pitchFamily="34" charset="-120"/>
              </a:rPr>
              <a:t>The rule:  </a:t>
            </a:r>
            <a:pPr indent="0" marL="0">
              <a:buNone/>
            </a:pPr>
            <a:r>
              <a:rPr lang="en-US" sz="1400" b="1" dirty="0">
                <a:solidFill>
                  <a:srgbClr val="1F3A5F"/>
                </a:solidFill>
                <a:latin typeface="Courier New" pitchFamily="34" charset="0"/>
                <a:ea typeface="Courier New" pitchFamily="34" charset="-122"/>
                <a:cs typeface="Courier New" pitchFamily="34" charset="-120"/>
              </a:rPr>
              <a:t>print</a:t>
            </a:r>
            <a:pPr indent="0" marL="0">
              <a:buNone/>
            </a:pPr>
            <a:r>
              <a:rPr lang="en-US" sz="1400" dirty="0">
                <a:solidFill>
                  <a:srgbClr val="6B4A0B"/>
                </a:solidFill>
                <a:latin typeface="Calibri" pitchFamily="34" charset="0"/>
                <a:ea typeface="Calibri" pitchFamily="34" charset="-122"/>
                <a:cs typeface="Calibri" pitchFamily="34" charset="-120"/>
              </a:rPr>
              <a:t>  is for a human to read.  </a:t>
            </a:r>
            <a:pPr indent="0" marL="0">
              <a:buNone/>
            </a:pPr>
            <a:r>
              <a:rPr lang="en-US" sz="1400" b="1" dirty="0">
                <a:solidFill>
                  <a:srgbClr val="1F3A5F"/>
                </a:solidFill>
                <a:latin typeface="Courier New" pitchFamily="34" charset="0"/>
                <a:ea typeface="Courier New" pitchFamily="34" charset="-122"/>
                <a:cs typeface="Courier New" pitchFamily="34" charset="-120"/>
              </a:rPr>
              <a:t>return</a:t>
            </a:r>
            <a:pPr indent="0" marL="0">
              <a:buNone/>
            </a:pPr>
            <a:r>
              <a:rPr lang="en-US" sz="1400" dirty="0">
                <a:solidFill>
                  <a:srgbClr val="6B4A0B"/>
                </a:solidFill>
                <a:latin typeface="Calibri" pitchFamily="34" charset="0"/>
                <a:ea typeface="Calibri" pitchFamily="34" charset="-122"/>
                <a:cs typeface="Calibri" pitchFamily="34" charset="-120"/>
              </a:rPr>
              <a:t>  is for the rest of your program to use. Almost every function you write should  </a:t>
            </a:r>
            <a:pPr indent="0" marL="0">
              <a:buNone/>
            </a:pPr>
            <a:r>
              <a:rPr lang="en-US" sz="1400" b="1" dirty="0">
                <a:solidFill>
                  <a:srgbClr val="1F3A5F"/>
                </a:solidFill>
                <a:latin typeface="Courier New" pitchFamily="34" charset="0"/>
                <a:ea typeface="Courier New" pitchFamily="34" charset="-122"/>
                <a:cs typeface="Courier New" pitchFamily="34" charset="-120"/>
              </a:rPr>
              <a:t>return</a:t>
            </a:r>
            <a:pPr indent="0" marL="0">
              <a:buNone/>
            </a:pPr>
            <a:r>
              <a:rPr lang="en-US" sz="1400" dirty="0">
                <a:solidFill>
                  <a:srgbClr val="6B4A0B"/>
                </a:solidFill>
                <a:latin typeface="Calibri" pitchFamily="34" charset="0"/>
                <a:ea typeface="Calibri" pitchFamily="34" charset="-122"/>
                <a:cs typeface="Calibri" pitchFamily="34" charset="-120"/>
              </a:rPr>
              <a:t> .</a:t>
            </a:r>
            <a:endParaRPr lang="en-US" sz="1400" dirty="0"/>
          </a:p>
        </p:txBody>
      </p:sp>
      <p:sp>
        <p:nvSpPr>
          <p:cNvPr id="15" name="Text 13"/>
          <p:cNvSpPr txBox="1"/>
          <p:nvPr/>
        </p:nvSpPr>
        <p:spPr>
          <a:xfrm>
            <a:off x="868680" y="5138928"/>
            <a:ext cx="10424160" cy="548640"/>
          </a:xfrm>
          <a:prstGeom prst="rect">
            <a:avLst/>
          </a:prstGeom>
          <a:noFill/>
          <a:ln/>
        </p:spPr>
        <p:txBody>
          <a:bodyPr wrap="square" lIns="0" tIns="0" rIns="0" bIns="0" rtlCol="0" anchor="ctr"/>
          <a:lstStyle/>
          <a:p>
            <a:pPr indent="0" marL="0">
              <a:lnSpc>
                <a:spcPct val="115000"/>
              </a:lnSpc>
              <a:buNone/>
            </a:pPr>
            <a:r>
              <a:rPr lang="en-US" sz="1300" dirty="0">
                <a:solidFill>
                  <a:srgbClr val="6B4A0B"/>
                </a:solidFill>
                <a:latin typeface="Calibri" pitchFamily="34" charset="0"/>
                <a:ea typeface="Calibri" pitchFamily="34" charset="-122"/>
                <a:cs typeface="Calibri" pitchFamily="34" charset="-120"/>
              </a:rPr>
              <a:t>A function with no return statement returns None automatically. That None is where the mysterious “TypeError: unsupported operand type(s) for *: 'NoneType'” comes from — you tried to do arithmetic on nothing.</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1.4  ·  RETURN, CONTINUED</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Three things return does that surprise people</a:t>
            </a:r>
            <a:endParaRPr lang="en-US" sz="3200" dirty="0"/>
          </a:p>
        </p:txBody>
      </p:sp>
      <p:sp>
        <p:nvSpPr>
          <p:cNvPr id="5" name="Shape 3"/>
          <p:cNvSpPr/>
          <p:nvPr/>
        </p:nvSpPr>
        <p:spPr>
          <a:xfrm>
            <a:off x="548640" y="1572768"/>
            <a:ext cx="3520440" cy="2880360"/>
          </a:xfrm>
          <a:prstGeom prst="roundRect">
            <a:avLst>
              <a:gd name="adj" fmla="val 285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777240" y="1783080"/>
            <a:ext cx="402336" cy="402336"/>
          </a:xfrm>
          <a:prstGeom prst="ellipse">
            <a:avLst/>
          </a:prstGeom>
          <a:solidFill>
            <a:srgbClr val="3E7CB1"/>
          </a:solidFill>
          <a:ln w="12700">
            <a:solidFill>
              <a:srgbClr val="3E7CB1"/>
            </a:solidFill>
            <a:prstDash val="solid"/>
          </a:ln>
        </p:spPr>
      </p:sp>
      <p:sp>
        <p:nvSpPr>
          <p:cNvPr id="7" name="Text 5"/>
          <p:cNvSpPr txBox="1"/>
          <p:nvPr/>
        </p:nvSpPr>
        <p:spPr>
          <a:xfrm>
            <a:off x="777240" y="17830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298448" y="1737360"/>
            <a:ext cx="2606040" cy="566928"/>
          </a:xfrm>
          <a:prstGeom prst="rect">
            <a:avLst/>
          </a:prstGeom>
          <a:noFill/>
          <a:ln/>
        </p:spPr>
        <p:txBody>
          <a:bodyPr wrap="square" lIns="0" tIns="0" rIns="0" bIns="0" rtlCol="0" anchor="ctr"/>
          <a:lstStyle/>
          <a:p>
            <a:pPr indent="0" marL="0">
              <a:lnSpc>
                <a:spcPct val="110000"/>
              </a:lnSpc>
              <a:buNone/>
            </a:pPr>
            <a:r>
              <a:rPr lang="en-US" sz="1350" b="1" dirty="0">
                <a:solidFill>
                  <a:srgbClr val="1F3A5F"/>
                </a:solidFill>
                <a:latin typeface="Calibri" pitchFamily="34" charset="0"/>
                <a:ea typeface="Calibri" pitchFamily="34" charset="-122"/>
                <a:cs typeface="Calibri" pitchFamily="34" charset="-120"/>
              </a:rPr>
              <a:t>return exits immediately</a:t>
            </a:r>
            <a:endParaRPr lang="en-US" sz="1350" dirty="0"/>
          </a:p>
        </p:txBody>
      </p:sp>
      <p:sp>
        <p:nvSpPr>
          <p:cNvPr id="9" name="Shape 7"/>
          <p:cNvSpPr/>
          <p:nvPr/>
        </p:nvSpPr>
        <p:spPr>
          <a:xfrm>
            <a:off x="777240" y="2395728"/>
            <a:ext cx="3063240" cy="1874520"/>
          </a:xfrm>
          <a:prstGeom prst="roundRect">
            <a:avLst>
              <a:gd name="adj" fmla="val 3415"/>
            </a:avLst>
          </a:prstGeom>
          <a:solidFill>
            <a:srgbClr val="1B2B45"/>
          </a:solidFill>
          <a:ln w="12700">
            <a:solidFill>
              <a:srgbClr val="1B2B45"/>
            </a:solidFill>
            <a:prstDash val="solid"/>
          </a:ln>
        </p:spPr>
      </p:sp>
      <p:sp>
        <p:nvSpPr>
          <p:cNvPr id="10" name="Text 8"/>
          <p:cNvSpPr txBox="1"/>
          <p:nvPr/>
        </p:nvSpPr>
        <p:spPr>
          <a:xfrm>
            <a:off x="941832" y="2505456"/>
            <a:ext cx="2734056" cy="1655064"/>
          </a:xfrm>
          <a:prstGeom prst="rect">
            <a:avLst/>
          </a:prstGeom>
          <a:noFill/>
          <a:ln/>
        </p:spPr>
        <p:txBody>
          <a:bodyPr wrap="square" lIns="0" tIns="0" rIns="0" bIns="0" rtlCol="0" anchor="t"/>
          <a:lstStyle/>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def check(n):</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return "positive"</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print("never runs")   # unreachable</a:t>
            </a:r>
            <a:endParaRPr lang="en-US" sz="900" dirty="0"/>
          </a:p>
          <a:p>
            <a:pPr indent="0" marL="0">
              <a:lnSpc>
                <a:spcPct val="112000"/>
              </a:lnSpc>
              <a:buNone/>
            </a:pP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Nothing after return is executed.</a:t>
            </a:r>
            <a:endParaRPr lang="en-US" sz="900" dirty="0"/>
          </a:p>
        </p:txBody>
      </p:sp>
      <p:sp>
        <p:nvSpPr>
          <p:cNvPr id="11" name="Shape 9"/>
          <p:cNvSpPr/>
          <p:nvPr/>
        </p:nvSpPr>
        <p:spPr>
          <a:xfrm>
            <a:off x="4279392" y="1572768"/>
            <a:ext cx="3520440" cy="2880360"/>
          </a:xfrm>
          <a:prstGeom prst="roundRect">
            <a:avLst>
              <a:gd name="adj" fmla="val 285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2" name="Shape 10"/>
          <p:cNvSpPr/>
          <p:nvPr/>
        </p:nvSpPr>
        <p:spPr>
          <a:xfrm>
            <a:off x="4507992" y="1783080"/>
            <a:ext cx="402336" cy="402336"/>
          </a:xfrm>
          <a:prstGeom prst="ellipse">
            <a:avLst/>
          </a:prstGeom>
          <a:solidFill>
            <a:srgbClr val="3E7CB1"/>
          </a:solidFill>
          <a:ln w="12700">
            <a:solidFill>
              <a:srgbClr val="3E7CB1"/>
            </a:solidFill>
            <a:prstDash val="solid"/>
          </a:ln>
        </p:spPr>
      </p:sp>
      <p:sp>
        <p:nvSpPr>
          <p:cNvPr id="13" name="Text 11"/>
          <p:cNvSpPr txBox="1"/>
          <p:nvPr/>
        </p:nvSpPr>
        <p:spPr>
          <a:xfrm>
            <a:off x="4507992" y="17830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5029200" y="1737360"/>
            <a:ext cx="2606040" cy="566928"/>
          </a:xfrm>
          <a:prstGeom prst="rect">
            <a:avLst/>
          </a:prstGeom>
          <a:noFill/>
          <a:ln/>
        </p:spPr>
        <p:txBody>
          <a:bodyPr wrap="square" lIns="0" tIns="0" rIns="0" bIns="0" rtlCol="0" anchor="ctr"/>
          <a:lstStyle/>
          <a:p>
            <a:pPr indent="0" marL="0">
              <a:lnSpc>
                <a:spcPct val="110000"/>
              </a:lnSpc>
              <a:buNone/>
            </a:pPr>
            <a:r>
              <a:rPr lang="en-US" sz="1350" b="1" dirty="0">
                <a:solidFill>
                  <a:srgbClr val="1F3A5F"/>
                </a:solidFill>
                <a:latin typeface="Calibri" pitchFamily="34" charset="0"/>
                <a:ea typeface="Calibri" pitchFamily="34" charset="-122"/>
                <a:cs typeface="Calibri" pitchFamily="34" charset="-120"/>
              </a:rPr>
              <a:t>You can return several values</a:t>
            </a:r>
            <a:endParaRPr lang="en-US" sz="1350" dirty="0"/>
          </a:p>
        </p:txBody>
      </p:sp>
      <p:sp>
        <p:nvSpPr>
          <p:cNvPr id="15" name="Shape 13"/>
          <p:cNvSpPr/>
          <p:nvPr/>
        </p:nvSpPr>
        <p:spPr>
          <a:xfrm>
            <a:off x="4507992" y="2395728"/>
            <a:ext cx="3063240" cy="1874520"/>
          </a:xfrm>
          <a:prstGeom prst="roundRect">
            <a:avLst>
              <a:gd name="adj" fmla="val 3415"/>
            </a:avLst>
          </a:prstGeom>
          <a:solidFill>
            <a:srgbClr val="1B2B45"/>
          </a:solidFill>
          <a:ln w="12700">
            <a:solidFill>
              <a:srgbClr val="1B2B45"/>
            </a:solidFill>
            <a:prstDash val="solid"/>
          </a:ln>
        </p:spPr>
      </p:sp>
      <p:sp>
        <p:nvSpPr>
          <p:cNvPr id="16" name="Text 14"/>
          <p:cNvSpPr txBox="1"/>
          <p:nvPr/>
        </p:nvSpPr>
        <p:spPr>
          <a:xfrm>
            <a:off x="4672584" y="2505456"/>
            <a:ext cx="2734056" cy="1655064"/>
          </a:xfrm>
          <a:prstGeom prst="rect">
            <a:avLst/>
          </a:prstGeom>
          <a:noFill/>
          <a:ln/>
        </p:spPr>
        <p:txBody>
          <a:bodyPr wrap="square" lIns="0" tIns="0" rIns="0" bIns="0" rtlCol="0" anchor="t"/>
          <a:lstStyle/>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def stats(nums):</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return min(nums), max(nums), sum(nums)</a:t>
            </a:r>
            <a:endParaRPr lang="en-US" sz="900" dirty="0"/>
          </a:p>
          <a:p>
            <a:pPr indent="0" marL="0">
              <a:lnSpc>
                <a:spcPct val="112000"/>
              </a:lnSpc>
              <a:buNone/>
            </a:pP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lo, hi, tot = stats([3, 9, 4])</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Python packs them into a tuple,</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then unpacks - Day 1's swap trick.</a:t>
            </a:r>
            <a:endParaRPr lang="en-US" sz="900" dirty="0"/>
          </a:p>
        </p:txBody>
      </p:sp>
      <p:sp>
        <p:nvSpPr>
          <p:cNvPr id="17" name="Shape 15"/>
          <p:cNvSpPr/>
          <p:nvPr/>
        </p:nvSpPr>
        <p:spPr>
          <a:xfrm>
            <a:off x="8010144" y="1572768"/>
            <a:ext cx="3520440" cy="2880360"/>
          </a:xfrm>
          <a:prstGeom prst="roundRect">
            <a:avLst>
              <a:gd name="adj" fmla="val 285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8" name="Shape 16"/>
          <p:cNvSpPr/>
          <p:nvPr/>
        </p:nvSpPr>
        <p:spPr>
          <a:xfrm>
            <a:off x="8238744" y="1783080"/>
            <a:ext cx="402336" cy="402336"/>
          </a:xfrm>
          <a:prstGeom prst="ellipse">
            <a:avLst/>
          </a:prstGeom>
          <a:solidFill>
            <a:srgbClr val="3E7CB1"/>
          </a:solidFill>
          <a:ln w="12700">
            <a:solidFill>
              <a:srgbClr val="3E7CB1"/>
            </a:solidFill>
            <a:prstDash val="solid"/>
          </a:ln>
        </p:spPr>
      </p:sp>
      <p:sp>
        <p:nvSpPr>
          <p:cNvPr id="19" name="Text 17"/>
          <p:cNvSpPr txBox="1"/>
          <p:nvPr/>
        </p:nvSpPr>
        <p:spPr>
          <a:xfrm>
            <a:off x="8238744" y="17830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8759952" y="1737360"/>
            <a:ext cx="2606040" cy="566928"/>
          </a:xfrm>
          <a:prstGeom prst="rect">
            <a:avLst/>
          </a:prstGeom>
          <a:noFill/>
          <a:ln/>
        </p:spPr>
        <p:txBody>
          <a:bodyPr wrap="square" lIns="0" tIns="0" rIns="0" bIns="0" rtlCol="0" anchor="ctr"/>
          <a:lstStyle/>
          <a:p>
            <a:pPr indent="0" marL="0">
              <a:lnSpc>
                <a:spcPct val="110000"/>
              </a:lnSpc>
              <a:buNone/>
            </a:pPr>
            <a:r>
              <a:rPr lang="en-US" sz="1350" b="1" dirty="0">
                <a:solidFill>
                  <a:srgbClr val="1F3A5F"/>
                </a:solidFill>
                <a:latin typeface="Calibri" pitchFamily="34" charset="0"/>
                <a:ea typeface="Calibri" pitchFamily="34" charset="-122"/>
                <a:cs typeface="Calibri" pitchFamily="34" charset="-120"/>
              </a:rPr>
              <a:t>Early return simplifies logic</a:t>
            </a:r>
            <a:endParaRPr lang="en-US" sz="1350" dirty="0"/>
          </a:p>
        </p:txBody>
      </p:sp>
      <p:sp>
        <p:nvSpPr>
          <p:cNvPr id="21" name="Shape 19"/>
          <p:cNvSpPr/>
          <p:nvPr/>
        </p:nvSpPr>
        <p:spPr>
          <a:xfrm>
            <a:off x="8238744" y="2395728"/>
            <a:ext cx="3063240" cy="1874520"/>
          </a:xfrm>
          <a:prstGeom prst="roundRect">
            <a:avLst>
              <a:gd name="adj" fmla="val 3415"/>
            </a:avLst>
          </a:prstGeom>
          <a:solidFill>
            <a:srgbClr val="1B2B45"/>
          </a:solidFill>
          <a:ln w="12700">
            <a:solidFill>
              <a:srgbClr val="1B2B45"/>
            </a:solidFill>
            <a:prstDash val="solid"/>
          </a:ln>
        </p:spPr>
      </p:sp>
      <p:sp>
        <p:nvSpPr>
          <p:cNvPr id="22" name="Text 20"/>
          <p:cNvSpPr txBox="1"/>
          <p:nvPr/>
        </p:nvSpPr>
        <p:spPr>
          <a:xfrm>
            <a:off x="8403336" y="2505456"/>
            <a:ext cx="2734056" cy="1655064"/>
          </a:xfrm>
          <a:prstGeom prst="rect">
            <a:avLst/>
          </a:prstGeom>
          <a:noFill/>
          <a:ln/>
        </p:spPr>
        <p:txBody>
          <a:bodyPr wrap="square" lIns="0" tIns="0" rIns="0" bIns="0" rtlCol="0" anchor="t"/>
          <a:lstStyle/>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def grade(m):</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if m &lt; 0 or m &gt; 100:</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return "invalid"      # leave now</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if m &gt;= 75:</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return "A"</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return "F"</a:t>
            </a:r>
            <a:endParaRPr lang="en-US" sz="900" dirty="0"/>
          </a:p>
        </p:txBody>
      </p:sp>
      <p:sp>
        <p:nvSpPr>
          <p:cNvPr id="23" name="Shape 21"/>
          <p:cNvSpPr/>
          <p:nvPr/>
        </p:nvSpPr>
        <p:spPr>
          <a:xfrm>
            <a:off x="548640" y="4663440"/>
            <a:ext cx="11064240" cy="1188720"/>
          </a:xfrm>
          <a:prstGeom prst="roundRect">
            <a:avLst>
              <a:gd name="adj" fmla="val 6923"/>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4" name="Text 22"/>
          <p:cNvSpPr txBox="1"/>
          <p:nvPr/>
        </p:nvSpPr>
        <p:spPr>
          <a:xfrm>
            <a:off x="868680" y="4809744"/>
            <a:ext cx="5943600" cy="292608"/>
          </a:xfrm>
          <a:prstGeom prst="rect">
            <a:avLst/>
          </a:prstGeom>
          <a:noFill/>
          <a:ln/>
        </p:spPr>
        <p:txBody>
          <a:bodyPr wrap="square" lIns="0" tIns="0" rIns="0" bIns="0" rtlCol="0" anchor="ctr"/>
          <a:lstStyle/>
          <a:p>
            <a:pPr indent="0" marL="0">
              <a:buNone/>
            </a:pPr>
            <a:r>
              <a:rPr lang="en-US" sz="1450" b="1" dirty="0">
                <a:solidFill>
                  <a:srgbClr val="1C6F5C"/>
                </a:solidFill>
                <a:latin typeface="Calibri" pitchFamily="34" charset="0"/>
                <a:ea typeface="Calibri" pitchFamily="34" charset="-122"/>
                <a:cs typeface="Calibri" pitchFamily="34" charset="-120"/>
              </a:rPr>
              <a:t>Early return replaces deep nesting</a:t>
            </a:r>
            <a:endParaRPr lang="en-US" sz="1450" dirty="0"/>
          </a:p>
        </p:txBody>
      </p:sp>
      <p:sp>
        <p:nvSpPr>
          <p:cNvPr id="25" name="Text 23"/>
          <p:cNvSpPr txBox="1"/>
          <p:nvPr/>
        </p:nvSpPr>
        <p:spPr>
          <a:xfrm>
            <a:off x="868680" y="5138928"/>
            <a:ext cx="10424160" cy="548640"/>
          </a:xfrm>
          <a:prstGeom prst="rect">
            <a:avLst/>
          </a:prstGeom>
          <a:noFill/>
          <a:ln/>
        </p:spPr>
        <p:txBody>
          <a:bodyPr wrap="square" lIns="0" tIns="0" rIns="0" bIns="0" rtlCol="0" anchor="ctr"/>
          <a:lstStyle/>
          <a:p>
            <a:pPr indent="0" marL="0">
              <a:lnSpc>
                <a:spcPct val="115000"/>
              </a:lnSpc>
              <a:buNone/>
            </a:pPr>
            <a:r>
              <a:rPr lang="en-US" sz="1300" dirty="0">
                <a:solidFill>
                  <a:srgbClr val="2B3445"/>
                </a:solidFill>
                <a:latin typeface="Calibri" pitchFamily="34" charset="0"/>
                <a:ea typeface="Calibri" pitchFamily="34" charset="-122"/>
                <a:cs typeface="Calibri" pitchFamily="34" charset="-120"/>
              </a:rPr>
              <a:t>Handle the invalid and edge cases first, return out of them, and the rest of the function can assume clean input. This keeps the main logic at one indent level instead of three — much easier to read and far easier to debug.</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822960" y="2057400"/>
            <a:ext cx="777240" cy="777240"/>
          </a:xfrm>
          <a:prstGeom prst="ellipse">
            <a:avLst/>
          </a:prstGeom>
          <a:solidFill>
            <a:srgbClr val="FFC145"/>
          </a:solidFill>
          <a:ln w="12700">
            <a:solidFill>
              <a:srgbClr val="FFC145"/>
            </a:solidFill>
            <a:prstDash val="solid"/>
          </a:ln>
        </p:spPr>
      </p:sp>
      <p:sp>
        <p:nvSpPr>
          <p:cNvPr id="4" name="Text 2"/>
          <p:cNvSpPr txBox="1"/>
          <p:nvPr/>
        </p:nvSpPr>
        <p:spPr>
          <a:xfrm>
            <a:off x="822960" y="2057400"/>
            <a:ext cx="777240" cy="777240"/>
          </a:xfrm>
          <a:prstGeom prst="rect">
            <a:avLst/>
          </a:prstGeom>
          <a:noFill/>
          <a:ln/>
        </p:spPr>
        <p:txBody>
          <a:bodyPr wrap="square" lIns="0" tIns="0" rIns="0" bIns="0" rtlCol="0" anchor="ctr"/>
          <a:lstStyle/>
          <a:p>
            <a:pPr algn="ctr" indent="0" marL="0">
              <a:buNone/>
            </a:pPr>
            <a:r>
              <a:rPr lang="en-US" sz="3000" b="1" dirty="0">
                <a:solidFill>
                  <a:srgbClr val="152238"/>
                </a:solidFill>
                <a:latin typeface="Calibri" pitchFamily="34" charset="0"/>
                <a:ea typeface="Calibri" pitchFamily="34" charset="-122"/>
                <a:cs typeface="Calibri" pitchFamily="34" charset="-120"/>
              </a:rPr>
              <a:t>2</a:t>
            </a:r>
            <a:endParaRPr lang="en-US" sz="3000" dirty="0"/>
          </a:p>
        </p:txBody>
      </p:sp>
      <p:sp>
        <p:nvSpPr>
          <p:cNvPr id="5" name="Text 3"/>
          <p:cNvSpPr txBox="1"/>
          <p:nvPr/>
        </p:nvSpPr>
        <p:spPr>
          <a:xfrm>
            <a:off x="1920240" y="1965960"/>
            <a:ext cx="676656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Arguments</a:t>
            </a:r>
            <a:endParaRPr lang="en-US" sz="4000" dirty="0"/>
          </a:p>
        </p:txBody>
      </p:sp>
      <p:sp>
        <p:nvSpPr>
          <p:cNvPr id="6" name="Text 4"/>
          <p:cNvSpPr txBox="1"/>
          <p:nvPr/>
        </p:nvSpPr>
        <p:spPr>
          <a:xfrm>
            <a:off x="1947672" y="2788920"/>
            <a:ext cx="6949440" cy="457200"/>
          </a:xfrm>
          <a:prstGeom prst="rect">
            <a:avLst/>
          </a:prstGeom>
          <a:noFill/>
          <a:ln/>
        </p:spPr>
        <p:txBody>
          <a:bodyPr wrap="square" lIns="0" tIns="0" rIns="0" bIns="0" rtlCol="0" anchor="ctr"/>
          <a:lstStyle/>
          <a:p>
            <a:pPr indent="0" marL="0">
              <a:buNone/>
            </a:pPr>
            <a:r>
              <a:rPr lang="en-US" sz="1600" dirty="0">
                <a:solidFill>
                  <a:srgbClr val="AFC2DC"/>
                </a:solidFill>
                <a:latin typeface="Calibri" pitchFamily="34" charset="0"/>
                <a:ea typeface="Calibri" pitchFamily="34" charset="-122"/>
                <a:cs typeface="Calibri" pitchFamily="34" charset="-120"/>
              </a:rPr>
              <a:t>Five ways to hand data to a function  ·  30 minutes</a:t>
            </a:r>
            <a:endParaRPr lang="en-US" sz="1600" dirty="0"/>
          </a:p>
        </p:txBody>
      </p:sp>
      <p:sp>
        <p:nvSpPr>
          <p:cNvPr id="7" name="Text 5"/>
          <p:cNvSpPr txBox="1"/>
          <p:nvPr/>
        </p:nvSpPr>
        <p:spPr>
          <a:xfrm>
            <a:off x="9144000" y="2011680"/>
            <a:ext cx="2468880" cy="21945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Positional</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Keyword</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Defaults</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The mutable trap</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*args / **kwargs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2.1  ·  PASSING VALUES</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Positional and keyword arguments</a:t>
            </a:r>
            <a:endParaRPr lang="en-US" sz="3200" dirty="0"/>
          </a:p>
        </p:txBody>
      </p:sp>
      <p:sp>
        <p:nvSpPr>
          <p:cNvPr id="5" name="Shape 3"/>
          <p:cNvSpPr/>
          <p:nvPr/>
        </p:nvSpPr>
        <p:spPr>
          <a:xfrm>
            <a:off x="548640" y="1572768"/>
            <a:ext cx="11064240" cy="1051560"/>
          </a:xfrm>
          <a:prstGeom prst="roundRect">
            <a:avLst>
              <a:gd name="adj" fmla="val 7826"/>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68680" y="1737360"/>
            <a:ext cx="10424160" cy="320040"/>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Parameters</a:t>
            </a:r>
            <a:pPr indent="0" marL="0">
              <a:buNone/>
            </a:pPr>
            <a:r>
              <a:rPr lang="en-US" sz="1400" dirty="0">
                <a:solidFill>
                  <a:srgbClr val="2B3445"/>
                </a:solidFill>
                <a:latin typeface="Calibri" pitchFamily="34" charset="0"/>
                <a:ea typeface="Calibri" pitchFamily="34" charset="-122"/>
                <a:cs typeface="Calibri" pitchFamily="34" charset="-120"/>
              </a:rPr>
              <a:t>  are the names in the definition.   </a:t>
            </a:r>
            <a:pPr indent="0" marL="0">
              <a:buNone/>
            </a:pPr>
            <a:r>
              <a:rPr lang="en-US" sz="1400" b="1" dirty="0">
                <a:solidFill>
                  <a:srgbClr val="1F3A5F"/>
                </a:solidFill>
                <a:latin typeface="Calibri" pitchFamily="34" charset="0"/>
                <a:ea typeface="Calibri" pitchFamily="34" charset="-122"/>
                <a:cs typeface="Calibri" pitchFamily="34" charset="-120"/>
              </a:rPr>
              <a:t>Arguments</a:t>
            </a:r>
            <a:pPr indent="0" marL="0">
              <a:buNone/>
            </a:pPr>
            <a:r>
              <a:rPr lang="en-US" sz="1400" dirty="0">
                <a:solidFill>
                  <a:srgbClr val="2B3445"/>
                </a:solidFill>
                <a:latin typeface="Calibri" pitchFamily="34" charset="0"/>
                <a:ea typeface="Calibri" pitchFamily="34" charset="-122"/>
                <a:cs typeface="Calibri" pitchFamily="34" charset="-120"/>
              </a:rPr>
              <a:t>  are the actual values you pass in when calling.</a:t>
            </a:r>
            <a:endParaRPr lang="en-US" sz="1400" dirty="0"/>
          </a:p>
        </p:txBody>
      </p:sp>
      <p:sp>
        <p:nvSpPr>
          <p:cNvPr id="7" name="Shape 5"/>
          <p:cNvSpPr/>
          <p:nvPr/>
        </p:nvSpPr>
        <p:spPr>
          <a:xfrm>
            <a:off x="868680" y="2048256"/>
            <a:ext cx="10424160" cy="530352"/>
          </a:xfrm>
          <a:prstGeom prst="roundRect">
            <a:avLst>
              <a:gd name="adj" fmla="val 12069"/>
            </a:avLst>
          </a:prstGeom>
          <a:solidFill>
            <a:srgbClr val="1B2B45"/>
          </a:solidFill>
          <a:ln w="12700">
            <a:solidFill>
              <a:srgbClr val="1B2B45"/>
            </a:solidFill>
            <a:prstDash val="solid"/>
          </a:ln>
        </p:spPr>
      </p:sp>
      <p:sp>
        <p:nvSpPr>
          <p:cNvPr id="8" name="Text 6"/>
          <p:cNvSpPr txBox="1"/>
          <p:nvPr/>
        </p:nvSpPr>
        <p:spPr>
          <a:xfrm>
            <a:off x="1033272" y="2157984"/>
            <a:ext cx="10094976" cy="310896"/>
          </a:xfrm>
          <a:prstGeom prst="rect">
            <a:avLst/>
          </a:prstGeom>
          <a:noFill/>
          <a:ln/>
        </p:spPr>
        <p:txBody>
          <a:bodyPr wrap="square" lIns="0" tIns="0" rIns="0" bIns="0" rtlCol="0" anchor="t"/>
          <a:lstStyle/>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def introduce(name, age, city):        # name, age, city are PARAMETERS</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introduce("Ravi", 23, "Pune")           # those three values are ARGUMENTS</a:t>
            </a:r>
            <a:endParaRPr lang="en-US" sz="950" dirty="0"/>
          </a:p>
        </p:txBody>
      </p:sp>
      <p:sp>
        <p:nvSpPr>
          <p:cNvPr id="9" name="Shape 7"/>
          <p:cNvSpPr/>
          <p:nvPr/>
        </p:nvSpPr>
        <p:spPr>
          <a:xfrm>
            <a:off x="548640" y="2834640"/>
            <a:ext cx="5486400" cy="2194560"/>
          </a:xfrm>
          <a:prstGeom prst="roundRect">
            <a:avLst>
              <a:gd name="adj" fmla="val 3750"/>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8"/>
          <p:cNvSpPr txBox="1"/>
          <p:nvPr/>
        </p:nvSpPr>
        <p:spPr>
          <a:xfrm>
            <a:off x="804672" y="2980944"/>
            <a:ext cx="4937760" cy="301752"/>
          </a:xfrm>
          <a:prstGeom prst="rect">
            <a:avLst/>
          </a:prstGeom>
          <a:noFill/>
          <a:ln/>
        </p:spPr>
        <p:txBody>
          <a:bodyPr wrap="square" lIns="0" tIns="0" rIns="0" bIns="0" rtlCol="0" anchor="ctr"/>
          <a:lstStyle/>
          <a:p>
            <a:pPr indent="0" marL="0">
              <a:buNone/>
            </a:pPr>
            <a:r>
              <a:rPr lang="en-US" sz="1500" b="1" dirty="0">
                <a:solidFill>
                  <a:srgbClr val="A63B24"/>
                </a:solidFill>
                <a:latin typeface="Calibri" pitchFamily="34" charset="0"/>
                <a:ea typeface="Calibri" pitchFamily="34" charset="-122"/>
                <a:cs typeface="Calibri" pitchFamily="34" charset="-120"/>
              </a:rPr>
              <a:t>Positional — order is everything</a:t>
            </a:r>
            <a:endParaRPr lang="en-US" sz="1500" dirty="0"/>
          </a:p>
        </p:txBody>
      </p:sp>
      <p:sp>
        <p:nvSpPr>
          <p:cNvPr id="11" name="Shape 9"/>
          <p:cNvSpPr/>
          <p:nvPr/>
        </p:nvSpPr>
        <p:spPr>
          <a:xfrm>
            <a:off x="804672" y="3346704"/>
            <a:ext cx="4983480" cy="1463040"/>
          </a:xfrm>
          <a:prstGeom prst="roundRect">
            <a:avLst>
              <a:gd name="adj" fmla="val 4375"/>
            </a:avLst>
          </a:prstGeom>
          <a:solidFill>
            <a:srgbClr val="1B2B45"/>
          </a:solidFill>
          <a:ln w="12700">
            <a:solidFill>
              <a:srgbClr val="1B2B45"/>
            </a:solidFill>
            <a:prstDash val="solid"/>
          </a:ln>
        </p:spPr>
      </p:sp>
      <p:sp>
        <p:nvSpPr>
          <p:cNvPr id="12" name="Text 10"/>
          <p:cNvSpPr txBox="1"/>
          <p:nvPr/>
        </p:nvSpPr>
        <p:spPr>
          <a:xfrm>
            <a:off x="969264" y="3456432"/>
            <a:ext cx="4654296" cy="1243584"/>
          </a:xfrm>
          <a:prstGeom prst="rect">
            <a:avLst/>
          </a:prstGeom>
          <a:noFill/>
          <a:ln/>
        </p:spPr>
        <p:txBody>
          <a:bodyPr wrap="square" lIns="0" tIns="0" rIns="0" bIns="0" rtlCol="0" anchor="t"/>
          <a:lstStyle/>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introduce("Ravi", 23, "Pune")     # correct</a:t>
            </a:r>
            <a:endParaRPr lang="en-US" sz="1050" dirty="0"/>
          </a:p>
          <a:p>
            <a:pPr indent="0" marL="0">
              <a:lnSpc>
                <a:spcPct val="112000"/>
              </a:lnSpc>
              <a:buNone/>
            </a:pP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introduce(23, "Ravi", "Pune")     # NO ERROR</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-&gt; name=23, age="Ravi"</a:t>
            </a:r>
            <a:endParaRPr lang="en-US" sz="1050" dirty="0"/>
          </a:p>
          <a:p>
            <a:pPr indent="0" marL="0">
              <a:lnSpc>
                <a:spcPct val="112000"/>
              </a:lnSpc>
              <a:buNone/>
            </a:pP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Python cannot tell you got it wrong.</a:t>
            </a:r>
            <a:endParaRPr lang="en-US" sz="1050" dirty="0"/>
          </a:p>
        </p:txBody>
      </p:sp>
      <p:sp>
        <p:nvSpPr>
          <p:cNvPr id="13" name="Shape 11"/>
          <p:cNvSpPr/>
          <p:nvPr/>
        </p:nvSpPr>
        <p:spPr>
          <a:xfrm>
            <a:off x="6309360" y="2834640"/>
            <a:ext cx="5303520" cy="2194560"/>
          </a:xfrm>
          <a:prstGeom prst="roundRect">
            <a:avLst>
              <a:gd name="adj" fmla="val 3750"/>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4" name="Text 12"/>
          <p:cNvSpPr txBox="1"/>
          <p:nvPr/>
        </p:nvSpPr>
        <p:spPr>
          <a:xfrm>
            <a:off x="6565392" y="2980944"/>
            <a:ext cx="4754880" cy="301752"/>
          </a:xfrm>
          <a:prstGeom prst="rect">
            <a:avLst/>
          </a:prstGeom>
          <a:noFill/>
          <a:ln/>
        </p:spPr>
        <p:txBody>
          <a:bodyPr wrap="square" lIns="0" tIns="0" rIns="0" bIns="0" rtlCol="0" anchor="ctr"/>
          <a:lstStyle/>
          <a:p>
            <a:pPr indent="0" marL="0">
              <a:buNone/>
            </a:pPr>
            <a:r>
              <a:rPr lang="en-US" sz="1500" b="1" dirty="0">
                <a:solidFill>
                  <a:srgbClr val="1C6F5C"/>
                </a:solidFill>
                <a:latin typeface="Calibri" pitchFamily="34" charset="0"/>
                <a:ea typeface="Calibri" pitchFamily="34" charset="-122"/>
                <a:cs typeface="Calibri" pitchFamily="34" charset="-120"/>
              </a:rPr>
              <a:t>Keyword — order stops mattering</a:t>
            </a:r>
            <a:endParaRPr lang="en-US" sz="1500" dirty="0"/>
          </a:p>
        </p:txBody>
      </p:sp>
      <p:sp>
        <p:nvSpPr>
          <p:cNvPr id="15" name="Shape 13"/>
          <p:cNvSpPr/>
          <p:nvPr/>
        </p:nvSpPr>
        <p:spPr>
          <a:xfrm>
            <a:off x="6565392" y="3346704"/>
            <a:ext cx="4800600" cy="1463040"/>
          </a:xfrm>
          <a:prstGeom prst="roundRect">
            <a:avLst>
              <a:gd name="adj" fmla="val 4375"/>
            </a:avLst>
          </a:prstGeom>
          <a:solidFill>
            <a:srgbClr val="1B2B45"/>
          </a:solidFill>
          <a:ln w="12700">
            <a:solidFill>
              <a:srgbClr val="1B2B45"/>
            </a:solidFill>
            <a:prstDash val="solid"/>
          </a:ln>
        </p:spPr>
      </p:sp>
      <p:sp>
        <p:nvSpPr>
          <p:cNvPr id="16" name="Text 14"/>
          <p:cNvSpPr txBox="1"/>
          <p:nvPr/>
        </p:nvSpPr>
        <p:spPr>
          <a:xfrm>
            <a:off x="6729984" y="3456432"/>
            <a:ext cx="4471416" cy="1243584"/>
          </a:xfrm>
          <a:prstGeom prst="rect">
            <a:avLst/>
          </a:prstGeom>
          <a:noFill/>
          <a:ln/>
        </p:spPr>
        <p:txBody>
          <a:bodyPr wrap="square" lIns="0" tIns="0" rIns="0" bIns="0" rtlCol="0" anchor="t"/>
          <a:lstStyle/>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introduce(name="Ravi", age=23, city="Pune")</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introduce(city="Pune", name="Ravi", age=23)</a:t>
            </a:r>
            <a:endParaRPr lang="en-US" sz="1000" dirty="0"/>
          </a:p>
          <a:p>
            <a:pPr indent="0" marL="0">
              <a:lnSpc>
                <a:spcPct val="112000"/>
              </a:lnSpc>
              <a:buNone/>
            </a:pP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Both identical. Self-documenting.</a:t>
            </a:r>
            <a:endParaRPr lang="en-US" sz="1000" dirty="0"/>
          </a:p>
          <a:p>
            <a:pPr indent="0" marL="0">
              <a:lnSpc>
                <a:spcPct val="112000"/>
              </a:lnSpc>
              <a:buNone/>
            </a:pP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introduce("Ravi", city="Pune", age=23)  # mix ok</a:t>
            </a:r>
            <a:endParaRPr lang="en-US" sz="1000" dirty="0"/>
          </a:p>
        </p:txBody>
      </p:sp>
      <p:sp>
        <p:nvSpPr>
          <p:cNvPr id="17" name="Shape 15"/>
          <p:cNvSpPr/>
          <p:nvPr/>
        </p:nvSpPr>
        <p:spPr>
          <a:xfrm>
            <a:off x="548640" y="5230368"/>
            <a:ext cx="11064240" cy="685800"/>
          </a:xfrm>
          <a:prstGeom prst="roundRect">
            <a:avLst>
              <a:gd name="adj" fmla="val 1200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8" name="Text 16"/>
          <p:cNvSpPr txBox="1"/>
          <p:nvPr/>
        </p:nvSpPr>
        <p:spPr>
          <a:xfrm>
            <a:off x="868680" y="5358384"/>
            <a:ext cx="10424160" cy="411480"/>
          </a:xfrm>
          <a:prstGeom prst="rect">
            <a:avLst/>
          </a:prstGeom>
          <a:noFill/>
          <a:ln/>
        </p:spPr>
        <p:txBody>
          <a:bodyPr wrap="square" lIns="0" tIns="0" rIns="0" bIns="0" rtlCol="0" anchor="ctr"/>
          <a:lstStyle/>
          <a:p>
            <a:pPr indent="0" marL="0">
              <a:buNone/>
            </a:pPr>
            <a:r>
              <a:rPr lang="en-US" sz="1350" b="1" dirty="0">
                <a:solidFill>
                  <a:srgbClr val="8A5B00"/>
                </a:solidFill>
                <a:latin typeface="Calibri" pitchFamily="34" charset="0"/>
                <a:ea typeface="Calibri" pitchFamily="34" charset="-122"/>
                <a:cs typeface="Calibri" pitchFamily="34" charset="-120"/>
              </a:rPr>
              <a:t>Rule when mixing: every positional argument must come before every keyword argument. Reverse that and you get a SyntaxError.</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2.2  ·  DEFAULTS</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Default arguments — making a parameter optional</a:t>
            </a:r>
            <a:endParaRPr lang="en-US" sz="3200" dirty="0"/>
          </a:p>
        </p:txBody>
      </p:sp>
      <p:sp>
        <p:nvSpPr>
          <p:cNvPr id="5" name="Shape 3"/>
          <p:cNvSpPr/>
          <p:nvPr/>
        </p:nvSpPr>
        <p:spPr>
          <a:xfrm>
            <a:off x="548640" y="1572768"/>
            <a:ext cx="5760720" cy="2560320"/>
          </a:xfrm>
          <a:prstGeom prst="roundRect">
            <a:avLst>
              <a:gd name="adj" fmla="val 3214"/>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19072"/>
            <a:ext cx="5212080" cy="301752"/>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Give a parameter a fallback value</a:t>
            </a:r>
            <a:endParaRPr lang="en-US" sz="1500" dirty="0"/>
          </a:p>
        </p:txBody>
      </p:sp>
      <p:sp>
        <p:nvSpPr>
          <p:cNvPr id="7" name="Shape 5"/>
          <p:cNvSpPr/>
          <p:nvPr/>
        </p:nvSpPr>
        <p:spPr>
          <a:xfrm>
            <a:off x="804672" y="2103120"/>
            <a:ext cx="5257800" cy="1828800"/>
          </a:xfrm>
          <a:prstGeom prst="roundRect">
            <a:avLst>
              <a:gd name="adj" fmla="val 3500"/>
            </a:avLst>
          </a:prstGeom>
          <a:solidFill>
            <a:srgbClr val="1B2B45"/>
          </a:solidFill>
          <a:ln w="12700">
            <a:solidFill>
              <a:srgbClr val="1B2B45"/>
            </a:solidFill>
            <a:prstDash val="solid"/>
          </a:ln>
        </p:spPr>
      </p:sp>
      <p:sp>
        <p:nvSpPr>
          <p:cNvPr id="8" name="Text 6"/>
          <p:cNvSpPr txBox="1"/>
          <p:nvPr/>
        </p:nvSpPr>
        <p:spPr>
          <a:xfrm>
            <a:off x="969264" y="2212848"/>
            <a:ext cx="4928616" cy="1609344"/>
          </a:xfrm>
          <a:prstGeom prst="rect">
            <a:avLst/>
          </a:prstGeom>
          <a:noFill/>
          <a:ln/>
        </p:spPr>
        <p:txBody>
          <a:bodyPr wrap="square" lIns="0" tIns="0" rIns="0" bIns="0" rtlCol="0" anchor="t"/>
          <a:lstStyle/>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def greet(name, greeting="Hello"):</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return f"{greeting}, {name}!"</a:t>
            </a:r>
            <a:endParaRPr lang="en-US" sz="1100" dirty="0"/>
          </a:p>
          <a:p>
            <a:pPr indent="0" marL="0">
              <a:lnSpc>
                <a:spcPct val="112000"/>
              </a:lnSpc>
              <a:buNone/>
            </a:pP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greet("Ravi")                  # Hello, Ravi!</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greet("Ravi", "Welcome")       # Welcome, Ravi!</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greet("Ravi", greeting="Hi")   # Hi, Ravi!</a:t>
            </a:r>
            <a:endParaRPr lang="en-US" sz="1100" dirty="0"/>
          </a:p>
        </p:txBody>
      </p:sp>
      <p:sp>
        <p:nvSpPr>
          <p:cNvPr id="9" name="Shape 7"/>
          <p:cNvSpPr/>
          <p:nvPr/>
        </p:nvSpPr>
        <p:spPr>
          <a:xfrm>
            <a:off x="6583680" y="1572768"/>
            <a:ext cx="5029200" cy="2560320"/>
          </a:xfrm>
          <a:prstGeom prst="roundRect">
            <a:avLst>
              <a:gd name="adj" fmla="val 3214"/>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8"/>
          <p:cNvSpPr txBox="1"/>
          <p:nvPr/>
        </p:nvSpPr>
        <p:spPr>
          <a:xfrm>
            <a:off x="6839712" y="1719072"/>
            <a:ext cx="4480560" cy="301752"/>
          </a:xfrm>
          <a:prstGeom prst="rect">
            <a:avLst/>
          </a:prstGeom>
          <a:noFill/>
          <a:ln/>
        </p:spPr>
        <p:txBody>
          <a:bodyPr wrap="square" lIns="0" tIns="0" rIns="0" bIns="0" rtlCol="0" anchor="ctr"/>
          <a:lstStyle/>
          <a:p>
            <a:pPr indent="0" marL="0">
              <a:buNone/>
            </a:pPr>
            <a:r>
              <a:rPr lang="en-US" sz="1500" b="1" dirty="0">
                <a:solidFill>
                  <a:srgbClr val="1C6F5C"/>
                </a:solidFill>
                <a:latin typeface="Calibri" pitchFamily="34" charset="0"/>
                <a:ea typeface="Calibri" pitchFamily="34" charset="-122"/>
                <a:cs typeface="Calibri" pitchFamily="34" charset="-120"/>
              </a:rPr>
              <a:t>Why they matter</a:t>
            </a:r>
            <a:endParaRPr lang="en-US" sz="1500" dirty="0"/>
          </a:p>
        </p:txBody>
      </p:sp>
      <p:sp>
        <p:nvSpPr>
          <p:cNvPr id="11" name="Text 9"/>
          <p:cNvSpPr txBox="1"/>
          <p:nvPr/>
        </p:nvSpPr>
        <p:spPr>
          <a:xfrm>
            <a:off x="6949440" y="2103120"/>
            <a:ext cx="4434840" cy="187452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2B3445"/>
                </a:solidFill>
                <a:latin typeface="Calibri" pitchFamily="34" charset="0"/>
                <a:ea typeface="Calibri" pitchFamily="34" charset="-122"/>
                <a:cs typeface="Calibri" pitchFamily="34" charset="-120"/>
              </a:rPr>
              <a:t>Simple calls stay simple; advanced options stay available</a:t>
            </a:r>
            <a:endParaRPr lang="en-US" sz="1250" dirty="0"/>
          </a:p>
          <a:p>
            <a:pPr marL="342900" indent="-342900">
              <a:spcAft>
                <a:spcPts val="800"/>
              </a:spcAft>
              <a:buSzPct val="100000"/>
              <a:buChar char="•"/>
            </a:pPr>
            <a:r>
              <a:rPr lang="en-US" sz="1250" dirty="0">
                <a:solidFill>
                  <a:srgbClr val="2B3445"/>
                </a:solidFill>
                <a:latin typeface="Calibri" pitchFamily="34" charset="0"/>
                <a:ea typeface="Calibri" pitchFamily="34" charset="-122"/>
                <a:cs typeface="Calibri" pitchFamily="34" charset="-120"/>
              </a:rPr>
              <a:t>You can add a new parameter without breaking existing calls</a:t>
            </a:r>
            <a:endParaRPr lang="en-US" sz="1250" dirty="0"/>
          </a:p>
          <a:p>
            <a:pPr marL="342900" indent="-342900">
              <a:spcAft>
                <a:spcPts val="800"/>
              </a:spcAft>
              <a:buSzPct val="100000"/>
              <a:buChar char="•"/>
            </a:pPr>
            <a:r>
              <a:rPr lang="en-US" sz="1250" dirty="0">
                <a:solidFill>
                  <a:srgbClr val="2B3445"/>
                </a:solidFill>
                <a:latin typeface="Calibri" pitchFamily="34" charset="0"/>
                <a:ea typeface="Calibri" pitchFamily="34" charset="-122"/>
                <a:cs typeface="Calibri" pitchFamily="34" charset="-120"/>
              </a:rPr>
              <a:t>This is why train_test_split(X, y) works with no other arguments — everything else has a default</a:t>
            </a:r>
            <a:endParaRPr lang="en-US" sz="1250" dirty="0"/>
          </a:p>
        </p:txBody>
      </p:sp>
      <p:sp>
        <p:nvSpPr>
          <p:cNvPr id="12" name="Shape 10"/>
          <p:cNvSpPr/>
          <p:nvPr/>
        </p:nvSpPr>
        <p:spPr>
          <a:xfrm>
            <a:off x="548640" y="4297680"/>
            <a:ext cx="11064240" cy="1554480"/>
          </a:xfrm>
          <a:prstGeom prst="roundRect">
            <a:avLst>
              <a:gd name="adj" fmla="val 5294"/>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3" name="Text 11"/>
          <p:cNvSpPr txBox="1"/>
          <p:nvPr/>
        </p:nvSpPr>
        <p:spPr>
          <a:xfrm>
            <a:off x="868680" y="4443984"/>
            <a:ext cx="6858000" cy="301752"/>
          </a:xfrm>
          <a:prstGeom prst="rect">
            <a:avLst/>
          </a:prstGeom>
          <a:noFill/>
          <a:ln/>
        </p:spPr>
        <p:txBody>
          <a:bodyPr wrap="square" lIns="0" tIns="0" rIns="0" bIns="0" rtlCol="0" anchor="ctr"/>
          <a:lstStyle/>
          <a:p>
            <a:pPr indent="0" marL="0">
              <a:buNone/>
            </a:pPr>
            <a:r>
              <a:rPr lang="en-US" sz="1500" b="1" dirty="0">
                <a:solidFill>
                  <a:srgbClr val="A63B24"/>
                </a:solidFill>
                <a:latin typeface="Calibri" pitchFamily="34" charset="0"/>
                <a:ea typeface="Calibri" pitchFamily="34" charset="-122"/>
                <a:cs typeface="Calibri" pitchFamily="34" charset="-120"/>
              </a:rPr>
              <a:t>⚠  Defaults must come AFTER non-default parameters</a:t>
            </a:r>
            <a:endParaRPr lang="en-US" sz="1500" dirty="0"/>
          </a:p>
        </p:txBody>
      </p:sp>
      <p:sp>
        <p:nvSpPr>
          <p:cNvPr id="14" name="Shape 12"/>
          <p:cNvSpPr/>
          <p:nvPr/>
        </p:nvSpPr>
        <p:spPr>
          <a:xfrm>
            <a:off x="868680" y="4809744"/>
            <a:ext cx="5212080" cy="822960"/>
          </a:xfrm>
          <a:prstGeom prst="roundRect">
            <a:avLst>
              <a:gd name="adj" fmla="val 7778"/>
            </a:avLst>
          </a:prstGeom>
          <a:solidFill>
            <a:srgbClr val="1B2B45"/>
          </a:solidFill>
          <a:ln w="12700">
            <a:solidFill>
              <a:srgbClr val="1B2B45"/>
            </a:solidFill>
            <a:prstDash val="solid"/>
          </a:ln>
        </p:spPr>
      </p:sp>
      <p:sp>
        <p:nvSpPr>
          <p:cNvPr id="15" name="Text 13"/>
          <p:cNvSpPr txBox="1"/>
          <p:nvPr/>
        </p:nvSpPr>
        <p:spPr>
          <a:xfrm>
            <a:off x="1033272" y="4919472"/>
            <a:ext cx="4882896" cy="603504"/>
          </a:xfrm>
          <a:prstGeom prst="rect">
            <a:avLst/>
          </a:prstGeom>
          <a:noFill/>
          <a:ln/>
        </p:spPr>
        <p:txBody>
          <a:bodyPr wrap="square" lIns="0" tIns="0" rIns="0" bIns="0" rtlCol="0" anchor="t"/>
          <a:lstStyle/>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def greet(greeting="Hello", name):</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-&gt; SyntaxError: non-default argument</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follows default argument</a:t>
            </a:r>
            <a:endParaRPr lang="en-US" sz="1100" dirty="0"/>
          </a:p>
        </p:txBody>
      </p:sp>
      <p:sp>
        <p:nvSpPr>
          <p:cNvPr id="16" name="Text 14"/>
          <p:cNvSpPr txBox="1"/>
          <p:nvPr/>
        </p:nvSpPr>
        <p:spPr>
          <a:xfrm>
            <a:off x="6400800" y="4791456"/>
            <a:ext cx="4983480" cy="868680"/>
          </a:xfrm>
          <a:prstGeom prst="rect">
            <a:avLst/>
          </a:prstGeom>
          <a:noFill/>
          <a:ln/>
        </p:spPr>
        <p:txBody>
          <a:bodyPr wrap="square" lIns="0" tIns="0" rIns="0" bIns="0" rtlCol="0" anchor="ctr"/>
          <a:lstStyle/>
          <a:p>
            <a:pPr indent="0" marL="0">
              <a:lnSpc>
                <a:spcPct val="115000"/>
              </a:lnSpc>
              <a:buNone/>
            </a:pPr>
            <a:r>
              <a:rPr lang="en-US" sz="1250" dirty="0">
                <a:solidFill>
                  <a:srgbClr val="6B4A0B"/>
                </a:solidFill>
                <a:latin typeface="Calibri" pitchFamily="34" charset="0"/>
                <a:ea typeface="Calibri" pitchFamily="34" charset="-122"/>
                <a:cs typeface="Calibri" pitchFamily="34" charset="-120"/>
              </a:rPr>
              <a:t>Python fills positional arguments left to right, so it cannot work out what a bare value means once an optional parameter sits ahead of a required one. Required parameters first, optional ones after — always.</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2.3  ·  A REAL GOTCHA</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The famous mutable default trap</a:t>
            </a:r>
            <a:endParaRPr lang="en-US" sz="3200" dirty="0"/>
          </a:p>
        </p:txBody>
      </p:sp>
      <p:sp>
        <p:nvSpPr>
          <p:cNvPr id="5" name="Shape 3"/>
          <p:cNvSpPr/>
          <p:nvPr/>
        </p:nvSpPr>
        <p:spPr>
          <a:xfrm>
            <a:off x="548640" y="1572768"/>
            <a:ext cx="5760720" cy="2743200"/>
          </a:xfrm>
          <a:prstGeom prst="roundRect">
            <a:avLst>
              <a:gd name="adj" fmla="val 3000"/>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19072"/>
            <a:ext cx="5212080" cy="301752"/>
          </a:xfrm>
          <a:prstGeom prst="rect">
            <a:avLst/>
          </a:prstGeom>
          <a:noFill/>
          <a:ln/>
        </p:spPr>
        <p:txBody>
          <a:bodyPr wrap="square" lIns="0" tIns="0" rIns="0" bIns="0" rtlCol="0" anchor="ctr"/>
          <a:lstStyle/>
          <a:p>
            <a:pPr indent="0" marL="0">
              <a:buNone/>
            </a:pPr>
            <a:r>
              <a:rPr lang="en-US" sz="1500" b="1" dirty="0">
                <a:solidFill>
                  <a:srgbClr val="A63B24"/>
                </a:solidFill>
                <a:latin typeface="Calibri" pitchFamily="34" charset="0"/>
                <a:ea typeface="Calibri" pitchFamily="34" charset="-122"/>
                <a:cs typeface="Calibri" pitchFamily="34" charset="-120"/>
              </a:rPr>
              <a:t>⚠  This looks completely reasonable</a:t>
            </a:r>
            <a:endParaRPr lang="en-US" sz="1500" dirty="0"/>
          </a:p>
        </p:txBody>
      </p:sp>
      <p:sp>
        <p:nvSpPr>
          <p:cNvPr id="7" name="Shape 5"/>
          <p:cNvSpPr/>
          <p:nvPr/>
        </p:nvSpPr>
        <p:spPr>
          <a:xfrm>
            <a:off x="804672" y="2103120"/>
            <a:ext cx="5257800" cy="2057400"/>
          </a:xfrm>
          <a:prstGeom prst="roundRect">
            <a:avLst>
              <a:gd name="adj" fmla="val 3111"/>
            </a:avLst>
          </a:prstGeom>
          <a:solidFill>
            <a:srgbClr val="1B2B45"/>
          </a:solidFill>
          <a:ln w="12700">
            <a:solidFill>
              <a:srgbClr val="1B2B45"/>
            </a:solidFill>
            <a:prstDash val="solid"/>
          </a:ln>
        </p:spPr>
      </p:sp>
      <p:sp>
        <p:nvSpPr>
          <p:cNvPr id="8" name="Text 6"/>
          <p:cNvSpPr txBox="1"/>
          <p:nvPr/>
        </p:nvSpPr>
        <p:spPr>
          <a:xfrm>
            <a:off x="969264" y="2212848"/>
            <a:ext cx="4928616" cy="1837944"/>
          </a:xfrm>
          <a:prstGeom prst="rect">
            <a:avLst/>
          </a:prstGeom>
          <a:noFill/>
          <a:ln/>
        </p:spPr>
        <p:txBody>
          <a:bodyPr wrap="square" lIns="0" tIns="0" rIns="0" bIns="0" rtlCol="0" anchor="t"/>
          <a:lstStyle/>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def add_item(item, basket=[]):</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basket.append(item)</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return basket</a:t>
            </a:r>
            <a:endParaRPr lang="en-US" sz="1050" dirty="0"/>
          </a:p>
          <a:p>
            <a:pPr indent="0" marL="0">
              <a:lnSpc>
                <a:spcPct val="112000"/>
              </a:lnSpc>
              <a:buNone/>
            </a:pP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add_item("apple")     # ['apple']</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add_item("bread")     # ['apple', 'bread']  ?!</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add_item("milk")      # ['apple','bread','milk']</a:t>
            </a:r>
            <a:endParaRPr lang="en-US" sz="1050" dirty="0"/>
          </a:p>
          <a:p>
            <a:pPr indent="0" marL="0">
              <a:lnSpc>
                <a:spcPct val="112000"/>
              </a:lnSpc>
              <a:buNone/>
            </a:pP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Each call was supposed to start empty.</a:t>
            </a:r>
            <a:endParaRPr lang="en-US" sz="1050" dirty="0"/>
          </a:p>
        </p:txBody>
      </p:sp>
      <p:sp>
        <p:nvSpPr>
          <p:cNvPr id="9" name="Shape 7"/>
          <p:cNvSpPr/>
          <p:nvPr/>
        </p:nvSpPr>
        <p:spPr>
          <a:xfrm>
            <a:off x="6583680" y="1572768"/>
            <a:ext cx="5029200" cy="2743200"/>
          </a:xfrm>
          <a:prstGeom prst="roundRect">
            <a:avLst>
              <a:gd name="adj" fmla="val 3000"/>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8"/>
          <p:cNvSpPr txBox="1"/>
          <p:nvPr/>
        </p:nvSpPr>
        <p:spPr>
          <a:xfrm>
            <a:off x="6839712" y="1719072"/>
            <a:ext cx="4480560" cy="301752"/>
          </a:xfrm>
          <a:prstGeom prst="rect">
            <a:avLst/>
          </a:prstGeom>
          <a:noFill/>
          <a:ln/>
        </p:spPr>
        <p:txBody>
          <a:bodyPr wrap="square" lIns="0" tIns="0" rIns="0" bIns="0" rtlCol="0" anchor="ctr"/>
          <a:lstStyle/>
          <a:p>
            <a:pPr indent="0" marL="0">
              <a:buNone/>
            </a:pPr>
            <a:r>
              <a:rPr lang="en-US" sz="1500" b="1" dirty="0">
                <a:solidFill>
                  <a:srgbClr val="1C6F5C"/>
                </a:solidFill>
                <a:latin typeface="Calibri" pitchFamily="34" charset="0"/>
                <a:ea typeface="Calibri" pitchFamily="34" charset="-122"/>
                <a:cs typeface="Calibri" pitchFamily="34" charset="-120"/>
              </a:rPr>
              <a:t>The fix: default to None</a:t>
            </a:r>
            <a:endParaRPr lang="en-US" sz="1500" dirty="0"/>
          </a:p>
        </p:txBody>
      </p:sp>
      <p:sp>
        <p:nvSpPr>
          <p:cNvPr id="11" name="Shape 9"/>
          <p:cNvSpPr/>
          <p:nvPr/>
        </p:nvSpPr>
        <p:spPr>
          <a:xfrm>
            <a:off x="6839712" y="2103120"/>
            <a:ext cx="4572000" cy="2057400"/>
          </a:xfrm>
          <a:prstGeom prst="roundRect">
            <a:avLst>
              <a:gd name="adj" fmla="val 3111"/>
            </a:avLst>
          </a:prstGeom>
          <a:solidFill>
            <a:srgbClr val="1B2B45"/>
          </a:solidFill>
          <a:ln w="12700">
            <a:solidFill>
              <a:srgbClr val="1B2B45"/>
            </a:solidFill>
            <a:prstDash val="solid"/>
          </a:ln>
        </p:spPr>
      </p:sp>
      <p:sp>
        <p:nvSpPr>
          <p:cNvPr id="12" name="Text 10"/>
          <p:cNvSpPr txBox="1"/>
          <p:nvPr/>
        </p:nvSpPr>
        <p:spPr>
          <a:xfrm>
            <a:off x="7004304" y="2212848"/>
            <a:ext cx="4242816" cy="1837944"/>
          </a:xfrm>
          <a:prstGeom prst="rect">
            <a:avLst/>
          </a:prstGeom>
          <a:noFill/>
          <a:ln/>
        </p:spPr>
        <p:txBody>
          <a:bodyPr wrap="square" lIns="0" tIns="0" rIns="0" bIns="0" rtlCol="0" anchor="t"/>
          <a:lstStyle/>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def add_item(item, basket=None):</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if basket is None:</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basket = []      # fresh list per call</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basket.append(item)</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return basket</a:t>
            </a:r>
            <a:endParaRPr lang="en-US" sz="1050" dirty="0"/>
          </a:p>
          <a:p>
            <a:pPr indent="0" marL="0">
              <a:lnSpc>
                <a:spcPct val="112000"/>
              </a:lnSpc>
              <a:buNone/>
            </a:pP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add_item("apple")     # ['apple']</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add_item("bread")     # ['bread']  correct</a:t>
            </a:r>
            <a:endParaRPr lang="en-US" sz="1050" dirty="0"/>
          </a:p>
        </p:txBody>
      </p:sp>
      <p:sp>
        <p:nvSpPr>
          <p:cNvPr id="13" name="Shape 11"/>
          <p:cNvSpPr/>
          <p:nvPr/>
        </p:nvSpPr>
        <p:spPr>
          <a:xfrm>
            <a:off x="548640" y="4526280"/>
            <a:ext cx="11064240" cy="1325880"/>
          </a:xfrm>
          <a:prstGeom prst="roundRect">
            <a:avLst>
              <a:gd name="adj" fmla="val 6207"/>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4" name="Text 12"/>
          <p:cNvSpPr txBox="1"/>
          <p:nvPr/>
        </p:nvSpPr>
        <p:spPr>
          <a:xfrm>
            <a:off x="868680" y="4663440"/>
            <a:ext cx="5943600" cy="292608"/>
          </a:xfrm>
          <a:prstGeom prst="rect">
            <a:avLst/>
          </a:prstGeom>
          <a:noFill/>
          <a:ln/>
        </p:spPr>
        <p:txBody>
          <a:bodyPr wrap="square" lIns="0" tIns="0" rIns="0" bIns="0" rtlCol="0" anchor="ctr"/>
          <a:lstStyle/>
          <a:p>
            <a:pPr indent="0" marL="0">
              <a:buNone/>
            </a:pPr>
            <a:r>
              <a:rPr lang="en-US" sz="1450" b="1" dirty="0">
                <a:solidFill>
                  <a:srgbClr val="8A5B00"/>
                </a:solidFill>
                <a:latin typeface="Calibri" pitchFamily="34" charset="0"/>
                <a:ea typeface="Calibri" pitchFamily="34" charset="-122"/>
                <a:cs typeface="Calibri" pitchFamily="34" charset="-120"/>
              </a:rPr>
              <a:t>Why it happens — and it is Day 1's lesson again</a:t>
            </a:r>
            <a:endParaRPr lang="en-US" sz="1450" dirty="0"/>
          </a:p>
        </p:txBody>
      </p:sp>
      <p:sp>
        <p:nvSpPr>
          <p:cNvPr id="15" name="Text 13"/>
          <p:cNvSpPr txBox="1"/>
          <p:nvPr/>
        </p:nvSpPr>
        <p:spPr>
          <a:xfrm>
            <a:off x="868680" y="4992624"/>
            <a:ext cx="10424160" cy="731520"/>
          </a:xfrm>
          <a:prstGeom prst="rect">
            <a:avLst/>
          </a:prstGeom>
          <a:noFill/>
          <a:ln/>
        </p:spPr>
        <p:txBody>
          <a:bodyPr wrap="square" lIns="0" tIns="0" rIns="0" bIns="0" rtlCol="0" anchor="ctr"/>
          <a:lstStyle/>
          <a:p>
            <a:pPr indent="0" marL="0">
              <a:lnSpc>
                <a:spcPct val="115000"/>
              </a:lnSpc>
              <a:buNone/>
            </a:pPr>
            <a:r>
              <a:rPr lang="en-US" sz="1300" dirty="0">
                <a:solidFill>
                  <a:srgbClr val="6B4A0B"/>
                </a:solidFill>
                <a:latin typeface="Calibri" pitchFamily="34" charset="0"/>
                <a:ea typeface="Calibri" pitchFamily="34" charset="-122"/>
                <a:cs typeface="Calibri" pitchFamily="34" charset="-120"/>
              </a:rPr>
              <a:t>The default value is created ONCE, when the function is defined — not on each call. So every call that omits the argument shares the exact same list object. This is aliasing: two names pointing at one object, exactly like c = a on Day 1. Never use a list, dict or set as a default value. Use None and build it inside.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2.4  ·  FLEXIBLE CALLS</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*args and **kwargs — accepting any number of arguments</a:t>
            </a:r>
            <a:endParaRPr lang="en-US" sz="3200" dirty="0"/>
          </a:p>
        </p:txBody>
      </p:sp>
      <p:sp>
        <p:nvSpPr>
          <p:cNvPr id="5" name="Shape 3"/>
          <p:cNvSpPr/>
          <p:nvPr/>
        </p:nvSpPr>
        <p:spPr>
          <a:xfrm>
            <a:off x="548640" y="1572768"/>
            <a:ext cx="5486400" cy="2743200"/>
          </a:xfrm>
          <a:prstGeom prst="roundRect">
            <a:avLst>
              <a:gd name="adj" fmla="val 300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19072"/>
            <a:ext cx="4937760" cy="301752"/>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*args  →  collects extras into a TUPLE</a:t>
            </a:r>
            <a:endParaRPr lang="en-US" sz="1500" dirty="0"/>
          </a:p>
        </p:txBody>
      </p:sp>
      <p:sp>
        <p:nvSpPr>
          <p:cNvPr id="7" name="Shape 5"/>
          <p:cNvSpPr/>
          <p:nvPr/>
        </p:nvSpPr>
        <p:spPr>
          <a:xfrm>
            <a:off x="804672" y="2103120"/>
            <a:ext cx="4983480" cy="2057400"/>
          </a:xfrm>
          <a:prstGeom prst="roundRect">
            <a:avLst>
              <a:gd name="adj" fmla="val 3111"/>
            </a:avLst>
          </a:prstGeom>
          <a:solidFill>
            <a:srgbClr val="1B2B45"/>
          </a:solidFill>
          <a:ln w="12700">
            <a:solidFill>
              <a:srgbClr val="1B2B45"/>
            </a:solidFill>
            <a:prstDash val="solid"/>
          </a:ln>
        </p:spPr>
      </p:sp>
      <p:sp>
        <p:nvSpPr>
          <p:cNvPr id="8" name="Text 6"/>
          <p:cNvSpPr txBox="1"/>
          <p:nvPr/>
        </p:nvSpPr>
        <p:spPr>
          <a:xfrm>
            <a:off x="969264" y="2212848"/>
            <a:ext cx="4654296" cy="1837944"/>
          </a:xfrm>
          <a:prstGeom prst="rect">
            <a:avLst/>
          </a:prstGeom>
          <a:noFill/>
          <a:ln/>
        </p:spPr>
        <p:txBody>
          <a:bodyPr wrap="square" lIns="0" tIns="0" rIns="0" bIns="0" rtlCol="0" anchor="t"/>
          <a:lstStyle/>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def total(*args):</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print(args, type(args))</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return sum(args)</a:t>
            </a:r>
            <a:endParaRPr lang="en-US" sz="1050" dirty="0"/>
          </a:p>
          <a:p>
            <a:pPr indent="0" marL="0">
              <a:lnSpc>
                <a:spcPct val="112000"/>
              </a:lnSpc>
              <a:buNone/>
            </a:pP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total(1, 2)          # (1, 2)      -&gt; 3</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total(1, 2, 3, 4)    # (1,2,3,4)   -&gt; 10</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total()              # ()          -&gt; 0</a:t>
            </a:r>
            <a:endParaRPr lang="en-US" sz="1050" dirty="0"/>
          </a:p>
          <a:p>
            <a:pPr indent="0" marL="0">
              <a:lnSpc>
                <a:spcPct val="112000"/>
              </a:lnSpc>
              <a:buNone/>
            </a:pP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The * is the syntax. 'args' is just a</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conventional name - *nums works too.</a:t>
            </a:r>
            <a:endParaRPr lang="en-US" sz="1050" dirty="0"/>
          </a:p>
        </p:txBody>
      </p:sp>
      <p:sp>
        <p:nvSpPr>
          <p:cNvPr id="9" name="Shape 7"/>
          <p:cNvSpPr/>
          <p:nvPr/>
        </p:nvSpPr>
        <p:spPr>
          <a:xfrm>
            <a:off x="6309360" y="1572768"/>
            <a:ext cx="5303520" cy="2743200"/>
          </a:xfrm>
          <a:prstGeom prst="roundRect">
            <a:avLst>
              <a:gd name="adj" fmla="val 3000"/>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8"/>
          <p:cNvSpPr txBox="1"/>
          <p:nvPr/>
        </p:nvSpPr>
        <p:spPr>
          <a:xfrm>
            <a:off x="6565392" y="1719072"/>
            <a:ext cx="4754880" cy="301752"/>
          </a:xfrm>
          <a:prstGeom prst="rect">
            <a:avLst/>
          </a:prstGeom>
          <a:noFill/>
          <a:ln/>
        </p:spPr>
        <p:txBody>
          <a:bodyPr wrap="square" lIns="0" tIns="0" rIns="0" bIns="0" rtlCol="0" anchor="ctr"/>
          <a:lstStyle/>
          <a:p>
            <a:pPr indent="0" marL="0">
              <a:buNone/>
            </a:pPr>
            <a:r>
              <a:rPr lang="en-US" sz="1500" b="1" dirty="0">
                <a:solidFill>
                  <a:srgbClr val="1C6F5C"/>
                </a:solidFill>
                <a:latin typeface="Calibri" pitchFamily="34" charset="0"/>
                <a:ea typeface="Calibri" pitchFamily="34" charset="-122"/>
                <a:cs typeface="Calibri" pitchFamily="34" charset="-120"/>
              </a:rPr>
              <a:t>**kwargs  →  collects extras into a DICT</a:t>
            </a:r>
            <a:endParaRPr lang="en-US" sz="1500" dirty="0"/>
          </a:p>
        </p:txBody>
      </p:sp>
      <p:sp>
        <p:nvSpPr>
          <p:cNvPr id="11" name="Shape 9"/>
          <p:cNvSpPr/>
          <p:nvPr/>
        </p:nvSpPr>
        <p:spPr>
          <a:xfrm>
            <a:off x="6565392" y="2103120"/>
            <a:ext cx="4800600" cy="2057400"/>
          </a:xfrm>
          <a:prstGeom prst="roundRect">
            <a:avLst>
              <a:gd name="adj" fmla="val 3111"/>
            </a:avLst>
          </a:prstGeom>
          <a:solidFill>
            <a:srgbClr val="1B2B45"/>
          </a:solidFill>
          <a:ln w="12700">
            <a:solidFill>
              <a:srgbClr val="1B2B45"/>
            </a:solidFill>
            <a:prstDash val="solid"/>
          </a:ln>
        </p:spPr>
      </p:sp>
      <p:sp>
        <p:nvSpPr>
          <p:cNvPr id="12" name="Text 10"/>
          <p:cNvSpPr txBox="1"/>
          <p:nvPr/>
        </p:nvSpPr>
        <p:spPr>
          <a:xfrm>
            <a:off x="6729984" y="2212848"/>
            <a:ext cx="4471416" cy="1837944"/>
          </a:xfrm>
          <a:prstGeom prst="rect">
            <a:avLst/>
          </a:prstGeom>
          <a:noFill/>
          <a:ln/>
        </p:spPr>
        <p:txBody>
          <a:bodyPr wrap="square" lIns="0" tIns="0" rIns="0" bIns="0" rtlCol="0" anchor="t"/>
          <a:lstStyle/>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def profile(**kwargs):</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for key, value in kwargs.items():</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print(f"{key}: {value}")</a:t>
            </a:r>
            <a:endParaRPr lang="en-US" sz="1050" dirty="0"/>
          </a:p>
          <a:p>
            <a:pPr indent="0" marL="0">
              <a:lnSpc>
                <a:spcPct val="112000"/>
              </a:lnSpc>
              <a:buNone/>
            </a:pP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profile(name="Ravi", age=23)</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name: Ravi</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age: 23</a:t>
            </a:r>
            <a:endParaRPr lang="en-US" sz="1050" dirty="0"/>
          </a:p>
          <a:p>
            <a:pPr indent="0" marL="0">
              <a:lnSpc>
                <a:spcPct val="112000"/>
              </a:lnSpc>
              <a:buNone/>
            </a:pP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kwargs is a normal dict - Topic 1.5</a:t>
            </a:r>
            <a:endParaRPr lang="en-US" sz="1050" dirty="0"/>
          </a:p>
        </p:txBody>
      </p:sp>
      <p:sp>
        <p:nvSpPr>
          <p:cNvPr id="13" name="Shape 11"/>
          <p:cNvSpPr/>
          <p:nvPr/>
        </p:nvSpPr>
        <p:spPr>
          <a:xfrm>
            <a:off x="548640" y="4526280"/>
            <a:ext cx="11064240" cy="1325880"/>
          </a:xfrm>
          <a:prstGeom prst="roundRect">
            <a:avLst>
              <a:gd name="adj" fmla="val 6207"/>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4" name="Text 12"/>
          <p:cNvSpPr txBox="1"/>
          <p:nvPr/>
        </p:nvSpPr>
        <p:spPr>
          <a:xfrm>
            <a:off x="868680" y="4663440"/>
            <a:ext cx="6858000" cy="292608"/>
          </a:xfrm>
          <a:prstGeom prst="rect">
            <a:avLst/>
          </a:prstGeom>
          <a:noFill/>
          <a:ln/>
        </p:spPr>
        <p:txBody>
          <a:bodyPr wrap="square" lIns="0" tIns="0" rIns="0" bIns="0" rtlCol="0" anchor="ctr"/>
          <a:lstStyle/>
          <a:p>
            <a:pPr indent="0" marL="0">
              <a:buNone/>
            </a:pPr>
            <a:r>
              <a:rPr lang="en-US" sz="1450" b="1" dirty="0">
                <a:solidFill>
                  <a:srgbClr val="8A5B00"/>
                </a:solidFill>
                <a:latin typeface="Calibri" pitchFamily="34" charset="0"/>
                <a:ea typeface="Calibri" pitchFamily="34" charset="-122"/>
                <a:cs typeface="Calibri" pitchFamily="34" charset="-120"/>
              </a:rPr>
              <a:t>The order is fixed:  positional  →  *args  →  keyword  →  **kwargs</a:t>
            </a:r>
            <a:endParaRPr lang="en-US" sz="1450" dirty="0"/>
          </a:p>
        </p:txBody>
      </p:sp>
      <p:sp>
        <p:nvSpPr>
          <p:cNvPr id="15" name="Shape 13"/>
          <p:cNvSpPr/>
          <p:nvPr/>
        </p:nvSpPr>
        <p:spPr>
          <a:xfrm>
            <a:off x="868680" y="4992624"/>
            <a:ext cx="5212080" cy="731520"/>
          </a:xfrm>
          <a:prstGeom prst="roundRect">
            <a:avLst>
              <a:gd name="adj" fmla="val 8750"/>
            </a:avLst>
          </a:prstGeom>
          <a:solidFill>
            <a:srgbClr val="1B2B45"/>
          </a:solidFill>
          <a:ln w="12700">
            <a:solidFill>
              <a:srgbClr val="1B2B45"/>
            </a:solidFill>
            <a:prstDash val="solid"/>
          </a:ln>
        </p:spPr>
      </p:sp>
      <p:sp>
        <p:nvSpPr>
          <p:cNvPr id="16" name="Text 14"/>
          <p:cNvSpPr txBox="1"/>
          <p:nvPr/>
        </p:nvSpPr>
        <p:spPr>
          <a:xfrm>
            <a:off x="1033272" y="5102352"/>
            <a:ext cx="4882896" cy="512064"/>
          </a:xfrm>
          <a:prstGeom prst="rect">
            <a:avLst/>
          </a:prstGeom>
          <a:noFill/>
          <a:ln/>
        </p:spPr>
        <p:txBody>
          <a:bodyPr wrap="square" lIns="0" tIns="0" rIns="0" bIns="0" rtlCol="0" anchor="t"/>
          <a:lstStyle/>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def f(a, b, *args, sep=", ", **kwargs):</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a:t>
            </a:r>
            <a:endParaRPr lang="en-US" sz="1100" dirty="0"/>
          </a:p>
        </p:txBody>
      </p:sp>
      <p:sp>
        <p:nvSpPr>
          <p:cNvPr id="17" name="Text 15"/>
          <p:cNvSpPr txBox="1"/>
          <p:nvPr/>
        </p:nvSpPr>
        <p:spPr>
          <a:xfrm>
            <a:off x="6400800" y="4974336"/>
            <a:ext cx="4983480" cy="731520"/>
          </a:xfrm>
          <a:prstGeom prst="rect">
            <a:avLst/>
          </a:prstGeom>
          <a:noFill/>
          <a:ln/>
        </p:spPr>
        <p:txBody>
          <a:bodyPr wrap="square" lIns="0" tIns="0" rIns="0" bIns="0" rtlCol="0" anchor="ctr"/>
          <a:lstStyle/>
          <a:p>
            <a:pPr indent="0" marL="0">
              <a:lnSpc>
                <a:spcPct val="115000"/>
              </a:lnSpc>
              <a:buNone/>
            </a:pPr>
            <a:r>
              <a:rPr lang="en-US" sz="1250" dirty="0">
                <a:solidFill>
                  <a:srgbClr val="6B4A0B"/>
                </a:solidFill>
                <a:latin typeface="Calibri" pitchFamily="34" charset="0"/>
                <a:ea typeface="Calibri" pitchFamily="34" charset="-122"/>
                <a:cs typeface="Calibri" pitchFamily="34" charset="-120"/>
              </a:rPr>
              <a:t>You will meet these constantly in library code — it is how a function like plt.plot() accepts almost anything. Writing them yourself is rarer, but reading them is a daily skill.</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822960" y="2057400"/>
            <a:ext cx="777240" cy="777240"/>
          </a:xfrm>
          <a:prstGeom prst="ellipse">
            <a:avLst/>
          </a:prstGeom>
          <a:solidFill>
            <a:srgbClr val="FFC145"/>
          </a:solidFill>
          <a:ln w="12700">
            <a:solidFill>
              <a:srgbClr val="FFC145"/>
            </a:solidFill>
            <a:prstDash val="solid"/>
          </a:ln>
        </p:spPr>
      </p:sp>
      <p:sp>
        <p:nvSpPr>
          <p:cNvPr id="4" name="Text 2"/>
          <p:cNvSpPr txBox="1"/>
          <p:nvPr/>
        </p:nvSpPr>
        <p:spPr>
          <a:xfrm>
            <a:off x="822960" y="2057400"/>
            <a:ext cx="777240" cy="777240"/>
          </a:xfrm>
          <a:prstGeom prst="rect">
            <a:avLst/>
          </a:prstGeom>
          <a:noFill/>
          <a:ln/>
        </p:spPr>
        <p:txBody>
          <a:bodyPr wrap="square" lIns="0" tIns="0" rIns="0" bIns="0" rtlCol="0" anchor="ctr"/>
          <a:lstStyle/>
          <a:p>
            <a:pPr algn="ctr" indent="0" marL="0">
              <a:buNone/>
            </a:pPr>
            <a:r>
              <a:rPr lang="en-US" sz="3000" b="1" dirty="0">
                <a:solidFill>
                  <a:srgbClr val="152238"/>
                </a:solidFill>
                <a:latin typeface="Calibri" pitchFamily="34" charset="0"/>
                <a:ea typeface="Calibri" pitchFamily="34" charset="-122"/>
                <a:cs typeface="Calibri" pitchFamily="34" charset="-120"/>
              </a:rPr>
              <a:t>3</a:t>
            </a:r>
            <a:endParaRPr lang="en-US" sz="3000" dirty="0"/>
          </a:p>
        </p:txBody>
      </p:sp>
      <p:sp>
        <p:nvSpPr>
          <p:cNvPr id="5" name="Text 3"/>
          <p:cNvSpPr txBox="1"/>
          <p:nvPr/>
        </p:nvSpPr>
        <p:spPr>
          <a:xfrm>
            <a:off x="1920240" y="1965960"/>
            <a:ext cx="676656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Scope</a:t>
            </a:r>
            <a:endParaRPr lang="en-US" sz="4000" dirty="0"/>
          </a:p>
        </p:txBody>
      </p:sp>
      <p:sp>
        <p:nvSpPr>
          <p:cNvPr id="6" name="Text 4"/>
          <p:cNvSpPr txBox="1"/>
          <p:nvPr/>
        </p:nvSpPr>
        <p:spPr>
          <a:xfrm>
            <a:off x="1947672" y="2788920"/>
            <a:ext cx="6949440" cy="457200"/>
          </a:xfrm>
          <a:prstGeom prst="rect">
            <a:avLst/>
          </a:prstGeom>
          <a:noFill/>
          <a:ln/>
        </p:spPr>
        <p:txBody>
          <a:bodyPr wrap="square" lIns="0" tIns="0" rIns="0" bIns="0" rtlCol="0" anchor="ctr"/>
          <a:lstStyle/>
          <a:p>
            <a:pPr indent="0" marL="0">
              <a:buNone/>
            </a:pPr>
            <a:r>
              <a:rPr lang="en-US" sz="1600" dirty="0">
                <a:solidFill>
                  <a:srgbClr val="AFC2DC"/>
                </a:solidFill>
                <a:latin typeface="Calibri" pitchFamily="34" charset="0"/>
                <a:ea typeface="Calibri" pitchFamily="34" charset="-122"/>
                <a:cs typeface="Calibri" pitchFamily="34" charset="-120"/>
              </a:rPr>
              <a:t>Which variables can a function see?  ·  25 minutes</a:t>
            </a:r>
            <a:endParaRPr lang="en-US" sz="1600" dirty="0"/>
          </a:p>
        </p:txBody>
      </p:sp>
      <p:sp>
        <p:nvSpPr>
          <p:cNvPr id="7" name="Text 5"/>
          <p:cNvSpPr txBox="1"/>
          <p:nvPr/>
        </p:nvSpPr>
        <p:spPr>
          <a:xfrm>
            <a:off x="9144000" y="2011680"/>
            <a:ext cx="2468880" cy="21945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Local vs global</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The LEGB rule</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The global keyword</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Mutable arguments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3.1  ·  WHERE NAMES LIVE</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Local and global scope</a:t>
            </a:r>
            <a:endParaRPr lang="en-US" sz="3200" dirty="0"/>
          </a:p>
        </p:txBody>
      </p:sp>
      <p:sp>
        <p:nvSpPr>
          <p:cNvPr id="5" name="Shape 3"/>
          <p:cNvSpPr/>
          <p:nvPr/>
        </p:nvSpPr>
        <p:spPr>
          <a:xfrm>
            <a:off x="548640" y="1572768"/>
            <a:ext cx="5486400" cy="2880360"/>
          </a:xfrm>
          <a:prstGeom prst="roundRect">
            <a:avLst>
              <a:gd name="adj" fmla="val 285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19072"/>
            <a:ext cx="4937760" cy="301752"/>
          </a:xfrm>
          <a:prstGeom prst="rect">
            <a:avLst/>
          </a:prstGeom>
          <a:noFill/>
          <a:ln/>
        </p:spPr>
        <p:txBody>
          <a:bodyPr wrap="square" lIns="0" tIns="0" rIns="0" bIns="0" rtlCol="0" anchor="ctr"/>
          <a:lstStyle/>
          <a:p>
            <a:pPr indent="0" marL="0">
              <a:buNone/>
            </a:pPr>
            <a:r>
              <a:rPr lang="en-US" sz="1450" b="1" dirty="0">
                <a:solidFill>
                  <a:srgbClr val="1F3A5F"/>
                </a:solidFill>
                <a:latin typeface="Calibri" pitchFamily="34" charset="0"/>
                <a:ea typeface="Calibri" pitchFamily="34" charset="-122"/>
                <a:cs typeface="Calibri" pitchFamily="34" charset="-120"/>
              </a:rPr>
              <a:t>Variables made inside a function stay inside</a:t>
            </a:r>
            <a:endParaRPr lang="en-US" sz="1450" dirty="0"/>
          </a:p>
        </p:txBody>
      </p:sp>
      <p:sp>
        <p:nvSpPr>
          <p:cNvPr id="7" name="Shape 5"/>
          <p:cNvSpPr/>
          <p:nvPr/>
        </p:nvSpPr>
        <p:spPr>
          <a:xfrm>
            <a:off x="804672" y="2103120"/>
            <a:ext cx="4983480" cy="2194560"/>
          </a:xfrm>
          <a:prstGeom prst="roundRect">
            <a:avLst>
              <a:gd name="adj" fmla="val 2917"/>
            </a:avLst>
          </a:prstGeom>
          <a:solidFill>
            <a:srgbClr val="1B2B45"/>
          </a:solidFill>
          <a:ln w="12700">
            <a:solidFill>
              <a:srgbClr val="1B2B45"/>
            </a:solidFill>
            <a:prstDash val="solid"/>
          </a:ln>
        </p:spPr>
      </p:sp>
      <p:sp>
        <p:nvSpPr>
          <p:cNvPr id="8" name="Text 6"/>
          <p:cNvSpPr txBox="1"/>
          <p:nvPr/>
        </p:nvSpPr>
        <p:spPr>
          <a:xfrm>
            <a:off x="969264" y="2212848"/>
            <a:ext cx="4654296" cy="1975104"/>
          </a:xfrm>
          <a:prstGeom prst="rect">
            <a:avLst/>
          </a:prstGeom>
          <a:noFill/>
          <a:ln/>
        </p:spPr>
        <p:txBody>
          <a:bodyPr wrap="square" lIns="0" tIns="0" rIns="0" bIns="0" rtlCol="0" anchor="t"/>
          <a:lstStyle/>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course = "Data Science"      # GLOBAL</a:t>
            </a:r>
            <a:endParaRPr lang="en-US" sz="1050" dirty="0"/>
          </a:p>
          <a:p>
            <a:pPr indent="0" marL="0">
              <a:lnSpc>
                <a:spcPct val="112000"/>
              </a:lnSpc>
              <a:buNone/>
            </a:pP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def show():</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room = "B-204"           # LOCAL</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print(course)            # can READ global</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print(room)</a:t>
            </a:r>
            <a:endParaRPr lang="en-US" sz="1050" dirty="0"/>
          </a:p>
          <a:p>
            <a:pPr indent="0" marL="0">
              <a:lnSpc>
                <a:spcPct val="112000"/>
              </a:lnSpc>
              <a:buNone/>
            </a:pP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show()                       # works</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print(room)</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-&gt; NameError: name 'room' is not defined</a:t>
            </a:r>
            <a:endParaRPr lang="en-US" sz="1050" dirty="0"/>
          </a:p>
        </p:txBody>
      </p:sp>
      <p:sp>
        <p:nvSpPr>
          <p:cNvPr id="9" name="Shape 7"/>
          <p:cNvSpPr/>
          <p:nvPr/>
        </p:nvSpPr>
        <p:spPr>
          <a:xfrm>
            <a:off x="6309360" y="1572768"/>
            <a:ext cx="5303520" cy="2880360"/>
          </a:xfrm>
          <a:prstGeom prst="roundRect">
            <a:avLst>
              <a:gd name="adj" fmla="val 285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8"/>
          <p:cNvSpPr txBox="1"/>
          <p:nvPr/>
        </p:nvSpPr>
        <p:spPr>
          <a:xfrm>
            <a:off x="6565392" y="1719072"/>
            <a:ext cx="4754880" cy="301752"/>
          </a:xfrm>
          <a:prstGeom prst="rect">
            <a:avLst/>
          </a:prstGeom>
          <a:noFill/>
          <a:ln/>
        </p:spPr>
        <p:txBody>
          <a:bodyPr wrap="square" lIns="0" tIns="0" rIns="0" bIns="0" rtlCol="0" anchor="ctr"/>
          <a:lstStyle/>
          <a:p>
            <a:pPr indent="0" marL="0">
              <a:buNone/>
            </a:pPr>
            <a:r>
              <a:rPr lang="en-US" sz="1450" b="1" dirty="0">
                <a:solidFill>
                  <a:srgbClr val="1F3A5F"/>
                </a:solidFill>
                <a:latin typeface="Calibri" pitchFamily="34" charset="0"/>
                <a:ea typeface="Calibri" pitchFamily="34" charset="-122"/>
                <a:cs typeface="Calibri" pitchFamily="34" charset="-120"/>
              </a:rPr>
              <a:t>Two nested boxes</a:t>
            </a:r>
            <a:endParaRPr lang="en-US" sz="1450" dirty="0"/>
          </a:p>
        </p:txBody>
      </p:sp>
      <p:sp>
        <p:nvSpPr>
          <p:cNvPr id="11" name="Shape 9"/>
          <p:cNvSpPr/>
          <p:nvPr/>
        </p:nvSpPr>
        <p:spPr>
          <a:xfrm>
            <a:off x="6675120" y="2121408"/>
            <a:ext cx="4572000" cy="2103120"/>
          </a:xfrm>
          <a:prstGeom prst="roundRect">
            <a:avLst>
              <a:gd name="adj" fmla="val 3478"/>
            </a:avLst>
          </a:prstGeom>
          <a:solidFill>
            <a:srgbClr val="EDF2F9"/>
          </a:solidFill>
          <a:ln w="19050">
            <a:solidFill>
              <a:srgbClr val="3E7CB1"/>
            </a:solidFill>
            <a:prstDash val="solid"/>
          </a:ln>
        </p:spPr>
      </p:sp>
      <p:sp>
        <p:nvSpPr>
          <p:cNvPr id="12" name="Text 10"/>
          <p:cNvSpPr txBox="1"/>
          <p:nvPr/>
        </p:nvSpPr>
        <p:spPr>
          <a:xfrm>
            <a:off x="6812280" y="2212848"/>
            <a:ext cx="4297680" cy="256032"/>
          </a:xfrm>
          <a:prstGeom prst="rect">
            <a:avLst/>
          </a:prstGeom>
          <a:noFill/>
          <a:ln/>
        </p:spPr>
        <p:txBody>
          <a:bodyPr wrap="square" lIns="0" tIns="0" rIns="0" bIns="0" rtlCol="0" anchor="ctr"/>
          <a:lstStyle/>
          <a:p>
            <a:pPr indent="0" marL="0">
              <a:buNone/>
            </a:pPr>
            <a:r>
              <a:rPr lang="en-US" sz="1100" b="1" dirty="0">
                <a:solidFill>
                  <a:srgbClr val="3E7CB1"/>
                </a:solidFill>
                <a:latin typeface="Calibri" pitchFamily="34" charset="0"/>
                <a:ea typeface="Calibri" pitchFamily="34" charset="-122"/>
                <a:cs typeface="Calibri" pitchFamily="34" charset="-120"/>
              </a:rPr>
              <a:t>GLOBAL  (the whole notebook)</a:t>
            </a:r>
            <a:endParaRPr lang="en-US" sz="1100" dirty="0"/>
          </a:p>
        </p:txBody>
      </p:sp>
      <p:sp>
        <p:nvSpPr>
          <p:cNvPr id="13" name="Text 11"/>
          <p:cNvSpPr txBox="1"/>
          <p:nvPr/>
        </p:nvSpPr>
        <p:spPr>
          <a:xfrm>
            <a:off x="6858000" y="2487168"/>
            <a:ext cx="4206240" cy="256032"/>
          </a:xfrm>
          <a:prstGeom prst="rect">
            <a:avLst/>
          </a:prstGeom>
          <a:noFill/>
          <a:ln/>
        </p:spPr>
        <p:txBody>
          <a:bodyPr wrap="square" lIns="0" tIns="0" rIns="0" bIns="0" rtlCol="0" anchor="ctr"/>
          <a:lstStyle/>
          <a:p>
            <a:pPr indent="0" marL="0">
              <a:buNone/>
            </a:pPr>
            <a:r>
              <a:rPr lang="en-US" sz="1100" dirty="0">
                <a:solidFill>
                  <a:srgbClr val="1F3A5F"/>
                </a:solidFill>
                <a:latin typeface="Courier New" pitchFamily="34" charset="0"/>
                <a:ea typeface="Courier New" pitchFamily="34" charset="-122"/>
                <a:cs typeface="Courier New" pitchFamily="34" charset="-120"/>
              </a:rPr>
              <a:t>course = "Data Science"</a:t>
            </a:r>
            <a:endParaRPr lang="en-US" sz="1100" dirty="0"/>
          </a:p>
        </p:txBody>
      </p:sp>
      <p:sp>
        <p:nvSpPr>
          <p:cNvPr id="14" name="Shape 12"/>
          <p:cNvSpPr/>
          <p:nvPr/>
        </p:nvSpPr>
        <p:spPr>
          <a:xfrm>
            <a:off x="6949440" y="2852928"/>
            <a:ext cx="4023360" cy="1234440"/>
          </a:xfrm>
          <a:prstGeom prst="roundRect">
            <a:avLst>
              <a:gd name="adj" fmla="val 5926"/>
            </a:avLst>
          </a:prstGeom>
          <a:solidFill>
            <a:srgbClr val="E9F6F2"/>
          </a:solidFill>
          <a:ln w="19050">
            <a:solidFill>
              <a:srgbClr val="2FA98C"/>
            </a:solidFill>
            <a:prstDash val="solid"/>
          </a:ln>
        </p:spPr>
      </p:sp>
      <p:sp>
        <p:nvSpPr>
          <p:cNvPr id="15" name="Text 13"/>
          <p:cNvSpPr txBox="1"/>
          <p:nvPr/>
        </p:nvSpPr>
        <p:spPr>
          <a:xfrm>
            <a:off x="7086600" y="2944368"/>
            <a:ext cx="3749040" cy="256032"/>
          </a:xfrm>
          <a:prstGeom prst="rect">
            <a:avLst/>
          </a:prstGeom>
          <a:noFill/>
          <a:ln/>
        </p:spPr>
        <p:txBody>
          <a:bodyPr wrap="square" lIns="0" tIns="0" rIns="0" bIns="0" rtlCol="0" anchor="ctr"/>
          <a:lstStyle/>
          <a:p>
            <a:pPr indent="0" marL="0">
              <a:buNone/>
            </a:pPr>
            <a:r>
              <a:rPr lang="en-US" sz="1100" b="1" dirty="0">
                <a:solidFill>
                  <a:srgbClr val="1C6F5C"/>
                </a:solidFill>
                <a:latin typeface="Calibri" pitchFamily="34" charset="0"/>
                <a:ea typeface="Calibri" pitchFamily="34" charset="-122"/>
                <a:cs typeface="Calibri" pitchFamily="34" charset="-120"/>
              </a:rPr>
              <a:t>LOCAL  (inside show)</a:t>
            </a:r>
            <a:endParaRPr lang="en-US" sz="1100" dirty="0"/>
          </a:p>
        </p:txBody>
      </p:sp>
      <p:sp>
        <p:nvSpPr>
          <p:cNvPr id="16" name="Text 14"/>
          <p:cNvSpPr txBox="1"/>
          <p:nvPr/>
        </p:nvSpPr>
        <p:spPr>
          <a:xfrm>
            <a:off x="7132320" y="3218688"/>
            <a:ext cx="3657600" cy="256032"/>
          </a:xfrm>
          <a:prstGeom prst="rect">
            <a:avLst/>
          </a:prstGeom>
          <a:noFill/>
          <a:ln/>
        </p:spPr>
        <p:txBody>
          <a:bodyPr wrap="square" lIns="0" tIns="0" rIns="0" bIns="0" rtlCol="0" anchor="ctr"/>
          <a:lstStyle/>
          <a:p>
            <a:pPr indent="0" marL="0">
              <a:buNone/>
            </a:pPr>
            <a:r>
              <a:rPr lang="en-US" sz="1100" dirty="0">
                <a:solidFill>
                  <a:srgbClr val="1F3A5F"/>
                </a:solidFill>
                <a:latin typeface="Courier New" pitchFamily="34" charset="0"/>
                <a:ea typeface="Courier New" pitchFamily="34" charset="-122"/>
                <a:cs typeface="Courier New" pitchFamily="34" charset="-120"/>
              </a:rPr>
              <a:t>room = "B-204"</a:t>
            </a:r>
            <a:endParaRPr lang="en-US" sz="1100" dirty="0"/>
          </a:p>
        </p:txBody>
      </p:sp>
      <p:sp>
        <p:nvSpPr>
          <p:cNvPr id="17" name="Text 15"/>
          <p:cNvSpPr txBox="1"/>
          <p:nvPr/>
        </p:nvSpPr>
        <p:spPr>
          <a:xfrm>
            <a:off x="7132320" y="3511296"/>
            <a:ext cx="3657600" cy="256032"/>
          </a:xfrm>
          <a:prstGeom prst="rect">
            <a:avLst/>
          </a:prstGeom>
          <a:noFill/>
          <a:ln/>
        </p:spPr>
        <p:txBody>
          <a:bodyPr wrap="square" lIns="0" tIns="0" rIns="0" bIns="0" rtlCol="0" anchor="ctr"/>
          <a:lstStyle/>
          <a:p>
            <a:pPr indent="0" marL="0">
              <a:buNone/>
            </a:pPr>
            <a:r>
              <a:rPr lang="en-US" sz="1100" i="1" dirty="0">
                <a:solidFill>
                  <a:srgbClr val="2FA98C"/>
                </a:solidFill>
                <a:latin typeface="Calibri" pitchFamily="34" charset="0"/>
                <a:ea typeface="Calibri" pitchFamily="34" charset="-122"/>
                <a:cs typeface="Calibri" pitchFamily="34" charset="-120"/>
              </a:rPr>
              <a:t>↑ can see out to global</a:t>
            </a:r>
            <a:endParaRPr lang="en-US" sz="1100" dirty="0"/>
          </a:p>
        </p:txBody>
      </p:sp>
      <p:sp>
        <p:nvSpPr>
          <p:cNvPr id="18" name="Text 16"/>
          <p:cNvSpPr txBox="1"/>
          <p:nvPr/>
        </p:nvSpPr>
        <p:spPr>
          <a:xfrm>
            <a:off x="7132320" y="3749040"/>
            <a:ext cx="3657600" cy="256032"/>
          </a:xfrm>
          <a:prstGeom prst="rect">
            <a:avLst/>
          </a:prstGeom>
          <a:noFill/>
          <a:ln/>
        </p:spPr>
        <p:txBody>
          <a:bodyPr wrap="square" lIns="0" tIns="0" rIns="0" bIns="0" rtlCol="0" anchor="ctr"/>
          <a:lstStyle/>
          <a:p>
            <a:pPr indent="0" marL="0">
              <a:buNone/>
            </a:pPr>
            <a:r>
              <a:rPr lang="en-US" sz="1100" i="1" dirty="0">
                <a:solidFill>
                  <a:srgbClr val="E8674C"/>
                </a:solidFill>
                <a:latin typeface="Calibri" pitchFamily="34" charset="0"/>
                <a:ea typeface="Calibri" pitchFamily="34" charset="-122"/>
                <a:cs typeface="Calibri" pitchFamily="34" charset="-120"/>
              </a:rPr>
              <a:t>↓ global cannot see in</a:t>
            </a:r>
            <a:endParaRPr lang="en-US" sz="1100" dirty="0"/>
          </a:p>
        </p:txBody>
      </p:sp>
      <p:sp>
        <p:nvSpPr>
          <p:cNvPr id="19" name="Shape 17"/>
          <p:cNvSpPr/>
          <p:nvPr/>
        </p:nvSpPr>
        <p:spPr>
          <a:xfrm>
            <a:off x="548640" y="4663440"/>
            <a:ext cx="11064240" cy="1188720"/>
          </a:xfrm>
          <a:prstGeom prst="roundRect">
            <a:avLst>
              <a:gd name="adj" fmla="val 6923"/>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0" name="Text 18"/>
          <p:cNvSpPr txBox="1"/>
          <p:nvPr/>
        </p:nvSpPr>
        <p:spPr>
          <a:xfrm>
            <a:off x="868680" y="4809744"/>
            <a:ext cx="5943600" cy="292608"/>
          </a:xfrm>
          <a:prstGeom prst="rect">
            <a:avLst/>
          </a:prstGeom>
          <a:noFill/>
          <a:ln/>
        </p:spPr>
        <p:txBody>
          <a:bodyPr wrap="square" lIns="0" tIns="0" rIns="0" bIns="0" rtlCol="0" anchor="ctr"/>
          <a:lstStyle/>
          <a:p>
            <a:pPr indent="0" marL="0">
              <a:buNone/>
            </a:pPr>
            <a:r>
              <a:rPr lang="en-US" sz="1450" b="1" dirty="0">
                <a:solidFill>
                  <a:srgbClr val="1C6F5C"/>
                </a:solidFill>
                <a:latin typeface="Calibri" pitchFamily="34" charset="0"/>
                <a:ea typeface="Calibri" pitchFamily="34" charset="-122"/>
                <a:cs typeface="Calibri" pitchFamily="34" charset="-120"/>
              </a:rPr>
              <a:t>Why this is a feature, not a restriction</a:t>
            </a:r>
            <a:endParaRPr lang="en-US" sz="1450" dirty="0"/>
          </a:p>
        </p:txBody>
      </p:sp>
      <p:sp>
        <p:nvSpPr>
          <p:cNvPr id="21" name="Text 19"/>
          <p:cNvSpPr txBox="1"/>
          <p:nvPr/>
        </p:nvSpPr>
        <p:spPr>
          <a:xfrm>
            <a:off x="868680" y="5138928"/>
            <a:ext cx="10424160" cy="594360"/>
          </a:xfrm>
          <a:prstGeom prst="rect">
            <a:avLst/>
          </a:prstGeom>
          <a:noFill/>
          <a:ln/>
        </p:spPr>
        <p:txBody>
          <a:bodyPr wrap="square" lIns="0" tIns="0" rIns="0" bIns="0" rtlCol="0" anchor="ctr"/>
          <a:lstStyle/>
          <a:p>
            <a:pPr indent="0" marL="0">
              <a:lnSpc>
                <a:spcPct val="115000"/>
              </a:lnSpc>
              <a:buNone/>
            </a:pPr>
            <a:r>
              <a:rPr lang="en-US" sz="1300" dirty="0">
                <a:solidFill>
                  <a:srgbClr val="2B3445"/>
                </a:solidFill>
                <a:latin typeface="Calibri" pitchFamily="34" charset="0"/>
                <a:ea typeface="Calibri" pitchFamily="34" charset="-122"/>
                <a:cs typeface="Calibri" pitchFamily="34" charset="-120"/>
              </a:rPr>
              <a:t>Because locals are sealed off, you can use  total  as a variable name inside fifty different functions and they will never collide. Each call gets its own private workspace that is created on entry and thrown away on return. Without scope, every function in every library you import could clobber your variables.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3.2  ·  LOOKUP ORDER</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The LEGB rule — how Python resolves a name</a:t>
            </a:r>
            <a:endParaRPr lang="en-US" sz="3200" dirty="0"/>
          </a:p>
        </p:txBody>
      </p:sp>
      <p:sp>
        <p:nvSpPr>
          <p:cNvPr id="5" name="Shape 3"/>
          <p:cNvSpPr/>
          <p:nvPr/>
        </p:nvSpPr>
        <p:spPr>
          <a:xfrm>
            <a:off x="548640" y="1600200"/>
            <a:ext cx="6035040" cy="658368"/>
          </a:xfrm>
          <a:prstGeom prst="roundRect">
            <a:avLst>
              <a:gd name="adj" fmla="val 1250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749808" y="1737360"/>
            <a:ext cx="384048" cy="384048"/>
          </a:xfrm>
          <a:prstGeom prst="ellipse">
            <a:avLst/>
          </a:prstGeom>
          <a:solidFill>
            <a:srgbClr val="2FA98C"/>
          </a:solidFill>
          <a:ln w="12700">
            <a:solidFill>
              <a:srgbClr val="2FA98C"/>
            </a:solidFill>
            <a:prstDash val="solid"/>
          </a:ln>
        </p:spPr>
      </p:sp>
      <p:sp>
        <p:nvSpPr>
          <p:cNvPr id="7" name="Text 5"/>
          <p:cNvSpPr txBox="1"/>
          <p:nvPr/>
        </p:nvSpPr>
        <p:spPr>
          <a:xfrm>
            <a:off x="749808" y="17373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a:t>
            </a:r>
            <a:endParaRPr lang="en-US" sz="1300" dirty="0"/>
          </a:p>
        </p:txBody>
      </p:sp>
      <p:sp>
        <p:nvSpPr>
          <p:cNvPr id="8" name="Text 6"/>
          <p:cNvSpPr txBox="1"/>
          <p:nvPr/>
        </p:nvSpPr>
        <p:spPr>
          <a:xfrm>
            <a:off x="1298448" y="1655064"/>
            <a:ext cx="1554480" cy="292608"/>
          </a:xfrm>
          <a:prstGeom prst="rect">
            <a:avLst/>
          </a:prstGeom>
          <a:noFill/>
          <a:ln/>
        </p:spPr>
        <p:txBody>
          <a:bodyPr wrap="square" lIns="0" tIns="0" rIns="0" bIns="0" rtlCol="0" anchor="ctr"/>
          <a:lstStyle/>
          <a:p>
            <a:pPr indent="0" marL="0">
              <a:buNone/>
            </a:pPr>
            <a:r>
              <a:rPr lang="en-US" sz="1450" b="1" dirty="0">
                <a:solidFill>
                  <a:srgbClr val="1F3A5F"/>
                </a:solidFill>
                <a:latin typeface="Calibri" pitchFamily="34" charset="0"/>
                <a:ea typeface="Calibri" pitchFamily="34" charset="-122"/>
                <a:cs typeface="Calibri" pitchFamily="34" charset="-120"/>
              </a:rPr>
              <a:t>Local</a:t>
            </a:r>
            <a:endParaRPr lang="en-US" sz="1450" dirty="0"/>
          </a:p>
        </p:txBody>
      </p:sp>
      <p:sp>
        <p:nvSpPr>
          <p:cNvPr id="9" name="Text 7"/>
          <p:cNvSpPr txBox="1"/>
          <p:nvPr/>
        </p:nvSpPr>
        <p:spPr>
          <a:xfrm>
            <a:off x="1298448" y="1947672"/>
            <a:ext cx="5029200" cy="256032"/>
          </a:xfrm>
          <a:prstGeom prst="rect">
            <a:avLst/>
          </a:prstGeom>
          <a:noFill/>
          <a:ln/>
        </p:spPr>
        <p:txBody>
          <a:bodyPr wrap="square" lIns="0" tIns="0" rIns="0" bIns="0" rtlCol="0" anchor="ctr"/>
          <a:lstStyle/>
          <a:p>
            <a:pPr indent="0" marL="0">
              <a:buNone/>
            </a:pPr>
            <a:r>
              <a:rPr lang="en-US" sz="1150" dirty="0">
                <a:solidFill>
                  <a:srgbClr val="6B7789"/>
                </a:solidFill>
                <a:latin typeface="Calibri" pitchFamily="34" charset="0"/>
                <a:ea typeface="Calibri" pitchFamily="34" charset="-122"/>
                <a:cs typeface="Calibri" pitchFamily="34" charset="-120"/>
              </a:rPr>
              <a:t>Inside the current function</a:t>
            </a:r>
            <a:endParaRPr lang="en-US" sz="1150" dirty="0"/>
          </a:p>
        </p:txBody>
      </p:sp>
      <p:sp>
        <p:nvSpPr>
          <p:cNvPr id="10" name="Shape 8"/>
          <p:cNvSpPr/>
          <p:nvPr/>
        </p:nvSpPr>
        <p:spPr>
          <a:xfrm>
            <a:off x="548640" y="2377440"/>
            <a:ext cx="6035040" cy="658368"/>
          </a:xfrm>
          <a:prstGeom prst="roundRect">
            <a:avLst>
              <a:gd name="adj" fmla="val 1250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1" name="Shape 9"/>
          <p:cNvSpPr/>
          <p:nvPr/>
        </p:nvSpPr>
        <p:spPr>
          <a:xfrm>
            <a:off x="749808" y="2514600"/>
            <a:ext cx="384048" cy="384048"/>
          </a:xfrm>
          <a:prstGeom prst="ellipse">
            <a:avLst/>
          </a:prstGeom>
          <a:solidFill>
            <a:srgbClr val="3E7CB1"/>
          </a:solidFill>
          <a:ln w="12700">
            <a:solidFill>
              <a:srgbClr val="3E7CB1"/>
            </a:solidFill>
            <a:prstDash val="solid"/>
          </a:ln>
        </p:spPr>
      </p:sp>
      <p:sp>
        <p:nvSpPr>
          <p:cNvPr id="12" name="Text 10"/>
          <p:cNvSpPr txBox="1"/>
          <p:nvPr/>
        </p:nvSpPr>
        <p:spPr>
          <a:xfrm>
            <a:off x="749808" y="25146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a:t>
            </a:r>
            <a:endParaRPr lang="en-US" sz="1300" dirty="0"/>
          </a:p>
        </p:txBody>
      </p:sp>
      <p:sp>
        <p:nvSpPr>
          <p:cNvPr id="13" name="Text 11"/>
          <p:cNvSpPr txBox="1"/>
          <p:nvPr/>
        </p:nvSpPr>
        <p:spPr>
          <a:xfrm>
            <a:off x="1298448" y="2432304"/>
            <a:ext cx="1554480" cy="292608"/>
          </a:xfrm>
          <a:prstGeom prst="rect">
            <a:avLst/>
          </a:prstGeom>
          <a:noFill/>
          <a:ln/>
        </p:spPr>
        <p:txBody>
          <a:bodyPr wrap="square" lIns="0" tIns="0" rIns="0" bIns="0" rtlCol="0" anchor="ctr"/>
          <a:lstStyle/>
          <a:p>
            <a:pPr indent="0" marL="0">
              <a:buNone/>
            </a:pPr>
            <a:r>
              <a:rPr lang="en-US" sz="1450" b="1" dirty="0">
                <a:solidFill>
                  <a:srgbClr val="1F3A5F"/>
                </a:solidFill>
                <a:latin typeface="Calibri" pitchFamily="34" charset="0"/>
                <a:ea typeface="Calibri" pitchFamily="34" charset="-122"/>
                <a:cs typeface="Calibri" pitchFamily="34" charset="-120"/>
              </a:rPr>
              <a:t>Enclosing</a:t>
            </a:r>
            <a:endParaRPr lang="en-US" sz="1450" dirty="0"/>
          </a:p>
        </p:txBody>
      </p:sp>
      <p:sp>
        <p:nvSpPr>
          <p:cNvPr id="14" name="Text 12"/>
          <p:cNvSpPr txBox="1"/>
          <p:nvPr/>
        </p:nvSpPr>
        <p:spPr>
          <a:xfrm>
            <a:off x="1298448" y="2724912"/>
            <a:ext cx="5029200" cy="256032"/>
          </a:xfrm>
          <a:prstGeom prst="rect">
            <a:avLst/>
          </a:prstGeom>
          <a:noFill/>
          <a:ln/>
        </p:spPr>
        <p:txBody>
          <a:bodyPr wrap="square" lIns="0" tIns="0" rIns="0" bIns="0" rtlCol="0" anchor="ctr"/>
          <a:lstStyle/>
          <a:p>
            <a:pPr indent="0" marL="0">
              <a:buNone/>
            </a:pPr>
            <a:r>
              <a:rPr lang="en-US" sz="1150" dirty="0">
                <a:solidFill>
                  <a:srgbClr val="6B7789"/>
                </a:solidFill>
                <a:latin typeface="Calibri" pitchFamily="34" charset="0"/>
                <a:ea typeface="Calibri" pitchFamily="34" charset="-122"/>
                <a:cs typeface="Calibri" pitchFamily="34" charset="-120"/>
              </a:rPr>
              <a:t>Inside any outer function wrapping it</a:t>
            </a:r>
            <a:endParaRPr lang="en-US" sz="1150" dirty="0"/>
          </a:p>
        </p:txBody>
      </p:sp>
      <p:sp>
        <p:nvSpPr>
          <p:cNvPr id="15" name="Shape 13"/>
          <p:cNvSpPr/>
          <p:nvPr/>
        </p:nvSpPr>
        <p:spPr>
          <a:xfrm>
            <a:off x="548640" y="3154680"/>
            <a:ext cx="6035040" cy="658368"/>
          </a:xfrm>
          <a:prstGeom prst="roundRect">
            <a:avLst>
              <a:gd name="adj" fmla="val 1250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6" name="Shape 14"/>
          <p:cNvSpPr/>
          <p:nvPr/>
        </p:nvSpPr>
        <p:spPr>
          <a:xfrm>
            <a:off x="749808" y="3291840"/>
            <a:ext cx="384048" cy="384048"/>
          </a:xfrm>
          <a:prstGeom prst="ellipse">
            <a:avLst/>
          </a:prstGeom>
          <a:solidFill>
            <a:srgbClr val="5C93BE"/>
          </a:solidFill>
          <a:ln w="12700">
            <a:solidFill>
              <a:srgbClr val="5C93BE"/>
            </a:solidFill>
            <a:prstDash val="solid"/>
          </a:ln>
        </p:spPr>
      </p:sp>
      <p:sp>
        <p:nvSpPr>
          <p:cNvPr id="17" name="Text 15"/>
          <p:cNvSpPr txBox="1"/>
          <p:nvPr/>
        </p:nvSpPr>
        <p:spPr>
          <a:xfrm>
            <a:off x="749808" y="32918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a:t>
            </a:r>
            <a:endParaRPr lang="en-US" sz="1300" dirty="0"/>
          </a:p>
        </p:txBody>
      </p:sp>
      <p:sp>
        <p:nvSpPr>
          <p:cNvPr id="18" name="Text 16"/>
          <p:cNvSpPr txBox="1"/>
          <p:nvPr/>
        </p:nvSpPr>
        <p:spPr>
          <a:xfrm>
            <a:off x="1298448" y="3209544"/>
            <a:ext cx="1554480" cy="292608"/>
          </a:xfrm>
          <a:prstGeom prst="rect">
            <a:avLst/>
          </a:prstGeom>
          <a:noFill/>
          <a:ln/>
        </p:spPr>
        <p:txBody>
          <a:bodyPr wrap="square" lIns="0" tIns="0" rIns="0" bIns="0" rtlCol="0" anchor="ctr"/>
          <a:lstStyle/>
          <a:p>
            <a:pPr indent="0" marL="0">
              <a:buNone/>
            </a:pPr>
            <a:r>
              <a:rPr lang="en-US" sz="1450" b="1" dirty="0">
                <a:solidFill>
                  <a:srgbClr val="1F3A5F"/>
                </a:solidFill>
                <a:latin typeface="Calibri" pitchFamily="34" charset="0"/>
                <a:ea typeface="Calibri" pitchFamily="34" charset="-122"/>
                <a:cs typeface="Calibri" pitchFamily="34" charset="-120"/>
              </a:rPr>
              <a:t>Global</a:t>
            </a:r>
            <a:endParaRPr lang="en-US" sz="1450" dirty="0"/>
          </a:p>
        </p:txBody>
      </p:sp>
      <p:sp>
        <p:nvSpPr>
          <p:cNvPr id="19" name="Text 17"/>
          <p:cNvSpPr txBox="1"/>
          <p:nvPr/>
        </p:nvSpPr>
        <p:spPr>
          <a:xfrm>
            <a:off x="1298448" y="3502152"/>
            <a:ext cx="5029200" cy="256032"/>
          </a:xfrm>
          <a:prstGeom prst="rect">
            <a:avLst/>
          </a:prstGeom>
          <a:noFill/>
          <a:ln/>
        </p:spPr>
        <p:txBody>
          <a:bodyPr wrap="square" lIns="0" tIns="0" rIns="0" bIns="0" rtlCol="0" anchor="ctr"/>
          <a:lstStyle/>
          <a:p>
            <a:pPr indent="0" marL="0">
              <a:buNone/>
            </a:pPr>
            <a:r>
              <a:rPr lang="en-US" sz="1150" dirty="0">
                <a:solidFill>
                  <a:srgbClr val="6B7789"/>
                </a:solidFill>
                <a:latin typeface="Calibri" pitchFamily="34" charset="0"/>
                <a:ea typeface="Calibri" pitchFamily="34" charset="-122"/>
                <a:cs typeface="Calibri" pitchFamily="34" charset="-120"/>
              </a:rPr>
              <a:t>Top level of the file or notebook</a:t>
            </a:r>
            <a:endParaRPr lang="en-US" sz="1150" dirty="0"/>
          </a:p>
        </p:txBody>
      </p:sp>
      <p:sp>
        <p:nvSpPr>
          <p:cNvPr id="20" name="Shape 18"/>
          <p:cNvSpPr/>
          <p:nvPr/>
        </p:nvSpPr>
        <p:spPr>
          <a:xfrm>
            <a:off x="548640" y="3931920"/>
            <a:ext cx="6035040" cy="658368"/>
          </a:xfrm>
          <a:prstGeom prst="roundRect">
            <a:avLst>
              <a:gd name="adj" fmla="val 1250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1" name="Shape 19"/>
          <p:cNvSpPr/>
          <p:nvPr/>
        </p:nvSpPr>
        <p:spPr>
          <a:xfrm>
            <a:off x="749808" y="4069080"/>
            <a:ext cx="384048" cy="384048"/>
          </a:xfrm>
          <a:prstGeom prst="ellipse">
            <a:avLst/>
          </a:prstGeom>
          <a:solidFill>
            <a:srgbClr val="9CBBD8"/>
          </a:solidFill>
          <a:ln w="12700">
            <a:solidFill>
              <a:srgbClr val="9CBBD8"/>
            </a:solidFill>
            <a:prstDash val="solid"/>
          </a:ln>
        </p:spPr>
      </p:sp>
      <p:sp>
        <p:nvSpPr>
          <p:cNvPr id="22" name="Text 20"/>
          <p:cNvSpPr txBox="1"/>
          <p:nvPr/>
        </p:nvSpPr>
        <p:spPr>
          <a:xfrm>
            <a:off x="749808" y="40690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23" name="Text 21"/>
          <p:cNvSpPr txBox="1"/>
          <p:nvPr/>
        </p:nvSpPr>
        <p:spPr>
          <a:xfrm>
            <a:off x="1298448" y="3986784"/>
            <a:ext cx="1554480" cy="292608"/>
          </a:xfrm>
          <a:prstGeom prst="rect">
            <a:avLst/>
          </a:prstGeom>
          <a:noFill/>
          <a:ln/>
        </p:spPr>
        <p:txBody>
          <a:bodyPr wrap="square" lIns="0" tIns="0" rIns="0" bIns="0" rtlCol="0" anchor="ctr"/>
          <a:lstStyle/>
          <a:p>
            <a:pPr indent="0" marL="0">
              <a:buNone/>
            </a:pPr>
            <a:r>
              <a:rPr lang="en-US" sz="1450" b="1" dirty="0">
                <a:solidFill>
                  <a:srgbClr val="1F3A5F"/>
                </a:solidFill>
                <a:latin typeface="Calibri" pitchFamily="34" charset="0"/>
                <a:ea typeface="Calibri" pitchFamily="34" charset="-122"/>
                <a:cs typeface="Calibri" pitchFamily="34" charset="-120"/>
              </a:rPr>
              <a:t>Built-in</a:t>
            </a:r>
            <a:endParaRPr lang="en-US" sz="1450" dirty="0"/>
          </a:p>
        </p:txBody>
      </p:sp>
      <p:sp>
        <p:nvSpPr>
          <p:cNvPr id="24" name="Text 22"/>
          <p:cNvSpPr txBox="1"/>
          <p:nvPr/>
        </p:nvSpPr>
        <p:spPr>
          <a:xfrm>
            <a:off x="1298448" y="4279392"/>
            <a:ext cx="5029200" cy="256032"/>
          </a:xfrm>
          <a:prstGeom prst="rect">
            <a:avLst/>
          </a:prstGeom>
          <a:noFill/>
          <a:ln/>
        </p:spPr>
        <p:txBody>
          <a:bodyPr wrap="square" lIns="0" tIns="0" rIns="0" bIns="0" rtlCol="0" anchor="ctr"/>
          <a:lstStyle/>
          <a:p>
            <a:pPr indent="0" marL="0">
              <a:buNone/>
            </a:pPr>
            <a:r>
              <a:rPr lang="en-US" sz="1150" dirty="0">
                <a:solidFill>
                  <a:srgbClr val="6B7789"/>
                </a:solidFill>
                <a:latin typeface="Calibri" pitchFamily="34" charset="0"/>
                <a:ea typeface="Calibri" pitchFamily="34" charset="-122"/>
                <a:cs typeface="Calibri" pitchFamily="34" charset="-120"/>
              </a:rPr>
              <a:t>Python's own names: len, print, sum, range</a:t>
            </a:r>
            <a:endParaRPr lang="en-US" sz="1150" dirty="0"/>
          </a:p>
        </p:txBody>
      </p:sp>
      <p:sp>
        <p:nvSpPr>
          <p:cNvPr id="25" name="Text 23"/>
          <p:cNvSpPr txBox="1"/>
          <p:nvPr/>
        </p:nvSpPr>
        <p:spPr>
          <a:xfrm>
            <a:off x="548640" y="4773168"/>
            <a:ext cx="6035040" cy="274320"/>
          </a:xfrm>
          <a:prstGeom prst="rect">
            <a:avLst/>
          </a:prstGeom>
          <a:noFill/>
          <a:ln/>
        </p:spPr>
        <p:txBody>
          <a:bodyPr wrap="square" lIns="0" tIns="0" rIns="0" bIns="0" rtlCol="0" anchor="ctr"/>
          <a:lstStyle/>
          <a:p>
            <a:pPr indent="0" marL="0">
              <a:buNone/>
            </a:pPr>
            <a:r>
              <a:rPr lang="en-US" sz="1250" i="1" dirty="0">
                <a:solidFill>
                  <a:srgbClr val="1F3A5F"/>
                </a:solidFill>
                <a:latin typeface="Calibri" pitchFamily="34" charset="0"/>
                <a:ea typeface="Calibri" pitchFamily="34" charset="-122"/>
                <a:cs typeface="Calibri" pitchFamily="34" charset="-120"/>
              </a:rPr>
              <a:t>Python searches in this order and stops at the FIRST match.</a:t>
            </a:r>
            <a:endParaRPr lang="en-US" sz="1250" dirty="0"/>
          </a:p>
        </p:txBody>
      </p:sp>
      <p:sp>
        <p:nvSpPr>
          <p:cNvPr id="26" name="Shape 24"/>
          <p:cNvSpPr/>
          <p:nvPr/>
        </p:nvSpPr>
        <p:spPr>
          <a:xfrm>
            <a:off x="6858000" y="1600200"/>
            <a:ext cx="4754880" cy="3108960"/>
          </a:xfrm>
          <a:prstGeom prst="roundRect">
            <a:avLst>
              <a:gd name="adj" fmla="val 264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7" name="Text 25"/>
          <p:cNvSpPr txBox="1"/>
          <p:nvPr/>
        </p:nvSpPr>
        <p:spPr>
          <a:xfrm>
            <a:off x="7114032" y="1737360"/>
            <a:ext cx="4206240" cy="301752"/>
          </a:xfrm>
          <a:prstGeom prst="rect">
            <a:avLst/>
          </a:prstGeom>
          <a:noFill/>
          <a:ln/>
        </p:spPr>
        <p:txBody>
          <a:bodyPr wrap="square" lIns="0" tIns="0" rIns="0" bIns="0" rtlCol="0" anchor="ctr"/>
          <a:lstStyle/>
          <a:p>
            <a:pPr indent="0" marL="0">
              <a:buNone/>
            </a:pPr>
            <a:r>
              <a:rPr lang="en-US" sz="1450" b="1" dirty="0">
                <a:solidFill>
                  <a:srgbClr val="1F3A5F"/>
                </a:solidFill>
                <a:latin typeface="Calibri" pitchFamily="34" charset="0"/>
                <a:ea typeface="Calibri" pitchFamily="34" charset="-122"/>
                <a:cs typeface="Calibri" pitchFamily="34" charset="-120"/>
              </a:rPr>
              <a:t>Shadowing in action</a:t>
            </a:r>
            <a:endParaRPr lang="en-US" sz="1450" dirty="0"/>
          </a:p>
        </p:txBody>
      </p:sp>
      <p:sp>
        <p:nvSpPr>
          <p:cNvPr id="28" name="Shape 26"/>
          <p:cNvSpPr/>
          <p:nvPr/>
        </p:nvSpPr>
        <p:spPr>
          <a:xfrm>
            <a:off x="7114032" y="2103120"/>
            <a:ext cx="4297680" cy="2468880"/>
          </a:xfrm>
          <a:prstGeom prst="roundRect">
            <a:avLst>
              <a:gd name="adj" fmla="val 2593"/>
            </a:avLst>
          </a:prstGeom>
          <a:solidFill>
            <a:srgbClr val="1B2B45"/>
          </a:solidFill>
          <a:ln w="12700">
            <a:solidFill>
              <a:srgbClr val="1B2B45"/>
            </a:solidFill>
            <a:prstDash val="solid"/>
          </a:ln>
        </p:spPr>
      </p:sp>
      <p:sp>
        <p:nvSpPr>
          <p:cNvPr id="29" name="Text 27"/>
          <p:cNvSpPr txBox="1"/>
          <p:nvPr/>
        </p:nvSpPr>
        <p:spPr>
          <a:xfrm>
            <a:off x="7278624" y="2212848"/>
            <a:ext cx="3968496" cy="2249424"/>
          </a:xfrm>
          <a:prstGeom prst="rect">
            <a:avLst/>
          </a:prstGeom>
          <a:noFill/>
          <a:ln/>
        </p:spPr>
        <p:txBody>
          <a:bodyPr wrap="square" lIns="0" tIns="0" rIns="0" bIns="0" rtlCol="0" anchor="t"/>
          <a:lstStyle/>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x = "global"</a:t>
            </a:r>
            <a:endParaRPr lang="en-US" sz="1000" dirty="0"/>
          </a:p>
          <a:p>
            <a:pPr indent="0" marL="0">
              <a:lnSpc>
                <a:spcPct val="112000"/>
              </a:lnSpc>
              <a:buNone/>
            </a:pP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def outer():</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x = "enclosing"</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def inner():</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x = "local"</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print(x)      # local</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inner()</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print(x)          # enclosing</a:t>
            </a:r>
            <a:endParaRPr lang="en-US" sz="1000" dirty="0"/>
          </a:p>
          <a:p>
            <a:pPr indent="0" marL="0">
              <a:lnSpc>
                <a:spcPct val="112000"/>
              </a:lnSpc>
              <a:buNone/>
            </a:pP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outer()</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print(x)              # global</a:t>
            </a:r>
            <a:endParaRPr lang="en-US" sz="1000" dirty="0"/>
          </a:p>
        </p:txBody>
      </p:sp>
      <p:sp>
        <p:nvSpPr>
          <p:cNvPr id="30" name="Shape 28"/>
          <p:cNvSpPr/>
          <p:nvPr/>
        </p:nvSpPr>
        <p:spPr>
          <a:xfrm>
            <a:off x="548640" y="5074920"/>
            <a:ext cx="11064240" cy="822960"/>
          </a:xfrm>
          <a:prstGeom prst="roundRect">
            <a:avLst>
              <a:gd name="adj" fmla="val 10000"/>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1" name="Text 29"/>
          <p:cNvSpPr txBox="1"/>
          <p:nvPr/>
        </p:nvSpPr>
        <p:spPr>
          <a:xfrm>
            <a:off x="868680" y="5230368"/>
            <a:ext cx="10424160" cy="502920"/>
          </a:xfrm>
          <a:prstGeom prst="rect">
            <a:avLst/>
          </a:prstGeom>
          <a:noFill/>
          <a:ln/>
        </p:spPr>
        <p:txBody>
          <a:bodyPr wrap="square" lIns="0" tIns="0" rIns="0" bIns="0" rtlCol="0" anchor="ctr"/>
          <a:lstStyle/>
          <a:p>
            <a:pPr indent="0" marL="0">
              <a:buNone/>
            </a:pPr>
            <a:r>
              <a:rPr lang="en-US" sz="1300" dirty="0">
                <a:solidFill>
                  <a:srgbClr val="6B4A0B"/>
                </a:solidFill>
                <a:latin typeface="Calibri" pitchFamily="34" charset="0"/>
                <a:ea typeface="Calibri" pitchFamily="34" charset="-122"/>
                <a:cs typeface="Calibri" pitchFamily="34" charset="-120"/>
              </a:rPr>
              <a:t>This is why naming a variable  list  or  sum  breaks things: your Global name is found before Python's Built-in, so the original function is no longer reachable. Day 1's shadowing warning is just the B in LEGB losing to the G.</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3.3  ·  MUTATION</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Changing outer variables — and when it happens by accident</a:t>
            </a:r>
            <a:endParaRPr lang="en-US" sz="3200" dirty="0"/>
          </a:p>
        </p:txBody>
      </p:sp>
      <p:sp>
        <p:nvSpPr>
          <p:cNvPr id="5" name="Shape 3"/>
          <p:cNvSpPr/>
          <p:nvPr/>
        </p:nvSpPr>
        <p:spPr>
          <a:xfrm>
            <a:off x="548640" y="1572768"/>
            <a:ext cx="5486400" cy="2743200"/>
          </a:xfrm>
          <a:prstGeom prst="roundRect">
            <a:avLst>
              <a:gd name="adj" fmla="val 3000"/>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19072"/>
            <a:ext cx="4937760" cy="301752"/>
          </a:xfrm>
          <a:prstGeom prst="rect">
            <a:avLst/>
          </a:prstGeom>
          <a:noFill/>
          <a:ln/>
        </p:spPr>
        <p:txBody>
          <a:bodyPr wrap="square" lIns="0" tIns="0" rIns="0" bIns="0" rtlCol="0" anchor="ctr"/>
          <a:lstStyle/>
          <a:p>
            <a:pPr indent="0" marL="0">
              <a:buNone/>
            </a:pPr>
            <a:r>
              <a:rPr lang="en-US" sz="1500" b="1" dirty="0">
                <a:solidFill>
                  <a:srgbClr val="A63B24"/>
                </a:solidFill>
                <a:latin typeface="Calibri" pitchFamily="34" charset="0"/>
                <a:ea typeface="Calibri" pitchFamily="34" charset="-122"/>
                <a:cs typeface="Calibri" pitchFamily="34" charset="-120"/>
              </a:rPr>
              <a:t>Assigning creates a LOCAL, always</a:t>
            </a:r>
            <a:endParaRPr lang="en-US" sz="1500" dirty="0"/>
          </a:p>
        </p:txBody>
      </p:sp>
      <p:sp>
        <p:nvSpPr>
          <p:cNvPr id="7" name="Shape 5"/>
          <p:cNvSpPr/>
          <p:nvPr/>
        </p:nvSpPr>
        <p:spPr>
          <a:xfrm>
            <a:off x="804672" y="2103120"/>
            <a:ext cx="4983480" cy="2057400"/>
          </a:xfrm>
          <a:prstGeom prst="roundRect">
            <a:avLst>
              <a:gd name="adj" fmla="val 3111"/>
            </a:avLst>
          </a:prstGeom>
          <a:solidFill>
            <a:srgbClr val="1B2B45"/>
          </a:solidFill>
          <a:ln w="12700">
            <a:solidFill>
              <a:srgbClr val="1B2B45"/>
            </a:solidFill>
            <a:prstDash val="solid"/>
          </a:ln>
        </p:spPr>
      </p:sp>
      <p:sp>
        <p:nvSpPr>
          <p:cNvPr id="8" name="Text 6"/>
          <p:cNvSpPr txBox="1"/>
          <p:nvPr/>
        </p:nvSpPr>
        <p:spPr>
          <a:xfrm>
            <a:off x="969264" y="2212848"/>
            <a:ext cx="4654296" cy="1837944"/>
          </a:xfrm>
          <a:prstGeom prst="rect">
            <a:avLst/>
          </a:prstGeom>
          <a:noFill/>
          <a:ln/>
        </p:spPr>
        <p:txBody>
          <a:bodyPr wrap="square" lIns="0" tIns="0" rIns="0" bIns="0" rtlCol="0" anchor="t"/>
          <a:lstStyle/>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count = 0</a:t>
            </a:r>
            <a:endParaRPr lang="en-US" sz="1050" dirty="0"/>
          </a:p>
          <a:p>
            <a:pPr indent="0" marL="0">
              <a:lnSpc>
                <a:spcPct val="112000"/>
              </a:lnSpc>
              <a:buNone/>
            </a:pP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def increment():</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count = count + 1</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-&gt; UnboundLocalError</a:t>
            </a:r>
            <a:endParaRPr lang="en-US" sz="1050" dirty="0"/>
          </a:p>
          <a:p>
            <a:pPr indent="0" marL="0">
              <a:lnSpc>
                <a:spcPct val="112000"/>
              </a:lnSpc>
              <a:buNone/>
            </a:pP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Assigning anywhere in the body makes</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count local for the WHOLE function,</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so the right-hand side reads a local</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that does not exist yet.</a:t>
            </a:r>
            <a:endParaRPr lang="en-US" sz="1050" dirty="0"/>
          </a:p>
        </p:txBody>
      </p:sp>
      <p:sp>
        <p:nvSpPr>
          <p:cNvPr id="9" name="Shape 7"/>
          <p:cNvSpPr/>
          <p:nvPr/>
        </p:nvSpPr>
        <p:spPr>
          <a:xfrm>
            <a:off x="6309360" y="1572768"/>
            <a:ext cx="5303520" cy="2743200"/>
          </a:xfrm>
          <a:prstGeom prst="roundRect">
            <a:avLst>
              <a:gd name="adj" fmla="val 3000"/>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8"/>
          <p:cNvSpPr txBox="1"/>
          <p:nvPr/>
        </p:nvSpPr>
        <p:spPr>
          <a:xfrm>
            <a:off x="6565392" y="1719072"/>
            <a:ext cx="4754880" cy="301752"/>
          </a:xfrm>
          <a:prstGeom prst="rect">
            <a:avLst/>
          </a:prstGeom>
          <a:noFill/>
          <a:ln/>
        </p:spPr>
        <p:txBody>
          <a:bodyPr wrap="square" lIns="0" tIns="0" rIns="0" bIns="0" rtlCol="0" anchor="ctr"/>
          <a:lstStyle/>
          <a:p>
            <a:pPr indent="0" marL="0">
              <a:buNone/>
            </a:pPr>
            <a:r>
              <a:rPr lang="en-US" sz="1500" b="1" dirty="0">
                <a:solidFill>
                  <a:srgbClr val="1C6F5C"/>
                </a:solidFill>
                <a:latin typeface="Calibri" pitchFamily="34" charset="0"/>
                <a:ea typeface="Calibri" pitchFamily="34" charset="-122"/>
                <a:cs typeface="Calibri" pitchFamily="34" charset="-120"/>
              </a:rPr>
              <a:t>Better: take it in, hand it back</a:t>
            </a:r>
            <a:endParaRPr lang="en-US" sz="1500" dirty="0"/>
          </a:p>
        </p:txBody>
      </p:sp>
      <p:sp>
        <p:nvSpPr>
          <p:cNvPr id="11" name="Shape 9"/>
          <p:cNvSpPr/>
          <p:nvPr/>
        </p:nvSpPr>
        <p:spPr>
          <a:xfrm>
            <a:off x="6565392" y="2103120"/>
            <a:ext cx="4800600" cy="2057400"/>
          </a:xfrm>
          <a:prstGeom prst="roundRect">
            <a:avLst>
              <a:gd name="adj" fmla="val 3111"/>
            </a:avLst>
          </a:prstGeom>
          <a:solidFill>
            <a:srgbClr val="1B2B45"/>
          </a:solidFill>
          <a:ln w="12700">
            <a:solidFill>
              <a:srgbClr val="1B2B45"/>
            </a:solidFill>
            <a:prstDash val="solid"/>
          </a:ln>
        </p:spPr>
      </p:sp>
      <p:sp>
        <p:nvSpPr>
          <p:cNvPr id="12" name="Text 10"/>
          <p:cNvSpPr txBox="1"/>
          <p:nvPr/>
        </p:nvSpPr>
        <p:spPr>
          <a:xfrm>
            <a:off x="6729984" y="2212848"/>
            <a:ext cx="4471416" cy="1837944"/>
          </a:xfrm>
          <a:prstGeom prst="rect">
            <a:avLst/>
          </a:prstGeom>
          <a:noFill/>
          <a:ln/>
        </p:spPr>
        <p:txBody>
          <a:bodyPr wrap="square" lIns="0" tIns="0" rIns="0" bIns="0" rtlCol="0" anchor="t"/>
          <a:lstStyle/>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def increment(count):</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return count + 1</a:t>
            </a:r>
            <a:endParaRPr lang="en-US" sz="1000" dirty="0"/>
          </a:p>
          <a:p>
            <a:pPr indent="0" marL="0">
              <a:lnSpc>
                <a:spcPct val="112000"/>
              </a:lnSpc>
              <a:buNone/>
            </a:pP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count = increment(count)     # explicit</a:t>
            </a:r>
            <a:endParaRPr lang="en-US" sz="1000" dirty="0"/>
          </a:p>
          <a:p>
            <a:pPr indent="0" marL="0">
              <a:lnSpc>
                <a:spcPct val="112000"/>
              </a:lnSpc>
              <a:buNone/>
            </a:pP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The 'global' keyword also works:</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def increment():</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global count</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count += 1</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but it hides where the change came from.</a:t>
            </a:r>
            <a:endParaRPr lang="en-US" sz="1000" dirty="0"/>
          </a:p>
        </p:txBody>
      </p:sp>
      <p:sp>
        <p:nvSpPr>
          <p:cNvPr id="13" name="Shape 11"/>
          <p:cNvSpPr/>
          <p:nvPr/>
        </p:nvSpPr>
        <p:spPr>
          <a:xfrm>
            <a:off x="548640" y="4526280"/>
            <a:ext cx="11064240" cy="1325880"/>
          </a:xfrm>
          <a:prstGeom prst="roundRect">
            <a:avLst>
              <a:gd name="adj" fmla="val 6207"/>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4" name="Text 12"/>
          <p:cNvSpPr txBox="1"/>
          <p:nvPr/>
        </p:nvSpPr>
        <p:spPr>
          <a:xfrm>
            <a:off x="868680" y="4663440"/>
            <a:ext cx="7772400" cy="292608"/>
          </a:xfrm>
          <a:prstGeom prst="rect">
            <a:avLst/>
          </a:prstGeom>
          <a:noFill/>
          <a:ln/>
        </p:spPr>
        <p:txBody>
          <a:bodyPr wrap="square" lIns="0" tIns="0" rIns="0" bIns="0" rtlCol="0" anchor="ctr"/>
          <a:lstStyle/>
          <a:p>
            <a:pPr indent="0" marL="0">
              <a:buNone/>
            </a:pPr>
            <a:r>
              <a:rPr lang="en-US" sz="1450" b="1" dirty="0">
                <a:solidFill>
                  <a:srgbClr val="8A5B00"/>
                </a:solidFill>
                <a:latin typeface="Calibri" pitchFamily="34" charset="0"/>
                <a:ea typeface="Calibri" pitchFamily="34" charset="-122"/>
                <a:cs typeface="Calibri" pitchFamily="34" charset="-120"/>
              </a:rPr>
              <a:t>⚠  But mutable objects CAN be changed from inside — no  global  needed</a:t>
            </a:r>
            <a:endParaRPr lang="en-US" sz="1450" dirty="0"/>
          </a:p>
        </p:txBody>
      </p:sp>
      <p:sp>
        <p:nvSpPr>
          <p:cNvPr id="15" name="Shape 13"/>
          <p:cNvSpPr/>
          <p:nvPr/>
        </p:nvSpPr>
        <p:spPr>
          <a:xfrm>
            <a:off x="868680" y="4992624"/>
            <a:ext cx="5212080" cy="731520"/>
          </a:xfrm>
          <a:prstGeom prst="roundRect">
            <a:avLst>
              <a:gd name="adj" fmla="val 8750"/>
            </a:avLst>
          </a:prstGeom>
          <a:solidFill>
            <a:srgbClr val="1B2B45"/>
          </a:solidFill>
          <a:ln w="12700">
            <a:solidFill>
              <a:srgbClr val="1B2B45"/>
            </a:solidFill>
            <a:prstDash val="solid"/>
          </a:ln>
        </p:spPr>
      </p:sp>
      <p:sp>
        <p:nvSpPr>
          <p:cNvPr id="16" name="Text 14"/>
          <p:cNvSpPr txBox="1"/>
          <p:nvPr/>
        </p:nvSpPr>
        <p:spPr>
          <a:xfrm>
            <a:off x="1033272" y="5102352"/>
            <a:ext cx="4882896" cy="512064"/>
          </a:xfrm>
          <a:prstGeom prst="rect">
            <a:avLst/>
          </a:prstGeom>
          <a:noFill/>
          <a:ln/>
        </p:spPr>
        <p:txBody>
          <a:bodyPr wrap="square" lIns="0" tIns="0" rIns="0" bIns="0" rtlCol="0" anchor="t"/>
          <a:lstStyle/>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def add_one(items):</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items.append(1)      # MUTATES the caller's list</a:t>
            </a:r>
            <a:endParaRPr lang="en-US" sz="1050" dirty="0"/>
          </a:p>
          <a:p>
            <a:pPr indent="0" marL="0">
              <a:lnSpc>
                <a:spcPct val="112000"/>
              </a:lnSpc>
              <a:buNone/>
            </a:pPr>
            <a:endParaRPr lang="en-US" sz="1050" dirty="0"/>
          </a:p>
        </p:txBody>
      </p:sp>
      <p:sp>
        <p:nvSpPr>
          <p:cNvPr id="17" name="Text 15"/>
          <p:cNvSpPr txBox="1"/>
          <p:nvPr/>
        </p:nvSpPr>
        <p:spPr>
          <a:xfrm>
            <a:off x="6400800" y="4974336"/>
            <a:ext cx="4983480" cy="777240"/>
          </a:xfrm>
          <a:prstGeom prst="rect">
            <a:avLst/>
          </a:prstGeom>
          <a:noFill/>
          <a:ln/>
        </p:spPr>
        <p:txBody>
          <a:bodyPr wrap="square" lIns="0" tIns="0" rIns="0" bIns="0" rtlCol="0" anchor="ctr"/>
          <a:lstStyle/>
          <a:p>
            <a:pPr indent="0" marL="0">
              <a:lnSpc>
                <a:spcPct val="112000"/>
              </a:lnSpc>
              <a:buNone/>
            </a:pPr>
            <a:r>
              <a:rPr lang="en-US" sz="1150" dirty="0">
                <a:solidFill>
                  <a:srgbClr val="6B4A0B"/>
                </a:solidFill>
                <a:latin typeface="Calibri" pitchFamily="34" charset="0"/>
                <a:ea typeface="Calibri" pitchFamily="34" charset="-122"/>
                <a:cs typeface="Calibri" pitchFamily="34" charset="-120"/>
              </a:rPr>
              <a:t>Rebinding a name (=) is local. Mutating an object (.append, [i] = x) reaches through to the original, because both names point at the same object. Day 1's aliasing, one more time — it is the single idea behind this slide, the mutable-default trap, and the loop-variable surprise from Day 2.</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822960" y="2057400"/>
            <a:ext cx="777240" cy="777240"/>
          </a:xfrm>
          <a:prstGeom prst="ellipse">
            <a:avLst/>
          </a:prstGeom>
          <a:solidFill>
            <a:srgbClr val="FFC145"/>
          </a:solidFill>
          <a:ln w="12700">
            <a:solidFill>
              <a:srgbClr val="FFC145"/>
            </a:solidFill>
            <a:prstDash val="solid"/>
          </a:ln>
        </p:spPr>
      </p:sp>
      <p:sp>
        <p:nvSpPr>
          <p:cNvPr id="4" name="Text 2"/>
          <p:cNvSpPr txBox="1"/>
          <p:nvPr/>
        </p:nvSpPr>
        <p:spPr>
          <a:xfrm>
            <a:off x="822960" y="2057400"/>
            <a:ext cx="777240" cy="777240"/>
          </a:xfrm>
          <a:prstGeom prst="rect">
            <a:avLst/>
          </a:prstGeom>
          <a:noFill/>
          <a:ln/>
        </p:spPr>
        <p:txBody>
          <a:bodyPr wrap="square" lIns="0" tIns="0" rIns="0" bIns="0" rtlCol="0" anchor="ctr"/>
          <a:lstStyle/>
          <a:p>
            <a:pPr algn="ctr" indent="0" marL="0">
              <a:buNone/>
            </a:pPr>
            <a:r>
              <a:rPr lang="en-US" sz="3000" b="1" dirty="0">
                <a:solidFill>
                  <a:srgbClr val="152238"/>
                </a:solidFill>
                <a:latin typeface="Calibri" pitchFamily="34" charset="0"/>
                <a:ea typeface="Calibri" pitchFamily="34" charset="-122"/>
                <a:cs typeface="Calibri" pitchFamily="34" charset="-120"/>
              </a:rPr>
              <a:t>4</a:t>
            </a:r>
            <a:endParaRPr lang="en-US" sz="3000" dirty="0"/>
          </a:p>
        </p:txBody>
      </p:sp>
      <p:sp>
        <p:nvSpPr>
          <p:cNvPr id="5" name="Text 3"/>
          <p:cNvSpPr txBox="1"/>
          <p:nvPr/>
        </p:nvSpPr>
        <p:spPr>
          <a:xfrm>
            <a:off x="1920240" y="1965960"/>
            <a:ext cx="676656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Writing Them Well</a:t>
            </a:r>
            <a:endParaRPr lang="en-US" sz="4000" dirty="0"/>
          </a:p>
        </p:txBody>
      </p:sp>
      <p:sp>
        <p:nvSpPr>
          <p:cNvPr id="6" name="Text 4"/>
          <p:cNvSpPr txBox="1"/>
          <p:nvPr/>
        </p:nvSpPr>
        <p:spPr>
          <a:xfrm>
            <a:off x="1947672" y="2788920"/>
            <a:ext cx="6949440" cy="457200"/>
          </a:xfrm>
          <a:prstGeom prst="rect">
            <a:avLst/>
          </a:prstGeom>
          <a:noFill/>
          <a:ln/>
        </p:spPr>
        <p:txBody>
          <a:bodyPr wrap="square" lIns="0" tIns="0" rIns="0" bIns="0" rtlCol="0" anchor="ctr"/>
          <a:lstStyle/>
          <a:p>
            <a:pPr indent="0" marL="0">
              <a:buNone/>
            </a:pPr>
            <a:r>
              <a:rPr lang="en-US" sz="1600" dirty="0">
                <a:solidFill>
                  <a:srgbClr val="AFC2DC"/>
                </a:solidFill>
                <a:latin typeface="Calibri" pitchFamily="34" charset="0"/>
                <a:ea typeface="Calibri" pitchFamily="34" charset="-122"/>
                <a:cs typeface="Calibri" pitchFamily="34" charset="-120"/>
              </a:rPr>
              <a:t>Docstrings, type hints, lambda  ·  10 minutes</a:t>
            </a:r>
            <a:endParaRPr lang="en-US" sz="1600" dirty="0"/>
          </a:p>
        </p:txBody>
      </p:sp>
      <p:sp>
        <p:nvSpPr>
          <p:cNvPr id="7" name="Text 5"/>
          <p:cNvSpPr txBox="1"/>
          <p:nvPr/>
        </p:nvSpPr>
        <p:spPr>
          <a:xfrm>
            <a:off x="9144000" y="2011680"/>
            <a:ext cx="2468880" cy="21945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Docstrings</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Type hints</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One job per function</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lambda</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4.1  ·  SELF-DOCUMENTING CODE</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Docstrings and type hints</a:t>
            </a:r>
            <a:endParaRPr lang="en-US" sz="3200" dirty="0"/>
          </a:p>
        </p:txBody>
      </p:sp>
      <p:sp>
        <p:nvSpPr>
          <p:cNvPr id="5" name="Shape 3"/>
          <p:cNvSpPr/>
          <p:nvPr/>
        </p:nvSpPr>
        <p:spPr>
          <a:xfrm>
            <a:off x="548640" y="1572768"/>
            <a:ext cx="6400800" cy="3017520"/>
          </a:xfrm>
          <a:prstGeom prst="roundRect">
            <a:avLst>
              <a:gd name="adj" fmla="val 272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19072"/>
            <a:ext cx="5852160" cy="301752"/>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The professional shape of a function</a:t>
            </a:r>
            <a:endParaRPr lang="en-US" sz="1500" dirty="0"/>
          </a:p>
        </p:txBody>
      </p:sp>
      <p:sp>
        <p:nvSpPr>
          <p:cNvPr id="7" name="Shape 5"/>
          <p:cNvSpPr/>
          <p:nvPr/>
        </p:nvSpPr>
        <p:spPr>
          <a:xfrm>
            <a:off x="804672" y="2103120"/>
            <a:ext cx="5897880" cy="2331720"/>
          </a:xfrm>
          <a:prstGeom prst="roundRect">
            <a:avLst>
              <a:gd name="adj" fmla="val 2745"/>
            </a:avLst>
          </a:prstGeom>
          <a:solidFill>
            <a:srgbClr val="1B2B45"/>
          </a:solidFill>
          <a:ln w="12700">
            <a:solidFill>
              <a:srgbClr val="1B2B45"/>
            </a:solidFill>
            <a:prstDash val="solid"/>
          </a:ln>
        </p:spPr>
      </p:sp>
      <p:sp>
        <p:nvSpPr>
          <p:cNvPr id="8" name="Text 6"/>
          <p:cNvSpPr txBox="1"/>
          <p:nvPr/>
        </p:nvSpPr>
        <p:spPr>
          <a:xfrm>
            <a:off x="969264" y="2212848"/>
            <a:ext cx="5568696" cy="2112264"/>
          </a:xfrm>
          <a:prstGeom prst="rect">
            <a:avLst/>
          </a:prstGeom>
          <a:noFill/>
          <a:ln/>
        </p:spPr>
        <p:txBody>
          <a:bodyPr wrap="square" lIns="0" tIns="0" rIns="0" bIns="0" rtlCol="0" anchor="t"/>
          <a:lstStyle/>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def percentage(marks: list, out_of: int = 100) -&gt; float:</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"""Return the percentage score for a list of marks.</a:t>
            </a:r>
            <a:endParaRPr lang="en-US" sz="1000" dirty="0"/>
          </a:p>
          <a:p>
            <a:pPr indent="0" marL="0">
              <a:lnSpc>
                <a:spcPct val="112000"/>
              </a:lnSpc>
              <a:buNone/>
            </a:pP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Args:</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marks:  list of individual subject marks</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out_of: maximum marks per subject (default 100)</a:t>
            </a:r>
            <a:endParaRPr lang="en-US" sz="1000" dirty="0"/>
          </a:p>
          <a:p>
            <a:pPr indent="0" marL="0">
              <a:lnSpc>
                <a:spcPct val="112000"/>
              </a:lnSpc>
              <a:buNone/>
            </a:pP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Returns:</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The percentage as a float, e.g. 74.33</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return sum(marks) / (len(marks) * out_of) * 100</a:t>
            </a:r>
            <a:endParaRPr lang="en-US" sz="1000" dirty="0"/>
          </a:p>
        </p:txBody>
      </p:sp>
      <p:sp>
        <p:nvSpPr>
          <p:cNvPr id="9" name="Shape 7"/>
          <p:cNvSpPr/>
          <p:nvPr/>
        </p:nvSpPr>
        <p:spPr>
          <a:xfrm>
            <a:off x="7223760" y="1572768"/>
            <a:ext cx="4389120" cy="3017520"/>
          </a:xfrm>
          <a:prstGeom prst="roundRect">
            <a:avLst>
              <a:gd name="adj" fmla="val 2727"/>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8"/>
          <p:cNvSpPr txBox="1"/>
          <p:nvPr/>
        </p:nvSpPr>
        <p:spPr>
          <a:xfrm>
            <a:off x="7479792" y="1719072"/>
            <a:ext cx="3840480" cy="301752"/>
          </a:xfrm>
          <a:prstGeom prst="rect">
            <a:avLst/>
          </a:prstGeom>
          <a:noFill/>
          <a:ln/>
        </p:spPr>
        <p:txBody>
          <a:bodyPr wrap="square" lIns="0" tIns="0" rIns="0" bIns="0" rtlCol="0" anchor="ctr"/>
          <a:lstStyle/>
          <a:p>
            <a:pPr indent="0" marL="0">
              <a:buNone/>
            </a:pPr>
            <a:r>
              <a:rPr lang="en-US" sz="1500" b="1" dirty="0">
                <a:solidFill>
                  <a:srgbClr val="1C6F5C"/>
                </a:solidFill>
                <a:latin typeface="Calibri" pitchFamily="34" charset="0"/>
                <a:ea typeface="Calibri" pitchFamily="34" charset="-122"/>
                <a:cs typeface="Calibri" pitchFamily="34" charset="-120"/>
              </a:rPr>
              <a:t>Why bother</a:t>
            </a:r>
            <a:endParaRPr lang="en-US" sz="1500" dirty="0"/>
          </a:p>
        </p:txBody>
      </p:sp>
      <p:sp>
        <p:nvSpPr>
          <p:cNvPr id="11" name="Text 9"/>
          <p:cNvSpPr txBox="1"/>
          <p:nvPr/>
        </p:nvSpPr>
        <p:spPr>
          <a:xfrm>
            <a:off x="7589520" y="2103120"/>
            <a:ext cx="3840480" cy="237744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2B3445"/>
                </a:solidFill>
                <a:latin typeface="Calibri" pitchFamily="34" charset="0"/>
                <a:ea typeface="Calibri" pitchFamily="34" charset="-122"/>
                <a:cs typeface="Calibri" pitchFamily="34" charset="-120"/>
              </a:rPr>
              <a:t>help(percentage) prints your docstring</a:t>
            </a:r>
            <a:endParaRPr lang="en-US" sz="1200" dirty="0"/>
          </a:p>
          <a:p>
            <a:pPr marL="342900" indent="-342900">
              <a:spcAft>
                <a:spcPts val="800"/>
              </a:spcAft>
              <a:buSzPct val="100000"/>
              <a:buChar char="•"/>
            </a:pPr>
            <a:r>
              <a:rPr lang="en-US" sz="1200" dirty="0">
                <a:solidFill>
                  <a:srgbClr val="2B3445"/>
                </a:solidFill>
                <a:latin typeface="Calibri" pitchFamily="34" charset="0"/>
                <a:ea typeface="Calibri" pitchFamily="34" charset="-122"/>
                <a:cs typeface="Calibri" pitchFamily="34" charset="-120"/>
              </a:rPr>
              <a:t>In Colab, Shift+Tab shows it as you type the call</a:t>
            </a:r>
            <a:endParaRPr lang="en-US" sz="1200" dirty="0"/>
          </a:p>
          <a:p>
            <a:pPr marL="342900" indent="-342900">
              <a:spcAft>
                <a:spcPts val="800"/>
              </a:spcAft>
              <a:buSzPct val="100000"/>
              <a:buChar char="•"/>
            </a:pPr>
            <a:r>
              <a:rPr lang="en-US" sz="1200" dirty="0">
                <a:solidFill>
                  <a:srgbClr val="2B3445"/>
                </a:solidFill>
                <a:latin typeface="Calibri" pitchFamily="34" charset="0"/>
                <a:ea typeface="Calibri" pitchFamily="34" charset="-122"/>
                <a:cs typeface="Calibri" pitchFamily="34" charset="-120"/>
              </a:rPr>
              <a:t>Type hints are documentation, not enforcement — Python does not check them</a:t>
            </a:r>
            <a:endParaRPr lang="en-US" sz="1200" dirty="0"/>
          </a:p>
          <a:p>
            <a:pPr marL="342900" indent="-342900">
              <a:spcAft>
                <a:spcPts val="800"/>
              </a:spcAft>
              <a:buSzPct val="100000"/>
              <a:buChar char="•"/>
            </a:pPr>
            <a:r>
              <a:rPr lang="en-US" sz="1200" dirty="0">
                <a:solidFill>
                  <a:srgbClr val="2B3445"/>
                </a:solidFill>
                <a:latin typeface="Calibri" pitchFamily="34" charset="0"/>
                <a:ea typeface="Calibri" pitchFamily="34" charset="-122"/>
                <a:cs typeface="Calibri" pitchFamily="34" charset="-120"/>
              </a:rPr>
              <a:t>Editors use hints to catch mistakes before you run anything</a:t>
            </a:r>
            <a:endParaRPr lang="en-US" sz="1200" dirty="0"/>
          </a:p>
        </p:txBody>
      </p:sp>
      <p:sp>
        <p:nvSpPr>
          <p:cNvPr id="12" name="Shape 10"/>
          <p:cNvSpPr/>
          <p:nvPr/>
        </p:nvSpPr>
        <p:spPr>
          <a:xfrm>
            <a:off x="548640" y="4800600"/>
            <a:ext cx="11064240" cy="1051560"/>
          </a:xfrm>
          <a:prstGeom prst="roundRect">
            <a:avLst>
              <a:gd name="adj" fmla="val 7826"/>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3" name="Text 11"/>
          <p:cNvSpPr txBox="1"/>
          <p:nvPr/>
        </p:nvSpPr>
        <p:spPr>
          <a:xfrm>
            <a:off x="868680" y="4983480"/>
            <a:ext cx="10424160" cy="685800"/>
          </a:xfrm>
          <a:prstGeom prst="rect">
            <a:avLst/>
          </a:prstGeom>
          <a:noFill/>
          <a:ln/>
        </p:spPr>
        <p:txBody>
          <a:bodyPr wrap="square" lIns="0" tIns="0" rIns="0" bIns="0" rtlCol="0" anchor="ctr"/>
          <a:lstStyle/>
          <a:p>
            <a:pPr indent="0" marL="0">
              <a:lnSpc>
                <a:spcPct val="115000"/>
              </a:lnSpc>
              <a:buNone/>
            </a:pPr>
            <a:r>
              <a:rPr lang="en-US" sz="1350" b="1" dirty="0">
                <a:solidFill>
                  <a:srgbClr val="8A5B00"/>
                </a:solidFill>
                <a:latin typeface="Calibri" pitchFamily="34" charset="0"/>
                <a:ea typeface="Calibri" pitchFamily="34" charset="-122"/>
                <a:cs typeface="Calibri" pitchFamily="34" charset="-120"/>
              </a:rPr>
              <a:t>One function, one job.  </a:t>
            </a:r>
            <a:pPr indent="0" marL="0">
              <a:lnSpc>
                <a:spcPct val="115000"/>
              </a:lnSpc>
              <a:buNone/>
            </a:pPr>
            <a:r>
              <a:rPr lang="en-US" sz="1350" dirty="0">
                <a:solidFill>
                  <a:srgbClr val="6B4A0B"/>
                </a:solidFill>
                <a:latin typeface="Calibri" pitchFamily="34" charset="0"/>
                <a:ea typeface="Calibri" pitchFamily="34" charset="-122"/>
                <a:cs typeface="Calibri" pitchFamily="34" charset="-120"/>
              </a:rPr>
              <a:t>If your docstring needs the word “and” twice to describe what the function does, it is really two functions. A function that loads a file, cleans it, trains a model and prints a chart is impossible to test and impossible to reuse.</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4.2  ·  LAMBDA</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lambda — a one-line function with no name</a:t>
            </a:r>
            <a:endParaRPr lang="en-US" sz="3200" dirty="0"/>
          </a:p>
        </p:txBody>
      </p:sp>
      <p:sp>
        <p:nvSpPr>
          <p:cNvPr id="5" name="Shape 3"/>
          <p:cNvSpPr/>
          <p:nvPr/>
        </p:nvSpPr>
        <p:spPr>
          <a:xfrm>
            <a:off x="548640" y="1572768"/>
            <a:ext cx="5486400" cy="2377440"/>
          </a:xfrm>
          <a:prstGeom prst="roundRect">
            <a:avLst>
              <a:gd name="adj" fmla="val 3462"/>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19072"/>
            <a:ext cx="4937760" cy="301752"/>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Same thing, two ways</a:t>
            </a:r>
            <a:endParaRPr lang="en-US" sz="1500" dirty="0"/>
          </a:p>
        </p:txBody>
      </p:sp>
      <p:sp>
        <p:nvSpPr>
          <p:cNvPr id="7" name="Shape 5"/>
          <p:cNvSpPr/>
          <p:nvPr/>
        </p:nvSpPr>
        <p:spPr>
          <a:xfrm>
            <a:off x="804672" y="2103120"/>
            <a:ext cx="4983480" cy="1691640"/>
          </a:xfrm>
          <a:prstGeom prst="roundRect">
            <a:avLst>
              <a:gd name="adj" fmla="val 3784"/>
            </a:avLst>
          </a:prstGeom>
          <a:solidFill>
            <a:srgbClr val="1B2B45"/>
          </a:solidFill>
          <a:ln w="12700">
            <a:solidFill>
              <a:srgbClr val="1B2B45"/>
            </a:solidFill>
            <a:prstDash val="solid"/>
          </a:ln>
        </p:spPr>
      </p:sp>
      <p:sp>
        <p:nvSpPr>
          <p:cNvPr id="8" name="Text 6"/>
          <p:cNvSpPr txBox="1"/>
          <p:nvPr/>
        </p:nvSpPr>
        <p:spPr>
          <a:xfrm>
            <a:off x="969264" y="2212848"/>
            <a:ext cx="4654296" cy="1472184"/>
          </a:xfrm>
          <a:prstGeom prst="rect">
            <a:avLst/>
          </a:prstGeom>
          <a:noFill/>
          <a:ln/>
        </p:spPr>
        <p:txBody>
          <a:bodyPr wrap="square" lIns="0" tIns="0" rIns="0" bIns="0" rtlCol="0" anchor="t"/>
          <a:lstStyle/>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def square(n):</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return n * n</a:t>
            </a:r>
            <a:endParaRPr lang="en-US" sz="1050" dirty="0"/>
          </a:p>
          <a:p>
            <a:pPr indent="0" marL="0">
              <a:lnSpc>
                <a:spcPct val="112000"/>
              </a:lnSpc>
              <a:buNone/>
            </a:pP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square = lambda n: n * n</a:t>
            </a:r>
            <a:endParaRPr lang="en-US" sz="1050" dirty="0"/>
          </a:p>
          <a:p>
            <a:pPr indent="0" marL="0">
              <a:lnSpc>
                <a:spcPct val="112000"/>
              </a:lnSpc>
              <a:buNone/>
            </a:pP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lambda &lt;params&gt;: &lt;single expression&gt;</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The result is returned automatically.</a:t>
            </a:r>
            <a:endParaRPr lang="en-US" sz="1050" dirty="0"/>
          </a:p>
        </p:txBody>
      </p:sp>
      <p:sp>
        <p:nvSpPr>
          <p:cNvPr id="9" name="Shape 7"/>
          <p:cNvSpPr/>
          <p:nvPr/>
        </p:nvSpPr>
        <p:spPr>
          <a:xfrm>
            <a:off x="6309360" y="1572768"/>
            <a:ext cx="5303520" cy="2377440"/>
          </a:xfrm>
          <a:prstGeom prst="roundRect">
            <a:avLst>
              <a:gd name="adj" fmla="val 3462"/>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8"/>
          <p:cNvSpPr txBox="1"/>
          <p:nvPr/>
        </p:nvSpPr>
        <p:spPr>
          <a:xfrm>
            <a:off x="6565392" y="1719072"/>
            <a:ext cx="4754880" cy="301752"/>
          </a:xfrm>
          <a:prstGeom prst="rect">
            <a:avLst/>
          </a:prstGeom>
          <a:noFill/>
          <a:ln/>
        </p:spPr>
        <p:txBody>
          <a:bodyPr wrap="square" lIns="0" tIns="0" rIns="0" bIns="0" rtlCol="0" anchor="ctr"/>
          <a:lstStyle/>
          <a:p>
            <a:pPr indent="0" marL="0">
              <a:buNone/>
            </a:pPr>
            <a:r>
              <a:rPr lang="en-US" sz="1500" b="1" dirty="0">
                <a:solidFill>
                  <a:srgbClr val="1C6F5C"/>
                </a:solidFill>
                <a:latin typeface="Calibri" pitchFamily="34" charset="0"/>
                <a:ea typeface="Calibri" pitchFamily="34" charset="-122"/>
                <a:cs typeface="Calibri" pitchFamily="34" charset="-120"/>
              </a:rPr>
              <a:t>Where you will actually meet it</a:t>
            </a:r>
            <a:endParaRPr lang="en-US" sz="1500" dirty="0"/>
          </a:p>
        </p:txBody>
      </p:sp>
      <p:sp>
        <p:nvSpPr>
          <p:cNvPr id="11" name="Shape 9"/>
          <p:cNvSpPr/>
          <p:nvPr/>
        </p:nvSpPr>
        <p:spPr>
          <a:xfrm>
            <a:off x="6565392" y="2103120"/>
            <a:ext cx="4800600" cy="1691640"/>
          </a:xfrm>
          <a:prstGeom prst="roundRect">
            <a:avLst>
              <a:gd name="adj" fmla="val 3784"/>
            </a:avLst>
          </a:prstGeom>
          <a:solidFill>
            <a:srgbClr val="1B2B45"/>
          </a:solidFill>
          <a:ln w="12700">
            <a:solidFill>
              <a:srgbClr val="1B2B45"/>
            </a:solidFill>
            <a:prstDash val="solid"/>
          </a:ln>
        </p:spPr>
      </p:sp>
      <p:sp>
        <p:nvSpPr>
          <p:cNvPr id="12" name="Text 10"/>
          <p:cNvSpPr txBox="1"/>
          <p:nvPr/>
        </p:nvSpPr>
        <p:spPr>
          <a:xfrm>
            <a:off x="6729984" y="2212848"/>
            <a:ext cx="4471416" cy="1472184"/>
          </a:xfrm>
          <a:prstGeom prst="rect">
            <a:avLst/>
          </a:prstGeom>
          <a:noFill/>
          <a:ln/>
        </p:spPr>
        <p:txBody>
          <a:bodyPr wrap="square" lIns="0" tIns="0" rIns="0" bIns="0" rtlCol="0" anchor="t"/>
          <a:lstStyle/>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students = [("Ravi", 88), ("Sara", 91)]</a:t>
            </a:r>
            <a:endParaRPr lang="en-US" sz="1000" dirty="0"/>
          </a:p>
          <a:p>
            <a:pPr indent="0" marL="0">
              <a:lnSpc>
                <a:spcPct val="112000"/>
              </a:lnSpc>
              <a:buNone/>
            </a:pP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students.sort(key=lambda s: s[1])</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 sort by the score</a:t>
            </a:r>
            <a:endParaRPr lang="en-US" sz="1000" dirty="0"/>
          </a:p>
          <a:p>
            <a:pPr indent="0" marL="0">
              <a:lnSpc>
                <a:spcPct val="112000"/>
              </a:lnSpc>
              <a:buNone/>
            </a:pP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df["col"].apply(lambda x: x * 2)   # pandas</a:t>
            </a:r>
            <a:endParaRPr lang="en-US" sz="1000" dirty="0"/>
          </a:p>
        </p:txBody>
      </p:sp>
      <p:sp>
        <p:nvSpPr>
          <p:cNvPr id="13" name="Shape 11"/>
          <p:cNvSpPr/>
          <p:nvPr/>
        </p:nvSpPr>
        <p:spPr>
          <a:xfrm>
            <a:off x="548640" y="4114800"/>
            <a:ext cx="11064240" cy="1737360"/>
          </a:xfrm>
          <a:prstGeom prst="roundRect">
            <a:avLst>
              <a:gd name="adj" fmla="val 4737"/>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4" name="Text 12"/>
          <p:cNvSpPr txBox="1"/>
          <p:nvPr/>
        </p:nvSpPr>
        <p:spPr>
          <a:xfrm>
            <a:off x="868680" y="4279392"/>
            <a:ext cx="7772400" cy="292608"/>
          </a:xfrm>
          <a:prstGeom prst="rect">
            <a:avLst/>
          </a:prstGeom>
          <a:noFill/>
          <a:ln/>
        </p:spPr>
        <p:txBody>
          <a:bodyPr wrap="square" lIns="0" tIns="0" rIns="0" bIns="0" rtlCol="0" anchor="ctr"/>
          <a:lstStyle/>
          <a:p>
            <a:pPr indent="0" marL="0">
              <a:buNone/>
            </a:pPr>
            <a:r>
              <a:rPr lang="en-US" sz="1450" b="1" dirty="0">
                <a:solidFill>
                  <a:srgbClr val="8A5B00"/>
                </a:solidFill>
                <a:latin typeface="Calibri" pitchFamily="34" charset="0"/>
                <a:ea typeface="Calibri" pitchFamily="34" charset="-122"/>
                <a:cs typeface="Calibri" pitchFamily="34" charset="-120"/>
              </a:rPr>
              <a:t>Use it as an argument to another function — not as a replacement for def</a:t>
            </a:r>
            <a:endParaRPr lang="en-US" sz="1450" dirty="0"/>
          </a:p>
        </p:txBody>
      </p:sp>
      <p:sp>
        <p:nvSpPr>
          <p:cNvPr id="15" name="Shape 13"/>
          <p:cNvSpPr/>
          <p:nvPr/>
        </p:nvSpPr>
        <p:spPr>
          <a:xfrm>
            <a:off x="868680" y="4626864"/>
            <a:ext cx="5212080" cy="777240"/>
          </a:xfrm>
          <a:prstGeom prst="roundRect">
            <a:avLst>
              <a:gd name="adj" fmla="val 8235"/>
            </a:avLst>
          </a:prstGeom>
          <a:solidFill>
            <a:srgbClr val="1B2B45"/>
          </a:solidFill>
          <a:ln w="12700">
            <a:solidFill>
              <a:srgbClr val="1B2B45"/>
            </a:solidFill>
            <a:prstDash val="solid"/>
          </a:ln>
        </p:spPr>
      </p:sp>
      <p:sp>
        <p:nvSpPr>
          <p:cNvPr id="16" name="Text 14"/>
          <p:cNvSpPr txBox="1"/>
          <p:nvPr/>
        </p:nvSpPr>
        <p:spPr>
          <a:xfrm>
            <a:off x="1033272" y="4736592"/>
            <a:ext cx="4882896" cy="557784"/>
          </a:xfrm>
          <a:prstGeom prst="rect">
            <a:avLst/>
          </a:prstGeom>
          <a:noFill/>
          <a:ln/>
        </p:spPr>
        <p:txBody>
          <a:bodyPr wrap="square" lIns="0" tIns="0" rIns="0" bIns="0" rtlCol="0" anchor="t"/>
          <a:lstStyle/>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square = lambda n: n * n      # pointless - just use def</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sort(key=lambda s: s[1])      # exactly right</a:t>
            </a:r>
            <a:endParaRPr lang="en-US" sz="1050" dirty="0"/>
          </a:p>
        </p:txBody>
      </p:sp>
      <p:sp>
        <p:nvSpPr>
          <p:cNvPr id="17" name="Text 15"/>
          <p:cNvSpPr txBox="1"/>
          <p:nvPr/>
        </p:nvSpPr>
        <p:spPr>
          <a:xfrm>
            <a:off x="6400800" y="4608576"/>
            <a:ext cx="4983480" cy="1051560"/>
          </a:xfrm>
          <a:prstGeom prst="rect">
            <a:avLst/>
          </a:prstGeom>
          <a:noFill/>
          <a:ln/>
        </p:spPr>
        <p:txBody>
          <a:bodyPr wrap="square" lIns="0" tIns="0" rIns="0" bIns="0" rtlCol="0" anchor="ctr"/>
          <a:lstStyle/>
          <a:p>
            <a:pPr indent="0" marL="0">
              <a:lnSpc>
                <a:spcPct val="115000"/>
              </a:lnSpc>
              <a:buNone/>
            </a:pPr>
            <a:r>
              <a:rPr lang="en-US" sz="1200" dirty="0">
                <a:solidFill>
                  <a:srgbClr val="6B4A0B"/>
                </a:solidFill>
                <a:latin typeface="Calibri" pitchFamily="34" charset="0"/>
                <a:ea typeface="Calibri" pitchFamily="34" charset="-122"/>
                <a:cs typeface="Calibri" pitchFamily="34" charset="-120"/>
              </a:rPr>
              <a:t>A lambda holds one expression and cannot contain statements — no loops, no if blocks, no multiple lines. If you find yourself fighting that limit, you wanted a real function. Its purpose is to describe a small piece of behaviour at the moment you hand it to something else, and you will use it constantly with pandas in Topic 1.15.</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RECAP</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Debug corner — the eight function bugs you will actually hit</a:t>
            </a:r>
            <a:endParaRPr lang="en-US" sz="3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1064240" cy="914400"/>
        </p:xfrm>
        <a:graphic>
          <a:graphicData uri="http://schemas.openxmlformats.org/drawingml/2006/table">
            <a:tbl>
              <a:tblPr/>
              <a:tblGrid>
                <a:gridCol w="3931920"/>
                <a:gridCol w="3291840"/>
                <a:gridCol w="3840480"/>
              </a:tblGrid>
              <a:tr h="42976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You wrote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happens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Fix</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print inside, no return</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caller gets None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return the value</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greet</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nothing runs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greet()</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def f(x=[]) ... x.append</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list grows across calls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x=None, then x = []</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def f(a=1, b)</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SyntaxError</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defaults go last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count = count + 1</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UnboundLocalError</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pass it in and return it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code after return</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never runs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move it before the return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f(23, "Ravi")</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wrong order, no error</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use keyword arguments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items.append() in a function</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changes the caller's list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pass a copy: items[:]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bl>
          </a:graphicData>
        </a:graphic>
      </p:graphicFrame>
      <p:sp>
        <p:nvSpPr>
          <p:cNvPr id="6" name="Shape 3"/>
          <p:cNvSpPr/>
          <p:nvPr/>
        </p:nvSpPr>
        <p:spPr>
          <a:xfrm>
            <a:off x="548640" y="5559552"/>
            <a:ext cx="11064240" cy="731520"/>
          </a:xfrm>
          <a:prstGeom prst="roundRect">
            <a:avLst>
              <a:gd name="adj" fmla="val 11250"/>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68680" y="5687568"/>
            <a:ext cx="10424160" cy="457200"/>
          </a:xfrm>
          <a:prstGeom prst="rect">
            <a:avLst/>
          </a:prstGeom>
          <a:noFill/>
          <a:ln/>
        </p:spPr>
        <p:txBody>
          <a:bodyPr wrap="square" lIns="0" tIns="0" rIns="0" bIns="0" rtlCol="0" anchor="ctr"/>
          <a:lstStyle/>
          <a:p>
            <a:pPr indent="0" marL="0">
              <a:buNone/>
            </a:pPr>
            <a:r>
              <a:rPr lang="en-US" sz="1300" i="1" dirty="0">
                <a:solidFill>
                  <a:srgbClr val="1F3A5F"/>
                </a:solidFill>
                <a:latin typeface="Calibri" pitchFamily="34" charset="0"/>
                <a:ea typeface="Calibri" pitchFamily="34" charset="-122"/>
                <a:cs typeface="Calibri" pitchFamily="34" charset="-120"/>
              </a:rPr>
              <a:t>All eight appear in today's practice notebook. Rows 1 and 5 account for most of the questions I get during practice.</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5  ·  MINI BUILD</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Putting it together — refactoring Day 1's result calculator</a:t>
            </a:r>
            <a:endParaRPr lang="en-US" sz="3200" dirty="0"/>
          </a:p>
        </p:txBody>
      </p:sp>
      <p:sp>
        <p:nvSpPr>
          <p:cNvPr id="5" name="Shape 3"/>
          <p:cNvSpPr/>
          <p:nvPr/>
        </p:nvSpPr>
        <p:spPr>
          <a:xfrm>
            <a:off x="548640" y="1572768"/>
            <a:ext cx="6583680" cy="3840480"/>
          </a:xfrm>
          <a:prstGeom prst="roundRect">
            <a:avLst>
              <a:gd name="adj" fmla="val 214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804672" y="1783080"/>
            <a:ext cx="6080760" cy="3429000"/>
          </a:xfrm>
          <a:prstGeom prst="roundRect">
            <a:avLst>
              <a:gd name="adj" fmla="val 1867"/>
            </a:avLst>
          </a:prstGeom>
          <a:solidFill>
            <a:srgbClr val="1B2B45"/>
          </a:solidFill>
          <a:ln w="12700">
            <a:solidFill>
              <a:srgbClr val="1B2B45"/>
            </a:solidFill>
            <a:prstDash val="solid"/>
          </a:ln>
        </p:spPr>
      </p:sp>
      <p:sp>
        <p:nvSpPr>
          <p:cNvPr id="7" name="Text 5"/>
          <p:cNvSpPr txBox="1"/>
          <p:nvPr/>
        </p:nvSpPr>
        <p:spPr>
          <a:xfrm>
            <a:off x="969264" y="1892808"/>
            <a:ext cx="5751576" cy="3209544"/>
          </a:xfrm>
          <a:prstGeom prst="rect">
            <a:avLst/>
          </a:prstGeom>
          <a:noFill/>
          <a:ln/>
        </p:spPr>
        <p:txBody>
          <a:bodyPr wrap="square" lIns="0" tIns="0" rIns="0" bIns="0" rtlCol="0" anchor="t"/>
          <a:lstStyle/>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def percentage(marks, out_of=100):</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"""Return the percentage for a list of marks."""</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return sum(marks) / (len(marks) * out_of) * 100</a:t>
            </a:r>
            <a:endParaRPr lang="en-US" sz="900" dirty="0"/>
          </a:p>
          <a:p>
            <a:pPr indent="0" marL="0">
              <a:lnSpc>
                <a:spcPct val="112000"/>
              </a:lnSpc>
              <a:buNone/>
            </a:pP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def grade(pct):</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"""Map a percentage to a letter grade."""</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if not 0 &lt;= pct &lt;= 100:</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return "invalid"          # early return</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if pct &gt;= 75: return "A"</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elif pct &gt;= 60: return "B"</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elif pct &gt;= 40: return "C"</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return "F"</a:t>
            </a:r>
            <a:endParaRPr lang="en-US" sz="900" dirty="0"/>
          </a:p>
          <a:p>
            <a:pPr indent="0" marL="0">
              <a:lnSpc>
                <a:spcPct val="112000"/>
              </a:lnSpc>
              <a:buNone/>
            </a:pP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def report(name, marks):</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"""Print one student's result line."""</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pct = percentage(marks)</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print(f"{name:8} {pct:6.2f}%   {grade(pct)}")</a:t>
            </a:r>
            <a:endParaRPr lang="en-US" sz="900" dirty="0"/>
          </a:p>
          <a:p>
            <a:pPr indent="0" marL="0">
              <a:lnSpc>
                <a:spcPct val="112000"/>
              </a:lnSpc>
              <a:buNone/>
            </a:pP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students = {"Ravi": [88, 71, 64], "Sara": [91, 84, 79]}</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for name, marks in students.items():</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report(name, marks)</a:t>
            </a:r>
            <a:endParaRPr lang="en-US" sz="900" dirty="0"/>
          </a:p>
        </p:txBody>
      </p:sp>
      <p:sp>
        <p:nvSpPr>
          <p:cNvPr id="8" name="Shape 6"/>
          <p:cNvSpPr/>
          <p:nvPr/>
        </p:nvSpPr>
        <p:spPr>
          <a:xfrm>
            <a:off x="7406640" y="1572768"/>
            <a:ext cx="4206240" cy="548640"/>
          </a:xfrm>
          <a:prstGeom prst="roundRect">
            <a:avLst>
              <a:gd name="adj" fmla="val 1500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9" name="Shape 7"/>
          <p:cNvSpPr/>
          <p:nvPr/>
        </p:nvSpPr>
        <p:spPr>
          <a:xfrm>
            <a:off x="7562088" y="1691640"/>
            <a:ext cx="128016" cy="310896"/>
          </a:xfrm>
          <a:prstGeom prst="roundRect">
            <a:avLst>
              <a:gd name="adj" fmla="val 35714"/>
            </a:avLst>
          </a:prstGeom>
          <a:solidFill>
            <a:srgbClr val="3E7CB1"/>
          </a:solidFill>
          <a:ln w="12700">
            <a:solidFill>
              <a:srgbClr val="333333"/>
            </a:solidFill>
            <a:prstDash val="solid"/>
          </a:ln>
        </p:spPr>
      </p:sp>
      <p:sp>
        <p:nvSpPr>
          <p:cNvPr id="10" name="Text 8"/>
          <p:cNvSpPr txBox="1"/>
          <p:nvPr/>
        </p:nvSpPr>
        <p:spPr>
          <a:xfrm>
            <a:off x="7818120" y="1627632"/>
            <a:ext cx="2194560" cy="256032"/>
          </a:xfrm>
          <a:prstGeom prst="rect">
            <a:avLst/>
          </a:prstGeom>
          <a:noFill/>
          <a:ln/>
        </p:spPr>
        <p:txBody>
          <a:bodyPr wrap="square" lIns="0" tIns="0" rIns="0" bIns="0" rtlCol="0" anchor="ctr"/>
          <a:lstStyle/>
          <a:p>
            <a:pPr indent="0" marL="0">
              <a:buNone/>
            </a:pPr>
            <a:r>
              <a:rPr lang="en-US" sz="1200" b="1" dirty="0">
                <a:solidFill>
                  <a:srgbClr val="1F3A5F"/>
                </a:solidFill>
                <a:latin typeface="Calibri" pitchFamily="34" charset="0"/>
                <a:ea typeface="Calibri" pitchFamily="34" charset="-122"/>
                <a:cs typeface="Calibri" pitchFamily="34" charset="-120"/>
              </a:rPr>
              <a:t>Three small functions</a:t>
            </a:r>
            <a:endParaRPr lang="en-US" sz="1200" dirty="0"/>
          </a:p>
        </p:txBody>
      </p:sp>
      <p:sp>
        <p:nvSpPr>
          <p:cNvPr id="11" name="Text 9"/>
          <p:cNvSpPr txBox="1"/>
          <p:nvPr/>
        </p:nvSpPr>
        <p:spPr>
          <a:xfrm>
            <a:off x="7818120" y="1856232"/>
            <a:ext cx="3657600" cy="237744"/>
          </a:xfrm>
          <a:prstGeom prst="rect">
            <a:avLst/>
          </a:prstGeom>
          <a:noFill/>
          <a:ln/>
        </p:spPr>
        <p:txBody>
          <a:bodyPr wrap="square" lIns="0" tIns="0" rIns="0" bIns="0" rtlCol="0" anchor="ctr"/>
          <a:lstStyle/>
          <a:p>
            <a:pPr indent="0" marL="0">
              <a:buNone/>
            </a:pPr>
            <a:r>
              <a:rPr lang="en-US" sz="1050" dirty="0">
                <a:solidFill>
                  <a:srgbClr val="6B7789"/>
                </a:solidFill>
                <a:latin typeface="Calibri" pitchFamily="34" charset="0"/>
                <a:ea typeface="Calibri" pitchFamily="34" charset="-122"/>
                <a:cs typeface="Calibri" pitchFamily="34" charset="-120"/>
              </a:rPr>
              <a:t>Each does exactly one job</a:t>
            </a:r>
            <a:endParaRPr lang="en-US" sz="1050" dirty="0"/>
          </a:p>
        </p:txBody>
      </p:sp>
      <p:sp>
        <p:nvSpPr>
          <p:cNvPr id="12" name="Shape 10"/>
          <p:cNvSpPr/>
          <p:nvPr/>
        </p:nvSpPr>
        <p:spPr>
          <a:xfrm>
            <a:off x="7406640" y="2231136"/>
            <a:ext cx="4206240" cy="548640"/>
          </a:xfrm>
          <a:prstGeom prst="roundRect">
            <a:avLst>
              <a:gd name="adj" fmla="val 1500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3" name="Shape 11"/>
          <p:cNvSpPr/>
          <p:nvPr/>
        </p:nvSpPr>
        <p:spPr>
          <a:xfrm>
            <a:off x="7562088" y="2350008"/>
            <a:ext cx="128016" cy="310896"/>
          </a:xfrm>
          <a:prstGeom prst="roundRect">
            <a:avLst>
              <a:gd name="adj" fmla="val 35714"/>
            </a:avLst>
          </a:prstGeom>
          <a:solidFill>
            <a:srgbClr val="3E7CB1"/>
          </a:solidFill>
          <a:ln w="12700">
            <a:solidFill>
              <a:srgbClr val="333333"/>
            </a:solidFill>
            <a:prstDash val="solid"/>
          </a:ln>
        </p:spPr>
      </p:sp>
      <p:sp>
        <p:nvSpPr>
          <p:cNvPr id="14" name="Text 12"/>
          <p:cNvSpPr txBox="1"/>
          <p:nvPr/>
        </p:nvSpPr>
        <p:spPr>
          <a:xfrm>
            <a:off x="7818120" y="2286000"/>
            <a:ext cx="2194560" cy="256032"/>
          </a:xfrm>
          <a:prstGeom prst="rect">
            <a:avLst/>
          </a:prstGeom>
          <a:noFill/>
          <a:ln/>
        </p:spPr>
        <p:txBody>
          <a:bodyPr wrap="square" lIns="0" tIns="0" rIns="0" bIns="0" rtlCol="0" anchor="ctr"/>
          <a:lstStyle/>
          <a:p>
            <a:pPr indent="0" marL="0">
              <a:buNone/>
            </a:pPr>
            <a:r>
              <a:rPr lang="en-US" sz="1200" b="1" dirty="0">
                <a:solidFill>
                  <a:srgbClr val="1F3A5F"/>
                </a:solidFill>
                <a:latin typeface="Calibri" pitchFamily="34" charset="0"/>
                <a:ea typeface="Calibri" pitchFamily="34" charset="-122"/>
                <a:cs typeface="Calibri" pitchFamily="34" charset="-120"/>
              </a:rPr>
              <a:t>Docstrings</a:t>
            </a:r>
            <a:endParaRPr lang="en-US" sz="1200" dirty="0"/>
          </a:p>
        </p:txBody>
      </p:sp>
      <p:sp>
        <p:nvSpPr>
          <p:cNvPr id="15" name="Text 13"/>
          <p:cNvSpPr txBox="1"/>
          <p:nvPr/>
        </p:nvSpPr>
        <p:spPr>
          <a:xfrm>
            <a:off x="7818120" y="2514600"/>
            <a:ext cx="3657600" cy="237744"/>
          </a:xfrm>
          <a:prstGeom prst="rect">
            <a:avLst/>
          </a:prstGeom>
          <a:noFill/>
          <a:ln/>
        </p:spPr>
        <p:txBody>
          <a:bodyPr wrap="square" lIns="0" tIns="0" rIns="0" bIns="0" rtlCol="0" anchor="ctr"/>
          <a:lstStyle/>
          <a:p>
            <a:pPr indent="0" marL="0">
              <a:buNone/>
            </a:pPr>
            <a:r>
              <a:rPr lang="en-US" sz="1050" dirty="0">
                <a:solidFill>
                  <a:srgbClr val="6B7789"/>
                </a:solidFill>
                <a:latin typeface="Calibri" pitchFamily="34" charset="0"/>
                <a:ea typeface="Calibri" pitchFamily="34" charset="-122"/>
                <a:cs typeface="Calibri" pitchFamily="34" charset="-120"/>
              </a:rPr>
              <a:t>One line each is enough</a:t>
            </a:r>
            <a:endParaRPr lang="en-US" sz="1050" dirty="0"/>
          </a:p>
        </p:txBody>
      </p:sp>
      <p:sp>
        <p:nvSpPr>
          <p:cNvPr id="16" name="Shape 14"/>
          <p:cNvSpPr/>
          <p:nvPr/>
        </p:nvSpPr>
        <p:spPr>
          <a:xfrm>
            <a:off x="7406640" y="2889504"/>
            <a:ext cx="4206240" cy="548640"/>
          </a:xfrm>
          <a:prstGeom prst="roundRect">
            <a:avLst>
              <a:gd name="adj" fmla="val 1500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7" name="Shape 15"/>
          <p:cNvSpPr/>
          <p:nvPr/>
        </p:nvSpPr>
        <p:spPr>
          <a:xfrm>
            <a:off x="7562088" y="3008376"/>
            <a:ext cx="128016" cy="310896"/>
          </a:xfrm>
          <a:prstGeom prst="roundRect">
            <a:avLst>
              <a:gd name="adj" fmla="val 35714"/>
            </a:avLst>
          </a:prstGeom>
          <a:solidFill>
            <a:srgbClr val="2FA98C"/>
          </a:solidFill>
          <a:ln w="12700">
            <a:solidFill>
              <a:srgbClr val="333333"/>
            </a:solidFill>
            <a:prstDash val="solid"/>
          </a:ln>
        </p:spPr>
      </p:sp>
      <p:sp>
        <p:nvSpPr>
          <p:cNvPr id="18" name="Text 16"/>
          <p:cNvSpPr txBox="1"/>
          <p:nvPr/>
        </p:nvSpPr>
        <p:spPr>
          <a:xfrm>
            <a:off x="7818120" y="2944368"/>
            <a:ext cx="2194560" cy="256032"/>
          </a:xfrm>
          <a:prstGeom prst="rect">
            <a:avLst/>
          </a:prstGeom>
          <a:noFill/>
          <a:ln/>
        </p:spPr>
        <p:txBody>
          <a:bodyPr wrap="square" lIns="0" tIns="0" rIns="0" bIns="0" rtlCol="0" anchor="ctr"/>
          <a:lstStyle/>
          <a:p>
            <a:pPr indent="0" marL="0">
              <a:buNone/>
            </a:pPr>
            <a:r>
              <a:rPr lang="en-US" sz="1200" b="1" dirty="0">
                <a:solidFill>
                  <a:srgbClr val="1F3A5F"/>
                </a:solidFill>
                <a:latin typeface="Calibri" pitchFamily="34" charset="0"/>
                <a:ea typeface="Calibri" pitchFamily="34" charset="-122"/>
                <a:cs typeface="Calibri" pitchFamily="34" charset="-120"/>
              </a:rPr>
              <a:t>Default argument</a:t>
            </a:r>
            <a:endParaRPr lang="en-US" sz="1200" dirty="0"/>
          </a:p>
        </p:txBody>
      </p:sp>
      <p:sp>
        <p:nvSpPr>
          <p:cNvPr id="19" name="Text 17"/>
          <p:cNvSpPr txBox="1"/>
          <p:nvPr/>
        </p:nvSpPr>
        <p:spPr>
          <a:xfrm>
            <a:off x="7818120" y="3172968"/>
            <a:ext cx="3657600" cy="237744"/>
          </a:xfrm>
          <a:prstGeom prst="rect">
            <a:avLst/>
          </a:prstGeom>
          <a:noFill/>
          <a:ln/>
        </p:spPr>
        <p:txBody>
          <a:bodyPr wrap="square" lIns="0" tIns="0" rIns="0" bIns="0" rtlCol="0" anchor="ctr"/>
          <a:lstStyle/>
          <a:p>
            <a:pPr indent="0" marL="0">
              <a:buNone/>
            </a:pPr>
            <a:r>
              <a:rPr lang="en-US" sz="1050" dirty="0">
                <a:solidFill>
                  <a:srgbClr val="6B7789"/>
                </a:solidFill>
                <a:latin typeface="Calibri" pitchFamily="34" charset="0"/>
                <a:ea typeface="Calibri" pitchFamily="34" charset="-122"/>
                <a:cs typeface="Calibri" pitchFamily="34" charset="-120"/>
              </a:rPr>
              <a:t>out_of=100 keeps calls short</a:t>
            </a:r>
            <a:endParaRPr lang="en-US" sz="1050" dirty="0"/>
          </a:p>
        </p:txBody>
      </p:sp>
      <p:sp>
        <p:nvSpPr>
          <p:cNvPr id="20" name="Shape 18"/>
          <p:cNvSpPr/>
          <p:nvPr/>
        </p:nvSpPr>
        <p:spPr>
          <a:xfrm>
            <a:off x="7406640" y="3547872"/>
            <a:ext cx="4206240" cy="548640"/>
          </a:xfrm>
          <a:prstGeom prst="roundRect">
            <a:avLst>
              <a:gd name="adj" fmla="val 1500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1" name="Shape 19"/>
          <p:cNvSpPr/>
          <p:nvPr/>
        </p:nvSpPr>
        <p:spPr>
          <a:xfrm>
            <a:off x="7562088" y="3666744"/>
            <a:ext cx="128016" cy="310896"/>
          </a:xfrm>
          <a:prstGeom prst="roundRect">
            <a:avLst>
              <a:gd name="adj" fmla="val 35714"/>
            </a:avLst>
          </a:prstGeom>
          <a:solidFill>
            <a:srgbClr val="2FA98C"/>
          </a:solidFill>
          <a:ln w="12700">
            <a:solidFill>
              <a:srgbClr val="333333"/>
            </a:solidFill>
            <a:prstDash val="solid"/>
          </a:ln>
        </p:spPr>
      </p:sp>
      <p:sp>
        <p:nvSpPr>
          <p:cNvPr id="22" name="Text 20"/>
          <p:cNvSpPr txBox="1"/>
          <p:nvPr/>
        </p:nvSpPr>
        <p:spPr>
          <a:xfrm>
            <a:off x="7818120" y="3602736"/>
            <a:ext cx="2194560" cy="256032"/>
          </a:xfrm>
          <a:prstGeom prst="rect">
            <a:avLst/>
          </a:prstGeom>
          <a:noFill/>
          <a:ln/>
        </p:spPr>
        <p:txBody>
          <a:bodyPr wrap="square" lIns="0" tIns="0" rIns="0" bIns="0" rtlCol="0" anchor="ctr"/>
          <a:lstStyle/>
          <a:p>
            <a:pPr indent="0" marL="0">
              <a:buNone/>
            </a:pPr>
            <a:r>
              <a:rPr lang="en-US" sz="1200" b="1" dirty="0">
                <a:solidFill>
                  <a:srgbClr val="1F3A5F"/>
                </a:solidFill>
                <a:latin typeface="Calibri" pitchFamily="34" charset="0"/>
                <a:ea typeface="Calibri" pitchFamily="34" charset="-122"/>
                <a:cs typeface="Calibri" pitchFamily="34" charset="-120"/>
              </a:rPr>
              <a:t>Early return</a:t>
            </a:r>
            <a:endParaRPr lang="en-US" sz="1200" dirty="0"/>
          </a:p>
        </p:txBody>
      </p:sp>
      <p:sp>
        <p:nvSpPr>
          <p:cNvPr id="23" name="Text 21"/>
          <p:cNvSpPr txBox="1"/>
          <p:nvPr/>
        </p:nvSpPr>
        <p:spPr>
          <a:xfrm>
            <a:off x="7818120" y="3831336"/>
            <a:ext cx="3657600" cy="237744"/>
          </a:xfrm>
          <a:prstGeom prst="rect">
            <a:avLst/>
          </a:prstGeom>
          <a:noFill/>
          <a:ln/>
        </p:spPr>
        <p:txBody>
          <a:bodyPr wrap="square" lIns="0" tIns="0" rIns="0" bIns="0" rtlCol="0" anchor="ctr"/>
          <a:lstStyle/>
          <a:p>
            <a:pPr indent="0" marL="0">
              <a:buNone/>
            </a:pPr>
            <a:r>
              <a:rPr lang="en-US" sz="1050" dirty="0">
                <a:solidFill>
                  <a:srgbClr val="6B7789"/>
                </a:solidFill>
                <a:latin typeface="Calibri" pitchFamily="34" charset="0"/>
                <a:ea typeface="Calibri" pitchFamily="34" charset="-122"/>
                <a:cs typeface="Calibri" pitchFamily="34" charset="-120"/>
              </a:rPr>
              <a:t>Invalid input leaves immediately</a:t>
            </a:r>
            <a:endParaRPr lang="en-US" sz="1050" dirty="0"/>
          </a:p>
        </p:txBody>
      </p:sp>
      <p:sp>
        <p:nvSpPr>
          <p:cNvPr id="24" name="Shape 22"/>
          <p:cNvSpPr/>
          <p:nvPr/>
        </p:nvSpPr>
        <p:spPr>
          <a:xfrm>
            <a:off x="7406640" y="4206240"/>
            <a:ext cx="4206240" cy="548640"/>
          </a:xfrm>
          <a:prstGeom prst="roundRect">
            <a:avLst>
              <a:gd name="adj" fmla="val 1500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5" name="Shape 23"/>
          <p:cNvSpPr/>
          <p:nvPr/>
        </p:nvSpPr>
        <p:spPr>
          <a:xfrm>
            <a:off x="7562088" y="4325112"/>
            <a:ext cx="128016" cy="310896"/>
          </a:xfrm>
          <a:prstGeom prst="roundRect">
            <a:avLst>
              <a:gd name="adj" fmla="val 35714"/>
            </a:avLst>
          </a:prstGeom>
          <a:solidFill>
            <a:srgbClr val="FFC145"/>
          </a:solidFill>
          <a:ln w="12700">
            <a:solidFill>
              <a:srgbClr val="333333"/>
            </a:solidFill>
            <a:prstDash val="solid"/>
          </a:ln>
        </p:spPr>
      </p:sp>
      <p:sp>
        <p:nvSpPr>
          <p:cNvPr id="26" name="Text 24"/>
          <p:cNvSpPr txBox="1"/>
          <p:nvPr/>
        </p:nvSpPr>
        <p:spPr>
          <a:xfrm>
            <a:off x="7818120" y="4261104"/>
            <a:ext cx="2194560" cy="256032"/>
          </a:xfrm>
          <a:prstGeom prst="rect">
            <a:avLst/>
          </a:prstGeom>
          <a:noFill/>
          <a:ln/>
        </p:spPr>
        <p:txBody>
          <a:bodyPr wrap="square" lIns="0" tIns="0" rIns="0" bIns="0" rtlCol="0" anchor="ctr"/>
          <a:lstStyle/>
          <a:p>
            <a:pPr indent="0" marL="0">
              <a:buNone/>
            </a:pPr>
            <a:r>
              <a:rPr lang="en-US" sz="1200" b="1" dirty="0">
                <a:solidFill>
                  <a:srgbClr val="1F3A5F"/>
                </a:solidFill>
                <a:latin typeface="Calibri" pitchFamily="34" charset="0"/>
                <a:ea typeface="Calibri" pitchFamily="34" charset="-122"/>
                <a:cs typeface="Calibri" pitchFamily="34" charset="-120"/>
              </a:rPr>
              <a:t>Composition</a:t>
            </a:r>
            <a:endParaRPr lang="en-US" sz="1200" dirty="0"/>
          </a:p>
        </p:txBody>
      </p:sp>
      <p:sp>
        <p:nvSpPr>
          <p:cNvPr id="27" name="Text 25"/>
          <p:cNvSpPr txBox="1"/>
          <p:nvPr/>
        </p:nvSpPr>
        <p:spPr>
          <a:xfrm>
            <a:off x="7818120" y="4489704"/>
            <a:ext cx="3657600" cy="237744"/>
          </a:xfrm>
          <a:prstGeom prst="rect">
            <a:avLst/>
          </a:prstGeom>
          <a:noFill/>
          <a:ln/>
        </p:spPr>
        <p:txBody>
          <a:bodyPr wrap="square" lIns="0" tIns="0" rIns="0" bIns="0" rtlCol="0" anchor="ctr"/>
          <a:lstStyle/>
          <a:p>
            <a:pPr indent="0" marL="0">
              <a:buNone/>
            </a:pPr>
            <a:r>
              <a:rPr lang="en-US" sz="1050" dirty="0">
                <a:solidFill>
                  <a:srgbClr val="6B7789"/>
                </a:solidFill>
                <a:latin typeface="Calibri" pitchFamily="34" charset="0"/>
                <a:ea typeface="Calibri" pitchFamily="34" charset="-122"/>
                <a:cs typeface="Calibri" pitchFamily="34" charset="-120"/>
              </a:rPr>
              <a:t>report() calls the other two</a:t>
            </a:r>
            <a:endParaRPr lang="en-US" sz="1050" dirty="0"/>
          </a:p>
        </p:txBody>
      </p:sp>
      <p:sp>
        <p:nvSpPr>
          <p:cNvPr id="28" name="Shape 26"/>
          <p:cNvSpPr/>
          <p:nvPr/>
        </p:nvSpPr>
        <p:spPr>
          <a:xfrm>
            <a:off x="7406640" y="4864608"/>
            <a:ext cx="4206240" cy="548640"/>
          </a:xfrm>
          <a:prstGeom prst="roundRect">
            <a:avLst>
              <a:gd name="adj" fmla="val 1500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9" name="Shape 27"/>
          <p:cNvSpPr/>
          <p:nvPr/>
        </p:nvSpPr>
        <p:spPr>
          <a:xfrm>
            <a:off x="7562088" y="4983480"/>
            <a:ext cx="128016" cy="310896"/>
          </a:xfrm>
          <a:prstGeom prst="roundRect">
            <a:avLst>
              <a:gd name="adj" fmla="val 35714"/>
            </a:avLst>
          </a:prstGeom>
          <a:solidFill>
            <a:srgbClr val="3E7CB1"/>
          </a:solidFill>
          <a:ln w="12700">
            <a:solidFill>
              <a:srgbClr val="333333"/>
            </a:solidFill>
            <a:prstDash val="solid"/>
          </a:ln>
        </p:spPr>
      </p:sp>
      <p:sp>
        <p:nvSpPr>
          <p:cNvPr id="30" name="Text 28"/>
          <p:cNvSpPr txBox="1"/>
          <p:nvPr/>
        </p:nvSpPr>
        <p:spPr>
          <a:xfrm>
            <a:off x="7818120" y="4919472"/>
            <a:ext cx="2194560" cy="256032"/>
          </a:xfrm>
          <a:prstGeom prst="rect">
            <a:avLst/>
          </a:prstGeom>
          <a:noFill/>
          <a:ln/>
        </p:spPr>
        <p:txBody>
          <a:bodyPr wrap="square" lIns="0" tIns="0" rIns="0" bIns="0" rtlCol="0" anchor="ctr"/>
          <a:lstStyle/>
          <a:p>
            <a:pPr indent="0" marL="0">
              <a:buNone/>
            </a:pPr>
            <a:r>
              <a:rPr lang="en-US" sz="1200" b="1" dirty="0">
                <a:solidFill>
                  <a:srgbClr val="1F3A5F"/>
                </a:solidFill>
                <a:latin typeface="Calibri" pitchFamily="34" charset="0"/>
                <a:ea typeface="Calibri" pitchFamily="34" charset="-122"/>
                <a:cs typeface="Calibri" pitchFamily="34" charset="-120"/>
              </a:rPr>
              <a:t>Day 2's loop</a:t>
            </a:r>
            <a:endParaRPr lang="en-US" sz="1200" dirty="0"/>
          </a:p>
        </p:txBody>
      </p:sp>
      <p:sp>
        <p:nvSpPr>
          <p:cNvPr id="31" name="Text 29"/>
          <p:cNvSpPr txBox="1"/>
          <p:nvPr/>
        </p:nvSpPr>
        <p:spPr>
          <a:xfrm>
            <a:off x="7818120" y="5148072"/>
            <a:ext cx="3657600" cy="237744"/>
          </a:xfrm>
          <a:prstGeom prst="rect">
            <a:avLst/>
          </a:prstGeom>
          <a:noFill/>
          <a:ln/>
        </p:spPr>
        <p:txBody>
          <a:bodyPr wrap="square" lIns="0" tIns="0" rIns="0" bIns="0" rtlCol="0" anchor="ctr"/>
          <a:lstStyle/>
          <a:p>
            <a:pPr indent="0" marL="0">
              <a:buNone/>
            </a:pPr>
            <a:r>
              <a:rPr lang="en-US" sz="1050" dirty="0">
                <a:solidFill>
                  <a:srgbClr val="6B7789"/>
                </a:solidFill>
                <a:latin typeface="Calibri" pitchFamily="34" charset="0"/>
                <a:ea typeface="Calibri" pitchFamily="34" charset="-122"/>
                <a:cs typeface="Calibri" pitchFamily="34" charset="-120"/>
              </a:rPr>
              <a:t>for + .items() drives it all</a:t>
            </a:r>
            <a:endParaRPr lang="en-US" sz="1050" dirty="0"/>
          </a:p>
        </p:txBody>
      </p:sp>
      <p:sp>
        <p:nvSpPr>
          <p:cNvPr id="32" name="Text 30"/>
          <p:cNvSpPr txBox="1"/>
          <p:nvPr/>
        </p:nvSpPr>
        <p:spPr>
          <a:xfrm>
            <a:off x="548640" y="5532120"/>
            <a:ext cx="6583680" cy="365760"/>
          </a:xfrm>
          <a:prstGeom prst="rect">
            <a:avLst/>
          </a:prstGeom>
          <a:noFill/>
          <a:ln/>
        </p:spPr>
        <p:txBody>
          <a:bodyPr wrap="square" lIns="0" tIns="0" rIns="0" bIns="0" rtlCol="0" anchor="ctr"/>
          <a:lstStyle/>
          <a:p>
            <a:pPr indent="0" marL="0">
              <a:buNone/>
            </a:pPr>
            <a:r>
              <a:rPr lang="en-US" sz="1200" i="1" dirty="0">
                <a:solidFill>
                  <a:srgbClr val="6B7789"/>
                </a:solidFill>
                <a:latin typeface="Calibri" pitchFamily="34" charset="0"/>
                <a:ea typeface="Calibri" pitchFamily="34" charset="-122"/>
                <a:cs typeface="Calibri" pitchFamily="34" charset="-120"/>
              </a:rPr>
              <a:t>Compare this with the single long block from Day 1. Same output — but now each piece can be tested, reused and fixed on its own.</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OVER TO YOU</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Practice session — 30 minutes</a:t>
            </a:r>
            <a:endParaRPr lang="en-US" sz="3200" dirty="0"/>
          </a:p>
        </p:txBody>
      </p:sp>
      <p:sp>
        <p:nvSpPr>
          <p:cNvPr id="5" name="Shape 3"/>
          <p:cNvSpPr/>
          <p:nvPr/>
        </p:nvSpPr>
        <p:spPr>
          <a:xfrm>
            <a:off x="548640" y="1691640"/>
            <a:ext cx="7589520" cy="896112"/>
          </a:xfrm>
          <a:prstGeom prst="roundRect">
            <a:avLst>
              <a:gd name="adj" fmla="val 9184"/>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777240" y="1938528"/>
            <a:ext cx="420624" cy="420624"/>
          </a:xfrm>
          <a:prstGeom prst="ellipse">
            <a:avLst/>
          </a:prstGeom>
          <a:solidFill>
            <a:srgbClr val="3E7CB1"/>
          </a:solidFill>
          <a:ln w="12700">
            <a:solidFill>
              <a:srgbClr val="3E7CB1"/>
            </a:solidFill>
            <a:prstDash val="solid"/>
          </a:ln>
        </p:spPr>
      </p:sp>
      <p:sp>
        <p:nvSpPr>
          <p:cNvPr id="7" name="Text 5"/>
          <p:cNvSpPr txBox="1"/>
          <p:nvPr/>
        </p:nvSpPr>
        <p:spPr>
          <a:xfrm>
            <a:off x="777240" y="193852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8" name="Text 6"/>
          <p:cNvSpPr txBox="1"/>
          <p:nvPr/>
        </p:nvSpPr>
        <p:spPr>
          <a:xfrm>
            <a:off x="1371600" y="1801368"/>
            <a:ext cx="3017520" cy="3200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Predict the output</a:t>
            </a:r>
            <a:endParaRPr lang="en-US" sz="1500" dirty="0"/>
          </a:p>
        </p:txBody>
      </p:sp>
      <p:sp>
        <p:nvSpPr>
          <p:cNvPr id="9" name="Text 7"/>
          <p:cNvSpPr txBox="1"/>
          <p:nvPr/>
        </p:nvSpPr>
        <p:spPr>
          <a:xfrm>
            <a:off x="1371600" y="2148840"/>
            <a:ext cx="5120640" cy="301752"/>
          </a:xfrm>
          <a:prstGeom prst="rect">
            <a:avLst/>
          </a:prstGeom>
          <a:noFill/>
          <a:ln/>
        </p:spPr>
        <p:txBody>
          <a:bodyPr wrap="square" lIns="0" tIns="0" rIns="0" bIns="0" rtlCol="0" anchor="ctr"/>
          <a:lstStyle/>
          <a:p>
            <a:pPr indent="0" marL="0">
              <a:buNone/>
            </a:pPr>
            <a:r>
              <a:rPr lang="en-US" sz="1200" dirty="0">
                <a:solidFill>
                  <a:srgbClr val="6B7789"/>
                </a:solidFill>
                <a:latin typeface="Calibri" pitchFamily="34" charset="0"/>
                <a:ea typeface="Calibri" pitchFamily="34" charset="-122"/>
                <a:cs typeface="Calibri" pitchFamily="34" charset="-120"/>
              </a:rPr>
              <a:t>Watch for None, scope and defaults</a:t>
            </a:r>
            <a:endParaRPr lang="en-US" sz="1200" dirty="0"/>
          </a:p>
        </p:txBody>
      </p:sp>
      <p:sp>
        <p:nvSpPr>
          <p:cNvPr id="10" name="Text 8"/>
          <p:cNvSpPr txBox="1"/>
          <p:nvPr/>
        </p:nvSpPr>
        <p:spPr>
          <a:xfrm>
            <a:off x="6400800" y="1947672"/>
            <a:ext cx="146304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8 questions</a:t>
            </a:r>
            <a:endParaRPr lang="en-US" sz="1300" dirty="0"/>
          </a:p>
        </p:txBody>
      </p:sp>
      <p:sp>
        <p:nvSpPr>
          <p:cNvPr id="11" name="Shape 9"/>
          <p:cNvSpPr/>
          <p:nvPr/>
        </p:nvSpPr>
        <p:spPr>
          <a:xfrm>
            <a:off x="548640" y="2715768"/>
            <a:ext cx="7589520" cy="896112"/>
          </a:xfrm>
          <a:prstGeom prst="roundRect">
            <a:avLst>
              <a:gd name="adj" fmla="val 9184"/>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2" name="Shape 10"/>
          <p:cNvSpPr/>
          <p:nvPr/>
        </p:nvSpPr>
        <p:spPr>
          <a:xfrm>
            <a:off x="777240" y="2962656"/>
            <a:ext cx="420624" cy="420624"/>
          </a:xfrm>
          <a:prstGeom prst="ellipse">
            <a:avLst/>
          </a:prstGeom>
          <a:solidFill>
            <a:srgbClr val="E8674C"/>
          </a:solidFill>
          <a:ln w="12700">
            <a:solidFill>
              <a:srgbClr val="E8674C"/>
            </a:solidFill>
            <a:prstDash val="solid"/>
          </a:ln>
        </p:spPr>
      </p:sp>
      <p:sp>
        <p:nvSpPr>
          <p:cNvPr id="13" name="Text 11"/>
          <p:cNvSpPr txBox="1"/>
          <p:nvPr/>
        </p:nvSpPr>
        <p:spPr>
          <a:xfrm>
            <a:off x="777240" y="296265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4" name="Text 12"/>
          <p:cNvSpPr txBox="1"/>
          <p:nvPr/>
        </p:nvSpPr>
        <p:spPr>
          <a:xfrm>
            <a:off x="1371600" y="2825496"/>
            <a:ext cx="3017520" cy="3200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Spot &amp; fix the bug</a:t>
            </a:r>
            <a:endParaRPr lang="en-US" sz="1500" dirty="0"/>
          </a:p>
        </p:txBody>
      </p:sp>
      <p:sp>
        <p:nvSpPr>
          <p:cNvPr id="15" name="Text 13"/>
          <p:cNvSpPr txBox="1"/>
          <p:nvPr/>
        </p:nvSpPr>
        <p:spPr>
          <a:xfrm>
            <a:off x="1371600" y="3172968"/>
            <a:ext cx="5120640" cy="301752"/>
          </a:xfrm>
          <a:prstGeom prst="rect">
            <a:avLst/>
          </a:prstGeom>
          <a:noFill/>
          <a:ln/>
        </p:spPr>
        <p:txBody>
          <a:bodyPr wrap="square" lIns="0" tIns="0" rIns="0" bIns="0" rtlCol="0" anchor="ctr"/>
          <a:lstStyle/>
          <a:p>
            <a:pPr indent="0" marL="0">
              <a:buNone/>
            </a:pPr>
            <a:r>
              <a:rPr lang="en-US" sz="1200" dirty="0">
                <a:solidFill>
                  <a:srgbClr val="6B7789"/>
                </a:solidFill>
                <a:latin typeface="Calibri" pitchFamily="34" charset="0"/>
                <a:ea typeface="Calibri" pitchFamily="34" charset="-122"/>
                <a:cs typeface="Calibri" pitchFamily="34" charset="-120"/>
              </a:rPr>
              <a:t>print vs return, mutable default, UnboundLocal</a:t>
            </a:r>
            <a:endParaRPr lang="en-US" sz="1200" dirty="0"/>
          </a:p>
        </p:txBody>
      </p:sp>
      <p:sp>
        <p:nvSpPr>
          <p:cNvPr id="16" name="Text 14"/>
          <p:cNvSpPr txBox="1"/>
          <p:nvPr/>
        </p:nvSpPr>
        <p:spPr>
          <a:xfrm>
            <a:off x="6400800" y="2971800"/>
            <a:ext cx="146304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4 questions</a:t>
            </a:r>
            <a:endParaRPr lang="en-US" sz="1300" dirty="0"/>
          </a:p>
        </p:txBody>
      </p:sp>
      <p:sp>
        <p:nvSpPr>
          <p:cNvPr id="17" name="Shape 15"/>
          <p:cNvSpPr/>
          <p:nvPr/>
        </p:nvSpPr>
        <p:spPr>
          <a:xfrm>
            <a:off x="548640" y="3739896"/>
            <a:ext cx="7589520" cy="896112"/>
          </a:xfrm>
          <a:prstGeom prst="roundRect">
            <a:avLst>
              <a:gd name="adj" fmla="val 9184"/>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8" name="Shape 16"/>
          <p:cNvSpPr/>
          <p:nvPr/>
        </p:nvSpPr>
        <p:spPr>
          <a:xfrm>
            <a:off x="777240" y="3986784"/>
            <a:ext cx="420624" cy="420624"/>
          </a:xfrm>
          <a:prstGeom prst="ellipse">
            <a:avLst/>
          </a:prstGeom>
          <a:solidFill>
            <a:srgbClr val="2FA98C"/>
          </a:solidFill>
          <a:ln w="12700">
            <a:solidFill>
              <a:srgbClr val="2FA98C"/>
            </a:solidFill>
            <a:prstDash val="solid"/>
          </a:ln>
        </p:spPr>
      </p:sp>
      <p:sp>
        <p:nvSpPr>
          <p:cNvPr id="19" name="Text 17"/>
          <p:cNvSpPr txBox="1"/>
          <p:nvPr/>
        </p:nvSpPr>
        <p:spPr>
          <a:xfrm>
            <a:off x="777240" y="39867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0" name="Text 18"/>
          <p:cNvSpPr txBox="1"/>
          <p:nvPr/>
        </p:nvSpPr>
        <p:spPr>
          <a:xfrm>
            <a:off x="1371600" y="3849624"/>
            <a:ext cx="3017520" cy="3200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Write the code</a:t>
            </a:r>
            <a:endParaRPr lang="en-US" sz="1500" dirty="0"/>
          </a:p>
        </p:txBody>
      </p:sp>
      <p:sp>
        <p:nvSpPr>
          <p:cNvPr id="21" name="Text 19"/>
          <p:cNvSpPr txBox="1"/>
          <p:nvPr/>
        </p:nvSpPr>
        <p:spPr>
          <a:xfrm>
            <a:off x="1371600" y="4197096"/>
            <a:ext cx="5120640" cy="301752"/>
          </a:xfrm>
          <a:prstGeom prst="rect">
            <a:avLst/>
          </a:prstGeom>
          <a:noFill/>
          <a:ln/>
        </p:spPr>
        <p:txBody>
          <a:bodyPr wrap="square" lIns="0" tIns="0" rIns="0" bIns="0" rtlCol="0" anchor="ctr"/>
          <a:lstStyle/>
          <a:p>
            <a:pPr indent="0" marL="0">
              <a:buNone/>
            </a:pPr>
            <a:r>
              <a:rPr lang="en-US" sz="1200" dirty="0">
                <a:solidFill>
                  <a:srgbClr val="6B7789"/>
                </a:solidFill>
                <a:latin typeface="Calibri" pitchFamily="34" charset="0"/>
                <a:ea typeface="Calibri" pitchFamily="34" charset="-122"/>
                <a:cs typeface="Calibri" pitchFamily="34" charset="-120"/>
              </a:rPr>
              <a:t>Temperature, password check, stats, word count</a:t>
            </a:r>
            <a:endParaRPr lang="en-US" sz="1200" dirty="0"/>
          </a:p>
        </p:txBody>
      </p:sp>
      <p:sp>
        <p:nvSpPr>
          <p:cNvPr id="22" name="Text 20"/>
          <p:cNvSpPr txBox="1"/>
          <p:nvPr/>
        </p:nvSpPr>
        <p:spPr>
          <a:xfrm>
            <a:off x="6400800" y="3995928"/>
            <a:ext cx="146304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5 tasks</a:t>
            </a:r>
            <a:endParaRPr lang="en-US" sz="1300" dirty="0"/>
          </a:p>
        </p:txBody>
      </p:sp>
      <p:sp>
        <p:nvSpPr>
          <p:cNvPr id="23" name="Shape 21"/>
          <p:cNvSpPr/>
          <p:nvPr/>
        </p:nvSpPr>
        <p:spPr>
          <a:xfrm>
            <a:off x="548640" y="4764024"/>
            <a:ext cx="7589520" cy="896112"/>
          </a:xfrm>
          <a:prstGeom prst="roundRect">
            <a:avLst>
              <a:gd name="adj" fmla="val 9184"/>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4" name="Shape 22"/>
          <p:cNvSpPr/>
          <p:nvPr/>
        </p:nvSpPr>
        <p:spPr>
          <a:xfrm>
            <a:off x="777240" y="5010912"/>
            <a:ext cx="420624" cy="420624"/>
          </a:xfrm>
          <a:prstGeom prst="ellipse">
            <a:avLst/>
          </a:prstGeom>
          <a:solidFill>
            <a:srgbClr val="FFC145"/>
          </a:solidFill>
          <a:ln w="12700">
            <a:solidFill>
              <a:srgbClr val="FFC145"/>
            </a:solidFill>
            <a:prstDash val="solid"/>
          </a:ln>
        </p:spPr>
      </p:sp>
      <p:sp>
        <p:nvSpPr>
          <p:cNvPr id="25" name="Text 23"/>
          <p:cNvSpPr txBox="1"/>
          <p:nvPr/>
        </p:nvSpPr>
        <p:spPr>
          <a:xfrm>
            <a:off x="777240" y="5010912"/>
            <a:ext cx="420624" cy="42062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D</a:t>
            </a:r>
            <a:endParaRPr lang="en-US" sz="1300" dirty="0"/>
          </a:p>
        </p:txBody>
      </p:sp>
      <p:sp>
        <p:nvSpPr>
          <p:cNvPr id="26" name="Text 24"/>
          <p:cNvSpPr txBox="1"/>
          <p:nvPr/>
        </p:nvSpPr>
        <p:spPr>
          <a:xfrm>
            <a:off x="1371600" y="4873752"/>
            <a:ext cx="3017520" cy="3200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Challenge</a:t>
            </a:r>
            <a:endParaRPr lang="en-US" sz="1500" dirty="0"/>
          </a:p>
        </p:txBody>
      </p:sp>
      <p:sp>
        <p:nvSpPr>
          <p:cNvPr id="27" name="Text 25"/>
          <p:cNvSpPr txBox="1"/>
          <p:nvPr/>
        </p:nvSpPr>
        <p:spPr>
          <a:xfrm>
            <a:off x="1371600" y="5221224"/>
            <a:ext cx="5120640" cy="301752"/>
          </a:xfrm>
          <a:prstGeom prst="rect">
            <a:avLst/>
          </a:prstGeom>
          <a:noFill/>
          <a:ln/>
        </p:spPr>
        <p:txBody>
          <a:bodyPr wrap="square" lIns="0" tIns="0" rIns="0" bIns="0" rtlCol="0" anchor="ctr"/>
          <a:lstStyle/>
          <a:p>
            <a:pPr indent="0" marL="0">
              <a:buNone/>
            </a:pPr>
            <a:r>
              <a:rPr lang="en-US" sz="1200" dirty="0">
                <a:solidFill>
                  <a:srgbClr val="6B7789"/>
                </a:solidFill>
                <a:latin typeface="Calibri" pitchFamily="34" charset="0"/>
                <a:ea typeface="Calibri" pitchFamily="34" charset="-122"/>
                <a:cs typeface="Calibri" pitchFamily="34" charset="-120"/>
              </a:rPr>
              <a:t>Recursive factorial, flexible calculator</a:t>
            </a:r>
            <a:endParaRPr lang="en-US" sz="1200" dirty="0"/>
          </a:p>
        </p:txBody>
      </p:sp>
      <p:sp>
        <p:nvSpPr>
          <p:cNvPr id="28" name="Text 26"/>
          <p:cNvSpPr txBox="1"/>
          <p:nvPr/>
        </p:nvSpPr>
        <p:spPr>
          <a:xfrm>
            <a:off x="6400800" y="5020056"/>
            <a:ext cx="146304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2 tasks</a:t>
            </a:r>
            <a:endParaRPr lang="en-US" sz="1300" dirty="0"/>
          </a:p>
        </p:txBody>
      </p:sp>
      <p:sp>
        <p:nvSpPr>
          <p:cNvPr id="29" name="Shape 27"/>
          <p:cNvSpPr/>
          <p:nvPr/>
        </p:nvSpPr>
        <p:spPr>
          <a:xfrm>
            <a:off x="8412480" y="1691640"/>
            <a:ext cx="3200400" cy="2971800"/>
          </a:xfrm>
          <a:prstGeom prst="roundRect">
            <a:avLst>
              <a:gd name="adj" fmla="val 2769"/>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0" name="Text 28"/>
          <p:cNvSpPr txBox="1"/>
          <p:nvPr/>
        </p:nvSpPr>
        <p:spPr>
          <a:xfrm>
            <a:off x="8686800" y="1847088"/>
            <a:ext cx="2743200" cy="301752"/>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Your notebook</a:t>
            </a:r>
            <a:endParaRPr lang="en-US" sz="1500" dirty="0"/>
          </a:p>
        </p:txBody>
      </p:sp>
      <p:sp>
        <p:nvSpPr>
          <p:cNvPr id="31" name="Text 29"/>
          <p:cNvSpPr txBox="1"/>
          <p:nvPr/>
        </p:nvSpPr>
        <p:spPr>
          <a:xfrm>
            <a:off x="8686800" y="2212848"/>
            <a:ext cx="2743200" cy="594360"/>
          </a:xfrm>
          <a:prstGeom prst="rect">
            <a:avLst/>
          </a:prstGeom>
          <a:noFill/>
          <a:ln/>
        </p:spPr>
        <p:txBody>
          <a:bodyPr wrap="square" lIns="0" tIns="0" rIns="0" bIns="0" rtlCol="0" anchor="ctr"/>
          <a:lstStyle/>
          <a:p>
            <a:pPr indent="0" marL="0">
              <a:lnSpc>
                <a:spcPct val="115000"/>
              </a:lnSpc>
              <a:buNone/>
            </a:pPr>
            <a:r>
              <a:rPr lang="en-US" sz="1250" b="1" dirty="0">
                <a:solidFill>
                  <a:srgbClr val="3E7CB1"/>
                </a:solidFill>
                <a:latin typeface="Courier New" pitchFamily="34" charset="0"/>
                <a:ea typeface="Courier New" pitchFamily="34" charset="-122"/>
                <a:cs typeface="Courier New" pitchFamily="34" charset="-120"/>
              </a:rPr>
              <a:t>Day3_Practice_</a:t>
            </a:r>
            <a:endParaRPr lang="en-US" sz="1250" dirty="0"/>
          </a:p>
          <a:p>
            <a:pPr indent="0" marL="0">
              <a:lnSpc>
                <a:spcPct val="115000"/>
              </a:lnSpc>
              <a:buNone/>
            </a:pPr>
            <a:r>
              <a:rPr lang="en-US" sz="1250" b="1" dirty="0">
                <a:solidFill>
                  <a:srgbClr val="3E7CB1"/>
                </a:solidFill>
                <a:latin typeface="Courier New" pitchFamily="34" charset="0"/>
                <a:ea typeface="Courier New" pitchFamily="34" charset="-122"/>
                <a:cs typeface="Courier New" pitchFamily="34" charset="-120"/>
              </a:rPr>
              <a:t>Questions.ipynb</a:t>
            </a:r>
            <a:endParaRPr lang="en-US" sz="1250" dirty="0"/>
          </a:p>
        </p:txBody>
      </p:sp>
      <p:sp>
        <p:nvSpPr>
          <p:cNvPr id="32" name="Text 30"/>
          <p:cNvSpPr txBox="1"/>
          <p:nvPr/>
        </p:nvSpPr>
        <p:spPr>
          <a:xfrm>
            <a:off x="8796528" y="2926080"/>
            <a:ext cx="2651760" cy="160020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2B3445"/>
                </a:solidFill>
                <a:latin typeface="Calibri" pitchFamily="34" charset="0"/>
                <a:ea typeface="Calibri" pitchFamily="34" charset="-122"/>
                <a:cs typeface="Calibri" pitchFamily="34" charset="-120"/>
              </a:rPr>
              <a:t>Signature and docstring first</a:t>
            </a:r>
            <a:endParaRPr lang="en-US" sz="1200" dirty="0"/>
          </a:p>
          <a:p>
            <a:pPr marL="342900" indent="-342900">
              <a:spcAft>
                <a:spcPts val="800"/>
              </a:spcAft>
              <a:buSzPct val="100000"/>
              <a:buChar char="•"/>
            </a:pPr>
            <a:r>
              <a:rPr lang="en-US" sz="1200" dirty="0">
                <a:solidFill>
                  <a:srgbClr val="2B3445"/>
                </a:solidFill>
                <a:latin typeface="Calibri" pitchFamily="34" charset="0"/>
                <a:ea typeface="Calibri" pitchFamily="34" charset="-122"/>
                <a:cs typeface="Calibri" pitchFamily="34" charset="-120"/>
              </a:rPr>
              <a:t>Then the body</a:t>
            </a:r>
            <a:endParaRPr lang="en-US" sz="1200" dirty="0"/>
          </a:p>
          <a:p>
            <a:pPr marL="342900" indent="-342900">
              <a:spcAft>
                <a:spcPts val="800"/>
              </a:spcAft>
              <a:buSzPct val="100000"/>
              <a:buChar char="•"/>
            </a:pPr>
            <a:r>
              <a:rPr lang="en-US" sz="1200" dirty="0">
                <a:solidFill>
                  <a:srgbClr val="2B3445"/>
                </a:solidFill>
                <a:latin typeface="Calibri" pitchFamily="34" charset="0"/>
                <a:ea typeface="Calibri" pitchFamily="34" charset="-122"/>
                <a:cs typeface="Calibri" pitchFamily="34" charset="-120"/>
              </a:rPr>
              <a:t>Raise a hand — I am walking around</a:t>
            </a:r>
            <a:endParaRPr lang="en-US" sz="1200" dirty="0"/>
          </a:p>
          <a:p>
            <a:pPr marL="342900" indent="-342900">
              <a:spcAft>
                <a:spcPts val="800"/>
              </a:spcAft>
              <a:buSzPct val="100000"/>
              <a:buChar char="•"/>
            </a:pPr>
            <a:r>
              <a:rPr lang="en-US" sz="1200" dirty="0">
                <a:solidFill>
                  <a:srgbClr val="2B3445"/>
                </a:solidFill>
                <a:latin typeface="Calibri" pitchFamily="34" charset="0"/>
                <a:ea typeface="Calibri" pitchFamily="34" charset="-122"/>
                <a:cs typeface="Calibri" pitchFamily="34" charset="-120"/>
              </a:rPr>
              <a:t>Solutions shared after class</a:t>
            </a:r>
            <a:endParaRPr lang="en-US" sz="1200" dirty="0"/>
          </a:p>
        </p:txBody>
      </p:sp>
      <p:sp>
        <p:nvSpPr>
          <p:cNvPr id="33" name="Shape 31"/>
          <p:cNvSpPr/>
          <p:nvPr/>
        </p:nvSpPr>
        <p:spPr>
          <a:xfrm>
            <a:off x="548640" y="4937760"/>
            <a:ext cx="11064240" cy="914400"/>
          </a:xfrm>
          <a:prstGeom prst="roundRect">
            <a:avLst>
              <a:gd name="adj" fmla="val 900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4" name="Text 32"/>
          <p:cNvSpPr txBox="1"/>
          <p:nvPr/>
        </p:nvSpPr>
        <p:spPr>
          <a:xfrm>
            <a:off x="868680" y="5120640"/>
            <a:ext cx="10424160" cy="457200"/>
          </a:xfrm>
          <a:prstGeom prst="rect">
            <a:avLst/>
          </a:prstGeom>
          <a:noFill/>
          <a:ln/>
        </p:spPr>
        <p:txBody>
          <a:bodyPr wrap="square" lIns="0" tIns="0" rIns="0" bIns="0" rtlCol="0" anchor="ctr"/>
          <a:lstStyle/>
          <a:p>
            <a:pPr indent="0" marL="0">
              <a:buNone/>
            </a:pPr>
            <a:r>
              <a:rPr lang="en-US" sz="1400" b="1" i="1" dirty="0">
                <a:solidFill>
                  <a:srgbClr val="8A5B00"/>
                </a:solidFill>
                <a:latin typeface="Calibri" pitchFamily="34" charset="0"/>
                <a:ea typeface="Calibri" pitchFamily="34" charset="-122"/>
                <a:cs typeface="Calibri" pitchFamily="34" charset="-120"/>
              </a:rPr>
              <a:t>If your function “does nothing”, check two things: did you call it, and did you return rather than print?</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9966960" y="4480560"/>
            <a:ext cx="3840480" cy="3840480"/>
          </a:xfrm>
          <a:prstGeom prst="ellipse">
            <a:avLst/>
          </a:prstGeom>
          <a:solidFill>
            <a:srgbClr val="1A2A46"/>
          </a:solidFill>
          <a:ln w="12700">
            <a:solidFill>
              <a:srgbClr val="333333"/>
            </a:solidFill>
            <a:prstDash val="solid"/>
          </a:ln>
        </p:spPr>
      </p:sp>
      <p:sp>
        <p:nvSpPr>
          <p:cNvPr id="4" name="Text 2"/>
          <p:cNvSpPr txBox="1"/>
          <p:nvPr/>
        </p:nvSpPr>
        <p:spPr>
          <a:xfrm>
            <a:off x="640080" y="457200"/>
            <a:ext cx="7315200" cy="274320"/>
          </a:xfrm>
          <a:prstGeom prst="rect">
            <a:avLst/>
          </a:prstGeom>
          <a:noFill/>
          <a:ln/>
        </p:spPr>
        <p:txBody>
          <a:bodyPr wrap="square" lIns="0" tIns="0" rIns="0" bIns="0" rtlCol="0" anchor="ctr"/>
          <a:lstStyle/>
          <a:p>
            <a:pPr indent="0" marL="0">
              <a:buNone/>
            </a:pPr>
            <a:r>
              <a:rPr lang="en-US" sz="1200" b="1" spc="200" kern="0" dirty="0">
                <a:solidFill>
                  <a:srgbClr val="FFC145"/>
                </a:solidFill>
                <a:latin typeface="Calibri" pitchFamily="34" charset="0"/>
                <a:ea typeface="Calibri" pitchFamily="34" charset="-122"/>
                <a:cs typeface="Calibri" pitchFamily="34" charset="-120"/>
              </a:rPr>
              <a:t>TODAY IN TWELVE LINES</a:t>
            </a:r>
            <a:endParaRPr lang="en-US" sz="1200" dirty="0"/>
          </a:p>
        </p:txBody>
      </p:sp>
      <p:sp>
        <p:nvSpPr>
          <p:cNvPr id="5" name="Text 3"/>
          <p:cNvSpPr txBox="1"/>
          <p:nvPr/>
        </p:nvSpPr>
        <p:spPr>
          <a:xfrm>
            <a:off x="640080" y="749808"/>
            <a:ext cx="7315200" cy="5943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Recap</a:t>
            </a:r>
            <a:endParaRPr lang="en-US" sz="3400" dirty="0"/>
          </a:p>
        </p:txBody>
      </p:sp>
      <p:sp>
        <p:nvSpPr>
          <p:cNvPr id="6" name="Shape 4"/>
          <p:cNvSpPr/>
          <p:nvPr/>
        </p:nvSpPr>
        <p:spPr>
          <a:xfrm>
            <a:off x="640080" y="1554480"/>
            <a:ext cx="329184" cy="329184"/>
          </a:xfrm>
          <a:prstGeom prst="ellipse">
            <a:avLst/>
          </a:prstGeom>
          <a:solidFill>
            <a:srgbClr val="FFC145"/>
          </a:solidFill>
          <a:ln w="12700">
            <a:solidFill>
              <a:srgbClr val="FFC145"/>
            </a:solidFill>
            <a:prstDash val="solid"/>
          </a:ln>
        </p:spPr>
      </p:sp>
      <p:sp>
        <p:nvSpPr>
          <p:cNvPr id="7" name="Text 5"/>
          <p:cNvSpPr txBox="1"/>
          <p:nvPr/>
        </p:nvSpPr>
        <p:spPr>
          <a:xfrm>
            <a:off x="640080" y="1554480"/>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115568" y="1536192"/>
            <a:ext cx="4892040" cy="411480"/>
          </a:xfrm>
          <a:prstGeom prst="rect">
            <a:avLst/>
          </a:prstGeom>
          <a:noFill/>
          <a:ln/>
        </p:spPr>
        <p:txBody>
          <a:bodyPr wrap="square" lIns="0" tIns="0" rIns="0" bIns="0" rtlCol="0" anchor="ctr"/>
          <a:lstStyle/>
          <a:p>
            <a:pPr indent="0" marL="0">
              <a:buNone/>
            </a:pPr>
            <a:r>
              <a:rPr lang="en-US" sz="1200" dirty="0">
                <a:solidFill>
                  <a:srgbClr val="DCE6F3"/>
                </a:solidFill>
                <a:latin typeface="Calibri" pitchFamily="34" charset="0"/>
                <a:ea typeface="Calibri" pitchFamily="34" charset="-122"/>
                <a:cs typeface="Calibri" pitchFamily="34" charset="-120"/>
              </a:rPr>
              <a:t>def defines; parentheses call. Both are needed.</a:t>
            </a:r>
            <a:endParaRPr lang="en-US" sz="1200" dirty="0"/>
          </a:p>
        </p:txBody>
      </p:sp>
      <p:sp>
        <p:nvSpPr>
          <p:cNvPr id="9" name="Shape 7"/>
          <p:cNvSpPr/>
          <p:nvPr/>
        </p:nvSpPr>
        <p:spPr>
          <a:xfrm>
            <a:off x="640080" y="2121408"/>
            <a:ext cx="329184" cy="329184"/>
          </a:xfrm>
          <a:prstGeom prst="ellipse">
            <a:avLst/>
          </a:prstGeom>
          <a:solidFill>
            <a:srgbClr val="FFC145"/>
          </a:solidFill>
          <a:ln w="12700">
            <a:solidFill>
              <a:srgbClr val="FFC145"/>
            </a:solidFill>
            <a:prstDash val="solid"/>
          </a:ln>
        </p:spPr>
      </p:sp>
      <p:sp>
        <p:nvSpPr>
          <p:cNvPr id="10" name="Text 8"/>
          <p:cNvSpPr txBox="1"/>
          <p:nvPr/>
        </p:nvSpPr>
        <p:spPr>
          <a:xfrm>
            <a:off x="640080" y="2121408"/>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115568" y="2103120"/>
            <a:ext cx="4892040" cy="411480"/>
          </a:xfrm>
          <a:prstGeom prst="rect">
            <a:avLst/>
          </a:prstGeom>
          <a:noFill/>
          <a:ln/>
        </p:spPr>
        <p:txBody>
          <a:bodyPr wrap="square" lIns="0" tIns="0" rIns="0" bIns="0" rtlCol="0" anchor="ctr"/>
          <a:lstStyle/>
          <a:p>
            <a:pPr indent="0" marL="0">
              <a:buNone/>
            </a:pPr>
            <a:r>
              <a:rPr lang="en-US" sz="1200" dirty="0">
                <a:solidFill>
                  <a:srgbClr val="DCE6F3"/>
                </a:solidFill>
                <a:latin typeface="Calibri" pitchFamily="34" charset="0"/>
                <a:ea typeface="Calibri" pitchFamily="34" charset="-122"/>
                <a:cs typeface="Calibri" pitchFamily="34" charset="-120"/>
              </a:rPr>
              <a:t>return hands a value back; print only displays.</a:t>
            </a:r>
            <a:endParaRPr lang="en-US" sz="1200" dirty="0"/>
          </a:p>
        </p:txBody>
      </p:sp>
      <p:sp>
        <p:nvSpPr>
          <p:cNvPr id="12" name="Shape 10"/>
          <p:cNvSpPr/>
          <p:nvPr/>
        </p:nvSpPr>
        <p:spPr>
          <a:xfrm>
            <a:off x="640080" y="2688336"/>
            <a:ext cx="329184" cy="329184"/>
          </a:xfrm>
          <a:prstGeom prst="ellipse">
            <a:avLst/>
          </a:prstGeom>
          <a:solidFill>
            <a:srgbClr val="FFC145"/>
          </a:solidFill>
          <a:ln w="12700">
            <a:solidFill>
              <a:srgbClr val="FFC145"/>
            </a:solidFill>
            <a:prstDash val="solid"/>
          </a:ln>
        </p:spPr>
      </p:sp>
      <p:sp>
        <p:nvSpPr>
          <p:cNvPr id="13" name="Text 11"/>
          <p:cNvSpPr txBox="1"/>
          <p:nvPr/>
        </p:nvSpPr>
        <p:spPr>
          <a:xfrm>
            <a:off x="640080" y="2688336"/>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115568" y="2670048"/>
            <a:ext cx="4892040" cy="411480"/>
          </a:xfrm>
          <a:prstGeom prst="rect">
            <a:avLst/>
          </a:prstGeom>
          <a:noFill/>
          <a:ln/>
        </p:spPr>
        <p:txBody>
          <a:bodyPr wrap="square" lIns="0" tIns="0" rIns="0" bIns="0" rtlCol="0" anchor="ctr"/>
          <a:lstStyle/>
          <a:p>
            <a:pPr indent="0" marL="0">
              <a:buNone/>
            </a:pPr>
            <a:r>
              <a:rPr lang="en-US" sz="1200" dirty="0">
                <a:solidFill>
                  <a:srgbClr val="DCE6F3"/>
                </a:solidFill>
                <a:latin typeface="Calibri" pitchFamily="34" charset="0"/>
                <a:ea typeface="Calibri" pitchFamily="34" charset="-122"/>
                <a:cs typeface="Calibri" pitchFamily="34" charset="-120"/>
              </a:rPr>
              <a:t>No return statement means the function returns None.</a:t>
            </a:r>
            <a:endParaRPr lang="en-US" sz="1200" dirty="0"/>
          </a:p>
        </p:txBody>
      </p:sp>
      <p:sp>
        <p:nvSpPr>
          <p:cNvPr id="15" name="Shape 13"/>
          <p:cNvSpPr/>
          <p:nvPr/>
        </p:nvSpPr>
        <p:spPr>
          <a:xfrm>
            <a:off x="640080" y="3255264"/>
            <a:ext cx="329184" cy="329184"/>
          </a:xfrm>
          <a:prstGeom prst="ellipse">
            <a:avLst/>
          </a:prstGeom>
          <a:solidFill>
            <a:srgbClr val="FFC145"/>
          </a:solidFill>
          <a:ln w="12700">
            <a:solidFill>
              <a:srgbClr val="FFC145"/>
            </a:solidFill>
            <a:prstDash val="solid"/>
          </a:ln>
        </p:spPr>
      </p:sp>
      <p:sp>
        <p:nvSpPr>
          <p:cNvPr id="16" name="Text 14"/>
          <p:cNvSpPr txBox="1"/>
          <p:nvPr/>
        </p:nvSpPr>
        <p:spPr>
          <a:xfrm>
            <a:off x="640080" y="3255264"/>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4</a:t>
            </a:r>
            <a:endParaRPr lang="en-US" sz="1300" dirty="0"/>
          </a:p>
        </p:txBody>
      </p:sp>
      <p:sp>
        <p:nvSpPr>
          <p:cNvPr id="17" name="Text 15"/>
          <p:cNvSpPr txBox="1"/>
          <p:nvPr/>
        </p:nvSpPr>
        <p:spPr>
          <a:xfrm>
            <a:off x="1115568" y="3236976"/>
            <a:ext cx="4892040" cy="411480"/>
          </a:xfrm>
          <a:prstGeom prst="rect">
            <a:avLst/>
          </a:prstGeom>
          <a:noFill/>
          <a:ln/>
        </p:spPr>
        <p:txBody>
          <a:bodyPr wrap="square" lIns="0" tIns="0" rIns="0" bIns="0" rtlCol="0" anchor="ctr"/>
          <a:lstStyle/>
          <a:p>
            <a:pPr indent="0" marL="0">
              <a:buNone/>
            </a:pPr>
            <a:r>
              <a:rPr lang="en-US" sz="1200" dirty="0">
                <a:solidFill>
                  <a:srgbClr val="DCE6F3"/>
                </a:solidFill>
                <a:latin typeface="Calibri" pitchFamily="34" charset="0"/>
                <a:ea typeface="Calibri" pitchFamily="34" charset="-122"/>
                <a:cs typeface="Calibri" pitchFamily="34" charset="-120"/>
              </a:rPr>
              <a:t>return exits the function immediately.</a:t>
            </a:r>
            <a:endParaRPr lang="en-US" sz="1200" dirty="0"/>
          </a:p>
        </p:txBody>
      </p:sp>
      <p:sp>
        <p:nvSpPr>
          <p:cNvPr id="18" name="Shape 16"/>
          <p:cNvSpPr/>
          <p:nvPr/>
        </p:nvSpPr>
        <p:spPr>
          <a:xfrm>
            <a:off x="640080" y="3822192"/>
            <a:ext cx="329184" cy="329184"/>
          </a:xfrm>
          <a:prstGeom prst="ellipse">
            <a:avLst/>
          </a:prstGeom>
          <a:solidFill>
            <a:srgbClr val="FFC145"/>
          </a:solidFill>
          <a:ln w="12700">
            <a:solidFill>
              <a:srgbClr val="FFC145"/>
            </a:solidFill>
            <a:prstDash val="solid"/>
          </a:ln>
        </p:spPr>
      </p:sp>
      <p:sp>
        <p:nvSpPr>
          <p:cNvPr id="19" name="Text 17"/>
          <p:cNvSpPr txBox="1"/>
          <p:nvPr/>
        </p:nvSpPr>
        <p:spPr>
          <a:xfrm>
            <a:off x="640080" y="3822192"/>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5</a:t>
            </a:r>
            <a:endParaRPr lang="en-US" sz="1300" dirty="0"/>
          </a:p>
        </p:txBody>
      </p:sp>
      <p:sp>
        <p:nvSpPr>
          <p:cNvPr id="20" name="Text 18"/>
          <p:cNvSpPr txBox="1"/>
          <p:nvPr/>
        </p:nvSpPr>
        <p:spPr>
          <a:xfrm>
            <a:off x="1115568" y="3803904"/>
            <a:ext cx="4892040" cy="411480"/>
          </a:xfrm>
          <a:prstGeom prst="rect">
            <a:avLst/>
          </a:prstGeom>
          <a:noFill/>
          <a:ln/>
        </p:spPr>
        <p:txBody>
          <a:bodyPr wrap="square" lIns="0" tIns="0" rIns="0" bIns="0" rtlCol="0" anchor="ctr"/>
          <a:lstStyle/>
          <a:p>
            <a:pPr indent="0" marL="0">
              <a:buNone/>
            </a:pPr>
            <a:r>
              <a:rPr lang="en-US" sz="1200" dirty="0">
                <a:solidFill>
                  <a:srgbClr val="DCE6F3"/>
                </a:solidFill>
                <a:latin typeface="Calibri" pitchFamily="34" charset="0"/>
                <a:ea typeface="Calibri" pitchFamily="34" charset="-122"/>
                <a:cs typeface="Calibri" pitchFamily="34" charset="-120"/>
              </a:rPr>
              <a:t>Return several values at once — they arrive as a tuple.</a:t>
            </a:r>
            <a:endParaRPr lang="en-US" sz="1200" dirty="0"/>
          </a:p>
        </p:txBody>
      </p:sp>
      <p:sp>
        <p:nvSpPr>
          <p:cNvPr id="21" name="Shape 19"/>
          <p:cNvSpPr/>
          <p:nvPr/>
        </p:nvSpPr>
        <p:spPr>
          <a:xfrm>
            <a:off x="640080" y="4389120"/>
            <a:ext cx="329184" cy="329184"/>
          </a:xfrm>
          <a:prstGeom prst="ellipse">
            <a:avLst/>
          </a:prstGeom>
          <a:solidFill>
            <a:srgbClr val="FFC145"/>
          </a:solidFill>
          <a:ln w="12700">
            <a:solidFill>
              <a:srgbClr val="FFC145"/>
            </a:solidFill>
            <a:prstDash val="solid"/>
          </a:ln>
        </p:spPr>
      </p:sp>
      <p:sp>
        <p:nvSpPr>
          <p:cNvPr id="22" name="Text 20"/>
          <p:cNvSpPr txBox="1"/>
          <p:nvPr/>
        </p:nvSpPr>
        <p:spPr>
          <a:xfrm>
            <a:off x="640080" y="4389120"/>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6</a:t>
            </a:r>
            <a:endParaRPr lang="en-US" sz="1300" dirty="0"/>
          </a:p>
        </p:txBody>
      </p:sp>
      <p:sp>
        <p:nvSpPr>
          <p:cNvPr id="23" name="Text 21"/>
          <p:cNvSpPr txBox="1"/>
          <p:nvPr/>
        </p:nvSpPr>
        <p:spPr>
          <a:xfrm>
            <a:off x="1115568" y="4370832"/>
            <a:ext cx="4892040" cy="411480"/>
          </a:xfrm>
          <a:prstGeom prst="rect">
            <a:avLst/>
          </a:prstGeom>
          <a:noFill/>
          <a:ln/>
        </p:spPr>
        <p:txBody>
          <a:bodyPr wrap="square" lIns="0" tIns="0" rIns="0" bIns="0" rtlCol="0" anchor="ctr"/>
          <a:lstStyle/>
          <a:p>
            <a:pPr indent="0" marL="0">
              <a:buNone/>
            </a:pPr>
            <a:r>
              <a:rPr lang="en-US" sz="1200" dirty="0">
                <a:solidFill>
                  <a:srgbClr val="DCE6F3"/>
                </a:solidFill>
                <a:latin typeface="Calibri" pitchFamily="34" charset="0"/>
                <a:ea typeface="Calibri" pitchFamily="34" charset="-122"/>
                <a:cs typeface="Calibri" pitchFamily="34" charset="-120"/>
              </a:rPr>
              <a:t>Keyword arguments make a call self-documenting.</a:t>
            </a:r>
            <a:endParaRPr lang="en-US" sz="1200" dirty="0"/>
          </a:p>
        </p:txBody>
      </p:sp>
      <p:sp>
        <p:nvSpPr>
          <p:cNvPr id="24" name="Shape 22"/>
          <p:cNvSpPr/>
          <p:nvPr/>
        </p:nvSpPr>
        <p:spPr>
          <a:xfrm>
            <a:off x="6263640" y="1554480"/>
            <a:ext cx="329184" cy="329184"/>
          </a:xfrm>
          <a:prstGeom prst="ellipse">
            <a:avLst/>
          </a:prstGeom>
          <a:solidFill>
            <a:srgbClr val="3E7CB1"/>
          </a:solidFill>
          <a:ln w="12700">
            <a:solidFill>
              <a:srgbClr val="3E7CB1"/>
            </a:solidFill>
            <a:prstDash val="solid"/>
          </a:ln>
        </p:spPr>
      </p:sp>
      <p:sp>
        <p:nvSpPr>
          <p:cNvPr id="25" name="Text 23"/>
          <p:cNvSpPr txBox="1"/>
          <p:nvPr/>
        </p:nvSpPr>
        <p:spPr>
          <a:xfrm>
            <a:off x="6263640" y="155448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26" name="Text 24"/>
          <p:cNvSpPr txBox="1"/>
          <p:nvPr/>
        </p:nvSpPr>
        <p:spPr>
          <a:xfrm>
            <a:off x="6739128" y="1536192"/>
            <a:ext cx="4892040" cy="411480"/>
          </a:xfrm>
          <a:prstGeom prst="rect">
            <a:avLst/>
          </a:prstGeom>
          <a:noFill/>
          <a:ln/>
        </p:spPr>
        <p:txBody>
          <a:bodyPr wrap="square" lIns="0" tIns="0" rIns="0" bIns="0" rtlCol="0" anchor="ctr"/>
          <a:lstStyle/>
          <a:p>
            <a:pPr indent="0" marL="0">
              <a:buNone/>
            </a:pPr>
            <a:r>
              <a:rPr lang="en-US" sz="1200" dirty="0">
                <a:solidFill>
                  <a:srgbClr val="DCE6F3"/>
                </a:solidFill>
                <a:latin typeface="Calibri" pitchFamily="34" charset="0"/>
                <a:ea typeface="Calibri" pitchFamily="34" charset="-122"/>
                <a:cs typeface="Calibri" pitchFamily="34" charset="-120"/>
              </a:rPr>
              <a:t>Defaults go last, and must never be a list or dict.</a:t>
            </a:r>
            <a:endParaRPr lang="en-US" sz="1200" dirty="0"/>
          </a:p>
        </p:txBody>
      </p:sp>
      <p:sp>
        <p:nvSpPr>
          <p:cNvPr id="27" name="Shape 25"/>
          <p:cNvSpPr/>
          <p:nvPr/>
        </p:nvSpPr>
        <p:spPr>
          <a:xfrm>
            <a:off x="6263640" y="2121408"/>
            <a:ext cx="329184" cy="329184"/>
          </a:xfrm>
          <a:prstGeom prst="ellipse">
            <a:avLst/>
          </a:prstGeom>
          <a:solidFill>
            <a:srgbClr val="3E7CB1"/>
          </a:solidFill>
          <a:ln w="12700">
            <a:solidFill>
              <a:srgbClr val="3E7CB1"/>
            </a:solidFill>
            <a:prstDash val="solid"/>
          </a:ln>
        </p:spPr>
      </p:sp>
      <p:sp>
        <p:nvSpPr>
          <p:cNvPr id="28" name="Text 26"/>
          <p:cNvSpPr txBox="1"/>
          <p:nvPr/>
        </p:nvSpPr>
        <p:spPr>
          <a:xfrm>
            <a:off x="6263640" y="212140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29" name="Text 27"/>
          <p:cNvSpPr txBox="1"/>
          <p:nvPr/>
        </p:nvSpPr>
        <p:spPr>
          <a:xfrm>
            <a:off x="6739128" y="2103120"/>
            <a:ext cx="4892040" cy="411480"/>
          </a:xfrm>
          <a:prstGeom prst="rect">
            <a:avLst/>
          </a:prstGeom>
          <a:noFill/>
          <a:ln/>
        </p:spPr>
        <p:txBody>
          <a:bodyPr wrap="square" lIns="0" tIns="0" rIns="0" bIns="0" rtlCol="0" anchor="ctr"/>
          <a:lstStyle/>
          <a:p>
            <a:pPr indent="0" marL="0">
              <a:buNone/>
            </a:pPr>
            <a:r>
              <a:rPr lang="en-US" sz="1200" dirty="0">
                <a:solidFill>
                  <a:srgbClr val="DCE6F3"/>
                </a:solidFill>
                <a:latin typeface="Calibri" pitchFamily="34" charset="0"/>
                <a:ea typeface="Calibri" pitchFamily="34" charset="-122"/>
                <a:cs typeface="Calibri" pitchFamily="34" charset="-120"/>
              </a:rPr>
              <a:t>*args collects a tuple; **kwargs collects a dict.</a:t>
            </a:r>
            <a:endParaRPr lang="en-US" sz="1200" dirty="0"/>
          </a:p>
        </p:txBody>
      </p:sp>
      <p:sp>
        <p:nvSpPr>
          <p:cNvPr id="30" name="Shape 28"/>
          <p:cNvSpPr/>
          <p:nvPr/>
        </p:nvSpPr>
        <p:spPr>
          <a:xfrm>
            <a:off x="6263640" y="2688336"/>
            <a:ext cx="329184" cy="329184"/>
          </a:xfrm>
          <a:prstGeom prst="ellipse">
            <a:avLst/>
          </a:prstGeom>
          <a:solidFill>
            <a:srgbClr val="3E7CB1"/>
          </a:solidFill>
          <a:ln w="12700">
            <a:solidFill>
              <a:srgbClr val="3E7CB1"/>
            </a:solidFill>
            <a:prstDash val="solid"/>
          </a:ln>
        </p:spPr>
      </p:sp>
      <p:sp>
        <p:nvSpPr>
          <p:cNvPr id="31" name="Text 29"/>
          <p:cNvSpPr txBox="1"/>
          <p:nvPr/>
        </p:nvSpPr>
        <p:spPr>
          <a:xfrm>
            <a:off x="6263640" y="268833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32" name="Text 30"/>
          <p:cNvSpPr txBox="1"/>
          <p:nvPr/>
        </p:nvSpPr>
        <p:spPr>
          <a:xfrm>
            <a:off x="6739128" y="2670048"/>
            <a:ext cx="4892040" cy="411480"/>
          </a:xfrm>
          <a:prstGeom prst="rect">
            <a:avLst/>
          </a:prstGeom>
          <a:noFill/>
          <a:ln/>
        </p:spPr>
        <p:txBody>
          <a:bodyPr wrap="square" lIns="0" tIns="0" rIns="0" bIns="0" rtlCol="0" anchor="ctr"/>
          <a:lstStyle/>
          <a:p>
            <a:pPr indent="0" marL="0">
              <a:buNone/>
            </a:pPr>
            <a:r>
              <a:rPr lang="en-US" sz="1200" dirty="0">
                <a:solidFill>
                  <a:srgbClr val="DCE6F3"/>
                </a:solidFill>
                <a:latin typeface="Calibri" pitchFamily="34" charset="0"/>
                <a:ea typeface="Calibri" pitchFamily="34" charset="-122"/>
                <a:cs typeface="Calibri" pitchFamily="34" charset="-120"/>
              </a:rPr>
              <a:t>Locals are private; each call gets a fresh workspace.</a:t>
            </a:r>
            <a:endParaRPr lang="en-US" sz="1200" dirty="0"/>
          </a:p>
        </p:txBody>
      </p:sp>
      <p:sp>
        <p:nvSpPr>
          <p:cNvPr id="33" name="Shape 31"/>
          <p:cNvSpPr/>
          <p:nvPr/>
        </p:nvSpPr>
        <p:spPr>
          <a:xfrm>
            <a:off x="6263640" y="3255264"/>
            <a:ext cx="329184" cy="329184"/>
          </a:xfrm>
          <a:prstGeom prst="ellipse">
            <a:avLst/>
          </a:prstGeom>
          <a:solidFill>
            <a:srgbClr val="3E7CB1"/>
          </a:solidFill>
          <a:ln w="12700">
            <a:solidFill>
              <a:srgbClr val="3E7CB1"/>
            </a:solidFill>
            <a:prstDash val="solid"/>
          </a:ln>
        </p:spPr>
      </p:sp>
      <p:sp>
        <p:nvSpPr>
          <p:cNvPr id="34" name="Text 32"/>
          <p:cNvSpPr txBox="1"/>
          <p:nvPr/>
        </p:nvSpPr>
        <p:spPr>
          <a:xfrm>
            <a:off x="6263640" y="325526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35" name="Text 33"/>
          <p:cNvSpPr txBox="1"/>
          <p:nvPr/>
        </p:nvSpPr>
        <p:spPr>
          <a:xfrm>
            <a:off x="6739128" y="3236976"/>
            <a:ext cx="4892040" cy="411480"/>
          </a:xfrm>
          <a:prstGeom prst="rect">
            <a:avLst/>
          </a:prstGeom>
          <a:noFill/>
          <a:ln/>
        </p:spPr>
        <p:txBody>
          <a:bodyPr wrap="square" lIns="0" tIns="0" rIns="0" bIns="0" rtlCol="0" anchor="ctr"/>
          <a:lstStyle/>
          <a:p>
            <a:pPr indent="0" marL="0">
              <a:buNone/>
            </a:pPr>
            <a:r>
              <a:rPr lang="en-US" sz="1200" dirty="0">
                <a:solidFill>
                  <a:srgbClr val="DCE6F3"/>
                </a:solidFill>
                <a:latin typeface="Calibri" pitchFamily="34" charset="0"/>
                <a:ea typeface="Calibri" pitchFamily="34" charset="-122"/>
                <a:cs typeface="Calibri" pitchFamily="34" charset="-120"/>
              </a:rPr>
              <a:t>LEGB: Local, Enclosing, Global, Built-in.</a:t>
            </a:r>
            <a:endParaRPr lang="en-US" sz="1200" dirty="0"/>
          </a:p>
        </p:txBody>
      </p:sp>
      <p:sp>
        <p:nvSpPr>
          <p:cNvPr id="36" name="Shape 34"/>
          <p:cNvSpPr/>
          <p:nvPr/>
        </p:nvSpPr>
        <p:spPr>
          <a:xfrm>
            <a:off x="6263640" y="3822192"/>
            <a:ext cx="329184" cy="329184"/>
          </a:xfrm>
          <a:prstGeom prst="ellipse">
            <a:avLst/>
          </a:prstGeom>
          <a:solidFill>
            <a:srgbClr val="3E7CB1"/>
          </a:solidFill>
          <a:ln w="12700">
            <a:solidFill>
              <a:srgbClr val="3E7CB1"/>
            </a:solidFill>
            <a:prstDash val="solid"/>
          </a:ln>
        </p:spPr>
      </p:sp>
      <p:sp>
        <p:nvSpPr>
          <p:cNvPr id="37" name="Text 35"/>
          <p:cNvSpPr txBox="1"/>
          <p:nvPr/>
        </p:nvSpPr>
        <p:spPr>
          <a:xfrm>
            <a:off x="6263640" y="382219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38" name="Text 36"/>
          <p:cNvSpPr txBox="1"/>
          <p:nvPr/>
        </p:nvSpPr>
        <p:spPr>
          <a:xfrm>
            <a:off x="6739128" y="3803904"/>
            <a:ext cx="4892040" cy="411480"/>
          </a:xfrm>
          <a:prstGeom prst="rect">
            <a:avLst/>
          </a:prstGeom>
          <a:noFill/>
          <a:ln/>
        </p:spPr>
        <p:txBody>
          <a:bodyPr wrap="square" lIns="0" tIns="0" rIns="0" bIns="0" rtlCol="0" anchor="ctr"/>
          <a:lstStyle/>
          <a:p>
            <a:pPr indent="0" marL="0">
              <a:buNone/>
            </a:pPr>
            <a:r>
              <a:rPr lang="en-US" sz="1200" dirty="0">
                <a:solidFill>
                  <a:srgbClr val="DCE6F3"/>
                </a:solidFill>
                <a:latin typeface="Calibri" pitchFamily="34" charset="0"/>
                <a:ea typeface="Calibri" pitchFamily="34" charset="-122"/>
                <a:cs typeface="Calibri" pitchFamily="34" charset="-120"/>
              </a:rPr>
              <a:t>Assigning makes a local; mutating reaches the original.</a:t>
            </a:r>
            <a:endParaRPr lang="en-US" sz="1200" dirty="0"/>
          </a:p>
        </p:txBody>
      </p:sp>
      <p:sp>
        <p:nvSpPr>
          <p:cNvPr id="39" name="Shape 37"/>
          <p:cNvSpPr/>
          <p:nvPr/>
        </p:nvSpPr>
        <p:spPr>
          <a:xfrm>
            <a:off x="6263640" y="4389120"/>
            <a:ext cx="329184" cy="329184"/>
          </a:xfrm>
          <a:prstGeom prst="ellipse">
            <a:avLst/>
          </a:prstGeom>
          <a:solidFill>
            <a:srgbClr val="3E7CB1"/>
          </a:solidFill>
          <a:ln w="12700">
            <a:solidFill>
              <a:srgbClr val="3E7CB1"/>
            </a:solidFill>
            <a:prstDash val="solid"/>
          </a:ln>
        </p:spPr>
      </p:sp>
      <p:sp>
        <p:nvSpPr>
          <p:cNvPr id="40" name="Text 38"/>
          <p:cNvSpPr txBox="1"/>
          <p:nvPr/>
        </p:nvSpPr>
        <p:spPr>
          <a:xfrm>
            <a:off x="6263640" y="438912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1" name="Text 39"/>
          <p:cNvSpPr txBox="1"/>
          <p:nvPr/>
        </p:nvSpPr>
        <p:spPr>
          <a:xfrm>
            <a:off x="6739128" y="4370832"/>
            <a:ext cx="4892040" cy="411480"/>
          </a:xfrm>
          <a:prstGeom prst="rect">
            <a:avLst/>
          </a:prstGeom>
          <a:noFill/>
          <a:ln/>
        </p:spPr>
        <p:txBody>
          <a:bodyPr wrap="square" lIns="0" tIns="0" rIns="0" bIns="0" rtlCol="0" anchor="ctr"/>
          <a:lstStyle/>
          <a:p>
            <a:pPr indent="0" marL="0">
              <a:buNone/>
            </a:pPr>
            <a:r>
              <a:rPr lang="en-US" sz="1200" dirty="0">
                <a:solidFill>
                  <a:srgbClr val="DCE6F3"/>
                </a:solidFill>
                <a:latin typeface="Calibri" pitchFamily="34" charset="0"/>
                <a:ea typeface="Calibri" pitchFamily="34" charset="-122"/>
                <a:cs typeface="Calibri" pitchFamily="34" charset="-120"/>
              </a:rPr>
              <a:t>One function, one job. Docstring first, body second.</a:t>
            </a:r>
            <a:endParaRPr lang="en-US" sz="1200" dirty="0"/>
          </a:p>
        </p:txBody>
      </p:sp>
      <p:sp>
        <p:nvSpPr>
          <p:cNvPr id="42" name="Shape 40"/>
          <p:cNvSpPr/>
          <p:nvPr/>
        </p:nvSpPr>
        <p:spPr>
          <a:xfrm>
            <a:off x="640080" y="5230368"/>
            <a:ext cx="5349240" cy="1097280"/>
          </a:xfrm>
          <a:prstGeom prst="roundRect">
            <a:avLst>
              <a:gd name="adj" fmla="val 7500"/>
            </a:avLst>
          </a:prstGeom>
          <a:solidFill>
            <a:srgbClr val="1E3151"/>
          </a:solidFill>
          <a:ln w="12700">
            <a:solidFill>
              <a:srgbClr val="333333"/>
            </a:solidFill>
            <a:prstDash val="solid"/>
          </a:ln>
        </p:spPr>
      </p:sp>
      <p:sp>
        <p:nvSpPr>
          <p:cNvPr id="43" name="Text 41"/>
          <p:cNvSpPr txBox="1"/>
          <p:nvPr/>
        </p:nvSpPr>
        <p:spPr>
          <a:xfrm>
            <a:off x="868680" y="5358384"/>
            <a:ext cx="4846320" cy="274320"/>
          </a:xfrm>
          <a:prstGeom prst="rect">
            <a:avLst/>
          </a:prstGeom>
          <a:noFill/>
          <a:ln/>
        </p:spPr>
        <p:txBody>
          <a:bodyPr wrap="square" lIns="0" tIns="0" rIns="0" bIns="0" rtlCol="0" anchor="ctr"/>
          <a:lstStyle/>
          <a:p>
            <a:pPr indent="0" marL="0">
              <a:buNone/>
            </a:pPr>
            <a:r>
              <a:rPr lang="en-US" sz="1300" b="1" dirty="0">
                <a:solidFill>
                  <a:srgbClr val="FFC145"/>
                </a:solidFill>
                <a:latin typeface="Calibri" pitchFamily="34" charset="0"/>
                <a:ea typeface="Calibri" pitchFamily="34" charset="-122"/>
                <a:cs typeface="Calibri" pitchFamily="34" charset="-120"/>
              </a:rPr>
              <a:t>Homework</a:t>
            </a:r>
            <a:endParaRPr lang="en-US" sz="1300" dirty="0"/>
          </a:p>
        </p:txBody>
      </p:sp>
      <p:sp>
        <p:nvSpPr>
          <p:cNvPr id="44" name="Text 42"/>
          <p:cNvSpPr txBox="1"/>
          <p:nvPr/>
        </p:nvSpPr>
        <p:spPr>
          <a:xfrm>
            <a:off x="868680" y="5632704"/>
            <a:ext cx="4892040" cy="594360"/>
          </a:xfrm>
          <a:prstGeom prst="rect">
            <a:avLst/>
          </a:prstGeom>
          <a:noFill/>
          <a:ln/>
        </p:spPr>
        <p:txBody>
          <a:bodyPr wrap="square" lIns="0" tIns="0" rIns="0" bIns="0" rtlCol="0" anchor="ctr"/>
          <a:lstStyle/>
          <a:p>
            <a:pPr indent="0" marL="0">
              <a:lnSpc>
                <a:spcPct val="112000"/>
              </a:lnSpc>
              <a:buNone/>
            </a:pPr>
            <a:r>
              <a:rPr lang="en-US" sz="1100" dirty="0">
                <a:solidFill>
                  <a:srgbClr val="AFC2DC"/>
                </a:solidFill>
                <a:latin typeface="Calibri" pitchFamily="34" charset="0"/>
                <a:ea typeface="Calibri" pitchFamily="34" charset="-122"/>
                <a:cs typeface="Calibri" pitchFamily="34" charset="-120"/>
              </a:rPr>
              <a:t>Rewrite Day 2's guessing game using three functions  ·  Write is_valid_email(text) returning True/False  ·  Add docstrings to everything you wrote today</a:t>
            </a:r>
            <a:endParaRPr lang="en-US" sz="1100" dirty="0"/>
          </a:p>
        </p:txBody>
      </p:sp>
      <p:sp>
        <p:nvSpPr>
          <p:cNvPr id="45" name="Shape 43"/>
          <p:cNvSpPr/>
          <p:nvPr/>
        </p:nvSpPr>
        <p:spPr>
          <a:xfrm>
            <a:off x="6263640" y="5230368"/>
            <a:ext cx="5349240" cy="1097280"/>
          </a:xfrm>
          <a:prstGeom prst="roundRect">
            <a:avLst>
              <a:gd name="adj" fmla="val 7500"/>
            </a:avLst>
          </a:prstGeom>
          <a:solidFill>
            <a:srgbClr val="1E3151"/>
          </a:solidFill>
          <a:ln w="12700">
            <a:solidFill>
              <a:srgbClr val="333333"/>
            </a:solidFill>
            <a:prstDash val="solid"/>
          </a:ln>
        </p:spPr>
      </p:sp>
      <p:sp>
        <p:nvSpPr>
          <p:cNvPr id="46" name="Text 44"/>
          <p:cNvSpPr txBox="1"/>
          <p:nvPr/>
        </p:nvSpPr>
        <p:spPr>
          <a:xfrm>
            <a:off x="6492240" y="5358384"/>
            <a:ext cx="4846320" cy="274320"/>
          </a:xfrm>
          <a:prstGeom prst="rect">
            <a:avLst/>
          </a:prstGeom>
          <a:noFill/>
          <a:ln/>
        </p:spPr>
        <p:txBody>
          <a:bodyPr wrap="square" lIns="0" tIns="0" rIns="0" bIns="0" rtlCol="0" anchor="ctr"/>
          <a:lstStyle/>
          <a:p>
            <a:pPr indent="0" marL="0">
              <a:buNone/>
            </a:pPr>
            <a:r>
              <a:rPr lang="en-US" sz="1300" b="1" dirty="0">
                <a:solidFill>
                  <a:srgbClr val="FFC145"/>
                </a:solidFill>
                <a:latin typeface="Calibri" pitchFamily="34" charset="0"/>
                <a:ea typeface="Calibri" pitchFamily="34" charset="-122"/>
                <a:cs typeface="Calibri" pitchFamily="34" charset="-120"/>
              </a:rPr>
              <a:t>Next class  —  Topic 1.4</a:t>
            </a:r>
            <a:endParaRPr lang="en-US" sz="1300" dirty="0"/>
          </a:p>
        </p:txBody>
      </p:sp>
      <p:sp>
        <p:nvSpPr>
          <p:cNvPr id="47" name="Text 45"/>
          <p:cNvSpPr txBox="1"/>
          <p:nvPr/>
        </p:nvSpPr>
        <p:spPr>
          <a:xfrm>
            <a:off x="6492240" y="5632704"/>
            <a:ext cx="4892040" cy="594360"/>
          </a:xfrm>
          <a:prstGeom prst="rect">
            <a:avLst/>
          </a:prstGeom>
          <a:noFill/>
          <a:ln/>
        </p:spPr>
        <p:txBody>
          <a:bodyPr wrap="square" lIns="0" tIns="0" rIns="0" bIns="0" rtlCol="0" anchor="ctr"/>
          <a:lstStyle/>
          <a:p>
            <a:pPr indent="0" marL="0">
              <a:lnSpc>
                <a:spcPct val="112000"/>
              </a:lnSpc>
              <a:buNone/>
            </a:pPr>
            <a:r>
              <a:rPr lang="en-US" sz="1150" dirty="0">
                <a:solidFill>
                  <a:srgbClr val="AFC2DC"/>
                </a:solidFill>
                <a:latin typeface="Calibri" pitchFamily="34" charset="0"/>
                <a:ea typeface="Calibri" pitchFamily="34" charset="-122"/>
                <a:cs typeface="Calibri" pitchFamily="34" charset="-120"/>
              </a:rPr>
              <a:t>Lists, tuples and sets:  creating, indexing, slicing, mutability, and the methods you will use on every dataset</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3 - Functions &amp; Scope</dc:title>
  <dc:subject>PptxGenJS Presentation</dc:subject>
  <dc:creator>Data Science Program</dc:creator>
  <cp:lastModifiedBy>Data Science Program</cp:lastModifiedBy>
  <cp:revision>1</cp:revision>
  <dcterms:created xsi:type="dcterms:W3CDTF">2026-09-04T03:34:32Z</dcterms:created>
  <dcterms:modified xsi:type="dcterms:W3CDTF">2026-09-04T03:34:32Z</dcterms:modified>
</cp:coreProperties>
</file>