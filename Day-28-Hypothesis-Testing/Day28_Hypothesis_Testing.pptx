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28. The machinery here is small - it is yesterday's standard error with a decision rule bolted on. Almost the whole session is about how the decision rule gets misused, because that is where the damage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 4 is deliberately provocative and it is arithmetic, not opinion - slide on the base rate proves it. Promise all four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continuity explicit. Students who see a test as a new thing to memorise struggle; students who see it as SE plus a rule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critical-thinking half is the point, not an aside.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courtroom analogy also works: presumed innocent, and we ask whether the evidence is hard to explain under that presumption. But do not overwork it - a verdict of not guilty is not a finding of innocence, which is exactly the point about p &gt; 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4's phrasing is deliberate. The decision is the part everyone reports and the part that carries the least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sentence in the green card contains no p-value at all, and is more informative than one. That is the habit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uniform-under-the-null fact is the single cleanest definition of a p-value and it ties straight back to Day 26. Most students have never seen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say the correct sentence out loud. It is long and awkward, and that awkwardness is exactly why people substitute the wrong short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0.017 figure is the one that lands. It makes the arbitrariness concrete rather than philosophical.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permutation-test row is worth a sentence: it needs no distributional assumption at all, and modern computers make it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check the default themselves in the notebook. A default they can verify is more memorable than one they are told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largest single gain available from a design choice anywhere in the module. If the data is paired, pairing it is free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them: if they use ttest_* and t.interval, this is already handled. The slide is so they know why the function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asymmetry is the point. Everyone can tell you alpha is 0.05; almost nobody can tell you their study's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Post-hoc power computed from the observed effect is circular and widely criticised. Power analysis belongs at the design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two-CI contrast is the most useful single idea on this slide. Same verdict, opposite amounts of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dataframe-scanning example is the one students will actually do. A 20-column correlation matrix is 190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real-data peeking sequence is the most persuasive thing in the session, because the effect genuinely exists and the p-value still wanders across the threshold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deepest point of the session and it is pure arithmetic. It explains the replication crisis better than any accusation of misconduct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few million users, an A/B test will find every change significant. The question then becomes whether the effect is worth shipping, which p cannot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rewrite a bad sentence into a good one in the practice notebook. It is a writing skill as much as a statistical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3 and 4 are worth demonstrating live - both are a single argument and both change a null result into a significant one or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that makes the honest thing the easy thing is better than a rule nobody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deliberate p-hacking exercise is the one students remember. Be clear it is a vaccination, not a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reporting habit rather than the formula. That is the thing worth carrying out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37160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MODULE 2  ·  STATISTICS &amp; PROBABILITY  ·  TOPIC 2.8</a:t>
            </a:r>
            <a:endParaRPr lang="en-US" sz="1300" dirty="0"/>
          </a:p>
        </p:txBody>
      </p:sp>
      <p:sp>
        <p:nvSpPr>
          <p:cNvPr id="5" name="Text 3"/>
          <p:cNvSpPr txBox="1"/>
          <p:nvPr/>
        </p:nvSpPr>
        <p:spPr>
          <a:xfrm>
            <a:off x="822960" y="1828800"/>
            <a:ext cx="841248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Hypothesis</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Testing</a:t>
            </a:r>
            <a:endParaRPr lang="en-US" sz="4200" dirty="0"/>
          </a:p>
        </p:txBody>
      </p:sp>
      <p:sp>
        <p:nvSpPr>
          <p:cNvPr id="6" name="Text 4"/>
          <p:cNvSpPr txBox="1"/>
          <p:nvPr/>
        </p:nvSpPr>
        <p:spPr>
          <a:xfrm>
            <a:off x="841248" y="3657600"/>
            <a:ext cx="8229600" cy="365760"/>
          </a:xfrm>
          <a:prstGeom prst="rect">
            <a:avLst/>
          </a:prstGeom>
          <a:noFill/>
          <a:ln/>
        </p:spPr>
        <p:txBody>
          <a:bodyPr wrap="square" lIns="0" tIns="0" rIns="0" bIns="0" rtlCol="0" anchor="ctr"/>
          <a:lstStyle/>
          <a:p>
            <a:pPr indent="0" marL="0">
              <a:buNone/>
            </a:pPr>
            <a:r>
              <a:rPr lang="en-US" sz="1500" i="1" dirty="0">
                <a:solidFill>
                  <a:srgbClr val="AFC2DC"/>
                </a:solidFill>
                <a:latin typeface="Calibri" pitchFamily="34" charset="0"/>
                <a:ea typeface="Calibri" pitchFamily="34" charset="-122"/>
                <a:cs typeface="Calibri" pitchFamily="34" charset="-120"/>
              </a:rPr>
              <a:t>Day 28  —  is this difference real, or is it the √n noise we measured yesterday?</a:t>
            </a:r>
            <a:endParaRPr lang="en-US" sz="1500" dirty="0"/>
          </a:p>
        </p:txBody>
      </p:sp>
      <p:sp>
        <p:nvSpPr>
          <p:cNvPr id="7" name="Shape 5"/>
          <p:cNvSpPr/>
          <p:nvPr/>
        </p:nvSpPr>
        <p:spPr>
          <a:xfrm>
            <a:off x="822960" y="4480560"/>
            <a:ext cx="2468880" cy="1005840"/>
          </a:xfrm>
          <a:prstGeom prst="roundRect">
            <a:avLst>
              <a:gd name="adj" fmla="val 8182"/>
            </a:avLst>
          </a:prstGeom>
          <a:solidFill>
            <a:srgbClr val="1E3151"/>
          </a:solidFill>
          <a:ln w="12700">
            <a:solidFill>
              <a:srgbClr val="1E3151"/>
            </a:solidFill>
            <a:prstDash val="solid"/>
          </a:ln>
        </p:spPr>
      </p:sp>
      <p:sp>
        <p:nvSpPr>
          <p:cNvPr id="8" name="Text 6"/>
          <p:cNvSpPr txBox="1"/>
          <p:nvPr/>
        </p:nvSpPr>
        <p:spPr>
          <a:xfrm>
            <a:off x="1024128" y="457200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1</a:t>
            </a:r>
            <a:endParaRPr lang="en-US" sz="2200" dirty="0"/>
          </a:p>
        </p:txBody>
      </p:sp>
      <p:sp>
        <p:nvSpPr>
          <p:cNvPr id="9" name="Text 7"/>
          <p:cNvSpPr txBox="1"/>
          <p:nvPr/>
        </p:nvSpPr>
        <p:spPr>
          <a:xfrm>
            <a:off x="10241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Formula, built from yesterday's SE</a:t>
            </a:r>
            <a:endParaRPr lang="en-US" sz="1050" dirty="0"/>
          </a:p>
        </p:txBody>
      </p:sp>
      <p:sp>
        <p:nvSpPr>
          <p:cNvPr id="10" name="Shape 8"/>
          <p:cNvSpPr/>
          <p:nvPr/>
        </p:nvSpPr>
        <p:spPr>
          <a:xfrm>
            <a:off x="3566160" y="4480560"/>
            <a:ext cx="2468880" cy="1005840"/>
          </a:xfrm>
          <a:prstGeom prst="roundRect">
            <a:avLst>
              <a:gd name="adj" fmla="val 8182"/>
            </a:avLst>
          </a:prstGeom>
          <a:solidFill>
            <a:srgbClr val="1E3151"/>
          </a:solidFill>
          <a:ln w="12700">
            <a:solidFill>
              <a:srgbClr val="1E3151"/>
            </a:solidFill>
            <a:prstDash val="solid"/>
          </a:ln>
        </p:spPr>
      </p:sp>
      <p:sp>
        <p:nvSpPr>
          <p:cNvPr id="11" name="Text 9"/>
          <p:cNvSpPr txBox="1"/>
          <p:nvPr/>
        </p:nvSpPr>
        <p:spPr>
          <a:xfrm>
            <a:off x="3767328" y="457200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4</a:t>
            </a:r>
            <a:endParaRPr lang="en-US" sz="2200" dirty="0"/>
          </a:p>
        </p:txBody>
      </p:sp>
      <p:sp>
        <p:nvSpPr>
          <p:cNvPr id="12" name="Text 10"/>
          <p:cNvSpPr txBox="1"/>
          <p:nvPr/>
        </p:nvSpPr>
        <p:spPr>
          <a:xfrm>
            <a:off x="37673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Ways people misread a p-value</a:t>
            </a:r>
            <a:endParaRPr lang="en-US" sz="1050" dirty="0"/>
          </a:p>
        </p:txBody>
      </p:sp>
      <p:sp>
        <p:nvSpPr>
          <p:cNvPr id="13" name="Shape 11"/>
          <p:cNvSpPr/>
          <p:nvPr/>
        </p:nvSpPr>
        <p:spPr>
          <a:xfrm>
            <a:off x="6309360" y="4480560"/>
            <a:ext cx="2468880" cy="1005840"/>
          </a:xfrm>
          <a:prstGeom prst="roundRect">
            <a:avLst>
              <a:gd name="adj" fmla="val 8182"/>
            </a:avLst>
          </a:prstGeom>
          <a:solidFill>
            <a:srgbClr val="1E3151"/>
          </a:solidFill>
          <a:ln w="12700">
            <a:solidFill>
              <a:srgbClr val="1E3151"/>
            </a:solidFill>
            <a:prstDash val="solid"/>
          </a:ln>
        </p:spPr>
      </p:sp>
      <p:sp>
        <p:nvSpPr>
          <p:cNvPr id="14" name="Text 12"/>
          <p:cNvSpPr txBox="1"/>
          <p:nvPr/>
        </p:nvSpPr>
        <p:spPr>
          <a:xfrm>
            <a:off x="6510528" y="457200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65105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Habits that quietly break it</a:t>
            </a:r>
            <a:endParaRPr lang="en-US" sz="10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28/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WHY THIS SESSION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maths is small. The misuse is enormous.</a:t>
            </a:r>
            <a:endParaRPr lang="en-US" sz="3200" dirty="0"/>
          </a:p>
        </p:txBody>
      </p:sp>
      <p:sp>
        <p:nvSpPr>
          <p:cNvPr id="5" name="Shape 3"/>
          <p:cNvSpPr/>
          <p:nvPr/>
        </p:nvSpPr>
        <p:spPr>
          <a:xfrm>
            <a:off x="548640" y="1600200"/>
            <a:ext cx="5486400" cy="2194560"/>
          </a:xfrm>
          <a:prstGeom prst="roundRect">
            <a:avLst>
              <a:gd name="adj" fmla="val 37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64792"/>
            <a:ext cx="4937760" cy="292608"/>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The whole formula</a:t>
            </a:r>
            <a:endParaRPr lang="en-US" sz="1400" dirty="0"/>
          </a:p>
        </p:txBody>
      </p:sp>
      <p:sp>
        <p:nvSpPr>
          <p:cNvPr id="7" name="Text 5"/>
          <p:cNvSpPr txBox="1"/>
          <p:nvPr/>
        </p:nvSpPr>
        <p:spPr>
          <a:xfrm>
            <a:off x="822960" y="2176272"/>
            <a:ext cx="4983480" cy="384048"/>
          </a:xfrm>
          <a:prstGeom prst="rect">
            <a:avLst/>
          </a:prstGeom>
          <a:noFill/>
          <a:ln/>
        </p:spPr>
        <p:txBody>
          <a:bodyPr wrap="square" lIns="0" tIns="0" rIns="0" bIns="0" rtlCol="0" anchor="ctr"/>
          <a:lstStyle/>
          <a:p>
            <a:pPr algn="ctr" indent="0" marL="0">
              <a:buNone/>
            </a:pPr>
            <a:r>
              <a:rPr lang="en-US" sz="1600" b="1" dirty="0">
                <a:solidFill>
                  <a:srgbClr val="3E7CB1"/>
                </a:solidFill>
                <a:latin typeface="Cambria" pitchFamily="34" charset="0"/>
                <a:ea typeface="Cambria" pitchFamily="34" charset="-122"/>
                <a:cs typeface="Cambria" pitchFamily="34" charset="-120"/>
              </a:rPr>
              <a:t>t  =  (what we saw − what we expected) / SE</a:t>
            </a:r>
            <a:endParaRPr lang="en-US" sz="1600" dirty="0"/>
          </a:p>
        </p:txBody>
      </p:sp>
      <p:sp>
        <p:nvSpPr>
          <p:cNvPr id="8" name="Text 6"/>
          <p:cNvSpPr txBox="1"/>
          <p:nvPr/>
        </p:nvSpPr>
        <p:spPr>
          <a:xfrm>
            <a:off x="822960" y="2697480"/>
            <a:ext cx="4983480" cy="91440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That is it. The SE is yesterday's σ/√n. You already have every piece; today just adds a decision rule on top.</a:t>
            </a:r>
            <a:endParaRPr lang="en-US" sz="1250" dirty="0"/>
          </a:p>
        </p:txBody>
      </p:sp>
      <p:sp>
        <p:nvSpPr>
          <p:cNvPr id="9" name="Shape 7"/>
          <p:cNvSpPr/>
          <p:nvPr/>
        </p:nvSpPr>
        <p:spPr>
          <a:xfrm>
            <a:off x="6309360" y="1600200"/>
            <a:ext cx="5303520" cy="2194560"/>
          </a:xfrm>
          <a:prstGeom prst="roundRect">
            <a:avLst>
              <a:gd name="adj" fmla="val 375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64792"/>
            <a:ext cx="4754880" cy="292608"/>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And the reason it needs two hours</a:t>
            </a:r>
            <a:endParaRPr lang="en-US" sz="1400" dirty="0"/>
          </a:p>
        </p:txBody>
      </p:sp>
      <p:sp>
        <p:nvSpPr>
          <p:cNvPr id="11" name="Text 9"/>
          <p:cNvSpPr txBox="1"/>
          <p:nvPr/>
        </p:nvSpPr>
        <p:spPr>
          <a:xfrm>
            <a:off x="6565392" y="2148840"/>
            <a:ext cx="4800600" cy="155448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This is the single most misused tool in applied statistics. Entire research literatures have been built on p-values that did not mean what their authors thought.</a:t>
            </a:r>
            <a:endParaRPr lang="en-US" sz="1250" dirty="0"/>
          </a:p>
          <a:p>
            <a:pPr indent="0" marL="0">
              <a:lnSpc>
                <a:spcPct val="120000"/>
              </a:lnSpc>
              <a:buNone/>
            </a:pPr>
            <a:endParaRPr lang="en-US" sz="1250" dirty="0"/>
          </a:p>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The formula takes ten minutes. Knowing when it lies to you takes the rest.</a:t>
            </a:r>
            <a:endParaRPr lang="en-US" sz="1250" dirty="0"/>
          </a:p>
        </p:txBody>
      </p:sp>
      <p:sp>
        <p:nvSpPr>
          <p:cNvPr id="12" name="Shape 10"/>
          <p:cNvSpPr/>
          <p:nvPr/>
        </p:nvSpPr>
        <p:spPr>
          <a:xfrm>
            <a:off x="548640" y="3931920"/>
            <a:ext cx="11064240" cy="1920240"/>
          </a:xfrm>
          <a:prstGeom prst="roundRect">
            <a:avLst>
              <a:gd name="adj" fmla="val 428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868680" y="4087368"/>
            <a:ext cx="8229600" cy="274320"/>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Four claims today, in order of how much they will bother you</a:t>
            </a:r>
            <a:endParaRPr lang="en-US" sz="1450" dirty="0"/>
          </a:p>
        </p:txBody>
      </p:sp>
      <p:sp>
        <p:nvSpPr>
          <p:cNvPr id="14" name="Shape 12"/>
          <p:cNvSpPr/>
          <p:nvPr/>
        </p:nvSpPr>
        <p:spPr>
          <a:xfrm>
            <a:off x="914400" y="4453128"/>
            <a:ext cx="292608" cy="292608"/>
          </a:xfrm>
          <a:prstGeom prst="ellipse">
            <a:avLst/>
          </a:prstGeom>
          <a:solidFill>
            <a:srgbClr val="3E7CB1"/>
          </a:solidFill>
          <a:ln w="12700">
            <a:solidFill>
              <a:srgbClr val="3E7CB1"/>
            </a:solidFill>
            <a:prstDash val="solid"/>
          </a:ln>
        </p:spPr>
      </p:sp>
      <p:sp>
        <p:nvSpPr>
          <p:cNvPr id="15" name="Text 13"/>
          <p:cNvSpPr txBox="1"/>
          <p:nvPr/>
        </p:nvSpPr>
        <p:spPr>
          <a:xfrm>
            <a:off x="914400" y="445312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4"/>
          <p:cNvSpPr txBox="1"/>
          <p:nvPr/>
        </p:nvSpPr>
        <p:spPr>
          <a:xfrm>
            <a:off x="1353312" y="4443984"/>
            <a:ext cx="9966960" cy="310896"/>
          </a:xfrm>
          <a:prstGeom prst="rect">
            <a:avLst/>
          </a:prstGeom>
          <a:noFill/>
          <a:ln/>
        </p:spPr>
        <p:txBody>
          <a:bodyPr wrap="square" lIns="0" tIns="0" rIns="0" bIns="0" rtlCol="0" anchor="ctr"/>
          <a:lstStyle/>
          <a:p>
            <a:pPr indent="0" marL="0">
              <a:buNone/>
            </a:pPr>
            <a:r>
              <a:rPr lang="en-US" sz="1300" dirty="0">
                <a:solidFill>
                  <a:srgbClr val="2B3445"/>
                </a:solidFill>
                <a:latin typeface="Calibri" pitchFamily="34" charset="0"/>
                <a:ea typeface="Calibri" pitchFamily="34" charset="-122"/>
                <a:cs typeface="Calibri" pitchFamily="34" charset="-120"/>
              </a:rPr>
              <a:t>A p-value is NOT the probability that your hypothesis is wrong</a:t>
            </a:r>
            <a:endParaRPr lang="en-US" sz="1300" dirty="0"/>
          </a:p>
        </p:txBody>
      </p:sp>
      <p:sp>
        <p:nvSpPr>
          <p:cNvPr id="17" name="Shape 15"/>
          <p:cNvSpPr/>
          <p:nvPr/>
        </p:nvSpPr>
        <p:spPr>
          <a:xfrm>
            <a:off x="914400" y="4818888"/>
            <a:ext cx="292608" cy="292608"/>
          </a:xfrm>
          <a:prstGeom prst="ellipse">
            <a:avLst/>
          </a:prstGeom>
          <a:solidFill>
            <a:srgbClr val="FFC145"/>
          </a:solidFill>
          <a:ln w="12700">
            <a:solidFill>
              <a:srgbClr val="FFC145"/>
            </a:solidFill>
            <a:prstDash val="solid"/>
          </a:ln>
        </p:spPr>
      </p:sp>
      <p:sp>
        <p:nvSpPr>
          <p:cNvPr id="18" name="Text 16"/>
          <p:cNvSpPr txBox="1"/>
          <p:nvPr/>
        </p:nvSpPr>
        <p:spPr>
          <a:xfrm>
            <a:off x="914400" y="4818888"/>
            <a:ext cx="292608" cy="292608"/>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1353312" y="4809744"/>
            <a:ext cx="9966960" cy="310896"/>
          </a:xfrm>
          <a:prstGeom prst="rect">
            <a:avLst/>
          </a:prstGeom>
          <a:noFill/>
          <a:ln/>
        </p:spPr>
        <p:txBody>
          <a:bodyPr wrap="square" lIns="0" tIns="0" rIns="0" bIns="0" rtlCol="0" anchor="ctr"/>
          <a:lstStyle/>
          <a:p>
            <a:pPr indent="0" marL="0">
              <a:buNone/>
            </a:pPr>
            <a:r>
              <a:rPr lang="en-US" sz="1300" dirty="0">
                <a:solidFill>
                  <a:srgbClr val="2B3445"/>
                </a:solidFill>
                <a:latin typeface="Calibri" pitchFamily="34" charset="0"/>
                <a:ea typeface="Calibri" pitchFamily="34" charset="-122"/>
                <a:cs typeface="Calibri" pitchFamily="34" charset="-120"/>
              </a:rPr>
              <a:t>p = 0.049 and p = 0.051 differ by 0.017 in the test statistic</a:t>
            </a:r>
            <a:endParaRPr lang="en-US" sz="1300" dirty="0"/>
          </a:p>
        </p:txBody>
      </p:sp>
      <p:sp>
        <p:nvSpPr>
          <p:cNvPr id="20" name="Shape 18"/>
          <p:cNvSpPr/>
          <p:nvPr/>
        </p:nvSpPr>
        <p:spPr>
          <a:xfrm>
            <a:off x="914400" y="5184648"/>
            <a:ext cx="292608" cy="292608"/>
          </a:xfrm>
          <a:prstGeom prst="ellipse">
            <a:avLst/>
          </a:prstGeom>
          <a:solidFill>
            <a:srgbClr val="E8674C"/>
          </a:solidFill>
          <a:ln w="12700">
            <a:solidFill>
              <a:srgbClr val="E8674C"/>
            </a:solidFill>
            <a:prstDash val="solid"/>
          </a:ln>
        </p:spPr>
      </p:sp>
      <p:sp>
        <p:nvSpPr>
          <p:cNvPr id="21" name="Text 19"/>
          <p:cNvSpPr txBox="1"/>
          <p:nvPr/>
        </p:nvSpPr>
        <p:spPr>
          <a:xfrm>
            <a:off x="914400" y="51846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1353312" y="5175504"/>
            <a:ext cx="9966960" cy="310896"/>
          </a:xfrm>
          <a:prstGeom prst="rect">
            <a:avLst/>
          </a:prstGeom>
          <a:noFill/>
          <a:ln/>
        </p:spPr>
        <p:txBody>
          <a:bodyPr wrap="square" lIns="0" tIns="0" rIns="0" bIns="0" rtlCol="0" anchor="ctr"/>
          <a:lstStyle/>
          <a:p>
            <a:pPr indent="0" marL="0">
              <a:buNone/>
            </a:pPr>
            <a:r>
              <a:rPr lang="en-US" sz="1300" dirty="0">
                <a:solidFill>
                  <a:srgbClr val="2B3445"/>
                </a:solidFill>
                <a:latin typeface="Calibri" pitchFamily="34" charset="0"/>
                <a:ea typeface="Calibri" pitchFamily="34" charset="-122"/>
                <a:cs typeface="Calibri" pitchFamily="34" charset="-120"/>
              </a:rPr>
              <a:t>Two ordinary research habits triple your false positive rate</a:t>
            </a:r>
            <a:endParaRPr lang="en-US" sz="1300" dirty="0"/>
          </a:p>
        </p:txBody>
      </p:sp>
      <p:sp>
        <p:nvSpPr>
          <p:cNvPr id="23" name="Shape 21"/>
          <p:cNvSpPr/>
          <p:nvPr/>
        </p:nvSpPr>
        <p:spPr>
          <a:xfrm>
            <a:off x="914400" y="5550408"/>
            <a:ext cx="292608" cy="292608"/>
          </a:xfrm>
          <a:prstGeom prst="ellipse">
            <a:avLst/>
          </a:prstGeom>
          <a:solidFill>
            <a:srgbClr val="E8674C"/>
          </a:solidFill>
          <a:ln w="12700">
            <a:solidFill>
              <a:srgbClr val="E8674C"/>
            </a:solidFill>
            <a:prstDash val="solid"/>
          </a:ln>
        </p:spPr>
      </p:sp>
      <p:sp>
        <p:nvSpPr>
          <p:cNvPr id="24" name="Text 22"/>
          <p:cNvSpPr txBox="1"/>
          <p:nvPr/>
        </p:nvSpPr>
        <p:spPr>
          <a:xfrm>
            <a:off x="914400" y="555040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1353312" y="5541264"/>
            <a:ext cx="9966960" cy="310896"/>
          </a:xfrm>
          <a:prstGeom prst="rect">
            <a:avLst/>
          </a:prstGeom>
          <a:noFill/>
          <a:ln/>
        </p:spPr>
        <p:txBody>
          <a:bodyPr wrap="square" lIns="0" tIns="0" rIns="0" bIns="0" rtlCol="0" anchor="ctr"/>
          <a:lstStyle/>
          <a:p>
            <a:pPr indent="0" marL="0">
              <a:buNone/>
            </a:pPr>
            <a:r>
              <a:rPr lang="en-US" sz="1300" dirty="0">
                <a:solidFill>
                  <a:srgbClr val="2B3445"/>
                </a:solidFill>
                <a:latin typeface="Calibri" pitchFamily="34" charset="0"/>
                <a:ea typeface="Calibri" pitchFamily="34" charset="-122"/>
                <a:cs typeface="Calibri" pitchFamily="34" charset="-120"/>
              </a:rPr>
              <a:t>In some fields, most “significant” findings are false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WARM-UP  ·  5 MINUTES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Four questions from Day 27</a:t>
            </a:r>
            <a:endParaRPr lang="en-US" sz="3200" dirty="0"/>
          </a:p>
        </p:txBody>
      </p:sp>
      <p:sp>
        <p:nvSpPr>
          <p:cNvPr id="5" name="Shape 3"/>
          <p:cNvSpPr/>
          <p:nvPr/>
        </p:nvSpPr>
        <p:spPr>
          <a:xfrm>
            <a:off x="548640" y="1627632"/>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83080"/>
            <a:ext cx="365760" cy="365760"/>
          </a:xfrm>
          <a:prstGeom prst="ellipse">
            <a:avLst/>
          </a:prstGeom>
          <a:solidFill>
            <a:srgbClr val="3E7CB1"/>
          </a:solidFill>
          <a:ln w="12700">
            <a:solidFill>
              <a:srgbClr val="3E7CB1"/>
            </a:solidFill>
            <a:prstDash val="solid"/>
          </a:ln>
        </p:spPr>
      </p:sp>
      <p:sp>
        <p:nvSpPr>
          <p:cNvPr id="7" name="Text 5"/>
          <p:cNvSpPr txBox="1"/>
          <p:nvPr/>
        </p:nvSpPr>
        <p:spPr>
          <a:xfrm>
            <a:off x="777240" y="1783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792224"/>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What is the standard error?</a:t>
            </a:r>
            <a:endParaRPr lang="en-US" sz="1300" dirty="0"/>
          </a:p>
        </p:txBody>
      </p:sp>
      <p:sp>
        <p:nvSpPr>
          <p:cNvPr id="9" name="Text 7"/>
          <p:cNvSpPr txBox="1"/>
          <p:nvPr/>
        </p:nvSpPr>
        <p:spPr>
          <a:xfrm>
            <a:off x="6217920" y="1792224"/>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σ/√n — how far a sample mean lands from the truth.</a:t>
            </a:r>
            <a:endParaRPr lang="en-US" sz="1250" dirty="0"/>
          </a:p>
        </p:txBody>
      </p:sp>
      <p:sp>
        <p:nvSpPr>
          <p:cNvPr id="10" name="Shape 8"/>
          <p:cNvSpPr/>
          <p:nvPr/>
        </p:nvSpPr>
        <p:spPr>
          <a:xfrm>
            <a:off x="548640" y="2414016"/>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777240" y="2569464"/>
            <a:ext cx="365760" cy="365760"/>
          </a:xfrm>
          <a:prstGeom prst="ellipse">
            <a:avLst/>
          </a:prstGeom>
          <a:solidFill>
            <a:srgbClr val="3E7CB1"/>
          </a:solidFill>
          <a:ln w="12700">
            <a:solidFill>
              <a:srgbClr val="3E7CB1"/>
            </a:solidFill>
            <a:prstDash val="solid"/>
          </a:ln>
        </p:spPr>
      </p:sp>
      <p:sp>
        <p:nvSpPr>
          <p:cNvPr id="12" name="Text 10"/>
          <p:cNvSpPr txBox="1"/>
          <p:nvPr/>
        </p:nvSpPr>
        <p:spPr>
          <a:xfrm>
            <a:off x="777240" y="25694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298448" y="2578608"/>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σ or SE: which describes people?</a:t>
            </a:r>
            <a:endParaRPr lang="en-US" sz="1300" dirty="0"/>
          </a:p>
        </p:txBody>
      </p:sp>
      <p:sp>
        <p:nvSpPr>
          <p:cNvPr id="14" name="Text 12"/>
          <p:cNvSpPr txBox="1"/>
          <p:nvPr/>
        </p:nvSpPr>
        <p:spPr>
          <a:xfrm>
            <a:off x="6217920" y="2578608"/>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σ. SE describes how well you measured the average.</a:t>
            </a:r>
            <a:endParaRPr lang="en-US" sz="1250" dirty="0"/>
          </a:p>
        </p:txBody>
      </p:sp>
      <p:sp>
        <p:nvSpPr>
          <p:cNvPr id="15" name="Shape 13"/>
          <p:cNvSpPr/>
          <p:nvPr/>
        </p:nvSpPr>
        <p:spPr>
          <a:xfrm>
            <a:off x="548640" y="3200400"/>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77240" y="3355848"/>
            <a:ext cx="365760" cy="365760"/>
          </a:xfrm>
          <a:prstGeom prst="ellipse">
            <a:avLst/>
          </a:prstGeom>
          <a:solidFill>
            <a:srgbClr val="3E7CB1"/>
          </a:solidFill>
          <a:ln w="12700">
            <a:solidFill>
              <a:srgbClr val="3E7CB1"/>
            </a:solidFill>
            <a:prstDash val="solid"/>
          </a:ln>
        </p:spPr>
      </p:sp>
      <p:sp>
        <p:nvSpPr>
          <p:cNvPr id="17" name="Text 15"/>
          <p:cNvSpPr txBox="1"/>
          <p:nvPr/>
        </p:nvSpPr>
        <p:spPr>
          <a:xfrm>
            <a:off x="777240" y="3355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98448" y="3364992"/>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Does the CLT make your data normal?</a:t>
            </a:r>
            <a:endParaRPr lang="en-US" sz="1300" dirty="0"/>
          </a:p>
        </p:txBody>
      </p:sp>
      <p:sp>
        <p:nvSpPr>
          <p:cNvPr id="19" name="Text 17"/>
          <p:cNvSpPr txBox="1"/>
          <p:nvPr/>
        </p:nvSpPr>
        <p:spPr>
          <a:xfrm>
            <a:off x="6217920" y="3364992"/>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No. It never did. It is about the MEAN.</a:t>
            </a:r>
            <a:endParaRPr lang="en-US" sz="1250" dirty="0"/>
          </a:p>
        </p:txBody>
      </p:sp>
      <p:sp>
        <p:nvSpPr>
          <p:cNvPr id="20" name="Shape 18"/>
          <p:cNvSpPr/>
          <p:nvPr/>
        </p:nvSpPr>
        <p:spPr>
          <a:xfrm>
            <a:off x="548640" y="3986784"/>
            <a:ext cx="11064240" cy="676656"/>
          </a:xfrm>
          <a:prstGeom prst="roundRect">
            <a:avLst>
              <a:gd name="adj" fmla="val 121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77240" y="4142232"/>
            <a:ext cx="365760" cy="365760"/>
          </a:xfrm>
          <a:prstGeom prst="ellipse">
            <a:avLst/>
          </a:prstGeom>
          <a:solidFill>
            <a:srgbClr val="3E7CB1"/>
          </a:solidFill>
          <a:ln w="12700">
            <a:solidFill>
              <a:srgbClr val="3E7CB1"/>
            </a:solidFill>
            <a:prstDash val="solid"/>
          </a:ln>
        </p:spPr>
      </p:sp>
      <p:sp>
        <p:nvSpPr>
          <p:cNvPr id="22" name="Text 20"/>
          <p:cNvSpPr txBox="1"/>
          <p:nvPr/>
        </p:nvSpPr>
        <p:spPr>
          <a:xfrm>
            <a:off x="777240" y="4142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298448" y="4151376"/>
            <a:ext cx="4846320" cy="31089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Name one way the CLT fails.</a:t>
            </a:r>
            <a:endParaRPr lang="en-US" sz="1300" dirty="0"/>
          </a:p>
        </p:txBody>
      </p:sp>
      <p:sp>
        <p:nvSpPr>
          <p:cNvPr id="24" name="Text 22"/>
          <p:cNvSpPr txBox="1"/>
          <p:nvPr/>
        </p:nvSpPr>
        <p:spPr>
          <a:xfrm>
            <a:off x="6217920" y="4151376"/>
            <a:ext cx="5212080" cy="310896"/>
          </a:xfrm>
          <a:prstGeom prst="rect">
            <a:avLst/>
          </a:prstGeom>
          <a:noFill/>
          <a:ln/>
        </p:spPr>
        <p:txBody>
          <a:bodyPr wrap="square" lIns="0" tIns="0" rIns="0" bIns="0" rtlCol="0" anchor="ctr"/>
          <a:lstStyle/>
          <a:p>
            <a:pPr indent="0" marL="0">
              <a:buNone/>
            </a:pPr>
            <a:r>
              <a:rPr lang="en-US" sz="1250" b="1" dirty="0">
                <a:solidFill>
                  <a:srgbClr val="2FA98C"/>
                </a:solidFill>
                <a:latin typeface="Calibri" pitchFamily="34" charset="0"/>
                <a:ea typeface="Calibri" pitchFamily="34" charset="-122"/>
                <a:cs typeface="Calibri" pitchFamily="34" charset="-120"/>
              </a:rPr>
              <a:t>→   </a:t>
            </a:r>
            <a:pPr indent="0" marL="0">
              <a:buNone/>
            </a:pPr>
            <a:r>
              <a:rPr lang="en-US" sz="1250" dirty="0">
                <a:solidFill>
                  <a:srgbClr val="2B3445"/>
                </a:solidFill>
                <a:latin typeface="Calibri" pitchFamily="34" charset="0"/>
                <a:ea typeface="Calibri" pitchFamily="34" charset="-122"/>
                <a:cs typeface="Calibri" pitchFamily="34" charset="-120"/>
              </a:rPr>
              <a:t>Infinite variance, or dependent observations.</a:t>
            </a:r>
            <a:endParaRPr lang="en-US" sz="1250" dirty="0"/>
          </a:p>
        </p:txBody>
      </p:sp>
      <p:sp>
        <p:nvSpPr>
          <p:cNvPr id="25" name="Shape 23"/>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5120640"/>
            <a:ext cx="10424160" cy="548640"/>
          </a:xfrm>
          <a:prstGeom prst="rect">
            <a:avLst/>
          </a:prstGeom>
          <a:noFill/>
          <a:ln/>
        </p:spPr>
        <p:txBody>
          <a:bodyPr wrap="square" lIns="0" tIns="0" rIns="0" bIns="0" rtlCol="0" anchor="ctr"/>
          <a:lstStyle/>
          <a:p>
            <a:pPr indent="0" marL="0">
              <a:buNone/>
            </a:pPr>
            <a:r>
              <a:rPr lang="en-US" sz="1300" i="1" dirty="0">
                <a:solidFill>
                  <a:srgbClr val="8A5B00"/>
                </a:solidFill>
                <a:latin typeface="Calibri" pitchFamily="34" charset="0"/>
                <a:ea typeface="Calibri" pitchFamily="34" charset="-122"/>
                <a:cs typeface="Calibri" pitchFamily="34" charset="-120"/>
              </a:rPr>
              <a:t>Everything today is built on that first answer. A hypothesis test asks one question: is the gap I observed large compared with the SE — the noise I already know how to compute?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The logic and the formula</a:t>
            </a:r>
            <a:endParaRPr lang="en-US" sz="155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Assume nothing, measure surprise</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15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E8674C"/>
          </a:solidFill>
          <a:ln w="12700">
            <a:solidFill>
              <a:srgbClr val="E8674C"/>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What a p-value is</a:t>
            </a:r>
            <a:endParaRPr lang="en-US" sz="155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And the four things it is not</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FFC145"/>
          </a:solidFill>
          <a:ln w="12700">
            <a:solidFill>
              <a:srgbClr val="FFC145"/>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Choosing the right test</a:t>
            </a:r>
            <a:endParaRPr lang="en-US" sz="155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Welch, paired, and t vs z</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20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3E7CB1"/>
          </a:solidFill>
          <a:ln w="12700">
            <a:solidFill>
              <a:srgbClr val="3E7CB1"/>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The two errors, and power</a:t>
            </a:r>
            <a:endParaRPr lang="en-US" sz="155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Why “not significant” says little</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15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E8674C"/>
          </a:solidFill>
          <a:ln w="12700">
            <a:solidFill>
              <a:srgbClr val="E8674C"/>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How it goes wrong</a:t>
            </a:r>
            <a:endParaRPr lang="en-US" sz="155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Multiplicity, p-hacking, base rates</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Practice notebook</a:t>
            </a:r>
            <a:endParaRPr lang="en-US" sz="155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Sections 2 and 5 are the ones that matter. Most courses teach section 1 and stop, which is how the misuse gets passed 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Logic</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Assume nothing, then measure surprise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null hypothesis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formula</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A worked test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THE LOGIC</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whole idea, in one picture</a:t>
            </a:r>
            <a:endParaRPr lang="en-US" sz="3200" dirty="0"/>
          </a:p>
        </p:txBody>
      </p:sp>
      <p:pic>
        <p:nvPicPr>
          <p:cNvPr id="5" name="Image 0" descr="/home/claude/day28/fig/the_logic.png">    </p:cNvPr>
          <p:cNvPicPr>
            <a:picLocks noChangeAspect="1"/>
          </p:cNvPicPr>
          <p:nvPr/>
        </p:nvPicPr>
        <p:blipFill>
          <a:blip r:embed="rId1"/>
          <a:stretch>
            <a:fillRect/>
          </a:stretch>
        </p:blipFill>
        <p:spPr>
          <a:xfrm>
            <a:off x="2514600" y="1536192"/>
            <a:ext cx="7132320" cy="3480878"/>
          </a:xfrm>
          <a:prstGeom prst="rect">
            <a:avLst/>
          </a:prstGeom>
        </p:spPr>
      </p:pic>
      <p:sp>
        <p:nvSpPr>
          <p:cNvPr id="6" name="Shape 3"/>
          <p:cNvSpPr/>
          <p:nvPr/>
        </p:nvSpPr>
        <p:spPr>
          <a:xfrm>
            <a:off x="548640" y="5193792"/>
            <a:ext cx="11064240" cy="868680"/>
          </a:xfrm>
          <a:prstGeom prst="roundRect">
            <a:avLst>
              <a:gd name="adj" fmla="val 9474"/>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358384"/>
            <a:ext cx="10424160" cy="548640"/>
          </a:xfrm>
          <a:prstGeom prst="rect">
            <a:avLst/>
          </a:prstGeom>
          <a:noFill/>
          <a:ln/>
        </p:spPr>
        <p:txBody>
          <a:bodyPr wrap="square" lIns="0" tIns="0" rIns="0" bIns="0" rtlCol="0" anchor="ctr"/>
          <a:lstStyle/>
          <a:p>
            <a:pPr indent="0" marL="0">
              <a:lnSpc>
                <a:spcPct val="115000"/>
              </a:lnSpc>
              <a:buNone/>
            </a:pPr>
            <a:r>
              <a:rPr lang="en-US" sz="1250" dirty="0">
                <a:solidFill>
                  <a:srgbClr val="1F3A5F"/>
                </a:solidFill>
                <a:latin typeface="Calibri" pitchFamily="34" charset="0"/>
                <a:ea typeface="Calibri" pitchFamily="34" charset="-122"/>
                <a:cs typeface="Calibri" pitchFamily="34" charset="-120"/>
              </a:rPr>
              <a:t>Read it as a proof by contradiction, run on probabilities rather than logic: assume nothing is happening, work out what the data would look like under that assumption, and see whether what you actually got is a comfortable fit or an awkward one.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THE MACHINERY</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formula is yesterday's standard error, rearranged</a:t>
            </a:r>
            <a:endParaRPr lang="en-US" sz="3200" dirty="0"/>
          </a:p>
        </p:txBody>
      </p:sp>
      <p:sp>
        <p:nvSpPr>
          <p:cNvPr id="5" name="Shape 3"/>
          <p:cNvSpPr/>
          <p:nvPr/>
        </p:nvSpPr>
        <p:spPr>
          <a:xfrm>
            <a:off x="548640" y="1572768"/>
            <a:ext cx="11064240" cy="1051560"/>
          </a:xfrm>
          <a:prstGeom prst="roundRect">
            <a:avLst>
              <a:gd name="adj" fmla="val 7826"/>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68680" y="1755648"/>
            <a:ext cx="10424160" cy="457200"/>
          </a:xfrm>
          <a:prstGeom prst="rect">
            <a:avLst/>
          </a:prstGeom>
          <a:noFill/>
          <a:ln/>
        </p:spPr>
        <p:txBody>
          <a:bodyPr wrap="square" lIns="0" tIns="0" rIns="0" bIns="0" rtlCol="0" anchor="ctr"/>
          <a:lstStyle/>
          <a:p>
            <a:pPr algn="ctr" indent="0" marL="0">
              <a:buNone/>
            </a:pPr>
            <a:r>
              <a:rPr lang="en-US" sz="2400" b="1" dirty="0">
                <a:solidFill>
                  <a:srgbClr val="1F3A5F"/>
                </a:solidFill>
                <a:latin typeface="Cambria" pitchFamily="34" charset="0"/>
                <a:ea typeface="Cambria" pitchFamily="34" charset="-122"/>
                <a:cs typeface="Cambria" pitchFamily="34" charset="-120"/>
              </a:rPr>
              <a:t>t   =   (what we saw   −   what we would expect)   /   SE</a:t>
            </a:r>
            <a:endParaRPr lang="en-US" sz="2400" dirty="0"/>
          </a:p>
        </p:txBody>
      </p:sp>
      <p:sp>
        <p:nvSpPr>
          <p:cNvPr id="7" name="Text 5"/>
          <p:cNvSpPr txBox="1"/>
          <p:nvPr/>
        </p:nvSpPr>
        <p:spPr>
          <a:xfrm>
            <a:off x="868680" y="2212848"/>
            <a:ext cx="10424160" cy="274320"/>
          </a:xfrm>
          <a:prstGeom prst="rect">
            <a:avLst/>
          </a:prstGeom>
          <a:noFill/>
          <a:ln/>
        </p:spPr>
        <p:txBody>
          <a:bodyPr wrap="square" lIns="0" tIns="0" rIns="0" bIns="0" rtlCol="0" anchor="ctr"/>
          <a:lstStyle/>
          <a:p>
            <a:pPr algn="ctr" indent="0" marL="0">
              <a:buNone/>
            </a:pPr>
            <a:r>
              <a:rPr lang="en-US" sz="1300" i="1" dirty="0">
                <a:solidFill>
                  <a:srgbClr val="6B7789"/>
                </a:solidFill>
                <a:latin typeface="Calibri" pitchFamily="34" charset="0"/>
                <a:ea typeface="Calibri" pitchFamily="34" charset="-122"/>
                <a:cs typeface="Calibri" pitchFamily="34" charset="-120"/>
              </a:rPr>
              <a:t>“how many standard errors away from boring is this?”</a:t>
            </a:r>
            <a:endParaRPr lang="en-US" sz="1300" dirty="0"/>
          </a:p>
        </p:txBody>
      </p:sp>
      <p:sp>
        <p:nvSpPr>
          <p:cNvPr id="8" name="Shape 6"/>
          <p:cNvSpPr/>
          <p:nvPr/>
        </p:nvSpPr>
        <p:spPr>
          <a:xfrm>
            <a:off x="548640" y="2834640"/>
            <a:ext cx="11064240" cy="658368"/>
          </a:xfrm>
          <a:prstGeom prst="roundRect">
            <a:avLst>
              <a:gd name="adj" fmla="val 125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804672" y="2962656"/>
            <a:ext cx="402336" cy="402336"/>
          </a:xfrm>
          <a:prstGeom prst="ellipse">
            <a:avLst/>
          </a:prstGeom>
          <a:solidFill>
            <a:srgbClr val="3E7CB1"/>
          </a:solidFill>
          <a:ln w="12700">
            <a:solidFill>
              <a:srgbClr val="3E7CB1"/>
            </a:solidFill>
            <a:prstDash val="solid"/>
          </a:ln>
        </p:spPr>
      </p:sp>
      <p:sp>
        <p:nvSpPr>
          <p:cNvPr id="10" name="Text 8"/>
          <p:cNvSpPr txBox="1"/>
          <p:nvPr/>
        </p:nvSpPr>
        <p:spPr>
          <a:xfrm>
            <a:off x="804672" y="29626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371600" y="2999232"/>
            <a:ext cx="3200400" cy="310896"/>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State the null</a:t>
            </a:r>
            <a:endParaRPr lang="en-US" sz="1400" dirty="0"/>
          </a:p>
        </p:txBody>
      </p:sp>
      <p:sp>
        <p:nvSpPr>
          <p:cNvPr id="12" name="Text 10"/>
          <p:cNvSpPr txBox="1"/>
          <p:nvPr/>
        </p:nvSpPr>
        <p:spPr>
          <a:xfrm>
            <a:off x="4754880" y="3008376"/>
            <a:ext cx="6583680" cy="310896"/>
          </a:xfrm>
          <a:prstGeom prst="rect">
            <a:avLst/>
          </a:prstGeom>
          <a:noFill/>
          <a:ln/>
        </p:spPr>
        <p:txBody>
          <a:bodyPr wrap="square" lIns="0" tIns="0" rIns="0" bIns="0" rtlCol="0" anchor="ctr"/>
          <a:lstStyle/>
          <a:p>
            <a:pPr indent="0" marL="0">
              <a:buNone/>
            </a:pPr>
            <a:r>
              <a:rPr lang="en-US" sz="1200" dirty="0">
                <a:solidFill>
                  <a:srgbClr val="2B3445"/>
                </a:solidFill>
                <a:latin typeface="Calibri" pitchFamily="34" charset="0"/>
                <a:ea typeface="Calibri" pitchFamily="34" charset="-122"/>
                <a:cs typeface="Calibri" pitchFamily="34" charset="-120"/>
              </a:rPr>
              <a:t>The boring version of the world: no difference, no effect, nothing happening.</a:t>
            </a:r>
            <a:endParaRPr lang="en-US" sz="1200" dirty="0"/>
          </a:p>
        </p:txBody>
      </p:sp>
      <p:sp>
        <p:nvSpPr>
          <p:cNvPr id="13" name="Shape 11"/>
          <p:cNvSpPr/>
          <p:nvPr/>
        </p:nvSpPr>
        <p:spPr>
          <a:xfrm>
            <a:off x="548640" y="3602736"/>
            <a:ext cx="11064240" cy="658368"/>
          </a:xfrm>
          <a:prstGeom prst="roundRect">
            <a:avLst>
              <a:gd name="adj" fmla="val 125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Shape 12"/>
          <p:cNvSpPr/>
          <p:nvPr/>
        </p:nvSpPr>
        <p:spPr>
          <a:xfrm>
            <a:off x="804672" y="3730752"/>
            <a:ext cx="402336" cy="402336"/>
          </a:xfrm>
          <a:prstGeom prst="ellipse">
            <a:avLst/>
          </a:prstGeom>
          <a:solidFill>
            <a:srgbClr val="3E7CB1"/>
          </a:solidFill>
          <a:ln w="12700">
            <a:solidFill>
              <a:srgbClr val="3E7CB1"/>
            </a:solidFill>
            <a:prstDash val="solid"/>
          </a:ln>
        </p:spPr>
      </p:sp>
      <p:sp>
        <p:nvSpPr>
          <p:cNvPr id="15" name="Text 13"/>
          <p:cNvSpPr txBox="1"/>
          <p:nvPr/>
        </p:nvSpPr>
        <p:spPr>
          <a:xfrm>
            <a:off x="804672" y="3730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1371600" y="3767328"/>
            <a:ext cx="3200400" cy="310896"/>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Compute the statistic</a:t>
            </a:r>
            <a:endParaRPr lang="en-US" sz="1400" dirty="0"/>
          </a:p>
        </p:txBody>
      </p:sp>
      <p:sp>
        <p:nvSpPr>
          <p:cNvPr id="17" name="Text 15"/>
          <p:cNvSpPr txBox="1"/>
          <p:nvPr/>
        </p:nvSpPr>
        <p:spPr>
          <a:xfrm>
            <a:off x="4754880" y="3776472"/>
            <a:ext cx="6583680" cy="310896"/>
          </a:xfrm>
          <a:prstGeom prst="rect">
            <a:avLst/>
          </a:prstGeom>
          <a:noFill/>
          <a:ln/>
        </p:spPr>
        <p:txBody>
          <a:bodyPr wrap="square" lIns="0" tIns="0" rIns="0" bIns="0" rtlCol="0" anchor="ctr"/>
          <a:lstStyle/>
          <a:p>
            <a:pPr indent="0" marL="0">
              <a:buNone/>
            </a:pPr>
            <a:r>
              <a:rPr lang="en-US" sz="1200" dirty="0">
                <a:solidFill>
                  <a:srgbClr val="2B3445"/>
                </a:solidFill>
                <a:latin typeface="Calibri" pitchFamily="34" charset="0"/>
                <a:ea typeface="Calibri" pitchFamily="34" charset="-122"/>
                <a:cs typeface="Calibri" pitchFamily="34" charset="-120"/>
              </a:rPr>
              <a:t>The gap, divided by the SE you learned to compute yesterday.</a:t>
            </a:r>
            <a:endParaRPr lang="en-US" sz="1200" dirty="0"/>
          </a:p>
        </p:txBody>
      </p:sp>
      <p:sp>
        <p:nvSpPr>
          <p:cNvPr id="18" name="Shape 16"/>
          <p:cNvSpPr/>
          <p:nvPr/>
        </p:nvSpPr>
        <p:spPr>
          <a:xfrm>
            <a:off x="548640" y="4370832"/>
            <a:ext cx="11064240" cy="658368"/>
          </a:xfrm>
          <a:prstGeom prst="roundRect">
            <a:avLst>
              <a:gd name="adj" fmla="val 125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9" name="Shape 17"/>
          <p:cNvSpPr/>
          <p:nvPr/>
        </p:nvSpPr>
        <p:spPr>
          <a:xfrm>
            <a:off x="804672" y="4498848"/>
            <a:ext cx="402336" cy="402336"/>
          </a:xfrm>
          <a:prstGeom prst="ellipse">
            <a:avLst/>
          </a:prstGeom>
          <a:solidFill>
            <a:srgbClr val="FFC145"/>
          </a:solidFill>
          <a:ln w="12700">
            <a:solidFill>
              <a:srgbClr val="FFC145"/>
            </a:solidFill>
            <a:prstDash val="solid"/>
          </a:ln>
        </p:spPr>
      </p:sp>
      <p:sp>
        <p:nvSpPr>
          <p:cNvPr id="20" name="Text 18"/>
          <p:cNvSpPr txBox="1"/>
          <p:nvPr/>
        </p:nvSpPr>
        <p:spPr>
          <a:xfrm>
            <a:off x="804672" y="4498848"/>
            <a:ext cx="402336" cy="402336"/>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1371600" y="4535424"/>
            <a:ext cx="3200400" cy="310896"/>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Find the p-value</a:t>
            </a:r>
            <a:endParaRPr lang="en-US" sz="1400" dirty="0"/>
          </a:p>
        </p:txBody>
      </p:sp>
      <p:sp>
        <p:nvSpPr>
          <p:cNvPr id="22" name="Text 20"/>
          <p:cNvSpPr txBox="1"/>
          <p:nvPr/>
        </p:nvSpPr>
        <p:spPr>
          <a:xfrm>
            <a:off x="4754880" y="4544568"/>
            <a:ext cx="6583680" cy="310896"/>
          </a:xfrm>
          <a:prstGeom prst="rect">
            <a:avLst/>
          </a:prstGeom>
          <a:noFill/>
          <a:ln/>
        </p:spPr>
        <p:txBody>
          <a:bodyPr wrap="square" lIns="0" tIns="0" rIns="0" bIns="0" rtlCol="0" anchor="ctr"/>
          <a:lstStyle/>
          <a:p>
            <a:pPr indent="0" marL="0">
              <a:buNone/>
            </a:pPr>
            <a:r>
              <a:rPr lang="en-US" sz="1200" dirty="0">
                <a:solidFill>
                  <a:srgbClr val="2B3445"/>
                </a:solidFill>
                <a:latin typeface="Calibri" pitchFamily="34" charset="0"/>
                <a:ea typeface="Calibri" pitchFamily="34" charset="-122"/>
                <a:cs typeface="Calibri" pitchFamily="34" charset="-120"/>
              </a:rPr>
              <a:t>How often a world with no effect produces a gap at least this big.</a:t>
            </a:r>
            <a:endParaRPr lang="en-US" sz="1200" dirty="0"/>
          </a:p>
        </p:txBody>
      </p:sp>
      <p:sp>
        <p:nvSpPr>
          <p:cNvPr id="23" name="Shape 21"/>
          <p:cNvSpPr/>
          <p:nvPr/>
        </p:nvSpPr>
        <p:spPr>
          <a:xfrm>
            <a:off x="548640" y="5138928"/>
            <a:ext cx="11064240" cy="658368"/>
          </a:xfrm>
          <a:prstGeom prst="roundRect">
            <a:avLst>
              <a:gd name="adj" fmla="val 125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804672" y="5266944"/>
            <a:ext cx="402336" cy="402336"/>
          </a:xfrm>
          <a:prstGeom prst="ellipse">
            <a:avLst/>
          </a:prstGeom>
          <a:solidFill>
            <a:srgbClr val="E8674C"/>
          </a:solidFill>
          <a:ln w="12700">
            <a:solidFill>
              <a:srgbClr val="E8674C"/>
            </a:solidFill>
            <a:prstDash val="solid"/>
          </a:ln>
        </p:spPr>
      </p:sp>
      <p:sp>
        <p:nvSpPr>
          <p:cNvPr id="25" name="Text 23"/>
          <p:cNvSpPr txBox="1"/>
          <p:nvPr/>
        </p:nvSpPr>
        <p:spPr>
          <a:xfrm>
            <a:off x="804672" y="52669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1371600" y="5303520"/>
            <a:ext cx="3200400" cy="310896"/>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Decide — and report more</a:t>
            </a:r>
            <a:endParaRPr lang="en-US" sz="1400" dirty="0"/>
          </a:p>
        </p:txBody>
      </p:sp>
      <p:sp>
        <p:nvSpPr>
          <p:cNvPr id="27" name="Text 25"/>
          <p:cNvSpPr txBox="1"/>
          <p:nvPr/>
        </p:nvSpPr>
        <p:spPr>
          <a:xfrm>
            <a:off x="4754880" y="5312664"/>
            <a:ext cx="6583680" cy="310896"/>
          </a:xfrm>
          <a:prstGeom prst="rect">
            <a:avLst/>
          </a:prstGeom>
          <a:noFill/>
          <a:ln/>
        </p:spPr>
        <p:txBody>
          <a:bodyPr wrap="square" lIns="0" tIns="0" rIns="0" bIns="0" rtlCol="0" anchor="ctr"/>
          <a:lstStyle/>
          <a:p>
            <a:pPr indent="0" marL="0">
              <a:buNone/>
            </a:pPr>
            <a:r>
              <a:rPr lang="en-US" sz="1200" dirty="0">
                <a:solidFill>
                  <a:srgbClr val="2B3445"/>
                </a:solidFill>
                <a:latin typeface="Calibri" pitchFamily="34" charset="0"/>
                <a:ea typeface="Calibri" pitchFamily="34" charset="-122"/>
                <a:cs typeface="Calibri" pitchFamily="34" charset="-120"/>
              </a:rPr>
              <a:t>The decision is the least interesting output. Report the effect and its interval too.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1.3  ·  A FULL EXAMPLE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Worked through: did the training course help?</a:t>
            </a:r>
            <a:endParaRPr lang="en-US" sz="3200" dirty="0"/>
          </a:p>
        </p:txBody>
      </p:sp>
      <p:sp>
        <p:nvSpPr>
          <p:cNvPr id="5" name="Shape 3"/>
          <p:cNvSpPr/>
          <p:nvPr/>
        </p:nvSpPr>
        <p:spPr>
          <a:xfrm>
            <a:off x="548640" y="1572768"/>
            <a:ext cx="6675120" cy="3657600"/>
          </a:xfrm>
          <a:prstGeom prst="roundRect">
            <a:avLst>
              <a:gd name="adj" fmla="val 2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172200" cy="3291840"/>
          </a:xfrm>
          <a:prstGeom prst="roundRect">
            <a:avLst>
              <a:gd name="adj" fmla="val 1944"/>
            </a:avLst>
          </a:prstGeom>
          <a:solidFill>
            <a:srgbClr val="1B2B45"/>
          </a:solidFill>
          <a:ln w="12700">
            <a:solidFill>
              <a:srgbClr val="1B2B45"/>
            </a:solidFill>
            <a:prstDash val="solid"/>
          </a:ln>
        </p:spPr>
      </p:sp>
      <p:sp>
        <p:nvSpPr>
          <p:cNvPr id="7" name="Text 5"/>
          <p:cNvSpPr txBox="1"/>
          <p:nvPr/>
        </p:nvSpPr>
        <p:spPr>
          <a:xfrm>
            <a:off x="969264" y="1892808"/>
            <a:ext cx="5843016" cy="307238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60 employees, productivity scored before and after a course.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Each person is measured twice, so the test is PAIRED.</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change = after - before</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--- 1. the null: the course does nothing, so mean change = 0</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--- 2. the statistic</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mean_d = change.mean()          #  +2.587</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sd_d   = change.std(ddof=1)     #   5.978</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se     = sd_d / np.sqrt(60)     #   0.772</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t      = mean_d / se            #  +3.353</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--- 3. the p-value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stats.ttest_rel(after, before)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t = 3.353,  df = 59,  p = 0.0014</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--- 4. and the part that actually matters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stats.t.interval(.95, 59, mean_d, se)   # (+1.04, +4.13)</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cohen_d = mean_d / sd_d                 #  0.43</a:t>
            </a:r>
            <a:endParaRPr lang="en-US" sz="900" dirty="0"/>
          </a:p>
        </p:txBody>
      </p:sp>
      <p:sp>
        <p:nvSpPr>
          <p:cNvPr id="8" name="Shape 6"/>
          <p:cNvSpPr/>
          <p:nvPr/>
        </p:nvSpPr>
        <p:spPr>
          <a:xfrm>
            <a:off x="7498080" y="1691640"/>
            <a:ext cx="4114800" cy="566928"/>
          </a:xfrm>
          <a:prstGeom prst="roundRect">
            <a:avLst>
              <a:gd name="adj" fmla="val 1451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653528" y="1810512"/>
            <a:ext cx="118872" cy="329184"/>
          </a:xfrm>
          <a:prstGeom prst="roundRect">
            <a:avLst>
              <a:gd name="adj" fmla="val 38462"/>
            </a:avLst>
          </a:prstGeom>
          <a:solidFill>
            <a:srgbClr val="E8674C"/>
          </a:solidFill>
          <a:ln w="12700">
            <a:solidFill>
              <a:srgbClr val="333333"/>
            </a:solidFill>
            <a:prstDash val="solid"/>
          </a:ln>
        </p:spPr>
      </p:sp>
      <p:sp>
        <p:nvSpPr>
          <p:cNvPr id="10" name="Text 8"/>
          <p:cNvSpPr txBox="1"/>
          <p:nvPr/>
        </p:nvSpPr>
        <p:spPr>
          <a:xfrm>
            <a:off x="7882128" y="1737360"/>
            <a:ext cx="3566160" cy="256032"/>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PAIRED, not two-sample</a:t>
            </a:r>
            <a:endParaRPr lang="en-US" sz="1100" dirty="0"/>
          </a:p>
        </p:txBody>
      </p:sp>
      <p:sp>
        <p:nvSpPr>
          <p:cNvPr id="11" name="Text 9"/>
          <p:cNvSpPr txBox="1"/>
          <p:nvPr/>
        </p:nvSpPr>
        <p:spPr>
          <a:xfrm>
            <a:off x="7882128" y="1984248"/>
            <a:ext cx="361188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same people measured twice</a:t>
            </a:r>
            <a:endParaRPr lang="en-US" sz="950" dirty="0"/>
          </a:p>
        </p:txBody>
      </p:sp>
      <p:sp>
        <p:nvSpPr>
          <p:cNvPr id="12" name="Shape 10"/>
          <p:cNvSpPr/>
          <p:nvPr/>
        </p:nvSpPr>
        <p:spPr>
          <a:xfrm>
            <a:off x="7498080" y="2350008"/>
            <a:ext cx="4114800" cy="566928"/>
          </a:xfrm>
          <a:prstGeom prst="roundRect">
            <a:avLst>
              <a:gd name="adj" fmla="val 1451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653528" y="2468880"/>
            <a:ext cx="118872" cy="329184"/>
          </a:xfrm>
          <a:prstGeom prst="roundRect">
            <a:avLst>
              <a:gd name="adj" fmla="val 38462"/>
            </a:avLst>
          </a:prstGeom>
          <a:solidFill>
            <a:srgbClr val="3E7CB1"/>
          </a:solidFill>
          <a:ln w="12700">
            <a:solidFill>
              <a:srgbClr val="333333"/>
            </a:solidFill>
            <a:prstDash val="solid"/>
          </a:ln>
        </p:spPr>
      </p:sp>
      <p:sp>
        <p:nvSpPr>
          <p:cNvPr id="14" name="Text 12"/>
          <p:cNvSpPr txBox="1"/>
          <p:nvPr/>
        </p:nvSpPr>
        <p:spPr>
          <a:xfrm>
            <a:off x="7882128" y="2395728"/>
            <a:ext cx="3566160" cy="256032"/>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t = 3.35</a:t>
            </a:r>
            <a:endParaRPr lang="en-US" sz="1100" dirty="0"/>
          </a:p>
        </p:txBody>
      </p:sp>
      <p:sp>
        <p:nvSpPr>
          <p:cNvPr id="15" name="Text 13"/>
          <p:cNvSpPr txBox="1"/>
          <p:nvPr/>
        </p:nvSpPr>
        <p:spPr>
          <a:xfrm>
            <a:off x="7882128" y="2642616"/>
            <a:ext cx="361188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3.35 standard errors from zero</a:t>
            </a:r>
            <a:endParaRPr lang="en-US" sz="950" dirty="0"/>
          </a:p>
        </p:txBody>
      </p:sp>
      <p:sp>
        <p:nvSpPr>
          <p:cNvPr id="16" name="Shape 14"/>
          <p:cNvSpPr/>
          <p:nvPr/>
        </p:nvSpPr>
        <p:spPr>
          <a:xfrm>
            <a:off x="7498080" y="3008376"/>
            <a:ext cx="4114800" cy="566928"/>
          </a:xfrm>
          <a:prstGeom prst="roundRect">
            <a:avLst>
              <a:gd name="adj" fmla="val 1451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653528" y="3127248"/>
            <a:ext cx="118872" cy="329184"/>
          </a:xfrm>
          <a:prstGeom prst="roundRect">
            <a:avLst>
              <a:gd name="adj" fmla="val 38462"/>
            </a:avLst>
          </a:prstGeom>
          <a:solidFill>
            <a:srgbClr val="3E7CB1"/>
          </a:solidFill>
          <a:ln w="12700">
            <a:solidFill>
              <a:srgbClr val="333333"/>
            </a:solidFill>
            <a:prstDash val="solid"/>
          </a:ln>
        </p:spPr>
      </p:sp>
      <p:sp>
        <p:nvSpPr>
          <p:cNvPr id="18" name="Text 16"/>
          <p:cNvSpPr txBox="1"/>
          <p:nvPr/>
        </p:nvSpPr>
        <p:spPr>
          <a:xfrm>
            <a:off x="7882128" y="3054096"/>
            <a:ext cx="3566160" cy="256032"/>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p = 0.0014</a:t>
            </a:r>
            <a:endParaRPr lang="en-US" sz="1100" dirty="0"/>
          </a:p>
        </p:txBody>
      </p:sp>
      <p:sp>
        <p:nvSpPr>
          <p:cNvPr id="19" name="Text 17"/>
          <p:cNvSpPr txBox="1"/>
          <p:nvPr/>
        </p:nvSpPr>
        <p:spPr>
          <a:xfrm>
            <a:off x="7882128" y="3300984"/>
            <a:ext cx="361188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rare, if the course did nothing</a:t>
            </a:r>
            <a:endParaRPr lang="en-US" sz="950" dirty="0"/>
          </a:p>
        </p:txBody>
      </p:sp>
      <p:sp>
        <p:nvSpPr>
          <p:cNvPr id="20" name="Shape 18"/>
          <p:cNvSpPr/>
          <p:nvPr/>
        </p:nvSpPr>
        <p:spPr>
          <a:xfrm>
            <a:off x="7498080" y="3666744"/>
            <a:ext cx="4114800" cy="566928"/>
          </a:xfrm>
          <a:prstGeom prst="roundRect">
            <a:avLst>
              <a:gd name="adj" fmla="val 1451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653528" y="3785616"/>
            <a:ext cx="118872" cy="329184"/>
          </a:xfrm>
          <a:prstGeom prst="roundRect">
            <a:avLst>
              <a:gd name="adj" fmla="val 38462"/>
            </a:avLst>
          </a:prstGeom>
          <a:solidFill>
            <a:srgbClr val="2FA98C"/>
          </a:solidFill>
          <a:ln w="12700">
            <a:solidFill>
              <a:srgbClr val="333333"/>
            </a:solidFill>
            <a:prstDash val="solid"/>
          </a:ln>
        </p:spPr>
      </p:sp>
      <p:sp>
        <p:nvSpPr>
          <p:cNvPr id="22" name="Text 20"/>
          <p:cNvSpPr txBox="1"/>
          <p:nvPr/>
        </p:nvSpPr>
        <p:spPr>
          <a:xfrm>
            <a:off x="7882128" y="3712464"/>
            <a:ext cx="3566160" cy="256032"/>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CI: +1.0 to +4.1 points</a:t>
            </a:r>
            <a:endParaRPr lang="en-US" sz="1100" dirty="0"/>
          </a:p>
        </p:txBody>
      </p:sp>
      <p:sp>
        <p:nvSpPr>
          <p:cNvPr id="23" name="Text 21"/>
          <p:cNvSpPr txBox="1"/>
          <p:nvPr/>
        </p:nvSpPr>
        <p:spPr>
          <a:xfrm>
            <a:off x="7882128" y="3959352"/>
            <a:ext cx="361188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useful output</a:t>
            </a:r>
            <a:endParaRPr lang="en-US" sz="950" dirty="0"/>
          </a:p>
        </p:txBody>
      </p:sp>
      <p:sp>
        <p:nvSpPr>
          <p:cNvPr id="24" name="Shape 22"/>
          <p:cNvSpPr/>
          <p:nvPr/>
        </p:nvSpPr>
        <p:spPr>
          <a:xfrm>
            <a:off x="7498080" y="4325112"/>
            <a:ext cx="4114800" cy="566928"/>
          </a:xfrm>
          <a:prstGeom prst="roundRect">
            <a:avLst>
              <a:gd name="adj" fmla="val 1451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653528" y="4443984"/>
            <a:ext cx="118872" cy="329184"/>
          </a:xfrm>
          <a:prstGeom prst="roundRect">
            <a:avLst>
              <a:gd name="adj" fmla="val 38462"/>
            </a:avLst>
          </a:prstGeom>
          <a:solidFill>
            <a:srgbClr val="2FA98C"/>
          </a:solidFill>
          <a:ln w="12700">
            <a:solidFill>
              <a:srgbClr val="333333"/>
            </a:solidFill>
            <a:prstDash val="solid"/>
          </a:ln>
        </p:spPr>
      </p:sp>
      <p:sp>
        <p:nvSpPr>
          <p:cNvPr id="26" name="Text 24"/>
          <p:cNvSpPr txBox="1"/>
          <p:nvPr/>
        </p:nvSpPr>
        <p:spPr>
          <a:xfrm>
            <a:off x="7882128" y="4370832"/>
            <a:ext cx="3566160" cy="256032"/>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d = 0.43</a:t>
            </a:r>
            <a:endParaRPr lang="en-US" sz="1100" dirty="0"/>
          </a:p>
        </p:txBody>
      </p:sp>
      <p:sp>
        <p:nvSpPr>
          <p:cNvPr id="27" name="Text 25"/>
          <p:cNvSpPr txBox="1"/>
          <p:nvPr/>
        </p:nvSpPr>
        <p:spPr>
          <a:xfrm>
            <a:off x="7882128" y="4617720"/>
            <a:ext cx="361188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a modest, real-world effect</a:t>
            </a:r>
            <a:endParaRPr lang="en-US" sz="950" dirty="0"/>
          </a:p>
        </p:txBody>
      </p:sp>
      <p:sp>
        <p:nvSpPr>
          <p:cNvPr id="28" name="Shape 26"/>
          <p:cNvSpPr/>
          <p:nvPr/>
        </p:nvSpPr>
        <p:spPr>
          <a:xfrm>
            <a:off x="7498080" y="4983480"/>
            <a:ext cx="4114800" cy="566928"/>
          </a:xfrm>
          <a:prstGeom prst="roundRect">
            <a:avLst>
              <a:gd name="adj" fmla="val 1451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653528" y="5102352"/>
            <a:ext cx="118872" cy="329184"/>
          </a:xfrm>
          <a:prstGeom prst="roundRect">
            <a:avLst>
              <a:gd name="adj" fmla="val 38462"/>
            </a:avLst>
          </a:prstGeom>
          <a:solidFill>
            <a:srgbClr val="FFC145"/>
          </a:solidFill>
          <a:ln w="12700">
            <a:solidFill>
              <a:srgbClr val="333333"/>
            </a:solidFill>
            <a:prstDash val="solid"/>
          </a:ln>
        </p:spPr>
      </p:sp>
      <p:sp>
        <p:nvSpPr>
          <p:cNvPr id="30" name="Text 28"/>
          <p:cNvSpPr txBox="1"/>
          <p:nvPr/>
        </p:nvSpPr>
        <p:spPr>
          <a:xfrm>
            <a:off x="7882128" y="5029200"/>
            <a:ext cx="3566160" cy="256032"/>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Report all three</a:t>
            </a:r>
            <a:endParaRPr lang="en-US" sz="1100" dirty="0"/>
          </a:p>
        </p:txBody>
      </p:sp>
      <p:sp>
        <p:nvSpPr>
          <p:cNvPr id="31" name="Text 29"/>
          <p:cNvSpPr txBox="1"/>
          <p:nvPr/>
        </p:nvSpPr>
        <p:spPr>
          <a:xfrm>
            <a:off x="7882128" y="5276088"/>
            <a:ext cx="361188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p alone says almost nothing</a:t>
            </a:r>
            <a:endParaRPr lang="en-US" sz="950" dirty="0"/>
          </a:p>
        </p:txBody>
      </p:sp>
      <p:sp>
        <p:nvSpPr>
          <p:cNvPr id="32" name="Shape 30"/>
          <p:cNvSpPr/>
          <p:nvPr/>
        </p:nvSpPr>
        <p:spPr>
          <a:xfrm>
            <a:off x="548640" y="5349240"/>
            <a:ext cx="6675120" cy="502920"/>
          </a:xfrm>
          <a:prstGeom prst="roundRect">
            <a:avLst>
              <a:gd name="adj" fmla="val 16364"/>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3" name="Text 31"/>
          <p:cNvSpPr txBox="1"/>
          <p:nvPr/>
        </p:nvSpPr>
        <p:spPr>
          <a:xfrm>
            <a:off x="822960" y="5449824"/>
            <a:ext cx="6217920" cy="365760"/>
          </a:xfrm>
          <a:prstGeom prst="rect">
            <a:avLst/>
          </a:prstGeom>
          <a:noFill/>
          <a:ln/>
        </p:spPr>
        <p:txBody>
          <a:bodyPr wrap="square" lIns="0" tIns="0" rIns="0" bIns="0" rtlCol="0" anchor="ctr"/>
          <a:lstStyle/>
          <a:p>
            <a:pPr indent="0" marL="0">
              <a:lnSpc>
                <a:spcPct val="110000"/>
              </a:lnSpc>
              <a:buNone/>
            </a:pPr>
            <a:r>
              <a:rPr lang="en-US" sz="1150" b="1" dirty="0">
                <a:solidFill>
                  <a:srgbClr val="1C6F5C"/>
                </a:solidFill>
                <a:latin typeface="Calibri" pitchFamily="34" charset="0"/>
                <a:ea typeface="Calibri" pitchFamily="34" charset="-122"/>
                <a:cs typeface="Calibri" pitchFamily="34" charset="-120"/>
              </a:rPr>
              <a:t>Say it in words: “the course raised scores by about 2.6 points, and we are confident the true gain is between 1 and 4.”</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a p-value Is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And the four things it is not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Uniform under the null</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four misreadings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threshold is arbitrary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THE DEFINITION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What a p-value does when nothing is happening</a:t>
            </a:r>
            <a:endParaRPr lang="en-US" sz="3200" dirty="0"/>
          </a:p>
        </p:txBody>
      </p:sp>
      <p:pic>
        <p:nvPicPr>
          <p:cNvPr id="5" name="Image 0" descr="/home/claude/day28/fig/p_uniform.png">    </p:cNvPr>
          <p:cNvPicPr>
            <a:picLocks noChangeAspect="1"/>
          </p:cNvPicPr>
          <p:nvPr/>
        </p:nvPicPr>
        <p:blipFill>
          <a:blip r:embed="rId1"/>
          <a:stretch>
            <a:fillRect/>
          </a:stretch>
        </p:blipFill>
        <p:spPr>
          <a:xfrm>
            <a:off x="731520" y="1572768"/>
            <a:ext cx="10698480" cy="2485129"/>
          </a:xfrm>
          <a:prstGeom prst="rect">
            <a:avLst/>
          </a:prstGeom>
        </p:spPr>
      </p:pic>
      <p:sp>
        <p:nvSpPr>
          <p:cNvPr id="6" name="Shape 3"/>
          <p:cNvSpPr/>
          <p:nvPr/>
        </p:nvSpPr>
        <p:spPr>
          <a:xfrm>
            <a:off x="548640" y="4206240"/>
            <a:ext cx="5486400" cy="1645920"/>
          </a:xfrm>
          <a:prstGeom prst="roundRect">
            <a:avLst>
              <a:gd name="adj" fmla="val 50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352544"/>
            <a:ext cx="49377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Left panel: no effect at all</a:t>
            </a:r>
            <a:endParaRPr lang="en-US" sz="1400" dirty="0"/>
          </a:p>
        </p:txBody>
      </p:sp>
      <p:sp>
        <p:nvSpPr>
          <p:cNvPr id="8" name="Text 5"/>
          <p:cNvSpPr txBox="1"/>
          <p:nvPr/>
        </p:nvSpPr>
        <p:spPr>
          <a:xfrm>
            <a:off x="804672" y="4700016"/>
            <a:ext cx="4983480" cy="105156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The p-values are UNIFORM — 0.03 is exactly as likely as 0.97. That is Day 26's flat line, and it is the definition working: 5% of the time, a world with nothing in it hands you p &lt; 0.05.</a:t>
            </a:r>
            <a:endParaRPr lang="en-US" sz="1250" dirty="0"/>
          </a:p>
        </p:txBody>
      </p:sp>
      <p:sp>
        <p:nvSpPr>
          <p:cNvPr id="9" name="Shape 6"/>
          <p:cNvSpPr/>
          <p:nvPr/>
        </p:nvSpPr>
        <p:spPr>
          <a:xfrm>
            <a:off x="6309360" y="4206240"/>
            <a:ext cx="5303520" cy="1645920"/>
          </a:xfrm>
          <a:prstGeom prst="roundRect">
            <a:avLst>
              <a:gd name="adj" fmla="val 5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352544"/>
            <a:ext cx="475488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Right panels: a real effect</a:t>
            </a:r>
            <a:endParaRPr lang="en-US" sz="1400" dirty="0"/>
          </a:p>
        </p:txBody>
      </p:sp>
      <p:sp>
        <p:nvSpPr>
          <p:cNvPr id="11" name="Text 8"/>
          <p:cNvSpPr txBox="1"/>
          <p:nvPr/>
        </p:nvSpPr>
        <p:spPr>
          <a:xfrm>
            <a:off x="6565392" y="4700016"/>
            <a:ext cx="4800600" cy="105156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The distribution tips towards zero. A small p-value is evidence precisely because it is rare under the null — not because small numbers are meaningful in themselves.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THE MISREADINGS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Four things a p-value is not</a:t>
            </a:r>
            <a:endParaRPr lang="en-US" sz="3200" dirty="0"/>
          </a:p>
        </p:txBody>
      </p:sp>
      <p:sp>
        <p:nvSpPr>
          <p:cNvPr id="5" name="Shape 3"/>
          <p:cNvSpPr/>
          <p:nvPr/>
        </p:nvSpPr>
        <p:spPr>
          <a:xfrm>
            <a:off x="548640" y="1609344"/>
            <a:ext cx="11064240" cy="914400"/>
          </a:xfrm>
          <a:prstGeom prst="roundRect">
            <a:avLst>
              <a:gd name="adj" fmla="val 9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28216"/>
            <a:ext cx="10424160" cy="292608"/>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  “p = 0.03, so there is a 3% chance the null is true”</a:t>
            </a:r>
            <a:endParaRPr lang="en-US" sz="1350" dirty="0"/>
          </a:p>
        </p:txBody>
      </p:sp>
      <p:sp>
        <p:nvSpPr>
          <p:cNvPr id="7" name="Text 5"/>
          <p:cNvSpPr txBox="1"/>
          <p:nvPr/>
        </p:nvSpPr>
        <p:spPr>
          <a:xfrm>
            <a:off x="1097280" y="2039112"/>
            <a:ext cx="10149840" cy="41148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It is the other way round. p assumes the null IS true and asks how odd the data is. It cannot tell you the chance of the null.</a:t>
            </a:r>
            <a:endParaRPr lang="en-US" sz="1200" dirty="0"/>
          </a:p>
        </p:txBody>
      </p:sp>
      <p:sp>
        <p:nvSpPr>
          <p:cNvPr id="8" name="Shape 6"/>
          <p:cNvSpPr/>
          <p:nvPr/>
        </p:nvSpPr>
        <p:spPr>
          <a:xfrm>
            <a:off x="548640" y="2651760"/>
            <a:ext cx="11064240" cy="914400"/>
          </a:xfrm>
          <a:prstGeom prst="roundRect">
            <a:avLst>
              <a:gd name="adj" fmla="val 9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822960" y="2770632"/>
            <a:ext cx="10424160" cy="292608"/>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  “p = 0.03, so there is a 97% chance the effect is real”</a:t>
            </a:r>
            <a:endParaRPr lang="en-US" sz="1350" dirty="0"/>
          </a:p>
        </p:txBody>
      </p:sp>
      <p:sp>
        <p:nvSpPr>
          <p:cNvPr id="10" name="Text 8"/>
          <p:cNvSpPr txBox="1"/>
          <p:nvPr/>
        </p:nvSpPr>
        <p:spPr>
          <a:xfrm>
            <a:off x="1097280" y="3081528"/>
            <a:ext cx="10149840" cy="41148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No. That depends on how plausible the effect was beforehand — section 5 puts a number on it.</a:t>
            </a:r>
            <a:endParaRPr lang="en-US" sz="1200" dirty="0"/>
          </a:p>
        </p:txBody>
      </p:sp>
      <p:sp>
        <p:nvSpPr>
          <p:cNvPr id="11" name="Shape 9"/>
          <p:cNvSpPr/>
          <p:nvPr/>
        </p:nvSpPr>
        <p:spPr>
          <a:xfrm>
            <a:off x="548640" y="3694176"/>
            <a:ext cx="11064240" cy="914400"/>
          </a:xfrm>
          <a:prstGeom prst="roundRect">
            <a:avLst>
              <a:gd name="adj" fmla="val 9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822960" y="3813048"/>
            <a:ext cx="10424160" cy="292608"/>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  “p = 0.20, so there is no effect”</a:t>
            </a:r>
            <a:endParaRPr lang="en-US" sz="1350" dirty="0"/>
          </a:p>
        </p:txBody>
      </p:sp>
      <p:sp>
        <p:nvSpPr>
          <p:cNvPr id="13" name="Text 11"/>
          <p:cNvSpPr txBox="1"/>
          <p:nvPr/>
        </p:nvSpPr>
        <p:spPr>
          <a:xfrm>
            <a:off x="1097280" y="4123944"/>
            <a:ext cx="10149840" cy="41148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No. It means you did not find one, which may only mean your study was small. Absence of evidence.</a:t>
            </a:r>
            <a:endParaRPr lang="en-US" sz="1200" dirty="0"/>
          </a:p>
        </p:txBody>
      </p:sp>
      <p:sp>
        <p:nvSpPr>
          <p:cNvPr id="14" name="Shape 12"/>
          <p:cNvSpPr/>
          <p:nvPr/>
        </p:nvSpPr>
        <p:spPr>
          <a:xfrm>
            <a:off x="548640" y="4736592"/>
            <a:ext cx="11064240" cy="914400"/>
          </a:xfrm>
          <a:prstGeom prst="roundRect">
            <a:avLst>
              <a:gd name="adj" fmla="val 9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5" name="Text 13"/>
          <p:cNvSpPr txBox="1"/>
          <p:nvPr/>
        </p:nvSpPr>
        <p:spPr>
          <a:xfrm>
            <a:off x="822960" y="4855464"/>
            <a:ext cx="10424160" cy="292608"/>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  “p = 0.001, so the effect is large and important”</a:t>
            </a:r>
            <a:endParaRPr lang="en-US" sz="1350" dirty="0"/>
          </a:p>
        </p:txBody>
      </p:sp>
      <p:sp>
        <p:nvSpPr>
          <p:cNvPr id="16" name="Text 14"/>
          <p:cNvSpPr txBox="1"/>
          <p:nvPr/>
        </p:nvSpPr>
        <p:spPr>
          <a:xfrm>
            <a:off x="1097280" y="5166360"/>
            <a:ext cx="10149840" cy="41148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No. With enough data a meaningless difference gets a tiny p. Significance is about detectability, not size.</a:t>
            </a:r>
            <a:endParaRPr lang="en-US" sz="1200" dirty="0"/>
          </a:p>
        </p:txBody>
      </p:sp>
      <p:sp>
        <p:nvSpPr>
          <p:cNvPr id="17" name="Text 15"/>
          <p:cNvSpPr txBox="1"/>
          <p:nvPr/>
        </p:nvSpPr>
        <p:spPr>
          <a:xfrm>
            <a:off x="548640" y="5833872"/>
            <a:ext cx="11064240" cy="365760"/>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What it IS: if nothing were happening, how often would I see data at least this extreme?  That sentence, and nothing more.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2.3  ·  THE THRESHOLD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There is nothing magic about 0.05</a:t>
            </a:r>
            <a:endParaRPr lang="en-US" sz="3200" dirty="0"/>
          </a:p>
        </p:txBody>
      </p:sp>
      <p:pic>
        <p:nvPicPr>
          <p:cNvPr id="5" name="Image 0" descr="/home/claude/day28/fig/p_threshold.png">    </p:cNvPr>
          <p:cNvPicPr>
            <a:picLocks noChangeAspect="1"/>
          </p:cNvPicPr>
          <p:nvPr/>
        </p:nvPicPr>
        <p:blipFill>
          <a:blip r:embed="rId1"/>
          <a:stretch>
            <a:fillRect/>
          </a:stretch>
        </p:blipFill>
        <p:spPr>
          <a:xfrm>
            <a:off x="685800" y="1554480"/>
            <a:ext cx="6035040" cy="3026600"/>
          </a:xfrm>
          <a:prstGeom prst="rect">
            <a:avLst/>
          </a:prstGeom>
        </p:spPr>
      </p:pic>
      <p:sp>
        <p:nvSpPr>
          <p:cNvPr id="6" name="Shape 3"/>
          <p:cNvSpPr/>
          <p:nvPr/>
        </p:nvSpPr>
        <p:spPr>
          <a:xfrm>
            <a:off x="7040880" y="1572768"/>
            <a:ext cx="4572000" cy="2194560"/>
          </a:xfrm>
          <a:prstGeom prst="roundRect">
            <a:avLst>
              <a:gd name="adj" fmla="val 375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296912" y="1737360"/>
            <a:ext cx="411480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Two results, one career</a:t>
            </a:r>
            <a:endParaRPr lang="en-US" sz="1400" dirty="0"/>
          </a:p>
        </p:txBody>
      </p:sp>
      <p:sp>
        <p:nvSpPr>
          <p:cNvPr id="8" name="Text 5"/>
          <p:cNvSpPr txBox="1"/>
          <p:nvPr/>
        </p:nvSpPr>
        <p:spPr>
          <a:xfrm>
            <a:off x="7296912" y="2103120"/>
            <a:ext cx="4114800" cy="155448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p = 0.049 gets published and called a discovery. p = 0.051 gets a shrug and a file drawer.</a:t>
            </a:r>
            <a:endParaRPr lang="en-US" sz="1250" dirty="0"/>
          </a:p>
          <a:p>
            <a:pPr indent="0" marL="0">
              <a:lnSpc>
                <a:spcPct val="120000"/>
              </a:lnSpc>
              <a:buNone/>
            </a:pPr>
            <a:endParaRPr lang="en-US" sz="1250" dirty="0"/>
          </a:p>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The underlying test statistics are 1.9686 and 1.9515 — a difference of 0.017.</a:t>
            </a:r>
            <a:endParaRPr lang="en-US" sz="1250" dirty="0"/>
          </a:p>
        </p:txBody>
      </p:sp>
      <p:sp>
        <p:nvSpPr>
          <p:cNvPr id="9" name="Shape 6"/>
          <p:cNvSpPr/>
          <p:nvPr/>
        </p:nvSpPr>
        <p:spPr>
          <a:xfrm>
            <a:off x="7040880" y="3886200"/>
            <a:ext cx="4572000" cy="1965960"/>
          </a:xfrm>
          <a:prstGeom prst="roundRect">
            <a:avLst>
              <a:gd name="adj" fmla="val 418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296912" y="4041648"/>
            <a:ext cx="411480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Where 0.05 came from</a:t>
            </a:r>
            <a:endParaRPr lang="en-US" sz="1400" dirty="0"/>
          </a:p>
        </p:txBody>
      </p:sp>
      <p:sp>
        <p:nvSpPr>
          <p:cNvPr id="11" name="Text 8"/>
          <p:cNvSpPr txBox="1"/>
          <p:nvPr/>
        </p:nvSpPr>
        <p:spPr>
          <a:xfrm>
            <a:off x="7296912" y="4389120"/>
            <a:ext cx="4114800" cy="1371600"/>
          </a:xfrm>
          <a:prstGeom prst="rect">
            <a:avLst/>
          </a:prstGeom>
          <a:noFill/>
          <a:ln/>
        </p:spPr>
        <p:txBody>
          <a:bodyPr wrap="square" lIns="0" tIns="0" rIns="0" bIns="0" rtlCol="0" anchor="ctr"/>
          <a:lstStyle/>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Ronald Fisher suggested it in 1925 as a convenient rule of thumb, roughly two standard errors. He explicitly intended it as a starting point, not a law.</a:t>
            </a:r>
            <a:endParaRPr lang="en-US" sz="1150" dirty="0"/>
          </a:p>
          <a:p>
            <a:pPr indent="0" marL="0">
              <a:lnSpc>
                <a:spcPct val="120000"/>
              </a:lnSpc>
              <a:buNone/>
            </a:pPr>
            <a:endParaRPr lang="en-US" sz="1150" dirty="0"/>
          </a:p>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Particle physics uses 0.0000003. The number should follow from the cost of being wrong.</a:t>
            </a:r>
            <a:endParaRPr lang="en-US" sz="1150" dirty="0"/>
          </a:p>
        </p:txBody>
      </p:sp>
      <p:sp>
        <p:nvSpPr>
          <p:cNvPr id="12" name="Shape 9"/>
          <p:cNvSpPr/>
          <p:nvPr/>
        </p:nvSpPr>
        <p:spPr>
          <a:xfrm>
            <a:off x="548640" y="5029200"/>
            <a:ext cx="6217920" cy="822960"/>
          </a:xfrm>
          <a:prstGeom prst="roundRect">
            <a:avLst>
              <a:gd name="adj" fmla="val 10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22960" y="5175504"/>
            <a:ext cx="5760720" cy="548640"/>
          </a:xfrm>
          <a:prstGeom prst="rect">
            <a:avLst/>
          </a:prstGeom>
          <a:noFill/>
          <a:ln/>
        </p:spPr>
        <p:txBody>
          <a:bodyPr wrap="square" lIns="0" tIns="0" rIns="0" bIns="0" rtlCol="0" anchor="ctr"/>
          <a:lstStyle/>
          <a:p>
            <a:pPr indent="0" marL="0">
              <a:lnSpc>
                <a:spcPct val="115000"/>
              </a:lnSpc>
              <a:buNone/>
            </a:pPr>
            <a:r>
              <a:rPr lang="en-US" sz="1150" b="1" dirty="0">
                <a:solidFill>
                  <a:srgbClr val="8A5B00"/>
                </a:solidFill>
                <a:latin typeface="Calibri" pitchFamily="34" charset="0"/>
                <a:ea typeface="Calibri" pitchFamily="34" charset="-122"/>
                <a:cs typeface="Calibri" pitchFamily="34" charset="-120"/>
              </a:rPr>
              <a:t>The practical habit: report the actual p-value, not “p &lt; 0.05”. A reader can then judge 0.049 and 0.004 differently — which they should, because they are different.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Choosing the Test</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Three choices that change the answer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Which test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Welch vs Student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Paired vs unpaired</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 vs z</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CHOOSING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Which test, in one table</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931920"/>
                <a:gridCol w="2560320"/>
                <a:gridCol w="45720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Your question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test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scipy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5720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Is this mean different from a target?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one-sample 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ttest_1samp(x, mu0)</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Are these two groups different?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Welch's 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ttest_ind(a, b, equal_var=False)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Same people, before and after?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paired 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ttest_rel(after, before)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Are these two proportions different?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two-proportion z</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proportions_ztest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More than two groups?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ANOVA, then adjust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f_oneway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Counts in categories?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chi-square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chi2_contingency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Data badly non-normal, small 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permutation test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permutation_test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212080"/>
            <a:ext cx="11064240" cy="868680"/>
          </a:xfrm>
          <a:prstGeom prst="roundRect">
            <a:avLst>
              <a:gd name="adj" fmla="val 9474"/>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376672"/>
            <a:ext cx="10424160" cy="548640"/>
          </a:xfrm>
          <a:prstGeom prst="rect">
            <a:avLst/>
          </a:prstGeom>
          <a:noFill/>
          <a:ln/>
        </p:spPr>
        <p:txBody>
          <a:bodyPr wrap="square" lIns="0" tIns="0" rIns="0" bIns="0" rtlCol="0" anchor="ctr"/>
          <a:lstStyle/>
          <a:p>
            <a:pPr indent="0" marL="0">
              <a:buNone/>
            </a:pPr>
            <a:r>
              <a:rPr lang="en-US" sz="1250" i="1" dirty="0">
                <a:solidFill>
                  <a:srgbClr val="8A5B00"/>
                </a:solidFill>
                <a:latin typeface="Calibri" pitchFamily="34" charset="0"/>
                <a:ea typeface="Calibri" pitchFamily="34" charset="-122"/>
                <a:cs typeface="Calibri" pitchFamily="34" charset="-120"/>
              </a:rPr>
              <a:t>The next three slides are the three choices in this table that most often get made wrong — and in each case the wrong choice runs without error and returns a confident number.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WELCH</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scipy's default two-sample test is the wrong one</a:t>
            </a:r>
            <a:endParaRPr lang="en-US" sz="3200" dirty="0"/>
          </a:p>
        </p:txBody>
      </p:sp>
      <p:pic>
        <p:nvPicPr>
          <p:cNvPr id="5" name="Image 0" descr="/home/claude/day28/fig/welch.png">    </p:cNvPr>
          <p:cNvPicPr>
            <a:picLocks noChangeAspect="1"/>
          </p:cNvPicPr>
          <p:nvPr/>
        </p:nvPicPr>
        <p:blipFill>
          <a:blip r:embed="rId1"/>
          <a:stretch>
            <a:fillRect/>
          </a:stretch>
        </p:blipFill>
        <p:spPr>
          <a:xfrm>
            <a:off x="685800" y="1554480"/>
            <a:ext cx="6492240" cy="2786369"/>
          </a:xfrm>
          <a:prstGeom prst="rect">
            <a:avLst/>
          </a:prstGeom>
        </p:spPr>
      </p:pic>
      <p:sp>
        <p:nvSpPr>
          <p:cNvPr id="6" name="Shape 3"/>
          <p:cNvSpPr/>
          <p:nvPr/>
        </p:nvSpPr>
        <p:spPr>
          <a:xfrm>
            <a:off x="7406640" y="1572768"/>
            <a:ext cx="4206240" cy="2286000"/>
          </a:xfrm>
          <a:prstGeom prst="roundRect">
            <a:avLst>
              <a:gd name="adj" fmla="val 36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662672" y="1737360"/>
            <a:ext cx="374904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44% instead of 5%</a:t>
            </a:r>
            <a:endParaRPr lang="en-US" sz="1400" dirty="0"/>
          </a:p>
        </p:txBody>
      </p:sp>
      <p:sp>
        <p:nvSpPr>
          <p:cNvPr id="8" name="Text 5"/>
          <p:cNvSpPr txBox="1"/>
          <p:nvPr/>
        </p:nvSpPr>
        <p:spPr>
          <a:xfrm>
            <a:off x="7662672" y="2103120"/>
            <a:ext cx="3749040" cy="169164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Student's t assumes both groups have the same variance. When the SMALLER group has the LARGER variance, that assumption fails badly and the test fires nine times too often — on data with no effect whatsoever.</a:t>
            </a:r>
            <a:endParaRPr lang="en-US" sz="1200" dirty="0"/>
          </a:p>
        </p:txBody>
      </p:sp>
      <p:sp>
        <p:nvSpPr>
          <p:cNvPr id="9" name="Shape 6"/>
          <p:cNvSpPr/>
          <p:nvPr/>
        </p:nvSpPr>
        <p:spPr>
          <a:xfrm>
            <a:off x="7406640" y="3977640"/>
            <a:ext cx="4206240" cy="1874520"/>
          </a:xfrm>
          <a:prstGeom prst="roundRect">
            <a:avLst>
              <a:gd name="adj" fmla="val 439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662672" y="4133088"/>
            <a:ext cx="374904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The fix is one argument</a:t>
            </a:r>
            <a:endParaRPr lang="en-US" sz="1400" dirty="0"/>
          </a:p>
        </p:txBody>
      </p:sp>
      <p:sp>
        <p:nvSpPr>
          <p:cNvPr id="11" name="Shape 8"/>
          <p:cNvSpPr/>
          <p:nvPr/>
        </p:nvSpPr>
        <p:spPr>
          <a:xfrm>
            <a:off x="7662672" y="4462272"/>
            <a:ext cx="3749040" cy="777240"/>
          </a:xfrm>
          <a:prstGeom prst="roundRect">
            <a:avLst>
              <a:gd name="adj" fmla="val 8235"/>
            </a:avLst>
          </a:prstGeom>
          <a:solidFill>
            <a:srgbClr val="1B2B45"/>
          </a:solidFill>
          <a:ln w="12700">
            <a:solidFill>
              <a:srgbClr val="1B2B45"/>
            </a:solidFill>
            <a:prstDash val="solid"/>
          </a:ln>
        </p:spPr>
      </p:sp>
      <p:sp>
        <p:nvSpPr>
          <p:cNvPr id="12" name="Text 9"/>
          <p:cNvSpPr txBox="1"/>
          <p:nvPr/>
        </p:nvSpPr>
        <p:spPr>
          <a:xfrm>
            <a:off x="7827264" y="4572000"/>
            <a:ext cx="3419856" cy="5577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stats.ttest_ind(</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a, b,</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equal_var=False)</a:t>
            </a:r>
            <a:endParaRPr lang="en-US" sz="1000" dirty="0"/>
          </a:p>
        </p:txBody>
      </p:sp>
      <p:sp>
        <p:nvSpPr>
          <p:cNvPr id="13" name="Text 10"/>
          <p:cNvSpPr txBox="1"/>
          <p:nvPr/>
        </p:nvSpPr>
        <p:spPr>
          <a:xfrm>
            <a:off x="7662672" y="5321808"/>
            <a:ext cx="3749040" cy="457200"/>
          </a:xfrm>
          <a:prstGeom prst="rect">
            <a:avLst/>
          </a:prstGeom>
          <a:noFill/>
          <a:ln/>
        </p:spPr>
        <p:txBody>
          <a:bodyPr wrap="square" lIns="0" tIns="0" rIns="0" bIns="0" rtlCol="0" anchor="ctr"/>
          <a:lstStyle/>
          <a:p>
            <a:pPr indent="0" marL="0">
              <a:lnSpc>
                <a:spcPct val="110000"/>
              </a:lnSpc>
              <a:buNone/>
            </a:pPr>
            <a:r>
              <a:rPr lang="en-US" sz="1100" dirty="0">
                <a:solidFill>
                  <a:srgbClr val="2B3445"/>
                </a:solidFill>
                <a:latin typeface="Calibri" pitchFamily="34" charset="0"/>
                <a:ea typeface="Calibri" pitchFamily="34" charset="-122"/>
                <a:cs typeface="Calibri" pitchFamily="34" charset="-120"/>
              </a:rPr>
              <a:t>Welch holds at 5% in every case above, and costs almost nothing when the variances do match.</a:t>
            </a:r>
            <a:endParaRPr lang="en-US" sz="1100" dirty="0"/>
          </a:p>
        </p:txBody>
      </p:sp>
      <p:sp>
        <p:nvSpPr>
          <p:cNvPr id="14" name="Shape 11"/>
          <p:cNvSpPr/>
          <p:nvPr/>
        </p:nvSpPr>
        <p:spPr>
          <a:xfrm>
            <a:off x="548640" y="5029200"/>
            <a:ext cx="6675120" cy="822960"/>
          </a:xfrm>
          <a:prstGeom prst="roundRect">
            <a:avLst>
              <a:gd name="adj" fmla="val 10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5" name="Text 12"/>
          <p:cNvSpPr txBox="1"/>
          <p:nvPr/>
        </p:nvSpPr>
        <p:spPr>
          <a:xfrm>
            <a:off x="822960" y="5193792"/>
            <a:ext cx="6217920" cy="548640"/>
          </a:xfrm>
          <a:prstGeom prst="rect">
            <a:avLst/>
          </a:prstGeom>
          <a:noFill/>
          <a:ln/>
        </p:spPr>
        <p:txBody>
          <a:bodyPr wrap="square" lIns="0" tIns="0" rIns="0" bIns="0" rtlCol="0" anchor="ctr"/>
          <a:lstStyle/>
          <a:p>
            <a:pPr indent="0" marL="0">
              <a:lnSpc>
                <a:spcPct val="115000"/>
              </a:lnSpc>
              <a:buNone/>
            </a:pPr>
            <a:r>
              <a:rPr lang="en-US" sz="1150" b="1" dirty="0">
                <a:solidFill>
                  <a:srgbClr val="8A5B00"/>
                </a:solidFill>
                <a:latin typeface="Calibri" pitchFamily="34" charset="0"/>
                <a:ea typeface="Calibri" pitchFamily="34" charset="-122"/>
                <a:cs typeface="Calibri" pitchFamily="34" charset="-120"/>
              </a:rPr>
              <a:t>scipy's equal_var argument still defaults to True, so the dangerous version is the one you get by typing the obvious thing. Use Welch unless you have a specific reason not to — there is essentially no downside.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3.3  ·  PAIRED DATA</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Pairing can be the difference between 0% and 98%</a:t>
            </a:r>
            <a:endParaRPr lang="en-US" sz="3200" dirty="0"/>
          </a:p>
        </p:txBody>
      </p:sp>
      <p:pic>
        <p:nvPicPr>
          <p:cNvPr id="5" name="Image 0" descr="/home/claude/day28/fig/paired.png">    </p:cNvPr>
          <p:cNvPicPr>
            <a:picLocks noChangeAspect="1"/>
          </p:cNvPicPr>
          <p:nvPr/>
        </p:nvPicPr>
        <p:blipFill>
          <a:blip r:embed="rId1"/>
          <a:stretch>
            <a:fillRect/>
          </a:stretch>
        </p:blipFill>
        <p:spPr>
          <a:xfrm>
            <a:off x="731520" y="1572768"/>
            <a:ext cx="10698480" cy="2622176"/>
          </a:xfrm>
          <a:prstGeom prst="rect">
            <a:avLst/>
          </a:prstGeom>
        </p:spPr>
      </p:pic>
      <p:sp>
        <p:nvSpPr>
          <p:cNvPr id="6" name="Shape 3"/>
          <p:cNvSpPr/>
          <p:nvPr/>
        </p:nvSpPr>
        <p:spPr>
          <a:xfrm>
            <a:off x="548640" y="4343400"/>
            <a:ext cx="5486400" cy="1508760"/>
          </a:xfrm>
          <a:prstGeom prst="roundRect">
            <a:avLst>
              <a:gd name="adj" fmla="val 5455"/>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489704"/>
            <a:ext cx="4937760" cy="2743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Why the unpaired test fails here</a:t>
            </a:r>
            <a:endParaRPr lang="en-US" sz="1350" dirty="0"/>
          </a:p>
        </p:txBody>
      </p:sp>
      <p:sp>
        <p:nvSpPr>
          <p:cNvPr id="8" name="Text 5"/>
          <p:cNvSpPr txBox="1"/>
          <p:nvPr/>
        </p:nvSpPr>
        <p:spPr>
          <a:xfrm>
            <a:off x="804672" y="4809744"/>
            <a:ext cx="4983480" cy="91440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People differ by about 20 points; the effect is 4. An unpaired test has to see that 4-point signal through 20 points of between-person noise, and it cannot.</a:t>
            </a:r>
            <a:endParaRPr lang="en-US" sz="1200" dirty="0"/>
          </a:p>
        </p:txBody>
      </p:sp>
      <p:sp>
        <p:nvSpPr>
          <p:cNvPr id="9" name="Shape 6"/>
          <p:cNvSpPr/>
          <p:nvPr/>
        </p:nvSpPr>
        <p:spPr>
          <a:xfrm>
            <a:off x="6309360" y="4343400"/>
            <a:ext cx="5303520" cy="1508760"/>
          </a:xfrm>
          <a:prstGeom prst="roundRect">
            <a:avLst>
              <a:gd name="adj" fmla="val 5455"/>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489704"/>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What pairing does</a:t>
            </a:r>
            <a:endParaRPr lang="en-US" sz="1350" dirty="0"/>
          </a:p>
        </p:txBody>
      </p:sp>
      <p:sp>
        <p:nvSpPr>
          <p:cNvPr id="11" name="Text 8"/>
          <p:cNvSpPr txBox="1"/>
          <p:nvPr/>
        </p:nvSpPr>
        <p:spPr>
          <a:xfrm>
            <a:off x="6565392" y="4809744"/>
            <a:ext cx="4800600" cy="91440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It subtracts each person from themselves. The between-person variation cancels completely, and all that is left is the change — which is exactly what you wanted to measure.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3.4  ·  t VS z</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Why t and not z, and when it stops mattering</a:t>
            </a:r>
            <a:endParaRPr lang="en-US" sz="3200" dirty="0"/>
          </a:p>
        </p:txBody>
      </p:sp>
      <p:pic>
        <p:nvPicPr>
          <p:cNvPr id="5" name="Image 0" descr="/home/claude/day28/fig/t_vs_z.png">    </p:cNvPr>
          <p:cNvPicPr>
            <a:picLocks noChangeAspect="1"/>
          </p:cNvPicPr>
          <p:nvPr/>
        </p:nvPicPr>
        <p:blipFill>
          <a:blip r:embed="rId1"/>
          <a:stretch>
            <a:fillRect/>
          </a:stretch>
        </p:blipFill>
        <p:spPr>
          <a:xfrm>
            <a:off x="685800" y="1554480"/>
            <a:ext cx="6400800" cy="2961962"/>
          </a:xfrm>
          <a:prstGeom prst="rect">
            <a:avLst/>
          </a:prstGeom>
        </p:spPr>
      </p:pic>
      <p:sp>
        <p:nvSpPr>
          <p:cNvPr id="6" name="Shape 3"/>
          <p:cNvSpPr/>
          <p:nvPr/>
        </p:nvSpPr>
        <p:spPr>
          <a:xfrm>
            <a:off x="7406640" y="1572768"/>
            <a:ext cx="4206240" cy="2194560"/>
          </a:xfrm>
          <a:prstGeom prst="roundRect">
            <a:avLst>
              <a:gd name="adj" fmla="val 37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662672" y="1737360"/>
            <a:ext cx="374904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One extra source of error</a:t>
            </a:r>
            <a:endParaRPr lang="en-US" sz="1400" dirty="0"/>
          </a:p>
        </p:txBody>
      </p:sp>
      <p:sp>
        <p:nvSpPr>
          <p:cNvPr id="8" name="Text 5"/>
          <p:cNvSpPr txBox="1"/>
          <p:nvPr/>
        </p:nvSpPr>
        <p:spPr>
          <a:xfrm>
            <a:off x="7662672" y="2103120"/>
            <a:ext cx="3749040" cy="160020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When you use 1.96 you are pretending you know σ. You do not — you estimated it from the same small sample, and that estimate is itself uncertain.</a:t>
            </a:r>
            <a:endParaRPr lang="en-US" sz="1200" dirty="0"/>
          </a:p>
          <a:p>
            <a:pPr indent="0" marL="0">
              <a:lnSpc>
                <a:spcPct val="120000"/>
              </a:lnSpc>
              <a:buNone/>
            </a:pPr>
            <a:endParaRPr lang="en-US" sz="1200" dirty="0"/>
          </a:p>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The t distribution has heavier tails to pay for that.</a:t>
            </a:r>
            <a:endParaRPr lang="en-US" sz="1200" dirty="0"/>
          </a:p>
        </p:txBody>
      </p:sp>
      <p:sp>
        <p:nvSpPr>
          <p:cNvPr id="9" name="Shape 6"/>
          <p:cNvSpPr/>
          <p:nvPr/>
        </p:nvSpPr>
        <p:spPr>
          <a:xfrm>
            <a:off x="7406640" y="3886200"/>
            <a:ext cx="4206240" cy="1965960"/>
          </a:xfrm>
          <a:prstGeom prst="roundRect">
            <a:avLst>
              <a:gd name="adj" fmla="val 418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662672" y="4041648"/>
            <a:ext cx="374904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How much it matters</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662672" y="4370832"/>
          <a:ext cx="3749040" cy="914400"/>
        </p:xfrm>
        <a:graphic>
          <a:graphicData uri="http://schemas.openxmlformats.org/drawingml/2006/table">
            <a:tbl>
              <a:tblPr/>
              <a:tblGrid>
                <a:gridCol w="1005840"/>
                <a:gridCol w="1371600"/>
                <a:gridCol w="1371600"/>
              </a:tblGrid>
              <a:tr h="2743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using z</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using 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274320">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74320">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74320">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94%</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74320">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2" name="Shape 8"/>
          <p:cNvSpPr/>
          <p:nvPr/>
        </p:nvSpPr>
        <p:spPr>
          <a:xfrm>
            <a:off x="548640" y="4956048"/>
            <a:ext cx="6675120" cy="896112"/>
          </a:xfrm>
          <a:prstGeom prst="roundRect">
            <a:avLst>
              <a:gd name="adj" fmla="val 9184"/>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9"/>
          <p:cNvSpPr txBox="1"/>
          <p:nvPr/>
        </p:nvSpPr>
        <p:spPr>
          <a:xfrm>
            <a:off x="822960" y="5120640"/>
            <a:ext cx="6217920" cy="59436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Past about n = 100 the two agree to the third decimal, which is why nobody worries about it in large studies. Below n = 20 it is the difference between a 95% interval and a 92% one — and scipy's t functions handle it for you anyway.</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Two Errors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And why a null result says so little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Type I and Type II</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Power</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Absence of evidence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TYPE I AND II</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Two ways to be wrong, and they trade against each other</a:t>
            </a:r>
            <a:endParaRPr lang="en-US" sz="3200" dirty="0"/>
          </a:p>
        </p:txBody>
      </p:sp>
      <p:pic>
        <p:nvPicPr>
          <p:cNvPr id="5" name="Image 0" descr="/home/claude/day28/fig/errors.png">    </p:cNvPr>
          <p:cNvPicPr>
            <a:picLocks noChangeAspect="1"/>
          </p:cNvPicPr>
          <p:nvPr/>
        </p:nvPicPr>
        <p:blipFill>
          <a:blip r:embed="rId1"/>
          <a:stretch>
            <a:fillRect/>
          </a:stretch>
        </p:blipFill>
        <p:spPr>
          <a:xfrm>
            <a:off x="2788920" y="1536192"/>
            <a:ext cx="6583680" cy="3213119"/>
          </a:xfrm>
          <a:prstGeom prst="rect">
            <a:avLst/>
          </a:prstGeom>
        </p:spPr>
      </p:pic>
      <p:sp>
        <p:nvSpPr>
          <p:cNvPr id="6" name="Shape 3"/>
          <p:cNvSpPr/>
          <p:nvPr/>
        </p:nvSpPr>
        <p:spPr>
          <a:xfrm>
            <a:off x="548640" y="4937760"/>
            <a:ext cx="5486400" cy="914400"/>
          </a:xfrm>
          <a:prstGeom prst="roundRect">
            <a:avLst>
              <a:gd name="adj" fmla="val 9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5047488"/>
            <a:ext cx="4937760" cy="274320"/>
          </a:xfrm>
          <a:prstGeom prst="rect">
            <a:avLst/>
          </a:prstGeom>
          <a:noFill/>
          <a:ln/>
        </p:spPr>
        <p:txBody>
          <a:bodyPr wrap="square" lIns="0" tIns="0" rIns="0" bIns="0" rtlCol="0" anchor="ctr"/>
          <a:lstStyle/>
          <a:p>
            <a:pPr indent="0" marL="0">
              <a:buNone/>
            </a:pPr>
            <a:r>
              <a:rPr lang="en-US" sz="1300" b="1" dirty="0">
                <a:solidFill>
                  <a:srgbClr val="A63B24"/>
                </a:solidFill>
                <a:latin typeface="Calibri" pitchFamily="34" charset="0"/>
                <a:ea typeface="Calibri" pitchFamily="34" charset="-122"/>
                <a:cs typeface="Calibri" pitchFamily="34" charset="-120"/>
              </a:rPr>
              <a:t>Type I — a false alarm</a:t>
            </a:r>
            <a:endParaRPr lang="en-US" sz="1300" dirty="0"/>
          </a:p>
        </p:txBody>
      </p:sp>
      <p:sp>
        <p:nvSpPr>
          <p:cNvPr id="8" name="Text 5"/>
          <p:cNvSpPr txBox="1"/>
          <p:nvPr/>
        </p:nvSpPr>
        <p:spPr>
          <a:xfrm>
            <a:off x="804672" y="5349240"/>
            <a:ext cx="4983480" cy="41148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You declare an effect that is not there. You control this directly: it is α, the 5%.</a:t>
            </a:r>
            <a:endParaRPr lang="en-US" sz="1150" dirty="0"/>
          </a:p>
        </p:txBody>
      </p:sp>
      <p:sp>
        <p:nvSpPr>
          <p:cNvPr id="9" name="Shape 6"/>
          <p:cNvSpPr/>
          <p:nvPr/>
        </p:nvSpPr>
        <p:spPr>
          <a:xfrm>
            <a:off x="6309360" y="4937760"/>
            <a:ext cx="530352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5047488"/>
            <a:ext cx="4754880" cy="274320"/>
          </a:xfrm>
          <a:prstGeom prst="rect">
            <a:avLst/>
          </a:prstGeom>
          <a:noFill/>
          <a:ln/>
        </p:spPr>
        <p:txBody>
          <a:bodyPr wrap="square" lIns="0" tIns="0" rIns="0" bIns="0" rtlCol="0" anchor="ctr"/>
          <a:lstStyle/>
          <a:p>
            <a:pPr indent="0" marL="0">
              <a:buNone/>
            </a:pPr>
            <a:r>
              <a:rPr lang="en-US" sz="1300" b="1" dirty="0">
                <a:solidFill>
                  <a:srgbClr val="8A5B00"/>
                </a:solidFill>
                <a:latin typeface="Calibri" pitchFamily="34" charset="0"/>
                <a:ea typeface="Calibri" pitchFamily="34" charset="-122"/>
                <a:cs typeface="Calibri" pitchFamily="34" charset="-120"/>
              </a:rPr>
              <a:t>Type II — a miss</a:t>
            </a:r>
            <a:endParaRPr lang="en-US" sz="1300" dirty="0"/>
          </a:p>
        </p:txBody>
      </p:sp>
      <p:sp>
        <p:nvSpPr>
          <p:cNvPr id="11" name="Text 8"/>
          <p:cNvSpPr txBox="1"/>
          <p:nvPr/>
        </p:nvSpPr>
        <p:spPr>
          <a:xfrm>
            <a:off x="6565392" y="5349240"/>
            <a:ext cx="4800600" cy="41148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A real effect goes undetected. You almost never control this, and almost nobody reports it.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4.2  ·  POWER</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Power: the chance of noticing an effect that is really there</a:t>
            </a:r>
            <a:endParaRPr lang="en-US" sz="3200" dirty="0"/>
          </a:p>
        </p:txBody>
      </p:sp>
      <p:pic>
        <p:nvPicPr>
          <p:cNvPr id="5" name="Image 0" descr="/home/claude/day28/fig/power_curve.png">    </p:cNvPr>
          <p:cNvPicPr>
            <a:picLocks noChangeAspect="1"/>
          </p:cNvPicPr>
          <p:nvPr/>
        </p:nvPicPr>
        <p:blipFill>
          <a:blip r:embed="rId1"/>
          <a:stretch>
            <a:fillRect/>
          </a:stretch>
        </p:blipFill>
        <p:spPr>
          <a:xfrm>
            <a:off x="685800" y="1554480"/>
            <a:ext cx="6400800" cy="3080269"/>
          </a:xfrm>
          <a:prstGeom prst="rect">
            <a:avLst/>
          </a:prstGeom>
        </p:spPr>
      </p:pic>
      <p:sp>
        <p:nvSpPr>
          <p:cNvPr id="6" name="Shape 3"/>
          <p:cNvSpPr/>
          <p:nvPr/>
        </p:nvSpPr>
        <p:spPr>
          <a:xfrm>
            <a:off x="7406640" y="1572768"/>
            <a:ext cx="4206240" cy="2286000"/>
          </a:xfrm>
          <a:prstGeom prst="roundRect">
            <a:avLst>
              <a:gd name="adj" fmla="val 36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662672" y="1737360"/>
            <a:ext cx="374904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numbers mean</a:t>
            </a:r>
            <a:endParaRPr lang="en-US" sz="1400" dirty="0"/>
          </a:p>
        </p:txBody>
      </p:sp>
      <p:sp>
        <p:nvSpPr>
          <p:cNvPr id="8" name="Text 5"/>
          <p:cNvSpPr txBox="1"/>
          <p:nvPr/>
        </p:nvSpPr>
        <p:spPr>
          <a:xfrm>
            <a:off x="7662672" y="2103120"/>
            <a:ext cx="3749040" cy="164592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Cohen's d is the gap measured in standard deviations. 0.2 is small, 0.5 medium, 0.8 large.</a:t>
            </a:r>
            <a:endParaRPr lang="en-US" sz="1200" dirty="0"/>
          </a:p>
          <a:p>
            <a:pPr indent="0" marL="0">
              <a:lnSpc>
                <a:spcPct val="120000"/>
              </a:lnSpc>
              <a:buNone/>
            </a:pPr>
            <a:endParaRPr lang="en-US" sz="1200" dirty="0"/>
          </a:p>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For 80% power you need 25 per group at d = 0.8, 63 at d = 0.5, and 393 at d = 0.2.</a:t>
            </a:r>
            <a:endParaRPr lang="en-US" sz="1200" dirty="0"/>
          </a:p>
        </p:txBody>
      </p:sp>
      <p:sp>
        <p:nvSpPr>
          <p:cNvPr id="9" name="Shape 6"/>
          <p:cNvSpPr/>
          <p:nvPr/>
        </p:nvSpPr>
        <p:spPr>
          <a:xfrm>
            <a:off x="7406640" y="3977640"/>
            <a:ext cx="4206240" cy="1874520"/>
          </a:xfrm>
          <a:prstGeom prst="roundRect">
            <a:avLst>
              <a:gd name="adj" fmla="val 439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662672" y="4133088"/>
            <a:ext cx="3749040" cy="274320"/>
          </a:xfrm>
          <a:prstGeom prst="rect">
            <a:avLst/>
          </a:prstGeom>
          <a:noFill/>
          <a:ln/>
        </p:spPr>
        <p:txBody>
          <a:bodyPr wrap="square" lIns="0" tIns="0" rIns="0" bIns="0" rtlCol="0" anchor="ctr"/>
          <a:lstStyle/>
          <a:p>
            <a:pPr indent="0" marL="0">
              <a:buNone/>
            </a:pPr>
            <a:r>
              <a:rPr lang="en-US" sz="1350" b="1" dirty="0">
                <a:solidFill>
                  <a:srgbClr val="8A5B00"/>
                </a:solidFill>
                <a:latin typeface="Calibri" pitchFamily="34" charset="0"/>
                <a:ea typeface="Calibri" pitchFamily="34" charset="-122"/>
                <a:cs typeface="Calibri" pitchFamily="34" charset="-120"/>
              </a:rPr>
              <a:t>Halve the effect, quadruple the n</a:t>
            </a:r>
            <a:endParaRPr lang="en-US" sz="1350" dirty="0"/>
          </a:p>
        </p:txBody>
      </p:sp>
      <p:sp>
        <p:nvSpPr>
          <p:cNvPr id="11" name="Text 8"/>
          <p:cNvSpPr txBox="1"/>
          <p:nvPr/>
        </p:nvSpPr>
        <p:spPr>
          <a:xfrm>
            <a:off x="7662672" y="4480560"/>
            <a:ext cx="3749040" cy="123444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25 → 63 → 393 as d goes 0.8 → 0.5 → 0.2. It is the same √n law as yesterday, seen from the other side: small effects are expensive to find.</a:t>
            </a:r>
            <a:endParaRPr lang="en-US" sz="1200" dirty="0"/>
          </a:p>
        </p:txBody>
      </p:sp>
      <p:sp>
        <p:nvSpPr>
          <p:cNvPr id="12" name="Shape 9"/>
          <p:cNvSpPr/>
          <p:nvPr/>
        </p:nvSpPr>
        <p:spPr>
          <a:xfrm>
            <a:off x="548640" y="5029200"/>
            <a:ext cx="6675120" cy="822960"/>
          </a:xfrm>
          <a:prstGeom prst="roundRect">
            <a:avLst>
              <a:gd name="adj" fmla="val 10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22960" y="5193792"/>
            <a:ext cx="6217920" cy="548640"/>
          </a:xfrm>
          <a:prstGeom prst="rect">
            <a:avLst/>
          </a:prstGeom>
          <a:noFill/>
          <a:ln/>
        </p:spPr>
        <p:txBody>
          <a:bodyPr wrap="square" lIns="0" tIns="0" rIns="0" bIns="0" rtlCol="0" anchor="ctr"/>
          <a:lstStyle/>
          <a:p>
            <a:pPr indent="0" marL="0">
              <a:lnSpc>
                <a:spcPct val="115000"/>
              </a:lnSpc>
              <a:buNone/>
            </a:pPr>
            <a:r>
              <a:rPr lang="en-US" sz="1150" b="1" dirty="0">
                <a:solidFill>
                  <a:srgbClr val="1C6F5C"/>
                </a:solidFill>
                <a:latin typeface="Calibri" pitchFamily="34" charset="0"/>
                <a:ea typeface="Calibri" pitchFamily="34" charset="-122"/>
                <a:cs typeface="Calibri" pitchFamily="34" charset="-120"/>
              </a:rPr>
              <a:t>Do this calculation BEFORE you collect data, not after. Afterwards it only tells you what you already know — that you did not find anything.</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4.3  ·  NULL RESULTS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“Not significant” does not mean “no effect”</a:t>
            </a:r>
            <a:endParaRPr lang="en-US" sz="3200" dirty="0"/>
          </a:p>
        </p:txBody>
      </p:sp>
      <p:sp>
        <p:nvSpPr>
          <p:cNvPr id="5" name="Shape 3"/>
          <p:cNvSpPr/>
          <p:nvPr/>
        </p:nvSpPr>
        <p:spPr>
          <a:xfrm>
            <a:off x="548640" y="1600200"/>
            <a:ext cx="5486400" cy="2514600"/>
          </a:xfrm>
          <a:prstGeom prst="roundRect">
            <a:avLst>
              <a:gd name="adj" fmla="val 327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64792"/>
            <a:ext cx="4937760" cy="301752"/>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What a null result actually says</a:t>
            </a:r>
            <a:endParaRPr lang="en-US" sz="1400" dirty="0"/>
          </a:p>
        </p:txBody>
      </p:sp>
      <p:sp>
        <p:nvSpPr>
          <p:cNvPr id="7" name="Text 5"/>
          <p:cNvSpPr txBox="1"/>
          <p:nvPr/>
        </p:nvSpPr>
        <p:spPr>
          <a:xfrm>
            <a:off x="804672" y="2148840"/>
            <a:ext cx="4983480" cy="1828800"/>
          </a:xfrm>
          <a:prstGeom prst="rect">
            <a:avLst/>
          </a:prstGeom>
          <a:noFill/>
          <a:ln/>
        </p:spPr>
        <p:txBody>
          <a:bodyPr wrap="square" lIns="0" tIns="0" rIns="0" bIns="0" rtlCol="0" anchor="ctr"/>
          <a:lstStyle/>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“We did not find an effect.” That is compatible with two completely different worlds:</a:t>
            </a:r>
            <a:endParaRPr lang="en-US" sz="1250" dirty="0"/>
          </a:p>
          <a:p>
            <a:pPr indent="0" marL="0">
              <a:lnSpc>
                <a:spcPct val="125000"/>
              </a:lnSpc>
              <a:buNone/>
            </a:pPr>
            <a:endParaRPr lang="en-US" sz="1250" dirty="0"/>
          </a:p>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  there is no effect, or</a:t>
            </a:r>
            <a:endParaRPr lang="en-US" sz="1250" dirty="0"/>
          </a:p>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  there is one and our study was too small to see it.</a:t>
            </a:r>
            <a:endParaRPr lang="en-US" sz="1250" dirty="0"/>
          </a:p>
          <a:p>
            <a:pPr indent="0" marL="0">
              <a:lnSpc>
                <a:spcPct val="125000"/>
              </a:lnSpc>
              <a:buNone/>
            </a:pPr>
            <a:endParaRPr lang="en-US" sz="1250" dirty="0"/>
          </a:p>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The p-value alone cannot tell you which.</a:t>
            </a:r>
            <a:endParaRPr lang="en-US" sz="1250" dirty="0"/>
          </a:p>
        </p:txBody>
      </p:sp>
      <p:sp>
        <p:nvSpPr>
          <p:cNvPr id="8" name="Shape 6"/>
          <p:cNvSpPr/>
          <p:nvPr/>
        </p:nvSpPr>
        <p:spPr>
          <a:xfrm>
            <a:off x="6309360" y="1600200"/>
            <a:ext cx="5303520" cy="2514600"/>
          </a:xfrm>
          <a:prstGeom prst="roundRect">
            <a:avLst>
              <a:gd name="adj" fmla="val 327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565392" y="1764792"/>
            <a:ext cx="475488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What to report instead</a:t>
            </a:r>
            <a:endParaRPr lang="en-US" sz="1400" dirty="0"/>
          </a:p>
        </p:txBody>
      </p:sp>
      <p:sp>
        <p:nvSpPr>
          <p:cNvPr id="10" name="Text 8"/>
          <p:cNvSpPr txBox="1"/>
          <p:nvPr/>
        </p:nvSpPr>
        <p:spPr>
          <a:xfrm>
            <a:off x="6565392" y="2148840"/>
            <a:ext cx="4800600" cy="192024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The confidence interval, which separates the two cases immediately:</a:t>
            </a:r>
            <a:endParaRPr lang="en-US" sz="1200" dirty="0"/>
          </a:p>
          <a:p>
            <a:pPr indent="0" marL="0">
              <a:lnSpc>
                <a:spcPct val="120000"/>
              </a:lnSpc>
              <a:buNone/>
            </a:pPr>
            <a:endParaRPr lang="en-US" sz="1200" dirty="0"/>
          </a:p>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  CI of −0.2 to +0.3 — any real effect is tiny. Informative.</a:t>
            </a:r>
            <a:endParaRPr lang="en-US" sz="1200" dirty="0"/>
          </a:p>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  CI of −8 to +11 — you learned nothing at all. Also informative, and honest.</a:t>
            </a:r>
            <a:endParaRPr lang="en-US" sz="1200" dirty="0"/>
          </a:p>
          <a:p>
            <a:pPr indent="0" marL="0">
              <a:lnSpc>
                <a:spcPct val="120000"/>
              </a:lnSpc>
              <a:buNone/>
            </a:pPr>
            <a:endParaRPr lang="en-US" sz="1200" dirty="0"/>
          </a:p>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Same p-value. Completely different conclusions.</a:t>
            </a:r>
            <a:endParaRPr lang="en-US" sz="1200" dirty="0"/>
          </a:p>
        </p:txBody>
      </p:sp>
      <p:sp>
        <p:nvSpPr>
          <p:cNvPr id="11" name="Shape 9"/>
          <p:cNvSpPr/>
          <p:nvPr/>
        </p:nvSpPr>
        <p:spPr>
          <a:xfrm>
            <a:off x="548640" y="4297680"/>
            <a:ext cx="11064240" cy="1554480"/>
          </a:xfrm>
          <a:prstGeom prst="roundRect">
            <a:avLst>
              <a:gd name="adj" fmla="val 5294"/>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868680" y="4453128"/>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Why this matters beyond your own analysis</a:t>
            </a:r>
            <a:endParaRPr lang="en-US" sz="1450" dirty="0"/>
          </a:p>
        </p:txBody>
      </p:sp>
      <p:sp>
        <p:nvSpPr>
          <p:cNvPr id="13" name="Text 11"/>
          <p:cNvSpPr txBox="1"/>
          <p:nvPr/>
        </p:nvSpPr>
        <p:spPr>
          <a:xfrm>
            <a:off x="868680" y="4782312"/>
            <a:ext cx="10424160" cy="91440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Journals have historically been reluctant to publish null results, so the studies that found nothing stay in the drawer while the ones that got lucky appear in print. The published record then looks far more certain than the evidence is. Reporting intervals rather than verdicts is the individual-level fix.</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5</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It Goes Wrong</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Three ways, none of which feel like cheating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Many comparisons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p-hacking</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base rate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Significant but trivial</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5.1  ·  MULTIPLICITY</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Run enough tests and something will always turn up</a:t>
            </a:r>
            <a:endParaRPr lang="en-US" sz="3200" dirty="0"/>
          </a:p>
        </p:txBody>
      </p:sp>
      <p:pic>
        <p:nvPicPr>
          <p:cNvPr id="5" name="Image 0" descr="/home/claude/day28/fig/multiple.png">    </p:cNvPr>
          <p:cNvPicPr>
            <a:picLocks noChangeAspect="1"/>
          </p:cNvPicPr>
          <p:nvPr/>
        </p:nvPicPr>
        <p:blipFill>
          <a:blip r:embed="rId1"/>
          <a:stretch>
            <a:fillRect/>
          </a:stretch>
        </p:blipFill>
        <p:spPr>
          <a:xfrm>
            <a:off x="685800" y="1554480"/>
            <a:ext cx="6400800" cy="2945605"/>
          </a:xfrm>
          <a:prstGeom prst="rect">
            <a:avLst/>
          </a:prstGeom>
        </p:spPr>
      </p:pic>
      <p:sp>
        <p:nvSpPr>
          <p:cNvPr id="6" name="Shape 3"/>
          <p:cNvSpPr/>
          <p:nvPr/>
        </p:nvSpPr>
        <p:spPr>
          <a:xfrm>
            <a:off x="7406640" y="1572768"/>
            <a:ext cx="4206240" cy="2286000"/>
          </a:xfrm>
          <a:prstGeom prst="roundRect">
            <a:avLst>
              <a:gd name="adj" fmla="val 36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662672" y="1737360"/>
            <a:ext cx="374904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Twenty tests, nothing real</a:t>
            </a:r>
            <a:endParaRPr lang="en-US" sz="1400" dirty="0"/>
          </a:p>
        </p:txBody>
      </p:sp>
      <p:sp>
        <p:nvSpPr>
          <p:cNvPr id="8" name="Text 5"/>
          <p:cNvSpPr txBox="1"/>
          <p:nvPr/>
        </p:nvSpPr>
        <p:spPr>
          <a:xfrm>
            <a:off x="7662672" y="2103120"/>
            <a:ext cx="3749040" cy="164592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1 − 0.95²⁰ = 64%. On pure noise, you will find a “significant” result about two times in three, and on average exactly one.</a:t>
            </a:r>
            <a:endParaRPr lang="en-US" sz="1200" dirty="0"/>
          </a:p>
          <a:p>
            <a:pPr indent="0" marL="0">
              <a:lnSpc>
                <a:spcPct val="120000"/>
              </a:lnSpc>
              <a:buNone/>
            </a:pPr>
            <a:endParaRPr lang="en-US" sz="1200" dirty="0"/>
          </a:p>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This is not a subtle statistical issue. It is arithmetic.</a:t>
            </a:r>
            <a:endParaRPr lang="en-US" sz="1200" dirty="0"/>
          </a:p>
        </p:txBody>
      </p:sp>
      <p:sp>
        <p:nvSpPr>
          <p:cNvPr id="9" name="Shape 6"/>
          <p:cNvSpPr/>
          <p:nvPr/>
        </p:nvSpPr>
        <p:spPr>
          <a:xfrm>
            <a:off x="7406640" y="3977640"/>
            <a:ext cx="4206240" cy="1874520"/>
          </a:xfrm>
          <a:prstGeom prst="roundRect">
            <a:avLst>
              <a:gd name="adj" fmla="val 439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662672" y="4133088"/>
            <a:ext cx="374904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The fixes</a:t>
            </a:r>
            <a:endParaRPr lang="en-US" sz="1400" dirty="0"/>
          </a:p>
        </p:txBody>
      </p:sp>
      <p:sp>
        <p:nvSpPr>
          <p:cNvPr id="11" name="Text 8"/>
          <p:cNvSpPr txBox="1"/>
          <p:nvPr/>
        </p:nvSpPr>
        <p:spPr>
          <a:xfrm>
            <a:off x="7662672" y="4480560"/>
            <a:ext cx="3749040" cy="1280160"/>
          </a:xfrm>
          <a:prstGeom prst="rect">
            <a:avLst/>
          </a:prstGeom>
          <a:noFill/>
          <a:ln/>
        </p:spPr>
        <p:txBody>
          <a:bodyPr wrap="square" lIns="0" tIns="0" rIns="0" bIns="0" rtlCol="0" anchor="ctr"/>
          <a:lstStyle/>
          <a:p>
            <a:pPr indent="0" marL="0">
              <a:lnSpc>
                <a:spcPct val="120000"/>
              </a:lnSpc>
              <a:buNone/>
            </a:pPr>
            <a:r>
              <a:rPr lang="en-US" sz="1100" dirty="0">
                <a:solidFill>
                  <a:srgbClr val="2B3445"/>
                </a:solidFill>
                <a:latin typeface="Calibri" pitchFamily="34" charset="0"/>
                <a:ea typeface="Calibri" pitchFamily="34" charset="-122"/>
                <a:cs typeface="Calibri" pitchFamily="34" charset="-120"/>
              </a:rPr>
              <a:t>·  Bonferroni: use 0.05/k. Simple, and strict.</a:t>
            </a:r>
            <a:endParaRPr lang="en-US" sz="1100" dirty="0"/>
          </a:p>
          <a:p>
            <a:pPr indent="0" marL="0">
              <a:lnSpc>
                <a:spcPct val="120000"/>
              </a:lnSpc>
              <a:buNone/>
            </a:pPr>
            <a:r>
              <a:rPr lang="en-US" sz="1100" dirty="0">
                <a:solidFill>
                  <a:srgbClr val="2B3445"/>
                </a:solidFill>
                <a:latin typeface="Calibri" pitchFamily="34" charset="0"/>
                <a:ea typeface="Calibri" pitchFamily="34" charset="-122"/>
                <a:cs typeface="Calibri" pitchFamily="34" charset="-120"/>
              </a:rPr>
              <a:t>·  Benjamini–Hochberg: controls the false discovery rate. Less strict, usual choice for many tests.</a:t>
            </a:r>
            <a:endParaRPr lang="en-US" sz="1100" dirty="0"/>
          </a:p>
          <a:p>
            <a:pPr indent="0" marL="0">
              <a:lnSpc>
                <a:spcPct val="120000"/>
              </a:lnSpc>
              <a:buNone/>
            </a:pPr>
            <a:r>
              <a:rPr lang="en-US" sz="1100" dirty="0">
                <a:solidFill>
                  <a:srgbClr val="2B3445"/>
                </a:solidFill>
                <a:latin typeface="Calibri" pitchFamily="34" charset="0"/>
                <a:ea typeface="Calibri" pitchFamily="34" charset="-122"/>
                <a:cs typeface="Calibri" pitchFamily="34" charset="-120"/>
              </a:rPr>
              <a:t>·  Best of all: decide which test matters before you look.</a:t>
            </a:r>
            <a:endParaRPr lang="en-US" sz="1100" dirty="0"/>
          </a:p>
        </p:txBody>
      </p:sp>
      <p:sp>
        <p:nvSpPr>
          <p:cNvPr id="12" name="Shape 9"/>
          <p:cNvSpPr/>
          <p:nvPr/>
        </p:nvSpPr>
        <p:spPr>
          <a:xfrm>
            <a:off x="548640" y="5029200"/>
            <a:ext cx="6675120" cy="822960"/>
          </a:xfrm>
          <a:prstGeom prst="roundRect">
            <a:avLst>
              <a:gd name="adj" fmla="val 10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22960" y="5193792"/>
            <a:ext cx="6217920" cy="548640"/>
          </a:xfrm>
          <a:prstGeom prst="rect">
            <a:avLst/>
          </a:prstGeom>
          <a:noFill/>
          <a:ln/>
        </p:spPr>
        <p:txBody>
          <a:bodyPr wrap="square" lIns="0" tIns="0" rIns="0" bIns="0" rtlCol="0" anchor="ctr"/>
          <a:lstStyle/>
          <a:p>
            <a:pPr indent="0" marL="0">
              <a:lnSpc>
                <a:spcPct val="115000"/>
              </a:lnSpc>
              <a:buNone/>
            </a:pPr>
            <a:r>
              <a:rPr lang="en-US" sz="1150" b="1" dirty="0">
                <a:solidFill>
                  <a:srgbClr val="8A5B00"/>
                </a:solidFill>
                <a:latin typeface="Calibri" pitchFamily="34" charset="0"/>
                <a:ea typeface="Calibri" pitchFamily="34" charset="-122"/>
                <a:cs typeface="Calibri" pitchFamily="34" charset="-120"/>
              </a:rPr>
              <a:t>Where this bites in practice: testing ten metrics in an A/B test, comparing every pair of groups, or scanning a wide dataframe for “interesting” correlations. All three are routine.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5.2  ·  p-HACKING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Two habits that feel completely reasonable</a:t>
            </a:r>
            <a:endParaRPr lang="en-US" sz="3200" dirty="0"/>
          </a:p>
        </p:txBody>
      </p:sp>
      <p:pic>
        <p:nvPicPr>
          <p:cNvPr id="5" name="Image 0" descr="/home/claude/day28/fig/phack.png">    </p:cNvPr>
          <p:cNvPicPr>
            <a:picLocks noChangeAspect="1"/>
          </p:cNvPicPr>
          <p:nvPr/>
        </p:nvPicPr>
        <p:blipFill>
          <a:blip r:embed="rId1"/>
          <a:stretch>
            <a:fillRect/>
          </a:stretch>
        </p:blipFill>
        <p:spPr>
          <a:xfrm>
            <a:off x="685800" y="1554480"/>
            <a:ext cx="6400800" cy="2846065"/>
          </a:xfrm>
          <a:prstGeom prst="rect">
            <a:avLst/>
          </a:prstGeom>
        </p:spPr>
      </p:pic>
      <p:sp>
        <p:nvSpPr>
          <p:cNvPr id="6" name="Shape 3"/>
          <p:cNvSpPr/>
          <p:nvPr/>
        </p:nvSpPr>
        <p:spPr>
          <a:xfrm>
            <a:off x="7406640" y="1572768"/>
            <a:ext cx="4206240" cy="2286000"/>
          </a:xfrm>
          <a:prstGeom prst="roundRect">
            <a:avLst>
              <a:gd name="adj" fmla="val 36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662672" y="1737360"/>
            <a:ext cx="374904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Neither feels like cheating</a:t>
            </a:r>
            <a:endParaRPr lang="en-US" sz="1400" dirty="0"/>
          </a:p>
        </p:txBody>
      </p:sp>
      <p:sp>
        <p:nvSpPr>
          <p:cNvPr id="8" name="Text 5"/>
          <p:cNvSpPr txBox="1"/>
          <p:nvPr/>
        </p:nvSpPr>
        <p:spPr>
          <a:xfrm>
            <a:off x="7662672" y="2103120"/>
            <a:ext cx="3749040" cy="1691640"/>
          </a:xfrm>
          <a:prstGeom prst="rect">
            <a:avLst/>
          </a:prstGeom>
          <a:noFill/>
          <a:ln/>
        </p:spPr>
        <p:txBody>
          <a:bodyPr wrap="square" lIns="0" tIns="0" rIns="0" bIns="0" rtlCol="0" anchor="ctr"/>
          <a:lstStyle/>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“Let's check whether it's significant yet before spending more budget.”</a:t>
            </a:r>
            <a:endParaRPr lang="en-US" sz="1150" dirty="0"/>
          </a:p>
          <a:p>
            <a:pPr indent="0" marL="0">
              <a:lnSpc>
                <a:spcPct val="120000"/>
              </a:lnSpc>
              <a:buNone/>
            </a:pPr>
            <a:endParaRPr lang="en-US" sz="1150" dirty="0"/>
          </a:p>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“It didn't work overall — but does it work for new users?”</a:t>
            </a:r>
            <a:endParaRPr lang="en-US" sz="1150" dirty="0"/>
          </a:p>
          <a:p>
            <a:pPr indent="0" marL="0">
              <a:lnSpc>
                <a:spcPct val="120000"/>
              </a:lnSpc>
              <a:buNone/>
            </a:pPr>
            <a:endParaRPr lang="en-US" sz="1150" dirty="0"/>
          </a:p>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Both are sensible-sounding sentences. Both triple or quadruple your false positive rate.</a:t>
            </a:r>
            <a:endParaRPr lang="en-US" sz="1150" dirty="0"/>
          </a:p>
        </p:txBody>
      </p:sp>
      <p:sp>
        <p:nvSpPr>
          <p:cNvPr id="9" name="Shape 6"/>
          <p:cNvSpPr/>
          <p:nvPr/>
        </p:nvSpPr>
        <p:spPr>
          <a:xfrm>
            <a:off x="7406640" y="3931920"/>
            <a:ext cx="4206240" cy="1920240"/>
          </a:xfrm>
          <a:prstGeom prst="roundRect">
            <a:avLst>
              <a:gd name="adj" fmla="val 428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662672" y="4087368"/>
            <a:ext cx="374904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Why it happens</a:t>
            </a:r>
            <a:endParaRPr lang="en-US" sz="1400" dirty="0"/>
          </a:p>
        </p:txBody>
      </p:sp>
      <p:sp>
        <p:nvSpPr>
          <p:cNvPr id="11" name="Text 8"/>
          <p:cNvSpPr txBox="1"/>
          <p:nvPr/>
        </p:nvSpPr>
        <p:spPr>
          <a:xfrm>
            <a:off x="7662672" y="4434840"/>
            <a:ext cx="3749040" cy="1325880"/>
          </a:xfrm>
          <a:prstGeom prst="rect">
            <a:avLst/>
          </a:prstGeom>
          <a:noFill/>
          <a:ln/>
        </p:spPr>
        <p:txBody>
          <a:bodyPr wrap="square" lIns="0" tIns="0" rIns="0" bIns="0" rtlCol="0" anchor="ctr"/>
          <a:lstStyle/>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Every extra look is an extra chance for noise to cross the line. You are running many tests — you are just not counting them.</a:t>
            </a:r>
            <a:endParaRPr lang="en-US" sz="1150" dirty="0"/>
          </a:p>
          <a:p>
            <a:pPr indent="0" marL="0">
              <a:lnSpc>
                <a:spcPct val="120000"/>
              </a:lnSpc>
              <a:buNone/>
            </a:pPr>
            <a:endParaRPr lang="en-US" sz="1150" dirty="0"/>
          </a:p>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The fix: write down the analysis before you see the data, and count every test you run.</a:t>
            </a:r>
            <a:endParaRPr lang="en-US" sz="1150" dirty="0"/>
          </a:p>
        </p:txBody>
      </p:sp>
      <p:sp>
        <p:nvSpPr>
          <p:cNvPr id="12" name="Shape 9"/>
          <p:cNvSpPr/>
          <p:nvPr/>
        </p:nvSpPr>
        <p:spPr>
          <a:xfrm>
            <a:off x="548640" y="5029200"/>
            <a:ext cx="6675120" cy="822960"/>
          </a:xfrm>
          <a:prstGeom prst="roundRect">
            <a:avLst>
              <a:gd name="adj" fmla="val 10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22960" y="5193792"/>
            <a:ext cx="6217920" cy="548640"/>
          </a:xfrm>
          <a:prstGeom prst="rect">
            <a:avLst/>
          </a:prstGeom>
          <a:noFill/>
          <a:ln/>
        </p:spPr>
        <p:txBody>
          <a:bodyPr wrap="square" lIns="0" tIns="0" rIns="0" bIns="0" rtlCol="0" anchor="ctr"/>
          <a:lstStyle/>
          <a:p>
            <a:pPr indent="0" marL="0">
              <a:lnSpc>
                <a:spcPct val="115000"/>
              </a:lnSpc>
              <a:buNone/>
            </a:pPr>
            <a:r>
              <a:rPr lang="en-US" sz="1150" b="1" dirty="0">
                <a:solidFill>
                  <a:srgbClr val="8A5B00"/>
                </a:solidFill>
                <a:latin typeface="Calibri" pitchFamily="34" charset="0"/>
                <a:ea typeface="Calibri" pitchFamily="34" charset="-122"/>
                <a:cs typeface="Calibri" pitchFamily="34" charset="-120"/>
              </a:rPr>
              <a:t>You will see this live in the practice notebook: a real +2.6 effect where the p-value goes 0.21 at n=10, then 0.041 at n=15, then back to 0.12 at n=25. Stopping at the good moment is the trap.</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5.3  ·  THE BASE RATE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p &lt; 0.05 does not mean 95% sure</a:t>
            </a:r>
            <a:endParaRPr lang="en-US" sz="3200" dirty="0"/>
          </a:p>
        </p:txBody>
      </p:sp>
      <p:pic>
        <p:nvPicPr>
          <p:cNvPr id="5" name="Image 0" descr="/home/claude/day28/fig/baserate.png">    </p:cNvPr>
          <p:cNvPicPr>
            <a:picLocks noChangeAspect="1"/>
          </p:cNvPicPr>
          <p:nvPr/>
        </p:nvPicPr>
        <p:blipFill>
          <a:blip r:embed="rId1"/>
          <a:stretch>
            <a:fillRect/>
          </a:stretch>
        </p:blipFill>
        <p:spPr>
          <a:xfrm>
            <a:off x="685800" y="1554480"/>
            <a:ext cx="6400800" cy="3000844"/>
          </a:xfrm>
          <a:prstGeom prst="rect">
            <a:avLst/>
          </a:prstGeom>
        </p:spPr>
      </p:pic>
      <p:sp>
        <p:nvSpPr>
          <p:cNvPr id="6" name="Shape 3"/>
          <p:cNvSpPr/>
          <p:nvPr/>
        </p:nvSpPr>
        <p:spPr>
          <a:xfrm>
            <a:off x="7406640" y="1572768"/>
            <a:ext cx="4206240" cy="2286000"/>
          </a:xfrm>
          <a:prstGeom prst="roundRect">
            <a:avLst>
              <a:gd name="adj" fmla="val 36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662672" y="1737360"/>
            <a:ext cx="374904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The arithmetic</a:t>
            </a:r>
            <a:endParaRPr lang="en-US" sz="1400" dirty="0"/>
          </a:p>
        </p:txBody>
      </p:sp>
      <p:sp>
        <p:nvSpPr>
          <p:cNvPr id="8" name="Text 5"/>
          <p:cNvSpPr txBox="1"/>
          <p:nvPr/>
        </p:nvSpPr>
        <p:spPr>
          <a:xfrm>
            <a:off x="7662672" y="2103120"/>
            <a:ext cx="3749040" cy="1691640"/>
          </a:xfrm>
          <a:prstGeom prst="rect">
            <a:avLst/>
          </a:prstGeom>
          <a:noFill/>
          <a:ln/>
        </p:spPr>
        <p:txBody>
          <a:bodyPr wrap="square" lIns="0" tIns="0" rIns="0" bIns="0" rtlCol="0" anchor="ctr"/>
          <a:lstStyle/>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Test 1,000 hypotheses of which 100 are true, with 80% power:</a:t>
            </a:r>
            <a:endParaRPr lang="en-US" sz="1150" dirty="0"/>
          </a:p>
          <a:p>
            <a:pPr indent="0" marL="0">
              <a:lnSpc>
                <a:spcPct val="120000"/>
              </a:lnSpc>
              <a:buNone/>
            </a:pPr>
            <a:endParaRPr lang="en-US" sz="1150" dirty="0"/>
          </a:p>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  80 true findings</a:t>
            </a:r>
            <a:endParaRPr lang="en-US" sz="1150" dirty="0"/>
          </a:p>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  45 false alarms (5% of 900)</a:t>
            </a:r>
            <a:endParaRPr lang="en-US" sz="1150" dirty="0"/>
          </a:p>
          <a:p>
            <a:pPr indent="0" marL="0">
              <a:lnSpc>
                <a:spcPct val="120000"/>
              </a:lnSpc>
              <a:buNone/>
            </a:pPr>
            <a:endParaRPr lang="en-US" sz="1150" dirty="0"/>
          </a:p>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So 45 of your 125 “discoveries” — more than a third — are wrong.</a:t>
            </a:r>
            <a:endParaRPr lang="en-US" sz="1150" dirty="0"/>
          </a:p>
        </p:txBody>
      </p:sp>
      <p:sp>
        <p:nvSpPr>
          <p:cNvPr id="9" name="Shape 6"/>
          <p:cNvSpPr/>
          <p:nvPr/>
        </p:nvSpPr>
        <p:spPr>
          <a:xfrm>
            <a:off x="7406640" y="3931920"/>
            <a:ext cx="4206240" cy="1920240"/>
          </a:xfrm>
          <a:prstGeom prst="roundRect">
            <a:avLst>
              <a:gd name="adj" fmla="val 428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7662672" y="4087368"/>
            <a:ext cx="374904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What moves the number</a:t>
            </a:r>
            <a:endParaRPr lang="en-US" sz="1400" dirty="0"/>
          </a:p>
        </p:txBody>
      </p:sp>
      <p:sp>
        <p:nvSpPr>
          <p:cNvPr id="11" name="Text 8"/>
          <p:cNvSpPr txBox="1"/>
          <p:nvPr/>
        </p:nvSpPr>
        <p:spPr>
          <a:xfrm>
            <a:off x="7662672" y="4434840"/>
            <a:ext cx="3749040" cy="1325880"/>
          </a:xfrm>
          <a:prstGeom prst="rect">
            <a:avLst/>
          </a:prstGeom>
          <a:noFill/>
          <a:ln/>
        </p:spPr>
        <p:txBody>
          <a:bodyPr wrap="square" lIns="0" tIns="0" rIns="0" bIns="0" rtlCol="0" anchor="ctr"/>
          <a:lstStyle/>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  Testing plausible hypotheses, not fishing</a:t>
            </a:r>
            <a:endParaRPr lang="en-US" sz="1150" dirty="0"/>
          </a:p>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  Higher power — bigger studies</a:t>
            </a:r>
            <a:endParaRPr lang="en-US" sz="1150" dirty="0"/>
          </a:p>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  A stricter threshold where the cost of a false alarm is high</a:t>
            </a:r>
            <a:endParaRPr lang="en-US" sz="1150" dirty="0"/>
          </a:p>
          <a:p>
            <a:pPr indent="0" marL="0">
              <a:lnSpc>
                <a:spcPct val="120000"/>
              </a:lnSpc>
              <a:buNone/>
            </a:pPr>
            <a:endParaRPr lang="en-US" sz="1150" dirty="0"/>
          </a:p>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None of these is about the p-value itself.</a:t>
            </a:r>
            <a:endParaRPr lang="en-US" sz="1150" dirty="0"/>
          </a:p>
        </p:txBody>
      </p:sp>
      <p:sp>
        <p:nvSpPr>
          <p:cNvPr id="12" name="Shape 9"/>
          <p:cNvSpPr/>
          <p:nvPr/>
        </p:nvSpPr>
        <p:spPr>
          <a:xfrm>
            <a:off x="548640" y="5029200"/>
            <a:ext cx="6675120" cy="822960"/>
          </a:xfrm>
          <a:prstGeom prst="roundRect">
            <a:avLst>
              <a:gd name="adj" fmla="val 10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22960" y="5193792"/>
            <a:ext cx="6217920" cy="548640"/>
          </a:xfrm>
          <a:prstGeom prst="rect">
            <a:avLst/>
          </a:prstGeom>
          <a:noFill/>
          <a:ln/>
        </p:spPr>
        <p:txBody>
          <a:bodyPr wrap="square" lIns="0" tIns="0" rIns="0" bIns="0" rtlCol="0" anchor="ctr"/>
          <a:lstStyle/>
          <a:p>
            <a:pPr indent="0" marL="0">
              <a:lnSpc>
                <a:spcPct val="115000"/>
              </a:lnSpc>
              <a:buNone/>
            </a:pPr>
            <a:r>
              <a:rPr lang="en-US" sz="1150" b="1" dirty="0">
                <a:solidFill>
                  <a:srgbClr val="8A5B00"/>
                </a:solidFill>
                <a:latin typeface="Calibri" pitchFamily="34" charset="0"/>
                <a:ea typeface="Calibri" pitchFamily="34" charset="-122"/>
                <a:cs typeface="Calibri" pitchFamily="34" charset="-120"/>
              </a:rPr>
              <a:t>If only 5% of what you test is real — which is optimistic for exploratory work — then fewer than half your significant results are. The p-value cannot see this, because it never asked how plausible your hypothesis was.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5.4  ·  EFFECT SIZE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Significant means detectable, not important</a:t>
            </a:r>
            <a:endParaRPr lang="en-US" sz="3200" dirty="0"/>
          </a:p>
        </p:txBody>
      </p:sp>
      <p:pic>
        <p:nvPicPr>
          <p:cNvPr id="5" name="Image 0" descr="/home/claude/day28/fig/sig_vs_size.png">    </p:cNvPr>
          <p:cNvPicPr>
            <a:picLocks noChangeAspect="1"/>
          </p:cNvPicPr>
          <p:nvPr/>
        </p:nvPicPr>
        <p:blipFill>
          <a:blip r:embed="rId1"/>
          <a:stretch>
            <a:fillRect/>
          </a:stretch>
        </p:blipFill>
        <p:spPr>
          <a:xfrm>
            <a:off x="731520" y="1572768"/>
            <a:ext cx="10698480" cy="2961927"/>
          </a:xfrm>
          <a:prstGeom prst="rect">
            <a:avLst/>
          </a:prstGeom>
        </p:spPr>
      </p:pic>
      <p:sp>
        <p:nvSpPr>
          <p:cNvPr id="6" name="Shape 3"/>
          <p:cNvSpPr/>
          <p:nvPr/>
        </p:nvSpPr>
        <p:spPr>
          <a:xfrm>
            <a:off x="548640" y="4572000"/>
            <a:ext cx="5486400" cy="1280160"/>
          </a:xfrm>
          <a:prstGeom prst="roundRect">
            <a:avLst>
              <a:gd name="adj" fmla="val 6429"/>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700016"/>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Any difference becomes significant</a:t>
            </a:r>
            <a:endParaRPr lang="en-US" sz="1350" dirty="0"/>
          </a:p>
        </p:txBody>
      </p:sp>
      <p:sp>
        <p:nvSpPr>
          <p:cNvPr id="8" name="Text 5"/>
          <p:cNvSpPr txBox="1"/>
          <p:nvPr/>
        </p:nvSpPr>
        <p:spPr>
          <a:xfrm>
            <a:off x="804672" y="5010912"/>
            <a:ext cx="4983480" cy="77724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A difference of d = 0.02 — utterly trivial — reaches p &lt; 0.001 once n is large enough. No difference is exactly zero, so with enough data everything is “significant”.</a:t>
            </a:r>
            <a:endParaRPr lang="en-US" sz="1200" dirty="0"/>
          </a:p>
        </p:txBody>
      </p:sp>
      <p:sp>
        <p:nvSpPr>
          <p:cNvPr id="9" name="Shape 6"/>
          <p:cNvSpPr/>
          <p:nvPr/>
        </p:nvSpPr>
        <p:spPr>
          <a:xfrm>
            <a:off x="6309360" y="4572000"/>
            <a:ext cx="5303520" cy="1280160"/>
          </a:xfrm>
          <a:prstGeom prst="roundRect">
            <a:avLst>
              <a:gd name="adj" fmla="val 6429"/>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700016"/>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The effect size does not care about n</a:t>
            </a:r>
            <a:endParaRPr lang="en-US" sz="1350" dirty="0"/>
          </a:p>
        </p:txBody>
      </p:sp>
      <p:sp>
        <p:nvSpPr>
          <p:cNvPr id="11" name="Text 8"/>
          <p:cNvSpPr txBox="1"/>
          <p:nvPr/>
        </p:nvSpPr>
        <p:spPr>
          <a:xfrm>
            <a:off x="6565392" y="5010912"/>
            <a:ext cx="4800600" cy="77724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Cohen's d is flat across the whole right-hand panel. It measures the thing you actually wanted to know, and it is the number to lead with.</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5.5  ·  THE BETTER HABIT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What to report instead of a verdict</a:t>
            </a:r>
            <a:endParaRPr lang="en-US" sz="3200" dirty="0"/>
          </a:p>
        </p:txBody>
      </p:sp>
      <p:sp>
        <p:nvSpPr>
          <p:cNvPr id="5" name="Shape 3"/>
          <p:cNvSpPr/>
          <p:nvPr/>
        </p:nvSpPr>
        <p:spPr>
          <a:xfrm>
            <a:off x="548640" y="1572768"/>
            <a:ext cx="5486400" cy="2468880"/>
          </a:xfrm>
          <a:prstGeom prst="roundRect">
            <a:avLst>
              <a:gd name="adj" fmla="val 333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37360"/>
            <a:ext cx="493776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The usual report</a:t>
            </a:r>
            <a:endParaRPr lang="en-US" sz="1450" dirty="0"/>
          </a:p>
        </p:txBody>
      </p:sp>
      <p:sp>
        <p:nvSpPr>
          <p:cNvPr id="7" name="Text 5"/>
          <p:cNvSpPr txBox="1"/>
          <p:nvPr/>
        </p:nvSpPr>
        <p:spPr>
          <a:xfrm>
            <a:off x="804672" y="2148840"/>
            <a:ext cx="4983480" cy="548640"/>
          </a:xfrm>
          <a:prstGeom prst="rect">
            <a:avLst/>
          </a:prstGeom>
          <a:noFill/>
          <a:ln/>
        </p:spPr>
        <p:txBody>
          <a:bodyPr wrap="square" lIns="0" tIns="0" rIns="0" bIns="0" rtlCol="0" anchor="ctr"/>
          <a:lstStyle/>
          <a:p>
            <a:pPr indent="0" marL="0">
              <a:lnSpc>
                <a:spcPct val="120000"/>
              </a:lnSpc>
              <a:buNone/>
            </a:pPr>
            <a:r>
              <a:rPr lang="en-US" sz="1300" i="1" dirty="0">
                <a:solidFill>
                  <a:srgbClr val="6B4A0B"/>
                </a:solidFill>
                <a:latin typeface="Calibri" pitchFamily="34" charset="0"/>
                <a:ea typeface="Calibri" pitchFamily="34" charset="-122"/>
                <a:cs typeface="Calibri" pitchFamily="34" charset="-120"/>
              </a:rPr>
              <a:t>“The treatment group performed significantly better (p &lt; 0.05).”</a:t>
            </a:r>
            <a:endParaRPr lang="en-US" sz="1300" dirty="0"/>
          </a:p>
        </p:txBody>
      </p:sp>
      <p:sp>
        <p:nvSpPr>
          <p:cNvPr id="8" name="Text 6"/>
          <p:cNvSpPr txBox="1"/>
          <p:nvPr/>
        </p:nvSpPr>
        <p:spPr>
          <a:xfrm>
            <a:off x="804672" y="2788920"/>
            <a:ext cx="4983480" cy="1097280"/>
          </a:xfrm>
          <a:prstGeom prst="rect">
            <a:avLst/>
          </a:prstGeom>
          <a:noFill/>
          <a:ln/>
        </p:spPr>
        <p:txBody>
          <a:bodyPr wrap="square" lIns="0" tIns="0" rIns="0" bIns="0" rtlCol="0" anchor="ctr"/>
          <a:lstStyle/>
          <a:p>
            <a:pPr indent="0" marL="0">
              <a:lnSpc>
                <a:spcPct val="120000"/>
              </a:lnSpc>
              <a:buNone/>
            </a:pPr>
            <a:r>
              <a:rPr lang="en-US" sz="1200" dirty="0">
                <a:solidFill>
                  <a:srgbClr val="6B4A0B"/>
                </a:solidFill>
                <a:latin typeface="Calibri" pitchFamily="34" charset="0"/>
                <a:ea typeface="Calibri" pitchFamily="34" charset="-122"/>
                <a:cs typeface="Calibri" pitchFamily="34" charset="-120"/>
              </a:rPr>
              <a:t>What a reader cannot tell from this: how big the effect was, how precisely it was measured, how many tests you ran, or whether the difference matters.</a:t>
            </a:r>
            <a:endParaRPr lang="en-US" sz="1200" dirty="0"/>
          </a:p>
        </p:txBody>
      </p:sp>
      <p:sp>
        <p:nvSpPr>
          <p:cNvPr id="9" name="Shape 7"/>
          <p:cNvSpPr/>
          <p:nvPr/>
        </p:nvSpPr>
        <p:spPr>
          <a:xfrm>
            <a:off x="6309360" y="1572768"/>
            <a:ext cx="5303520" cy="2468880"/>
          </a:xfrm>
          <a:prstGeom prst="roundRect">
            <a:avLst>
              <a:gd name="adj" fmla="val 333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37360"/>
            <a:ext cx="475488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  A report worth reading</a:t>
            </a:r>
            <a:endParaRPr lang="en-US" sz="1450" dirty="0"/>
          </a:p>
        </p:txBody>
      </p:sp>
      <p:sp>
        <p:nvSpPr>
          <p:cNvPr id="11" name="Text 9"/>
          <p:cNvSpPr txBox="1"/>
          <p:nvPr/>
        </p:nvSpPr>
        <p:spPr>
          <a:xfrm>
            <a:off x="6565392" y="2148840"/>
            <a:ext cx="4800600" cy="822960"/>
          </a:xfrm>
          <a:prstGeom prst="rect">
            <a:avLst/>
          </a:prstGeom>
          <a:noFill/>
          <a:ln/>
        </p:spPr>
        <p:txBody>
          <a:bodyPr wrap="square" lIns="0" tIns="0" rIns="0" bIns="0" rtlCol="0" anchor="ctr"/>
          <a:lstStyle/>
          <a:p>
            <a:pPr indent="0" marL="0">
              <a:lnSpc>
                <a:spcPct val="120000"/>
              </a:lnSpc>
              <a:buNone/>
            </a:pPr>
            <a:r>
              <a:rPr lang="en-US" sz="1250" i="1" dirty="0">
                <a:solidFill>
                  <a:srgbClr val="2B3445"/>
                </a:solidFill>
                <a:latin typeface="Calibri" pitchFamily="34" charset="0"/>
                <a:ea typeface="Calibri" pitchFamily="34" charset="-122"/>
                <a:cs typeface="Calibri" pitchFamily="34" charset="-120"/>
              </a:rPr>
              <a:t>“The course raised scores by 2.6 points (95% CI 1.0 to 4.1; d = 0.43; paired t-test, n = 60, p = 0.001). This was the single pre-specified comparison.”</a:t>
            </a:r>
            <a:endParaRPr lang="en-US" sz="1250" dirty="0"/>
          </a:p>
        </p:txBody>
      </p:sp>
      <p:sp>
        <p:nvSpPr>
          <p:cNvPr id="12" name="Text 10"/>
          <p:cNvSpPr txBox="1"/>
          <p:nvPr/>
        </p:nvSpPr>
        <p:spPr>
          <a:xfrm>
            <a:off x="6565392" y="3063240"/>
            <a:ext cx="4800600" cy="82296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Every question above is answered, and the p-value is the least important thing in the sentence.</a:t>
            </a:r>
            <a:endParaRPr lang="en-US" sz="1200" dirty="0"/>
          </a:p>
        </p:txBody>
      </p:sp>
      <p:sp>
        <p:nvSpPr>
          <p:cNvPr id="13" name="Shape 11"/>
          <p:cNvSpPr/>
          <p:nvPr/>
        </p:nvSpPr>
        <p:spPr>
          <a:xfrm>
            <a:off x="548640" y="4206240"/>
            <a:ext cx="11064240" cy="1645920"/>
          </a:xfrm>
          <a:prstGeom prst="roundRect">
            <a:avLst>
              <a:gd name="adj" fmla="val 5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361688"/>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Five things to include, every time</a:t>
            </a:r>
            <a:endParaRPr lang="en-US" sz="1450" dirty="0"/>
          </a:p>
        </p:txBody>
      </p:sp>
      <p:sp>
        <p:nvSpPr>
          <p:cNvPr id="15" name="Text 13"/>
          <p:cNvSpPr txBox="1"/>
          <p:nvPr/>
        </p:nvSpPr>
        <p:spPr>
          <a:xfrm>
            <a:off x="868680" y="4709160"/>
            <a:ext cx="2011680" cy="27432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the effect size</a:t>
            </a:r>
            <a:endParaRPr lang="en-US" sz="1200" dirty="0"/>
          </a:p>
        </p:txBody>
      </p:sp>
      <p:sp>
        <p:nvSpPr>
          <p:cNvPr id="16" name="Text 14"/>
          <p:cNvSpPr txBox="1"/>
          <p:nvPr/>
        </p:nvSpPr>
        <p:spPr>
          <a:xfrm>
            <a:off x="1005840" y="4983480"/>
            <a:ext cx="1920240" cy="457200"/>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in real units</a:t>
            </a:r>
            <a:endParaRPr lang="en-US" sz="1050" dirty="0"/>
          </a:p>
        </p:txBody>
      </p:sp>
      <p:sp>
        <p:nvSpPr>
          <p:cNvPr id="17" name="Text 15"/>
          <p:cNvSpPr txBox="1"/>
          <p:nvPr/>
        </p:nvSpPr>
        <p:spPr>
          <a:xfrm>
            <a:off x="3017520" y="4709160"/>
            <a:ext cx="2011680" cy="27432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a confidence interval</a:t>
            </a:r>
            <a:endParaRPr lang="en-US" sz="1200" dirty="0"/>
          </a:p>
        </p:txBody>
      </p:sp>
      <p:sp>
        <p:nvSpPr>
          <p:cNvPr id="18" name="Text 16"/>
          <p:cNvSpPr txBox="1"/>
          <p:nvPr/>
        </p:nvSpPr>
        <p:spPr>
          <a:xfrm>
            <a:off x="3154680" y="4983480"/>
            <a:ext cx="1920240" cy="457200"/>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the precision</a:t>
            </a:r>
            <a:endParaRPr lang="en-US" sz="1050" dirty="0"/>
          </a:p>
        </p:txBody>
      </p:sp>
      <p:sp>
        <p:nvSpPr>
          <p:cNvPr id="19" name="Text 17"/>
          <p:cNvSpPr txBox="1"/>
          <p:nvPr/>
        </p:nvSpPr>
        <p:spPr>
          <a:xfrm>
            <a:off x="5166360" y="4709160"/>
            <a:ext cx="2011680" cy="27432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the test and n</a:t>
            </a:r>
            <a:endParaRPr lang="en-US" sz="1200" dirty="0"/>
          </a:p>
        </p:txBody>
      </p:sp>
      <p:sp>
        <p:nvSpPr>
          <p:cNvPr id="20" name="Text 18"/>
          <p:cNvSpPr txBox="1"/>
          <p:nvPr/>
        </p:nvSpPr>
        <p:spPr>
          <a:xfrm>
            <a:off x="5303520" y="4983480"/>
            <a:ext cx="1920240" cy="457200"/>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reproducibility</a:t>
            </a:r>
            <a:endParaRPr lang="en-US" sz="1050" dirty="0"/>
          </a:p>
        </p:txBody>
      </p:sp>
      <p:sp>
        <p:nvSpPr>
          <p:cNvPr id="21" name="Text 19"/>
          <p:cNvSpPr txBox="1"/>
          <p:nvPr/>
        </p:nvSpPr>
        <p:spPr>
          <a:xfrm>
            <a:off x="7315200" y="4709160"/>
            <a:ext cx="2011680" cy="27432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the exact p</a:t>
            </a:r>
            <a:endParaRPr lang="en-US" sz="1200" dirty="0"/>
          </a:p>
        </p:txBody>
      </p:sp>
      <p:sp>
        <p:nvSpPr>
          <p:cNvPr id="22" name="Text 20"/>
          <p:cNvSpPr txBox="1"/>
          <p:nvPr/>
        </p:nvSpPr>
        <p:spPr>
          <a:xfrm>
            <a:off x="7452360" y="4983480"/>
            <a:ext cx="1920240" cy="457200"/>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not “&lt; 0.05”</a:t>
            </a:r>
            <a:endParaRPr lang="en-US" sz="1050" dirty="0"/>
          </a:p>
        </p:txBody>
      </p:sp>
      <p:sp>
        <p:nvSpPr>
          <p:cNvPr id="23" name="Text 21"/>
          <p:cNvSpPr txBox="1"/>
          <p:nvPr/>
        </p:nvSpPr>
        <p:spPr>
          <a:xfrm>
            <a:off x="9464040" y="4709160"/>
            <a:ext cx="2011680" cy="27432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how many tests</a:t>
            </a:r>
            <a:endParaRPr lang="en-US" sz="1200" dirty="0"/>
          </a:p>
        </p:txBody>
      </p:sp>
      <p:sp>
        <p:nvSpPr>
          <p:cNvPr id="24" name="Text 22"/>
          <p:cNvSpPr txBox="1"/>
          <p:nvPr/>
        </p:nvSpPr>
        <p:spPr>
          <a:xfrm>
            <a:off x="9601200" y="4983480"/>
            <a:ext cx="1920240" cy="457200"/>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the honesty bit</a:t>
            </a:r>
            <a:endParaRPr lang="en-US" sz="1050" dirty="0"/>
          </a:p>
        </p:txBody>
      </p:sp>
      <p:sp>
        <p:nvSpPr>
          <p:cNvPr id="25" name="Text 23"/>
          <p:cNvSpPr txBox="1"/>
          <p:nvPr/>
        </p:nvSpPr>
        <p:spPr>
          <a:xfrm>
            <a:off x="868680" y="5449824"/>
            <a:ext cx="10424160" cy="320040"/>
          </a:xfrm>
          <a:prstGeom prst="rect">
            <a:avLst/>
          </a:prstGeom>
          <a:noFill/>
          <a:ln/>
        </p:spPr>
        <p:txBody>
          <a:bodyPr wrap="square" lIns="0" tIns="0" rIns="0" bIns="0" rtlCol="0" anchor="ctr"/>
          <a:lstStyle/>
          <a:p>
            <a:pPr indent="0" marL="0">
              <a:buNone/>
            </a:pPr>
            <a:r>
              <a:rPr lang="en-US" sz="1200" i="1" dirty="0">
                <a:solidFill>
                  <a:srgbClr val="8A5B00"/>
                </a:solidFill>
                <a:latin typeface="Calibri" pitchFamily="34" charset="0"/>
                <a:ea typeface="Calibri" pitchFamily="34" charset="-122"/>
                <a:cs typeface="Calibri" pitchFamily="34" charset="-120"/>
              </a:rPr>
              <a:t>The last one is the only one that requires any courage, and it is the one that makes the other four trustworthy.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testing mistakes</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3840480"/>
                <a:gridCol w="3749040"/>
                <a:gridCol w="347472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did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goes wrong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read p as “chance the null is true”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it assumes the null, it cannot judge 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 is P(data | null), not P(null |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said “p &gt; 0.05, so no effect”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you may just have had a small study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report the confidence interval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used ttest_ind with the default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equal_var=True fires 44% on some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equal_var=False (Welch)</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used ttest_ind on before/after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between-person noise swamps 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ttest_rel — the data is paired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tested 20 metrics, reported the best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64% chance of a false positive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Bonferroni or Benjamini-Hochberg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checked significance as data came in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5% becomes 16%</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fix n in advance, or use a sequential design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reported p but not the effect size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trivial difference looks like a finding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lead with the effect and its CI</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said “p &lt; 0.05”</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0.049 and 0.004 are different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report the exact value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Rows 3 and 4 are one-word fixes that change the answer completely. Rows 5 and 6 are the ones that get published.</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6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a test that reports honestly</a:t>
            </a:r>
            <a:endParaRPr lang="en-US" sz="3200" dirty="0"/>
          </a:p>
        </p:txBody>
      </p:sp>
      <p:sp>
        <p:nvSpPr>
          <p:cNvPr id="5" name="Shape 3"/>
          <p:cNvSpPr/>
          <p:nvPr/>
        </p:nvSpPr>
        <p:spPr>
          <a:xfrm>
            <a:off x="548640" y="1572768"/>
            <a:ext cx="6583680" cy="4343400"/>
          </a:xfrm>
          <a:prstGeom prst="roundRect">
            <a:avLst>
              <a:gd name="adj" fmla="val 189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5751576" cy="3712464"/>
          </a:xfrm>
          <a:prstGeom prst="rect">
            <a:avLst/>
          </a:prstGeom>
          <a:noFill/>
          <a:ln/>
        </p:spPr>
        <p:txBody>
          <a:bodyPr wrap="square" lIns="0" tIns="0" rIns="0" bIns="0" rtlCol="0" anchor="t"/>
          <a:lstStyle/>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import numpy as np</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from scipy import stats</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def compare(a, b, n_tests=1, paired=False, label=""):</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"""A two-group comparison that reports what matters."""</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a, b = np.asarray(a), np.asarray(b)</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if paired:</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d = b - a</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res = stats.ttest_rel(b, a)</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est, se, df = d.mean(), d.std(ddof=1)/np.sqrt(len(d)), len(d)-1</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cohen = d.mean() / d.std(ddof=1)</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else:</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res = stats.ttest_ind(a, b, equal_var=False)   # Welch</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est = b.mean() - a.mean()</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se  = np.sqrt(a.var(ddof=1)/len(a) + b.var(ddof=1)/len(b))</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df  = res.df</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cohen = est / np.sqrt((a.var(ddof=1) + b.var(ddof=1)) / 2)</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lo, hi = stats.t.interval(0.95, df, est, se)</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alpha  = 0.05 / n_tests                 # Bonferroni</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print(f"{label} difference {est:+.3f}  95% CI [{lo:+.3f}, {hi:+.3f}]")</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print(f"  d = {cohen:+.3f}   p = {res.pvalue:.4f}   "</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f"threshold {alpha:.4f} ({n_tests} test(s))")</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print("  -&gt;", "significant" if res.pvalue &lt; alpha else "not significant")</a:t>
            </a:r>
            <a:endParaRPr lang="en-US" sz="750" dirty="0"/>
          </a:p>
        </p:txBody>
      </p:sp>
      <p:sp>
        <p:nvSpPr>
          <p:cNvPr id="8" name="Shape 6"/>
          <p:cNvSpPr/>
          <p:nvPr/>
        </p:nvSpPr>
        <p:spPr>
          <a:xfrm>
            <a:off x="7406640" y="16916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819656"/>
            <a:ext cx="118872" cy="329184"/>
          </a:xfrm>
          <a:prstGeom prst="roundRect">
            <a:avLst>
              <a:gd name="adj" fmla="val 38462"/>
            </a:avLst>
          </a:prstGeom>
          <a:solidFill>
            <a:srgbClr val="E8674C"/>
          </a:solidFill>
          <a:ln w="12700">
            <a:solidFill>
              <a:srgbClr val="333333"/>
            </a:solidFill>
            <a:prstDash val="solid"/>
          </a:ln>
        </p:spPr>
      </p:sp>
      <p:sp>
        <p:nvSpPr>
          <p:cNvPr id="10" name="Text 8"/>
          <p:cNvSpPr txBox="1"/>
          <p:nvPr/>
        </p:nvSpPr>
        <p:spPr>
          <a:xfrm>
            <a:off x="7790688" y="17465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Welch by default</a:t>
            </a:r>
            <a:endParaRPr lang="en-US" sz="1050" dirty="0"/>
          </a:p>
        </p:txBody>
      </p:sp>
      <p:sp>
        <p:nvSpPr>
          <p:cNvPr id="11" name="Text 9"/>
          <p:cNvSpPr txBox="1"/>
          <p:nvPr/>
        </p:nvSpPr>
        <p:spPr>
          <a:xfrm>
            <a:off x="7790688" y="19933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safe choice, not scipy's</a:t>
            </a:r>
            <a:endParaRPr lang="en-US" sz="950" dirty="0"/>
          </a:p>
        </p:txBody>
      </p:sp>
      <p:sp>
        <p:nvSpPr>
          <p:cNvPr id="12" name="Shape 10"/>
          <p:cNvSpPr/>
          <p:nvPr/>
        </p:nvSpPr>
        <p:spPr>
          <a:xfrm>
            <a:off x="7406640" y="23774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505456"/>
            <a:ext cx="118872" cy="329184"/>
          </a:xfrm>
          <a:prstGeom prst="roundRect">
            <a:avLst>
              <a:gd name="adj" fmla="val 38462"/>
            </a:avLst>
          </a:prstGeom>
          <a:solidFill>
            <a:srgbClr val="E8674C"/>
          </a:solidFill>
          <a:ln w="12700">
            <a:solidFill>
              <a:srgbClr val="333333"/>
            </a:solidFill>
            <a:prstDash val="solid"/>
          </a:ln>
        </p:spPr>
      </p:sp>
      <p:sp>
        <p:nvSpPr>
          <p:cNvPr id="14" name="Text 12"/>
          <p:cNvSpPr txBox="1"/>
          <p:nvPr/>
        </p:nvSpPr>
        <p:spPr>
          <a:xfrm>
            <a:off x="7790688" y="24323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n_tests is a required thought</a:t>
            </a:r>
            <a:endParaRPr lang="en-US" sz="1050" dirty="0"/>
          </a:p>
        </p:txBody>
      </p:sp>
      <p:sp>
        <p:nvSpPr>
          <p:cNvPr id="15" name="Text 13"/>
          <p:cNvSpPr txBox="1"/>
          <p:nvPr/>
        </p:nvSpPr>
        <p:spPr>
          <a:xfrm>
            <a:off x="7790688" y="26791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you must say how many you ran</a:t>
            </a:r>
            <a:endParaRPr lang="en-US" sz="950" dirty="0"/>
          </a:p>
        </p:txBody>
      </p:sp>
      <p:sp>
        <p:nvSpPr>
          <p:cNvPr id="16" name="Shape 14"/>
          <p:cNvSpPr/>
          <p:nvPr/>
        </p:nvSpPr>
        <p:spPr>
          <a:xfrm>
            <a:off x="7406640" y="30632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3191256"/>
            <a:ext cx="118872" cy="329184"/>
          </a:xfrm>
          <a:prstGeom prst="roundRect">
            <a:avLst>
              <a:gd name="adj" fmla="val 38462"/>
            </a:avLst>
          </a:prstGeom>
          <a:solidFill>
            <a:srgbClr val="FFC145"/>
          </a:solidFill>
          <a:ln w="12700">
            <a:solidFill>
              <a:srgbClr val="333333"/>
            </a:solidFill>
            <a:prstDash val="solid"/>
          </a:ln>
        </p:spPr>
      </p:sp>
      <p:sp>
        <p:nvSpPr>
          <p:cNvPr id="18" name="Text 16"/>
          <p:cNvSpPr txBox="1"/>
          <p:nvPr/>
        </p:nvSpPr>
        <p:spPr>
          <a:xfrm>
            <a:off x="7790688" y="31181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The CI comes first in the output</a:t>
            </a:r>
            <a:endParaRPr lang="en-US" sz="1050" dirty="0"/>
          </a:p>
        </p:txBody>
      </p:sp>
      <p:sp>
        <p:nvSpPr>
          <p:cNvPr id="19" name="Text 17"/>
          <p:cNvSpPr txBox="1"/>
          <p:nvPr/>
        </p:nvSpPr>
        <p:spPr>
          <a:xfrm>
            <a:off x="7790688" y="33649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effect leads, p follows</a:t>
            </a:r>
            <a:endParaRPr lang="en-US" sz="950" dirty="0"/>
          </a:p>
        </p:txBody>
      </p:sp>
      <p:sp>
        <p:nvSpPr>
          <p:cNvPr id="20" name="Shape 18"/>
          <p:cNvSpPr/>
          <p:nvPr/>
        </p:nvSpPr>
        <p:spPr>
          <a:xfrm>
            <a:off x="7406640" y="37490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877056"/>
            <a:ext cx="118872" cy="329184"/>
          </a:xfrm>
          <a:prstGeom prst="roundRect">
            <a:avLst>
              <a:gd name="adj" fmla="val 38462"/>
            </a:avLst>
          </a:prstGeom>
          <a:solidFill>
            <a:srgbClr val="FFC145"/>
          </a:solidFill>
          <a:ln w="12700">
            <a:solidFill>
              <a:srgbClr val="333333"/>
            </a:solidFill>
            <a:prstDash val="solid"/>
          </a:ln>
        </p:spPr>
      </p:sp>
      <p:sp>
        <p:nvSpPr>
          <p:cNvPr id="22" name="Text 20"/>
          <p:cNvSpPr txBox="1"/>
          <p:nvPr/>
        </p:nvSpPr>
        <p:spPr>
          <a:xfrm>
            <a:off x="7790688" y="38039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Effect size alongside</a:t>
            </a:r>
            <a:endParaRPr lang="en-US" sz="1050" dirty="0"/>
          </a:p>
        </p:txBody>
      </p:sp>
      <p:sp>
        <p:nvSpPr>
          <p:cNvPr id="23" name="Text 21"/>
          <p:cNvSpPr txBox="1"/>
          <p:nvPr/>
        </p:nvSpPr>
        <p:spPr>
          <a:xfrm>
            <a:off x="7790688" y="40507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detectability vs importance</a:t>
            </a:r>
            <a:endParaRPr lang="en-US" sz="950" dirty="0"/>
          </a:p>
        </p:txBody>
      </p:sp>
      <p:sp>
        <p:nvSpPr>
          <p:cNvPr id="24" name="Shape 22"/>
          <p:cNvSpPr/>
          <p:nvPr/>
        </p:nvSpPr>
        <p:spPr>
          <a:xfrm>
            <a:off x="7406640" y="44348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4562856"/>
            <a:ext cx="118872" cy="329184"/>
          </a:xfrm>
          <a:prstGeom prst="roundRect">
            <a:avLst>
              <a:gd name="adj" fmla="val 38462"/>
            </a:avLst>
          </a:prstGeom>
          <a:solidFill>
            <a:srgbClr val="2FA98C"/>
          </a:solidFill>
          <a:ln w="12700">
            <a:solidFill>
              <a:srgbClr val="333333"/>
            </a:solidFill>
            <a:prstDash val="solid"/>
          </a:ln>
        </p:spPr>
      </p:sp>
      <p:sp>
        <p:nvSpPr>
          <p:cNvPr id="26" name="Text 24"/>
          <p:cNvSpPr txBox="1"/>
          <p:nvPr/>
        </p:nvSpPr>
        <p:spPr>
          <a:xfrm>
            <a:off x="7790688" y="44897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Exact p, never “&lt; 0.05”</a:t>
            </a:r>
            <a:endParaRPr lang="en-US" sz="1050" dirty="0"/>
          </a:p>
        </p:txBody>
      </p:sp>
      <p:sp>
        <p:nvSpPr>
          <p:cNvPr id="27" name="Text 25"/>
          <p:cNvSpPr txBox="1"/>
          <p:nvPr/>
        </p:nvSpPr>
        <p:spPr>
          <a:xfrm>
            <a:off x="7790688" y="47365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let the reader judge</a:t>
            </a:r>
            <a:endParaRPr lang="en-US" sz="950" dirty="0"/>
          </a:p>
        </p:txBody>
      </p:sp>
      <p:sp>
        <p:nvSpPr>
          <p:cNvPr id="28" name="Shape 26"/>
          <p:cNvSpPr/>
          <p:nvPr/>
        </p:nvSpPr>
        <p:spPr>
          <a:xfrm>
            <a:off x="7406640" y="51206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5248656"/>
            <a:ext cx="118872" cy="329184"/>
          </a:xfrm>
          <a:prstGeom prst="roundRect">
            <a:avLst>
              <a:gd name="adj" fmla="val 38462"/>
            </a:avLst>
          </a:prstGeom>
          <a:solidFill>
            <a:srgbClr val="2FA98C"/>
          </a:solidFill>
          <a:ln w="12700">
            <a:solidFill>
              <a:srgbClr val="333333"/>
            </a:solidFill>
            <a:prstDash val="solid"/>
          </a:ln>
        </p:spPr>
      </p:sp>
      <p:sp>
        <p:nvSpPr>
          <p:cNvPr id="30" name="Text 28"/>
          <p:cNvSpPr txBox="1"/>
          <p:nvPr/>
        </p:nvSpPr>
        <p:spPr>
          <a:xfrm>
            <a:off x="7790688" y="5175504"/>
            <a:ext cx="356616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It cannot stop you peeking</a:t>
            </a:r>
            <a:endParaRPr lang="en-US" sz="1050" dirty="0"/>
          </a:p>
        </p:txBody>
      </p:sp>
      <p:sp>
        <p:nvSpPr>
          <p:cNvPr id="31" name="Text 29"/>
          <p:cNvSpPr txBox="1"/>
          <p:nvPr/>
        </p:nvSpPr>
        <p:spPr>
          <a:xfrm>
            <a:off x="7790688" y="54223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only your design can</a:t>
            </a:r>
            <a:endParaRPr lang="en-US" sz="950" dirty="0"/>
          </a:p>
        </p:txBody>
      </p:sp>
      <p:sp>
        <p:nvSpPr>
          <p:cNvPr id="32" name="Text 30"/>
          <p:cNvSpPr txBox="1"/>
          <p:nvPr/>
        </p:nvSpPr>
        <p:spPr>
          <a:xfrm>
            <a:off x="548640" y="5998464"/>
            <a:ext cx="6766560" cy="365760"/>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Making n_tests a required argument is the whole trick: it forces you to answer the question nobody asks themselves.</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459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84708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8470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7282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0665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p under the null, Welch, paired, power</a:t>
            </a:r>
            <a:endParaRPr lang="en-US" sz="1150" dirty="0"/>
          </a:p>
        </p:txBody>
      </p:sp>
      <p:sp>
        <p:nvSpPr>
          <p:cNvPr id="10" name="Text 8"/>
          <p:cNvSpPr txBox="1"/>
          <p:nvPr/>
        </p:nvSpPr>
        <p:spPr>
          <a:xfrm>
            <a:off x="6583680" y="18653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5603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761488"/>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761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6426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29809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The default, the wrong test, a misread p</a:t>
            </a:r>
            <a:endParaRPr lang="en-US" sz="1150" dirty="0"/>
          </a:p>
        </p:txBody>
      </p:sp>
      <p:sp>
        <p:nvSpPr>
          <p:cNvPr id="16" name="Text 14"/>
          <p:cNvSpPr txBox="1"/>
          <p:nvPr/>
        </p:nvSpPr>
        <p:spPr>
          <a:xfrm>
            <a:off x="6583680" y="27797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4747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675888"/>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6758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5570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38953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Test, size, correct, and report</a:t>
            </a:r>
            <a:endParaRPr lang="en-US" sz="1150" dirty="0"/>
          </a:p>
        </p:txBody>
      </p:sp>
      <p:sp>
        <p:nvSpPr>
          <p:cNvPr id="22" name="Text 20"/>
          <p:cNvSpPr txBox="1"/>
          <p:nvPr/>
        </p:nvSpPr>
        <p:spPr>
          <a:xfrm>
            <a:off x="6583680" y="36941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3891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4590288"/>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4590288"/>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4714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48097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p-hack on purpose, then audit a claim</a:t>
            </a:r>
            <a:endParaRPr lang="en-US" sz="1150" dirty="0"/>
          </a:p>
        </p:txBody>
      </p:sp>
      <p:sp>
        <p:nvSpPr>
          <p:cNvPr id="28" name="Text 26"/>
          <p:cNvSpPr txBox="1"/>
          <p:nvPr/>
        </p:nvSpPr>
        <p:spPr>
          <a:xfrm>
            <a:off x="6583680" y="46085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45920"/>
            <a:ext cx="3200400" cy="2907792"/>
          </a:xfrm>
          <a:prstGeom prst="roundRect">
            <a:avLst>
              <a:gd name="adj" fmla="val 283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0136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16712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Day28_Practice_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88036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Paired, or two groups?</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How many tests did I run?</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Report the effect, not the verdict</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Solutions shared after class</a:t>
            </a:r>
            <a:endParaRPr lang="en-US" sz="1150" dirty="0"/>
          </a:p>
        </p:txBody>
      </p:sp>
      <p:sp>
        <p:nvSpPr>
          <p:cNvPr id="33" name="Shape 31"/>
          <p:cNvSpPr/>
          <p:nvPr/>
        </p:nvSpPr>
        <p:spPr>
          <a:xfrm>
            <a:off x="548640" y="5394960"/>
            <a:ext cx="11064240" cy="868680"/>
          </a:xfrm>
          <a:prstGeom prst="roundRect">
            <a:avLst>
              <a:gd name="adj" fmla="val 9474"/>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550408"/>
            <a:ext cx="10424160" cy="548640"/>
          </a:xfrm>
          <a:prstGeom prst="rect">
            <a:avLst/>
          </a:prstGeom>
          <a:noFill/>
          <a:ln/>
        </p:spPr>
        <p:txBody>
          <a:bodyPr wrap="square" lIns="0" tIns="0" rIns="0" bIns="0" rtlCol="0" anchor="ctr"/>
          <a:lstStyle/>
          <a:p>
            <a:pPr indent="0" marL="0">
              <a:buNone/>
            </a:pPr>
            <a:r>
              <a:rPr lang="en-US" sz="1350" b="1" i="1" dirty="0">
                <a:solidFill>
                  <a:srgbClr val="8A5B00"/>
                </a:solidFill>
                <a:latin typeface="Calibri" pitchFamily="34" charset="0"/>
                <a:ea typeface="Calibri" pitchFamily="34" charset="-122"/>
                <a:cs typeface="Calibri" pitchFamily="34" charset="-120"/>
              </a:rPr>
              <a:t>Part D asks you to p-hack a null dataset deliberately until you get a publishable result, and then to write the honest version of the same report. Doing it on purpose is the fastest way to recognise it being done to you.</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A test asks: is this gap big compared with yesterday's SE?</a:t>
            </a:r>
            <a:endParaRPr lang="en-US" sz="95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t = (what we saw − what we expected) / SE. That is the whole formula.</a:t>
            </a:r>
            <a:endParaRPr lang="en-US" sz="95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A p-value is P(data this extreme | nothing is happening). Nothing more.</a:t>
            </a:r>
            <a:endParaRPr lang="en-US" sz="95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Under the null, p is UNIFORM — which is why 5% of nothing looks like something.</a:t>
            </a:r>
            <a:endParaRPr lang="en-US" sz="95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p is NOT the chance the null is true, and NOT the chance you are right.</a:t>
            </a:r>
            <a:endParaRPr lang="en-US" sz="95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p = 0.049 vs 0.051 is a gap of 0.017 in the test statistic.</a:t>
            </a:r>
            <a:endParaRPr lang="en-US" sz="95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Use Welch (equal_var=False). scipy's default fires 44% on some data.</a:t>
            </a:r>
            <a:endParaRPr lang="en-US" sz="95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Paired data needs ttest_rel — it took one example from 0% to 98%.</a:t>
            </a:r>
            <a:endParaRPr lang="en-US" sz="95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Power is the chance of seeing a real effect. 80% needs n=25, 63 or 393 by size.</a:t>
            </a:r>
            <a:endParaRPr lang="en-US" sz="95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“Not significant” ≠ “no effect”. Report the interval, which tells them apart.</a:t>
            </a:r>
            <a:endParaRPr lang="en-US" sz="95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20 tests → 64% false positive. Peeking → 16%. Subgroups → 20%.</a:t>
            </a:r>
            <a:endParaRPr lang="en-US" sz="95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If 5% of your hypotheses are true, under half your “findings” are.</a:t>
            </a:r>
            <a:endParaRPr lang="en-US" sz="95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658368"/>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Find a published claim with a p-value and work out what is missing from the report  ·  Take any two groups in your Day 21 project and compare them properly, reporting all five things  ·  Work out the power your comparison had</a:t>
            </a:r>
            <a:endParaRPr lang="en-US" sz="9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2.9</a:t>
            </a:r>
            <a:endParaRPr lang="en-US" sz="1300" dirty="0"/>
          </a:p>
        </p:txBody>
      </p:sp>
      <p:sp>
        <p:nvSpPr>
          <p:cNvPr id="47" name="Text 45"/>
          <p:cNvSpPr txBox="1"/>
          <p:nvPr/>
        </p:nvSpPr>
        <p:spPr>
          <a:xfrm>
            <a:off x="6492240" y="5632704"/>
            <a:ext cx="4892040" cy="658368"/>
          </a:xfrm>
          <a:prstGeom prst="rect">
            <a:avLst/>
          </a:prstGeom>
          <a:noFill/>
          <a:ln/>
        </p:spPr>
        <p:txBody>
          <a:bodyPr wrap="square" lIns="0" tIns="0" rIns="0" bIns="0" rtlCol="0" anchor="ctr"/>
          <a:lstStyle/>
          <a:p>
            <a:pPr indent="0" marL="0">
              <a:lnSpc>
                <a:spcPct val="110000"/>
              </a:lnSpc>
              <a:buNone/>
            </a:pPr>
            <a:r>
              <a:rPr lang="en-US" sz="1000" dirty="0">
                <a:solidFill>
                  <a:srgbClr val="AFC2DC"/>
                </a:solidFill>
                <a:latin typeface="Calibri" pitchFamily="34" charset="0"/>
                <a:ea typeface="Calibri" pitchFamily="34" charset="-122"/>
                <a:cs typeface="Calibri" pitchFamily="34" charset="-120"/>
              </a:rPr>
              <a:t>Correlation. Measuring whether two variables move together — and the famous warning that goes with it, which turns out to be more interesting than the slogan suggests.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28 - Hypothesis Testing</dc:title>
  <dc:subject>PptxGenJS Presentation</dc:subject>
  <dc:creator>Data Science Program</dc:creator>
  <cp:lastModifiedBy>Data Science Program</cp:lastModifiedBy>
  <cp:revision>1</cp:revision>
  <dcterms:created xsi:type="dcterms:W3CDTF">2026-10-14T04:46:35Z</dcterms:created>
  <dcterms:modified xsi:type="dcterms:W3CDTF">2026-10-14T04:46:35Z</dcterms:modified>
</cp:coreProperties>
</file>