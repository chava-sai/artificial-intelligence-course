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No new capability today - everything here can be done with a loop you already know. What changes is how much code it takes and how quickly it reads. This is the last topic before OOP, and it is the one that makes their code start to look like professional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matters - you literally promised this yesterday in C4 of the practice notebook. Delivering on it builds trust in the sequencing.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cut section 4 for time. A student who writes an unreadable triple-nested comprehension has learned the syntax and missed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this expectation early prevents the 'comprehensions are more advanced/faster/better' misconception. They are a readability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of the session. Do not rush it. Write the loop on the board, then physically move the pieces into comprehension order while they watch. The colours make the mapping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'pull one field from rows' example is the one they will use daily once they touch real data - highlight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example does both jobs at once - transform AND filter. Point out that strip() is called twice, which is the one small inefficiency of that idiom.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confused point in the topic. The 'drops vs changes' framing is what makes it stick - repeat it in the practice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yesterday-vs-today pair side by side. Seeing their own five-line loop become one line is the moment comprehensions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four-row table is the summary they should photograph. Emphasise that the colon is the only difference between a set and a dict comprehension.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Flatten vs grid is the distinction to nail. Two for clauses = flat. Nested brackets = nested result. Draw both results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recognition only. The exhaustion demo is worth running live because the silent wrong answer is genuinely startling.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read-aloud test is the practical heuristic. Students who learn comprehensions immediately try to fit everything into one - this slide is the counterweight.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slide. Rows 1 and 2 together are the highest-value pair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live if you can, converting one block at a time. The before/after contrast is the strongest argument for the whole topic - much better than any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loop-first advice removes the pressure to write comprehensions from scratch. Say it explicitly - students think using a loop first is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Note that today closes the data-structures half of Module 1 - from tomorrow they start building their own types rather than using Python's.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1.6</a:t>
            </a:r>
            <a:endParaRPr lang="en-US" sz="1300" dirty="0"/>
          </a:p>
        </p:txBody>
      </p:sp>
      <p:sp>
        <p:nvSpPr>
          <p:cNvPr id="5" name="Text 3"/>
          <p:cNvSpPr txBox="1"/>
          <p:nvPr/>
        </p:nvSpPr>
        <p:spPr>
          <a:xfrm>
            <a:off x="822960" y="1965960"/>
            <a:ext cx="8412480" cy="118872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Comprehensions</a:t>
            </a:r>
            <a:endParaRPr lang="en-US" sz="5000" dirty="0"/>
          </a:p>
        </p:txBody>
      </p:sp>
      <p:sp>
        <p:nvSpPr>
          <p:cNvPr id="6" name="Text 4"/>
          <p:cNvSpPr txBox="1"/>
          <p:nvPr/>
        </p:nvSpPr>
        <p:spPr>
          <a:xfrm>
            <a:off x="841248" y="333756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6  —  four lines of loop, written as one</a:t>
            </a:r>
            <a:endParaRPr lang="en-US" sz="1800" dirty="0"/>
          </a:p>
        </p:txBody>
      </p:sp>
      <p:sp>
        <p:nvSpPr>
          <p:cNvPr id="7" name="Shape 5"/>
          <p:cNvSpPr/>
          <p:nvPr/>
        </p:nvSpPr>
        <p:spPr>
          <a:xfrm>
            <a:off x="822960" y="452628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5029200"/>
            <a:ext cx="2103120" cy="320040"/>
          </a:xfrm>
          <a:prstGeom prst="rect">
            <a:avLst/>
          </a:prstGeom>
          <a:noFill/>
          <a:ln/>
        </p:spPr>
        <p:txBody>
          <a:bodyPr wrap="square" lIns="0" tIns="0" rIns="0" bIns="0" rtlCol="0" anchor="ctr"/>
          <a:lstStyle/>
          <a:p>
            <a:pPr indent="0" marL="0">
              <a:buNone/>
            </a:pPr>
            <a:r>
              <a:rPr lang="en-US" sz="1150" dirty="0">
                <a:solidFill>
                  <a:srgbClr val="9DB2CE"/>
                </a:solidFill>
                <a:latin typeface="Calibri" pitchFamily="34" charset="0"/>
                <a:ea typeface="Calibri" pitchFamily="34" charset="-122"/>
                <a:cs typeface="Calibri" pitchFamily="34" charset="-120"/>
              </a:rPr>
              <a:t>Concepts + live code</a:t>
            </a:r>
            <a:endParaRPr lang="en-US" sz="1150" dirty="0"/>
          </a:p>
        </p:txBody>
      </p:sp>
      <p:sp>
        <p:nvSpPr>
          <p:cNvPr id="10" name="Shape 8"/>
          <p:cNvSpPr/>
          <p:nvPr/>
        </p:nvSpPr>
        <p:spPr>
          <a:xfrm>
            <a:off x="3566160" y="452628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5029200"/>
            <a:ext cx="2103120" cy="320040"/>
          </a:xfrm>
          <a:prstGeom prst="rect">
            <a:avLst/>
          </a:prstGeom>
          <a:noFill/>
          <a:ln/>
        </p:spPr>
        <p:txBody>
          <a:bodyPr wrap="square" lIns="0" tIns="0" rIns="0" bIns="0" rtlCol="0" anchor="ctr"/>
          <a:lstStyle/>
          <a:p>
            <a:pPr indent="0" marL="0">
              <a:buNone/>
            </a:pPr>
            <a:r>
              <a:rPr lang="en-US" sz="1150" dirty="0">
                <a:solidFill>
                  <a:srgbClr val="9DB2CE"/>
                </a:solidFill>
                <a:latin typeface="Calibri" pitchFamily="34" charset="0"/>
                <a:ea typeface="Calibri" pitchFamily="34" charset="-122"/>
                <a:cs typeface="Calibri" pitchFamily="34" charset="-120"/>
              </a:rPr>
              <a:t>Practice notebook</a:t>
            </a:r>
            <a:endParaRPr lang="en-US" sz="1150" dirty="0"/>
          </a:p>
        </p:txBody>
      </p:sp>
      <p:sp>
        <p:nvSpPr>
          <p:cNvPr id="13" name="Shape 11"/>
          <p:cNvSpPr/>
          <p:nvPr/>
        </p:nvSpPr>
        <p:spPr>
          <a:xfrm>
            <a:off x="6309360" y="452628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6510528" y="5029200"/>
            <a:ext cx="2103120" cy="320040"/>
          </a:xfrm>
          <a:prstGeom prst="rect">
            <a:avLst/>
          </a:prstGeom>
          <a:noFill/>
          <a:ln/>
        </p:spPr>
        <p:txBody>
          <a:bodyPr wrap="square" lIns="0" tIns="0" rIns="0" bIns="0" rtlCol="0" anchor="ctr"/>
          <a:lstStyle/>
          <a:p>
            <a:pPr indent="0" marL="0">
              <a:buNone/>
            </a:pPr>
            <a:r>
              <a:rPr lang="en-US" sz="1150" dirty="0">
                <a:solidFill>
                  <a:srgbClr val="9DB2CE"/>
                </a:solidFill>
                <a:latin typeface="Calibri" pitchFamily="34" charset="0"/>
                <a:ea typeface="Calibri" pitchFamily="34" charset="-122"/>
                <a:cs typeface="Calibri" pitchFamily="34" charset="-120"/>
              </a:rPr>
              <a:t>Kinds: list, dict, set</a:t>
            </a:r>
            <a:endParaRPr lang="en-US" sz="11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6/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Before we start — five questions from Day 5</a:t>
            </a:r>
            <a:endParaRPr lang="en-US" sz="3200" dirty="0"/>
          </a:p>
        </p:txBody>
      </p:sp>
      <p:sp>
        <p:nvSpPr>
          <p:cNvPr id="5" name="Shape 3"/>
          <p:cNvSpPr/>
          <p:nvPr/>
        </p:nvSpPr>
        <p:spPr>
          <a:xfrm>
            <a:off x="548640" y="1572768"/>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46504"/>
            <a:ext cx="384048" cy="384048"/>
          </a:xfrm>
          <a:prstGeom prst="ellipse">
            <a:avLst/>
          </a:prstGeom>
          <a:solidFill>
            <a:srgbClr val="3E7CB1"/>
          </a:solidFill>
          <a:ln w="12700">
            <a:solidFill>
              <a:srgbClr val="3E7CB1"/>
            </a:solidFill>
            <a:prstDash val="solid"/>
          </a:ln>
        </p:spPr>
      </p:sp>
      <p:sp>
        <p:nvSpPr>
          <p:cNvPr id="7" name="Text 5"/>
          <p:cNvSpPr txBox="1"/>
          <p:nvPr/>
        </p:nvSpPr>
        <p:spPr>
          <a:xfrm>
            <a:off x="777240" y="1746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1773936"/>
            <a:ext cx="4754880" cy="329184"/>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What does d["missing"] do?</a:t>
            </a:r>
            <a:endParaRPr lang="en-US" sz="1350" dirty="0"/>
          </a:p>
        </p:txBody>
      </p:sp>
      <p:sp>
        <p:nvSpPr>
          <p:cNvPr id="9" name="Text 7"/>
          <p:cNvSpPr txBox="1"/>
          <p:nvPr/>
        </p:nvSpPr>
        <p:spPr>
          <a:xfrm>
            <a:off x="6217920" y="1773936"/>
            <a:ext cx="521208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Raises KeyError. Use .get() if the key is optional.</a:t>
            </a:r>
            <a:endParaRPr lang="en-US" sz="1300" dirty="0"/>
          </a:p>
        </p:txBody>
      </p:sp>
      <p:sp>
        <p:nvSpPr>
          <p:cNvPr id="10" name="Shape 8"/>
          <p:cNvSpPr/>
          <p:nvPr/>
        </p:nvSpPr>
        <p:spPr>
          <a:xfrm>
            <a:off x="548640" y="2414016"/>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87752"/>
            <a:ext cx="384048" cy="384048"/>
          </a:xfrm>
          <a:prstGeom prst="ellipse">
            <a:avLst/>
          </a:prstGeom>
          <a:solidFill>
            <a:srgbClr val="3E7CB1"/>
          </a:solidFill>
          <a:ln w="12700">
            <a:solidFill>
              <a:srgbClr val="3E7CB1"/>
            </a:solidFill>
            <a:prstDash val="solid"/>
          </a:ln>
        </p:spPr>
      </p:sp>
      <p:sp>
        <p:nvSpPr>
          <p:cNvPr id="12" name="Text 10"/>
          <p:cNvSpPr txBox="1"/>
          <p:nvPr/>
        </p:nvSpPr>
        <p:spPr>
          <a:xfrm>
            <a:off x="77724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25880" y="2615184"/>
            <a:ext cx="4754880" cy="329184"/>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Is 88 in marks True when 88 is a value?</a:t>
            </a:r>
            <a:endParaRPr lang="en-US" sz="1350" dirty="0"/>
          </a:p>
        </p:txBody>
      </p:sp>
      <p:sp>
        <p:nvSpPr>
          <p:cNvPr id="14" name="Text 12"/>
          <p:cNvSpPr txBox="1"/>
          <p:nvPr/>
        </p:nvSpPr>
        <p:spPr>
          <a:xfrm>
            <a:off x="6217920" y="2615184"/>
            <a:ext cx="521208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No  —  'in' checks keys only.</a:t>
            </a:r>
            <a:endParaRPr lang="en-US" sz="1300" dirty="0"/>
          </a:p>
        </p:txBody>
      </p:sp>
      <p:sp>
        <p:nvSpPr>
          <p:cNvPr id="15" name="Shape 13"/>
          <p:cNvSpPr/>
          <p:nvPr/>
        </p:nvSpPr>
        <p:spPr>
          <a:xfrm>
            <a:off x="548640" y="3255264"/>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429000"/>
            <a:ext cx="384048" cy="384048"/>
          </a:xfrm>
          <a:prstGeom prst="ellipse">
            <a:avLst/>
          </a:prstGeom>
          <a:solidFill>
            <a:srgbClr val="3E7CB1"/>
          </a:solidFill>
          <a:ln w="12700">
            <a:solidFill>
              <a:srgbClr val="3E7CB1"/>
            </a:solidFill>
            <a:prstDash val="solid"/>
          </a:ln>
        </p:spPr>
      </p:sp>
      <p:sp>
        <p:nvSpPr>
          <p:cNvPr id="17" name="Text 15"/>
          <p:cNvSpPr txBox="1"/>
          <p:nvPr/>
        </p:nvSpPr>
        <p:spPr>
          <a:xfrm>
            <a:off x="7772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25880" y="3456432"/>
            <a:ext cx="4754880" cy="329184"/>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Write the counting line.</a:t>
            </a:r>
            <a:endParaRPr lang="en-US" sz="1350" dirty="0"/>
          </a:p>
        </p:txBody>
      </p:sp>
      <p:sp>
        <p:nvSpPr>
          <p:cNvPr id="19" name="Text 17"/>
          <p:cNvSpPr txBox="1"/>
          <p:nvPr/>
        </p:nvSpPr>
        <p:spPr>
          <a:xfrm>
            <a:off x="6217920" y="3456432"/>
            <a:ext cx="521208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counts[k] = counts.get(k, 0) + 1</a:t>
            </a:r>
            <a:endParaRPr lang="en-US" sz="1300" dirty="0"/>
          </a:p>
        </p:txBody>
      </p:sp>
      <p:sp>
        <p:nvSpPr>
          <p:cNvPr id="20" name="Shape 18"/>
          <p:cNvSpPr/>
          <p:nvPr/>
        </p:nvSpPr>
        <p:spPr>
          <a:xfrm>
            <a:off x="548640" y="4096512"/>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270248"/>
            <a:ext cx="384048" cy="384048"/>
          </a:xfrm>
          <a:prstGeom prst="ellipse">
            <a:avLst/>
          </a:prstGeom>
          <a:solidFill>
            <a:srgbClr val="3E7CB1"/>
          </a:solidFill>
          <a:ln w="12700">
            <a:solidFill>
              <a:srgbClr val="3E7CB1"/>
            </a:solidFill>
            <a:prstDash val="solid"/>
          </a:ln>
        </p:spPr>
      </p:sp>
      <p:sp>
        <p:nvSpPr>
          <p:cNvPr id="22" name="Text 20"/>
          <p:cNvSpPr txBox="1"/>
          <p:nvPr/>
        </p:nvSpPr>
        <p:spPr>
          <a:xfrm>
            <a:off x="777240"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25880" y="4297680"/>
            <a:ext cx="4754880" cy="329184"/>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What does looping a dict give you?</a:t>
            </a:r>
            <a:endParaRPr lang="en-US" sz="1350" dirty="0"/>
          </a:p>
        </p:txBody>
      </p:sp>
      <p:sp>
        <p:nvSpPr>
          <p:cNvPr id="24" name="Text 22"/>
          <p:cNvSpPr txBox="1"/>
          <p:nvPr/>
        </p:nvSpPr>
        <p:spPr>
          <a:xfrm>
            <a:off x="6217920" y="4297680"/>
            <a:ext cx="521208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The keys. Use .items() for pairs.</a:t>
            </a:r>
            <a:endParaRPr lang="en-US" sz="1300" dirty="0"/>
          </a:p>
        </p:txBody>
      </p:sp>
      <p:sp>
        <p:nvSpPr>
          <p:cNvPr id="25" name="Shape 23"/>
          <p:cNvSpPr/>
          <p:nvPr/>
        </p:nvSpPr>
        <p:spPr>
          <a:xfrm>
            <a:off x="548640" y="4937760"/>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77240" y="5111496"/>
            <a:ext cx="384048" cy="384048"/>
          </a:xfrm>
          <a:prstGeom prst="ellipse">
            <a:avLst/>
          </a:prstGeom>
          <a:solidFill>
            <a:srgbClr val="3E7CB1"/>
          </a:solidFill>
          <a:ln w="12700">
            <a:solidFill>
              <a:srgbClr val="3E7CB1"/>
            </a:solidFill>
            <a:prstDash val="solid"/>
          </a:ln>
        </p:spPr>
      </p:sp>
      <p:sp>
        <p:nvSpPr>
          <p:cNvPr id="27" name="Text 25"/>
          <p:cNvSpPr txBox="1"/>
          <p:nvPr/>
        </p:nvSpPr>
        <p:spPr>
          <a:xfrm>
            <a:off x="7772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25880" y="5138928"/>
            <a:ext cx="4754880" cy="329184"/>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Why can't a list be a dictionary key?</a:t>
            </a:r>
            <a:endParaRPr lang="en-US" sz="1350" dirty="0"/>
          </a:p>
        </p:txBody>
      </p:sp>
      <p:sp>
        <p:nvSpPr>
          <p:cNvPr id="29" name="Text 27"/>
          <p:cNvSpPr txBox="1"/>
          <p:nvPr/>
        </p:nvSpPr>
        <p:spPr>
          <a:xfrm>
            <a:off x="6217920" y="5138928"/>
            <a:ext cx="521208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Keys must be immutable so their hash stays valid.</a:t>
            </a:r>
            <a:endParaRPr lang="en-US" sz="1300" dirty="0"/>
          </a:p>
        </p:txBody>
      </p:sp>
      <p:sp>
        <p:nvSpPr>
          <p:cNvPr id="30" name="Text 28"/>
          <p:cNvSpPr txBox="1"/>
          <p:nvPr/>
        </p:nvSpPr>
        <p:spPr>
          <a:xfrm>
            <a:off x="548640" y="5852160"/>
            <a:ext cx="11064240" cy="292608"/>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Yesterday I promised the filter loop would become one line. Today I deliver on that.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List comprehensions</a:t>
            </a:r>
            <a:endParaRPr lang="en-US" sz="160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transformation, conditions, if/else</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30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Dict &amp; set comprehensions</a:t>
            </a:r>
            <a:endParaRPr lang="en-US" sz="160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same idea, different brackets</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Going further</a:t>
            </a:r>
            <a:endParaRPr lang="en-US" sz="160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Nesting, and generator expressions</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3E7CB1"/>
          </a:solidFill>
          <a:ln w="12700">
            <a:solidFill>
              <a:srgbClr val="3E7CB1"/>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When NOT to use one</a:t>
            </a:r>
            <a:endParaRPr lang="en-US" sz="160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Readability is the whole point</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10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Mini build</a:t>
            </a:r>
            <a:endParaRPr lang="en-US" sz="160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Rewriting a data-cleaning script</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10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Practice notebook</a:t>
            </a:r>
            <a:endParaRPr lang="en-US" sz="160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 4 is not filler. Comprehensions are the feature students most often overuse once they learn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Translate</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Turn any simple build-a-list loop into a comprehension, and back again</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Filter</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Keep only the items you want, with a condition</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Transform</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Build dictionaries and sets the same way, not just lists</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Judge</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Decide when a comprehension helps — and when a plain loop is better</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59436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Nothing today is new capability</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Every comprehension you write today could be written as a loop you already know. What changes is that four lines become one, and a reader can take in the whole operation at a glance. Comprehensions are about clarity — so the moment one stops being clear, it has failed at its only job.</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List Comprehensions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transformation  ·  30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Loop → one line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syntax</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Adding a condition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if / else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Scope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TRANSFORMATION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From loop to comprehension</a:t>
            </a:r>
            <a:endParaRPr lang="en-US" sz="3200" dirty="0"/>
          </a:p>
        </p:txBody>
      </p:sp>
      <p:sp>
        <p:nvSpPr>
          <p:cNvPr id="5" name="Shape 3"/>
          <p:cNvSpPr/>
          <p:nvPr/>
        </p:nvSpPr>
        <p:spPr>
          <a:xfrm>
            <a:off x="548640" y="1572768"/>
            <a:ext cx="5394960" cy="2103120"/>
          </a:xfrm>
          <a:prstGeom prst="roundRect">
            <a:avLst>
              <a:gd name="adj" fmla="val 391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84632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loop you already write</a:t>
            </a:r>
            <a:endParaRPr lang="en-US" sz="1450" dirty="0"/>
          </a:p>
        </p:txBody>
      </p:sp>
      <p:sp>
        <p:nvSpPr>
          <p:cNvPr id="7" name="Shape 5"/>
          <p:cNvSpPr/>
          <p:nvPr/>
        </p:nvSpPr>
        <p:spPr>
          <a:xfrm>
            <a:off x="804672" y="2103120"/>
            <a:ext cx="4892040" cy="1417320"/>
          </a:xfrm>
          <a:prstGeom prst="roundRect">
            <a:avLst>
              <a:gd name="adj" fmla="val 4516"/>
            </a:avLst>
          </a:prstGeom>
          <a:solidFill>
            <a:srgbClr val="1B2B45"/>
          </a:solidFill>
          <a:ln w="12700">
            <a:solidFill>
              <a:srgbClr val="333333"/>
            </a:solidFill>
            <a:prstDash val="solid"/>
          </a:ln>
        </p:spPr>
      </p:sp>
      <p:sp>
        <p:nvSpPr>
          <p:cNvPr id="8" name="Text 6"/>
          <p:cNvSpPr txBox="1"/>
          <p:nvPr/>
        </p:nvSpPr>
        <p:spPr>
          <a:xfrm>
            <a:off x="969264" y="2212848"/>
            <a:ext cx="4572000" cy="310896"/>
          </a:xfrm>
          <a:prstGeom prst="rect">
            <a:avLst/>
          </a:prstGeom>
          <a:noFill/>
          <a:ln/>
        </p:spPr>
        <p:txBody>
          <a:bodyPr wrap="square" lIns="0" tIns="0" rIns="0" bIns="0" rtlCol="0" anchor="ctr"/>
          <a:lstStyle/>
          <a:p>
            <a:pPr indent="0" marL="0">
              <a:buNone/>
            </a:pPr>
            <a:r>
              <a:rPr lang="en-US" sz="1250" b="1" dirty="0">
                <a:solidFill>
                  <a:srgbClr val="E7EEF8"/>
                </a:solidFill>
                <a:latin typeface="Courier New" pitchFamily="34" charset="0"/>
                <a:ea typeface="Courier New" pitchFamily="34" charset="-122"/>
                <a:cs typeface="Courier New" pitchFamily="34" charset="-120"/>
              </a:rPr>
              <a:t>squares = []</a:t>
            </a:r>
            <a:endParaRPr lang="en-US" sz="1250" dirty="0"/>
          </a:p>
        </p:txBody>
      </p:sp>
      <p:sp>
        <p:nvSpPr>
          <p:cNvPr id="9" name="Text 7"/>
          <p:cNvSpPr txBox="1"/>
          <p:nvPr/>
        </p:nvSpPr>
        <p:spPr>
          <a:xfrm>
            <a:off x="969264" y="2523744"/>
            <a:ext cx="4572000" cy="310896"/>
          </a:xfrm>
          <a:prstGeom prst="rect">
            <a:avLst/>
          </a:prstGeom>
          <a:noFill/>
          <a:ln/>
        </p:spPr>
        <p:txBody>
          <a:bodyPr wrap="square" lIns="0" tIns="0" rIns="0" bIns="0" rtlCol="0" anchor="ctr"/>
          <a:lstStyle/>
          <a:p>
            <a:pPr indent="0" marL="0">
              <a:buNone/>
            </a:pPr>
            <a:r>
              <a:rPr lang="en-US" sz="1250" b="1" dirty="0">
                <a:solidFill>
                  <a:srgbClr val="8FA0B6"/>
                </a:solidFill>
                <a:latin typeface="Courier New" pitchFamily="34" charset="0"/>
                <a:ea typeface="Courier New" pitchFamily="34" charset="-122"/>
                <a:cs typeface="Courier New" pitchFamily="34" charset="-120"/>
              </a:rPr>
              <a:t>for </a:t>
            </a:r>
            <a:pPr indent="0" marL="0">
              <a:buNone/>
            </a:pPr>
            <a:r>
              <a:rPr lang="en-US" sz="1250" b="1" dirty="0">
                <a:solidFill>
                  <a:srgbClr val="FFC145"/>
                </a:solidFill>
                <a:latin typeface="Courier New" pitchFamily="34" charset="0"/>
                <a:ea typeface="Courier New" pitchFamily="34" charset="-122"/>
                <a:cs typeface="Courier New" pitchFamily="34" charset="-120"/>
              </a:rPr>
              <a:t>n</a:t>
            </a:r>
            <a:pPr indent="0" marL="0">
              <a:buNone/>
            </a:pPr>
            <a:r>
              <a:rPr lang="en-US" sz="1250" b="1" dirty="0">
                <a:solidFill>
                  <a:srgbClr val="8FA0B6"/>
                </a:solidFill>
                <a:latin typeface="Courier New" pitchFamily="34" charset="0"/>
                <a:ea typeface="Courier New" pitchFamily="34" charset="-122"/>
                <a:cs typeface="Courier New" pitchFamily="34" charset="-120"/>
              </a:rPr>
              <a:t> in </a:t>
            </a:r>
            <a:pPr indent="0" marL="0">
              <a:buNone/>
            </a:pPr>
            <a:r>
              <a:rPr lang="en-US" sz="1250" b="1" dirty="0">
                <a:solidFill>
                  <a:srgbClr val="2FA98C"/>
                </a:solidFill>
                <a:latin typeface="Courier New" pitchFamily="34" charset="0"/>
                <a:ea typeface="Courier New" pitchFamily="34" charset="-122"/>
                <a:cs typeface="Courier New" pitchFamily="34" charset="-120"/>
              </a:rPr>
              <a:t>numbers</a:t>
            </a:r>
            <a:pPr indent="0" marL="0">
              <a:buNone/>
            </a:pPr>
            <a:r>
              <a:rPr lang="en-US" sz="1250" b="1" dirty="0">
                <a:solidFill>
                  <a:srgbClr val="8FA0B6"/>
                </a:solidFill>
                <a:latin typeface="Courier New" pitchFamily="34" charset="0"/>
                <a:ea typeface="Courier New" pitchFamily="34" charset="-122"/>
                <a:cs typeface="Courier New" pitchFamily="34" charset="-120"/>
              </a:rPr>
              <a:t>:</a:t>
            </a:r>
            <a:endParaRPr lang="en-US" sz="1250" dirty="0"/>
          </a:p>
        </p:txBody>
      </p:sp>
      <p:sp>
        <p:nvSpPr>
          <p:cNvPr id="10" name="Text 8"/>
          <p:cNvSpPr txBox="1"/>
          <p:nvPr/>
        </p:nvSpPr>
        <p:spPr>
          <a:xfrm>
            <a:off x="969264" y="2834640"/>
            <a:ext cx="4572000" cy="310896"/>
          </a:xfrm>
          <a:prstGeom prst="rect">
            <a:avLst/>
          </a:prstGeom>
          <a:noFill/>
          <a:ln/>
        </p:spPr>
        <p:txBody>
          <a:bodyPr wrap="square" lIns="0" tIns="0" rIns="0" bIns="0" rtlCol="0" anchor="ctr"/>
          <a:lstStyle/>
          <a:p>
            <a:pPr indent="0" marL="0">
              <a:buNone/>
            </a:pPr>
            <a:r>
              <a:rPr lang="en-US" sz="1250" b="1" dirty="0">
                <a:solidFill>
                  <a:srgbClr val="8FA0B6"/>
                </a:solidFill>
                <a:latin typeface="Courier New" pitchFamily="34" charset="0"/>
                <a:ea typeface="Courier New" pitchFamily="34" charset="-122"/>
                <a:cs typeface="Courier New" pitchFamily="34" charset="-120"/>
              </a:rPr>
              <a:t>    squares.append(</a:t>
            </a:r>
            <a:pPr indent="0" marL="0">
              <a:buNone/>
            </a:pPr>
            <a:r>
              <a:rPr lang="en-US" sz="1250" b="1" dirty="0">
                <a:solidFill>
                  <a:srgbClr val="E8674C"/>
                </a:solidFill>
                <a:latin typeface="Courier New" pitchFamily="34" charset="0"/>
                <a:ea typeface="Courier New" pitchFamily="34" charset="-122"/>
                <a:cs typeface="Courier New" pitchFamily="34" charset="-120"/>
              </a:rPr>
              <a:t>n * n</a:t>
            </a:r>
            <a:pPr indent="0" marL="0">
              <a:buNone/>
            </a:pPr>
            <a:r>
              <a:rPr lang="en-US" sz="1250" b="1" dirty="0">
                <a:solidFill>
                  <a:srgbClr val="8FA0B6"/>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6080760" y="2697480"/>
            <a:ext cx="640080" cy="0"/>
          </a:xfrm>
          <a:prstGeom prst="line">
            <a:avLst/>
          </a:prstGeom>
          <a:noFill/>
          <a:ln w="25400">
            <a:solidFill>
              <a:srgbClr val="8FA0B6"/>
            </a:solidFill>
            <a:prstDash val="solid"/>
            <a:tailEnd type="triangle"/>
          </a:ln>
        </p:spPr>
      </p:sp>
      <p:sp>
        <p:nvSpPr>
          <p:cNvPr id="12" name="Shape 10"/>
          <p:cNvSpPr/>
          <p:nvPr/>
        </p:nvSpPr>
        <p:spPr>
          <a:xfrm>
            <a:off x="6903720" y="1572768"/>
            <a:ext cx="4709160" cy="2103120"/>
          </a:xfrm>
          <a:prstGeom prst="roundRect">
            <a:avLst>
              <a:gd name="adj" fmla="val 391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7159752" y="1719072"/>
            <a:ext cx="420624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The same thing, as one line</a:t>
            </a:r>
            <a:endParaRPr lang="en-US" sz="1450" dirty="0"/>
          </a:p>
        </p:txBody>
      </p:sp>
      <p:sp>
        <p:nvSpPr>
          <p:cNvPr id="14" name="Shape 12"/>
          <p:cNvSpPr/>
          <p:nvPr/>
        </p:nvSpPr>
        <p:spPr>
          <a:xfrm>
            <a:off x="7159752" y="2103120"/>
            <a:ext cx="4206240" cy="822960"/>
          </a:xfrm>
          <a:prstGeom prst="roundRect">
            <a:avLst>
              <a:gd name="adj" fmla="val 7778"/>
            </a:avLst>
          </a:prstGeom>
          <a:solidFill>
            <a:srgbClr val="1B2B45"/>
          </a:solidFill>
          <a:ln w="12700">
            <a:solidFill>
              <a:srgbClr val="333333"/>
            </a:solidFill>
            <a:prstDash val="solid"/>
          </a:ln>
        </p:spPr>
      </p:sp>
      <p:sp>
        <p:nvSpPr>
          <p:cNvPr id="15" name="Text 13"/>
          <p:cNvSpPr txBox="1"/>
          <p:nvPr/>
        </p:nvSpPr>
        <p:spPr>
          <a:xfrm>
            <a:off x="7315200" y="2231136"/>
            <a:ext cx="3931920" cy="310896"/>
          </a:xfrm>
          <a:prstGeom prst="rect">
            <a:avLst/>
          </a:prstGeom>
          <a:noFill/>
          <a:ln/>
        </p:spPr>
        <p:txBody>
          <a:bodyPr wrap="square" lIns="0" tIns="0" rIns="0" bIns="0" rtlCol="0" anchor="ctr"/>
          <a:lstStyle/>
          <a:p>
            <a:pPr indent="0" marL="0">
              <a:buNone/>
            </a:pPr>
            <a:r>
              <a:rPr lang="en-US" sz="1200" b="1" dirty="0">
                <a:solidFill>
                  <a:srgbClr val="E7EEF8"/>
                </a:solidFill>
                <a:latin typeface="Courier New" pitchFamily="34" charset="0"/>
                <a:ea typeface="Courier New" pitchFamily="34" charset="-122"/>
                <a:cs typeface="Courier New" pitchFamily="34" charset="-120"/>
              </a:rPr>
              <a:t>squares = [</a:t>
            </a:r>
            <a:endParaRPr lang="en-US" sz="1200" dirty="0"/>
          </a:p>
        </p:txBody>
      </p:sp>
      <p:sp>
        <p:nvSpPr>
          <p:cNvPr id="16" name="Text 14"/>
          <p:cNvSpPr txBox="1"/>
          <p:nvPr/>
        </p:nvSpPr>
        <p:spPr>
          <a:xfrm>
            <a:off x="7315200" y="2505456"/>
            <a:ext cx="3931920" cy="310896"/>
          </a:xfrm>
          <a:prstGeom prst="rect">
            <a:avLst/>
          </a:prstGeom>
          <a:noFill/>
          <a:ln/>
        </p:spPr>
        <p:txBody>
          <a:bodyPr wrap="square" lIns="0" tIns="0" rIns="0" bIns="0" rtlCol="0" anchor="ctr"/>
          <a:lstStyle/>
          <a:p>
            <a:pPr indent="0" marL="0">
              <a:buNone/>
            </a:pPr>
            <a:r>
              <a:rPr lang="en-US" sz="1200" b="1" dirty="0">
                <a:solidFill>
                  <a:srgbClr val="E7EEF8"/>
                </a:solidFill>
                <a:latin typeface="Courier New" pitchFamily="34" charset="0"/>
                <a:ea typeface="Courier New" pitchFamily="34" charset="-122"/>
                <a:cs typeface="Courier New" pitchFamily="34" charset="-120"/>
              </a:rPr>
              <a:t>   </a:t>
            </a:r>
            <a:pPr indent="0" marL="0">
              <a:buNone/>
            </a:pPr>
            <a:r>
              <a:rPr lang="en-US" sz="1200" b="1" dirty="0">
                <a:solidFill>
                  <a:srgbClr val="E8674C"/>
                </a:solidFill>
                <a:latin typeface="Courier New" pitchFamily="34" charset="0"/>
                <a:ea typeface="Courier New" pitchFamily="34" charset="-122"/>
                <a:cs typeface="Courier New" pitchFamily="34" charset="-120"/>
              </a:rPr>
              <a:t>n * n</a:t>
            </a:r>
            <a:pPr indent="0" marL="0">
              <a:buNone/>
            </a:pPr>
            <a:r>
              <a:rPr lang="en-US" sz="1200" b="1" dirty="0">
                <a:solidFill>
                  <a:srgbClr val="8FA0B6"/>
                </a:solidFill>
                <a:latin typeface="Courier New" pitchFamily="34" charset="0"/>
                <a:ea typeface="Courier New" pitchFamily="34" charset="-122"/>
                <a:cs typeface="Courier New" pitchFamily="34" charset="-120"/>
              </a:rPr>
              <a:t> for </a:t>
            </a:r>
            <a:pPr indent="0" marL="0">
              <a:buNone/>
            </a:pPr>
            <a:r>
              <a:rPr lang="en-US" sz="1200" b="1" dirty="0">
                <a:solidFill>
                  <a:srgbClr val="FFC145"/>
                </a:solidFill>
                <a:latin typeface="Courier New" pitchFamily="34" charset="0"/>
                <a:ea typeface="Courier New" pitchFamily="34" charset="-122"/>
                <a:cs typeface="Courier New" pitchFamily="34" charset="-120"/>
              </a:rPr>
              <a:t>n</a:t>
            </a:r>
            <a:pPr indent="0" marL="0">
              <a:buNone/>
            </a:pPr>
            <a:r>
              <a:rPr lang="en-US" sz="1200" b="1" dirty="0">
                <a:solidFill>
                  <a:srgbClr val="8FA0B6"/>
                </a:solidFill>
                <a:latin typeface="Courier New" pitchFamily="34" charset="0"/>
                <a:ea typeface="Courier New" pitchFamily="34" charset="-122"/>
                <a:cs typeface="Courier New" pitchFamily="34" charset="-120"/>
              </a:rPr>
              <a:t> in </a:t>
            </a:r>
            <a:pPr indent="0" marL="0">
              <a:buNone/>
            </a:pPr>
            <a:r>
              <a:rPr lang="en-US" sz="1200" b="1" dirty="0">
                <a:solidFill>
                  <a:srgbClr val="2FA98C"/>
                </a:solidFill>
                <a:latin typeface="Courier New" pitchFamily="34" charset="0"/>
                <a:ea typeface="Courier New" pitchFamily="34" charset="-122"/>
                <a:cs typeface="Courier New" pitchFamily="34" charset="-120"/>
              </a:rPr>
              <a:t>numbers</a:t>
            </a:r>
            <a:pPr indent="0" marL="0">
              <a:buNone/>
            </a:pPr>
            <a:r>
              <a:rPr lang="en-US" sz="1200" b="1" dirty="0">
                <a:solidFill>
                  <a:srgbClr val="E7EEF8"/>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548640" y="3886200"/>
            <a:ext cx="11064240" cy="475488"/>
          </a:xfrm>
          <a:prstGeom prst="roundRect">
            <a:avLst>
              <a:gd name="adj" fmla="val 1730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68496"/>
            <a:ext cx="1371600" cy="310896"/>
          </a:xfrm>
          <a:prstGeom prst="roundRect">
            <a:avLst>
              <a:gd name="adj" fmla="val 17647"/>
            </a:avLst>
          </a:prstGeom>
          <a:solidFill>
            <a:srgbClr val="E8674C"/>
          </a:solidFill>
          <a:ln w="12700">
            <a:solidFill>
              <a:srgbClr val="333333"/>
            </a:solidFill>
            <a:prstDash val="solid"/>
          </a:ln>
        </p:spPr>
      </p:sp>
      <p:sp>
        <p:nvSpPr>
          <p:cNvPr id="19" name="Text 17"/>
          <p:cNvSpPr txBox="1"/>
          <p:nvPr/>
        </p:nvSpPr>
        <p:spPr>
          <a:xfrm>
            <a:off x="777240" y="3968496"/>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n * n</a:t>
            </a:r>
            <a:endParaRPr lang="en-US" sz="1150" dirty="0"/>
          </a:p>
        </p:txBody>
      </p:sp>
      <p:sp>
        <p:nvSpPr>
          <p:cNvPr id="20" name="Text 18"/>
          <p:cNvSpPr txBox="1"/>
          <p:nvPr/>
        </p:nvSpPr>
        <p:spPr>
          <a:xfrm>
            <a:off x="2331720" y="3977640"/>
            <a:ext cx="8961120" cy="310896"/>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WHAT to build  —  the expression, taken from the append() call</a:t>
            </a:r>
            <a:endParaRPr lang="en-US" sz="1250" dirty="0"/>
          </a:p>
        </p:txBody>
      </p:sp>
      <p:sp>
        <p:nvSpPr>
          <p:cNvPr id="21" name="Shape 19"/>
          <p:cNvSpPr/>
          <p:nvPr/>
        </p:nvSpPr>
        <p:spPr>
          <a:xfrm>
            <a:off x="548640" y="4453128"/>
            <a:ext cx="11064240" cy="475488"/>
          </a:xfrm>
          <a:prstGeom prst="roundRect">
            <a:avLst>
              <a:gd name="adj" fmla="val 1730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2" name="Shape 20"/>
          <p:cNvSpPr/>
          <p:nvPr/>
        </p:nvSpPr>
        <p:spPr>
          <a:xfrm>
            <a:off x="777240" y="4535424"/>
            <a:ext cx="1371600" cy="310896"/>
          </a:xfrm>
          <a:prstGeom prst="roundRect">
            <a:avLst>
              <a:gd name="adj" fmla="val 17647"/>
            </a:avLst>
          </a:prstGeom>
          <a:solidFill>
            <a:srgbClr val="FFC145"/>
          </a:solidFill>
          <a:ln w="12700">
            <a:solidFill>
              <a:srgbClr val="333333"/>
            </a:solidFill>
            <a:prstDash val="solid"/>
          </a:ln>
        </p:spPr>
      </p:sp>
      <p:sp>
        <p:nvSpPr>
          <p:cNvPr id="23" name="Text 21"/>
          <p:cNvSpPr txBox="1"/>
          <p:nvPr/>
        </p:nvSpPr>
        <p:spPr>
          <a:xfrm>
            <a:off x="777240" y="4535424"/>
            <a:ext cx="1371600" cy="310896"/>
          </a:xfrm>
          <a:prstGeom prst="rect">
            <a:avLst/>
          </a:prstGeom>
          <a:noFill/>
          <a:ln/>
        </p:spPr>
        <p:txBody>
          <a:bodyPr wrap="square" lIns="0" tIns="0" rIns="0" bIns="0" rtlCol="0" anchor="ctr"/>
          <a:lstStyle/>
          <a:p>
            <a:pPr algn="ctr" indent="0" marL="0">
              <a:buNone/>
            </a:pPr>
            <a:r>
              <a:rPr lang="en-US" sz="1150" b="1" dirty="0">
                <a:solidFill>
                  <a:srgbClr val="152238"/>
                </a:solidFill>
                <a:latin typeface="Courier New" pitchFamily="34" charset="0"/>
                <a:ea typeface="Courier New" pitchFamily="34" charset="-122"/>
                <a:cs typeface="Courier New" pitchFamily="34" charset="-120"/>
              </a:rPr>
              <a:t>n</a:t>
            </a:r>
            <a:endParaRPr lang="en-US" sz="1150" dirty="0"/>
          </a:p>
        </p:txBody>
      </p:sp>
      <p:sp>
        <p:nvSpPr>
          <p:cNvPr id="24" name="Text 22"/>
          <p:cNvSpPr txBox="1"/>
          <p:nvPr/>
        </p:nvSpPr>
        <p:spPr>
          <a:xfrm>
            <a:off x="2331720" y="4544568"/>
            <a:ext cx="8961120" cy="310896"/>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the loop variable  —  same name, same job</a:t>
            </a:r>
            <a:endParaRPr lang="en-US" sz="1250" dirty="0"/>
          </a:p>
        </p:txBody>
      </p:sp>
      <p:sp>
        <p:nvSpPr>
          <p:cNvPr id="25" name="Shape 23"/>
          <p:cNvSpPr/>
          <p:nvPr/>
        </p:nvSpPr>
        <p:spPr>
          <a:xfrm>
            <a:off x="548640" y="5020056"/>
            <a:ext cx="11064240" cy="475488"/>
          </a:xfrm>
          <a:prstGeom prst="roundRect">
            <a:avLst>
              <a:gd name="adj" fmla="val 1730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77240" y="5102352"/>
            <a:ext cx="1371600" cy="310896"/>
          </a:xfrm>
          <a:prstGeom prst="roundRect">
            <a:avLst>
              <a:gd name="adj" fmla="val 17647"/>
            </a:avLst>
          </a:prstGeom>
          <a:solidFill>
            <a:srgbClr val="2FA98C"/>
          </a:solidFill>
          <a:ln w="12700">
            <a:solidFill>
              <a:srgbClr val="333333"/>
            </a:solidFill>
            <a:prstDash val="solid"/>
          </a:ln>
        </p:spPr>
      </p:sp>
      <p:sp>
        <p:nvSpPr>
          <p:cNvPr id="27" name="Text 25"/>
          <p:cNvSpPr txBox="1"/>
          <p:nvPr/>
        </p:nvSpPr>
        <p:spPr>
          <a:xfrm>
            <a:off x="777240" y="5102352"/>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numbers</a:t>
            </a:r>
            <a:endParaRPr lang="en-US" sz="1150" dirty="0"/>
          </a:p>
        </p:txBody>
      </p:sp>
      <p:sp>
        <p:nvSpPr>
          <p:cNvPr id="28" name="Text 26"/>
          <p:cNvSpPr txBox="1"/>
          <p:nvPr/>
        </p:nvSpPr>
        <p:spPr>
          <a:xfrm>
            <a:off x="2331720" y="5111496"/>
            <a:ext cx="8961120" cy="310896"/>
          </a:xfrm>
          <a:prstGeom prst="rect">
            <a:avLst/>
          </a:prstGeom>
          <a:noFill/>
          <a:ln/>
        </p:spPr>
        <p:txBody>
          <a:bodyPr wrap="square" lIns="0" tIns="0" rIns="0" bIns="0" rtlCol="0" anchor="ctr"/>
          <a:lstStyle/>
          <a:p>
            <a:pPr indent="0" marL="0">
              <a:buNone/>
            </a:pPr>
            <a:r>
              <a:rPr lang="en-US" sz="1250" dirty="0">
                <a:solidFill>
                  <a:srgbClr val="2B3445"/>
                </a:solidFill>
                <a:latin typeface="Calibri" pitchFamily="34" charset="0"/>
                <a:ea typeface="Calibri" pitchFamily="34" charset="-122"/>
                <a:cs typeface="Calibri" pitchFamily="34" charset="-120"/>
              </a:rPr>
              <a:t>WHAT to loop over  —  the iterable</a:t>
            </a:r>
            <a:endParaRPr lang="en-US" sz="1250" dirty="0"/>
          </a:p>
        </p:txBody>
      </p:sp>
      <p:sp>
        <p:nvSpPr>
          <p:cNvPr id="29" name="Text 27"/>
          <p:cNvSpPr txBox="1"/>
          <p:nvPr/>
        </p:nvSpPr>
        <p:spPr>
          <a:xfrm>
            <a:off x="548640" y="5623560"/>
            <a:ext cx="11064240" cy="292608"/>
          </a:xfrm>
          <a:prstGeom prst="rect">
            <a:avLst/>
          </a:prstGeom>
          <a:noFill/>
          <a:ln/>
        </p:spPr>
        <p:txBody>
          <a:bodyPr wrap="square" lIns="0" tIns="0" rIns="0" bIns="0" rtlCol="0" anchor="ctr"/>
          <a:lstStyle/>
          <a:p>
            <a:pPr indent="0" marL="0">
              <a:buNone/>
            </a:pPr>
            <a:r>
              <a:rPr lang="en-US" sz="1300" b="1" i="1" dirty="0">
                <a:solidFill>
                  <a:srgbClr val="1F3A5F"/>
                </a:solidFill>
                <a:latin typeface="Calibri" pitchFamily="34" charset="0"/>
                <a:ea typeface="Calibri" pitchFamily="34" charset="-122"/>
                <a:cs typeface="Calibri" pitchFamily="34" charset="-120"/>
              </a:rPr>
              <a:t>Read it as: “build n*n, for each n in numbers.”  The pieces are identical — only the order changed.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BASIC FORM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syntax, and what it replaces</a:t>
            </a:r>
            <a:endParaRPr lang="en-US" sz="3200" dirty="0"/>
          </a:p>
        </p:txBody>
      </p:sp>
      <p:sp>
        <p:nvSpPr>
          <p:cNvPr id="5" name="Shape 3"/>
          <p:cNvSpPr/>
          <p:nvPr/>
        </p:nvSpPr>
        <p:spPr>
          <a:xfrm>
            <a:off x="548640" y="1572768"/>
            <a:ext cx="11064240" cy="1005840"/>
          </a:xfrm>
          <a:prstGeom prst="roundRect">
            <a:avLst>
              <a:gd name="adj" fmla="val 8182"/>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37360"/>
            <a:ext cx="10424160" cy="365760"/>
          </a:xfrm>
          <a:prstGeom prst="rect">
            <a:avLst/>
          </a:prstGeom>
          <a:noFill/>
          <a:ln/>
        </p:spPr>
        <p:txBody>
          <a:bodyPr wrap="square" lIns="0" tIns="0" rIns="0" bIns="0" rtlCol="0" anchor="ctr"/>
          <a:lstStyle/>
          <a:p>
            <a:pPr algn="ctr" indent="0" marL="0">
              <a:buNone/>
            </a:pPr>
            <a:r>
              <a:rPr lang="en-US" sz="2000" b="1" dirty="0">
                <a:solidFill>
                  <a:srgbClr val="1F3A5F"/>
                </a:solidFill>
                <a:latin typeface="Courier New" pitchFamily="34" charset="0"/>
                <a:ea typeface="Courier New" pitchFamily="34" charset="-122"/>
                <a:cs typeface="Courier New" pitchFamily="34" charset="-120"/>
              </a:rPr>
              <a:t>[  expression   for   item   in   iterable  ]</a:t>
            </a:r>
            <a:endParaRPr lang="en-US" sz="2000" dirty="0"/>
          </a:p>
        </p:txBody>
      </p:sp>
      <p:sp>
        <p:nvSpPr>
          <p:cNvPr id="7" name="Text 5"/>
          <p:cNvSpPr txBox="1"/>
          <p:nvPr/>
        </p:nvSpPr>
        <p:spPr>
          <a:xfrm>
            <a:off x="868680" y="2139696"/>
            <a:ext cx="10424160" cy="292608"/>
          </a:xfrm>
          <a:prstGeom prst="rect">
            <a:avLst/>
          </a:prstGeom>
          <a:noFill/>
          <a:ln/>
        </p:spPr>
        <p:txBody>
          <a:bodyPr wrap="square" lIns="0" tIns="0" rIns="0" bIns="0" rtlCol="0" anchor="ctr"/>
          <a:lstStyle/>
          <a:p>
            <a:pPr algn="ctr" indent="0" marL="0">
              <a:buNone/>
            </a:pPr>
            <a:r>
              <a:rPr lang="en-US" sz="1250" i="1" dirty="0">
                <a:solidFill>
                  <a:srgbClr val="6B7789"/>
                </a:solidFill>
                <a:latin typeface="Calibri" pitchFamily="34" charset="0"/>
                <a:ea typeface="Calibri" pitchFamily="34" charset="-122"/>
                <a:cs typeface="Calibri" pitchFamily="34" charset="-120"/>
              </a:rPr>
              <a:t>The square brackets say “build me a list”. Everything inside says what to put in it.</a:t>
            </a:r>
            <a:endParaRPr lang="en-US" sz="1250" dirty="0"/>
          </a:p>
        </p:txBody>
      </p:sp>
      <p:sp>
        <p:nvSpPr>
          <p:cNvPr id="8" name="Shape 6"/>
          <p:cNvSpPr/>
          <p:nvPr/>
        </p:nvSpPr>
        <p:spPr>
          <a:xfrm>
            <a:off x="548640" y="2743200"/>
            <a:ext cx="544068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777240" y="2816352"/>
            <a:ext cx="502920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Square every number</a:t>
            </a:r>
            <a:endParaRPr lang="en-US" sz="1250" dirty="0"/>
          </a:p>
        </p:txBody>
      </p:sp>
      <p:sp>
        <p:nvSpPr>
          <p:cNvPr id="10" name="Shape 8"/>
          <p:cNvSpPr/>
          <p:nvPr/>
        </p:nvSpPr>
        <p:spPr>
          <a:xfrm>
            <a:off x="777240" y="3108960"/>
            <a:ext cx="4983480" cy="420624"/>
          </a:xfrm>
          <a:prstGeom prst="roundRect">
            <a:avLst>
              <a:gd name="adj" fmla="val 15217"/>
            </a:avLst>
          </a:prstGeom>
          <a:solidFill>
            <a:srgbClr val="1B2B45"/>
          </a:solidFill>
          <a:ln w="12700">
            <a:solidFill>
              <a:srgbClr val="1B2B45"/>
            </a:solidFill>
            <a:prstDash val="solid"/>
          </a:ln>
        </p:spPr>
      </p:sp>
      <p:sp>
        <p:nvSpPr>
          <p:cNvPr id="11" name="Text 9"/>
          <p:cNvSpPr txBox="1"/>
          <p:nvPr/>
        </p:nvSpPr>
        <p:spPr>
          <a:xfrm>
            <a:off x="941832" y="3218688"/>
            <a:ext cx="4654296" cy="201168"/>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 * n for n in nums]     →  [1, 4, 9]</a:t>
            </a:r>
            <a:endParaRPr lang="en-US" sz="1000" dirty="0"/>
          </a:p>
        </p:txBody>
      </p:sp>
      <p:sp>
        <p:nvSpPr>
          <p:cNvPr id="12" name="Shape 10"/>
          <p:cNvSpPr/>
          <p:nvPr/>
        </p:nvSpPr>
        <p:spPr>
          <a:xfrm>
            <a:off x="6263640" y="2743200"/>
            <a:ext cx="544068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6492240" y="2816352"/>
            <a:ext cx="502920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Uppercase every name</a:t>
            </a:r>
            <a:endParaRPr lang="en-US" sz="1250" dirty="0"/>
          </a:p>
        </p:txBody>
      </p:sp>
      <p:sp>
        <p:nvSpPr>
          <p:cNvPr id="14" name="Shape 12"/>
          <p:cNvSpPr/>
          <p:nvPr/>
        </p:nvSpPr>
        <p:spPr>
          <a:xfrm>
            <a:off x="6492240" y="3108960"/>
            <a:ext cx="4983480" cy="420624"/>
          </a:xfrm>
          <a:prstGeom prst="roundRect">
            <a:avLst>
              <a:gd name="adj" fmla="val 15217"/>
            </a:avLst>
          </a:prstGeom>
          <a:solidFill>
            <a:srgbClr val="1B2B45"/>
          </a:solidFill>
          <a:ln w="12700">
            <a:solidFill>
              <a:srgbClr val="1B2B45"/>
            </a:solidFill>
            <a:prstDash val="solid"/>
          </a:ln>
        </p:spPr>
      </p:sp>
      <p:sp>
        <p:nvSpPr>
          <p:cNvPr id="15" name="Text 13"/>
          <p:cNvSpPr txBox="1"/>
          <p:nvPr/>
        </p:nvSpPr>
        <p:spPr>
          <a:xfrm>
            <a:off x="6656832" y="3218688"/>
            <a:ext cx="4654296" cy="201168"/>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[n.upper() for n in names]     →  ['RAVI', 'SARA']</a:t>
            </a:r>
            <a:endParaRPr lang="en-US" sz="1000" dirty="0"/>
          </a:p>
        </p:txBody>
      </p:sp>
      <p:sp>
        <p:nvSpPr>
          <p:cNvPr id="16" name="Shape 14"/>
          <p:cNvSpPr/>
          <p:nvPr/>
        </p:nvSpPr>
        <p:spPr>
          <a:xfrm>
            <a:off x="548640" y="3794760"/>
            <a:ext cx="544068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777240" y="3867912"/>
            <a:ext cx="502920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Length of each word</a:t>
            </a:r>
            <a:endParaRPr lang="en-US" sz="1250" dirty="0"/>
          </a:p>
        </p:txBody>
      </p:sp>
      <p:sp>
        <p:nvSpPr>
          <p:cNvPr id="18" name="Shape 16"/>
          <p:cNvSpPr/>
          <p:nvPr/>
        </p:nvSpPr>
        <p:spPr>
          <a:xfrm>
            <a:off x="777240" y="4160520"/>
            <a:ext cx="4983480" cy="420624"/>
          </a:xfrm>
          <a:prstGeom prst="roundRect">
            <a:avLst>
              <a:gd name="adj" fmla="val 15217"/>
            </a:avLst>
          </a:prstGeom>
          <a:solidFill>
            <a:srgbClr val="1B2B45"/>
          </a:solidFill>
          <a:ln w="12700">
            <a:solidFill>
              <a:srgbClr val="1B2B45"/>
            </a:solidFill>
            <a:prstDash val="solid"/>
          </a:ln>
        </p:spPr>
      </p:sp>
      <p:sp>
        <p:nvSpPr>
          <p:cNvPr id="19" name="Text 17"/>
          <p:cNvSpPr txBox="1"/>
          <p:nvPr/>
        </p:nvSpPr>
        <p:spPr>
          <a:xfrm>
            <a:off x="941832" y="4270248"/>
            <a:ext cx="4654296" cy="201168"/>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[len(w) for w in words]     →  [6, 2, 5]</a:t>
            </a:r>
            <a:endParaRPr lang="en-US" sz="1000" dirty="0"/>
          </a:p>
        </p:txBody>
      </p:sp>
      <p:sp>
        <p:nvSpPr>
          <p:cNvPr id="20" name="Shape 18"/>
          <p:cNvSpPr/>
          <p:nvPr/>
        </p:nvSpPr>
        <p:spPr>
          <a:xfrm>
            <a:off x="6263640" y="3794760"/>
            <a:ext cx="544068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Text 19"/>
          <p:cNvSpPr txBox="1"/>
          <p:nvPr/>
        </p:nvSpPr>
        <p:spPr>
          <a:xfrm>
            <a:off x="6492240" y="3867912"/>
            <a:ext cx="502920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Pull one field from rows</a:t>
            </a:r>
            <a:endParaRPr lang="en-US" sz="1250" dirty="0"/>
          </a:p>
        </p:txBody>
      </p:sp>
      <p:sp>
        <p:nvSpPr>
          <p:cNvPr id="22" name="Shape 20"/>
          <p:cNvSpPr/>
          <p:nvPr/>
        </p:nvSpPr>
        <p:spPr>
          <a:xfrm>
            <a:off x="6492240" y="4160520"/>
            <a:ext cx="4983480" cy="420624"/>
          </a:xfrm>
          <a:prstGeom prst="roundRect">
            <a:avLst>
              <a:gd name="adj" fmla="val 15217"/>
            </a:avLst>
          </a:prstGeom>
          <a:solidFill>
            <a:srgbClr val="1B2B45"/>
          </a:solidFill>
          <a:ln w="12700">
            <a:solidFill>
              <a:srgbClr val="1B2B45"/>
            </a:solidFill>
            <a:prstDash val="solid"/>
          </a:ln>
        </p:spPr>
      </p:sp>
      <p:sp>
        <p:nvSpPr>
          <p:cNvPr id="23" name="Text 21"/>
          <p:cNvSpPr txBox="1"/>
          <p:nvPr/>
        </p:nvSpPr>
        <p:spPr>
          <a:xfrm>
            <a:off x="6656832" y="4270248"/>
            <a:ext cx="4654296" cy="201168"/>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[r["name"] for r in rows]     →  ['Ravi', 'Sara']</a:t>
            </a:r>
            <a:endParaRPr lang="en-US" sz="1000" dirty="0"/>
          </a:p>
        </p:txBody>
      </p:sp>
      <p:sp>
        <p:nvSpPr>
          <p:cNvPr id="24" name="Shape 22"/>
          <p:cNvSpPr/>
          <p:nvPr/>
        </p:nvSpPr>
        <p:spPr>
          <a:xfrm>
            <a:off x="548640" y="4846320"/>
            <a:ext cx="544068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Text 23"/>
          <p:cNvSpPr txBox="1"/>
          <p:nvPr/>
        </p:nvSpPr>
        <p:spPr>
          <a:xfrm>
            <a:off x="777240" y="4919472"/>
            <a:ext cx="502920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Cast a column to int</a:t>
            </a:r>
            <a:endParaRPr lang="en-US" sz="1250" dirty="0"/>
          </a:p>
        </p:txBody>
      </p:sp>
      <p:sp>
        <p:nvSpPr>
          <p:cNvPr id="26" name="Shape 24"/>
          <p:cNvSpPr/>
          <p:nvPr/>
        </p:nvSpPr>
        <p:spPr>
          <a:xfrm>
            <a:off x="777240" y="5212080"/>
            <a:ext cx="4983480" cy="420624"/>
          </a:xfrm>
          <a:prstGeom prst="roundRect">
            <a:avLst>
              <a:gd name="adj" fmla="val 15217"/>
            </a:avLst>
          </a:prstGeom>
          <a:solidFill>
            <a:srgbClr val="1B2B45"/>
          </a:solidFill>
          <a:ln w="12700">
            <a:solidFill>
              <a:srgbClr val="1B2B45"/>
            </a:solidFill>
            <a:prstDash val="solid"/>
          </a:ln>
        </p:spPr>
      </p:sp>
      <p:sp>
        <p:nvSpPr>
          <p:cNvPr id="27" name="Text 25"/>
          <p:cNvSpPr txBox="1"/>
          <p:nvPr/>
        </p:nvSpPr>
        <p:spPr>
          <a:xfrm>
            <a:off x="941832" y="5321808"/>
            <a:ext cx="4654296" cy="201168"/>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[int(x) for x in raw]     →  [88, 71, 64]</a:t>
            </a:r>
            <a:endParaRPr lang="en-US" sz="1000" dirty="0"/>
          </a:p>
        </p:txBody>
      </p:sp>
      <p:sp>
        <p:nvSpPr>
          <p:cNvPr id="28" name="Shape 26"/>
          <p:cNvSpPr/>
          <p:nvPr/>
        </p:nvSpPr>
        <p:spPr>
          <a:xfrm>
            <a:off x="6263640" y="4846320"/>
            <a:ext cx="544068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Text 27"/>
          <p:cNvSpPr txBox="1"/>
          <p:nvPr/>
        </p:nvSpPr>
        <p:spPr>
          <a:xfrm>
            <a:off x="6492240" y="4919472"/>
            <a:ext cx="502920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Just copy a list</a:t>
            </a:r>
            <a:endParaRPr lang="en-US" sz="1250" dirty="0"/>
          </a:p>
        </p:txBody>
      </p:sp>
      <p:sp>
        <p:nvSpPr>
          <p:cNvPr id="30" name="Shape 28"/>
          <p:cNvSpPr/>
          <p:nvPr/>
        </p:nvSpPr>
        <p:spPr>
          <a:xfrm>
            <a:off x="6492240" y="5212080"/>
            <a:ext cx="4983480" cy="420624"/>
          </a:xfrm>
          <a:prstGeom prst="roundRect">
            <a:avLst>
              <a:gd name="adj" fmla="val 15217"/>
            </a:avLst>
          </a:prstGeom>
          <a:solidFill>
            <a:srgbClr val="1B2B45"/>
          </a:solidFill>
          <a:ln w="12700">
            <a:solidFill>
              <a:srgbClr val="1B2B45"/>
            </a:solidFill>
            <a:prstDash val="solid"/>
          </a:ln>
        </p:spPr>
      </p:sp>
      <p:sp>
        <p:nvSpPr>
          <p:cNvPr id="31" name="Text 29"/>
          <p:cNvSpPr txBox="1"/>
          <p:nvPr/>
        </p:nvSpPr>
        <p:spPr>
          <a:xfrm>
            <a:off x="6656832" y="5321808"/>
            <a:ext cx="4654296" cy="201168"/>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 for n in nums]     →  same values, new list</a:t>
            </a:r>
            <a:endParaRPr lang="en-US" sz="1000" dirty="0"/>
          </a:p>
        </p:txBody>
      </p:sp>
      <p:sp>
        <p:nvSpPr>
          <p:cNvPr id="32" name="Text 30"/>
          <p:cNvSpPr txBox="1"/>
          <p:nvPr/>
        </p:nvSpPr>
        <p:spPr>
          <a:xfrm>
            <a:off x="548640" y="5943600"/>
            <a:ext cx="11064240" cy="292608"/>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The last one is worth noticing: [n for n in nums] is exactly nums.copy() from Day 4 — the expression can simply be the item itself.</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FILTERING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Adding a condition — keeping only some items</a:t>
            </a:r>
            <a:endParaRPr lang="en-US" sz="3200" dirty="0"/>
          </a:p>
        </p:txBody>
      </p:sp>
      <p:sp>
        <p:nvSpPr>
          <p:cNvPr id="5" name="Shape 3"/>
          <p:cNvSpPr/>
          <p:nvPr/>
        </p:nvSpPr>
        <p:spPr>
          <a:xfrm>
            <a:off x="548640" y="1572768"/>
            <a:ext cx="11064240" cy="914400"/>
          </a:xfrm>
          <a:prstGeom prst="roundRect">
            <a:avLst>
              <a:gd name="adj" fmla="val 9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19072"/>
            <a:ext cx="10424160" cy="365760"/>
          </a:xfrm>
          <a:prstGeom prst="rect">
            <a:avLst/>
          </a:prstGeom>
          <a:noFill/>
          <a:ln/>
        </p:spPr>
        <p:txBody>
          <a:bodyPr wrap="square" lIns="0" tIns="0" rIns="0" bIns="0" rtlCol="0" anchor="ctr"/>
          <a:lstStyle/>
          <a:p>
            <a:pPr algn="ctr" indent="0" marL="0">
              <a:buNone/>
            </a:pPr>
            <a:r>
              <a:rPr lang="en-US" sz="1800" b="1" dirty="0">
                <a:solidFill>
                  <a:srgbClr val="1F3A5F"/>
                </a:solidFill>
                <a:latin typeface="Courier New" pitchFamily="34" charset="0"/>
                <a:ea typeface="Courier New" pitchFamily="34" charset="-122"/>
                <a:cs typeface="Courier New" pitchFamily="34" charset="-120"/>
              </a:rPr>
              <a:t>[  expression   for   item   in   iterable   if   condition  ]</a:t>
            </a:r>
            <a:endParaRPr lang="en-US" sz="1800" dirty="0"/>
          </a:p>
        </p:txBody>
      </p:sp>
      <p:sp>
        <p:nvSpPr>
          <p:cNvPr id="7" name="Text 5"/>
          <p:cNvSpPr txBox="1"/>
          <p:nvPr/>
        </p:nvSpPr>
        <p:spPr>
          <a:xfrm>
            <a:off x="868680" y="2103120"/>
            <a:ext cx="10424160" cy="274320"/>
          </a:xfrm>
          <a:prstGeom prst="rect">
            <a:avLst/>
          </a:prstGeom>
          <a:noFill/>
          <a:ln/>
        </p:spPr>
        <p:txBody>
          <a:bodyPr wrap="square" lIns="0" tIns="0" rIns="0" bIns="0" rtlCol="0" anchor="ctr"/>
          <a:lstStyle/>
          <a:p>
            <a:pPr algn="ctr" indent="0" marL="0">
              <a:buNone/>
            </a:pPr>
            <a:r>
              <a:rPr lang="en-US" sz="1250" i="1" dirty="0">
                <a:solidFill>
                  <a:srgbClr val="6B7789"/>
                </a:solidFill>
                <a:latin typeface="Calibri" pitchFamily="34" charset="0"/>
                <a:ea typeface="Calibri" pitchFamily="34" charset="-122"/>
                <a:cs typeface="Calibri" pitchFamily="34" charset="-120"/>
              </a:rPr>
              <a:t>The  if  goes at the END. Items that fail the test are simply not included.</a:t>
            </a:r>
            <a:endParaRPr lang="en-US" sz="1250" dirty="0"/>
          </a:p>
        </p:txBody>
      </p:sp>
      <p:sp>
        <p:nvSpPr>
          <p:cNvPr id="8" name="Shape 6"/>
          <p:cNvSpPr/>
          <p:nvPr/>
        </p:nvSpPr>
        <p:spPr>
          <a:xfrm>
            <a:off x="548640" y="2670048"/>
            <a:ext cx="5486400" cy="1965960"/>
          </a:xfrm>
          <a:prstGeom prst="roundRect">
            <a:avLst>
              <a:gd name="adj" fmla="val 418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804672" y="2798064"/>
            <a:ext cx="49377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Loop version</a:t>
            </a:r>
            <a:endParaRPr lang="en-US" sz="1400" dirty="0"/>
          </a:p>
        </p:txBody>
      </p:sp>
      <p:sp>
        <p:nvSpPr>
          <p:cNvPr id="10" name="Shape 8"/>
          <p:cNvSpPr/>
          <p:nvPr/>
        </p:nvSpPr>
        <p:spPr>
          <a:xfrm>
            <a:off x="804672" y="3108960"/>
            <a:ext cx="4983480" cy="1371600"/>
          </a:xfrm>
          <a:prstGeom prst="roundRect">
            <a:avLst>
              <a:gd name="adj" fmla="val 4667"/>
            </a:avLst>
          </a:prstGeom>
          <a:solidFill>
            <a:srgbClr val="1B2B45"/>
          </a:solidFill>
          <a:ln w="12700">
            <a:solidFill>
              <a:srgbClr val="1B2B45"/>
            </a:solidFill>
            <a:prstDash val="solid"/>
          </a:ln>
        </p:spPr>
      </p:sp>
      <p:sp>
        <p:nvSpPr>
          <p:cNvPr id="11" name="Text 9"/>
          <p:cNvSpPr txBox="1"/>
          <p:nvPr/>
        </p:nvSpPr>
        <p:spPr>
          <a:xfrm>
            <a:off x="969264" y="3218688"/>
            <a:ext cx="4654296" cy="1152144"/>
          </a:xfrm>
          <a:prstGeom prst="rect">
            <a:avLst/>
          </a:prstGeom>
          <a:noFill/>
          <a:ln/>
        </p:spPr>
        <p:txBody>
          <a:bodyPr wrap="square" lIns="0" tIns="0" rIns="0" bIns="0" rtlCol="0" anchor="t"/>
          <a:lstStyle/>
          <a:p>
            <a:pPr indent="0" marL="0">
              <a:lnSpc>
                <a:spcPct val="112000"/>
              </a:lnSpc>
              <a:buNone/>
            </a:pPr>
            <a:r>
              <a:rPr lang="en-US" sz="1150" dirty="0">
                <a:solidFill>
                  <a:srgbClr val="E7EEF8"/>
                </a:solidFill>
                <a:latin typeface="Courier New" pitchFamily="34" charset="0"/>
                <a:ea typeface="Courier New" pitchFamily="34" charset="-122"/>
                <a:cs typeface="Courier New" pitchFamily="34" charset="-120"/>
              </a:rPr>
              <a:t>passed = []</a:t>
            </a:r>
            <a:endParaRPr lang="en-US" sz="1150" dirty="0"/>
          </a:p>
          <a:p>
            <a:pPr indent="0" marL="0">
              <a:lnSpc>
                <a:spcPct val="112000"/>
              </a:lnSpc>
              <a:buNone/>
            </a:pPr>
            <a:r>
              <a:rPr lang="en-US" sz="1150" dirty="0">
                <a:solidFill>
                  <a:srgbClr val="E7EEF8"/>
                </a:solidFill>
                <a:latin typeface="Courier New" pitchFamily="34" charset="0"/>
                <a:ea typeface="Courier New" pitchFamily="34" charset="-122"/>
                <a:cs typeface="Courier New" pitchFamily="34" charset="-120"/>
              </a:rPr>
              <a:t>for m in marks:</a:t>
            </a:r>
            <a:endParaRPr lang="en-US" sz="1150" dirty="0"/>
          </a:p>
          <a:p>
            <a:pPr indent="0" marL="0">
              <a:lnSpc>
                <a:spcPct val="112000"/>
              </a:lnSpc>
              <a:buNone/>
            </a:pPr>
            <a:r>
              <a:rPr lang="en-US" sz="1150" dirty="0">
                <a:solidFill>
                  <a:srgbClr val="E7EEF8"/>
                </a:solidFill>
                <a:latin typeface="Courier New" pitchFamily="34" charset="0"/>
                <a:ea typeface="Courier New" pitchFamily="34" charset="-122"/>
                <a:cs typeface="Courier New" pitchFamily="34" charset="-120"/>
              </a:rPr>
              <a:t>    if m &gt;= 40:</a:t>
            </a:r>
            <a:endParaRPr lang="en-US" sz="1150" dirty="0"/>
          </a:p>
          <a:p>
            <a:pPr indent="0" marL="0">
              <a:lnSpc>
                <a:spcPct val="112000"/>
              </a:lnSpc>
              <a:buNone/>
            </a:pPr>
            <a:r>
              <a:rPr lang="en-US" sz="1150" dirty="0">
                <a:solidFill>
                  <a:srgbClr val="E7EEF8"/>
                </a:solidFill>
                <a:latin typeface="Courier New" pitchFamily="34" charset="0"/>
                <a:ea typeface="Courier New" pitchFamily="34" charset="-122"/>
                <a:cs typeface="Courier New" pitchFamily="34" charset="-120"/>
              </a:rPr>
              <a:t>        passed.append(m)</a:t>
            </a:r>
            <a:endParaRPr lang="en-US" sz="1150" dirty="0"/>
          </a:p>
        </p:txBody>
      </p:sp>
      <p:sp>
        <p:nvSpPr>
          <p:cNvPr id="12" name="Shape 10"/>
          <p:cNvSpPr/>
          <p:nvPr/>
        </p:nvSpPr>
        <p:spPr>
          <a:xfrm>
            <a:off x="6309360" y="2670048"/>
            <a:ext cx="5303520" cy="1965960"/>
          </a:xfrm>
          <a:prstGeom prst="roundRect">
            <a:avLst>
              <a:gd name="adj" fmla="val 418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6565392" y="2798064"/>
            <a:ext cx="47548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Comprehension version</a:t>
            </a:r>
            <a:endParaRPr lang="en-US" sz="1400" dirty="0"/>
          </a:p>
        </p:txBody>
      </p:sp>
      <p:sp>
        <p:nvSpPr>
          <p:cNvPr id="14" name="Shape 12"/>
          <p:cNvSpPr/>
          <p:nvPr/>
        </p:nvSpPr>
        <p:spPr>
          <a:xfrm>
            <a:off x="6565392" y="3108960"/>
            <a:ext cx="4800600" cy="685800"/>
          </a:xfrm>
          <a:prstGeom prst="roundRect">
            <a:avLst>
              <a:gd name="adj" fmla="val 9333"/>
            </a:avLst>
          </a:prstGeom>
          <a:solidFill>
            <a:srgbClr val="1B2B45"/>
          </a:solidFill>
          <a:ln w="12700">
            <a:solidFill>
              <a:srgbClr val="1B2B45"/>
            </a:solidFill>
            <a:prstDash val="solid"/>
          </a:ln>
        </p:spPr>
      </p:sp>
      <p:sp>
        <p:nvSpPr>
          <p:cNvPr id="15" name="Text 13"/>
          <p:cNvSpPr txBox="1"/>
          <p:nvPr/>
        </p:nvSpPr>
        <p:spPr>
          <a:xfrm>
            <a:off x="6729984" y="3218688"/>
            <a:ext cx="4471416" cy="466344"/>
          </a:xfrm>
          <a:prstGeom prst="rect">
            <a:avLst/>
          </a:prstGeom>
          <a:noFill/>
          <a:ln/>
        </p:spPr>
        <p:txBody>
          <a:bodyPr wrap="square" lIns="0" tIns="0" rIns="0" bIns="0" rtlCol="0" anchor="t"/>
          <a:lstStyle/>
          <a:p>
            <a:pPr indent="0" marL="0">
              <a:lnSpc>
                <a:spcPct val="112000"/>
              </a:lnSpc>
              <a:buNone/>
            </a:pPr>
            <a:r>
              <a:rPr lang="en-US" sz="1150" dirty="0">
                <a:solidFill>
                  <a:srgbClr val="E7EEF8"/>
                </a:solidFill>
                <a:latin typeface="Courier New" pitchFamily="34" charset="0"/>
                <a:ea typeface="Courier New" pitchFamily="34" charset="-122"/>
                <a:cs typeface="Courier New" pitchFamily="34" charset="-120"/>
              </a:rPr>
              <a:t>passed = [m for m in marks if m &gt;= 40]</a:t>
            </a:r>
            <a:endParaRPr lang="en-US" sz="1150" dirty="0"/>
          </a:p>
        </p:txBody>
      </p:sp>
      <p:sp>
        <p:nvSpPr>
          <p:cNvPr id="16" name="Text 14"/>
          <p:cNvSpPr txBox="1"/>
          <p:nvPr/>
        </p:nvSpPr>
        <p:spPr>
          <a:xfrm>
            <a:off x="6565392" y="3913632"/>
            <a:ext cx="4800600" cy="54864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Four lines to one. The nested if became a trailing if — the shape of the loop is preserved exactly.</a:t>
            </a:r>
            <a:endParaRPr lang="en-US" sz="1200" dirty="0"/>
          </a:p>
        </p:txBody>
      </p:sp>
      <p:sp>
        <p:nvSpPr>
          <p:cNvPr id="17" name="Shape 15"/>
          <p:cNvSpPr/>
          <p:nvPr/>
        </p:nvSpPr>
        <p:spPr>
          <a:xfrm>
            <a:off x="548640" y="4754880"/>
            <a:ext cx="5440680" cy="512064"/>
          </a:xfrm>
          <a:prstGeom prst="roundRect">
            <a:avLst>
              <a:gd name="adj" fmla="val 12500"/>
            </a:avLst>
          </a:prstGeom>
          <a:solidFill>
            <a:srgbClr val="1B2B45"/>
          </a:solidFill>
          <a:ln w="12700">
            <a:solidFill>
              <a:srgbClr val="1B2B45"/>
            </a:solidFill>
            <a:prstDash val="solid"/>
          </a:ln>
        </p:spPr>
      </p:sp>
      <p:sp>
        <p:nvSpPr>
          <p:cNvPr id="18" name="Text 16"/>
          <p:cNvSpPr txBox="1"/>
          <p:nvPr/>
        </p:nvSpPr>
        <p:spPr>
          <a:xfrm>
            <a:off x="713232" y="4864608"/>
            <a:ext cx="5111496" cy="292608"/>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[n for n in nums if n % 2 == 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even numbers only</a:t>
            </a:r>
            <a:endParaRPr lang="en-US" sz="950" dirty="0"/>
          </a:p>
        </p:txBody>
      </p:sp>
      <p:sp>
        <p:nvSpPr>
          <p:cNvPr id="19" name="Shape 17"/>
          <p:cNvSpPr/>
          <p:nvPr/>
        </p:nvSpPr>
        <p:spPr>
          <a:xfrm>
            <a:off x="6263640" y="4754880"/>
            <a:ext cx="5440680" cy="512064"/>
          </a:xfrm>
          <a:prstGeom prst="roundRect">
            <a:avLst>
              <a:gd name="adj" fmla="val 12500"/>
            </a:avLst>
          </a:prstGeom>
          <a:solidFill>
            <a:srgbClr val="1B2B45"/>
          </a:solidFill>
          <a:ln w="12700">
            <a:solidFill>
              <a:srgbClr val="1B2B45"/>
            </a:solidFill>
            <a:prstDash val="solid"/>
          </a:ln>
        </p:spPr>
      </p:sp>
      <p:sp>
        <p:nvSpPr>
          <p:cNvPr id="20" name="Text 18"/>
          <p:cNvSpPr txBox="1"/>
          <p:nvPr/>
        </p:nvSpPr>
        <p:spPr>
          <a:xfrm>
            <a:off x="6428232" y="4864608"/>
            <a:ext cx="5111496" cy="292608"/>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[w for w in words if len(w) &gt; 3]</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words longer than three letters</a:t>
            </a:r>
            <a:endParaRPr lang="en-US" sz="950" dirty="0"/>
          </a:p>
        </p:txBody>
      </p:sp>
      <p:sp>
        <p:nvSpPr>
          <p:cNvPr id="21" name="Shape 19"/>
          <p:cNvSpPr/>
          <p:nvPr/>
        </p:nvSpPr>
        <p:spPr>
          <a:xfrm>
            <a:off x="548640" y="5358384"/>
            <a:ext cx="5440680" cy="512064"/>
          </a:xfrm>
          <a:prstGeom prst="roundRect">
            <a:avLst>
              <a:gd name="adj" fmla="val 12500"/>
            </a:avLst>
          </a:prstGeom>
          <a:solidFill>
            <a:srgbClr val="1B2B45"/>
          </a:solidFill>
          <a:ln w="12700">
            <a:solidFill>
              <a:srgbClr val="1B2B45"/>
            </a:solidFill>
            <a:prstDash val="solid"/>
          </a:ln>
        </p:spPr>
      </p:sp>
      <p:sp>
        <p:nvSpPr>
          <p:cNvPr id="22" name="Text 20"/>
          <p:cNvSpPr txBox="1"/>
          <p:nvPr/>
        </p:nvSpPr>
        <p:spPr>
          <a:xfrm>
            <a:off x="713232" y="5468112"/>
            <a:ext cx="5111496" cy="292608"/>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[r for r in rows if r["mark"] &gt;= 40]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the rows that passed</a:t>
            </a:r>
            <a:endParaRPr lang="en-US" sz="950" dirty="0"/>
          </a:p>
        </p:txBody>
      </p:sp>
      <p:sp>
        <p:nvSpPr>
          <p:cNvPr id="23" name="Shape 21"/>
          <p:cNvSpPr/>
          <p:nvPr/>
        </p:nvSpPr>
        <p:spPr>
          <a:xfrm>
            <a:off x="6263640" y="5358384"/>
            <a:ext cx="5440680" cy="512064"/>
          </a:xfrm>
          <a:prstGeom prst="roundRect">
            <a:avLst>
              <a:gd name="adj" fmla="val 12500"/>
            </a:avLst>
          </a:prstGeom>
          <a:solidFill>
            <a:srgbClr val="1B2B45"/>
          </a:solidFill>
          <a:ln w="12700">
            <a:solidFill>
              <a:srgbClr val="1B2B45"/>
            </a:solidFill>
            <a:prstDash val="solid"/>
          </a:ln>
        </p:spPr>
      </p:sp>
      <p:sp>
        <p:nvSpPr>
          <p:cNvPr id="24" name="Text 22"/>
          <p:cNvSpPr txBox="1"/>
          <p:nvPr/>
        </p:nvSpPr>
        <p:spPr>
          <a:xfrm>
            <a:off x="6428232" y="5468112"/>
            <a:ext cx="5111496" cy="292608"/>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[n.strip() for n in raw if n.strip()]</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clean, and drop the blanks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1.4  ·  POSITION MATTERS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if / else — the one that trips everybody</a:t>
            </a:r>
            <a:endParaRPr lang="en-US" sz="3200" dirty="0"/>
          </a:p>
        </p:txBody>
      </p:sp>
      <p:sp>
        <p:nvSpPr>
          <p:cNvPr id="5" name="Shape 3"/>
          <p:cNvSpPr/>
          <p:nvPr/>
        </p:nvSpPr>
        <p:spPr>
          <a:xfrm>
            <a:off x="548640" y="1572768"/>
            <a:ext cx="548640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Filtering  —  if goes at the END</a:t>
            </a:r>
            <a:endParaRPr lang="en-US" sz="1500" dirty="0"/>
          </a:p>
        </p:txBody>
      </p:sp>
      <p:sp>
        <p:nvSpPr>
          <p:cNvPr id="7" name="Shape 5"/>
          <p:cNvSpPr/>
          <p:nvPr/>
        </p:nvSpPr>
        <p:spPr>
          <a:xfrm>
            <a:off x="804672" y="2103120"/>
            <a:ext cx="4983480" cy="685800"/>
          </a:xfrm>
          <a:prstGeom prst="roundRect">
            <a:avLst>
              <a:gd name="adj" fmla="val 9333"/>
            </a:avLst>
          </a:prstGeom>
          <a:solidFill>
            <a:srgbClr val="1B2B45"/>
          </a:solidFill>
          <a:ln w="12700">
            <a:solidFill>
              <a:srgbClr val="1B2B45"/>
            </a:solidFill>
            <a:prstDash val="solid"/>
          </a:ln>
        </p:spPr>
      </p:sp>
      <p:sp>
        <p:nvSpPr>
          <p:cNvPr id="8" name="Text 6"/>
          <p:cNvSpPr txBox="1"/>
          <p:nvPr/>
        </p:nvSpPr>
        <p:spPr>
          <a:xfrm>
            <a:off x="969264" y="2212848"/>
            <a:ext cx="4654296" cy="466344"/>
          </a:xfrm>
          <a:prstGeom prst="rect">
            <a:avLst/>
          </a:prstGeom>
          <a:noFill/>
          <a:ln/>
        </p:spPr>
        <p:txBody>
          <a:bodyPr wrap="square" lIns="0" tIns="0" rIns="0" bIns="0" rtlCol="0" anchor="t"/>
          <a:lstStyle/>
          <a:p>
            <a:pPr indent="0" marL="0">
              <a:lnSpc>
                <a:spcPct val="112000"/>
              </a:lnSpc>
              <a:buNone/>
            </a:pPr>
            <a:r>
              <a:rPr lang="en-US" sz="1200" dirty="0">
                <a:solidFill>
                  <a:srgbClr val="E7EEF8"/>
                </a:solidFill>
                <a:latin typeface="Courier New" pitchFamily="34" charset="0"/>
                <a:ea typeface="Courier New" pitchFamily="34" charset="-122"/>
                <a:cs typeface="Courier New" pitchFamily="34" charset="-120"/>
              </a:rPr>
              <a:t>[n for n in nums if n &gt; 0]</a:t>
            </a:r>
            <a:endParaRPr lang="en-US" sz="1200" dirty="0"/>
          </a:p>
        </p:txBody>
      </p:sp>
      <p:sp>
        <p:nvSpPr>
          <p:cNvPr id="9" name="Text 7"/>
          <p:cNvSpPr txBox="1"/>
          <p:nvPr/>
        </p:nvSpPr>
        <p:spPr>
          <a:xfrm>
            <a:off x="804672" y="2871216"/>
            <a:ext cx="4983480" cy="274320"/>
          </a:xfrm>
          <a:prstGeom prst="rect">
            <a:avLst/>
          </a:prstGeom>
          <a:noFill/>
          <a:ln/>
        </p:spPr>
        <p:txBody>
          <a:bodyPr wrap="square" lIns="0" tIns="0" rIns="0" bIns="0" rtlCol="0" anchor="ctr"/>
          <a:lstStyle/>
          <a:p>
            <a:pPr indent="0" marL="0">
              <a:buNone/>
            </a:pPr>
            <a:r>
              <a:rPr lang="en-US" sz="1250" i="1" dirty="0">
                <a:solidFill>
                  <a:srgbClr val="2B3445"/>
                </a:solidFill>
                <a:latin typeface="Calibri" pitchFamily="34" charset="0"/>
                <a:ea typeface="Calibri" pitchFamily="34" charset="-122"/>
                <a:cs typeface="Calibri" pitchFamily="34" charset="-120"/>
              </a:rPr>
              <a:t>“Keep n, for each n, IF it is positive.”</a:t>
            </a:r>
            <a:endParaRPr lang="en-US" sz="1250" dirty="0"/>
          </a:p>
        </p:txBody>
      </p:sp>
      <p:sp>
        <p:nvSpPr>
          <p:cNvPr id="10" name="Text 8"/>
          <p:cNvSpPr txBox="1"/>
          <p:nvPr/>
        </p:nvSpPr>
        <p:spPr>
          <a:xfrm>
            <a:off x="804672" y="3200400"/>
            <a:ext cx="4983480" cy="548640"/>
          </a:xfrm>
          <a:prstGeom prst="rect">
            <a:avLst/>
          </a:prstGeom>
          <a:noFill/>
          <a:ln/>
        </p:spPr>
        <p:txBody>
          <a:bodyPr wrap="square" lIns="0" tIns="0" rIns="0" bIns="0" rtlCol="0" anchor="ctr"/>
          <a:lstStyle/>
          <a:p>
            <a:pPr indent="0" marL="0">
              <a:buNone/>
            </a:pPr>
            <a:r>
              <a:rPr lang="en-US" sz="1250" b="1" dirty="0">
                <a:solidFill>
                  <a:srgbClr val="1C6F5C"/>
                </a:solidFill>
                <a:latin typeface="Calibri" pitchFamily="34" charset="0"/>
                <a:ea typeface="Calibri" pitchFamily="34" charset="-122"/>
                <a:cs typeface="Calibri" pitchFamily="34" charset="-120"/>
              </a:rPr>
              <a:t>Some items are dropped, so the result may be SHORTER than the input.</a:t>
            </a:r>
            <a:endParaRPr lang="en-US" sz="1250" dirty="0"/>
          </a:p>
        </p:txBody>
      </p:sp>
      <p:sp>
        <p:nvSpPr>
          <p:cNvPr id="11" name="Shape 9"/>
          <p:cNvSpPr/>
          <p:nvPr/>
        </p:nvSpPr>
        <p:spPr>
          <a:xfrm>
            <a:off x="6309360" y="1572768"/>
            <a:ext cx="5303520" cy="2286000"/>
          </a:xfrm>
          <a:prstGeom prst="roundRect">
            <a:avLst>
              <a:gd name="adj" fmla="val 36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Choosing  —  if / else goes at the FRONT</a:t>
            </a:r>
            <a:endParaRPr lang="en-US" sz="1500" dirty="0"/>
          </a:p>
        </p:txBody>
      </p:sp>
      <p:sp>
        <p:nvSpPr>
          <p:cNvPr id="13" name="Shape 11"/>
          <p:cNvSpPr/>
          <p:nvPr/>
        </p:nvSpPr>
        <p:spPr>
          <a:xfrm>
            <a:off x="6565392" y="2103120"/>
            <a:ext cx="4800600" cy="685800"/>
          </a:xfrm>
          <a:prstGeom prst="roundRect">
            <a:avLst>
              <a:gd name="adj" fmla="val 9333"/>
            </a:avLst>
          </a:prstGeom>
          <a:solidFill>
            <a:srgbClr val="1B2B45"/>
          </a:solidFill>
          <a:ln w="12700">
            <a:solidFill>
              <a:srgbClr val="1B2B45"/>
            </a:solidFill>
            <a:prstDash val="solid"/>
          </a:ln>
        </p:spPr>
      </p:sp>
      <p:sp>
        <p:nvSpPr>
          <p:cNvPr id="14" name="Text 12"/>
          <p:cNvSpPr txBox="1"/>
          <p:nvPr/>
        </p:nvSpPr>
        <p:spPr>
          <a:xfrm>
            <a:off x="6729984" y="2212848"/>
            <a:ext cx="4471416" cy="46634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["pos" if n &gt; 0 else "neg" for n in nums]</a:t>
            </a:r>
            <a:endParaRPr lang="en-US" sz="1100" dirty="0"/>
          </a:p>
        </p:txBody>
      </p:sp>
      <p:sp>
        <p:nvSpPr>
          <p:cNvPr id="15" name="Text 13"/>
          <p:cNvSpPr txBox="1"/>
          <p:nvPr/>
        </p:nvSpPr>
        <p:spPr>
          <a:xfrm>
            <a:off x="6565392" y="2871216"/>
            <a:ext cx="4800600" cy="274320"/>
          </a:xfrm>
          <a:prstGeom prst="rect">
            <a:avLst/>
          </a:prstGeom>
          <a:noFill/>
          <a:ln/>
        </p:spPr>
        <p:txBody>
          <a:bodyPr wrap="square" lIns="0" tIns="0" rIns="0" bIns="0" rtlCol="0" anchor="ctr"/>
          <a:lstStyle/>
          <a:p>
            <a:pPr indent="0" marL="0">
              <a:buNone/>
            </a:pPr>
            <a:r>
              <a:rPr lang="en-US" sz="1250" i="1" dirty="0">
                <a:solidFill>
                  <a:srgbClr val="2B3445"/>
                </a:solidFill>
                <a:latin typeface="Calibri" pitchFamily="34" charset="0"/>
                <a:ea typeface="Calibri" pitchFamily="34" charset="-122"/>
                <a:cs typeface="Calibri" pitchFamily="34" charset="-120"/>
              </a:rPr>
              <a:t>“Build pos-or-neg, for each n.”</a:t>
            </a:r>
            <a:endParaRPr lang="en-US" sz="1250" dirty="0"/>
          </a:p>
        </p:txBody>
      </p:sp>
      <p:sp>
        <p:nvSpPr>
          <p:cNvPr id="16" name="Text 14"/>
          <p:cNvSpPr txBox="1"/>
          <p:nvPr/>
        </p:nvSpPr>
        <p:spPr>
          <a:xfrm>
            <a:off x="6565392" y="3200400"/>
            <a:ext cx="4800600" cy="548640"/>
          </a:xfrm>
          <a:prstGeom prst="rect">
            <a:avLst/>
          </a:prstGeom>
          <a:noFill/>
          <a:ln/>
        </p:spPr>
        <p:txBody>
          <a:bodyPr wrap="square" lIns="0" tIns="0" rIns="0" bIns="0" rtlCol="0" anchor="ctr"/>
          <a:lstStyle/>
          <a:p>
            <a:pPr indent="0" marL="0">
              <a:buNone/>
            </a:pPr>
            <a:r>
              <a:rPr lang="en-US" sz="1250" b="1" dirty="0">
                <a:solidFill>
                  <a:srgbClr val="8A5B00"/>
                </a:solidFill>
                <a:latin typeface="Calibri" pitchFamily="34" charset="0"/>
                <a:ea typeface="Calibri" pitchFamily="34" charset="-122"/>
                <a:cs typeface="Calibri" pitchFamily="34" charset="-120"/>
              </a:rPr>
              <a:t>Nothing is dropped, so the result is ALWAYS the same length as the input.</a:t>
            </a:r>
            <a:endParaRPr lang="en-US" sz="1250" dirty="0"/>
          </a:p>
        </p:txBody>
      </p:sp>
      <p:sp>
        <p:nvSpPr>
          <p:cNvPr id="17" name="Shape 15"/>
          <p:cNvSpPr/>
          <p:nvPr/>
        </p:nvSpPr>
        <p:spPr>
          <a:xfrm>
            <a:off x="548640" y="4023360"/>
            <a:ext cx="11064240" cy="1051560"/>
          </a:xfrm>
          <a:prstGeom prst="roundRect">
            <a:avLst>
              <a:gd name="adj" fmla="val 7826"/>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Text 16"/>
          <p:cNvSpPr txBox="1"/>
          <p:nvPr/>
        </p:nvSpPr>
        <p:spPr>
          <a:xfrm>
            <a:off x="868680" y="4160520"/>
            <a:ext cx="6400800" cy="274320"/>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You cannot put a bare  if  at the front</a:t>
            </a:r>
            <a:endParaRPr lang="en-US" sz="1450" dirty="0"/>
          </a:p>
        </p:txBody>
      </p:sp>
      <p:sp>
        <p:nvSpPr>
          <p:cNvPr id="19" name="Shape 17"/>
          <p:cNvSpPr/>
          <p:nvPr/>
        </p:nvSpPr>
        <p:spPr>
          <a:xfrm>
            <a:off x="868680" y="4462272"/>
            <a:ext cx="5212080" cy="502920"/>
          </a:xfrm>
          <a:prstGeom prst="roundRect">
            <a:avLst>
              <a:gd name="adj" fmla="val 12727"/>
            </a:avLst>
          </a:prstGeom>
          <a:solidFill>
            <a:srgbClr val="1B2B45"/>
          </a:solidFill>
          <a:ln w="12700">
            <a:solidFill>
              <a:srgbClr val="1B2B45"/>
            </a:solidFill>
            <a:prstDash val="solid"/>
          </a:ln>
        </p:spPr>
      </p:sp>
      <p:sp>
        <p:nvSpPr>
          <p:cNvPr id="20" name="Text 18"/>
          <p:cNvSpPr txBox="1"/>
          <p:nvPr/>
        </p:nvSpPr>
        <p:spPr>
          <a:xfrm>
            <a:off x="1033272" y="4572000"/>
            <a:ext cx="4882896" cy="2834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[n if n &gt; 0 for n in nums]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-&gt; SyntaxError</a:t>
            </a:r>
            <a:endParaRPr lang="en-US" sz="1100" dirty="0"/>
          </a:p>
        </p:txBody>
      </p:sp>
      <p:sp>
        <p:nvSpPr>
          <p:cNvPr id="21" name="Text 19"/>
          <p:cNvSpPr txBox="1"/>
          <p:nvPr/>
        </p:nvSpPr>
        <p:spPr>
          <a:xfrm>
            <a:off x="6400800" y="4443984"/>
            <a:ext cx="4983480" cy="54864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At the front you are writing Day 1's conditional expression, and that always needs an else — Python must know what to build for every item. At the end you are filtering, and no else is possible.</a:t>
            </a:r>
            <a:endParaRPr lang="en-US" sz="1150" dirty="0"/>
          </a:p>
        </p:txBody>
      </p:sp>
      <p:sp>
        <p:nvSpPr>
          <p:cNvPr id="22" name="Shape 20"/>
          <p:cNvSpPr/>
          <p:nvPr/>
        </p:nvSpPr>
        <p:spPr>
          <a:xfrm>
            <a:off x="548640" y="5212080"/>
            <a:ext cx="11064240" cy="777240"/>
          </a:xfrm>
          <a:prstGeom prst="roundRect">
            <a:avLst>
              <a:gd name="adj" fmla="val 10588"/>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3" name="Text 21"/>
          <p:cNvSpPr txBox="1"/>
          <p:nvPr/>
        </p:nvSpPr>
        <p:spPr>
          <a:xfrm>
            <a:off x="868680" y="5376672"/>
            <a:ext cx="10424160" cy="4572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The way to remember it:  </a:t>
            </a:r>
            <a:pPr indent="0" marL="0">
              <a:buNone/>
            </a:pPr>
            <a:r>
              <a:rPr lang="en-US" sz="1300" dirty="0">
                <a:solidFill>
                  <a:srgbClr val="2B3445"/>
                </a:solidFill>
                <a:latin typeface="Calibri" pitchFamily="34" charset="0"/>
                <a:ea typeface="Calibri" pitchFamily="34" charset="-122"/>
                <a:cs typeface="Calibri" pitchFamily="34" charset="-120"/>
              </a:rPr>
              <a:t>if at the end DROPS items. if/else at the front CHANGES items. </a:t>
            </a:r>
            <a:pPr indent="0" marL="0">
              <a:buNone/>
            </a:pPr>
            <a:r>
              <a:rPr lang="en-US" sz="1300" b="1" dirty="0">
                <a:solidFill>
                  <a:srgbClr val="1F3A5F"/>
                </a:solidFill>
                <a:latin typeface="Calibri" pitchFamily="34" charset="0"/>
                <a:ea typeface="Calibri" pitchFamily="34" charset="-122"/>
                <a:cs typeface="Calibri" pitchFamily="34" charset="-120"/>
              </a:rPr>
              <a:t>Ask which you want — a shorter list, or a different list — and the position follows.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Dict &amp; Set</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Same idea, different brackets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Dict comprehensions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Set comprehensions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No tuple version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BUILDING DICTS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Dictionary comprehensions</a:t>
            </a:r>
            <a:endParaRPr lang="en-US" sz="3200" dirty="0"/>
          </a:p>
        </p:txBody>
      </p:sp>
      <p:sp>
        <p:nvSpPr>
          <p:cNvPr id="5" name="Shape 3"/>
          <p:cNvSpPr/>
          <p:nvPr/>
        </p:nvSpPr>
        <p:spPr>
          <a:xfrm>
            <a:off x="548640" y="1572768"/>
            <a:ext cx="11064240" cy="914400"/>
          </a:xfrm>
          <a:prstGeom prst="roundRect">
            <a:avLst>
              <a:gd name="adj" fmla="val 900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19072"/>
            <a:ext cx="10424160" cy="365760"/>
          </a:xfrm>
          <a:prstGeom prst="rect">
            <a:avLst/>
          </a:prstGeom>
          <a:noFill/>
          <a:ln/>
        </p:spPr>
        <p:txBody>
          <a:bodyPr wrap="square" lIns="0" tIns="0" rIns="0" bIns="0" rtlCol="0" anchor="ctr"/>
          <a:lstStyle/>
          <a:p>
            <a:pPr algn="ctr" indent="0" marL="0">
              <a:buNone/>
            </a:pPr>
            <a:r>
              <a:rPr lang="en-US" sz="1700" b="1" dirty="0">
                <a:solidFill>
                  <a:srgbClr val="1F3A5F"/>
                </a:solidFill>
                <a:latin typeface="Courier New" pitchFamily="34" charset="0"/>
                <a:ea typeface="Courier New" pitchFamily="34" charset="-122"/>
                <a:cs typeface="Courier New" pitchFamily="34" charset="-120"/>
              </a:rPr>
              <a:t>{  key_expression  :  value_expression   for   item   in   iterable  }</a:t>
            </a:r>
            <a:endParaRPr lang="en-US" sz="1700" dirty="0"/>
          </a:p>
        </p:txBody>
      </p:sp>
      <p:sp>
        <p:nvSpPr>
          <p:cNvPr id="7" name="Text 5"/>
          <p:cNvSpPr txBox="1"/>
          <p:nvPr/>
        </p:nvSpPr>
        <p:spPr>
          <a:xfrm>
            <a:off x="868680" y="2103120"/>
            <a:ext cx="10424160" cy="274320"/>
          </a:xfrm>
          <a:prstGeom prst="rect">
            <a:avLst/>
          </a:prstGeom>
          <a:noFill/>
          <a:ln/>
        </p:spPr>
        <p:txBody>
          <a:bodyPr wrap="square" lIns="0" tIns="0" rIns="0" bIns="0" rtlCol="0" anchor="ctr"/>
          <a:lstStyle/>
          <a:p>
            <a:pPr algn="ctr" indent="0" marL="0">
              <a:buNone/>
            </a:pPr>
            <a:r>
              <a:rPr lang="en-US" sz="1250" i="1" dirty="0">
                <a:solidFill>
                  <a:srgbClr val="6B7789"/>
                </a:solidFill>
                <a:latin typeface="Calibri" pitchFamily="34" charset="0"/>
                <a:ea typeface="Calibri" pitchFamily="34" charset="-122"/>
                <a:cs typeface="Calibri" pitchFamily="34" charset="-120"/>
              </a:rPr>
              <a:t>Curly brackets and a colon. The colon is what makes it a dict rather than a set.</a:t>
            </a:r>
            <a:endParaRPr lang="en-US" sz="1250" dirty="0"/>
          </a:p>
        </p:txBody>
      </p:sp>
      <p:sp>
        <p:nvSpPr>
          <p:cNvPr id="8" name="Shape 6"/>
          <p:cNvSpPr/>
          <p:nvPr/>
        </p:nvSpPr>
        <p:spPr>
          <a:xfrm>
            <a:off x="548640" y="2670048"/>
            <a:ext cx="5486400" cy="2057400"/>
          </a:xfrm>
          <a:prstGeom prst="roundRect">
            <a:avLst>
              <a:gd name="adj" fmla="val 4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804672" y="2798064"/>
            <a:ext cx="493776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Yesterday's filter, as promised</a:t>
            </a:r>
            <a:endParaRPr lang="en-US" sz="1400" dirty="0"/>
          </a:p>
        </p:txBody>
      </p:sp>
      <p:sp>
        <p:nvSpPr>
          <p:cNvPr id="10" name="Shape 8"/>
          <p:cNvSpPr/>
          <p:nvPr/>
        </p:nvSpPr>
        <p:spPr>
          <a:xfrm>
            <a:off x="804672" y="3108960"/>
            <a:ext cx="4983480" cy="960120"/>
          </a:xfrm>
          <a:prstGeom prst="roundRect">
            <a:avLst>
              <a:gd name="adj" fmla="val 6667"/>
            </a:avLst>
          </a:prstGeom>
          <a:solidFill>
            <a:srgbClr val="1B2B45"/>
          </a:solidFill>
          <a:ln w="12700">
            <a:solidFill>
              <a:srgbClr val="1B2B45"/>
            </a:solidFill>
            <a:prstDash val="solid"/>
          </a:ln>
        </p:spPr>
      </p:sp>
      <p:sp>
        <p:nvSpPr>
          <p:cNvPr id="11" name="Text 9"/>
          <p:cNvSpPr txBox="1"/>
          <p:nvPr/>
        </p:nvSpPr>
        <p:spPr>
          <a:xfrm>
            <a:off x="969264" y="3218688"/>
            <a:ext cx="4654296" cy="7406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passed = {}</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k, v in marks.items():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if v &gt;= 40:</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passed[k] = v</a:t>
            </a:r>
            <a:endParaRPr lang="en-US" sz="1100" dirty="0"/>
          </a:p>
        </p:txBody>
      </p:sp>
      <p:sp>
        <p:nvSpPr>
          <p:cNvPr id="12" name="Shape 10"/>
          <p:cNvSpPr/>
          <p:nvPr/>
        </p:nvSpPr>
        <p:spPr>
          <a:xfrm>
            <a:off x="804672" y="4151376"/>
            <a:ext cx="4983480" cy="457200"/>
          </a:xfrm>
          <a:prstGeom prst="roundRect">
            <a:avLst>
              <a:gd name="adj" fmla="val 14000"/>
            </a:avLst>
          </a:prstGeom>
          <a:solidFill>
            <a:srgbClr val="1B2B45"/>
          </a:solidFill>
          <a:ln w="12700">
            <a:solidFill>
              <a:srgbClr val="1B2B45"/>
            </a:solidFill>
            <a:prstDash val="solid"/>
          </a:ln>
        </p:spPr>
      </p:sp>
      <p:sp>
        <p:nvSpPr>
          <p:cNvPr id="13" name="Text 11"/>
          <p:cNvSpPr txBox="1"/>
          <p:nvPr/>
        </p:nvSpPr>
        <p:spPr>
          <a:xfrm>
            <a:off x="969264" y="4261104"/>
            <a:ext cx="4654296" cy="2377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{k: v for k, v in marks.items() if v &gt;= 40}</a:t>
            </a:r>
            <a:endParaRPr lang="en-US" sz="1050" dirty="0"/>
          </a:p>
        </p:txBody>
      </p:sp>
      <p:sp>
        <p:nvSpPr>
          <p:cNvPr id="14" name="Shape 12"/>
          <p:cNvSpPr/>
          <p:nvPr/>
        </p:nvSpPr>
        <p:spPr>
          <a:xfrm>
            <a:off x="6309360" y="2670048"/>
            <a:ext cx="5303520" cy="2057400"/>
          </a:xfrm>
          <a:prstGeom prst="roundRect">
            <a:avLst>
              <a:gd name="adj" fmla="val 4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6565392" y="2798064"/>
            <a:ext cx="4754880" cy="274320"/>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Four more you will actually use</a:t>
            </a:r>
            <a:endParaRPr lang="en-US" sz="1400" dirty="0"/>
          </a:p>
        </p:txBody>
      </p:sp>
      <p:sp>
        <p:nvSpPr>
          <p:cNvPr id="16" name="Shape 14"/>
          <p:cNvSpPr/>
          <p:nvPr/>
        </p:nvSpPr>
        <p:spPr>
          <a:xfrm>
            <a:off x="6565392" y="3108960"/>
            <a:ext cx="4800600" cy="1508760"/>
          </a:xfrm>
          <a:prstGeom prst="roundRect">
            <a:avLst>
              <a:gd name="adj" fmla="val 4242"/>
            </a:avLst>
          </a:prstGeom>
          <a:solidFill>
            <a:srgbClr val="1B2B45"/>
          </a:solidFill>
          <a:ln w="12700">
            <a:solidFill>
              <a:srgbClr val="1B2B45"/>
            </a:solidFill>
            <a:prstDash val="solid"/>
          </a:ln>
        </p:spPr>
      </p:sp>
      <p:sp>
        <p:nvSpPr>
          <p:cNvPr id="17" name="Text 15"/>
          <p:cNvSpPr txBox="1"/>
          <p:nvPr/>
        </p:nvSpPr>
        <p:spPr>
          <a:xfrm>
            <a:off x="6729984" y="3218688"/>
            <a:ext cx="4471416" cy="128930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{k: v*2 for k, v in d.items()}     # scale values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{v: k for k, v in d.items()}       # INVERT it</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{w: len(w) for w in words}         # word -&gt; length</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{n: n*n for n in range(1, 6)}      # number -&gt; square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dict(zip(names, marks))            # two lists -&gt; dict</a:t>
            </a:r>
            <a:endParaRPr lang="en-US" sz="950" dirty="0"/>
          </a:p>
        </p:txBody>
      </p:sp>
      <p:sp>
        <p:nvSpPr>
          <p:cNvPr id="18" name="Shape 16"/>
          <p:cNvSpPr/>
          <p:nvPr/>
        </p:nvSpPr>
        <p:spPr>
          <a:xfrm>
            <a:off x="548640" y="4892040"/>
            <a:ext cx="11064240" cy="1005840"/>
          </a:xfrm>
          <a:prstGeom prst="roundRect">
            <a:avLst>
              <a:gd name="adj" fmla="val 8182"/>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9" name="Text 17"/>
          <p:cNvSpPr txBox="1"/>
          <p:nvPr/>
        </p:nvSpPr>
        <p:spPr>
          <a:xfrm>
            <a:off x="868680" y="5074920"/>
            <a:ext cx="10424160" cy="640080"/>
          </a:xfrm>
          <a:prstGeom prst="rect">
            <a:avLst/>
          </a:prstGeom>
          <a:noFill/>
          <a:ln/>
        </p:spPr>
        <p:txBody>
          <a:bodyPr wrap="square" lIns="0" tIns="0" rIns="0" bIns="0" rtlCol="0" anchor="ctr"/>
          <a:lstStyle/>
          <a:p>
            <a:pPr indent="0" marL="0">
              <a:lnSpc>
                <a:spcPct val="115000"/>
              </a:lnSpc>
              <a:buNone/>
            </a:pPr>
            <a:r>
              <a:rPr lang="en-US" sz="1300" b="1" dirty="0">
                <a:solidFill>
                  <a:srgbClr val="8A5B00"/>
                </a:solidFill>
                <a:latin typeface="Calibri" pitchFamily="34" charset="0"/>
                <a:ea typeface="Calibri" pitchFamily="34" charset="-122"/>
                <a:cs typeface="Calibri" pitchFamily="34" charset="-120"/>
              </a:rPr>
              <a:t>The inversion line is worth pausing on.  </a:t>
            </a:r>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{v: k for k, v in d.items()} was a five-line loop in yesterday's practice — and it carries the same warning: if two keys share a value, one of them wins and the other is silently lost.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SETS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Set comprehensions — and the one that does not exist</a:t>
            </a:r>
            <a:endParaRPr lang="en-US" sz="3200" dirty="0"/>
          </a:p>
        </p:txBody>
      </p:sp>
      <p:sp>
        <p:nvSpPr>
          <p:cNvPr id="5" name="Shape 3"/>
          <p:cNvSpPr/>
          <p:nvPr/>
        </p:nvSpPr>
        <p:spPr>
          <a:xfrm>
            <a:off x="548640" y="1572768"/>
            <a:ext cx="548640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Curly brackets, no colon</a:t>
            </a:r>
            <a:endParaRPr lang="en-US" sz="1500" dirty="0"/>
          </a:p>
        </p:txBody>
      </p:sp>
      <p:sp>
        <p:nvSpPr>
          <p:cNvPr id="7" name="Shape 5"/>
          <p:cNvSpPr/>
          <p:nvPr/>
        </p:nvSpPr>
        <p:spPr>
          <a:xfrm>
            <a:off x="804672" y="2103120"/>
            <a:ext cx="4983480" cy="1691640"/>
          </a:xfrm>
          <a:prstGeom prst="roundRect">
            <a:avLst>
              <a:gd name="adj" fmla="val 3784"/>
            </a:avLst>
          </a:prstGeom>
          <a:solidFill>
            <a:srgbClr val="1B2B45"/>
          </a:solidFill>
          <a:ln w="12700">
            <a:solidFill>
              <a:srgbClr val="1B2B45"/>
            </a:solidFill>
            <a:prstDash val="solid"/>
          </a:ln>
        </p:spPr>
      </p:sp>
      <p:sp>
        <p:nvSpPr>
          <p:cNvPr id="8" name="Text 6"/>
          <p:cNvSpPr txBox="1"/>
          <p:nvPr/>
        </p:nvSpPr>
        <p:spPr>
          <a:xfrm>
            <a:off x="969264" y="2212848"/>
            <a:ext cx="4654296" cy="14721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{n * n for n in [1, 2, 2, 3]}</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{1, 4, 9}      duplicates dropped</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{w.lower() for w in names}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unique lowercase names</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{len(w) for w in words}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the distinct word lengths</a:t>
            </a:r>
            <a:endParaRPr lang="en-US" sz="1050" dirty="0"/>
          </a:p>
        </p:txBody>
      </p:sp>
      <p:sp>
        <p:nvSpPr>
          <p:cNvPr id="9" name="Shape 7"/>
          <p:cNvSpPr/>
          <p:nvPr/>
        </p:nvSpPr>
        <p:spPr>
          <a:xfrm>
            <a:off x="6309360" y="1572768"/>
            <a:ext cx="5303520" cy="2377440"/>
          </a:xfrm>
          <a:prstGeom prst="roundRect">
            <a:avLst>
              <a:gd name="adj" fmla="val 3462"/>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There is no tuple comprehension</a:t>
            </a:r>
            <a:endParaRPr lang="en-US" sz="1500" dirty="0"/>
          </a:p>
        </p:txBody>
      </p:sp>
      <p:sp>
        <p:nvSpPr>
          <p:cNvPr id="11" name="Shape 9"/>
          <p:cNvSpPr/>
          <p:nvPr/>
        </p:nvSpPr>
        <p:spPr>
          <a:xfrm>
            <a:off x="6565392" y="2103120"/>
            <a:ext cx="4800600" cy="1051560"/>
          </a:xfrm>
          <a:prstGeom prst="roundRect">
            <a:avLst>
              <a:gd name="adj" fmla="val 6087"/>
            </a:avLst>
          </a:prstGeom>
          <a:solidFill>
            <a:srgbClr val="1B2B45"/>
          </a:solidFill>
          <a:ln w="12700">
            <a:solidFill>
              <a:srgbClr val="1B2B45"/>
            </a:solidFill>
            <a:prstDash val="solid"/>
          </a:ln>
        </p:spPr>
      </p:sp>
      <p:sp>
        <p:nvSpPr>
          <p:cNvPr id="12" name="Text 10"/>
          <p:cNvSpPr txBox="1"/>
          <p:nvPr/>
        </p:nvSpPr>
        <p:spPr>
          <a:xfrm>
            <a:off x="6729984" y="2212848"/>
            <a:ext cx="4471416" cy="83210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(n * n for n in nums)</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NOT a tuple.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This is a GENERATOR.</a:t>
            </a:r>
            <a:endParaRPr lang="en-US" sz="1050" dirty="0"/>
          </a:p>
        </p:txBody>
      </p:sp>
      <p:sp>
        <p:nvSpPr>
          <p:cNvPr id="13" name="Text 11"/>
          <p:cNvSpPr txBox="1"/>
          <p:nvPr/>
        </p:nvSpPr>
        <p:spPr>
          <a:xfrm>
            <a:off x="6565392" y="3246120"/>
            <a:ext cx="4800600" cy="59436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Round brackets make something different, not a tuple version of the same thing. If you want a tuple, build a list and convert it: tuple([n*n for n in nums]).</a:t>
            </a:r>
            <a:endParaRPr lang="en-US" sz="1200" dirty="0"/>
          </a:p>
        </p:txBody>
      </p:sp>
      <p:sp>
        <p:nvSpPr>
          <p:cNvPr id="14" name="Shape 12"/>
          <p:cNvSpPr/>
          <p:nvPr/>
        </p:nvSpPr>
        <p:spPr>
          <a:xfrm>
            <a:off x="548640" y="4114800"/>
            <a:ext cx="11064240" cy="1783080"/>
          </a:xfrm>
          <a:prstGeom prst="roundRect">
            <a:avLst>
              <a:gd name="adj" fmla="val 461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822960" y="4261104"/>
            <a:ext cx="5486400" cy="292608"/>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The three brackets, side by side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4572000"/>
          <a:ext cx="10515600" cy="914400"/>
        </p:xfrm>
        <a:graphic>
          <a:graphicData uri="http://schemas.openxmlformats.org/drawingml/2006/table">
            <a:tbl>
              <a:tblPr/>
              <a:tblGrid>
                <a:gridCol w="3657600"/>
                <a:gridCol w="2377440"/>
                <a:gridCol w="4480560"/>
              </a:tblGrid>
              <a:tr h="25603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write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get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Because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56032">
                <a:tc>
                  <a:txBody>
                    <a:bodyPr/>
                    <a:lstStyle/>
                    <a:p>
                      <a:pPr indent="0" marL="0">
                        <a:buNone/>
                      </a:pPr>
                      <a:r>
                        <a:rPr lang="en-US" sz="1150" b="1" dirty="0">
                          <a:solidFill>
                            <a:srgbClr val="1F3A5F"/>
                          </a:solidFill>
                          <a:latin typeface="Courier New" pitchFamily="34" charset="0"/>
                          <a:ea typeface="Courier New" pitchFamily="34" charset="-122"/>
                          <a:cs typeface="Courier New" pitchFamily="34" charset="-120"/>
                        </a:rPr>
                        <a:t>[n for n in x]</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a list</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square brackets</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150" b="1" dirty="0">
                          <a:solidFill>
                            <a:srgbClr val="1F3A5F"/>
                          </a:solidFill>
                          <a:latin typeface="Courier New" pitchFamily="34" charset="0"/>
                          <a:ea typeface="Courier New" pitchFamily="34" charset="-122"/>
                          <a:cs typeface="Courier New" pitchFamily="34" charset="-120"/>
                        </a:rPr>
                        <a:t>{n for n in x}</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a set</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curly brackets, no colon</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150" b="1" dirty="0">
                          <a:solidFill>
                            <a:srgbClr val="1F3A5F"/>
                          </a:solidFill>
                          <a:latin typeface="Courier New" pitchFamily="34" charset="0"/>
                          <a:ea typeface="Courier New" pitchFamily="34" charset="-122"/>
                          <a:cs typeface="Courier New" pitchFamily="34" charset="-120"/>
                        </a:rPr>
                        <a:t>{k: v for k, v in x}</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a dict</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curly brackets WITH a colon</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150" b="1" dirty="0">
                          <a:solidFill>
                            <a:srgbClr val="1F3A5F"/>
                          </a:solidFill>
                          <a:latin typeface="Courier New" pitchFamily="34" charset="0"/>
                          <a:ea typeface="Courier New" pitchFamily="34" charset="-122"/>
                          <a:cs typeface="Courier New" pitchFamily="34" charset="-120"/>
                        </a:rPr>
                        <a:t>(n for n in x)</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a generator</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50" dirty="0">
                          <a:solidFill>
                            <a:srgbClr val="2B3445"/>
                          </a:solidFill>
                          <a:latin typeface="Calibri" pitchFamily="34" charset="0"/>
                          <a:ea typeface="Calibri" pitchFamily="34" charset="-122"/>
                          <a:cs typeface="Calibri" pitchFamily="34" charset="-120"/>
                        </a:rPr>
                        <a:t>round brackets — see section 3</a:t>
                      </a:r>
                      <a:endParaRPr lang="en-US" sz="11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Going Further</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Nesting and generators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Two loops in one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Nested comprehensions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Generator expressions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NESTING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loops inside one comprehension</a:t>
            </a:r>
            <a:endParaRPr lang="en-US" sz="3200" dirty="0"/>
          </a:p>
        </p:txBody>
      </p:sp>
      <p:sp>
        <p:nvSpPr>
          <p:cNvPr id="5" name="Shape 3"/>
          <p:cNvSpPr/>
          <p:nvPr/>
        </p:nvSpPr>
        <p:spPr>
          <a:xfrm>
            <a:off x="548640" y="1572768"/>
            <a:ext cx="5760720" cy="2560320"/>
          </a:xfrm>
          <a:prstGeom prst="roundRect">
            <a:avLst>
              <a:gd name="adj" fmla="val 321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Flattening a nested list</a:t>
            </a:r>
            <a:endParaRPr lang="en-US" sz="1500" dirty="0"/>
          </a:p>
        </p:txBody>
      </p:sp>
      <p:sp>
        <p:nvSpPr>
          <p:cNvPr id="7" name="Shape 5"/>
          <p:cNvSpPr/>
          <p:nvPr/>
        </p:nvSpPr>
        <p:spPr>
          <a:xfrm>
            <a:off x="804672" y="2103120"/>
            <a:ext cx="5257800" cy="1051560"/>
          </a:xfrm>
          <a:prstGeom prst="roundRect">
            <a:avLst>
              <a:gd name="adj" fmla="val 6087"/>
            </a:avLst>
          </a:prstGeom>
          <a:solidFill>
            <a:srgbClr val="1B2B45"/>
          </a:solidFill>
          <a:ln w="12700">
            <a:solidFill>
              <a:srgbClr val="1B2B45"/>
            </a:solidFill>
            <a:prstDash val="solid"/>
          </a:ln>
        </p:spPr>
      </p:sp>
      <p:sp>
        <p:nvSpPr>
          <p:cNvPr id="8" name="Text 6"/>
          <p:cNvSpPr txBox="1"/>
          <p:nvPr/>
        </p:nvSpPr>
        <p:spPr>
          <a:xfrm>
            <a:off x="969264" y="2212848"/>
            <a:ext cx="4928616" cy="83210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flat = []</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for row in matrix:</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for n in row:</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flat.append(n)</a:t>
            </a:r>
            <a:endParaRPr lang="en-US" sz="1100" dirty="0"/>
          </a:p>
        </p:txBody>
      </p:sp>
      <p:sp>
        <p:nvSpPr>
          <p:cNvPr id="9" name="Shape 7"/>
          <p:cNvSpPr/>
          <p:nvPr/>
        </p:nvSpPr>
        <p:spPr>
          <a:xfrm>
            <a:off x="804672" y="3246120"/>
            <a:ext cx="5257800" cy="502920"/>
          </a:xfrm>
          <a:prstGeom prst="roundRect">
            <a:avLst>
              <a:gd name="adj" fmla="val 12727"/>
            </a:avLst>
          </a:prstGeom>
          <a:solidFill>
            <a:srgbClr val="1B2B45"/>
          </a:solidFill>
          <a:ln w="12700">
            <a:solidFill>
              <a:srgbClr val="1B2B45"/>
            </a:solidFill>
            <a:prstDash val="solid"/>
          </a:ln>
        </p:spPr>
      </p:sp>
      <p:sp>
        <p:nvSpPr>
          <p:cNvPr id="10" name="Text 8"/>
          <p:cNvSpPr txBox="1"/>
          <p:nvPr/>
        </p:nvSpPr>
        <p:spPr>
          <a:xfrm>
            <a:off x="969264" y="3355848"/>
            <a:ext cx="4928616" cy="2834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flat = [n for row in matrix for n in row]</a:t>
            </a:r>
            <a:endParaRPr lang="en-US" sz="1100" dirty="0"/>
          </a:p>
        </p:txBody>
      </p:sp>
      <p:sp>
        <p:nvSpPr>
          <p:cNvPr id="11" name="Text 9"/>
          <p:cNvSpPr txBox="1"/>
          <p:nvPr/>
        </p:nvSpPr>
        <p:spPr>
          <a:xfrm>
            <a:off x="804672" y="3822192"/>
            <a:ext cx="5257800" cy="27432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The two for clauses appear in the SAME order as the nested loops — outer first, then inner.</a:t>
            </a:r>
            <a:endParaRPr lang="en-US" sz="1150" dirty="0"/>
          </a:p>
        </p:txBody>
      </p:sp>
      <p:sp>
        <p:nvSpPr>
          <p:cNvPr id="12" name="Shape 10"/>
          <p:cNvSpPr/>
          <p:nvPr/>
        </p:nvSpPr>
        <p:spPr>
          <a:xfrm>
            <a:off x="6583680" y="1572768"/>
            <a:ext cx="5029200" cy="2560320"/>
          </a:xfrm>
          <a:prstGeom prst="roundRect">
            <a:avLst>
              <a:gd name="adj" fmla="val 3214"/>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The order feels backwards at first</a:t>
            </a:r>
            <a:endParaRPr lang="en-US" sz="1500" dirty="0"/>
          </a:p>
        </p:txBody>
      </p:sp>
      <p:sp>
        <p:nvSpPr>
          <p:cNvPr id="14" name="Text 12"/>
          <p:cNvSpPr txBox="1"/>
          <p:nvPr/>
        </p:nvSpPr>
        <p:spPr>
          <a:xfrm>
            <a:off x="6839712" y="2103120"/>
            <a:ext cx="4526280" cy="100584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The expression comes first, then the loops read left-to-right exactly as you would write them stacked. Many people instinctively reverse the two for clauses — and get a NameError, because the inner variable does not exist yet.</a:t>
            </a:r>
            <a:endParaRPr lang="en-US" sz="1250" dirty="0"/>
          </a:p>
        </p:txBody>
      </p:sp>
      <p:sp>
        <p:nvSpPr>
          <p:cNvPr id="15" name="Shape 13"/>
          <p:cNvSpPr/>
          <p:nvPr/>
        </p:nvSpPr>
        <p:spPr>
          <a:xfrm>
            <a:off x="6839712" y="3200400"/>
            <a:ext cx="4526280" cy="822960"/>
          </a:xfrm>
          <a:prstGeom prst="roundRect">
            <a:avLst>
              <a:gd name="adj" fmla="val 7778"/>
            </a:avLst>
          </a:prstGeom>
          <a:solidFill>
            <a:srgbClr val="1B2B45"/>
          </a:solidFill>
          <a:ln w="12700">
            <a:solidFill>
              <a:srgbClr val="1B2B45"/>
            </a:solidFill>
            <a:prstDash val="solid"/>
          </a:ln>
        </p:spPr>
      </p:sp>
      <p:sp>
        <p:nvSpPr>
          <p:cNvPr id="16" name="Text 14"/>
          <p:cNvSpPr txBox="1"/>
          <p:nvPr/>
        </p:nvSpPr>
        <p:spPr>
          <a:xfrm>
            <a:off x="7004304" y="3310128"/>
            <a:ext cx="4197096" cy="60350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 for n in row for row in matrix]</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NameError: name 'row' is not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defined</a:t>
            </a:r>
            <a:endParaRPr lang="en-US" sz="1000" dirty="0"/>
          </a:p>
        </p:txBody>
      </p:sp>
      <p:sp>
        <p:nvSpPr>
          <p:cNvPr id="17" name="Shape 15"/>
          <p:cNvSpPr/>
          <p:nvPr/>
        </p:nvSpPr>
        <p:spPr>
          <a:xfrm>
            <a:off x="548640" y="4297680"/>
            <a:ext cx="11064240" cy="1600200"/>
          </a:xfrm>
          <a:prstGeom prst="roundRect">
            <a:avLst>
              <a:gd name="adj" fmla="val 514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Text 16"/>
          <p:cNvSpPr txBox="1"/>
          <p:nvPr/>
        </p:nvSpPr>
        <p:spPr>
          <a:xfrm>
            <a:off x="822960" y="4443984"/>
            <a:ext cx="6400800" cy="292608"/>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Building a grid — a comprehension inside a comprehension</a:t>
            </a:r>
            <a:endParaRPr lang="en-US" sz="1450" dirty="0"/>
          </a:p>
        </p:txBody>
      </p:sp>
      <p:sp>
        <p:nvSpPr>
          <p:cNvPr id="19" name="Shape 17"/>
          <p:cNvSpPr/>
          <p:nvPr/>
        </p:nvSpPr>
        <p:spPr>
          <a:xfrm>
            <a:off x="822960" y="4754880"/>
            <a:ext cx="5212080" cy="960120"/>
          </a:xfrm>
          <a:prstGeom prst="roundRect">
            <a:avLst>
              <a:gd name="adj" fmla="val 6667"/>
            </a:avLst>
          </a:prstGeom>
          <a:solidFill>
            <a:srgbClr val="1B2B45"/>
          </a:solidFill>
          <a:ln w="12700">
            <a:solidFill>
              <a:srgbClr val="1B2B45"/>
            </a:solidFill>
            <a:prstDash val="solid"/>
          </a:ln>
        </p:spPr>
      </p:sp>
      <p:sp>
        <p:nvSpPr>
          <p:cNvPr id="20" name="Text 18"/>
          <p:cNvSpPr txBox="1"/>
          <p:nvPr/>
        </p:nvSpPr>
        <p:spPr>
          <a:xfrm>
            <a:off x="987552" y="4864608"/>
            <a:ext cx="4882896" cy="7406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table = [[i * j for j in range(1, 4)]</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for i in range(1, 4)]</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[[1,2,3], [2,4,6], [3,6,9]]</a:t>
            </a:r>
            <a:endParaRPr lang="en-US" sz="1050" dirty="0"/>
          </a:p>
        </p:txBody>
      </p:sp>
      <p:sp>
        <p:nvSpPr>
          <p:cNvPr id="21" name="Text 19"/>
          <p:cNvSpPr txBox="1"/>
          <p:nvPr/>
        </p:nvSpPr>
        <p:spPr>
          <a:xfrm>
            <a:off x="6400800" y="4736592"/>
            <a:ext cx="4983480" cy="100584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Note the difference: flattening uses two for clauses in ONE set of brackets and gives a flat list. This uses a whole comprehension as the expression, so each outer pass produces a complete inner list — and you get a list of lists.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GENERATORS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Generator expressions — the lazy cousin</a:t>
            </a:r>
            <a:endParaRPr lang="en-US" sz="3200" dirty="0"/>
          </a:p>
        </p:txBody>
      </p:sp>
      <p:sp>
        <p:nvSpPr>
          <p:cNvPr id="5" name="Shape 3"/>
          <p:cNvSpPr/>
          <p:nvPr/>
        </p:nvSpPr>
        <p:spPr>
          <a:xfrm>
            <a:off x="548640" y="1572768"/>
            <a:ext cx="5486400" cy="2468880"/>
          </a:xfrm>
          <a:prstGeom prst="roundRect">
            <a:avLst>
              <a:gd name="adj" fmla="val 333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Round brackets instead of square</a:t>
            </a:r>
            <a:endParaRPr lang="en-US" sz="1500" dirty="0"/>
          </a:p>
        </p:txBody>
      </p:sp>
      <p:sp>
        <p:nvSpPr>
          <p:cNvPr id="7" name="Shape 5"/>
          <p:cNvSpPr/>
          <p:nvPr/>
        </p:nvSpPr>
        <p:spPr>
          <a:xfrm>
            <a:off x="804672" y="2103120"/>
            <a:ext cx="4983480" cy="1783080"/>
          </a:xfrm>
          <a:prstGeom prst="roundRect">
            <a:avLst>
              <a:gd name="adj" fmla="val 3590"/>
            </a:avLst>
          </a:prstGeom>
          <a:solidFill>
            <a:srgbClr val="1B2B45"/>
          </a:solidFill>
          <a:ln w="12700">
            <a:solidFill>
              <a:srgbClr val="1B2B45"/>
            </a:solidFill>
            <a:prstDash val="solid"/>
          </a:ln>
        </p:spPr>
      </p:sp>
      <p:sp>
        <p:nvSpPr>
          <p:cNvPr id="8" name="Text 6"/>
          <p:cNvSpPr txBox="1"/>
          <p:nvPr/>
        </p:nvSpPr>
        <p:spPr>
          <a:xfrm>
            <a:off x="969264" y="2212848"/>
            <a:ext cx="4654296" cy="15636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squares = [n*n for n in range(1000000)]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builds a MILLION values in memory</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squares = (n*n for n in range(1000000))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builds NOTHING yet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produces each value only when asked</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sum(n*n for n in range(1000000))   # brackets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 optional here</a:t>
            </a:r>
            <a:endParaRPr lang="en-US" sz="1000" dirty="0"/>
          </a:p>
        </p:txBody>
      </p:sp>
      <p:sp>
        <p:nvSpPr>
          <p:cNvPr id="9" name="Shape 7"/>
          <p:cNvSpPr/>
          <p:nvPr/>
        </p:nvSpPr>
        <p:spPr>
          <a:xfrm>
            <a:off x="6309360" y="1572768"/>
            <a:ext cx="5303520" cy="2468880"/>
          </a:xfrm>
          <a:prstGeom prst="roundRect">
            <a:avLst>
              <a:gd name="adj" fmla="val 333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When it is worth it</a:t>
            </a:r>
            <a:endParaRPr lang="en-US" sz="1500" dirty="0"/>
          </a:p>
        </p:txBody>
      </p:sp>
      <p:sp>
        <p:nvSpPr>
          <p:cNvPr id="11" name="Text 9"/>
          <p:cNvSpPr txBox="1"/>
          <p:nvPr/>
        </p:nvSpPr>
        <p:spPr>
          <a:xfrm>
            <a:off x="6675120" y="2103120"/>
            <a:ext cx="4572000" cy="1874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You only need to pass through the data once</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You are feeding it straight into sum(), max(), any() or a for loop</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The data is large enough that holding it all in memory matters</a:t>
            </a:r>
            <a:endParaRPr lang="en-US" sz="1250" dirty="0"/>
          </a:p>
        </p:txBody>
      </p:sp>
      <p:sp>
        <p:nvSpPr>
          <p:cNvPr id="12" name="Shape 10"/>
          <p:cNvSpPr/>
          <p:nvPr/>
        </p:nvSpPr>
        <p:spPr>
          <a:xfrm>
            <a:off x="548640" y="4206240"/>
            <a:ext cx="11064240" cy="1691640"/>
          </a:xfrm>
          <a:prstGeom prst="roundRect">
            <a:avLst>
              <a:gd name="adj" fmla="val 4865"/>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868680" y="4352544"/>
            <a:ext cx="6400800" cy="292608"/>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A generator is used up after one pass</a:t>
            </a:r>
            <a:endParaRPr lang="en-US" sz="1450" dirty="0"/>
          </a:p>
        </p:txBody>
      </p:sp>
      <p:sp>
        <p:nvSpPr>
          <p:cNvPr id="14" name="Shape 12"/>
          <p:cNvSpPr/>
          <p:nvPr/>
        </p:nvSpPr>
        <p:spPr>
          <a:xfrm>
            <a:off x="868680" y="4681728"/>
            <a:ext cx="5212080" cy="960120"/>
          </a:xfrm>
          <a:prstGeom prst="roundRect">
            <a:avLst>
              <a:gd name="adj" fmla="val 6667"/>
            </a:avLst>
          </a:prstGeom>
          <a:solidFill>
            <a:srgbClr val="1B2B45"/>
          </a:solidFill>
          <a:ln w="12700">
            <a:solidFill>
              <a:srgbClr val="1B2B45"/>
            </a:solidFill>
            <a:prstDash val="solid"/>
          </a:ln>
        </p:spPr>
      </p:sp>
      <p:sp>
        <p:nvSpPr>
          <p:cNvPr id="15" name="Text 13"/>
          <p:cNvSpPr txBox="1"/>
          <p:nvPr/>
        </p:nvSpPr>
        <p:spPr>
          <a:xfrm>
            <a:off x="1033272" y="4791456"/>
            <a:ext cx="4882896" cy="7406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g = (n for n in [1, 2, 3])</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sum(g)    -&gt;  6</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sum(g)    -&gt;  0    !  it is exhausted</a:t>
            </a:r>
            <a:endParaRPr lang="en-US" sz="1050" dirty="0"/>
          </a:p>
        </p:txBody>
      </p:sp>
      <p:sp>
        <p:nvSpPr>
          <p:cNvPr id="16" name="Text 14"/>
          <p:cNvSpPr txBox="1"/>
          <p:nvPr/>
        </p:nvSpPr>
        <p:spPr>
          <a:xfrm>
            <a:off x="6400800" y="4663440"/>
            <a:ext cx="4983480" cy="10058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A list can be looped over as many times as you like. A generator hands out its values once and is then empty — with no error to warn you, just a wrong answer. Use a list unless you have a specific reason not to; today this is recognition-level knowledge.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When NOT To Use One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Readability is the whole point  ·  10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limits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Side effects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Scope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JUDGEMENT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When a plain loop is the better answer</a:t>
            </a:r>
            <a:endParaRPr lang="en-US" sz="3200" dirty="0"/>
          </a:p>
        </p:txBody>
      </p:sp>
      <p:sp>
        <p:nvSpPr>
          <p:cNvPr id="5" name="Shape 3"/>
          <p:cNvSpPr/>
          <p:nvPr/>
        </p:nvSpPr>
        <p:spPr>
          <a:xfrm>
            <a:off x="548640" y="1572768"/>
            <a:ext cx="3520440" cy="3200400"/>
          </a:xfrm>
          <a:prstGeom prst="roundRect">
            <a:avLst>
              <a:gd name="adj" fmla="val 2571"/>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402336" cy="402336"/>
          </a:xfrm>
          <a:prstGeom prst="ellipse">
            <a:avLst/>
          </a:prstGeom>
          <a:solidFill>
            <a:srgbClr val="E8674C"/>
          </a:solidFill>
          <a:ln w="12700">
            <a:solidFill>
              <a:srgbClr val="E8674C"/>
            </a:solidFill>
            <a:prstDash val="solid"/>
          </a:ln>
        </p:spPr>
      </p:sp>
      <p:sp>
        <p:nvSpPr>
          <p:cNvPr id="7" name="Text 5"/>
          <p:cNvSpPr txBox="1"/>
          <p:nvPr/>
        </p:nvSpPr>
        <p:spPr>
          <a:xfrm>
            <a:off x="777240"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755648"/>
            <a:ext cx="2606040" cy="548640"/>
          </a:xfrm>
          <a:prstGeom prst="rect">
            <a:avLst/>
          </a:prstGeom>
          <a:noFill/>
          <a:ln/>
        </p:spPr>
        <p:txBody>
          <a:bodyPr wrap="square" lIns="0" tIns="0" rIns="0" bIns="0" rtlCol="0" anchor="ctr"/>
          <a:lstStyle/>
          <a:p>
            <a:pPr indent="0" marL="0">
              <a:lnSpc>
                <a:spcPct val="110000"/>
              </a:lnSpc>
              <a:buNone/>
            </a:pPr>
            <a:r>
              <a:rPr lang="en-US" sz="1350" b="1" dirty="0">
                <a:solidFill>
                  <a:srgbClr val="A63B24"/>
                </a:solidFill>
                <a:latin typeface="Calibri" pitchFamily="34" charset="0"/>
                <a:ea typeface="Calibri" pitchFamily="34" charset="-122"/>
                <a:cs typeface="Calibri" pitchFamily="34" charset="-120"/>
              </a:rPr>
              <a:t>Too much logic packed in</a:t>
            </a:r>
            <a:endParaRPr lang="en-US" sz="1350" dirty="0"/>
          </a:p>
        </p:txBody>
      </p:sp>
      <p:sp>
        <p:nvSpPr>
          <p:cNvPr id="9" name="Shape 7"/>
          <p:cNvSpPr/>
          <p:nvPr/>
        </p:nvSpPr>
        <p:spPr>
          <a:xfrm>
            <a:off x="777240" y="2395728"/>
            <a:ext cx="3063240" cy="1417320"/>
          </a:xfrm>
          <a:prstGeom prst="roundRect">
            <a:avLst>
              <a:gd name="adj" fmla="val 4516"/>
            </a:avLst>
          </a:prstGeom>
          <a:solidFill>
            <a:srgbClr val="1B2B45"/>
          </a:solidFill>
          <a:ln w="12700">
            <a:solidFill>
              <a:srgbClr val="1B2B45"/>
            </a:solidFill>
            <a:prstDash val="solid"/>
          </a:ln>
        </p:spPr>
      </p:sp>
      <p:sp>
        <p:nvSpPr>
          <p:cNvPr id="10" name="Text 8"/>
          <p:cNvSpPr txBox="1"/>
          <p:nvPr/>
        </p:nvSpPr>
        <p:spPr>
          <a:xfrm>
            <a:off x="941832" y="2505456"/>
            <a:ext cx="2734056" cy="11978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[transform(x) if check(x) else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fallback(x) for row in data</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for x in row if x and valid(x)]</a:t>
            </a:r>
            <a:endParaRPr lang="en-US" sz="900" dirty="0"/>
          </a:p>
        </p:txBody>
      </p:sp>
      <p:sp>
        <p:nvSpPr>
          <p:cNvPr id="11" name="Text 9"/>
          <p:cNvSpPr txBox="1"/>
          <p:nvPr/>
        </p:nvSpPr>
        <p:spPr>
          <a:xfrm>
            <a:off x="795528" y="3913632"/>
            <a:ext cx="3017520" cy="73152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Nobody can read this — including you, next month. Use a loop.</a:t>
            </a:r>
            <a:endParaRPr lang="en-US" sz="1150" dirty="0"/>
          </a:p>
        </p:txBody>
      </p:sp>
      <p:sp>
        <p:nvSpPr>
          <p:cNvPr id="12" name="Shape 10"/>
          <p:cNvSpPr/>
          <p:nvPr/>
        </p:nvSpPr>
        <p:spPr>
          <a:xfrm>
            <a:off x="4279392" y="1572768"/>
            <a:ext cx="3520440" cy="3200400"/>
          </a:xfrm>
          <a:prstGeom prst="roundRect">
            <a:avLst>
              <a:gd name="adj" fmla="val 2571"/>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4507992" y="1783080"/>
            <a:ext cx="402336" cy="402336"/>
          </a:xfrm>
          <a:prstGeom prst="ellipse">
            <a:avLst/>
          </a:prstGeom>
          <a:solidFill>
            <a:srgbClr val="E8674C"/>
          </a:solidFill>
          <a:ln w="12700">
            <a:solidFill>
              <a:srgbClr val="E8674C"/>
            </a:solidFill>
            <a:prstDash val="solid"/>
          </a:ln>
        </p:spPr>
      </p:sp>
      <p:sp>
        <p:nvSpPr>
          <p:cNvPr id="14" name="Text 12"/>
          <p:cNvSpPr txBox="1"/>
          <p:nvPr/>
        </p:nvSpPr>
        <p:spPr>
          <a:xfrm>
            <a:off x="4507992"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5029200" y="1755648"/>
            <a:ext cx="2606040" cy="548640"/>
          </a:xfrm>
          <a:prstGeom prst="rect">
            <a:avLst/>
          </a:prstGeom>
          <a:noFill/>
          <a:ln/>
        </p:spPr>
        <p:txBody>
          <a:bodyPr wrap="square" lIns="0" tIns="0" rIns="0" bIns="0" rtlCol="0" anchor="ctr"/>
          <a:lstStyle/>
          <a:p>
            <a:pPr indent="0" marL="0">
              <a:lnSpc>
                <a:spcPct val="110000"/>
              </a:lnSpc>
              <a:buNone/>
            </a:pPr>
            <a:r>
              <a:rPr lang="en-US" sz="1350" b="1" dirty="0">
                <a:solidFill>
                  <a:srgbClr val="A63B24"/>
                </a:solidFill>
                <a:latin typeface="Calibri" pitchFamily="34" charset="0"/>
                <a:ea typeface="Calibri" pitchFamily="34" charset="-122"/>
                <a:cs typeface="Calibri" pitchFamily="34" charset="-120"/>
              </a:rPr>
              <a:t>You only want a side effect</a:t>
            </a:r>
            <a:endParaRPr lang="en-US" sz="1350" dirty="0"/>
          </a:p>
        </p:txBody>
      </p:sp>
      <p:sp>
        <p:nvSpPr>
          <p:cNvPr id="16" name="Shape 14"/>
          <p:cNvSpPr/>
          <p:nvPr/>
        </p:nvSpPr>
        <p:spPr>
          <a:xfrm>
            <a:off x="4507992" y="2395728"/>
            <a:ext cx="3063240" cy="1417320"/>
          </a:xfrm>
          <a:prstGeom prst="roundRect">
            <a:avLst>
              <a:gd name="adj" fmla="val 4516"/>
            </a:avLst>
          </a:prstGeom>
          <a:solidFill>
            <a:srgbClr val="1B2B45"/>
          </a:solidFill>
          <a:ln w="12700">
            <a:solidFill>
              <a:srgbClr val="1B2B45"/>
            </a:solidFill>
            <a:prstDash val="solid"/>
          </a:ln>
        </p:spPr>
      </p:sp>
      <p:sp>
        <p:nvSpPr>
          <p:cNvPr id="17" name="Text 15"/>
          <p:cNvSpPr txBox="1"/>
          <p:nvPr/>
        </p:nvSpPr>
        <p:spPr>
          <a:xfrm>
            <a:off x="4672584" y="2505456"/>
            <a:ext cx="2734056" cy="11978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[print(n) for n in nums]</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builds a list of None values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and throws it away</a:t>
            </a:r>
            <a:endParaRPr lang="en-US" sz="900" dirty="0"/>
          </a:p>
        </p:txBody>
      </p:sp>
      <p:sp>
        <p:nvSpPr>
          <p:cNvPr id="18" name="Text 16"/>
          <p:cNvSpPr txBox="1"/>
          <p:nvPr/>
        </p:nvSpPr>
        <p:spPr>
          <a:xfrm>
            <a:off x="4526280" y="3913632"/>
            <a:ext cx="3017520" cy="73152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If you are not building a collection, write a for loop.</a:t>
            </a:r>
            <a:endParaRPr lang="en-US" sz="1150" dirty="0"/>
          </a:p>
        </p:txBody>
      </p:sp>
      <p:sp>
        <p:nvSpPr>
          <p:cNvPr id="19" name="Shape 17"/>
          <p:cNvSpPr/>
          <p:nvPr/>
        </p:nvSpPr>
        <p:spPr>
          <a:xfrm>
            <a:off x="8010144" y="1572768"/>
            <a:ext cx="3520440" cy="3200400"/>
          </a:xfrm>
          <a:prstGeom prst="roundRect">
            <a:avLst>
              <a:gd name="adj" fmla="val 2571"/>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0" name="Shape 18"/>
          <p:cNvSpPr/>
          <p:nvPr/>
        </p:nvSpPr>
        <p:spPr>
          <a:xfrm>
            <a:off x="8238744" y="1783080"/>
            <a:ext cx="402336" cy="402336"/>
          </a:xfrm>
          <a:prstGeom prst="ellipse">
            <a:avLst/>
          </a:prstGeom>
          <a:solidFill>
            <a:srgbClr val="E8674C"/>
          </a:solidFill>
          <a:ln w="12700">
            <a:solidFill>
              <a:srgbClr val="E8674C"/>
            </a:solidFill>
            <a:prstDash val="solid"/>
          </a:ln>
        </p:spPr>
      </p:sp>
      <p:sp>
        <p:nvSpPr>
          <p:cNvPr id="21" name="Text 19"/>
          <p:cNvSpPr txBox="1"/>
          <p:nvPr/>
        </p:nvSpPr>
        <p:spPr>
          <a:xfrm>
            <a:off x="8238744"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8759952" y="1755648"/>
            <a:ext cx="2606040" cy="548640"/>
          </a:xfrm>
          <a:prstGeom prst="rect">
            <a:avLst/>
          </a:prstGeom>
          <a:noFill/>
          <a:ln/>
        </p:spPr>
        <p:txBody>
          <a:bodyPr wrap="square" lIns="0" tIns="0" rIns="0" bIns="0" rtlCol="0" anchor="ctr"/>
          <a:lstStyle/>
          <a:p>
            <a:pPr indent="0" marL="0">
              <a:lnSpc>
                <a:spcPct val="110000"/>
              </a:lnSpc>
              <a:buNone/>
            </a:pPr>
            <a:r>
              <a:rPr lang="en-US" sz="1350" b="1" dirty="0">
                <a:solidFill>
                  <a:srgbClr val="A63B24"/>
                </a:solidFill>
                <a:latin typeface="Calibri" pitchFamily="34" charset="0"/>
                <a:ea typeface="Calibri" pitchFamily="34" charset="-122"/>
                <a:cs typeface="Calibri" pitchFamily="34" charset="-120"/>
              </a:rPr>
              <a:t>The body needs several steps</a:t>
            </a:r>
            <a:endParaRPr lang="en-US" sz="1350" dirty="0"/>
          </a:p>
        </p:txBody>
      </p:sp>
      <p:sp>
        <p:nvSpPr>
          <p:cNvPr id="23" name="Shape 21"/>
          <p:cNvSpPr/>
          <p:nvPr/>
        </p:nvSpPr>
        <p:spPr>
          <a:xfrm>
            <a:off x="8238744" y="2395728"/>
            <a:ext cx="3063240" cy="1417320"/>
          </a:xfrm>
          <a:prstGeom prst="roundRect">
            <a:avLst>
              <a:gd name="adj" fmla="val 4516"/>
            </a:avLst>
          </a:prstGeom>
          <a:solidFill>
            <a:srgbClr val="1B2B45"/>
          </a:solidFill>
          <a:ln w="12700">
            <a:solidFill>
              <a:srgbClr val="1B2B45"/>
            </a:solidFill>
            <a:prstDash val="solid"/>
          </a:ln>
        </p:spPr>
      </p:sp>
      <p:sp>
        <p:nvSpPr>
          <p:cNvPr id="24" name="Text 22"/>
          <p:cNvSpPr txBox="1"/>
          <p:nvPr/>
        </p:nvSpPr>
        <p:spPr>
          <a:xfrm>
            <a:off x="8403336" y="2505456"/>
            <a:ext cx="2734056" cy="11978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for row in rows: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row = clean(row)</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not row: continue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log(row)</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out.append(row)</a:t>
            </a:r>
            <a:endParaRPr lang="en-US" sz="900" dirty="0"/>
          </a:p>
        </p:txBody>
      </p:sp>
      <p:sp>
        <p:nvSpPr>
          <p:cNvPr id="25" name="Text 23"/>
          <p:cNvSpPr txBox="1"/>
          <p:nvPr/>
        </p:nvSpPr>
        <p:spPr>
          <a:xfrm>
            <a:off x="8257032" y="3913632"/>
            <a:ext cx="3017520" cy="731520"/>
          </a:xfrm>
          <a:prstGeom prst="rect">
            <a:avLst/>
          </a:prstGeom>
          <a:noFill/>
          <a:ln/>
        </p:spPr>
        <p:txBody>
          <a:bodyPr wrap="square" lIns="0" tIns="0" rIns="0" bIns="0" rtlCol="0" anchor="ctr"/>
          <a:lstStyle/>
          <a:p>
            <a:pPr indent="0" marL="0">
              <a:lnSpc>
                <a:spcPct val="115000"/>
              </a:lnSpc>
              <a:buNone/>
            </a:pPr>
            <a:r>
              <a:rPr lang="en-US" sz="1150" dirty="0">
                <a:solidFill>
                  <a:srgbClr val="6B4A0B"/>
                </a:solidFill>
                <a:latin typeface="Calibri" pitchFamily="34" charset="0"/>
                <a:ea typeface="Calibri" pitchFamily="34" charset="-122"/>
                <a:cs typeface="Calibri" pitchFamily="34" charset="-120"/>
              </a:rPr>
              <a:t>A comprehension holds ONE expression. This needs a loop.</a:t>
            </a:r>
            <a:endParaRPr lang="en-US" sz="1150" dirty="0"/>
          </a:p>
        </p:txBody>
      </p:sp>
      <p:sp>
        <p:nvSpPr>
          <p:cNvPr id="26" name="Shape 24"/>
          <p:cNvSpPr/>
          <p:nvPr/>
        </p:nvSpPr>
        <p:spPr>
          <a:xfrm>
            <a:off x="548640" y="4937760"/>
            <a:ext cx="11064240" cy="960120"/>
          </a:xfrm>
          <a:prstGeom prst="roundRect">
            <a:avLst>
              <a:gd name="adj" fmla="val 8571"/>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7" name="Text 25"/>
          <p:cNvSpPr txBox="1"/>
          <p:nvPr/>
        </p:nvSpPr>
        <p:spPr>
          <a:xfrm>
            <a:off x="868680" y="5102352"/>
            <a:ext cx="10424160" cy="640080"/>
          </a:xfrm>
          <a:prstGeom prst="rect">
            <a:avLst/>
          </a:prstGeom>
          <a:noFill/>
          <a:ln/>
        </p:spPr>
        <p:txBody>
          <a:bodyPr wrap="square" lIns="0" tIns="0" rIns="0" bIns="0" rtlCol="0" anchor="ctr"/>
          <a:lstStyle/>
          <a:p>
            <a:pPr indent="0" marL="0">
              <a:lnSpc>
                <a:spcPct val="115000"/>
              </a:lnSpc>
              <a:buNone/>
            </a:pPr>
            <a:r>
              <a:rPr lang="en-US" sz="1300" b="1" dirty="0">
                <a:solidFill>
                  <a:srgbClr val="8A5B00"/>
                </a:solidFill>
                <a:latin typeface="Calibri" pitchFamily="34" charset="0"/>
                <a:ea typeface="Calibri" pitchFamily="34" charset="-122"/>
                <a:cs typeface="Calibri" pitchFamily="34" charset="-120"/>
              </a:rPr>
              <a:t>The test:  </a:t>
            </a:r>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can you read it aloud in one breath and have someone understand it? If yes, the comprehension is helping. If you had to pause and work it out, write the loop — the loop is not a failure, it is the clearer choice. Two conditions or two for clauses is roughly the ceiling.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comprehension bugs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114800"/>
                <a:gridCol w="3291840"/>
                <a:gridCol w="365760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if n &gt; 0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SyntaxError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for n in x if n &gt; 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for n in x if n &gt; 0 else 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SyntaxError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if n &gt; 0 else 0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generator, not a tuple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tuple([n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set — duplicates dropped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[print(n) for n in 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builds a list of None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 a plain for loop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 for n in row for row in m]</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NameError: 'row'</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outer loop first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sum(g) twice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second call gives 0</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 a list, not a generator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{k for k, v in d.items()}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set of keys, no values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add the colon: {k: v ...}</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1 and 2 are the same confusion from both sides: if at the END filters, if/else at the FRONT chooses. All eight are in today's practice notebook.</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cleaning script, rewritten</a:t>
            </a:r>
            <a:endParaRPr lang="en-US" sz="3200" dirty="0"/>
          </a:p>
        </p:txBody>
      </p:sp>
      <p:sp>
        <p:nvSpPr>
          <p:cNvPr id="5" name="Shape 3"/>
          <p:cNvSpPr/>
          <p:nvPr/>
        </p:nvSpPr>
        <p:spPr>
          <a:xfrm>
            <a:off x="548640" y="1572768"/>
            <a:ext cx="5577840" cy="4297680"/>
          </a:xfrm>
          <a:prstGeom prst="roundRect">
            <a:avLst>
              <a:gd name="adj" fmla="val 1915"/>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02920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Before  —  20 lines</a:t>
            </a:r>
            <a:endParaRPr lang="en-US" sz="1450" dirty="0"/>
          </a:p>
        </p:txBody>
      </p:sp>
      <p:sp>
        <p:nvSpPr>
          <p:cNvPr id="7" name="Shape 5"/>
          <p:cNvSpPr/>
          <p:nvPr/>
        </p:nvSpPr>
        <p:spPr>
          <a:xfrm>
            <a:off x="804672" y="2103120"/>
            <a:ext cx="5074920" cy="3657600"/>
          </a:xfrm>
          <a:prstGeom prst="roundRect">
            <a:avLst>
              <a:gd name="adj" fmla="val 1750"/>
            </a:avLst>
          </a:prstGeom>
          <a:solidFill>
            <a:srgbClr val="1B2B45"/>
          </a:solidFill>
          <a:ln w="12700">
            <a:solidFill>
              <a:srgbClr val="1B2B45"/>
            </a:solidFill>
            <a:prstDash val="solid"/>
          </a:ln>
        </p:spPr>
      </p:sp>
      <p:sp>
        <p:nvSpPr>
          <p:cNvPr id="8" name="Text 6"/>
          <p:cNvSpPr txBox="1"/>
          <p:nvPr/>
        </p:nvSpPr>
        <p:spPr>
          <a:xfrm>
            <a:off x="969264" y="2212848"/>
            <a:ext cx="4745736" cy="343814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names = []</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for n in raw:</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n = n.strip().title()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n:</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names.append(n)</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book = {}</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for i in range(len(names)):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book[names[i]] = marks[i]</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passed = {}</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for k, v in book.items():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v &gt;= 40:</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passed[k] = v</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grades = []</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for v in passed.values():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v &gt;= 75:</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grades.append("A")</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else: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grades.append("B")</a:t>
            </a:r>
            <a:endParaRPr lang="en-US" sz="900" dirty="0"/>
          </a:p>
        </p:txBody>
      </p:sp>
      <p:sp>
        <p:nvSpPr>
          <p:cNvPr id="9" name="Shape 7"/>
          <p:cNvSpPr/>
          <p:nvPr/>
        </p:nvSpPr>
        <p:spPr>
          <a:xfrm>
            <a:off x="6400800" y="1572768"/>
            <a:ext cx="5212080" cy="4297680"/>
          </a:xfrm>
          <a:prstGeom prst="roundRect">
            <a:avLst>
              <a:gd name="adj" fmla="val 1915"/>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656832" y="1719072"/>
            <a:ext cx="466344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After  —  4 lines</a:t>
            </a:r>
            <a:endParaRPr lang="en-US" sz="1450" dirty="0"/>
          </a:p>
        </p:txBody>
      </p:sp>
      <p:sp>
        <p:nvSpPr>
          <p:cNvPr id="11" name="Shape 9"/>
          <p:cNvSpPr/>
          <p:nvPr/>
        </p:nvSpPr>
        <p:spPr>
          <a:xfrm>
            <a:off x="6656832" y="2103120"/>
            <a:ext cx="4709160" cy="2194560"/>
          </a:xfrm>
          <a:prstGeom prst="roundRect">
            <a:avLst>
              <a:gd name="adj" fmla="val 2917"/>
            </a:avLst>
          </a:prstGeom>
          <a:solidFill>
            <a:srgbClr val="1B2B45"/>
          </a:solidFill>
          <a:ln w="12700">
            <a:solidFill>
              <a:srgbClr val="1B2B45"/>
            </a:solidFill>
            <a:prstDash val="solid"/>
          </a:ln>
        </p:spPr>
      </p:sp>
      <p:sp>
        <p:nvSpPr>
          <p:cNvPr id="12" name="Text 10"/>
          <p:cNvSpPr txBox="1"/>
          <p:nvPr/>
        </p:nvSpPr>
        <p:spPr>
          <a:xfrm>
            <a:off x="6821424" y="2212848"/>
            <a:ext cx="4379976" cy="197510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names = [n.strip().title()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for n in raw if n.strip()]</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book = dict(zip(names, marks))</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passed = {k: v for k, v in book.items()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if v &gt;= 40}</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grades = ["A" if v &gt;= 75 else "B"</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for v in passed.values()]</a:t>
            </a:r>
            <a:endParaRPr lang="en-US" sz="950" dirty="0"/>
          </a:p>
        </p:txBody>
      </p:sp>
      <p:sp>
        <p:nvSpPr>
          <p:cNvPr id="13" name="Text 11"/>
          <p:cNvSpPr txBox="1"/>
          <p:nvPr/>
        </p:nvSpPr>
        <p:spPr>
          <a:xfrm>
            <a:off x="6675120" y="4434840"/>
            <a:ext cx="4709160" cy="256032"/>
          </a:xfrm>
          <a:prstGeom prst="rect">
            <a:avLst/>
          </a:prstGeom>
          <a:noFill/>
          <a:ln/>
        </p:spPr>
        <p:txBody>
          <a:bodyPr wrap="square" lIns="0" tIns="0" rIns="0" bIns="0" rtlCol="0" anchor="ctr"/>
          <a:lstStyle/>
          <a:p>
            <a:pPr indent="0" marL="0">
              <a:buNone/>
            </a:pPr>
            <a:r>
              <a:rPr lang="en-US" sz="1050" b="1" dirty="0">
                <a:solidFill>
                  <a:srgbClr val="1C6F5C"/>
                </a:solidFill>
                <a:latin typeface="Calibri" pitchFamily="34" charset="0"/>
                <a:ea typeface="Calibri" pitchFamily="34" charset="-122"/>
                <a:cs typeface="Calibri" pitchFamily="34" charset="-120"/>
              </a:rPr>
              <a:t>•  Filter + transform  </a:t>
            </a:r>
            <a:pPr indent="0" marL="0">
              <a:buNone/>
            </a:pPr>
            <a:r>
              <a:rPr lang="en-US" sz="1050" dirty="0">
                <a:solidFill>
                  <a:srgbClr val="2B3445"/>
                </a:solidFill>
                <a:latin typeface="Calibri" pitchFamily="34" charset="0"/>
                <a:ea typeface="Calibri" pitchFamily="34" charset="-122"/>
                <a:cs typeface="Calibri" pitchFamily="34" charset="-120"/>
              </a:rPr>
              <a:t>strip, title, and drop blanks</a:t>
            </a:r>
            <a:endParaRPr lang="en-US" sz="1050" dirty="0"/>
          </a:p>
        </p:txBody>
      </p:sp>
      <p:sp>
        <p:nvSpPr>
          <p:cNvPr id="14" name="Text 12"/>
          <p:cNvSpPr txBox="1"/>
          <p:nvPr/>
        </p:nvSpPr>
        <p:spPr>
          <a:xfrm>
            <a:off x="6675120" y="4718304"/>
            <a:ext cx="4709160" cy="256032"/>
          </a:xfrm>
          <a:prstGeom prst="rect">
            <a:avLst/>
          </a:prstGeom>
          <a:noFill/>
          <a:ln/>
        </p:spPr>
        <p:txBody>
          <a:bodyPr wrap="square" lIns="0" tIns="0" rIns="0" bIns="0" rtlCol="0" anchor="ctr"/>
          <a:lstStyle/>
          <a:p>
            <a:pPr indent="0" marL="0">
              <a:buNone/>
            </a:pPr>
            <a:r>
              <a:rPr lang="en-US" sz="1050" b="1" dirty="0">
                <a:solidFill>
                  <a:srgbClr val="1C6F5C"/>
                </a:solidFill>
                <a:latin typeface="Calibri" pitchFamily="34" charset="0"/>
                <a:ea typeface="Calibri" pitchFamily="34" charset="-122"/>
                <a:cs typeface="Calibri" pitchFamily="34" charset="-120"/>
              </a:rPr>
              <a:t>•  zip  </a:t>
            </a:r>
            <a:pPr indent="0" marL="0">
              <a:buNone/>
            </a:pPr>
            <a:r>
              <a:rPr lang="en-US" sz="1050" dirty="0">
                <a:solidFill>
                  <a:srgbClr val="2B3445"/>
                </a:solidFill>
                <a:latin typeface="Calibri" pitchFamily="34" charset="0"/>
                <a:ea typeface="Calibri" pitchFamily="34" charset="-122"/>
                <a:cs typeface="Calibri" pitchFamily="34" charset="-120"/>
              </a:rPr>
              <a:t>two lists into one dict</a:t>
            </a:r>
            <a:endParaRPr lang="en-US" sz="1050" dirty="0"/>
          </a:p>
        </p:txBody>
      </p:sp>
      <p:sp>
        <p:nvSpPr>
          <p:cNvPr id="15" name="Text 13"/>
          <p:cNvSpPr txBox="1"/>
          <p:nvPr/>
        </p:nvSpPr>
        <p:spPr>
          <a:xfrm>
            <a:off x="6675120" y="5001768"/>
            <a:ext cx="4709160" cy="256032"/>
          </a:xfrm>
          <a:prstGeom prst="rect">
            <a:avLst/>
          </a:prstGeom>
          <a:noFill/>
          <a:ln/>
        </p:spPr>
        <p:txBody>
          <a:bodyPr wrap="square" lIns="0" tIns="0" rIns="0" bIns="0" rtlCol="0" anchor="ctr"/>
          <a:lstStyle/>
          <a:p>
            <a:pPr indent="0" marL="0">
              <a:buNone/>
            </a:pPr>
            <a:r>
              <a:rPr lang="en-US" sz="1050" b="1" dirty="0">
                <a:solidFill>
                  <a:srgbClr val="1C6F5C"/>
                </a:solidFill>
                <a:latin typeface="Calibri" pitchFamily="34" charset="0"/>
                <a:ea typeface="Calibri" pitchFamily="34" charset="-122"/>
                <a:cs typeface="Calibri" pitchFamily="34" charset="-120"/>
              </a:rPr>
              <a:t>•  if at the end  </a:t>
            </a:r>
            <a:pPr indent="0" marL="0">
              <a:buNone/>
            </a:pPr>
            <a:r>
              <a:rPr lang="en-US" sz="1050" dirty="0">
                <a:solidFill>
                  <a:srgbClr val="2B3445"/>
                </a:solidFill>
                <a:latin typeface="Calibri" pitchFamily="34" charset="0"/>
                <a:ea typeface="Calibri" pitchFamily="34" charset="-122"/>
                <a:cs typeface="Calibri" pitchFamily="34" charset="-120"/>
              </a:rPr>
              <a:t>keep only the passes</a:t>
            </a:r>
            <a:endParaRPr lang="en-US" sz="1050" dirty="0"/>
          </a:p>
        </p:txBody>
      </p:sp>
      <p:sp>
        <p:nvSpPr>
          <p:cNvPr id="16" name="Text 14"/>
          <p:cNvSpPr txBox="1"/>
          <p:nvPr/>
        </p:nvSpPr>
        <p:spPr>
          <a:xfrm>
            <a:off x="6675120" y="5285232"/>
            <a:ext cx="4709160" cy="256032"/>
          </a:xfrm>
          <a:prstGeom prst="rect">
            <a:avLst/>
          </a:prstGeom>
          <a:noFill/>
          <a:ln/>
        </p:spPr>
        <p:txBody>
          <a:bodyPr wrap="square" lIns="0" tIns="0" rIns="0" bIns="0" rtlCol="0" anchor="ctr"/>
          <a:lstStyle/>
          <a:p>
            <a:pPr indent="0" marL="0">
              <a:buNone/>
            </a:pPr>
            <a:r>
              <a:rPr lang="en-US" sz="1050" b="1" dirty="0">
                <a:solidFill>
                  <a:srgbClr val="1C6F5C"/>
                </a:solidFill>
                <a:latin typeface="Calibri" pitchFamily="34" charset="0"/>
                <a:ea typeface="Calibri" pitchFamily="34" charset="-122"/>
                <a:cs typeface="Calibri" pitchFamily="34" charset="-120"/>
              </a:rPr>
              <a:t>•  if/else at the front  </a:t>
            </a:r>
            <a:pPr indent="0" marL="0">
              <a:buNone/>
            </a:pPr>
            <a:r>
              <a:rPr lang="en-US" sz="1050" dirty="0">
                <a:solidFill>
                  <a:srgbClr val="2B3445"/>
                </a:solidFill>
                <a:latin typeface="Calibri" pitchFamily="34" charset="0"/>
                <a:ea typeface="Calibri" pitchFamily="34" charset="-122"/>
                <a:cs typeface="Calibri" pitchFamily="34" charset="-120"/>
              </a:rPr>
              <a:t>one grade per student</a:t>
            </a:r>
            <a:endParaRPr lang="en-US" sz="1050" dirty="0"/>
          </a:p>
        </p:txBody>
      </p:sp>
      <p:sp>
        <p:nvSpPr>
          <p:cNvPr id="17" name="Text 15"/>
          <p:cNvSpPr txBox="1"/>
          <p:nvPr/>
        </p:nvSpPr>
        <p:spPr>
          <a:xfrm>
            <a:off x="548640" y="5961888"/>
            <a:ext cx="11064240" cy="292608"/>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Same result, same logic — but a reader now takes in each step at a glance instead of tracing an accumulator.</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Filtering, if/else position, set vs dict</a:t>
            </a:r>
            <a:endParaRPr lang="en-US" sz="120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Wrong if position, generator, side effects</a:t>
            </a:r>
            <a:endParaRPr lang="en-US" sz="120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Convert loops, filter, invert, flatten, clean</a:t>
            </a:r>
            <a:endParaRPr lang="en-US" sz="120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Word lengths, matrix transpose</a:t>
            </a:r>
            <a:endParaRPr lang="en-US" sz="120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Day6_Practice_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Write the loop FIRST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Then convert it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Raise a hand — I am walking around</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Solutions shared after class</a:t>
            </a:r>
            <a:endParaRPr lang="en-US" sz="120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Stuck on a comprehension? Write it as a loop first, then move the pieces. That is not a step backwards — it is how experienced people write the tricky ones too.</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[expression for item in iterable] builds a list.</a:t>
            </a:r>
            <a:endParaRPr lang="en-US" sz="11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The pieces are the loop's pieces, reordered.</a:t>
            </a:r>
            <a:endParaRPr lang="en-US" sz="11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if at the END filters — the result can be shorter.</a:t>
            </a:r>
            <a:endParaRPr lang="en-US" sz="11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if/else at the FRONT chooses — same length always.</a:t>
            </a:r>
            <a:endParaRPr lang="en-US" sz="11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A bare if at the front is a SyntaxError.</a:t>
            </a:r>
            <a:endParaRPr lang="en-US" sz="11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{k: v for ...} builds a dict — the colon decides.</a:t>
            </a:r>
            <a:endParaRPr lang="en-US" sz="11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{expr for ...} builds a set — duplicates dropped.</a:t>
            </a:r>
            <a:endParaRPr lang="en-US" sz="11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(expr for ...) is a generator, NOT a tuple.</a:t>
            </a:r>
            <a:endParaRPr lang="en-US" sz="11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A generator is empty after one pass.</a:t>
            </a:r>
            <a:endParaRPr lang="en-US" sz="11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Two for clauses flatten; nested brackets nest.</a:t>
            </a:r>
            <a:endParaRPr lang="en-US" sz="11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Never use one just for a side effect like print.</a:t>
            </a:r>
            <a:endParaRPr lang="en-US" sz="11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150" dirty="0">
                <a:solidFill>
                  <a:srgbClr val="DCE6F3"/>
                </a:solidFill>
                <a:latin typeface="Calibri" pitchFamily="34" charset="0"/>
                <a:ea typeface="Calibri" pitchFamily="34" charset="-122"/>
                <a:cs typeface="Calibri" pitchFamily="34" charset="-120"/>
              </a:rPr>
              <a:t>If you cannot read it aloud, write the loop.</a:t>
            </a:r>
            <a:endParaRPr lang="en-US" sz="11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594360"/>
          </a:xfrm>
          <a:prstGeom prst="rect">
            <a:avLst/>
          </a:prstGeom>
          <a:noFill/>
          <a:ln/>
        </p:spPr>
        <p:txBody>
          <a:bodyPr wrap="square" lIns="0" tIns="0" rIns="0" bIns="0" rtlCol="0" anchor="ctr"/>
          <a:lstStyle/>
          <a:p>
            <a:pPr indent="0" marL="0">
              <a:lnSpc>
                <a:spcPct val="112000"/>
              </a:lnSpc>
              <a:buNone/>
            </a:pPr>
            <a:r>
              <a:rPr lang="en-US" sz="1050" dirty="0">
                <a:solidFill>
                  <a:srgbClr val="AFC2DC"/>
                </a:solidFill>
                <a:latin typeface="Calibri" pitchFamily="34" charset="0"/>
                <a:ea typeface="Calibri" pitchFamily="34" charset="-122"/>
                <a:cs typeface="Calibri" pitchFamily="34" charset="-120"/>
              </a:rPr>
              <a:t>Rewrite three loops from Days 2–5 as comprehensions  ·  Build {word: length} for a sentence  ·  Find one comprehension that is WORSE than its loop, and explain why</a:t>
            </a:r>
            <a:endParaRPr lang="en-US" sz="10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1.7</a:t>
            </a:r>
            <a:endParaRPr lang="en-US" sz="1300" dirty="0"/>
          </a:p>
        </p:txBody>
      </p:sp>
      <p:sp>
        <p:nvSpPr>
          <p:cNvPr id="47" name="Text 45"/>
          <p:cNvSpPr txBox="1"/>
          <p:nvPr/>
        </p:nvSpPr>
        <p:spPr>
          <a:xfrm>
            <a:off x="6492240" y="5632704"/>
            <a:ext cx="4892040" cy="594360"/>
          </a:xfrm>
          <a:prstGeom prst="rect">
            <a:avLst/>
          </a:prstGeom>
          <a:noFill/>
          <a:ln/>
        </p:spPr>
        <p:txBody>
          <a:bodyPr wrap="square" lIns="0" tIns="0" rIns="0" bIns="0" rtlCol="0" anchor="ctr"/>
          <a:lstStyle/>
          <a:p>
            <a:pPr indent="0" marL="0">
              <a:lnSpc>
                <a:spcPct val="112000"/>
              </a:lnSpc>
              <a:buNone/>
            </a:pPr>
            <a:r>
              <a:rPr lang="en-US" sz="1150" dirty="0">
                <a:solidFill>
                  <a:srgbClr val="AFC2DC"/>
                </a:solidFill>
                <a:latin typeface="Calibri" pitchFamily="34" charset="0"/>
                <a:ea typeface="Calibri" pitchFamily="34" charset="-122"/>
                <a:cs typeface="Calibri" pitchFamily="34" charset="-120"/>
              </a:rPr>
              <a:t>Classes &amp; objects:  defining a class, __init__, attributes, methods, and creating objects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6 - Comprehensions</dc:title>
  <dc:subject>PptxGenJS Presentation</dc:subject>
  <dc:creator>Data Science Program</dc:creator>
  <cp:lastModifiedBy>Data Science Program</cp:lastModifiedBy>
  <cp:revision>1</cp:revision>
  <dcterms:created xsi:type="dcterms:W3CDTF">2026-09-08T03:22:45Z</dcterms:created>
  <dcterms:modified xsi:type="dcterms:W3CDTF">2026-09-08T03:22:45Z</dcterms:modified>
</cp:coreProperties>
</file>