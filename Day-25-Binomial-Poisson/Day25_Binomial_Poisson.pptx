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25. Everything so far has been about MEASURING a quantity. Today is about COUNTING events. The whole session is built from two worked examples - coin flips and a call centre - developed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'probability of exactly 3' point is important: that question has a real answer for discrete data and is always zero for continuous data. It is the cleanest way to feel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Planting the 'both become normal' promise early gives the session an arc and sets up the CLT on Day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 the derivation explicitly. Students who have met the binomial formula before have almost always been asked to memorise it without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conditions is a lot to hold. Say them, then immediately test them against examples on the next slide - that is where they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card-drawing example is the subtle one. Point out that WITH replacement it would be binomial - it is the non-replacement that breaks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one on the board first if you can. Writing out all eight by hand takes 30 seconds and makes the 1-3-3-1 pattern feel discovered rather than told.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bars sum to 1. Students often treat a pmf as a set of unrelated numbers rather than a complete accounting of possibilities.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order-does-not-matter observation is the hinge of the whole derivation. Give it a beat.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on the board in three chunks, naming each as you write it. The formula is unmemorable as a whole and obvious in pieces.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sanity check habit matters more than the arithmetic. Ask the room whether 11.7% sounds plausible BEFORE showing the computation.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n=50 panel is the first hint that the binomial becomes normal. Do not explain it yet - just make them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three-panel figure does the teaching here. Point at each highlighted region as you read the table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16 callback helps: students already know off-by-one errors in labels. This is the same failure in a new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8-defects example ties Day 24's z-score ruler to today's counting. It also previews hypothesis testing without naming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Letting them fail to find n is the point. Ask the room for n before revealing - someone will say 3600 and someone else will say it depends, which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interval-matching warning catches people constantly. Ask: if lambda is 3 per hour, what is lambda for a 20-minute window?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staffing conclusion is the payoff. An average tells you nothing about how often you will be overwhelmed; the distribution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floor-at-zero explanation for the skew is the intuitive one: skew exists because counts cannot be negative and the mean is close to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overdispersion check is the most practically useful thing on this slide. Students will meet it again in any count-regression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out-of versus per tell is crude but works almost every time, and students remember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the approximation is now mostly of historical and conceptual interest - its value is showing the two distributions are one family.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the loop opened in the warm-up. The students were told to watch for this; now they have seen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to photograph this slide. It is the reference they will actually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2 and 3 name the right distributions without teaching them, so students know they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convincing argument for distributions over averages. Run it live and let the 'one hour in five'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Forcing the plain-English translation is what turns a probability into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Tomorrow is a lighter session - uniform is the simplest distribution there is, which makes it a good place to consolidate.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STATISTICS &amp; PROBABILITY  ·  TOPIC 2.5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Binomial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  —  the distributions for COUNTING things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572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448056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572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448056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5720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49743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that picks between them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25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so far measured. Today we count.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23 – 24  ·  MEASURING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tall is this person?  171.3 cm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salary?  42,500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delivery take?  18.4 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can be ANY number, including fractions.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CONTINUOUS.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764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COUNTING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488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20 items are defective?  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clicked the ad?  47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calls arrived this hour?  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always a WHOLE number: 0, 1, 2, 3…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DISCRETE.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needs different tools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35424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have 2.7 defective items. So instead of a smooth curve where we ask “what fraction falls between 85 and 115?”, we get separate BARS and ask “what is the probability of exactly 3?” — a question that was meaningless yesterday, because the chance of a height being exactly 171.30000… cm is zero.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distributions cover almost all counting problems. Today you learn both, and the one question that tells you which to use.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from Day 24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7922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bands?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9222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· 95% · 99.7% within 1, 2, 3 sd.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69464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5786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1.96 come from?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786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ppf(0.975) — it leaves 2.5% in each tail.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355848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3649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exams, which mark is better?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3649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z-scores, not raw marks.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86784"/>
            <a:ext cx="1106424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142232"/>
            <a:ext cx="365760" cy="36576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1513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2σ check passed. Is it normal?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415137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necessarily. One pass proves nothing.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5120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 to the normal curve — by the end of today you will see BOTH of today's distributions turn into it. That is not a coincidence, and Day 27 explains why.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binomial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conditions, with examples that fail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binomial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 coin flips to the formula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pmf, cdf, mean and spread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 is huge and p is tiny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them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decides it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builds the formula from scratch. If you have ever been handed it and told to memorise it, today is the session that explains where every piece comes from.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Binomial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conditions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that qualify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that do NOT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THE CONDITIONS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binomial needs all four of these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47088"/>
            <a:ext cx="457200" cy="45720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755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number of trials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90195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n before you start. 20 items, 10 flips, 500 visitors.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2871216"/>
            <a:ext cx="457200" cy="45720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7797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trial has TWO outcomes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92608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or not. Clicked or not. We call them success and failure.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7588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895344"/>
            <a:ext cx="457200" cy="45720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8039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probability every time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9502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does not drift. Every item has the same 5% chance.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00016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919472"/>
            <a:ext cx="457200" cy="457200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8280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are INDEPENDENT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497433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result tells you nothing about the next.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881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any one of the four and the binomial formula gives you a wrong answer — confidently, with no error message.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·  DOES IT QUALIFY?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four conditions on real situations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3657600"/>
          </a:xfrm>
          <a:prstGeom prst="roundRect">
            <a:avLst>
              <a:gd name="adj" fmla="val 225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3736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YES, binomial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a coin 10 times, count heads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9572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 fixed · H or T · p=0.5 always · flips independent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45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20 items from a large batch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1985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 · defective or not · p=5% each · batch big enough that removing one barely changes 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169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visitors see an ad, count clicks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439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n=500 · click or not · same p · visitors do not influence each other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572768"/>
            <a:ext cx="5303520" cy="3657600"/>
          </a:xfrm>
          <a:prstGeom prst="roundRect">
            <a:avLst>
              <a:gd name="adj" fmla="val 225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65392" y="17373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NO, not binomial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until you get a head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3957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NOT fixed — you stop when it happens. Condition 1 fails.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145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5 cards from one deck, count aces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4198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changes after each draw: 4/52, then 3/51… Condition 3 fails.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169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3 family members catch flu?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44398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independent — they infect each other. Condition 4 fails.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68680" y="54864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each failure breaks a DIFFERENT condition. That is how to diagnose a situation: walk the four in order and find the first one that fails.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Binomial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 coin flips to the formula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outcome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pattern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pieces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 and p do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LIST EVERY OUTCOME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small: flip a coin three times</a:t>
            </a:r>
            <a:endParaRPr lang="en-US" sz="3200" dirty="0"/>
          </a:p>
        </p:txBody>
      </p:sp>
      <p:pic>
        <p:nvPicPr>
          <p:cNvPr id="5" name="Image 0" descr="/home/claude/day25/fig/flip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7863840" cy="35422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52560" y="1600200"/>
            <a:ext cx="2560320" cy="3566160"/>
          </a:xfrm>
          <a:prstGeom prst="roundRect">
            <a:avLst>
              <a:gd name="adj" fmla="val 3214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281160" y="1755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ways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281160" y="21031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only ONE way to get zero heads: TTT.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THREE ways to get exactly one head — the head can be in any of the three positions.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idea.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1  3  3  1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39496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8 sequences is equally likely. So the probability of a given number of heads is just: how many sequences give that number, divided by 8.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THE DISTRIBUTION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eight outcomes, drawn as probabilities</a:t>
            </a:r>
            <a:endParaRPr lang="en-US" sz="3200" dirty="0"/>
          </a:p>
        </p:txBody>
      </p:sp>
      <p:pic>
        <p:nvPicPr>
          <p:cNvPr id="5" name="Image 0" descr="/home/claude/day25/fig/flips3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5120640" cy="314149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600200"/>
            <a:ext cx="5212080" cy="3154680"/>
          </a:xfrm>
          <a:prstGeom prst="roundRect">
            <a:avLst>
              <a:gd name="adj" fmla="val 260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675120" y="17647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carefully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121408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is a separate possible count. There is nothing between them — you cannot get 1.5 heads, so there is no bar there.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heights add to exactly 1.000, because one of these four things must happen.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“discrete distribution” means in practice: a finite list of outcomes, each with its own probability.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489204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5029200"/>
            <a:ext cx="4754880" cy="640080"/>
          </a:xfrm>
          <a:prstGeom prst="roundRect">
            <a:avLst>
              <a:gd name="adj" fmla="val 10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93992" y="5138928"/>
            <a:ext cx="4425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stats.binom.pmf([0,1,2,3], n=3, p=0.5)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[0.125, 0.375, 0.375, 0.125]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507492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2960" y="52303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 = 0.125 and 3/8 = 0.375. The chart is just the counting from the previous slide, divided by 8.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·  WHERE THE FORMULA COMES FROM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the formula. Piece one: the probability of ONE path.</a:t>
            </a:r>
            <a:endParaRPr lang="en-US" sz="3200" dirty="0"/>
          </a:p>
        </p:txBody>
      </p:sp>
      <p:pic>
        <p:nvPicPr>
          <p:cNvPr id="5" name="Image 0" descr="/home/claude/day25/fig/one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481328"/>
            <a:ext cx="8412480" cy="25179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133088"/>
            <a:ext cx="5486400" cy="1737360"/>
          </a:xfrm>
          <a:prstGeom prst="roundRect">
            <a:avLst>
              <a:gd name="adj" fmla="val 473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261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along the path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59028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trials are independent, so the probability of this exact sequence is the product of the individual probabilities: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×  (1−p)  ×  p  ×  p  ×  (1−p)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563270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tidies up to   p³ (1−p)²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4133088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65392" y="4261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here is the key observation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65392" y="459028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path with 3 successes and 2 failures gives exactly the same product — multiplication does not care about order.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such path has probability p³(1−p)². We just need to know how many there are.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·  THE COUNTING PIECE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Piece two: how many paths are there?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“Choose k positions out of n”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488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 flips and 1 head, the head can sit in position 1, 2 or 3 — three ways. That is exactly what C(3,1) = 3 means.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4672" y="2834640"/>
            <a:ext cx="49834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2944368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comb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comb(3, 0), comb(3, 1), comb(3, 2), comb(3, 3)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  1,  3,  3,  1      ← our counts!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03520" cy="2377440"/>
          </a:xfrm>
          <a:prstGeom prst="roundRect">
            <a:avLst>
              <a:gd name="adj" fmla="val 3462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64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out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1762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C(n, k)  =  n!  /  ( k! × (n−k)! 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65176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it called “n choose k”, and written as nCk or with a big bracket. They all mean the same thing: the number of different ways to pick k items from n when the order does not matter.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270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two pieces together and you have the binomial formula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194560" y="4645152"/>
            <a:ext cx="7772400" cy="868680"/>
          </a:xfrm>
          <a:prstGeom prst="roundRect">
            <a:avLst>
              <a:gd name="adj" fmla="val 9474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468880" y="48097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P(k)  =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212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840480" y="48097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C(n, k)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5212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paths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4809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5212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809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p^k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52120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successes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809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52120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8097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(1−p)^(n−k)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5212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are failures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·  PUTTING NUMBERS IN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one through by hand: 7 heads in 10 flips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7665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10,  k = 7,  p = 0.5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109728" cy="475488"/>
          </a:xfrm>
          <a:prstGeom prst="roundRect">
            <a:avLst>
              <a:gd name="adj" fmla="val 33333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2677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C(10, 7)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2677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120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3042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120 different orders with 7 heads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2852928"/>
            <a:ext cx="109728" cy="475488"/>
          </a:xfrm>
          <a:prstGeom prst="roundRect">
            <a:avLst>
              <a:gd name="adj" fmla="val 33333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0.5⁷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A9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0.0078125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962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heads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511296"/>
            <a:ext cx="109728" cy="475488"/>
          </a:xfrm>
          <a:prstGeom prst="roundRect">
            <a:avLst>
              <a:gd name="adj" fmla="val 33333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584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0.5³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584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67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0.125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6210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tails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224528"/>
            <a:ext cx="5943600" cy="0"/>
          </a:xfrm>
          <a:prstGeom prst="line">
            <a:avLst/>
          </a:prstGeom>
          <a:noFill/>
          <a:ln w="19050">
            <a:solidFill>
              <a:srgbClr val="C6D0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 ×  0.0078125  ×  0.125   =   0.1172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89520" y="1600200"/>
            <a:ext cx="4023360" cy="3200400"/>
          </a:xfrm>
          <a:prstGeom prst="roundRect">
            <a:avLst>
              <a:gd name="adj" fmla="val 2571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845552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in code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45552" y="2121408"/>
            <a:ext cx="352044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10144" y="2231136"/>
            <a:ext cx="3191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stats.binom.pmf(7, 10, 0.5)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0.1171875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845552" y="32918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an 11.7% chance of getting exactly 7 heads in 10 flips.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always use the library in practice. Doing it once by hand is so that the library is not a black box.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68680" y="51663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sanity check: 7 out of 10 is above the expected 5, so the probability should be smallish but not tiny. 11.7% feels right. If you had got 0.9 or 0.001 you would know something was wrong.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·  n AND 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two settings actually do to the shape</a:t>
            </a:r>
            <a:endParaRPr lang="en-US" sz="3200" dirty="0"/>
          </a:p>
        </p:txBody>
      </p:sp>
      <p:pic>
        <p:nvPicPr>
          <p:cNvPr id="5" name="Image 0" descr="/home/claude/day25/fig/binom_sh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481328"/>
            <a:ext cx="8961120" cy="38279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5596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row: p moves the peak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852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 pushes it left, high p pushes it right. The peak sits at n×p.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548640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492240" y="5596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row: n widens and smooths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5852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n=50: that is starting to look like a bell curve. Remember that.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Binomial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Exactly, at most, at least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vs cdf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quality-control problem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spread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pmf AND cdf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different questions, the same set of bars</a:t>
            </a:r>
            <a:endParaRPr lang="en-US" sz="3200" dirty="0"/>
          </a:p>
        </p:txBody>
      </p:sp>
      <p:pic>
        <p:nvPicPr>
          <p:cNvPr id="5" name="Image 0" descr="/home/claude/day25/fig/pmf_c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10881360" cy="30059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5138928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3291840"/>
                <a:gridCol w="1920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1 defective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 that one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binom.pmf(1, 20, .05)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up bars 0 and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binom.cdf(1, 20, .05)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1 - binom.cdf(1, 20, .05)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·  AT LEAST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The mistake almost everyone makes once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least 2” is NOT 1 − cdf(2)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48840"/>
            <a:ext cx="49834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258568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binom.cdf(2, 20, .05)   -&gt;  0.0755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binom.cdf(1, 20, .05)   -&gt;  0.2642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which one is 'at least 2'?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24612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cdf(2) already INCLUDES the bar at 2. Subtracting it removes the very outcome you wanted to keep.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03520" cy="2468880"/>
          </a:xfrm>
          <a:prstGeom prst="roundRect">
            <a:avLst>
              <a:gd name="adj" fmla="val 333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6479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always works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P(at least k)  =  1 − cdf(k − 1)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26517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out loud: “at least 2 means NOT 0 and NOT 1”. So subtract everything up to and including 1.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draw the bars and shade the ones you want. It takes ten seconds and removes all doubt.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more than it looks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3659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0.0755 and 0.2642 are both plausible-looking probabilities. Nothing errors, nothing warns you, and the wrong one is off by a factor of three and a half. This is the discrete-distribution equivalent of Day 16's loc-versus-iloc: an off-by-one that produces a confident, wrong number.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·  MEAN AND SPREAD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expect, and how much it varies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formulas worth knowing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4884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 =  n × 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7860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A9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  =  √( n × p × (1−p) 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175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obvious once you say it aloud: 20 items with a 5% defect rate should give about 1 defect.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03520" cy="2194560"/>
          </a:xfrm>
          <a:prstGeom prst="roundRect">
            <a:avLst>
              <a:gd name="adj" fmla="val 375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64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quality-control example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65392" y="2121408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231136"/>
            <a:ext cx="44714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20,  p = 0.05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= 20 x 0.05        =  1.00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   = sqrt(20x.05x.95) =  0.97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2735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expect about 1 defect, give or take 1.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for a sanity check before you compute anything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462272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batch of 20 comes back with 8 defects, you do not need a p-value to be suspicious: that is 7 above the expected 1, which is about seven standard deviations out. Day 24's ruler, applied to counts.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notice the spread is largest when p = 0.5 and shrinks as p approaches 0 or 1 — which makes sense, because an event that almost never happens, or almost always happens, is predictable.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 is huge and p is tiny  ·  25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binomial cannot solve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idea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question the binomial cannot answer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calls will arrive this hour?”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4884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force it into a binomial and the first question is: what is n?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trials are there? Every second is a chance for a call — so 3,600? Every millisecond — so 3,600,000? There is no natural answer.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is p? Whatever makes the numbers work out, which is not a definition.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2651760"/>
          </a:xfrm>
          <a:prstGeom prst="roundRect">
            <a:avLst>
              <a:gd name="adj" fmla="val 31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65392" y="176479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questions with the same problem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14884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per page of a book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at a junction per month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entering a shop per 10 minutes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errors per day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events per season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544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all have in common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6460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happen at some average RATE over a continuous interval of time or space. There are no countable trials — there is just an interval, and events landing in it. You know the average; you want the probability of a particular count.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what the Poisson distribution is for.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LAMBDA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 is all you need: the average rate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8308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 (lambda)  =  the average count per interval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1945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call centre averages 3 calls an hour, then λ = 3.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number fixes the whole distribution — there is no second parameter to find. Compare the binomial, which needs both n and p.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520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λ must match your interval. 3 per hour means λ=3 for an hour, λ=1.5 for 30 minutes, λ=72 for a 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2487168"/>
          </a:xfrm>
          <a:prstGeom prst="roundRect">
            <a:avLst>
              <a:gd name="adj" fmla="val 3309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8308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2402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6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P(k)  =  e⁻λ  ×  λᵏ  /  k!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7432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use scipy rather than this. But notice what is NOT in it: no n, no p. Only λ and the count you are asking about.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65392" y="3493008"/>
            <a:ext cx="4800600" cy="320040"/>
          </a:xfrm>
          <a:prstGeom prst="roundRect">
            <a:avLst>
              <a:gd name="adj" fmla="val 20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9984" y="3602736"/>
            <a:ext cx="447141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stats.poisson.pmf(k, mu=3)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755648"/>
          </a:xfrm>
          <a:prstGeom prst="roundRect">
            <a:avLst>
              <a:gd name="adj" fmla="val 4688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3342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Poisson conditions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Events are independent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does not cause another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rate is constant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 hour all through the interval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Two cannot land at the same instant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4956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separable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3766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constant-rate condition fails more often than people expect: a call centre at 9am and at 3am do not share a λ.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A FULL EXAMPLE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through: a call centre averaging 3 an hour</a:t>
            </a:r>
            <a:endParaRPr lang="en-US" sz="3200" dirty="0"/>
          </a:p>
        </p:txBody>
      </p:sp>
      <p:pic>
        <p:nvPicPr>
          <p:cNvPr id="5" name="Image 0" descr="/home/claude/day25/fig/callcent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6949440" cy="308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1600200"/>
            <a:ext cx="3566160" cy="3108960"/>
          </a:xfrm>
          <a:prstGeom prst="roundRect">
            <a:avLst>
              <a:gd name="adj" fmla="val 264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75320" y="1764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2103120"/>
          <a:ext cx="3108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calls at 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or more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275320" y="3657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2 and 3 are equally likely — that happens whenever λ is a whole number.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275320" y="4315968"/>
            <a:ext cx="3108960" cy="320040"/>
          </a:xfrm>
          <a:prstGeom prst="roundRect">
            <a:avLst>
              <a:gd name="adj" fmla="val 20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39912" y="4425696"/>
            <a:ext cx="2779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poisson.pmf(3, 3) = 0.224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68680" y="507492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staffing question this answers: 18.5% of hours will bring 5 or more calls. If you staff for the average of 3, you will be overwhelmed roughly one hour in five — which is exactly the kind of decision a distribution is for, and an average alone cannot tell you.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THE SHAPE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λ changes the shape</a:t>
            </a:r>
            <a:endParaRPr lang="en-US" sz="3200" dirty="0"/>
          </a:p>
        </p:txBody>
      </p:sp>
      <p:pic>
        <p:nvPicPr>
          <p:cNvPr id="5" name="Image 0" descr="/home/claude/day25/fig/poisson_sha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10881360" cy="26801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48056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λ: squashed against zero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93776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cannot go below zero, so with λ = 0.5 the distribution piles up at 0 and 1 and has a long right tail. Strongly skewed.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448056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λ: almost symmetric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49377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λ = 15 the floor at zero is far away and the shape is nearly a bell curve. We will make that precise before the end of the session.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·  MEAN = VARIANCE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Poisson's strangest property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2103120"/>
          </a:xfrm>
          <a:prstGeom prst="roundRect">
            <a:avLst>
              <a:gd name="adj" fmla="val 3913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874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 =  variance  =  λ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774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  sd  =  √λ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803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fixes both the centre AND the spread. No other common distribution does this.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2103120"/>
          </a:xfrm>
          <a:prstGeom prst="roundRect">
            <a:avLst>
              <a:gd name="adj" fmla="val 391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65392" y="1764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genuinely useful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121408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you a free diagnostic. Take any count data, compute the mean and the variance, and compare them.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variance is much BIGGER than the mean, the data is “overdispersed” — something is clustering the events, and Poisson is the wrong model.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041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check, in one line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4370832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3272" y="4480560"/>
            <a:ext cx="48828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counts.var() / counts.mean()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near 1  -&gt; Poisson is plausible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well above 1 -&gt; events are clustering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352544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website visits per minute usually fail this badly. Visits arrive in bursts when a link is shared, so the variance dwarfs the mean. Earthquakes fail it too — aftershocks cluster. Both violate the independence condition, and the mean-variance ratio is how you catch it without any formal test.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Between Them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both lead  ·  10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decides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→ Poisson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→ Normal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·  CHOOSING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 tells you which to 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I count the number of trials?”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follows from the answer.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2862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there is a clear n  →  BINOMIAL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461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items inspected — n = 20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coin flips — n = 10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visitors shown an ad — n = 500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of 60 sitting an exam — n = 60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69748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65392" y="2862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just a rate  →  POISSON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24612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per hour — no 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per page — no 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per month — no 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per day — no 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53218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tell: if the question says “out of”, it is binomial. If it says “per”, it is Poisson.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·  BINOMIAL → POISSON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not really two different things</a:t>
            </a:r>
            <a:endParaRPr lang="en-US" sz="3200" dirty="0"/>
          </a:p>
        </p:txBody>
      </p:sp>
      <p:pic>
        <p:nvPicPr>
          <p:cNvPr id="5" name="Image 0" descr="/home/claude/day25/fig/binom_to_poi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0881360" cy="27829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26280"/>
            <a:ext cx="5486400" cy="1325880"/>
          </a:xfrm>
          <a:prstGeom prst="roundRect">
            <a:avLst>
              <a:gd name="adj" fmla="val 620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04672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orange and blue bars merge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49834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n=10 they differ visibly. By n=2000 they are indistinguishable. Poisson is what the binomial BECOMES when n grows and p shrinks with n×p held fixed.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4526280"/>
            <a:ext cx="5303520" cy="1325880"/>
          </a:xfrm>
          <a:prstGeom prst="roundRect">
            <a:avLst>
              <a:gd name="adj" fmla="val 620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65392" y="4663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the rule of thumb exists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565392" y="4983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 &gt; 50 and p &lt; 0.05, you may use Poisson with λ = n×p. In practice you will just use the binomial — computers do not care — but it explains why Poisson works for rare events at all.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·  → NORMAL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both of them become yesterday's bell curve</a:t>
            </a:r>
            <a:endParaRPr lang="en-US" sz="3200" dirty="0"/>
          </a:p>
        </p:txBody>
      </p:sp>
      <p:pic>
        <p:nvPicPr>
          <p:cNvPr id="5" name="Image 0" descr="/home/claude/day25/fig/poisson_to_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10881360" cy="26801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skew of a Poisson is exactly 1 / √λ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λ=1 the skew is 1.00 — badly skewed. At λ=100 it is 0.10 — all but symmetric, and the black normal curve sits right on top of the bars. The same thing happens to the binomial as n grows, which is what you noticed in the n=50 panel earlier.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twice in one session that the normal curve has turned up uninvited. Day 27 explains why it keeps happening.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·  REFERENCE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distributions side by side</a:t>
            </a:r>
            <a:endParaRPr lang="en-US" sz="3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023360"/>
                <a:gridCol w="4023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successes OUT OF n?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events PER interval?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and 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to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upward, no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× 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× p × (1−p)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 (same as the mean)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stats.binom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stats.poisson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binom.pmf(k, n, p)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poisson.pmf(k, lam)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binom.cdf(k, n, p)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poisson.cdf(k, lam)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1 - binom.cdf(k-1, ...)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1 - poisson.cdf(k-1, ...)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discrete, so both use pmf for “exactly” and cdf for “at most”. Neither has a pdf — that is for continuous distributions like yesterday's normal.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counting mistakes</a:t>
            </a:r>
            <a:endParaRPr lang="en-US" sz="3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  <a:gridCol w="32004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1 - cdf(k) for “at least k”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by one — excludes k itself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cdf(k-1)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 on cards without replacement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changes every draw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hypergeometric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 when n is not fixed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“flip until a head” has no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for the wrong interval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3/hour is not 3 per 20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λ to your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 when events cluster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far exceeds the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var/mean before modelling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on a discrete 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is no such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pmf for counts, pdf for continuous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 in binom.pmf(k,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TypeError, or a silent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pass n AND 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asked P(exactly 2.5)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are whole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 is malformed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is the one that will cost you marks. Row 4 is the one that will cost you a production incident.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a staffing decision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 support desk averages 3 calls an hour.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One agent can handle 4 calls an hour.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QUESTION: how often are we overwhelmed?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 = 3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--- 1. the risk with one agent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overwhelmed = 1 - stats.poisson.cdf(4, lam)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print(f"P(5 or more calls) = {overwhelmed:.3f}")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0.185  -&gt; about one hour in five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--- 2. what would two agents give us?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two agents handle 8 an hour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print(1 - stats.poisson.cdf(8, lam))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0.0038 -&gt; about one hour in 260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--- 3. express it as hours per month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= 8 * 22                      # a working month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agents in (1, 2, 3):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 = 4 * agents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 = 1 - stats.poisson.cdf(cap, lam)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print(f"{agents} agent(s): overwhelmed {risk*hours:5.1f} hours/month")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6916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8196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7465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matches the interval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9933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 hour, asked per hour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3774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5054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432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cdf(4), not cdf(5)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6791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 or more” = 1 - cdf(4)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30632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31912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31181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probability, not a count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33649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0.185 of hours, not 0.185 calls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7490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8770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a unit people feel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40507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“hours per month” beats 0.185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44348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45628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4489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options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7365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needs alternatives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5120640"/>
            <a:ext cx="4206240" cy="585216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5248656"/>
            <a:ext cx="118872" cy="329184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51755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alone is useless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54223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&lt; 4, so “we are fine” — wrong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984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note is the real lesson: the average load is 3 and capacity is 4, so an average-based answer says “no problem”.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4708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282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665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pmf, cdf, at-least, mean, λ scaling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865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61488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61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642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9809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Off-by-one, wrong interval, wrong model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7797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675888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5570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8953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compute, compare, decide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694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75895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590288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471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0974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staffing decision, and a model that fails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6085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45920"/>
            <a:ext cx="3200400" cy="2907792"/>
          </a:xfrm>
          <a:prstGeom prst="roundRect">
            <a:avLst>
              <a:gd name="adj" fmla="val 283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Day25_Practice_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“out of” or “per”?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bars when unsure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5504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answer, say what it means in words. “0.185” is not an answer; “about one hour in five” is.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23–24 measured quantities. Today we COUNT events.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are whole numbers, so we get bars, not a curve.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needs four things: fixed n, two outcomes, same p, independence.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formula is C(n,k) × p^k × (1−p)^(n−k) — paths × successes × failures.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C(n,k) is just “how many orders give k successes”. For n=3: 1, 3, 3, 1.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mean = np, sd = √(np(1−p)).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“At least k” is 1 − cdf(k−1). Using cdf(k) is the classic error.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is for a RATE with no countable n: calls per hour, typos per page.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one number, λ — and λ must match your interval.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mean = variance = λ. If var ≫ mean, events are clustering.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question: “out of” → binomial, “per” → Poisson.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→ Poisson as n grows; both → Normal. Day 27 says why.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 all 16 outcomes of 4 coin flips and check they give C(4,k)  ·  Find three situations at your own workplace or studies, one binomial and one Poisson, and say which condition decided it  ·  Redo the staffing build with λ = 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2.6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uniform distribution — when every outcome is equally likely. The simplest distribution of all, and the one every random number generator is built 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25 - Binomial &amp; Poisson</dc:title>
  <dc:subject>PptxGenJS Presentation</dc:subject>
  <dc:creator>Data Science Program</dc:creator>
  <cp:lastModifiedBy>Data Science Program</cp:lastModifiedBy>
  <cp:revision>1</cp:revision>
  <dcterms:created xsi:type="dcterms:W3CDTF">2026-10-10T11:54:22Z</dcterms:created>
  <dcterms:modified xsi:type="dcterms:W3CDTF">2026-10-10T11:54:22Z</dcterms:modified>
</cp:coreProperties>
</file>