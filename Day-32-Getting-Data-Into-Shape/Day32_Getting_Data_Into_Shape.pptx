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Day 31 got words into the model. Today is about getting the NUMBERS into a usable state. Same slow pace: one idea, one picture.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3E7C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52560" y="-1645920"/>
            <a:ext cx="5120640" cy="5120640"/>
          </a:xfrm>
          <a:prstGeom prst="ellipse">
            <a:avLst/>
          </a:prstGeom>
          <a:solidFill>
            <a:srgbClr val="1A2A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332720" y="4114800"/>
            <a:ext cx="3291840" cy="3291840"/>
          </a:xfrm>
          <a:prstGeom prst="ellipse">
            <a:avLst/>
          </a:prstGeom>
          <a:solidFill>
            <a:srgbClr val="1624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417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40" kern="0" dirty="0">
                <a:solidFill>
                  <a:srgbClr val="F0A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 ·  MACHINE LEARNING  ·  DAY 32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18288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Getting Data</a:t>
            </a:r>
            <a:endParaRPr lang="en-US" sz="42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57860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8FB4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Into Shape</a:t>
            </a:r>
            <a:endParaRPr lang="en-US" sz="4200" dirty="0"/>
          </a:p>
        </p:txBody>
      </p:sp>
      <p:sp>
        <p:nvSpPr>
          <p:cNvPr id="8" name="Text 6"/>
          <p:cNvSpPr txBox="1"/>
          <p:nvPr/>
        </p:nvSpPr>
        <p:spPr>
          <a:xfrm>
            <a:off x="932688" y="345643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i="1" dirty="0">
                <a:solidFill>
                  <a:srgbClr val="AE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Scaling, building new columns, and throwing away the useless ones.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914400" y="4160520"/>
            <a:ext cx="2240280" cy="914400"/>
          </a:xfrm>
          <a:prstGeom prst="roundRect">
            <a:avLst>
              <a:gd name="adj" fmla="val 10000"/>
            </a:avLst>
          </a:prstGeom>
          <a:solidFill>
            <a:srgbClr val="1C2E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143000" y="4279392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A5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47000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429000" y="4160520"/>
            <a:ext cx="2240280" cy="914400"/>
          </a:xfrm>
          <a:prstGeom prst="roundRect">
            <a:avLst>
              <a:gd name="adj" fmla="val 10000"/>
            </a:avLst>
          </a:prstGeom>
          <a:solidFill>
            <a:srgbClr val="1C2E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657600" y="4279392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A5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3657600" y="47000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pictures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943600" y="4160520"/>
            <a:ext cx="2240280" cy="914400"/>
          </a:xfrm>
          <a:prstGeom prst="roundRect">
            <a:avLst>
              <a:gd name="adj" fmla="val 10000"/>
            </a:avLst>
          </a:prstGeom>
          <a:solidFill>
            <a:srgbClr val="1C2E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172200" y="4279392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A5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6172200" y="47000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scalers, by hand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144000" y="1417320"/>
            <a:ext cx="246888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203200" dist="38100" dir="5400000">
              <a:srgbClr val="000000">
                <a:alpha val="40000"/>
              </a:srgbClr>
            </a:outerShdw>
          </a:effectLst>
        </p:spPr>
      </p:sp>
      <p:pic>
        <p:nvPicPr>
          <p:cNvPr id="19" name="Image 0" descr="/home/claude/d32/bu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5752" y="1764792"/>
            <a:ext cx="1865376" cy="1737360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9144000" y="400507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AE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Boston University</a:t>
            </a:r>
            <a:endParaRPr lang="en-US" sz="1150" dirty="0"/>
          </a:p>
        </p:txBody>
      </p:sp>
      <p:sp>
        <p:nvSpPr>
          <p:cNvPr id="21" name="Text 18"/>
          <p:cNvSpPr txBox="1"/>
          <p:nvPr/>
        </p:nvSpPr>
        <p:spPr>
          <a:xfrm>
            <a:off x="932688" y="58521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&amp; presented by  </a:t>
            </a:r>
            <a:pPr indent="0" marL="0">
              <a:buNone/>
            </a:pPr>
            <a:r>
              <a:rPr lang="en-US" sz="1300" b="1" dirty="0">
                <a:solidFill>
                  <a:srgbClr val="F0A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Srinivasa Sai Chava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863840" y="646480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Srinivasa Sai Chava  ·  Boston University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12064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731520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35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Last time we got words in. Today we fix the numbers.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85216" y="1444752"/>
            <a:ext cx="640080" cy="50292"/>
          </a:xfrm>
          <a:prstGeom prst="roundRect">
            <a:avLst>
              <a:gd name="adj" fmla="val 45455"/>
            </a:avLst>
          </a:prstGeom>
          <a:solidFill>
            <a:srgbClr val="3E7C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737360"/>
            <a:ext cx="11064240" cy="1152144"/>
          </a:xfrm>
          <a:prstGeom prst="roundRect">
            <a:avLst>
              <a:gd name="adj" fmla="val 7937"/>
            </a:avLst>
          </a:prstGeom>
          <a:solidFill>
            <a:srgbClr val="EBF2FA"/>
          </a:solidFill>
          <a:ln w="20320">
            <a:solidFill>
              <a:srgbClr val="3E7CB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190195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time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2697480" y="1865376"/>
            <a:ext cx="5029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3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"Dell" became three yes/no columns, and the model could finally read it.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955280" y="1892808"/>
            <a:ext cx="33832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every column is a number — so we are done, surely?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66928" y="3035808"/>
            <a:ext cx="11064240" cy="1152144"/>
          </a:xfrm>
          <a:prstGeom prst="roundRect">
            <a:avLst>
              <a:gd name="adj" fmla="val 7937"/>
            </a:avLst>
          </a:prstGeom>
          <a:solidFill>
            <a:srgbClr val="FCEBE7"/>
          </a:solidFill>
          <a:ln w="20320">
            <a:solidFill>
              <a:srgbClr val="E05C4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8680" y="32004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5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697480" y="3163824"/>
            <a:ext cx="5029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3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price column runs to 80,000. A RAM column stops at 16.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955280" y="3191256"/>
            <a:ext cx="33832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 model, the big column shouts and the small one whispers.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6928" y="4334256"/>
            <a:ext cx="11064240" cy="1152144"/>
          </a:xfrm>
          <a:prstGeom prst="roundRect">
            <a:avLst>
              <a:gd name="adj" fmla="val 7937"/>
            </a:avLst>
          </a:prstGeom>
          <a:solidFill>
            <a:srgbClr val="E6F5F1"/>
          </a:solidFill>
          <a:ln w="20320">
            <a:solidFill>
              <a:srgbClr val="1F9E8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68680" y="449884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9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2697480" y="4462272"/>
            <a:ext cx="5029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3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every column on a fair footing, build better columns, and delete the ones that do not help.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955280" y="4489704"/>
            <a:ext cx="33832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step that decides whether a model works at all.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66928" y="5596128"/>
            <a:ext cx="11064240" cy="731520"/>
          </a:xfrm>
          <a:prstGeom prst="roundRect">
            <a:avLst>
              <a:gd name="adj" fmla="val 12500"/>
            </a:avLst>
          </a:prstGeom>
          <a:solidFill>
            <a:srgbClr val="EDF1F8"/>
          </a:solidFill>
          <a:ln w="17780">
            <a:solidFill>
              <a:srgbClr val="1B355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66928" y="5596128"/>
            <a:ext cx="82296" cy="731520"/>
          </a:xfrm>
          <a:prstGeom prst="roundRect">
            <a:avLst>
              <a:gd name="adj" fmla="val 44444"/>
            </a:avLst>
          </a:prstGeom>
          <a:solidFill>
            <a:srgbClr val="1B35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68680" y="5669280"/>
            <a:ext cx="10607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today is hard. But skip it and even a good model will quietly give you nonsense.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863840" y="646480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Srinivasa Sai Chava  ·  Boston University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12064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731520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35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we are going today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85216" y="1444752"/>
            <a:ext cx="640080" cy="50292"/>
          </a:xfrm>
          <a:prstGeom prst="roundRect">
            <a:avLst>
              <a:gd name="adj" fmla="val 45455"/>
            </a:avLst>
          </a:prstGeom>
          <a:solidFill>
            <a:srgbClr val="3E7CB1"/>
          </a:solidFill>
          <a:ln w="12700">
            <a:solidFill>
              <a:srgbClr val="333333"/>
            </a:solidFill>
            <a:prstDash val="solid"/>
          </a:ln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83080"/>
          <a:ext cx="11064240" cy="914400"/>
        </p:xfrm>
        <a:graphic>
          <a:graphicData uri="http://schemas.openxmlformats.org/drawingml/2006/table">
            <a:tbl>
              <a:tblPr/>
              <a:tblGrid>
                <a:gridCol w="594360"/>
                <a:gridCol w="3017520"/>
                <a:gridCol w="5989320"/>
                <a:gridCol w="146304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55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55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question it answers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55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55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scaling matters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does a bigger column drown out a smaller one?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min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three scalers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do we fix it, and which one do I pick?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min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Making new features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 I give the model columns it could never work out itself?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min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 many features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more columns always better? (No.)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min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Put it together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what ORDER do I do all of this?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min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66928" y="5120640"/>
            <a:ext cx="11064240" cy="731520"/>
          </a:xfrm>
          <a:prstGeom prst="roundRect">
            <a:avLst>
              <a:gd name="adj" fmla="val 12500"/>
            </a:avLst>
          </a:prstGeom>
          <a:solidFill>
            <a:srgbClr val="EDF1F8"/>
          </a:solidFill>
          <a:ln w="17780">
            <a:solidFill>
              <a:srgbClr val="1B355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66928" y="5120640"/>
            <a:ext cx="82296" cy="731520"/>
          </a:xfrm>
          <a:prstGeom prst="roundRect">
            <a:avLst>
              <a:gd name="adj" fmla="val 44444"/>
            </a:avLst>
          </a:prstGeom>
          <a:solidFill>
            <a:srgbClr val="1B35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68680" y="5193792"/>
            <a:ext cx="10607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is the one to write down. Doing these steps in the wrong ORDER is the single most common mistake in machine learning.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3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E7C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81360" y="-1828800"/>
            <a:ext cx="4206240" cy="4206240"/>
          </a:xfrm>
          <a:prstGeom prst="ellipse">
            <a:avLst/>
          </a:prstGeom>
          <a:solidFill>
            <a:srgbClr val="1A2A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509760" y="4937760"/>
            <a:ext cx="2926080" cy="2926080"/>
          </a:xfrm>
          <a:prstGeom prst="ellipse">
            <a:avLst/>
          </a:prstGeom>
          <a:solidFill>
            <a:srgbClr val="1727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920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OF 5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267712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scaling matters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932688" y="3218688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AE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column can be a thousand times bigger than another — and some models cannot tell the difference between big and important.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144000" y="2450592"/>
            <a:ext cx="91440" cy="91440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381744" y="23774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loudest column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144000" y="2871216"/>
            <a:ext cx="91440" cy="91440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381744" y="279806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mistake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9144000" y="3291840"/>
            <a:ext cx="91440" cy="91440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381744" y="32186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needs scaling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144000" y="3712464"/>
            <a:ext cx="91440" cy="91440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381744" y="36393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scaling does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7863840" y="646480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Srinivasa Sai Chava  ·  Boston University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863840" y="646480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Srinivasa Sai Chava  ·  Boston University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6692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3E7C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556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6420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1284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6148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20440" y="192024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7B8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5   Why scaling matters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512064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 · THE PROBLEM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731520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35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columns, wildly different sizes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585216" y="1444752"/>
            <a:ext cx="640080" cy="50292"/>
          </a:xfrm>
          <a:prstGeom prst="roundRect">
            <a:avLst>
              <a:gd name="adj" fmla="val 45455"/>
            </a:avLst>
          </a:prstGeom>
          <a:solidFill>
            <a:srgbClr val="3E7CB1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2" name="Image 0" descr="/home/claude/d32/fig/scale_mismat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783080"/>
            <a:ext cx="10515600" cy="2344615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566928" y="4572000"/>
            <a:ext cx="11064240" cy="731520"/>
          </a:xfrm>
          <a:prstGeom prst="roundRect">
            <a:avLst>
              <a:gd name="adj" fmla="val 12500"/>
            </a:avLst>
          </a:prstGeom>
          <a:solidFill>
            <a:srgbClr val="EBF2FA"/>
          </a:solidFill>
          <a:ln w="17780">
            <a:solidFill>
              <a:srgbClr val="3E7CB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66928" y="4572000"/>
            <a:ext cx="82296" cy="731520"/>
          </a:xfrm>
          <a:prstGeom prst="roundRect">
            <a:avLst>
              <a:gd name="adj" fmla="val 44444"/>
            </a:avLst>
          </a:prstGeom>
          <a:solidFill>
            <a:srgbClr val="3E7C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68680" y="4645152"/>
            <a:ext cx="10607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wrong with the data. Both columns are correct. But any model that measures DISTANCE will barely notice the RAM column exists.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566928" y="5440680"/>
            <a:ext cx="11064240" cy="841248"/>
          </a:xfrm>
          <a:prstGeom prst="roundRect">
            <a:avLst>
              <a:gd name="adj" fmla="val 10870"/>
            </a:avLst>
          </a:prstGeom>
          <a:solidFill>
            <a:srgbClr val="EDF1F8"/>
          </a:solidFill>
          <a:ln w="20320">
            <a:solidFill>
              <a:srgbClr val="1B3558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68680" y="55412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distance?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2743200" y="553212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Lots of models work by asking "which other rows look like this one?" To answer that they add up how far apart the columns are — and a column measured in thousands dominates that sum completely.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863840" y="646480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Srinivasa Sai Chava  ·  Boston University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6692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3E7C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556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6420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1284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6148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20440" y="192024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7B8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5   Why scaling matters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512064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· A REAL MISTAKE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731520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35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Watch it pick the wrong phone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585216" y="1444752"/>
            <a:ext cx="640080" cy="50292"/>
          </a:xfrm>
          <a:prstGeom prst="roundRect">
            <a:avLst>
              <a:gd name="adj" fmla="val 45455"/>
            </a:avLst>
          </a:prstGeom>
          <a:solidFill>
            <a:srgbClr val="3E7CB1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2" name="Image 0" descr="/home/claude/d32/fig/which_pho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4560" y="1627632"/>
            <a:ext cx="7772400" cy="2992838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566928" y="5596128"/>
            <a:ext cx="11064240" cy="731520"/>
          </a:xfrm>
          <a:prstGeom prst="roundRect">
            <a:avLst>
              <a:gd name="adj" fmla="val 12500"/>
            </a:avLst>
          </a:prstGeom>
          <a:solidFill>
            <a:srgbClr val="FCEBE7"/>
          </a:solidFill>
          <a:ln w="17780">
            <a:solidFill>
              <a:srgbClr val="E05C4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66928" y="5596128"/>
            <a:ext cx="82296" cy="731520"/>
          </a:xfrm>
          <a:prstGeom prst="roundRect">
            <a:avLst>
              <a:gd name="adj" fmla="val 44444"/>
            </a:avLst>
          </a:prstGeom>
          <a:solidFill>
            <a:srgbClr val="E05C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68680" y="5669280"/>
            <a:ext cx="10607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B has TWICE the RAM. It was never the similar one — the price column was simply louder.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863840" y="646480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Srinivasa Sai Chava  ·  Boston University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6692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3E7C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556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6420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1284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6148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20440" y="192024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7B8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5   Why scaling matters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822960" y="2331720"/>
            <a:ext cx="82296" cy="1828800"/>
          </a:xfrm>
          <a:prstGeom prst="roundRect">
            <a:avLst>
              <a:gd name="adj" fmla="val 44444"/>
            </a:avLst>
          </a:prstGeom>
          <a:solidFill>
            <a:srgbClr val="3E7C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234440" y="2286000"/>
            <a:ext cx="9966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3600" b="1" dirty="0">
                <a:solidFill>
                  <a:srgbClr val="1B35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Scaling does not make your data better.</a:t>
            </a:r>
            <a:endParaRPr lang="en-US" sz="3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3600" b="1" dirty="0">
                <a:solidFill>
                  <a:srgbClr val="1B35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makes every column equally LOUD.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1252728" y="374904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information is identical afterwards. Only the volume changes.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863840" y="646480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Srinivasa Sai Chava  ·  Boston University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6692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3E7C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556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6420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1284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6148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20440" y="192024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7B8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5   Why scaling matters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512064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 · WHO NEEDS SCALING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731520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35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 who actually needs it?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585216" y="1444752"/>
            <a:ext cx="640080" cy="50292"/>
          </a:xfrm>
          <a:prstGeom prst="roundRect">
            <a:avLst>
              <a:gd name="adj" fmla="val 45455"/>
            </a:avLst>
          </a:prstGeom>
          <a:solidFill>
            <a:srgbClr val="3E7CB1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2" name="Image 0" descr="/home/claude/d32/fig/who_need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1691640"/>
            <a:ext cx="9601200" cy="2746339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566928" y="457200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E6F5F1"/>
          </a:solidFill>
          <a:ln w="20320">
            <a:solidFill>
              <a:srgbClr val="1F9E8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22960" y="471830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9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YES, badly</a:t>
            </a:r>
            <a:endParaRPr lang="en-US" sz="1450" dirty="0"/>
          </a:p>
        </p:txBody>
      </p:sp>
      <p:sp>
        <p:nvSpPr>
          <p:cNvPr id="15" name="Text 12"/>
          <p:cNvSpPr txBox="1"/>
          <p:nvPr/>
        </p:nvSpPr>
        <p:spPr>
          <a:xfrm>
            <a:off x="822960" y="5047488"/>
            <a:ext cx="3035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3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k-nearest neighbours · SVM · k-means · PCA · neural networks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822960" y="5632704"/>
            <a:ext cx="30358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that measures distance between rows.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4288536" y="457200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F2F5F9"/>
          </a:solidFill>
          <a:ln w="20320">
            <a:solidFill>
              <a:srgbClr val="E2E8F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544568" y="471830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7B8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NO, never</a:t>
            </a:r>
            <a:endParaRPr lang="en-US" sz="1450" dirty="0"/>
          </a:p>
        </p:txBody>
      </p:sp>
      <p:sp>
        <p:nvSpPr>
          <p:cNvPr id="19" name="Text 16"/>
          <p:cNvSpPr txBox="1"/>
          <p:nvPr/>
        </p:nvSpPr>
        <p:spPr>
          <a:xfrm>
            <a:off x="4544568" y="5047488"/>
            <a:ext cx="3035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3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trees · random forests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4544568" y="5632704"/>
            <a:ext cx="30358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tree asks "is RAM above 8?" — bigger numbers change nothing.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8010144" y="457200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FDF3E0"/>
          </a:solidFill>
          <a:ln w="20320">
            <a:solidFill>
              <a:srgbClr val="F0A530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266176" y="471830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A8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Yes, but not for accuracy</a:t>
            </a:r>
            <a:endParaRPr lang="en-US" sz="1450" dirty="0"/>
          </a:p>
        </p:txBody>
      </p:sp>
      <p:sp>
        <p:nvSpPr>
          <p:cNvPr id="23" name="Text 20"/>
          <p:cNvSpPr txBox="1"/>
          <p:nvPr/>
        </p:nvSpPr>
        <p:spPr>
          <a:xfrm>
            <a:off x="8266176" y="5047488"/>
            <a:ext cx="3035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3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&amp; logistic regression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8266176" y="5632704"/>
            <a:ext cx="30358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them for speed and readable weights, not for a better score.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863840" y="646480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Srinivasa Sai Chava  ·  Boston University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6692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3E7C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556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6420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1284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6148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20440" y="192024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7B8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5   Why scaling matters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512064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 · BEFORE AND AFTER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731520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35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what it looks like on the data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585216" y="1444752"/>
            <a:ext cx="640080" cy="50292"/>
          </a:xfrm>
          <a:prstGeom prst="roundRect">
            <a:avLst>
              <a:gd name="adj" fmla="val 45455"/>
            </a:avLst>
          </a:prstGeom>
          <a:solidFill>
            <a:srgbClr val="3E7CB1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2" name="Image 0" descr="/home/claude/d32/fig/before_af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7360" y="1691640"/>
            <a:ext cx="8686800" cy="2987208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566928" y="4937760"/>
            <a:ext cx="11064240" cy="731520"/>
          </a:xfrm>
          <a:prstGeom prst="roundRect">
            <a:avLst>
              <a:gd name="adj" fmla="val 12500"/>
            </a:avLst>
          </a:prstGeom>
          <a:solidFill>
            <a:srgbClr val="EBF2FA"/>
          </a:solidFill>
          <a:ln w="17780">
            <a:solidFill>
              <a:srgbClr val="3E7CB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66928" y="4937760"/>
            <a:ext cx="82296" cy="731520"/>
          </a:xfrm>
          <a:prstGeom prst="roundRect">
            <a:avLst>
              <a:gd name="adj" fmla="val 44444"/>
            </a:avLst>
          </a:prstGeom>
          <a:solidFill>
            <a:srgbClr val="3E7C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68680" y="5010912"/>
            <a:ext cx="10607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the same cloud of points. Only the numbers on the axes moved. Scaling never throws anything away.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3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9E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81360" y="-1828800"/>
            <a:ext cx="4206240" cy="4206240"/>
          </a:xfrm>
          <a:prstGeom prst="ellipse">
            <a:avLst/>
          </a:prstGeom>
          <a:solidFill>
            <a:srgbClr val="1A2A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509760" y="4937760"/>
            <a:ext cx="2926080" cy="2926080"/>
          </a:xfrm>
          <a:prstGeom prst="ellipse">
            <a:avLst/>
          </a:prstGeom>
          <a:solidFill>
            <a:srgbClr val="1727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920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1F9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OF 5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267712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three scalers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932688" y="3218688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AE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ways to do it. Worked by hand on six salaries, so you can see exactly what each one does.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144000" y="2450592"/>
            <a:ext cx="91440" cy="91440"/>
          </a:xfrm>
          <a:prstGeom prst="ellipse">
            <a:avLst/>
          </a:prstGeom>
          <a:solidFill>
            <a:srgbClr val="1F9E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381744" y="23774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144000" y="2871216"/>
            <a:ext cx="91440" cy="91440"/>
          </a:xfrm>
          <a:prstGeom prst="ellipse">
            <a:avLst/>
          </a:prstGeom>
          <a:solidFill>
            <a:srgbClr val="1F9E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381744" y="279806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Min-max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9144000" y="3291840"/>
            <a:ext cx="91440" cy="91440"/>
          </a:xfrm>
          <a:prstGeom prst="ellipse">
            <a:avLst/>
          </a:prstGeom>
          <a:solidFill>
            <a:srgbClr val="1F9E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381744" y="32186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144000" y="3712464"/>
            <a:ext cx="91440" cy="91440"/>
          </a:xfrm>
          <a:prstGeom prst="ellipse">
            <a:avLst/>
          </a:prstGeom>
          <a:solidFill>
            <a:srgbClr val="1F9E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381744" y="36393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to pick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7863840" y="646480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Srinivasa Sai Chava  ·  Boston University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863840" y="646480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Srinivasa Sai Chava  ·  Boston University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6692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556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1F9E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6420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1284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6148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20440" y="192024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7B8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   The three scalers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512064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1F9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· SIDE BY SIDE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731520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35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salaries, three scalers, all worked out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585216" y="1444752"/>
            <a:ext cx="640080" cy="50292"/>
          </a:xfrm>
          <a:prstGeom prst="roundRect">
            <a:avLst>
              <a:gd name="adj" fmla="val 45455"/>
            </a:avLst>
          </a:prstGeom>
          <a:solidFill>
            <a:srgbClr val="1F9E86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2" name="Image 0" descr="/home/claude/d32/fig/three_scal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627632"/>
            <a:ext cx="9418320" cy="3518237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566928" y="5440680"/>
            <a:ext cx="11064240" cy="731520"/>
          </a:xfrm>
          <a:prstGeom prst="roundRect">
            <a:avLst>
              <a:gd name="adj" fmla="val 12500"/>
            </a:avLst>
          </a:prstGeom>
          <a:solidFill>
            <a:srgbClr val="E6F5F1"/>
          </a:solidFill>
          <a:ln w="17780">
            <a:solidFill>
              <a:srgbClr val="1F9E8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66928" y="5440680"/>
            <a:ext cx="82296" cy="731520"/>
          </a:xfrm>
          <a:prstGeom prst="roundRect">
            <a:avLst>
              <a:gd name="adj" fmla="val 44444"/>
            </a:avLst>
          </a:prstGeom>
          <a:solidFill>
            <a:srgbClr val="1F9E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68680" y="5513832"/>
            <a:ext cx="10607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keep the ORDER. All three keep the information. They differ only in what they are measured against.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863840" y="646480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Srinivasa Sai Chava  ·  Boston University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6692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556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1F9E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6420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1284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6148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20440" y="192024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7B8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   The three scalers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512064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1F9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 · IN WORDS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731520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35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each one is really measuring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585216" y="1444752"/>
            <a:ext cx="640080" cy="50292"/>
          </a:xfrm>
          <a:prstGeom prst="roundRect">
            <a:avLst>
              <a:gd name="adj" fmla="val 45455"/>
            </a:avLst>
          </a:prstGeom>
          <a:solidFill>
            <a:srgbClr val="1F9E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" y="1737360"/>
            <a:ext cx="11064240" cy="1188720"/>
          </a:xfrm>
          <a:prstGeom prst="roundRect">
            <a:avLst>
              <a:gd name="adj" fmla="val 7692"/>
            </a:avLst>
          </a:prstGeom>
          <a:solidFill>
            <a:srgbClr val="EBF2FA"/>
          </a:solidFill>
          <a:ln w="20320">
            <a:solidFill>
              <a:srgbClr val="3E7CB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68680" y="190195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226771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1F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(x − mean) ÷ sd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3291840" y="19202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3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many standard deviations from average is this?"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291840" y="239572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centred on 0, usually between −3 and +3. No upper limit.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66928" y="3054096"/>
            <a:ext cx="11064240" cy="1188720"/>
          </a:xfrm>
          <a:prstGeom prst="roundRect">
            <a:avLst>
              <a:gd name="adj" fmla="val 7692"/>
            </a:avLst>
          </a:prstGeom>
          <a:solidFill>
            <a:srgbClr val="FDF3E0"/>
          </a:solidFill>
          <a:ln w="20320">
            <a:solidFill>
              <a:srgbClr val="F0A53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68680" y="321868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A8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MIN-MAX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868680" y="358444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1F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(x − min) ÷ range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3291840" y="3236976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3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"Where does this sit between the smallest and largest?"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3291840" y="371246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always between 0 and 1 — but defined by just two values.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66928" y="4370832"/>
            <a:ext cx="11064240" cy="1188720"/>
          </a:xfrm>
          <a:prstGeom prst="roundRect">
            <a:avLst>
              <a:gd name="adj" fmla="val 7692"/>
            </a:avLst>
          </a:prstGeom>
          <a:solidFill>
            <a:srgbClr val="E6F5F1"/>
          </a:solidFill>
          <a:ln w="20320">
            <a:solidFill>
              <a:srgbClr val="1F9E8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68680" y="453542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9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</a:t>
            </a:r>
            <a:endParaRPr lang="en-US" sz="1550" dirty="0"/>
          </a:p>
        </p:txBody>
      </p:sp>
      <p:sp>
        <p:nvSpPr>
          <p:cNvPr id="24" name="Text 22"/>
          <p:cNvSpPr txBox="1"/>
          <p:nvPr/>
        </p:nvSpPr>
        <p:spPr>
          <a:xfrm>
            <a:off x="868680" y="490118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1F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(x − median) ÷ IQR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3291840" y="455371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3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far from the typical value is this?"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3291840" y="50292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the middle of the data, so one wild value cannot move it.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66928" y="5596128"/>
            <a:ext cx="11064240" cy="731520"/>
          </a:xfrm>
          <a:prstGeom prst="roundRect">
            <a:avLst>
              <a:gd name="adj" fmla="val 12500"/>
            </a:avLst>
          </a:prstGeom>
          <a:solidFill>
            <a:srgbClr val="E6F5F1"/>
          </a:solidFill>
          <a:ln w="17780">
            <a:solidFill>
              <a:srgbClr val="1F9E8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66928" y="5596128"/>
            <a:ext cx="82296" cy="731520"/>
          </a:xfrm>
          <a:prstGeom prst="roundRect">
            <a:avLst>
              <a:gd name="adj" fmla="val 44444"/>
            </a:avLst>
          </a:prstGeom>
          <a:solidFill>
            <a:srgbClr val="1F9E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68680" y="5669280"/>
            <a:ext cx="10607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six numbers in. Three different questions answered.</a:t>
            </a:r>
            <a:endParaRPr lang="en-US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863840" y="646480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Srinivasa Sai Chava  ·  Boston University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6692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556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1F9E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6420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1284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6148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20440" y="192024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7B8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   The three scalers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512064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1F9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 · THE OUTLIER TEST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731520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35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⚠️ Now watch what one CEO does to each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585216" y="1444752"/>
            <a:ext cx="640080" cy="50292"/>
          </a:xfrm>
          <a:prstGeom prst="roundRect">
            <a:avLst>
              <a:gd name="adj" fmla="val 45455"/>
            </a:avLst>
          </a:prstGeom>
          <a:solidFill>
            <a:srgbClr val="1F9E86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2" name="Image 0" descr="/home/claude/d32/fig/scaler_outli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8760" y="1719072"/>
            <a:ext cx="9144000" cy="2471351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566928" y="4297680"/>
            <a:ext cx="35204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52400" dist="25400" dir="5400000">
              <a:srgbClr val="A9B6C9">
                <a:alpha val="2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66928" y="4297680"/>
            <a:ext cx="3520440" cy="73152"/>
          </a:xfrm>
          <a:prstGeom prst="roundRect">
            <a:avLst>
              <a:gd name="adj" fmla="val 37500"/>
            </a:avLst>
          </a:prstGeom>
          <a:solidFill>
            <a:srgbClr val="3E7C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66928" y="4498848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E7CB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0.15</a:t>
            </a:r>
            <a:endParaRPr lang="en-US" sz="3000" dirty="0"/>
          </a:p>
        </p:txBody>
      </p:sp>
      <p:sp>
        <p:nvSpPr>
          <p:cNvPr id="16" name="Text 13"/>
          <p:cNvSpPr txBox="1"/>
          <p:nvPr/>
        </p:nvSpPr>
        <p:spPr>
          <a:xfrm>
            <a:off x="704088" y="5102352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STANDARD: the five staff squeezed into this much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4334256" y="4297680"/>
            <a:ext cx="35204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52400" dist="25400" dir="5400000">
              <a:srgbClr val="A9B6C9">
                <a:alpha val="2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334256" y="4297680"/>
            <a:ext cx="3520440" cy="73152"/>
          </a:xfrm>
          <a:prstGeom prst="roundRect">
            <a:avLst>
              <a:gd name="adj" fmla="val 37500"/>
            </a:avLst>
          </a:prstGeom>
          <a:solidFill>
            <a:srgbClr val="F0A5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334256" y="4498848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A86F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0.05</a:t>
            </a:r>
            <a:endParaRPr lang="en-US" sz="3000" dirty="0"/>
          </a:p>
        </p:txBody>
      </p:sp>
      <p:sp>
        <p:nvSpPr>
          <p:cNvPr id="20" name="Text 17"/>
          <p:cNvSpPr txBox="1"/>
          <p:nvPr/>
        </p:nvSpPr>
        <p:spPr>
          <a:xfrm>
            <a:off x="4471416" y="5102352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MIN-MAX: squeezed into almost nothing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8101584" y="4297680"/>
            <a:ext cx="3529584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52400" dist="25400" dir="5400000">
              <a:srgbClr val="A9B6C9">
                <a:alpha val="2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8101584" y="4297680"/>
            <a:ext cx="3529584" cy="73152"/>
          </a:xfrm>
          <a:prstGeom prst="roundRect">
            <a:avLst>
              <a:gd name="adj" fmla="val 37500"/>
            </a:avLst>
          </a:prstGeom>
          <a:solidFill>
            <a:srgbClr val="1F9E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101584" y="4498848"/>
            <a:ext cx="3529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9E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1.60</a:t>
            </a:r>
            <a:endParaRPr lang="en-US" sz="3000" dirty="0"/>
          </a:p>
        </p:txBody>
      </p:sp>
      <p:sp>
        <p:nvSpPr>
          <p:cNvPr id="24" name="Text 21"/>
          <p:cNvSpPr txBox="1"/>
          <p:nvPr/>
        </p:nvSpPr>
        <p:spPr>
          <a:xfrm>
            <a:off x="8238744" y="5102352"/>
            <a:ext cx="3255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ROBUST: still properly spread out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566928" y="5596128"/>
            <a:ext cx="11064240" cy="731520"/>
          </a:xfrm>
          <a:prstGeom prst="roundRect">
            <a:avLst>
              <a:gd name="adj" fmla="val 12500"/>
            </a:avLst>
          </a:prstGeom>
          <a:solidFill>
            <a:srgbClr val="FCEBE7"/>
          </a:solidFill>
          <a:ln w="17780">
            <a:solidFill>
              <a:srgbClr val="E05C45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66928" y="5596128"/>
            <a:ext cx="82296" cy="731520"/>
          </a:xfrm>
          <a:prstGeom prst="roundRect">
            <a:avLst>
              <a:gd name="adj" fmla="val 44444"/>
            </a:avLst>
          </a:prstGeom>
          <a:solidFill>
            <a:srgbClr val="E05C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68680" y="5669280"/>
            <a:ext cx="10607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Min-max is defined by the min and the max — the two values in your data most likely to be wrong.</a:t>
            </a:r>
            <a:endParaRPr lang="en-US" sz="14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863840" y="646480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Srinivasa Sai Chava  ·  Boston University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6692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556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1F9E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6420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1284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6148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20440" y="192024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7B8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   The three scalers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512064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1F9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 · THE DECISION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731520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35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 which one should I use?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585216" y="1444752"/>
            <a:ext cx="640080" cy="50292"/>
          </a:xfrm>
          <a:prstGeom prst="roundRect">
            <a:avLst>
              <a:gd name="adj" fmla="val 45455"/>
            </a:avLst>
          </a:prstGeom>
          <a:solidFill>
            <a:srgbClr val="1F9E86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2" name="Image 0" descr="/home/claude/d32/fig/which_scal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" y="1719072"/>
            <a:ext cx="9509760" cy="2429678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914400" y="4297680"/>
            <a:ext cx="10332720" cy="1078992"/>
          </a:xfrm>
          <a:prstGeom prst="roundRect">
            <a:avLst>
              <a:gd name="adj" fmla="val 6780"/>
            </a:avLst>
          </a:prstGeom>
          <a:solidFill>
            <a:srgbClr val="172540"/>
          </a:solidFill>
          <a:ln w="12700">
            <a:solidFill>
              <a:srgbClr val="17254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97280" y="4425696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E8EF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sklearn.preprocessing import StandardScaler</a:t>
            </a:r>
            <a:endParaRPr lang="en-US" sz="1350" dirty="0"/>
          </a:p>
          <a:p>
            <a:pPr indent="0" marL="0">
              <a:lnSpc>
                <a:spcPct val="114000"/>
              </a:lnSpc>
              <a:buNone/>
            </a:pPr>
            <a:endParaRPr lang="en-US" sz="13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E8EF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scaler = StandardScaler()          #  your default, nine times out of ten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566928" y="5596128"/>
            <a:ext cx="11064240" cy="731520"/>
          </a:xfrm>
          <a:prstGeom prst="roundRect">
            <a:avLst>
              <a:gd name="adj" fmla="val 12500"/>
            </a:avLst>
          </a:prstGeom>
          <a:solidFill>
            <a:srgbClr val="E6F5F1"/>
          </a:solidFill>
          <a:ln w="17780">
            <a:solidFill>
              <a:srgbClr val="1F9E8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66928" y="5596128"/>
            <a:ext cx="82296" cy="731520"/>
          </a:xfrm>
          <a:prstGeom prst="roundRect">
            <a:avLst>
              <a:gd name="adj" fmla="val 44444"/>
            </a:avLst>
          </a:prstGeom>
          <a:solidFill>
            <a:srgbClr val="1F9E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68680" y="5669280"/>
            <a:ext cx="10607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cannot decide, use StandardScaler. It is almost never the wrong answer.</a:t>
            </a:r>
            <a:endParaRPr lang="en-US" sz="14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3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0A5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81360" y="-1828800"/>
            <a:ext cx="4206240" cy="4206240"/>
          </a:xfrm>
          <a:prstGeom prst="ellipse">
            <a:avLst/>
          </a:prstGeom>
          <a:solidFill>
            <a:srgbClr val="1A2A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509760" y="4937760"/>
            <a:ext cx="2926080" cy="2926080"/>
          </a:xfrm>
          <a:prstGeom prst="ellipse">
            <a:avLst/>
          </a:prstGeom>
          <a:solidFill>
            <a:srgbClr val="1727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920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F0A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OF 5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267712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Making new features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932688" y="3218688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AE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Sometimes the column the model needs is not in your table — but you can build it out of the ones that are.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144000" y="2450592"/>
            <a:ext cx="91440" cy="91440"/>
          </a:xfrm>
          <a:prstGeom prst="ellipse">
            <a:avLst/>
          </a:prstGeom>
          <a:solidFill>
            <a:srgbClr val="F0A5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381744" y="23774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ratio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144000" y="2871216"/>
            <a:ext cx="91440" cy="91440"/>
          </a:xfrm>
          <a:prstGeom prst="ellipse">
            <a:avLst/>
          </a:prstGeom>
          <a:solidFill>
            <a:srgbClr val="F0A5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381744" y="279806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9144000" y="3291840"/>
            <a:ext cx="91440" cy="91440"/>
          </a:xfrm>
          <a:prstGeom prst="ellipse">
            <a:avLst/>
          </a:prstGeom>
          <a:solidFill>
            <a:srgbClr val="F0A5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381744" y="32186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recipes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144000" y="3712464"/>
            <a:ext cx="91440" cy="91440"/>
          </a:xfrm>
          <a:prstGeom prst="ellipse">
            <a:avLst/>
          </a:prstGeom>
          <a:solidFill>
            <a:srgbClr val="F0A5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381744" y="36393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it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7863840" y="646480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Srinivasa Sai Chava  ·  Boston University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863840" y="646480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Srinivasa Sai Chava  ·  Boston University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6692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556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6420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F0A5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1284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6148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20440" y="192024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7B8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   Making new features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512064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A8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 · BUILD A RATIO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731520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35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model cannot divide one column by another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585216" y="1444752"/>
            <a:ext cx="640080" cy="50292"/>
          </a:xfrm>
          <a:prstGeom prst="roundRect">
            <a:avLst>
              <a:gd name="adj" fmla="val 45455"/>
            </a:avLst>
          </a:prstGeom>
          <a:solidFill>
            <a:srgbClr val="F0A530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2" name="Image 0" descr="/home/claude/d32/fig/fe_rati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0" y="1682496"/>
            <a:ext cx="8503920" cy="2515209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2103120" y="4279392"/>
            <a:ext cx="37490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52400" dist="25400" dir="5400000">
              <a:srgbClr val="A9B6C9">
                <a:alpha val="2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103120" y="4279392"/>
            <a:ext cx="3749040" cy="73152"/>
          </a:xfrm>
          <a:prstGeom prst="roundRect">
            <a:avLst>
              <a:gd name="adj" fmla="val 37500"/>
            </a:avLst>
          </a:prstGeom>
          <a:solidFill>
            <a:srgbClr val="7B8AA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2103120" y="4480560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B8AA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0.390</a:t>
            </a:r>
            <a:endParaRPr lang="en-US" sz="3000" dirty="0"/>
          </a:p>
        </p:txBody>
      </p:sp>
      <p:sp>
        <p:nvSpPr>
          <p:cNvPr id="16" name="Text 13"/>
          <p:cNvSpPr txBox="1"/>
          <p:nvPr/>
        </p:nvSpPr>
        <p:spPr>
          <a:xfrm>
            <a:off x="2240280" y="508406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bill and the item count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6309360" y="4279392"/>
            <a:ext cx="37490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52400" dist="25400" dir="5400000">
              <a:srgbClr val="A9B6C9">
                <a:alpha val="2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309360" y="4279392"/>
            <a:ext cx="3749040" cy="73152"/>
          </a:xfrm>
          <a:prstGeom prst="roundRect">
            <a:avLst>
              <a:gd name="adj" fmla="val 37500"/>
            </a:avLst>
          </a:prstGeom>
          <a:solidFill>
            <a:srgbClr val="1F9E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309360" y="4480560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9E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0.883</a:t>
            </a:r>
            <a:endParaRPr lang="en-US" sz="3000" dirty="0"/>
          </a:p>
        </p:txBody>
      </p:sp>
      <p:sp>
        <p:nvSpPr>
          <p:cNvPr id="20" name="Text 17"/>
          <p:cNvSpPr txBox="1"/>
          <p:nvPr/>
        </p:nvSpPr>
        <p:spPr>
          <a:xfrm>
            <a:off x="6446520" y="508406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adding bill ÷ items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66928" y="5596128"/>
            <a:ext cx="11064240" cy="731520"/>
          </a:xfrm>
          <a:prstGeom prst="roundRect">
            <a:avLst>
              <a:gd name="adj" fmla="val 12500"/>
            </a:avLst>
          </a:prstGeom>
          <a:solidFill>
            <a:srgbClr val="E6F5F1"/>
          </a:solidFill>
          <a:ln w="17780">
            <a:solidFill>
              <a:srgbClr val="1F9E86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66928" y="5596128"/>
            <a:ext cx="82296" cy="731520"/>
          </a:xfrm>
          <a:prstGeom prst="roundRect">
            <a:avLst>
              <a:gd name="adj" fmla="val 44444"/>
            </a:avLst>
          </a:prstGeom>
          <a:solidFill>
            <a:srgbClr val="1F9E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68680" y="5669280"/>
            <a:ext cx="10607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new measurement was taken. We just rearranged two columns the model already had.</a:t>
            </a:r>
            <a:endParaRPr lang="en-US" sz="14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863840" y="646480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Srinivasa Sai Chava  ·  Boston University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6692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556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6420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F0A5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1284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6148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20440" y="192024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7B8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   Making new features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512064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A8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 · PULL A DATE APART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731520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35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date is never a feature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585216" y="1444752"/>
            <a:ext cx="640080" cy="50292"/>
          </a:xfrm>
          <a:prstGeom prst="roundRect">
            <a:avLst>
              <a:gd name="adj" fmla="val 45455"/>
            </a:avLst>
          </a:prstGeom>
          <a:solidFill>
            <a:srgbClr val="F0A5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" y="1737360"/>
            <a:ext cx="11064240" cy="676656"/>
          </a:xfrm>
          <a:prstGeom prst="roundRect">
            <a:avLst>
              <a:gd name="adj" fmla="val 13514"/>
            </a:avLst>
          </a:prstGeom>
          <a:solidFill>
            <a:srgbClr val="EDF1F8"/>
          </a:solidFill>
          <a:ln w="12700">
            <a:solidFill>
              <a:srgbClr val="D5DE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892808"/>
            <a:ext cx="1170432" cy="365760"/>
          </a:xfrm>
          <a:prstGeom prst="roundRect">
            <a:avLst>
              <a:gd name="adj" fmla="val 17500"/>
            </a:avLst>
          </a:prstGeom>
          <a:solidFill>
            <a:srgbClr val="1B35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13232" y="1892808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2029968" y="1810512"/>
            <a:ext cx="9418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900 food orders. We want to predict how long the delivery will take.</a:t>
            </a:r>
            <a:endParaRPr lang="en-US" sz="1450" dirty="0"/>
          </a:p>
        </p:txBody>
      </p:sp>
      <p:pic>
        <p:nvPicPr>
          <p:cNvPr id="16" name="Image 0" descr="/home/claude/d32/fig/fe_dat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2606040"/>
            <a:ext cx="9601200" cy="2746339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566928" y="5577840"/>
            <a:ext cx="11064240" cy="731520"/>
          </a:xfrm>
          <a:prstGeom prst="roundRect">
            <a:avLst>
              <a:gd name="adj" fmla="val 12500"/>
            </a:avLst>
          </a:prstGeom>
          <a:solidFill>
            <a:srgbClr val="E6F5F1"/>
          </a:solidFill>
          <a:ln w="17780">
            <a:solidFill>
              <a:srgbClr val="1F9E86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66928" y="5577840"/>
            <a:ext cx="82296" cy="731520"/>
          </a:xfrm>
          <a:prstGeom prst="roundRect">
            <a:avLst>
              <a:gd name="adj" fmla="val 44444"/>
            </a:avLst>
          </a:prstGeom>
          <a:solidFill>
            <a:srgbClr val="1F9E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8680" y="5650992"/>
            <a:ext cx="10607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timestamp as a raw number is worthless — it just counts seconds since January. Pull out the HOUR and it starts working. Ask the real question — "is it dinner time?" — and it works properly.</a:t>
            </a:r>
            <a:endParaRPr lang="en-US" sz="14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863840" y="646480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Srinivasa Sai Chava  ·  Boston University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6692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556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6420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F0A5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1284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6148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20440" y="192024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7B8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   Making new features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512064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A8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 · THE RECIPES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731520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35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recipes you will use again and again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585216" y="1444752"/>
            <a:ext cx="640080" cy="50292"/>
          </a:xfrm>
          <a:prstGeom prst="roundRect">
            <a:avLst>
              <a:gd name="adj" fmla="val 45455"/>
            </a:avLst>
          </a:prstGeom>
          <a:solidFill>
            <a:srgbClr val="F0A530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2" name="Image 0" descr="/home/claude/d32/fig/fe_recip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737360"/>
            <a:ext cx="10424160" cy="3015377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566928" y="4937760"/>
            <a:ext cx="11064240" cy="731520"/>
          </a:xfrm>
          <a:prstGeom prst="roundRect">
            <a:avLst>
              <a:gd name="adj" fmla="val 12500"/>
            </a:avLst>
          </a:prstGeom>
          <a:solidFill>
            <a:srgbClr val="FDF3E0"/>
          </a:solidFill>
          <a:ln w="17780">
            <a:solidFill>
              <a:srgbClr val="F0A53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66928" y="4937760"/>
            <a:ext cx="82296" cy="731520"/>
          </a:xfrm>
          <a:prstGeom prst="roundRect">
            <a:avLst>
              <a:gd name="adj" fmla="val 44444"/>
            </a:avLst>
          </a:prstGeom>
          <a:solidFill>
            <a:srgbClr val="F0A5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68680" y="5010912"/>
            <a:ext cx="10607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these is built from columns you already have. You are not adding information — you are putting it in a shape the model can use.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566928" y="5577840"/>
            <a:ext cx="11064240" cy="804672"/>
          </a:xfrm>
          <a:prstGeom prst="roundRect">
            <a:avLst>
              <a:gd name="adj" fmla="val 11364"/>
            </a:avLst>
          </a:prstGeom>
          <a:solidFill>
            <a:srgbClr val="FDF3E0"/>
          </a:solidFill>
          <a:ln w="20320">
            <a:solidFill>
              <a:srgbClr val="F0A53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68680" y="56875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One rule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2651760" y="566928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features ONE AT A TIME and check the score each time. A feature that does not move the score is a feature you should delete.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3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268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81360" y="-1828800"/>
            <a:ext cx="4206240" cy="4206240"/>
          </a:xfrm>
          <a:prstGeom prst="ellipse">
            <a:avLst/>
          </a:prstGeom>
          <a:solidFill>
            <a:srgbClr val="1A2A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509760" y="4937760"/>
            <a:ext cx="2926080" cy="2926080"/>
          </a:xfrm>
          <a:prstGeom prst="ellipse">
            <a:avLst/>
          </a:prstGeom>
          <a:solidFill>
            <a:srgbClr val="1727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920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826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OF 5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267712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 many features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932688" y="3218688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AE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columns feels like more information. Past a point it is the opposite.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144000" y="2450592"/>
            <a:ext cx="91440" cy="91440"/>
          </a:xfrm>
          <a:prstGeom prst="ellipse">
            <a:avLst/>
          </a:prstGeom>
          <a:solidFill>
            <a:srgbClr val="8268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381744" y="23774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Piling on junk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144000" y="2871216"/>
            <a:ext cx="91440" cy="91440"/>
          </a:xfrm>
          <a:prstGeom prst="ellipse">
            <a:avLst/>
          </a:prstGeom>
          <a:solidFill>
            <a:srgbClr val="8268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381744" y="279806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Picking the good ones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9144000" y="3291840"/>
            <a:ext cx="91440" cy="91440"/>
          </a:xfrm>
          <a:prstGeom prst="ellipse">
            <a:avLst/>
          </a:prstGeom>
          <a:solidFill>
            <a:srgbClr val="8268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381744" y="32186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The cheating version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7863840" y="646480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Srinivasa Sai Chava  ·  Boston University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863840" y="646480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Srinivasa Sai Chava  ·  Boston University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6692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556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6420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1284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8268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6148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20440" y="192024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7B8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   Too many features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512064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826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 · MORE IS NOT BETTER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731520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35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happens when you keep adding columns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585216" y="1444752"/>
            <a:ext cx="640080" cy="50292"/>
          </a:xfrm>
          <a:prstGeom prst="roundRect">
            <a:avLst>
              <a:gd name="adj" fmla="val 45455"/>
            </a:avLst>
          </a:prstGeom>
          <a:solidFill>
            <a:srgbClr val="8268B5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2" name="Image 0" descr="/home/claude/d32/fig/too_man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1719072"/>
            <a:ext cx="9784080" cy="2887011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566928" y="4937760"/>
            <a:ext cx="11064240" cy="731520"/>
          </a:xfrm>
          <a:prstGeom prst="roundRect">
            <a:avLst>
              <a:gd name="adj" fmla="val 12500"/>
            </a:avLst>
          </a:prstGeom>
          <a:solidFill>
            <a:srgbClr val="FCEBE7"/>
          </a:solidFill>
          <a:ln w="17780">
            <a:solidFill>
              <a:srgbClr val="E05C4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66928" y="4937760"/>
            <a:ext cx="82296" cy="731520"/>
          </a:xfrm>
          <a:prstGeom prst="roundRect">
            <a:avLst>
              <a:gd name="adj" fmla="val 44444"/>
            </a:avLst>
          </a:prstGeom>
          <a:solidFill>
            <a:srgbClr val="E05C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68680" y="5010912"/>
            <a:ext cx="10607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grey line keeps climbing — the model looks better and better on the rows it studied. The red line falls off a cliff.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566928" y="5577840"/>
            <a:ext cx="11064240" cy="804672"/>
          </a:xfrm>
          <a:prstGeom prst="roundRect">
            <a:avLst>
              <a:gd name="adj" fmla="val 11364"/>
            </a:avLst>
          </a:prstGeom>
          <a:solidFill>
            <a:srgbClr val="EDF1F8"/>
          </a:solidFill>
          <a:ln w="20320">
            <a:solidFill>
              <a:srgbClr val="1B3558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68680" y="56875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1920240" y="5669280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250 rows and 153 columns, the model has nearly one knob per row. It stops finding patterns and starts remembering rows.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863840" y="646480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Srinivasa Sai Chava  ·  Boston University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6692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556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6420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1284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8268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6148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20440" y="192024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7B8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   Too many features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512064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826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 · PICKING FEATURES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731520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35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 keep only the columns that help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585216" y="1444752"/>
            <a:ext cx="640080" cy="50292"/>
          </a:xfrm>
          <a:prstGeom prst="roundRect">
            <a:avLst>
              <a:gd name="adj" fmla="val 45455"/>
            </a:avLst>
          </a:prstGeom>
          <a:solidFill>
            <a:srgbClr val="8268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" y="1783080"/>
            <a:ext cx="11064240" cy="1133856"/>
          </a:xfrm>
          <a:prstGeom prst="roundRect">
            <a:avLst>
              <a:gd name="adj" fmla="val 8065"/>
            </a:avLst>
          </a:prstGeom>
          <a:solidFill>
            <a:srgbClr val="EBF2FA"/>
          </a:solidFill>
          <a:ln w="20320">
            <a:solidFill>
              <a:srgbClr val="3E7CB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68680" y="1938528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each column on its own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937760" y="1938528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ones most related to the answer. Fast, and it is what we use today.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9052560" y="1938528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E7C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SelectKBest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3063240"/>
            <a:ext cx="11064240" cy="1133856"/>
          </a:xfrm>
          <a:prstGeom prst="roundRect">
            <a:avLst>
              <a:gd name="adj" fmla="val 8065"/>
            </a:avLst>
          </a:prstGeom>
          <a:solidFill>
            <a:srgbClr val="E6F5F1"/>
          </a:solidFill>
          <a:ln w="20320">
            <a:solidFill>
              <a:srgbClr val="1F9E8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68680" y="3218688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9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the model decide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937760" y="3218688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models shrink useless columns to zero weight all by themselves.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9052560" y="3218688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9E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Lasso, tree importances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66928" y="4343400"/>
            <a:ext cx="11064240" cy="1133856"/>
          </a:xfrm>
          <a:prstGeom prst="roundRect">
            <a:avLst>
              <a:gd name="adj" fmla="val 8065"/>
            </a:avLst>
          </a:prstGeom>
          <a:solidFill>
            <a:srgbClr val="F1EDF9"/>
          </a:solidFill>
          <a:ln w="20320">
            <a:solidFill>
              <a:srgbClr val="8268B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68680" y="4498848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26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adding and removing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937760" y="4498848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the model again and again with different sets. Thorough, and slow.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9052560" y="4498848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268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RFE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66928" y="5596128"/>
            <a:ext cx="11064240" cy="731520"/>
          </a:xfrm>
          <a:prstGeom prst="roundRect">
            <a:avLst>
              <a:gd name="adj" fmla="val 12500"/>
            </a:avLst>
          </a:prstGeom>
          <a:solidFill>
            <a:srgbClr val="F1EDF9"/>
          </a:solidFill>
          <a:ln w="17780">
            <a:solidFill>
              <a:srgbClr val="8268B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66928" y="5596128"/>
            <a:ext cx="82296" cy="731520"/>
          </a:xfrm>
          <a:prstGeom prst="roundRect">
            <a:avLst>
              <a:gd name="adj" fmla="val 44444"/>
            </a:avLst>
          </a:prstGeom>
          <a:solidFill>
            <a:srgbClr val="8268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68680" y="5669280"/>
            <a:ext cx="10607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the first one. It is simple, it is fast, and it is right most of the time.</a:t>
            </a:r>
            <a:endParaRPr lang="en-US" sz="14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863840" y="646480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Srinivasa Sai Chava  ·  Boston University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6692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556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6420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1284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8268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6148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20440" y="192024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7B8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   Too many features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512064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826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 · THE TRAP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731520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35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⚠️ But pick them at the WRONG moment and you fool yourself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585216" y="1444752"/>
            <a:ext cx="640080" cy="50292"/>
          </a:xfrm>
          <a:prstGeom prst="roundRect">
            <a:avLst>
              <a:gd name="adj" fmla="val 45455"/>
            </a:avLst>
          </a:prstGeom>
          <a:solidFill>
            <a:srgbClr val="8268B5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2" name="Image 0" descr="/home/claude/d32/fig/selec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4560" y="1691640"/>
            <a:ext cx="7772400" cy="2992838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566928" y="5596128"/>
            <a:ext cx="11064240" cy="731520"/>
          </a:xfrm>
          <a:prstGeom prst="roundRect">
            <a:avLst>
              <a:gd name="adj" fmla="val 12500"/>
            </a:avLst>
          </a:prstGeom>
          <a:solidFill>
            <a:srgbClr val="FCEBE7"/>
          </a:solidFill>
          <a:ln w="17780">
            <a:solidFill>
              <a:srgbClr val="E05C4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66928" y="5596128"/>
            <a:ext cx="82296" cy="731520"/>
          </a:xfrm>
          <a:prstGeom prst="roundRect">
            <a:avLst>
              <a:gd name="adj" fmla="val 44444"/>
            </a:avLst>
          </a:prstGeom>
          <a:solidFill>
            <a:srgbClr val="E05C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68680" y="5669280"/>
            <a:ext cx="10607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genuinely nothing in that data. The +0.42 came entirely from letting the hidden rows help choose the columns.</a:t>
            </a:r>
            <a:endParaRPr lang="en-US" sz="14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863840" y="646480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Srinivasa Sai Chava  ·  Boston University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6692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556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6420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1284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8268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6148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20440" y="192024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7B8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   Too many features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822960" y="2331720"/>
            <a:ext cx="82296" cy="1828800"/>
          </a:xfrm>
          <a:prstGeom prst="roundRect">
            <a:avLst>
              <a:gd name="adj" fmla="val 44444"/>
            </a:avLst>
          </a:prstGeom>
          <a:solidFill>
            <a:srgbClr val="E05C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234440" y="2286000"/>
            <a:ext cx="9966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3600" b="1" dirty="0">
                <a:solidFill>
                  <a:srgbClr val="1B35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Hide the rows FIRST.</a:t>
            </a:r>
            <a:endParaRPr lang="en-US" sz="3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3600" b="1" dirty="0">
                <a:solidFill>
                  <a:srgbClr val="1B35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Then do everything else.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1252728" y="374904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Scaling, building features, picking columns — every one of them must learn only from the rows you kept.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3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05C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81360" y="-1828800"/>
            <a:ext cx="4206240" cy="4206240"/>
          </a:xfrm>
          <a:prstGeom prst="ellipse">
            <a:avLst/>
          </a:prstGeom>
          <a:solidFill>
            <a:srgbClr val="1A2A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509760" y="4937760"/>
            <a:ext cx="2926080" cy="2926080"/>
          </a:xfrm>
          <a:prstGeom prst="ellipse">
            <a:avLst/>
          </a:prstGeom>
          <a:solidFill>
            <a:srgbClr val="1727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920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E05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OF 5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267712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Put it together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932688" y="3218688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AE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order to do things in, and the code to do them with.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144000" y="2450592"/>
            <a:ext cx="91440" cy="91440"/>
          </a:xfrm>
          <a:prstGeom prst="ellipse">
            <a:avLst/>
          </a:prstGeom>
          <a:solidFill>
            <a:srgbClr val="E05C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381744" y="23774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order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144000" y="2871216"/>
            <a:ext cx="91440" cy="91440"/>
          </a:xfrm>
          <a:prstGeom prst="ellipse">
            <a:avLst/>
          </a:prstGeom>
          <a:solidFill>
            <a:srgbClr val="E05C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381744" y="279806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code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9144000" y="3291840"/>
            <a:ext cx="91440" cy="91440"/>
          </a:xfrm>
          <a:prstGeom prst="ellipse">
            <a:avLst/>
          </a:prstGeom>
          <a:solidFill>
            <a:srgbClr val="E05C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381744" y="32186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Mistakes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144000" y="3712464"/>
            <a:ext cx="91440" cy="91440"/>
          </a:xfrm>
          <a:prstGeom prst="ellipse">
            <a:avLst/>
          </a:prstGeom>
          <a:solidFill>
            <a:srgbClr val="E05C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381744" y="36393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7863840" y="646480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Srinivasa Sai Chava  ·  Boston University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863840" y="646480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Srinivasa Sai Chava  ·  Boston University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6692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556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6420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1284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6148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E05C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20440" y="192024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7B8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   Put it together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512064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E05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 · THE ORDER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731520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35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order that keeps you honest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585216" y="1444752"/>
            <a:ext cx="640080" cy="50292"/>
          </a:xfrm>
          <a:prstGeom prst="roundRect">
            <a:avLst>
              <a:gd name="adj" fmla="val 45455"/>
            </a:avLst>
          </a:prstGeom>
          <a:solidFill>
            <a:srgbClr val="E05C45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2" name="Image 0" descr="/home/claude/d32/fig/right_or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719072"/>
            <a:ext cx="10332720" cy="2987199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566928" y="498348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DF3E0"/>
          </a:solidFill>
          <a:ln w="20320">
            <a:solidFill>
              <a:srgbClr val="F0A53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41248" y="5120640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8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 for SCALING</a:t>
            </a:r>
            <a:endParaRPr lang="en-US" sz="1350" dirty="0"/>
          </a:p>
        </p:txBody>
      </p:sp>
      <p:sp>
        <p:nvSpPr>
          <p:cNvPr id="15" name="Text 12"/>
          <p:cNvSpPr txBox="1"/>
          <p:nvPr/>
        </p:nvSpPr>
        <p:spPr>
          <a:xfrm>
            <a:off x="841248" y="5449824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work out the mean using all the rows, the hidden rows have already influenced your model. The damage is usually small — we measured about 0.001 — but it is free to avoid.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281928" y="498348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CEBE7"/>
          </a:solidFill>
          <a:ln w="20320">
            <a:solidFill>
              <a:srgbClr val="E05C45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556248" y="5120640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05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 for PICKING COLUMNS</a:t>
            </a:r>
            <a:endParaRPr lang="en-US" sz="1350" dirty="0"/>
          </a:p>
        </p:txBody>
      </p:sp>
      <p:sp>
        <p:nvSpPr>
          <p:cNvPr id="18" name="Text 15"/>
          <p:cNvSpPr txBox="1"/>
          <p:nvPr/>
        </p:nvSpPr>
        <p:spPr>
          <a:xfrm>
            <a:off x="6556248" y="5449824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the damage is enormous. We just turned pure random noise into a score of +0.42 by choosing columns too early.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863840" y="646480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Srinivasa Sai Chava  ·  Boston University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6692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556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6420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1284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6148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E05C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20440" y="192024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7B8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   Put it together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512064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E05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 · THE CODE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731520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35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whole of today, in one program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585216" y="1444752"/>
            <a:ext cx="640080" cy="50292"/>
          </a:xfrm>
          <a:prstGeom prst="roundRect">
            <a:avLst>
              <a:gd name="adj" fmla="val 45455"/>
            </a:avLst>
          </a:prstGeom>
          <a:solidFill>
            <a:srgbClr val="E05C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" y="1783080"/>
            <a:ext cx="6858000" cy="4206240"/>
          </a:xfrm>
          <a:prstGeom prst="roundRect">
            <a:avLst>
              <a:gd name="adj" fmla="val 1739"/>
            </a:avLst>
          </a:prstGeom>
          <a:solidFill>
            <a:srgbClr val="172540"/>
          </a:solidFill>
          <a:ln w="12700">
            <a:solidFill>
              <a:srgbClr val="17254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49808" y="1911096"/>
            <a:ext cx="6492240" cy="3950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E8EF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pandas as pd</a:t>
            </a:r>
            <a:endParaRPr lang="en-US" sz="11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E8EF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sklearn.model_selection import train_test_split</a:t>
            </a:r>
            <a:endParaRPr lang="en-US" sz="11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E8EF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sklearn.preprocessing import StandardScaler</a:t>
            </a:r>
            <a:endParaRPr lang="en-US" sz="11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E8EF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sklearn.neighbors import KNeighborsRegressor</a:t>
            </a:r>
            <a:endParaRPr lang="en-US" sz="1100" dirty="0"/>
          </a:p>
          <a:p>
            <a:pPr indent="0" marL="0">
              <a:lnSpc>
                <a:spcPct val="114000"/>
              </a:lnSpc>
              <a:buNone/>
            </a:pPr>
            <a:endParaRPr lang="en-US" sz="11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E8EF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STEP 2 - build the useful columns first</a:t>
            </a:r>
            <a:endParaRPr lang="en-US" sz="11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E8EF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orders["per_item"] = orders["bill"] / orders["items"]</a:t>
            </a:r>
            <a:endParaRPr lang="en-US" sz="11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E8EF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orders["hour"]     = orders["ordered_at"].dt.hour</a:t>
            </a:r>
            <a:endParaRPr lang="en-US" sz="1100" dirty="0"/>
          </a:p>
          <a:p>
            <a:pPr indent="0" marL="0">
              <a:lnSpc>
                <a:spcPct val="114000"/>
              </a:lnSpc>
              <a:buNone/>
            </a:pPr>
            <a:endParaRPr lang="en-US" sz="11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E8EF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orders.drop(columns=["tip", "ordered_at"])</a:t>
            </a:r>
            <a:endParaRPr lang="en-US" sz="11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E8EF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orders["tip"]</a:t>
            </a:r>
            <a:endParaRPr lang="en-US" sz="1100" dirty="0"/>
          </a:p>
          <a:p>
            <a:pPr indent="0" marL="0">
              <a:lnSpc>
                <a:spcPct val="114000"/>
              </a:lnSpc>
              <a:buNone/>
            </a:pPr>
            <a:endParaRPr lang="en-US" sz="11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E8EF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STEP 1 - hide rows BEFORE anything learns from them</a:t>
            </a:r>
            <a:endParaRPr lang="en-US" sz="11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E8EF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X_train, X_hidden, y_train, y_hidden = train_test_split(</a:t>
            </a:r>
            <a:endParaRPr lang="en-US" sz="11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E8EF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X, y, test_size=0.3, random_state=0)</a:t>
            </a:r>
            <a:endParaRPr lang="en-US" sz="1100" dirty="0"/>
          </a:p>
          <a:p>
            <a:pPr indent="0" marL="0">
              <a:lnSpc>
                <a:spcPct val="114000"/>
              </a:lnSpc>
              <a:buNone/>
            </a:pPr>
            <a:endParaRPr lang="en-US" sz="11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E8EF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STEP 3 - learn the recipe from the TRAINING rows only</a:t>
            </a:r>
            <a:endParaRPr lang="en-US" sz="11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E8EF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scaler = StandardScaler().fit(X_train)</a:t>
            </a:r>
            <a:endParaRPr lang="en-US" sz="11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E8EF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X_train_s = scaler.transform(X_train)</a:t>
            </a:r>
            <a:endParaRPr lang="en-US" sz="11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E8EF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X_hidden_s = scaler.transform(X_hidden)     # same recipe, not a new one</a:t>
            </a:r>
            <a:endParaRPr lang="en-US" sz="1100" dirty="0"/>
          </a:p>
          <a:p>
            <a:pPr indent="0" marL="0">
              <a:lnSpc>
                <a:spcPct val="114000"/>
              </a:lnSpc>
              <a:buNone/>
            </a:pPr>
            <a:endParaRPr lang="en-US" sz="11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E8EF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STEP 5 - train and score</a:t>
            </a:r>
            <a:endParaRPr lang="en-US" sz="11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E8EF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KNeighborsRegressor(7).fit(X_train_s, y_train)</a:t>
            </a:r>
            <a:endParaRPr lang="en-US" sz="11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E8EF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print(model.score(X_hidden_s, y_hidden))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680960" y="1783080"/>
            <a:ext cx="3950208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52400" dist="25400" dir="5400000">
              <a:srgbClr val="A9B6C9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680960" y="1783080"/>
            <a:ext cx="64008" cy="932688"/>
          </a:xfrm>
          <a:prstGeom prst="roundRect">
            <a:avLst>
              <a:gd name="adj" fmla="val 42857"/>
            </a:avLst>
          </a:prstGeom>
          <a:solidFill>
            <a:srgbClr val="E05C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882128" y="187452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05C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fit vs transform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7882128" y="2148840"/>
            <a:ext cx="3611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.fit() LEARNS the mean and sd. .transform() APPLIES them. Learn once, apply twice.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680960" y="2862072"/>
            <a:ext cx="3950208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52400" dist="25400" dir="5400000">
              <a:srgbClr val="A9B6C9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680960" y="2862072"/>
            <a:ext cx="64008" cy="932688"/>
          </a:xfrm>
          <a:prstGeom prst="roundRect">
            <a:avLst>
              <a:gd name="adj" fmla="val 42857"/>
            </a:avLst>
          </a:prstGeom>
          <a:solidFill>
            <a:srgbClr val="3E7C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882128" y="295351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E7C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fit on train only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7882128" y="3227832"/>
            <a:ext cx="3611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.fit() on the hidden rows. That is the whole point of hiding them.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680960" y="3941064"/>
            <a:ext cx="3950208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52400" dist="25400" dir="5400000">
              <a:srgbClr val="A9B6C9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680960" y="3941064"/>
            <a:ext cx="64008" cy="932688"/>
          </a:xfrm>
          <a:prstGeom prst="roundRect">
            <a:avLst>
              <a:gd name="adj" fmla="val 42857"/>
            </a:avLst>
          </a:prstGeom>
          <a:solidFill>
            <a:srgbClr val="1F9E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882128" y="403250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9E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Engineer before splitting?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7882128" y="4306824"/>
            <a:ext cx="3611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a ratio uses only that one row, so it cannot leak. Scaling uses ALL rows, so it must come after.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680960" y="5020056"/>
            <a:ext cx="3950208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52400" dist="25400" dir="5400000">
              <a:srgbClr val="A9B6C9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680960" y="5020056"/>
            <a:ext cx="64008" cy="932688"/>
          </a:xfrm>
          <a:prstGeom prst="roundRect">
            <a:avLst>
              <a:gd name="adj" fmla="val 42857"/>
            </a:avLst>
          </a:prstGeom>
          <a:solidFill>
            <a:srgbClr val="8268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882128" y="511149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268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Trees need none of this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7882128" y="5385816"/>
            <a:ext cx="3611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are using a random forest, you can skip the scaler entirely.</a:t>
            </a:r>
            <a:endParaRPr lang="en-US" sz="10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863840" y="646480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Srinivasa Sai Chava  ·  Boston University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6692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556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6420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1284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6148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E05C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20440" y="192024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7B8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   Put it together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512064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E05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5.3 · THE ROUTINE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731520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35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five steps, in order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585216" y="1444752"/>
            <a:ext cx="640080" cy="50292"/>
          </a:xfrm>
          <a:prstGeom prst="roundRect">
            <a:avLst>
              <a:gd name="adj" fmla="val 45455"/>
            </a:avLst>
          </a:prstGeom>
          <a:solidFill>
            <a:srgbClr val="E05C45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2" name="Image 0" descr="/home/claude/d32/fig/work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920240"/>
            <a:ext cx="11247120" cy="181493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566928" y="3886200"/>
            <a:ext cx="352044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52400" dist="25400" dir="5400000">
              <a:srgbClr val="A9B6C9">
                <a:alpha val="2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66928" y="3886200"/>
            <a:ext cx="3520440" cy="73152"/>
          </a:xfrm>
          <a:prstGeom prst="roundRect">
            <a:avLst>
              <a:gd name="adj" fmla="val 37500"/>
            </a:avLst>
          </a:prstGeom>
          <a:solidFill>
            <a:srgbClr val="E05C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95528" y="405079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5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SPLIT comes first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795528" y="4407408"/>
            <a:ext cx="312724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after it must learn from the kept rows only. Get this wrong and every number you report is inflated.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288536" y="3886200"/>
            <a:ext cx="352044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52400" dist="25400" dir="5400000">
              <a:srgbClr val="A9B6C9">
                <a:alpha val="2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288536" y="3886200"/>
            <a:ext cx="3520440" cy="73152"/>
          </a:xfrm>
          <a:prstGeom prst="roundRect">
            <a:avLst>
              <a:gd name="adj" fmla="val 37500"/>
            </a:avLst>
          </a:prstGeom>
          <a:solidFill>
            <a:srgbClr val="1F9E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517136" y="405079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9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ENGINEER before SCALE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4517136" y="4407408"/>
            <a:ext cx="312724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ratio first, then scale it along with everything else. Scaling a column you are about to divide is wasted work.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8010144" y="3886200"/>
            <a:ext cx="352044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52400" dist="25400" dir="5400000">
              <a:srgbClr val="A9B6C9">
                <a:alpha val="2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8010144" y="3886200"/>
            <a:ext cx="3520440" cy="73152"/>
          </a:xfrm>
          <a:prstGeom prst="roundRect">
            <a:avLst>
              <a:gd name="adj" fmla="val 37500"/>
            </a:avLst>
          </a:prstGeom>
          <a:solidFill>
            <a:srgbClr val="8268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238744" y="405079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26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SELECT last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8238744" y="4407408"/>
            <a:ext cx="312724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only tell which columns help once they are all built and on a fair footing.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566928" y="5596128"/>
            <a:ext cx="11064240" cy="731520"/>
          </a:xfrm>
          <a:prstGeom prst="roundRect">
            <a:avLst>
              <a:gd name="adj" fmla="val 12500"/>
            </a:avLst>
          </a:prstGeom>
          <a:solidFill>
            <a:srgbClr val="FCEBE7"/>
          </a:solidFill>
          <a:ln w="17780">
            <a:solidFill>
              <a:srgbClr val="E05C45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66928" y="5596128"/>
            <a:ext cx="82296" cy="731520"/>
          </a:xfrm>
          <a:prstGeom prst="roundRect">
            <a:avLst>
              <a:gd name="adj" fmla="val 44444"/>
            </a:avLst>
          </a:prstGeom>
          <a:solidFill>
            <a:srgbClr val="E05C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68680" y="5669280"/>
            <a:ext cx="10607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these five words down. They are the answer to most "why is my score wrong?" questions.</a:t>
            </a:r>
            <a:endParaRPr lang="en-US" sz="14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863840" y="646480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Srinivasa Sai Chava  ·  Boston University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6692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556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6420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1284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6148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E05C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20440" y="192024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7B8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   Put it together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512064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E05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5.4 · DEBUG CORNER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731520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35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mistakes everybody makes once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585216" y="1444752"/>
            <a:ext cx="640080" cy="50292"/>
          </a:xfrm>
          <a:prstGeom prst="roundRect">
            <a:avLst>
              <a:gd name="adj" fmla="val 45455"/>
            </a:avLst>
          </a:prstGeom>
          <a:solidFill>
            <a:srgbClr val="E05C45"/>
          </a:solidFill>
          <a:ln w="12700">
            <a:solidFill>
              <a:srgbClr val="333333"/>
            </a:solidFill>
            <a:prstDash val="solid"/>
          </a:ln>
        </p:spPr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83080"/>
          <a:ext cx="11064240" cy="914400"/>
        </p:xfrm>
        <a:graphic>
          <a:graphicData uri="http://schemas.openxmlformats.org/drawingml/2006/table">
            <a:tbl>
              <a:tblPr/>
              <a:tblGrid>
                <a:gridCol w="502920"/>
                <a:gridCol w="3474720"/>
                <a:gridCol w="4069080"/>
                <a:gridCol w="3017520"/>
              </a:tblGrid>
              <a:tr h="57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55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mistake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55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you will see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55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fix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558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scaling before kNN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terrible score for no obvious reason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StandardScaler first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Scaling a decision tree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Nothing. It is harmless, just pointless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Skip it for trees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Min-max on data with outliers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real value squashed into a corner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RobustScaler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Fitting the scaler on everything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slightly inflated score, and a bad habit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Fit on train rows only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Picking columns before splitting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+0.42 on data with nothing in 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 first, always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Adding features without checking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model that gets worse as you "improve" 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at a time, score each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566928" y="5596128"/>
            <a:ext cx="11064240" cy="731520"/>
          </a:xfrm>
          <a:prstGeom prst="roundRect">
            <a:avLst>
              <a:gd name="adj" fmla="val 12500"/>
            </a:avLst>
          </a:prstGeom>
          <a:solidFill>
            <a:srgbClr val="FCEBE7"/>
          </a:solidFill>
          <a:ln w="17780">
            <a:solidFill>
              <a:srgbClr val="E05C4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66928" y="5596128"/>
            <a:ext cx="82296" cy="731520"/>
          </a:xfrm>
          <a:prstGeom prst="roundRect">
            <a:avLst>
              <a:gd name="adj" fmla="val 44444"/>
            </a:avLst>
          </a:prstGeom>
          <a:solidFill>
            <a:srgbClr val="E05C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68680" y="5669280"/>
            <a:ext cx="10607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4 and 5 are the same mistake. Number 5 just happens to be four hundred times more expensive.</a:t>
            </a:r>
            <a:endParaRPr lang="en-US" sz="14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863840" y="646480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Srinivasa Sai Chava  ·  Boston University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6692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556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6420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1284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DCE4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61488" y="274320"/>
            <a:ext cx="475488" cy="68580"/>
          </a:xfrm>
          <a:prstGeom prst="roundRect">
            <a:avLst>
              <a:gd name="adj" fmla="val 46667"/>
            </a:avLst>
          </a:prstGeom>
          <a:solidFill>
            <a:srgbClr val="E05C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20440" y="192024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7B8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   Put it together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512064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E05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TO YOU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731520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35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Practice session — 30 minutes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585216" y="1444752"/>
            <a:ext cx="640080" cy="50292"/>
          </a:xfrm>
          <a:prstGeom prst="roundRect">
            <a:avLst>
              <a:gd name="adj" fmla="val 45455"/>
            </a:avLst>
          </a:prstGeom>
          <a:solidFill>
            <a:srgbClr val="E05C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" y="1828800"/>
            <a:ext cx="26060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52400" dist="25400" dir="5400000">
              <a:srgbClr val="A9B6C9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66928" y="1828800"/>
            <a:ext cx="2606040" cy="64008"/>
          </a:xfrm>
          <a:prstGeom prst="roundRect">
            <a:avLst>
              <a:gd name="adj" fmla="val 42857"/>
            </a:avLst>
          </a:prstGeom>
          <a:solidFill>
            <a:srgbClr val="3E7C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664208" y="2057400"/>
            <a:ext cx="420624" cy="420624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664208" y="2057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704088" y="263347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it out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768096" y="2999232"/>
            <a:ext cx="22128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six numbers by hand, three different ways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04088" y="376732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B8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questions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374136" y="1828800"/>
            <a:ext cx="26060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52400" dist="25400" dir="5400000">
              <a:srgbClr val="A9B6C9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374136" y="1828800"/>
            <a:ext cx="2606040" cy="64008"/>
          </a:xfrm>
          <a:prstGeom prst="roundRect">
            <a:avLst>
              <a:gd name="adj" fmla="val 42857"/>
            </a:avLst>
          </a:prstGeom>
          <a:solidFill>
            <a:srgbClr val="F0A5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471416" y="2057400"/>
            <a:ext cx="420624" cy="420624"/>
          </a:xfrm>
          <a:prstGeom prst="ellipse">
            <a:avLst/>
          </a:prstGeom>
          <a:solidFill>
            <a:srgbClr val="F0A5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471416" y="2057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3511296" y="263347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mistake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3575304" y="2999232"/>
            <a:ext cx="22128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programs: wrong scaler, wrong order, wrong model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3511296" y="376732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B8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questions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181344" y="1828800"/>
            <a:ext cx="26060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52400" dist="25400" dir="5400000">
              <a:srgbClr val="A9B6C9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81344" y="1828800"/>
            <a:ext cx="2606040" cy="64008"/>
          </a:xfrm>
          <a:prstGeom prst="roundRect">
            <a:avLst>
              <a:gd name="adj" fmla="val 42857"/>
            </a:avLst>
          </a:prstGeom>
          <a:solidFill>
            <a:srgbClr val="1F9E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278624" y="2057400"/>
            <a:ext cx="420624" cy="420624"/>
          </a:xfrm>
          <a:prstGeom prst="ellipse">
            <a:avLst/>
          </a:prstGeom>
          <a:solidFill>
            <a:srgbClr val="1F9E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278624" y="2057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6318504" y="263347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code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6382512" y="2999232"/>
            <a:ext cx="22128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Scale, build features, select, and score honestly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6318504" y="376732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B8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tasks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988552" y="1828800"/>
            <a:ext cx="26060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52400" dist="25400" dir="5400000">
              <a:srgbClr val="A9B6C9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8988552" y="1828800"/>
            <a:ext cx="2606040" cy="64008"/>
          </a:xfrm>
          <a:prstGeom prst="roundRect">
            <a:avLst>
              <a:gd name="adj" fmla="val 42857"/>
            </a:avLst>
          </a:prstGeom>
          <a:solidFill>
            <a:srgbClr val="E05C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085832" y="2057400"/>
            <a:ext cx="420624" cy="420624"/>
          </a:xfrm>
          <a:prstGeom prst="ellipse">
            <a:avLst/>
          </a:prstGeom>
          <a:solidFill>
            <a:srgbClr val="E05C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0085832" y="2057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9125712" y="263347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9189720" y="2999232"/>
            <a:ext cx="22128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five features from scratch, then catch a cheating model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9125712" y="376732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B8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tasks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66928" y="4224528"/>
            <a:ext cx="5394960" cy="1280160"/>
          </a:xfrm>
          <a:prstGeom prst="roundRect">
            <a:avLst>
              <a:gd name="adj" fmla="val 7143"/>
            </a:avLst>
          </a:prstGeom>
          <a:solidFill>
            <a:srgbClr val="EDF1F8"/>
          </a:solidFill>
          <a:ln w="20320">
            <a:solidFill>
              <a:srgbClr val="1B3558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68680" y="435254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notebook</a:t>
            </a:r>
            <a:endParaRPr lang="en-US" sz="1500" dirty="0"/>
          </a:p>
        </p:txBody>
      </p:sp>
      <p:sp>
        <p:nvSpPr>
          <p:cNvPr id="42" name="Text 40"/>
          <p:cNvSpPr txBox="1"/>
          <p:nvPr/>
        </p:nvSpPr>
        <p:spPr>
          <a:xfrm>
            <a:off x="868680" y="468172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1F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Day32_Practice_Questions.ipynb</a:t>
            </a:r>
            <a:endParaRPr lang="en-US" sz="1350" dirty="0"/>
          </a:p>
        </p:txBody>
      </p:sp>
      <p:sp>
        <p:nvSpPr>
          <p:cNvPr id="43" name="Text 41"/>
          <p:cNvSpPr txBox="1"/>
          <p:nvPr/>
        </p:nvSpPr>
        <p:spPr>
          <a:xfrm>
            <a:off x="868680" y="501091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is pen and paper. The numbers are chosen to be easy.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6236208" y="4224528"/>
            <a:ext cx="5394960" cy="1280160"/>
          </a:xfrm>
          <a:prstGeom prst="roundRect">
            <a:avLst>
              <a:gd name="adj" fmla="val 7143"/>
            </a:avLst>
          </a:prstGeom>
          <a:solidFill>
            <a:srgbClr val="E6F5F1"/>
          </a:solidFill>
          <a:ln w="20320">
            <a:solidFill>
              <a:srgbClr val="1F9E86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537960" y="435254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9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habits to start today</a:t>
            </a:r>
            <a:endParaRPr lang="en-US" sz="1500" dirty="0"/>
          </a:p>
        </p:txBody>
      </p:sp>
      <p:sp>
        <p:nvSpPr>
          <p:cNvPr id="46" name="Text 44"/>
          <p:cNvSpPr txBox="1"/>
          <p:nvPr/>
        </p:nvSpPr>
        <p:spPr>
          <a:xfrm>
            <a:off x="6537960" y="4663440"/>
            <a:ext cx="48463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before anything else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the scaler on train rows only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one feature, then check the score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566928" y="5596128"/>
            <a:ext cx="11064240" cy="731520"/>
          </a:xfrm>
          <a:prstGeom prst="roundRect">
            <a:avLst>
              <a:gd name="adj" fmla="val 12500"/>
            </a:avLst>
          </a:prstGeom>
          <a:solidFill>
            <a:srgbClr val="FCEBE7"/>
          </a:solidFill>
          <a:ln w="17780">
            <a:solidFill>
              <a:srgbClr val="E05C4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66928" y="5596128"/>
            <a:ext cx="82296" cy="731520"/>
          </a:xfrm>
          <a:prstGeom prst="roundRect">
            <a:avLst>
              <a:gd name="adj" fmla="val 44444"/>
            </a:avLst>
          </a:prstGeom>
          <a:solidFill>
            <a:srgbClr val="E05C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868680" y="5669280"/>
            <a:ext cx="10607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D hands you a model scoring 0.97 and asks you to prove it is worth nothing.</a:t>
            </a:r>
            <a:endParaRPr lang="en-US" sz="14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3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863840" y="646480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Srinivasa Sai Chava  ·  Boston University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05C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658368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32 — the six things to remember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68680" y="1554480"/>
            <a:ext cx="10515600" cy="658368"/>
          </a:xfrm>
          <a:prstGeom prst="roundRect">
            <a:avLst>
              <a:gd name="adj" fmla="val 11111"/>
            </a:avLst>
          </a:prstGeom>
          <a:solidFill>
            <a:srgbClr val="1B2C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173736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0A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is not important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4937760" y="1728216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3D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price column is louder than a RAM column simply because the numbers are bigger.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68680" y="2322576"/>
            <a:ext cx="10515600" cy="658368"/>
          </a:xfrm>
          <a:prstGeom prst="roundRect">
            <a:avLst>
              <a:gd name="adj" fmla="val 11111"/>
            </a:avLst>
          </a:prstGeom>
          <a:solidFill>
            <a:srgbClr val="1B2C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97280" y="250545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0A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changes volume, not information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4937760" y="2496312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3D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went from 0.056 to 0.872. Trees did not move at all.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68680" y="3090672"/>
            <a:ext cx="10515600" cy="658368"/>
          </a:xfrm>
          <a:prstGeom prst="roundRect">
            <a:avLst>
              <a:gd name="adj" fmla="val 11111"/>
            </a:avLst>
          </a:prstGeom>
          <a:solidFill>
            <a:srgbClr val="1B2C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97280" y="327355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0A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scalers, one default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4937760" y="3264408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3D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unless you have a reason. Robust when outliers are real.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68680" y="3858768"/>
            <a:ext cx="10515600" cy="658368"/>
          </a:xfrm>
          <a:prstGeom prst="roundRect">
            <a:avLst>
              <a:gd name="adj" fmla="val 11111"/>
            </a:avLst>
          </a:prstGeom>
          <a:solidFill>
            <a:srgbClr val="1B2C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97280" y="404164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0A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column the model needs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4937760" y="4032504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3D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 ÷ items took the score from 0.390 to 0.883 with no new data.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68680" y="4626864"/>
            <a:ext cx="10515600" cy="658368"/>
          </a:xfrm>
          <a:prstGeom prst="roundRect">
            <a:avLst>
              <a:gd name="adj" fmla="val 11111"/>
            </a:avLst>
          </a:prstGeom>
          <a:solidFill>
            <a:srgbClr val="1B2C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97280" y="4809744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0A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More columns is not better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4937760" y="4800600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3D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junk columns took a good model down to −0.454 on new rows.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68680" y="5394960"/>
            <a:ext cx="10515600" cy="658368"/>
          </a:xfrm>
          <a:prstGeom prst="roundRect">
            <a:avLst>
              <a:gd name="adj" fmla="val 11111"/>
            </a:avLst>
          </a:prstGeom>
          <a:solidFill>
            <a:srgbClr val="1B2C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97280" y="557784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0A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Split FIRST, then everything else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4937760" y="5568696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3D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Picking columns too early scored +0.42 on pure random noise.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868680" y="612648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time — the first real model: teaching a computer to draw the best line.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32 - Getting Data Into Shape</dc:title>
  <dc:subject>PptxGenJS Presentation</dc:subject>
  <dc:creator>Data Science Program</dc:creator>
  <cp:lastModifiedBy>Data Science Program</cp:lastModifiedBy>
  <cp:revision>1</cp:revision>
  <dcterms:created xsi:type="dcterms:W3CDTF">2026-10-28T04:45:42Z</dcterms:created>
  <dcterms:modified xsi:type="dcterms:W3CDTF">2026-10-28T04:45:42Z</dcterms:modified>
</cp:coreProperties>
</file>