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ML session. Assume zero prior exposure. Define every term out loud the first time it appears, and keep coming back to the house-price example so there is always something concrete under the abstraction.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nobody is expected to know any of this. The whole module is built from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this. The single biggest failure mode in a first ML session is a student who lost the thread in minute six and never said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If a student only remembers one slide from today, this should be it. Ask them to say the swap back to you in their own words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returning to this example all session. Concrete beats abstract on day one,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these five on the board and leave them there for the whole session. Students will need to look back at them a dozen times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removes the mystery. A model is a set of numbers and a measure of wrongness. Everything else in the module is a variation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distinguishing question is simply: what feedback does the learner get? Full answers, none, or a reward signal. Everything else follows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test: look at the label column. Numbers on a scale means regression; a fixed list of options means classification. Nothing else decides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thing about unsupervised learning is that there is no score. You cannot compute an accuracy, because there is nothing to be accurate against. Judgement replaces the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RL is not on this course beyond awareness, and that is worth saying so nobody waits for it. It needs an environment you can simulate millions of times, which most business problems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Labelling is usually the expensive part of a real project, and students never expect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 this slide. It is the table of contents for the next six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the expectation that ML is mostly modelling is part of the job. It is mostly data preparation, and saying so now saves disappointment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analogy lands best: a student who memorises last year's paper scores 100% on last year's paper. The test set is this year's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classify a few columns out loud before moving on: shirt size, country, star rating, temperature, blood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error live if you can. Seeing the ValueError makes the need for encoding real in a way that describing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LabelEncoder is genuinely fine for the TARGET column of a classifier, and genuinely wrong for a nominal input feature. Students meet it first in tutorials that use it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row across the arrow by hand: Boston becomes 0, 1, 0. Then ask the room what Miami becomes before you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we compare GAPS rather than raw coefficients: the intercept soaks up the overall average, so only differences between categories are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precise here rather than repeating the folklore. The trap is real for inference and for OLS; it is not a prediction bug in sklearn.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nuance most courses skip. Ordinal is not automatically right just because an order exists - it also assumes the gaps are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threshold: under about 15 categories, one-hot without thinking. Over 50, stop and choose. In between, look at how many rows each category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in one line: any step that learns something from the data - an encoder, a scaler, an imputer - is fitted on train and only applied to test. sklearn Pipelines exist to make this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 this. It answers most encoding questions they will have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eight is something a student will do in the practice notebook within the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reindex line is the one students always miss. A category that appears in test but not train creates a column mismatch and a crash at predict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anyone who feels they have not 'done machine learning' yet. They have done the part that decides whether the modelling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pointing back at the paradigm slide. If they leave with the rules/answers swap and the train/test rule, the rest of the module has somewhere to attach.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298448"/>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MODULE 3  ·  MACHINE LEARNING  ·  TOPICS 3.1 + 3.2</a:t>
            </a:r>
            <a:endParaRPr lang="en-US" sz="1300" dirty="0"/>
          </a:p>
        </p:txBody>
      </p:sp>
      <p:sp>
        <p:nvSpPr>
          <p:cNvPr id="5" name="Text 3"/>
          <p:cNvSpPr txBox="1"/>
          <p:nvPr/>
        </p:nvSpPr>
        <p:spPr>
          <a:xfrm>
            <a:off x="822960" y="1783080"/>
            <a:ext cx="841248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Machine Learning Is</a:t>
            </a:r>
            <a:endParaRPr lang="en-US" sz="4000" dirty="0"/>
          </a:p>
        </p:txBody>
      </p:sp>
      <p:sp>
        <p:nvSpPr>
          <p:cNvPr id="6" name="Text 4"/>
          <p:cNvSpPr txBox="1"/>
          <p:nvPr/>
        </p:nvSpPr>
        <p:spPr>
          <a:xfrm>
            <a:off x="822960" y="2487168"/>
            <a:ext cx="8412480" cy="548640"/>
          </a:xfrm>
          <a:prstGeom prst="rect">
            <a:avLst/>
          </a:prstGeom>
          <a:noFill/>
          <a:ln/>
        </p:spPr>
        <p:txBody>
          <a:bodyPr wrap="square" lIns="0" tIns="0" rIns="0" bIns="0" rtlCol="0" anchor="ctr"/>
          <a:lstStyle/>
          <a:p>
            <a:pPr indent="0" marL="0">
              <a:buNone/>
            </a:pPr>
            <a:r>
              <a:rPr lang="en-US" sz="2700" b="1" dirty="0">
                <a:solidFill>
                  <a:srgbClr val="AFC2DC"/>
                </a:solidFill>
                <a:latin typeface="Cambria" pitchFamily="34" charset="0"/>
                <a:ea typeface="Cambria" pitchFamily="34" charset="-122"/>
                <a:cs typeface="Cambria" pitchFamily="34" charset="-120"/>
              </a:rPr>
              <a:t>… and how to feed it words</a:t>
            </a:r>
            <a:endParaRPr lang="en-US" sz="2700" dirty="0"/>
          </a:p>
        </p:txBody>
      </p:sp>
      <p:sp>
        <p:nvSpPr>
          <p:cNvPr id="7" name="Text 5"/>
          <p:cNvSpPr txBox="1"/>
          <p:nvPr/>
        </p:nvSpPr>
        <p:spPr>
          <a:xfrm>
            <a:off x="841248" y="3218688"/>
            <a:ext cx="8229600" cy="365760"/>
          </a:xfrm>
          <a:prstGeom prst="rect">
            <a:avLst/>
          </a:prstGeom>
          <a:noFill/>
          <a:ln/>
        </p:spPr>
        <p:txBody>
          <a:bodyPr wrap="square" lIns="0" tIns="0" rIns="0" bIns="0" rtlCol="0" anchor="ctr"/>
          <a:lstStyle/>
          <a:p>
            <a:pPr indent="0" marL="0">
              <a:buNone/>
            </a:pPr>
            <a:r>
              <a:rPr lang="en-US" sz="1400" i="1" dirty="0">
                <a:solidFill>
                  <a:srgbClr val="AFC2DC"/>
                </a:solidFill>
                <a:latin typeface="Calibri" pitchFamily="34" charset="0"/>
                <a:ea typeface="Calibri" pitchFamily="34" charset="-122"/>
                <a:cs typeface="Calibri" pitchFamily="34" charset="-120"/>
              </a:rPr>
              <a:t>Day 31  —  the first session of Module 3. Nothing is assumed. Every term is defined when it first appears.</a:t>
            </a:r>
            <a:endParaRPr lang="en-US" sz="1400" dirty="0"/>
          </a:p>
        </p:txBody>
      </p:sp>
      <p:sp>
        <p:nvSpPr>
          <p:cNvPr id="8" name="Shape 6"/>
          <p:cNvSpPr/>
          <p:nvPr/>
        </p:nvSpPr>
        <p:spPr>
          <a:xfrm>
            <a:off x="822960" y="3931920"/>
            <a:ext cx="2468880" cy="1051560"/>
          </a:xfrm>
          <a:prstGeom prst="roundRect">
            <a:avLst>
              <a:gd name="adj" fmla="val 7826"/>
            </a:avLst>
          </a:prstGeom>
          <a:solidFill>
            <a:srgbClr val="1E3151"/>
          </a:solidFill>
          <a:ln w="12700">
            <a:solidFill>
              <a:srgbClr val="1E3151"/>
            </a:solidFill>
            <a:prstDash val="solid"/>
          </a:ln>
        </p:spPr>
      </p:sp>
      <p:sp>
        <p:nvSpPr>
          <p:cNvPr id="9" name="Text 7"/>
          <p:cNvSpPr txBox="1"/>
          <p:nvPr/>
        </p:nvSpPr>
        <p:spPr>
          <a:xfrm>
            <a:off x="1024128" y="402336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1</a:t>
            </a:r>
            <a:endParaRPr lang="en-US" sz="2200" dirty="0"/>
          </a:p>
        </p:txBody>
      </p:sp>
      <p:sp>
        <p:nvSpPr>
          <p:cNvPr id="10" name="Text 8"/>
          <p:cNvSpPr txBox="1"/>
          <p:nvPr/>
        </p:nvSpPr>
        <p:spPr>
          <a:xfrm>
            <a:off x="1024128" y="4425696"/>
            <a:ext cx="2194560" cy="50292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A new way of programming</a:t>
            </a:r>
            <a:endParaRPr lang="en-US" sz="1050" dirty="0"/>
          </a:p>
        </p:txBody>
      </p:sp>
      <p:sp>
        <p:nvSpPr>
          <p:cNvPr id="11" name="Shape 9"/>
          <p:cNvSpPr/>
          <p:nvPr/>
        </p:nvSpPr>
        <p:spPr>
          <a:xfrm>
            <a:off x="3566160" y="3931920"/>
            <a:ext cx="2468880" cy="1051560"/>
          </a:xfrm>
          <a:prstGeom prst="roundRect">
            <a:avLst>
              <a:gd name="adj" fmla="val 7826"/>
            </a:avLst>
          </a:prstGeom>
          <a:solidFill>
            <a:srgbClr val="1E3151"/>
          </a:solidFill>
          <a:ln w="12700">
            <a:solidFill>
              <a:srgbClr val="1E3151"/>
            </a:solidFill>
            <a:prstDash val="solid"/>
          </a:ln>
        </p:spPr>
      </p:sp>
      <p:sp>
        <p:nvSpPr>
          <p:cNvPr id="12" name="Text 10"/>
          <p:cNvSpPr txBox="1"/>
          <p:nvPr/>
        </p:nvSpPr>
        <p:spPr>
          <a:xfrm>
            <a:off x="3767328" y="402336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3767328" y="4425696"/>
            <a:ext cx="2194560" cy="50292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Kinds of learning, drawn out</a:t>
            </a:r>
            <a:endParaRPr lang="en-US" sz="1050" dirty="0"/>
          </a:p>
        </p:txBody>
      </p:sp>
      <p:sp>
        <p:nvSpPr>
          <p:cNvPr id="14" name="Shape 12"/>
          <p:cNvSpPr/>
          <p:nvPr/>
        </p:nvSpPr>
        <p:spPr>
          <a:xfrm>
            <a:off x="6309360" y="3931920"/>
            <a:ext cx="2468880" cy="1051560"/>
          </a:xfrm>
          <a:prstGeom prst="roundRect">
            <a:avLst>
              <a:gd name="adj" fmla="val 7826"/>
            </a:avLst>
          </a:prstGeom>
          <a:solidFill>
            <a:srgbClr val="1E3151"/>
          </a:solidFill>
          <a:ln w="12700">
            <a:solidFill>
              <a:srgbClr val="1E3151"/>
            </a:solidFill>
            <a:prstDash val="solid"/>
          </a:ln>
        </p:spPr>
      </p:sp>
      <p:sp>
        <p:nvSpPr>
          <p:cNvPr id="15" name="Text 13"/>
          <p:cNvSpPr txBox="1"/>
          <p:nvPr/>
        </p:nvSpPr>
        <p:spPr>
          <a:xfrm>
            <a:off x="6510528" y="4023360"/>
            <a:ext cx="214884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5</a:t>
            </a:r>
            <a:endParaRPr lang="en-US" sz="2200" dirty="0"/>
          </a:p>
        </p:txBody>
      </p:sp>
      <p:sp>
        <p:nvSpPr>
          <p:cNvPr id="16" name="Text 14"/>
          <p:cNvSpPr txBox="1"/>
          <p:nvPr/>
        </p:nvSpPr>
        <p:spPr>
          <a:xfrm>
            <a:off x="6510528" y="4425696"/>
            <a:ext cx="2194560" cy="50292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Ways to turn words into numbers</a:t>
            </a:r>
            <a:endParaRPr lang="en-US" sz="1050" dirty="0"/>
          </a:p>
        </p:txBody>
      </p:sp>
      <p:sp>
        <p:nvSpPr>
          <p:cNvPr id="17" name="Shape 15"/>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8" name="Image 0" descr="/home/claude/day31/bu_logo.png">    </p:cNvPr>
          <p:cNvPicPr>
            <a:picLocks noChangeAspect="1"/>
          </p:cNvPicPr>
          <p:nvPr/>
        </p:nvPicPr>
        <p:blipFill>
          <a:blip r:embed="rId1"/>
          <a:stretch>
            <a:fillRect/>
          </a:stretch>
        </p:blipFill>
        <p:spPr>
          <a:xfrm>
            <a:off x="9400032" y="1737360"/>
            <a:ext cx="1911096" cy="1783080"/>
          </a:xfrm>
          <a:prstGeom prst="rect">
            <a:avLst/>
          </a:prstGeom>
        </p:spPr>
      </p:pic>
      <p:sp>
        <p:nvSpPr>
          <p:cNvPr id="19" name="Text 16"/>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20" name="Text 17"/>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WELCOME TO MACHINE LEARNING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Module 3 starts here, and the job changes</a:t>
            </a:r>
            <a:endParaRPr lang="en-US" sz="3200" dirty="0"/>
          </a:p>
        </p:txBody>
      </p:sp>
      <p:sp>
        <p:nvSpPr>
          <p:cNvPr id="5" name="Shape 3"/>
          <p:cNvSpPr/>
          <p:nvPr/>
        </p:nvSpPr>
        <p:spPr>
          <a:xfrm>
            <a:off x="548640" y="1572768"/>
            <a:ext cx="5486400" cy="2286000"/>
          </a:xfrm>
          <a:prstGeom prst="roundRect">
            <a:avLst>
              <a:gd name="adj" fmla="val 36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37360"/>
            <a:ext cx="493776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Modules 1 and 2  —  30 days</a:t>
            </a:r>
            <a:endParaRPr lang="en-US" sz="1450" dirty="0"/>
          </a:p>
        </p:txBody>
      </p:sp>
      <p:sp>
        <p:nvSpPr>
          <p:cNvPr id="7" name="Text 5"/>
          <p:cNvSpPr txBox="1"/>
          <p:nvPr/>
        </p:nvSpPr>
        <p:spPr>
          <a:xfrm>
            <a:off x="914400" y="2121408"/>
            <a:ext cx="4846320" cy="16459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You wrote the rules yourself, in Python</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You described data that already existed</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You tested claims about a population</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Every answer came from a formula you could write out by hand</a:t>
            </a:r>
            <a:endParaRPr lang="en-US" sz="1200" dirty="0"/>
          </a:p>
        </p:txBody>
      </p:sp>
      <p:sp>
        <p:nvSpPr>
          <p:cNvPr id="8" name="Shape 6"/>
          <p:cNvSpPr/>
          <p:nvPr/>
        </p:nvSpPr>
        <p:spPr>
          <a:xfrm>
            <a:off x="6309360" y="1572768"/>
            <a:ext cx="5303520" cy="2286000"/>
          </a:xfrm>
          <a:prstGeom prst="roundRect">
            <a:avLst>
              <a:gd name="adj" fmla="val 36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565392" y="1737360"/>
            <a:ext cx="4754880" cy="292608"/>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Module 3  —  from today</a:t>
            </a:r>
            <a:endParaRPr lang="en-US" sz="1450" dirty="0"/>
          </a:p>
        </p:txBody>
      </p:sp>
      <p:sp>
        <p:nvSpPr>
          <p:cNvPr id="10" name="Text 8"/>
          <p:cNvSpPr txBox="1"/>
          <p:nvPr/>
        </p:nvSpPr>
        <p:spPr>
          <a:xfrm>
            <a:off x="6656832" y="2121408"/>
            <a:ext cx="4663440" cy="16459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The computer finds the rule, from examples</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You judge it on data it has never seen</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You will not be able to write the rule by hand — and that is the point</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Your job becomes choosing, feeding and checking the model</a:t>
            </a:r>
            <a:endParaRPr lang="en-US" sz="1200" dirty="0"/>
          </a:p>
        </p:txBody>
      </p:sp>
      <p:sp>
        <p:nvSpPr>
          <p:cNvPr id="11" name="Shape 9"/>
          <p:cNvSpPr/>
          <p:nvPr/>
        </p:nvSpPr>
        <p:spPr>
          <a:xfrm>
            <a:off x="548640" y="4023360"/>
            <a:ext cx="11064240" cy="1828800"/>
          </a:xfrm>
          <a:prstGeom prst="roundRect">
            <a:avLst>
              <a:gd name="adj" fmla="val 4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868680" y="4178808"/>
            <a:ext cx="82296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Three promises for today</a:t>
            </a:r>
            <a:endParaRPr lang="en-US" sz="1450" dirty="0"/>
          </a:p>
        </p:txBody>
      </p:sp>
      <p:sp>
        <p:nvSpPr>
          <p:cNvPr id="13" name="Shape 11"/>
          <p:cNvSpPr/>
          <p:nvPr/>
        </p:nvSpPr>
        <p:spPr>
          <a:xfrm>
            <a:off x="914400" y="4572000"/>
            <a:ext cx="310896" cy="310896"/>
          </a:xfrm>
          <a:prstGeom prst="ellipse">
            <a:avLst/>
          </a:prstGeom>
          <a:solidFill>
            <a:srgbClr val="3E7CB1"/>
          </a:solidFill>
          <a:ln w="12700">
            <a:solidFill>
              <a:srgbClr val="3E7CB1"/>
            </a:solidFill>
            <a:prstDash val="solid"/>
          </a:ln>
        </p:spPr>
      </p:sp>
      <p:sp>
        <p:nvSpPr>
          <p:cNvPr id="14" name="Text 12"/>
          <p:cNvSpPr txBox="1"/>
          <p:nvPr/>
        </p:nvSpPr>
        <p:spPr>
          <a:xfrm>
            <a:off x="914400" y="45720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389888" y="4553712"/>
            <a:ext cx="9966960" cy="347472"/>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You will see a model learn a rule in front of you, with no magic in it</a:t>
            </a:r>
            <a:endParaRPr lang="en-US" sz="1250" dirty="0"/>
          </a:p>
        </p:txBody>
      </p:sp>
      <p:sp>
        <p:nvSpPr>
          <p:cNvPr id="16" name="Shape 14"/>
          <p:cNvSpPr/>
          <p:nvPr/>
        </p:nvSpPr>
        <p:spPr>
          <a:xfrm>
            <a:off x="914400" y="4974336"/>
            <a:ext cx="310896" cy="310896"/>
          </a:xfrm>
          <a:prstGeom prst="ellipse">
            <a:avLst/>
          </a:prstGeom>
          <a:solidFill>
            <a:srgbClr val="E8674C"/>
          </a:solidFill>
          <a:ln w="12700">
            <a:solidFill>
              <a:srgbClr val="E8674C"/>
            </a:solidFill>
            <a:prstDash val="solid"/>
          </a:ln>
        </p:spPr>
      </p:sp>
      <p:sp>
        <p:nvSpPr>
          <p:cNvPr id="17" name="Text 15"/>
          <p:cNvSpPr txBox="1"/>
          <p:nvPr/>
        </p:nvSpPr>
        <p:spPr>
          <a:xfrm>
            <a:off x="914400" y="49743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1389888" y="4956048"/>
            <a:ext cx="9966960" cy="347472"/>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A model will score 100% on its homework and FAIL the exam — worse than guessing</a:t>
            </a:r>
            <a:endParaRPr lang="en-US" sz="1250" dirty="0"/>
          </a:p>
        </p:txBody>
      </p:sp>
      <p:sp>
        <p:nvSpPr>
          <p:cNvPr id="19" name="Shape 17"/>
          <p:cNvSpPr/>
          <p:nvPr/>
        </p:nvSpPr>
        <p:spPr>
          <a:xfrm>
            <a:off x="914400" y="5376672"/>
            <a:ext cx="310896" cy="310896"/>
          </a:xfrm>
          <a:prstGeom prst="ellipse">
            <a:avLst/>
          </a:prstGeom>
          <a:solidFill>
            <a:srgbClr val="E8674C"/>
          </a:solidFill>
          <a:ln w="12700">
            <a:solidFill>
              <a:srgbClr val="E8674C"/>
            </a:solidFill>
            <a:prstDash val="solid"/>
          </a:ln>
        </p:spPr>
      </p:sp>
      <p:sp>
        <p:nvSpPr>
          <p:cNvPr id="20" name="Text 18"/>
          <p:cNvSpPr txBox="1"/>
          <p:nvPr/>
        </p:nvSpPr>
        <p:spPr>
          <a:xfrm>
            <a:off x="914400" y="53766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1389888" y="5358384"/>
            <a:ext cx="9966960" cy="347472"/>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Writing one word as a number the wrong way will double a model's error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91840" cy="34747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What machine learning is</a:t>
            </a:r>
            <a:endParaRPr lang="en-US" sz="145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The paradigm, and the vocabulary</a:t>
            </a:r>
            <a:endParaRPr lang="en-US" sz="120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2FA98C"/>
          </a:solidFill>
          <a:ln w="12700">
            <a:solidFill>
              <a:srgbClr val="2FA98C"/>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91840" cy="34747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The three kinds of learning</a:t>
            </a:r>
            <a:endParaRPr lang="en-US" sz="145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Supervised, unsupervised, reinforcement</a:t>
            </a:r>
            <a:endParaRPr lang="en-US" sz="120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E8674C"/>
          </a:solidFill>
          <a:ln w="12700">
            <a:solidFill>
              <a:srgbClr val="E8674C"/>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91840" cy="34747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How a project actually runs</a:t>
            </a:r>
            <a:endParaRPr lang="en-US" sz="145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The pipeline, and train/test</a:t>
            </a:r>
            <a:endParaRPr lang="en-US" sz="120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15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FFC145"/>
          </a:solidFill>
          <a:ln w="12700">
            <a:solidFill>
              <a:srgbClr val="FFC145"/>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91840" cy="34747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What a feature is</a:t>
            </a:r>
            <a:endParaRPr lang="en-US" sz="145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And why models cannot read words</a:t>
            </a:r>
            <a:endParaRPr lang="en-US" sz="120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10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E8674C"/>
          </a:solidFill>
          <a:ln w="12700">
            <a:solidFill>
              <a:srgbClr val="E8674C"/>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91840" cy="34747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Encoding categorical data</a:t>
            </a:r>
            <a:endParaRPr lang="en-US" sz="145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Label, one-hot, ordinal, and the traps</a:t>
            </a:r>
            <a:endParaRPr lang="en-US" sz="120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291840" cy="34747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Practice notebook</a:t>
            </a:r>
            <a:endParaRPr lang="en-US" sz="145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You encode, you split, you check</a:t>
            </a:r>
            <a:endParaRPr lang="en-US" sz="120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Stop me the moment a word goes past that you have not heard before. On the first day of a new module that is not an interruption — it is the lesson.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Machine Learning Is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A different way of writing programs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paradigm flip</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A first example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vocabulary</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What “learning” means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THE PARADIGM FLIP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The whole idea, in one picture</a:t>
            </a:r>
            <a:endParaRPr lang="en-US" sz="3200" dirty="0"/>
          </a:p>
        </p:txBody>
      </p:sp>
      <p:pic>
        <p:nvPicPr>
          <p:cNvPr id="5" name="Image 0" descr="/home/claude/day31/fig/paradigm.png">    </p:cNvPr>
          <p:cNvPicPr>
            <a:picLocks noChangeAspect="1"/>
          </p:cNvPicPr>
          <p:nvPr/>
        </p:nvPicPr>
        <p:blipFill>
          <a:blip r:embed="rId1"/>
          <a:stretch>
            <a:fillRect/>
          </a:stretch>
        </p:blipFill>
        <p:spPr>
          <a:xfrm>
            <a:off x="1600200" y="1517904"/>
            <a:ext cx="8961120" cy="2887889"/>
          </a:xfrm>
          <a:prstGeom prst="rect">
            <a:avLst/>
          </a:prstGeom>
        </p:spPr>
      </p:pic>
      <p:sp>
        <p:nvSpPr>
          <p:cNvPr id="6" name="Shape 3"/>
          <p:cNvSpPr/>
          <p:nvPr/>
        </p:nvSpPr>
        <p:spPr>
          <a:xfrm>
            <a:off x="548640" y="4754880"/>
            <a:ext cx="11064240" cy="1097280"/>
          </a:xfrm>
          <a:prstGeom prst="roundRect">
            <a:avLst>
              <a:gd name="adj" fmla="val 75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4956048"/>
            <a:ext cx="10424160" cy="731520"/>
          </a:xfrm>
          <a:prstGeom prst="rect">
            <a:avLst/>
          </a:prstGeom>
          <a:noFill/>
          <a:ln/>
        </p:spPr>
        <p:txBody>
          <a:bodyPr wrap="square" lIns="0" tIns="0" rIns="0" bIns="0" rtlCol="0" anchor="ctr"/>
          <a:lstStyle/>
          <a:p>
            <a:pPr indent="0" marL="0">
              <a:lnSpc>
                <a:spcPct val="120000"/>
              </a:lnSpc>
              <a:buNone/>
            </a:pPr>
            <a:r>
              <a:rPr lang="en-US" sz="1300" dirty="0">
                <a:solidFill>
                  <a:srgbClr val="1F3A5F"/>
                </a:solidFill>
                <a:latin typeface="Calibri" pitchFamily="34" charset="0"/>
                <a:ea typeface="Calibri" pitchFamily="34" charset="-122"/>
                <a:cs typeface="Calibri" pitchFamily="34" charset="-120"/>
              </a:rPr>
              <a:t>Read the two diagrams and notice that RULES and ANSWERS have swapped places. That swap is the entire definition of machine learning. You hand the computer examples of the right answer, and it hands you back a rule — one you could not have written yourself, because you do not know it.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A FIRST EXAMPLE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A real one: what is this house worth?</a:t>
            </a:r>
            <a:endParaRPr lang="en-US" sz="3200" dirty="0"/>
          </a:p>
        </p:txBody>
      </p:sp>
      <p:pic>
        <p:nvPicPr>
          <p:cNvPr id="5" name="Image 0" descr="/home/claude/day31/fig/first_example.png">    </p:cNvPr>
          <p:cNvPicPr>
            <a:picLocks noChangeAspect="1"/>
          </p:cNvPicPr>
          <p:nvPr/>
        </p:nvPicPr>
        <p:blipFill>
          <a:blip r:embed="rId1"/>
          <a:stretch>
            <a:fillRect/>
          </a:stretch>
        </p:blipFill>
        <p:spPr>
          <a:xfrm>
            <a:off x="731520" y="1536192"/>
            <a:ext cx="10698480" cy="2822073"/>
          </a:xfrm>
          <a:prstGeom prst="rect">
            <a:avLst/>
          </a:prstGeom>
        </p:spPr>
      </p:pic>
      <p:sp>
        <p:nvSpPr>
          <p:cNvPr id="6" name="Shape 3"/>
          <p:cNvSpPr/>
          <p:nvPr/>
        </p:nvSpPr>
        <p:spPr>
          <a:xfrm>
            <a:off x="548640" y="4480560"/>
            <a:ext cx="3657600" cy="1371600"/>
          </a:xfrm>
          <a:prstGeom prst="roundRect">
            <a:avLst>
              <a:gd name="adj" fmla="val 60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77240" y="4608576"/>
            <a:ext cx="3200400" cy="27432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1.  The examples</a:t>
            </a:r>
            <a:endParaRPr lang="en-US" sz="1300" dirty="0"/>
          </a:p>
        </p:txBody>
      </p:sp>
      <p:sp>
        <p:nvSpPr>
          <p:cNvPr id="8" name="Text 5"/>
          <p:cNvSpPr txBox="1"/>
          <p:nvPr/>
        </p:nvSpPr>
        <p:spPr>
          <a:xfrm>
            <a:off x="777240" y="4919472"/>
            <a:ext cx="3246120" cy="822960"/>
          </a:xfrm>
          <a:prstGeom prst="rect">
            <a:avLst/>
          </a:prstGeom>
          <a:noFill/>
          <a:ln/>
        </p:spPr>
        <p:txBody>
          <a:bodyPr wrap="square" lIns="0" tIns="0" rIns="0" bIns="0" rtlCol="0" anchor="ctr"/>
          <a:lstStyle/>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60 houses we already sold. For each one we know the area AND the price — the question and the answer together.</a:t>
            </a:r>
            <a:endParaRPr lang="en-US" sz="1150" dirty="0"/>
          </a:p>
        </p:txBody>
      </p:sp>
      <p:sp>
        <p:nvSpPr>
          <p:cNvPr id="9" name="Shape 6"/>
          <p:cNvSpPr/>
          <p:nvPr/>
        </p:nvSpPr>
        <p:spPr>
          <a:xfrm>
            <a:off x="4343400" y="4480560"/>
            <a:ext cx="3657600" cy="1371600"/>
          </a:xfrm>
          <a:prstGeom prst="roundRect">
            <a:avLst>
              <a:gd name="adj" fmla="val 6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4572000" y="4608576"/>
            <a:ext cx="3200400" cy="274320"/>
          </a:xfrm>
          <a:prstGeom prst="rect">
            <a:avLst/>
          </a:prstGeom>
          <a:noFill/>
          <a:ln/>
        </p:spPr>
        <p:txBody>
          <a:bodyPr wrap="square" lIns="0" tIns="0" rIns="0" bIns="0" rtlCol="0" anchor="ctr"/>
          <a:lstStyle/>
          <a:p>
            <a:pPr indent="0" marL="0">
              <a:buNone/>
            </a:pPr>
            <a:r>
              <a:rPr lang="en-US" sz="1300" b="1" dirty="0">
                <a:solidFill>
                  <a:srgbClr val="8A5B00"/>
                </a:solidFill>
                <a:latin typeface="Calibri" pitchFamily="34" charset="0"/>
                <a:ea typeface="Calibri" pitchFamily="34" charset="-122"/>
                <a:cs typeface="Calibri" pitchFamily="34" charset="-120"/>
              </a:rPr>
              <a:t>2.  The rule it found</a:t>
            </a:r>
            <a:endParaRPr lang="en-US" sz="1300" dirty="0"/>
          </a:p>
        </p:txBody>
      </p:sp>
      <p:sp>
        <p:nvSpPr>
          <p:cNvPr id="11" name="Text 8"/>
          <p:cNvSpPr txBox="1"/>
          <p:nvPr/>
        </p:nvSpPr>
        <p:spPr>
          <a:xfrm>
            <a:off x="4572000" y="4919472"/>
            <a:ext cx="3246120" cy="822960"/>
          </a:xfrm>
          <a:prstGeom prst="rect">
            <a:avLst/>
          </a:prstGeom>
          <a:noFill/>
          <a:ln/>
        </p:spPr>
        <p:txBody>
          <a:bodyPr wrap="square" lIns="0" tIns="0" rIns="0" bIns="0" rtlCol="0" anchor="ctr"/>
          <a:lstStyle/>
          <a:p>
            <a:pPr indent="0" marL="0">
              <a:lnSpc>
                <a:spcPct val="120000"/>
              </a:lnSpc>
              <a:buNone/>
            </a:pPr>
            <a:r>
              <a:rPr lang="en-US" sz="1150" dirty="0">
                <a:solidFill>
                  <a:srgbClr val="6B4A0B"/>
                </a:solidFill>
                <a:latin typeface="Calibri" pitchFamily="34" charset="0"/>
                <a:ea typeface="Calibri" pitchFamily="34" charset="-122"/>
                <a:cs typeface="Calibri" pitchFamily="34" charset="-120"/>
              </a:rPr>
              <a:t>Nobody wrote this line. The computer tried millions of lines and kept the one that sat closest to the dots.</a:t>
            </a:r>
            <a:endParaRPr lang="en-US" sz="1150" dirty="0"/>
          </a:p>
        </p:txBody>
      </p:sp>
      <p:sp>
        <p:nvSpPr>
          <p:cNvPr id="12" name="Shape 9"/>
          <p:cNvSpPr/>
          <p:nvPr/>
        </p:nvSpPr>
        <p:spPr>
          <a:xfrm>
            <a:off x="8138160" y="4480560"/>
            <a:ext cx="3474720" cy="1371600"/>
          </a:xfrm>
          <a:prstGeom prst="roundRect">
            <a:avLst>
              <a:gd name="adj" fmla="val 6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366760" y="4608576"/>
            <a:ext cx="3017520" cy="274320"/>
          </a:xfrm>
          <a:prstGeom prst="rect">
            <a:avLst/>
          </a:prstGeom>
          <a:noFill/>
          <a:ln/>
        </p:spPr>
        <p:txBody>
          <a:bodyPr wrap="square" lIns="0" tIns="0" rIns="0" bIns="0" rtlCol="0" anchor="ctr"/>
          <a:lstStyle/>
          <a:p>
            <a:pPr indent="0" marL="0">
              <a:buNone/>
            </a:pPr>
            <a:r>
              <a:rPr lang="en-US" sz="1300" b="1" dirty="0">
                <a:solidFill>
                  <a:srgbClr val="1C6F5C"/>
                </a:solidFill>
                <a:latin typeface="Calibri" pitchFamily="34" charset="0"/>
                <a:ea typeface="Calibri" pitchFamily="34" charset="-122"/>
                <a:cs typeface="Calibri" pitchFamily="34" charset="-120"/>
              </a:rPr>
              <a:t>3.  The point of it all</a:t>
            </a:r>
            <a:endParaRPr lang="en-US" sz="1300" dirty="0"/>
          </a:p>
        </p:txBody>
      </p:sp>
      <p:sp>
        <p:nvSpPr>
          <p:cNvPr id="14" name="Text 11"/>
          <p:cNvSpPr txBox="1"/>
          <p:nvPr/>
        </p:nvSpPr>
        <p:spPr>
          <a:xfrm>
            <a:off x="8366760" y="4919472"/>
            <a:ext cx="3063240" cy="822960"/>
          </a:xfrm>
          <a:prstGeom prst="rect">
            <a:avLst/>
          </a:prstGeom>
          <a:noFill/>
          <a:ln/>
        </p:spPr>
        <p:txBody>
          <a:bodyPr wrap="square" lIns="0" tIns="0" rIns="0" bIns="0" rtlCol="0" anchor="ctr"/>
          <a:lstStyle/>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A house we have NEVER seen. The rule gives an answer anyway. That is the only thing we ever wanted.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1.3  ·  THE VOCABULARY</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five words you need before anything else</a:t>
            </a:r>
            <a:endParaRPr lang="en-US" sz="3200" dirty="0"/>
          </a:p>
        </p:txBody>
      </p:sp>
      <p:pic>
        <p:nvPicPr>
          <p:cNvPr id="5" name="Image 0" descr="/home/claude/day31/fig/anatomy.png">    </p:cNvPr>
          <p:cNvPicPr>
            <a:picLocks noChangeAspect="1"/>
          </p:cNvPicPr>
          <p:nvPr/>
        </p:nvPicPr>
        <p:blipFill>
          <a:blip r:embed="rId1"/>
          <a:stretch>
            <a:fillRect/>
          </a:stretch>
        </p:blipFill>
        <p:spPr>
          <a:xfrm>
            <a:off x="1234440" y="1481328"/>
            <a:ext cx="9692640" cy="2998960"/>
          </a:xfrm>
          <a:prstGeom prst="rect">
            <a:avLst/>
          </a:prstGeom>
        </p:spPr>
      </p:pic>
      <p:sp>
        <p:nvSpPr>
          <p:cNvPr id="6" name="Shape 3"/>
          <p:cNvSpPr/>
          <p:nvPr/>
        </p:nvSpPr>
        <p:spPr>
          <a:xfrm>
            <a:off x="548640" y="4754880"/>
            <a:ext cx="11064240" cy="1188720"/>
          </a:xfrm>
          <a:prstGeom prst="roundRect">
            <a:avLst>
              <a:gd name="adj" fmla="val 6923"/>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77240" y="4901184"/>
            <a:ext cx="1143000" cy="256032"/>
          </a:xfrm>
          <a:prstGeom prst="rect">
            <a:avLst/>
          </a:prstGeom>
          <a:noFill/>
          <a:ln/>
        </p:spPr>
        <p:txBody>
          <a:bodyPr wrap="square" lIns="0" tIns="0" rIns="0" bIns="0" rtlCol="0" anchor="ctr"/>
          <a:lstStyle/>
          <a:p>
            <a:pPr indent="0" marL="0">
              <a:buNone/>
            </a:pPr>
            <a:r>
              <a:rPr lang="en-US" sz="1150" b="1" dirty="0">
                <a:solidFill>
                  <a:srgbClr val="E8674C"/>
                </a:solidFill>
                <a:latin typeface="Courier New" pitchFamily="34" charset="0"/>
                <a:ea typeface="Courier New" pitchFamily="34" charset="-122"/>
                <a:cs typeface="Courier New" pitchFamily="34" charset="-120"/>
              </a:rPr>
              <a:t>sample</a:t>
            </a:r>
            <a:endParaRPr lang="en-US" sz="1150" dirty="0"/>
          </a:p>
        </p:txBody>
      </p:sp>
      <p:sp>
        <p:nvSpPr>
          <p:cNvPr id="8" name="Text 5"/>
          <p:cNvSpPr txBox="1"/>
          <p:nvPr/>
        </p:nvSpPr>
        <p:spPr>
          <a:xfrm>
            <a:off x="1874520" y="4901184"/>
            <a:ext cx="2514600" cy="420624"/>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one row — one house, one customer, one email</a:t>
            </a:r>
            <a:endParaRPr lang="en-US" sz="1050" dirty="0"/>
          </a:p>
        </p:txBody>
      </p:sp>
      <p:sp>
        <p:nvSpPr>
          <p:cNvPr id="9" name="Text 6"/>
          <p:cNvSpPr txBox="1"/>
          <p:nvPr/>
        </p:nvSpPr>
        <p:spPr>
          <a:xfrm>
            <a:off x="4434840" y="4901184"/>
            <a:ext cx="1143000" cy="256032"/>
          </a:xfrm>
          <a:prstGeom prst="rect">
            <a:avLst/>
          </a:prstGeom>
          <a:noFill/>
          <a:ln/>
        </p:spPr>
        <p:txBody>
          <a:bodyPr wrap="square" lIns="0" tIns="0" rIns="0" bIns="0" rtlCol="0" anchor="ctr"/>
          <a:lstStyle/>
          <a:p>
            <a:pPr indent="0" marL="0">
              <a:buNone/>
            </a:pPr>
            <a:r>
              <a:rPr lang="en-US" sz="1150" b="1" dirty="0">
                <a:solidFill>
                  <a:srgbClr val="E8674C"/>
                </a:solidFill>
                <a:latin typeface="Courier New" pitchFamily="34" charset="0"/>
                <a:ea typeface="Courier New" pitchFamily="34" charset="-122"/>
                <a:cs typeface="Courier New" pitchFamily="34" charset="-120"/>
              </a:rPr>
              <a:t>feature</a:t>
            </a:r>
            <a:endParaRPr lang="en-US" sz="1150" dirty="0"/>
          </a:p>
        </p:txBody>
      </p:sp>
      <p:sp>
        <p:nvSpPr>
          <p:cNvPr id="10" name="Text 7"/>
          <p:cNvSpPr txBox="1"/>
          <p:nvPr/>
        </p:nvSpPr>
        <p:spPr>
          <a:xfrm>
            <a:off x="5532120" y="4901184"/>
            <a:ext cx="2514600" cy="420624"/>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one input column (X)</a:t>
            </a:r>
            <a:endParaRPr lang="en-US" sz="1050" dirty="0"/>
          </a:p>
        </p:txBody>
      </p:sp>
      <p:sp>
        <p:nvSpPr>
          <p:cNvPr id="11" name="Text 8"/>
          <p:cNvSpPr txBox="1"/>
          <p:nvPr/>
        </p:nvSpPr>
        <p:spPr>
          <a:xfrm>
            <a:off x="8092440" y="4901184"/>
            <a:ext cx="1143000" cy="256032"/>
          </a:xfrm>
          <a:prstGeom prst="rect">
            <a:avLst/>
          </a:prstGeom>
          <a:noFill/>
          <a:ln/>
        </p:spPr>
        <p:txBody>
          <a:bodyPr wrap="square" lIns="0" tIns="0" rIns="0" bIns="0" rtlCol="0" anchor="ctr"/>
          <a:lstStyle/>
          <a:p>
            <a:pPr indent="0" marL="0">
              <a:buNone/>
            </a:pPr>
            <a:r>
              <a:rPr lang="en-US" sz="1150" b="1" dirty="0">
                <a:solidFill>
                  <a:srgbClr val="E8674C"/>
                </a:solidFill>
                <a:latin typeface="Courier New" pitchFamily="34" charset="0"/>
                <a:ea typeface="Courier New" pitchFamily="34" charset="-122"/>
                <a:cs typeface="Courier New" pitchFamily="34" charset="-120"/>
              </a:rPr>
              <a:t>label</a:t>
            </a:r>
            <a:endParaRPr lang="en-US" sz="1150" dirty="0"/>
          </a:p>
        </p:txBody>
      </p:sp>
      <p:sp>
        <p:nvSpPr>
          <p:cNvPr id="12" name="Text 9"/>
          <p:cNvSpPr txBox="1"/>
          <p:nvPr/>
        </p:nvSpPr>
        <p:spPr>
          <a:xfrm>
            <a:off x="9189720" y="4901184"/>
            <a:ext cx="2514600" cy="420624"/>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the answer column (y)</a:t>
            </a:r>
            <a:endParaRPr lang="en-US" sz="1050" dirty="0"/>
          </a:p>
        </p:txBody>
      </p:sp>
      <p:sp>
        <p:nvSpPr>
          <p:cNvPr id="13" name="Text 10"/>
          <p:cNvSpPr txBox="1"/>
          <p:nvPr/>
        </p:nvSpPr>
        <p:spPr>
          <a:xfrm>
            <a:off x="777240" y="5376672"/>
            <a:ext cx="1143000" cy="256032"/>
          </a:xfrm>
          <a:prstGeom prst="rect">
            <a:avLst/>
          </a:prstGeom>
          <a:noFill/>
          <a:ln/>
        </p:spPr>
        <p:txBody>
          <a:bodyPr wrap="square" lIns="0" tIns="0" rIns="0" bIns="0" rtlCol="0" anchor="ctr"/>
          <a:lstStyle/>
          <a:p>
            <a:pPr indent="0" marL="0">
              <a:buNone/>
            </a:pPr>
            <a:r>
              <a:rPr lang="en-US" sz="1150" b="1" dirty="0">
                <a:solidFill>
                  <a:srgbClr val="E8674C"/>
                </a:solidFill>
                <a:latin typeface="Courier New" pitchFamily="34" charset="0"/>
                <a:ea typeface="Courier New" pitchFamily="34" charset="-122"/>
                <a:cs typeface="Courier New" pitchFamily="34" charset="-120"/>
              </a:rPr>
              <a:t>model</a:t>
            </a:r>
            <a:endParaRPr lang="en-US" sz="1150" dirty="0"/>
          </a:p>
        </p:txBody>
      </p:sp>
      <p:sp>
        <p:nvSpPr>
          <p:cNvPr id="14" name="Text 11"/>
          <p:cNvSpPr txBox="1"/>
          <p:nvPr/>
        </p:nvSpPr>
        <p:spPr>
          <a:xfrm>
            <a:off x="1874520" y="5376672"/>
            <a:ext cx="2514600" cy="420624"/>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the rule, once it is found</a:t>
            </a:r>
            <a:endParaRPr lang="en-US" sz="1050" dirty="0"/>
          </a:p>
        </p:txBody>
      </p:sp>
      <p:sp>
        <p:nvSpPr>
          <p:cNvPr id="15" name="Text 12"/>
          <p:cNvSpPr txBox="1"/>
          <p:nvPr/>
        </p:nvSpPr>
        <p:spPr>
          <a:xfrm>
            <a:off x="4434840" y="5376672"/>
            <a:ext cx="1143000" cy="256032"/>
          </a:xfrm>
          <a:prstGeom prst="rect">
            <a:avLst/>
          </a:prstGeom>
          <a:noFill/>
          <a:ln/>
        </p:spPr>
        <p:txBody>
          <a:bodyPr wrap="square" lIns="0" tIns="0" rIns="0" bIns="0" rtlCol="0" anchor="ctr"/>
          <a:lstStyle/>
          <a:p>
            <a:pPr indent="0" marL="0">
              <a:buNone/>
            </a:pPr>
            <a:r>
              <a:rPr lang="en-US" sz="1150" b="1" dirty="0">
                <a:solidFill>
                  <a:srgbClr val="E8674C"/>
                </a:solidFill>
                <a:latin typeface="Courier New" pitchFamily="34" charset="0"/>
                <a:ea typeface="Courier New" pitchFamily="34" charset="-122"/>
                <a:cs typeface="Courier New" pitchFamily="34" charset="-120"/>
              </a:rPr>
              <a:t>training</a:t>
            </a:r>
            <a:endParaRPr lang="en-US" sz="1150" dirty="0"/>
          </a:p>
        </p:txBody>
      </p:sp>
      <p:sp>
        <p:nvSpPr>
          <p:cNvPr id="16" name="Text 13"/>
          <p:cNvSpPr txBox="1"/>
          <p:nvPr/>
        </p:nvSpPr>
        <p:spPr>
          <a:xfrm>
            <a:off x="5532120" y="5376672"/>
            <a:ext cx="2514600" cy="420624"/>
          </a:xfrm>
          <a:prstGeom prst="rect">
            <a:avLst/>
          </a:prstGeom>
          <a:noFill/>
          <a:ln/>
        </p:spPr>
        <p:txBody>
          <a:bodyPr wrap="square" lIns="0" tIns="0" rIns="0" bIns="0" rtlCol="0" anchor="ctr"/>
          <a:lstStyle/>
          <a:p>
            <a:pPr indent="0" marL="0">
              <a:lnSpc>
                <a:spcPct val="110000"/>
              </a:lnSpc>
              <a:buNone/>
            </a:pPr>
            <a:r>
              <a:rPr lang="en-US" sz="1050" dirty="0">
                <a:solidFill>
                  <a:srgbClr val="6B4A0B"/>
                </a:solidFill>
                <a:latin typeface="Calibri" pitchFamily="34" charset="0"/>
                <a:ea typeface="Calibri" pitchFamily="34" charset="-122"/>
                <a:cs typeface="Calibri" pitchFamily="34" charset="-120"/>
              </a:rPr>
              <a:t>the act of finding 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1.4  ·  HOW IT LEARNS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What “learning” actually means — there is no magic in it</a:t>
            </a:r>
            <a:endParaRPr lang="en-US" sz="3200" dirty="0"/>
          </a:p>
        </p:txBody>
      </p:sp>
      <p:pic>
        <p:nvPicPr>
          <p:cNvPr id="5" name="Image 0" descr="/home/claude/day31/fig/learning.png">    </p:cNvPr>
          <p:cNvPicPr>
            <a:picLocks noChangeAspect="1"/>
          </p:cNvPicPr>
          <p:nvPr/>
        </p:nvPicPr>
        <p:blipFill>
          <a:blip r:embed="rId1"/>
          <a:stretch>
            <a:fillRect/>
          </a:stretch>
        </p:blipFill>
        <p:spPr>
          <a:xfrm>
            <a:off x="1143000" y="1517904"/>
            <a:ext cx="9875520" cy="3047060"/>
          </a:xfrm>
          <a:prstGeom prst="rect">
            <a:avLst/>
          </a:prstGeom>
        </p:spPr>
      </p:pic>
      <p:sp>
        <p:nvSpPr>
          <p:cNvPr id="6" name="Shape 3"/>
          <p:cNvSpPr/>
          <p:nvPr/>
        </p:nvSpPr>
        <p:spPr>
          <a:xfrm>
            <a:off x="548640" y="4754880"/>
            <a:ext cx="5486400" cy="1097280"/>
          </a:xfrm>
          <a:prstGeom prst="roundRect">
            <a:avLst>
              <a:gd name="adj" fmla="val 75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882896"/>
            <a:ext cx="4937760" cy="2743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The entire algorithm, in words</a:t>
            </a:r>
            <a:endParaRPr lang="en-US" sz="1350" dirty="0"/>
          </a:p>
        </p:txBody>
      </p:sp>
      <p:sp>
        <p:nvSpPr>
          <p:cNvPr id="8" name="Text 5"/>
          <p:cNvSpPr txBox="1"/>
          <p:nvPr/>
        </p:nvSpPr>
        <p:spPr>
          <a:xfrm>
            <a:off x="804672" y="5193792"/>
            <a:ext cx="4983480" cy="621792"/>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Pick numbers. Measure how wrong you are. Change the numbers so you are less wrong. Repeat. That is it — for linear regression and, with more arithmetic, for a neural network too.</a:t>
            </a:r>
            <a:endParaRPr lang="en-US" sz="1150" dirty="0"/>
          </a:p>
        </p:txBody>
      </p:sp>
      <p:sp>
        <p:nvSpPr>
          <p:cNvPr id="9" name="Shape 6"/>
          <p:cNvSpPr/>
          <p:nvPr/>
        </p:nvSpPr>
        <p:spPr>
          <a:xfrm>
            <a:off x="6309360" y="4754880"/>
            <a:ext cx="5303520" cy="1097280"/>
          </a:xfrm>
          <a:prstGeom prst="roundRect">
            <a:avLst>
              <a:gd name="adj" fmla="val 7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882896"/>
            <a:ext cx="4754880" cy="274320"/>
          </a:xfrm>
          <a:prstGeom prst="rect">
            <a:avLst/>
          </a:prstGeom>
          <a:noFill/>
          <a:ln/>
        </p:spPr>
        <p:txBody>
          <a:bodyPr wrap="square" lIns="0" tIns="0" rIns="0" bIns="0" rtlCol="0" anchor="ctr"/>
          <a:lstStyle/>
          <a:p>
            <a:pPr indent="0" marL="0">
              <a:buNone/>
            </a:pPr>
            <a:r>
              <a:rPr lang="en-US" sz="1350" b="1" dirty="0">
                <a:solidFill>
                  <a:srgbClr val="8A5B00"/>
                </a:solidFill>
                <a:latin typeface="Calibri" pitchFamily="34" charset="0"/>
                <a:ea typeface="Calibri" pitchFamily="34" charset="-122"/>
                <a:cs typeface="Calibri" pitchFamily="34" charset="-120"/>
              </a:rPr>
              <a:t>Here we tried every slope by brute force</a:t>
            </a:r>
            <a:endParaRPr lang="en-US" sz="1350" dirty="0"/>
          </a:p>
        </p:txBody>
      </p:sp>
      <p:sp>
        <p:nvSpPr>
          <p:cNvPr id="11" name="Text 8"/>
          <p:cNvSpPr txBox="1"/>
          <p:nvPr/>
        </p:nvSpPr>
        <p:spPr>
          <a:xfrm>
            <a:off x="6565392" y="5193792"/>
            <a:ext cx="4800600" cy="621792"/>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That works with one number to find. With a million, you need a smarter way down the curve — that is GRADIENT DESCENT, and we derive it step by step on Day 35.</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Three Kinds of Learning</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What tells them apart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Supervised</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Unsupervised</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Reinforcement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Which one is my problem?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THE BIG PICTURE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Three kinds of learning, side by side</a:t>
            </a:r>
            <a:endParaRPr lang="en-US" sz="3200" dirty="0"/>
          </a:p>
        </p:txBody>
      </p:sp>
      <p:pic>
        <p:nvPicPr>
          <p:cNvPr id="5" name="Image 0" descr="/home/claude/day31/fig/three_types.png">    </p:cNvPr>
          <p:cNvPicPr>
            <a:picLocks noChangeAspect="1"/>
          </p:cNvPicPr>
          <p:nvPr/>
        </p:nvPicPr>
        <p:blipFill>
          <a:blip r:embed="rId1"/>
          <a:stretch>
            <a:fillRect/>
          </a:stretch>
        </p:blipFill>
        <p:spPr>
          <a:xfrm>
            <a:off x="731520" y="1554480"/>
            <a:ext cx="10698480" cy="2800649"/>
          </a:xfrm>
          <a:prstGeom prst="rect">
            <a:avLst/>
          </a:prstGeom>
        </p:spPr>
      </p:pic>
      <p:sp>
        <p:nvSpPr>
          <p:cNvPr id="6" name="Shape 3"/>
          <p:cNvSpPr/>
          <p:nvPr/>
        </p:nvSpPr>
        <p:spPr>
          <a:xfrm>
            <a:off x="548640" y="4526280"/>
            <a:ext cx="3520440" cy="1325880"/>
          </a:xfrm>
          <a:prstGeom prst="roundRect">
            <a:avLst>
              <a:gd name="adj" fmla="val 6207"/>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777240" y="4645152"/>
            <a:ext cx="3108960" cy="256032"/>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SUPERVISED</a:t>
            </a:r>
            <a:endParaRPr lang="en-US" sz="1300" dirty="0"/>
          </a:p>
        </p:txBody>
      </p:sp>
      <p:sp>
        <p:nvSpPr>
          <p:cNvPr id="8" name="Text 5"/>
          <p:cNvSpPr txBox="1"/>
          <p:nvPr/>
        </p:nvSpPr>
        <p:spPr>
          <a:xfrm>
            <a:off x="777240" y="4937760"/>
            <a:ext cx="3154680" cy="868680"/>
          </a:xfrm>
          <a:prstGeom prst="rect">
            <a:avLst/>
          </a:prstGeom>
          <a:noFill/>
          <a:ln/>
        </p:spPr>
        <p:txBody>
          <a:bodyPr wrap="square" lIns="0" tIns="0" rIns="0" bIns="0" rtlCol="0" anchor="ctr"/>
          <a:lstStyle/>
          <a:p>
            <a:pPr indent="0" marL="0">
              <a:lnSpc>
                <a:spcPct val="115000"/>
              </a:lnSpc>
              <a:buNone/>
            </a:pPr>
            <a:r>
              <a:rPr lang="en-US" sz="1050" dirty="0">
                <a:solidFill>
                  <a:srgbClr val="2B3445"/>
                </a:solidFill>
                <a:latin typeface="Calibri" pitchFamily="34" charset="0"/>
                <a:ea typeface="Calibri" pitchFamily="34" charset="-122"/>
                <a:cs typeface="Calibri" pitchFamily="34" charset="-120"/>
              </a:rPr>
              <a:t>Every example comes with its correct answer attached. The model learns to copy the answer key, then applies it to new rows.</a:t>
            </a:r>
            <a:endParaRPr lang="en-US" sz="1050" dirty="0"/>
          </a:p>
          <a:p>
            <a:pPr indent="0" marL="0">
              <a:lnSpc>
                <a:spcPct val="115000"/>
              </a:lnSpc>
              <a:buNone/>
            </a:pPr>
            <a:endParaRPr lang="en-US" sz="1050" dirty="0"/>
          </a:p>
          <a:p>
            <a:pPr indent="0" marL="0">
              <a:lnSpc>
                <a:spcPct val="115000"/>
              </a:lnSpc>
              <a:buNone/>
            </a:pPr>
            <a:r>
              <a:rPr lang="en-US" sz="1050" dirty="0">
                <a:solidFill>
                  <a:srgbClr val="2B3445"/>
                </a:solidFill>
                <a:latin typeface="Calibri" pitchFamily="34" charset="0"/>
                <a:ea typeface="Calibri" pitchFamily="34" charset="-122"/>
                <a:cs typeface="Calibri" pitchFamily="34" charset="-120"/>
              </a:rPr>
              <a:t>~90% of what industry does.</a:t>
            </a:r>
            <a:endParaRPr lang="en-US" sz="1050" dirty="0"/>
          </a:p>
        </p:txBody>
      </p:sp>
      <p:sp>
        <p:nvSpPr>
          <p:cNvPr id="9" name="Shape 6"/>
          <p:cNvSpPr/>
          <p:nvPr/>
        </p:nvSpPr>
        <p:spPr>
          <a:xfrm>
            <a:off x="4315968" y="4526280"/>
            <a:ext cx="3520440" cy="1325880"/>
          </a:xfrm>
          <a:prstGeom prst="roundRect">
            <a:avLst>
              <a:gd name="adj" fmla="val 6207"/>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4544568" y="4645152"/>
            <a:ext cx="3108960" cy="256032"/>
          </a:xfrm>
          <a:prstGeom prst="rect">
            <a:avLst/>
          </a:prstGeom>
          <a:noFill/>
          <a:ln/>
        </p:spPr>
        <p:txBody>
          <a:bodyPr wrap="square" lIns="0" tIns="0" rIns="0" bIns="0" rtlCol="0" anchor="ctr"/>
          <a:lstStyle/>
          <a:p>
            <a:pPr indent="0" marL="0">
              <a:buNone/>
            </a:pPr>
            <a:r>
              <a:rPr lang="en-US" sz="1300" b="1" dirty="0">
                <a:solidFill>
                  <a:srgbClr val="1C6F5C"/>
                </a:solidFill>
                <a:latin typeface="Calibri" pitchFamily="34" charset="0"/>
                <a:ea typeface="Calibri" pitchFamily="34" charset="-122"/>
                <a:cs typeface="Calibri" pitchFamily="34" charset="-120"/>
              </a:rPr>
              <a:t>UNSUPERVISED</a:t>
            </a:r>
            <a:endParaRPr lang="en-US" sz="1300" dirty="0"/>
          </a:p>
        </p:txBody>
      </p:sp>
      <p:sp>
        <p:nvSpPr>
          <p:cNvPr id="11" name="Text 8"/>
          <p:cNvSpPr txBox="1"/>
          <p:nvPr/>
        </p:nvSpPr>
        <p:spPr>
          <a:xfrm>
            <a:off x="4544568" y="4937760"/>
            <a:ext cx="3154680" cy="868680"/>
          </a:xfrm>
          <a:prstGeom prst="rect">
            <a:avLst/>
          </a:prstGeom>
          <a:noFill/>
          <a:ln/>
        </p:spPr>
        <p:txBody>
          <a:bodyPr wrap="square" lIns="0" tIns="0" rIns="0" bIns="0" rtlCol="0" anchor="ctr"/>
          <a:lstStyle/>
          <a:p>
            <a:pPr indent="0" marL="0">
              <a:lnSpc>
                <a:spcPct val="115000"/>
              </a:lnSpc>
              <a:buNone/>
            </a:pPr>
            <a:r>
              <a:rPr lang="en-US" sz="1050" dirty="0">
                <a:solidFill>
                  <a:srgbClr val="2B3445"/>
                </a:solidFill>
                <a:latin typeface="Calibri" pitchFamily="34" charset="0"/>
                <a:ea typeface="Calibri" pitchFamily="34" charset="-122"/>
                <a:cs typeface="Calibri" pitchFamily="34" charset="-120"/>
              </a:rPr>
              <a:t>No answers at all. The model looks for structure that was already in the data — groups, or a simpler description.</a:t>
            </a:r>
            <a:endParaRPr lang="en-US" sz="1050" dirty="0"/>
          </a:p>
          <a:p>
            <a:pPr indent="0" marL="0">
              <a:lnSpc>
                <a:spcPct val="115000"/>
              </a:lnSpc>
              <a:buNone/>
            </a:pPr>
            <a:endParaRPr lang="en-US" sz="1050" dirty="0"/>
          </a:p>
          <a:p>
            <a:pPr indent="0" marL="0">
              <a:lnSpc>
                <a:spcPct val="115000"/>
              </a:lnSpc>
              <a:buNone/>
            </a:pPr>
            <a:r>
              <a:rPr lang="en-US" sz="1050" dirty="0">
                <a:solidFill>
                  <a:srgbClr val="2B3445"/>
                </a:solidFill>
                <a:latin typeface="Calibri" pitchFamily="34" charset="0"/>
                <a:ea typeface="Calibri" pitchFamily="34" charset="-122"/>
                <a:cs typeface="Calibri" pitchFamily="34" charset="-120"/>
              </a:rPr>
              <a:t>There is no “correct” to score against.</a:t>
            </a:r>
            <a:endParaRPr lang="en-US" sz="1050" dirty="0"/>
          </a:p>
        </p:txBody>
      </p:sp>
      <p:sp>
        <p:nvSpPr>
          <p:cNvPr id="12" name="Shape 9"/>
          <p:cNvSpPr/>
          <p:nvPr/>
        </p:nvSpPr>
        <p:spPr>
          <a:xfrm>
            <a:off x="8092440" y="4526280"/>
            <a:ext cx="3520440" cy="1325880"/>
          </a:xfrm>
          <a:prstGeom prst="roundRect">
            <a:avLst>
              <a:gd name="adj" fmla="val 6207"/>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321040" y="4645152"/>
            <a:ext cx="3108960" cy="256032"/>
          </a:xfrm>
          <a:prstGeom prst="rect">
            <a:avLst/>
          </a:prstGeom>
          <a:noFill/>
          <a:ln/>
        </p:spPr>
        <p:txBody>
          <a:bodyPr wrap="square" lIns="0" tIns="0" rIns="0" bIns="0" rtlCol="0" anchor="ctr"/>
          <a:lstStyle/>
          <a:p>
            <a:pPr indent="0" marL="0">
              <a:buNone/>
            </a:pPr>
            <a:r>
              <a:rPr lang="en-US" sz="1300" b="1" dirty="0">
                <a:solidFill>
                  <a:srgbClr val="A63B24"/>
                </a:solidFill>
                <a:latin typeface="Calibri" pitchFamily="34" charset="0"/>
                <a:ea typeface="Calibri" pitchFamily="34" charset="-122"/>
                <a:cs typeface="Calibri" pitchFamily="34" charset="-120"/>
              </a:rPr>
              <a:t>REINFORCEMENT</a:t>
            </a:r>
            <a:endParaRPr lang="en-US" sz="1300" dirty="0"/>
          </a:p>
        </p:txBody>
      </p:sp>
      <p:sp>
        <p:nvSpPr>
          <p:cNvPr id="14" name="Text 11"/>
          <p:cNvSpPr txBox="1"/>
          <p:nvPr/>
        </p:nvSpPr>
        <p:spPr>
          <a:xfrm>
            <a:off x="8321040" y="4937760"/>
            <a:ext cx="3154680" cy="868680"/>
          </a:xfrm>
          <a:prstGeom prst="rect">
            <a:avLst/>
          </a:prstGeom>
          <a:noFill/>
          <a:ln/>
        </p:spPr>
        <p:txBody>
          <a:bodyPr wrap="square" lIns="0" tIns="0" rIns="0" bIns="0" rtlCol="0" anchor="ctr"/>
          <a:lstStyle/>
          <a:p>
            <a:pPr indent="0" marL="0">
              <a:lnSpc>
                <a:spcPct val="115000"/>
              </a:lnSpc>
              <a:buNone/>
            </a:pPr>
            <a:r>
              <a:rPr lang="en-US" sz="1050" dirty="0">
                <a:solidFill>
                  <a:srgbClr val="6B4A0B"/>
                </a:solidFill>
                <a:latin typeface="Calibri" pitchFamily="34" charset="0"/>
                <a:ea typeface="Calibri" pitchFamily="34" charset="-122"/>
                <a:cs typeface="Calibri" pitchFamily="34" charset="-120"/>
              </a:rPr>
              <a:t>No answers either, but there IS feedback: do something, get a reward or a penalty, adjust.</a:t>
            </a:r>
            <a:endParaRPr lang="en-US" sz="1050" dirty="0"/>
          </a:p>
          <a:p>
            <a:pPr indent="0" marL="0">
              <a:lnSpc>
                <a:spcPct val="115000"/>
              </a:lnSpc>
              <a:buNone/>
            </a:pPr>
            <a:endParaRPr lang="en-US" sz="1050" dirty="0"/>
          </a:p>
          <a:p>
            <a:pPr indent="0" marL="0">
              <a:lnSpc>
                <a:spcPct val="115000"/>
              </a:lnSpc>
              <a:buNone/>
            </a:pPr>
            <a:r>
              <a:rPr lang="en-US" sz="1050" dirty="0">
                <a:solidFill>
                  <a:srgbClr val="6B4A0B"/>
                </a:solidFill>
                <a:latin typeface="Calibri" pitchFamily="34" charset="0"/>
                <a:ea typeface="Calibri" pitchFamily="34" charset="-122"/>
                <a:cs typeface="Calibri" pitchFamily="34" charset="-120"/>
              </a:rPr>
              <a:t>Games, robots, recommendation.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SUPERVISED, UP CLOSE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Supervised learning splits in two — and the split is just the label</a:t>
            </a:r>
            <a:endParaRPr lang="en-US" sz="3200" dirty="0"/>
          </a:p>
        </p:txBody>
      </p:sp>
      <p:pic>
        <p:nvPicPr>
          <p:cNvPr id="5" name="Image 0" descr="/home/claude/day31/fig/reg_vs_clf.png">    </p:cNvPr>
          <p:cNvPicPr>
            <a:picLocks noChangeAspect="1"/>
          </p:cNvPicPr>
          <p:nvPr/>
        </p:nvPicPr>
        <p:blipFill>
          <a:blip r:embed="rId1"/>
          <a:stretch>
            <a:fillRect/>
          </a:stretch>
        </p:blipFill>
        <p:spPr>
          <a:xfrm>
            <a:off x="1188720" y="1536192"/>
            <a:ext cx="9784080" cy="3038534"/>
          </a:xfrm>
          <a:prstGeom prst="rect">
            <a:avLst/>
          </a:prstGeom>
        </p:spPr>
      </p:pic>
      <p:sp>
        <p:nvSpPr>
          <p:cNvPr id="6" name="Shape 3"/>
          <p:cNvSpPr/>
          <p:nvPr/>
        </p:nvSpPr>
        <p:spPr>
          <a:xfrm>
            <a:off x="548640" y="4754880"/>
            <a:ext cx="5486400" cy="1097280"/>
          </a:xfrm>
          <a:prstGeom prst="roundRect">
            <a:avLst>
              <a:gd name="adj" fmla="val 75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873752"/>
            <a:ext cx="4937760" cy="27432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REGRESSION  —  the label is a number</a:t>
            </a:r>
            <a:endParaRPr lang="en-US" sz="1300" dirty="0"/>
          </a:p>
        </p:txBody>
      </p:sp>
      <p:sp>
        <p:nvSpPr>
          <p:cNvPr id="8" name="Text 5"/>
          <p:cNvSpPr txBox="1"/>
          <p:nvPr/>
        </p:nvSpPr>
        <p:spPr>
          <a:xfrm>
            <a:off x="804672" y="5166360"/>
            <a:ext cx="4983480" cy="640080"/>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House price · tomorrow's temperature · how many units we will sell · a patient's blood pressure. The answer can be any value on a scale.</a:t>
            </a:r>
            <a:endParaRPr lang="en-US" sz="1150" dirty="0"/>
          </a:p>
        </p:txBody>
      </p:sp>
      <p:sp>
        <p:nvSpPr>
          <p:cNvPr id="9" name="Shape 6"/>
          <p:cNvSpPr/>
          <p:nvPr/>
        </p:nvSpPr>
        <p:spPr>
          <a:xfrm>
            <a:off x="6309360" y="4754880"/>
            <a:ext cx="5303520" cy="1097280"/>
          </a:xfrm>
          <a:prstGeom prst="roundRect">
            <a:avLst>
              <a:gd name="adj" fmla="val 75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873752"/>
            <a:ext cx="4754880" cy="274320"/>
          </a:xfrm>
          <a:prstGeom prst="rect">
            <a:avLst/>
          </a:prstGeom>
          <a:noFill/>
          <a:ln/>
        </p:spPr>
        <p:txBody>
          <a:bodyPr wrap="square" lIns="0" tIns="0" rIns="0" bIns="0" rtlCol="0" anchor="ctr"/>
          <a:lstStyle/>
          <a:p>
            <a:pPr indent="0" marL="0">
              <a:buNone/>
            </a:pPr>
            <a:r>
              <a:rPr lang="en-US" sz="1300" b="1" dirty="0">
                <a:solidFill>
                  <a:srgbClr val="1C6F5C"/>
                </a:solidFill>
                <a:latin typeface="Calibri" pitchFamily="34" charset="0"/>
                <a:ea typeface="Calibri" pitchFamily="34" charset="-122"/>
                <a:cs typeface="Calibri" pitchFamily="34" charset="-120"/>
              </a:rPr>
              <a:t>CLASSIFICATION  —  the label is a category</a:t>
            </a:r>
            <a:endParaRPr lang="en-US" sz="1300" dirty="0"/>
          </a:p>
        </p:txBody>
      </p:sp>
      <p:sp>
        <p:nvSpPr>
          <p:cNvPr id="11" name="Text 8"/>
          <p:cNvSpPr txBox="1"/>
          <p:nvPr/>
        </p:nvSpPr>
        <p:spPr>
          <a:xfrm>
            <a:off x="6565392" y="5166360"/>
            <a:ext cx="4800600" cy="640080"/>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Spam or not · which of 10 digits · will this customer leave · is this tumour malignant. The answer is one of a fixed list.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2.3  ·  UNSUPERVISED, UP CLOSE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Unsupervised: two jobs, no answer key</a:t>
            </a:r>
            <a:endParaRPr lang="en-US" sz="3200" dirty="0"/>
          </a:p>
        </p:txBody>
      </p:sp>
      <p:pic>
        <p:nvPicPr>
          <p:cNvPr id="5" name="Image 0" descr="/home/claude/day31/fig/unsupervised.png">    </p:cNvPr>
          <p:cNvPicPr>
            <a:picLocks noChangeAspect="1"/>
          </p:cNvPicPr>
          <p:nvPr/>
        </p:nvPicPr>
        <p:blipFill>
          <a:blip r:embed="rId1"/>
          <a:stretch>
            <a:fillRect/>
          </a:stretch>
        </p:blipFill>
        <p:spPr>
          <a:xfrm>
            <a:off x="1280160" y="1536192"/>
            <a:ext cx="9601200" cy="3040279"/>
          </a:xfrm>
          <a:prstGeom prst="rect">
            <a:avLst/>
          </a:prstGeom>
        </p:spPr>
      </p:pic>
      <p:sp>
        <p:nvSpPr>
          <p:cNvPr id="6" name="Shape 3"/>
          <p:cNvSpPr/>
          <p:nvPr/>
        </p:nvSpPr>
        <p:spPr>
          <a:xfrm>
            <a:off x="548640" y="4754880"/>
            <a:ext cx="5486400" cy="1097280"/>
          </a:xfrm>
          <a:prstGeom prst="roundRect">
            <a:avLst>
              <a:gd name="adj" fmla="val 75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873752"/>
            <a:ext cx="4937760" cy="274320"/>
          </a:xfrm>
          <a:prstGeom prst="rect">
            <a:avLst/>
          </a:prstGeom>
          <a:noFill/>
          <a:ln/>
        </p:spPr>
        <p:txBody>
          <a:bodyPr wrap="square" lIns="0" tIns="0" rIns="0" bIns="0" rtlCol="0" anchor="ctr"/>
          <a:lstStyle/>
          <a:p>
            <a:pPr indent="0" marL="0">
              <a:buNone/>
            </a:pPr>
            <a:r>
              <a:rPr lang="en-US" sz="1300" b="1" dirty="0">
                <a:solidFill>
                  <a:srgbClr val="1C6F5C"/>
                </a:solidFill>
                <a:latin typeface="Calibri" pitchFamily="34" charset="0"/>
                <a:ea typeface="Calibri" pitchFamily="34" charset="-122"/>
                <a:cs typeface="Calibri" pitchFamily="34" charset="-120"/>
              </a:rPr>
              <a:t>CLUSTERING  —  group the rows</a:t>
            </a:r>
            <a:endParaRPr lang="en-US" sz="1300" dirty="0"/>
          </a:p>
        </p:txBody>
      </p:sp>
      <p:sp>
        <p:nvSpPr>
          <p:cNvPr id="8" name="Text 5"/>
          <p:cNvSpPr txBox="1"/>
          <p:nvPr/>
        </p:nvSpPr>
        <p:spPr>
          <a:xfrm>
            <a:off x="804672" y="5166360"/>
            <a:ext cx="4983480" cy="640080"/>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“Which of our customers behave alike?” Nobody told the model there were three groups, or what to call them. You name them afterwards, by looking.</a:t>
            </a:r>
            <a:endParaRPr lang="en-US" sz="1150" dirty="0"/>
          </a:p>
        </p:txBody>
      </p:sp>
      <p:sp>
        <p:nvSpPr>
          <p:cNvPr id="9" name="Shape 6"/>
          <p:cNvSpPr/>
          <p:nvPr/>
        </p:nvSpPr>
        <p:spPr>
          <a:xfrm>
            <a:off x="6309360" y="4754880"/>
            <a:ext cx="5303520" cy="1097280"/>
          </a:xfrm>
          <a:prstGeom prst="roundRect">
            <a:avLst>
              <a:gd name="adj" fmla="val 75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873752"/>
            <a:ext cx="4754880" cy="274320"/>
          </a:xfrm>
          <a:prstGeom prst="rect">
            <a:avLst/>
          </a:prstGeom>
          <a:noFill/>
          <a:ln/>
        </p:spPr>
        <p:txBody>
          <a:bodyPr wrap="square" lIns="0" tIns="0" rIns="0" bIns="0" rtlCol="0" anchor="ctr"/>
          <a:lstStyle/>
          <a:p>
            <a:pPr indent="0" marL="0">
              <a:buNone/>
            </a:pPr>
            <a:r>
              <a:rPr lang="en-US" sz="1250" b="1" dirty="0">
                <a:solidFill>
                  <a:srgbClr val="A63B24"/>
                </a:solidFill>
                <a:latin typeface="Calibri" pitchFamily="34" charset="0"/>
                <a:ea typeface="Calibri" pitchFamily="34" charset="-122"/>
                <a:cs typeface="Calibri" pitchFamily="34" charset="-120"/>
              </a:rPr>
              <a:t>DIMENSIONALITY REDUCTION  —  shrink the columns</a:t>
            </a:r>
            <a:endParaRPr lang="en-US" sz="1250" dirty="0"/>
          </a:p>
        </p:txBody>
      </p:sp>
      <p:sp>
        <p:nvSpPr>
          <p:cNvPr id="11" name="Text 8"/>
          <p:cNvSpPr txBox="1"/>
          <p:nvPr/>
        </p:nvSpPr>
        <p:spPr>
          <a:xfrm>
            <a:off x="6565392" y="5166360"/>
            <a:ext cx="4800600" cy="64008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“These 50 columns mostly say the same thing — can 2 columns carry it?” Used to plot high-dimensional data, and to speed models up.</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2.4  ·  REINFORCEMENT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Reinforcement learning: nobody says what is right, only what paid off</a:t>
            </a:r>
            <a:endParaRPr lang="en-US" sz="3200" dirty="0"/>
          </a:p>
        </p:txBody>
      </p:sp>
      <p:sp>
        <p:nvSpPr>
          <p:cNvPr id="5" name="Shape 3"/>
          <p:cNvSpPr/>
          <p:nvPr/>
        </p:nvSpPr>
        <p:spPr>
          <a:xfrm>
            <a:off x="548640" y="1572768"/>
            <a:ext cx="5486400" cy="2468880"/>
          </a:xfrm>
          <a:prstGeom prst="roundRect">
            <a:avLst>
              <a:gd name="adj" fmla="val 333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37360"/>
            <a:ext cx="4937760" cy="292608"/>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Learning to ride a bicycle</a:t>
            </a:r>
            <a:endParaRPr lang="en-US" sz="1450" dirty="0"/>
          </a:p>
        </p:txBody>
      </p:sp>
      <p:sp>
        <p:nvSpPr>
          <p:cNvPr id="7" name="Text 5"/>
          <p:cNvSpPr txBox="1"/>
          <p:nvPr/>
        </p:nvSpPr>
        <p:spPr>
          <a:xfrm>
            <a:off x="822960" y="2148840"/>
            <a:ext cx="4983480" cy="1737360"/>
          </a:xfrm>
          <a:prstGeom prst="rect">
            <a:avLst/>
          </a:prstGeom>
          <a:noFill/>
          <a:ln/>
        </p:spPr>
        <p:txBody>
          <a:bodyPr wrap="square" lIns="0" tIns="0" rIns="0" bIns="0" rtlCol="0" anchor="ctr"/>
          <a:lstStyle/>
          <a:p>
            <a:pPr indent="0" marL="0">
              <a:lnSpc>
                <a:spcPct val="130000"/>
              </a:lnSpc>
              <a:buNone/>
            </a:pPr>
            <a:r>
              <a:rPr lang="en-US" sz="1250" dirty="0">
                <a:solidFill>
                  <a:srgbClr val="6B4A0B"/>
                </a:solidFill>
                <a:latin typeface="Calibri" pitchFamily="34" charset="0"/>
                <a:ea typeface="Calibri" pitchFamily="34" charset="-122"/>
                <a:cs typeface="Calibri" pitchFamily="34" charset="-120"/>
              </a:rPr>
              <a:t>Nobody gave you a table of handlebar angles. You pushed off, you fell over, and falling over was the penalty. You tried again, you stayed up for three seconds, and that was the reward. Nothing supervised the ride — but the world kept score.</a:t>
            </a:r>
            <a:endParaRPr lang="en-US" sz="1250" dirty="0"/>
          </a:p>
        </p:txBody>
      </p:sp>
      <p:sp>
        <p:nvSpPr>
          <p:cNvPr id="8" name="Shape 6"/>
          <p:cNvSpPr/>
          <p:nvPr/>
        </p:nvSpPr>
        <p:spPr>
          <a:xfrm>
            <a:off x="6309360" y="1572768"/>
            <a:ext cx="5303520" cy="2468880"/>
          </a:xfrm>
          <a:prstGeom prst="roundRect">
            <a:avLst>
              <a:gd name="adj" fmla="val 3333"/>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565392" y="1737360"/>
            <a:ext cx="475488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The four pieces</a:t>
            </a:r>
            <a:endParaRPr lang="en-US" sz="1450" dirty="0"/>
          </a:p>
        </p:txBody>
      </p:sp>
      <p:sp>
        <p:nvSpPr>
          <p:cNvPr id="10" name="Text 8"/>
          <p:cNvSpPr txBox="1"/>
          <p:nvPr/>
        </p:nvSpPr>
        <p:spPr>
          <a:xfrm>
            <a:off x="6638544" y="2176272"/>
            <a:ext cx="1600200" cy="256032"/>
          </a:xfrm>
          <a:prstGeom prst="rect">
            <a:avLst/>
          </a:prstGeom>
          <a:noFill/>
          <a:ln/>
        </p:spPr>
        <p:txBody>
          <a:bodyPr wrap="square" lIns="0" tIns="0" rIns="0" bIns="0" rtlCol="0" anchor="ctr"/>
          <a:lstStyle/>
          <a:p>
            <a:pPr indent="0" marL="0">
              <a:buNone/>
            </a:pPr>
            <a:r>
              <a:rPr lang="en-US" sz="1150" b="1" dirty="0">
                <a:solidFill>
                  <a:srgbClr val="E8674C"/>
                </a:solidFill>
                <a:latin typeface="Courier New" pitchFamily="34" charset="0"/>
                <a:ea typeface="Courier New" pitchFamily="34" charset="-122"/>
                <a:cs typeface="Courier New" pitchFamily="34" charset="-120"/>
              </a:rPr>
              <a:t>agent</a:t>
            </a:r>
            <a:endParaRPr lang="en-US" sz="1150" dirty="0"/>
          </a:p>
        </p:txBody>
      </p:sp>
      <p:sp>
        <p:nvSpPr>
          <p:cNvPr id="11" name="Text 9"/>
          <p:cNvSpPr txBox="1"/>
          <p:nvPr/>
        </p:nvSpPr>
        <p:spPr>
          <a:xfrm>
            <a:off x="8183880" y="2176272"/>
            <a:ext cx="3200400" cy="384048"/>
          </a:xfrm>
          <a:prstGeom prst="rect">
            <a:avLst/>
          </a:prstGeom>
          <a:noFill/>
          <a:ln/>
        </p:spPr>
        <p:txBody>
          <a:bodyPr wrap="square" lIns="0" tIns="0" rIns="0" bIns="0" rtlCol="0" anchor="ctr"/>
          <a:lstStyle/>
          <a:p>
            <a:pPr indent="0" marL="0">
              <a:lnSpc>
                <a:spcPct val="110000"/>
              </a:lnSpc>
              <a:buNone/>
            </a:pPr>
            <a:r>
              <a:rPr lang="en-US" sz="1100" dirty="0">
                <a:solidFill>
                  <a:srgbClr val="2B3445"/>
                </a:solidFill>
                <a:latin typeface="Calibri" pitchFamily="34" charset="0"/>
                <a:ea typeface="Calibri" pitchFamily="34" charset="-122"/>
                <a:cs typeface="Calibri" pitchFamily="34" charset="-120"/>
              </a:rPr>
              <a:t>the learner — the thing making choices</a:t>
            </a:r>
            <a:endParaRPr lang="en-US" sz="1100" dirty="0"/>
          </a:p>
        </p:txBody>
      </p:sp>
      <p:sp>
        <p:nvSpPr>
          <p:cNvPr id="12" name="Text 10"/>
          <p:cNvSpPr txBox="1"/>
          <p:nvPr/>
        </p:nvSpPr>
        <p:spPr>
          <a:xfrm>
            <a:off x="6638544" y="2624328"/>
            <a:ext cx="1600200" cy="256032"/>
          </a:xfrm>
          <a:prstGeom prst="rect">
            <a:avLst/>
          </a:prstGeom>
          <a:noFill/>
          <a:ln/>
        </p:spPr>
        <p:txBody>
          <a:bodyPr wrap="square" lIns="0" tIns="0" rIns="0" bIns="0" rtlCol="0" anchor="ctr"/>
          <a:lstStyle/>
          <a:p>
            <a:pPr indent="0" marL="0">
              <a:buNone/>
            </a:pPr>
            <a:r>
              <a:rPr lang="en-US" sz="1150" b="1" dirty="0">
                <a:solidFill>
                  <a:srgbClr val="E8674C"/>
                </a:solidFill>
                <a:latin typeface="Courier New" pitchFamily="34" charset="0"/>
                <a:ea typeface="Courier New" pitchFamily="34" charset="-122"/>
                <a:cs typeface="Courier New" pitchFamily="34" charset="-120"/>
              </a:rPr>
              <a:t>environment</a:t>
            </a:r>
            <a:endParaRPr lang="en-US" sz="1150" dirty="0"/>
          </a:p>
        </p:txBody>
      </p:sp>
      <p:sp>
        <p:nvSpPr>
          <p:cNvPr id="13" name="Text 11"/>
          <p:cNvSpPr txBox="1"/>
          <p:nvPr/>
        </p:nvSpPr>
        <p:spPr>
          <a:xfrm>
            <a:off x="8183880" y="2624328"/>
            <a:ext cx="3200400" cy="384048"/>
          </a:xfrm>
          <a:prstGeom prst="rect">
            <a:avLst/>
          </a:prstGeom>
          <a:noFill/>
          <a:ln/>
        </p:spPr>
        <p:txBody>
          <a:bodyPr wrap="square" lIns="0" tIns="0" rIns="0" bIns="0" rtlCol="0" anchor="ctr"/>
          <a:lstStyle/>
          <a:p>
            <a:pPr indent="0" marL="0">
              <a:lnSpc>
                <a:spcPct val="110000"/>
              </a:lnSpc>
              <a:buNone/>
            </a:pPr>
            <a:r>
              <a:rPr lang="en-US" sz="1100" dirty="0">
                <a:solidFill>
                  <a:srgbClr val="2B3445"/>
                </a:solidFill>
                <a:latin typeface="Calibri" pitchFamily="34" charset="0"/>
                <a:ea typeface="Calibri" pitchFamily="34" charset="-122"/>
                <a:cs typeface="Calibri" pitchFamily="34" charset="-120"/>
              </a:rPr>
              <a:t>the world it acts in</a:t>
            </a:r>
            <a:endParaRPr lang="en-US" sz="1100" dirty="0"/>
          </a:p>
        </p:txBody>
      </p:sp>
      <p:sp>
        <p:nvSpPr>
          <p:cNvPr id="14" name="Text 12"/>
          <p:cNvSpPr txBox="1"/>
          <p:nvPr/>
        </p:nvSpPr>
        <p:spPr>
          <a:xfrm>
            <a:off x="6638544" y="3072384"/>
            <a:ext cx="1600200" cy="256032"/>
          </a:xfrm>
          <a:prstGeom prst="rect">
            <a:avLst/>
          </a:prstGeom>
          <a:noFill/>
          <a:ln/>
        </p:spPr>
        <p:txBody>
          <a:bodyPr wrap="square" lIns="0" tIns="0" rIns="0" bIns="0" rtlCol="0" anchor="ctr"/>
          <a:lstStyle/>
          <a:p>
            <a:pPr indent="0" marL="0">
              <a:buNone/>
            </a:pPr>
            <a:r>
              <a:rPr lang="en-US" sz="1150" b="1" dirty="0">
                <a:solidFill>
                  <a:srgbClr val="E8674C"/>
                </a:solidFill>
                <a:latin typeface="Courier New" pitchFamily="34" charset="0"/>
                <a:ea typeface="Courier New" pitchFamily="34" charset="-122"/>
                <a:cs typeface="Courier New" pitchFamily="34" charset="-120"/>
              </a:rPr>
              <a:t>action</a:t>
            </a:r>
            <a:endParaRPr lang="en-US" sz="1150" dirty="0"/>
          </a:p>
        </p:txBody>
      </p:sp>
      <p:sp>
        <p:nvSpPr>
          <p:cNvPr id="15" name="Text 13"/>
          <p:cNvSpPr txBox="1"/>
          <p:nvPr/>
        </p:nvSpPr>
        <p:spPr>
          <a:xfrm>
            <a:off x="8183880" y="3072384"/>
            <a:ext cx="3200400" cy="384048"/>
          </a:xfrm>
          <a:prstGeom prst="rect">
            <a:avLst/>
          </a:prstGeom>
          <a:noFill/>
          <a:ln/>
        </p:spPr>
        <p:txBody>
          <a:bodyPr wrap="square" lIns="0" tIns="0" rIns="0" bIns="0" rtlCol="0" anchor="ctr"/>
          <a:lstStyle/>
          <a:p>
            <a:pPr indent="0" marL="0">
              <a:lnSpc>
                <a:spcPct val="110000"/>
              </a:lnSpc>
              <a:buNone/>
            </a:pPr>
            <a:r>
              <a:rPr lang="en-US" sz="1100" dirty="0">
                <a:solidFill>
                  <a:srgbClr val="2B3445"/>
                </a:solidFill>
                <a:latin typeface="Calibri" pitchFamily="34" charset="0"/>
                <a:ea typeface="Calibri" pitchFamily="34" charset="-122"/>
                <a:cs typeface="Calibri" pitchFamily="34" charset="-120"/>
              </a:rPr>
              <a:t>what it chooses to do</a:t>
            </a:r>
            <a:endParaRPr lang="en-US" sz="1100" dirty="0"/>
          </a:p>
        </p:txBody>
      </p:sp>
      <p:sp>
        <p:nvSpPr>
          <p:cNvPr id="16" name="Text 14"/>
          <p:cNvSpPr txBox="1"/>
          <p:nvPr/>
        </p:nvSpPr>
        <p:spPr>
          <a:xfrm>
            <a:off x="6638544" y="3520440"/>
            <a:ext cx="1600200" cy="256032"/>
          </a:xfrm>
          <a:prstGeom prst="rect">
            <a:avLst/>
          </a:prstGeom>
          <a:noFill/>
          <a:ln/>
        </p:spPr>
        <p:txBody>
          <a:bodyPr wrap="square" lIns="0" tIns="0" rIns="0" bIns="0" rtlCol="0" anchor="ctr"/>
          <a:lstStyle/>
          <a:p>
            <a:pPr indent="0" marL="0">
              <a:buNone/>
            </a:pPr>
            <a:r>
              <a:rPr lang="en-US" sz="1150" b="1" dirty="0">
                <a:solidFill>
                  <a:srgbClr val="E8674C"/>
                </a:solidFill>
                <a:latin typeface="Courier New" pitchFamily="34" charset="0"/>
                <a:ea typeface="Courier New" pitchFamily="34" charset="-122"/>
                <a:cs typeface="Courier New" pitchFamily="34" charset="-120"/>
              </a:rPr>
              <a:t>reward</a:t>
            </a:r>
            <a:endParaRPr lang="en-US" sz="1150" dirty="0"/>
          </a:p>
        </p:txBody>
      </p:sp>
      <p:sp>
        <p:nvSpPr>
          <p:cNvPr id="17" name="Text 15"/>
          <p:cNvSpPr txBox="1"/>
          <p:nvPr/>
        </p:nvSpPr>
        <p:spPr>
          <a:xfrm>
            <a:off x="8183880" y="3520440"/>
            <a:ext cx="3200400" cy="384048"/>
          </a:xfrm>
          <a:prstGeom prst="rect">
            <a:avLst/>
          </a:prstGeom>
          <a:noFill/>
          <a:ln/>
        </p:spPr>
        <p:txBody>
          <a:bodyPr wrap="square" lIns="0" tIns="0" rIns="0" bIns="0" rtlCol="0" anchor="ctr"/>
          <a:lstStyle/>
          <a:p>
            <a:pPr indent="0" marL="0">
              <a:lnSpc>
                <a:spcPct val="110000"/>
              </a:lnSpc>
              <a:buNone/>
            </a:pPr>
            <a:r>
              <a:rPr lang="en-US" sz="1100" dirty="0">
                <a:solidFill>
                  <a:srgbClr val="2B3445"/>
                </a:solidFill>
                <a:latin typeface="Calibri" pitchFamily="34" charset="0"/>
                <a:ea typeface="Calibri" pitchFamily="34" charset="-122"/>
                <a:cs typeface="Calibri" pitchFamily="34" charset="-120"/>
              </a:rPr>
              <a:t>the number the world gives back</a:t>
            </a:r>
            <a:endParaRPr lang="en-US" sz="1100" dirty="0"/>
          </a:p>
        </p:txBody>
      </p:sp>
      <p:sp>
        <p:nvSpPr>
          <p:cNvPr id="18" name="Shape 16"/>
          <p:cNvSpPr/>
          <p:nvPr/>
        </p:nvSpPr>
        <p:spPr>
          <a:xfrm>
            <a:off x="548640" y="4206240"/>
            <a:ext cx="11064240" cy="1645920"/>
          </a:xfrm>
          <a:prstGeom prst="roundRect">
            <a:avLst>
              <a:gd name="adj" fmla="val 5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9" name="Text 17"/>
          <p:cNvSpPr txBox="1"/>
          <p:nvPr/>
        </p:nvSpPr>
        <p:spPr>
          <a:xfrm>
            <a:off x="868680" y="4361688"/>
            <a:ext cx="8229600" cy="274320"/>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Where you have met it without knowing</a:t>
            </a:r>
            <a:endParaRPr lang="en-US" sz="1400" dirty="0"/>
          </a:p>
        </p:txBody>
      </p:sp>
      <p:sp>
        <p:nvSpPr>
          <p:cNvPr id="20" name="Text 18"/>
          <p:cNvSpPr txBox="1"/>
          <p:nvPr/>
        </p:nvSpPr>
        <p:spPr>
          <a:xfrm>
            <a:off x="868680" y="4700016"/>
            <a:ext cx="10424160" cy="1005840"/>
          </a:xfrm>
          <a:prstGeom prst="rect">
            <a:avLst/>
          </a:prstGeom>
          <a:noFill/>
          <a:ln/>
        </p:spPr>
        <p:txBody>
          <a:bodyPr wrap="square" lIns="0" tIns="0" rIns="0" bIns="0" rtlCol="0" anchor="ctr"/>
          <a:lstStyle/>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Game-playing engines that beat world champions at Go and chess  ·  a robot arm learning to grasp  ·  a warehouse robot routing itself  ·  the feed that decides what to show you next and watches whether you keep scrolling  ·  data-centre cooling systems that learn an energy-saving policy.</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2.5  ·  THE TEST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Which kind is my problem? One question decides it.</a:t>
            </a:r>
            <a:endParaRPr lang="en-US" sz="3200" dirty="0"/>
          </a:p>
        </p:txBody>
      </p:sp>
      <p:sp>
        <p:nvSpPr>
          <p:cNvPr id="5" name="Shape 3"/>
          <p:cNvSpPr/>
          <p:nvPr/>
        </p:nvSpPr>
        <p:spPr>
          <a:xfrm>
            <a:off x="548640" y="1554480"/>
            <a:ext cx="11064240" cy="777240"/>
          </a:xfrm>
          <a:prstGeom prst="roundRect">
            <a:avLst>
              <a:gd name="adj" fmla="val 10588"/>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68680" y="1700784"/>
            <a:ext cx="10424160" cy="502920"/>
          </a:xfrm>
          <a:prstGeom prst="rect">
            <a:avLst/>
          </a:prstGeom>
          <a:noFill/>
          <a:ln/>
        </p:spPr>
        <p:txBody>
          <a:bodyPr wrap="square" lIns="0" tIns="0" rIns="0" bIns="0" rtlCol="0" anchor="ctr"/>
          <a:lstStyle/>
          <a:p>
            <a:pPr algn="ctr" indent="0" marL="0">
              <a:buNone/>
            </a:pPr>
            <a:r>
              <a:rPr lang="en-US" sz="1500" b="1" dirty="0">
                <a:solidFill>
                  <a:srgbClr val="8A5B00"/>
                </a:solidFill>
                <a:latin typeface="Calibri" pitchFamily="34" charset="0"/>
                <a:ea typeface="Calibri" pitchFamily="34" charset="-122"/>
                <a:cs typeface="Calibri" pitchFamily="34" charset="-120"/>
              </a:rPr>
              <a:t>Look at your data and ask: “Do I have the right answers for the rows I already have?”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487168"/>
          <a:ext cx="11064240" cy="914400"/>
        </p:xfrm>
        <a:graphic>
          <a:graphicData uri="http://schemas.openxmlformats.org/drawingml/2006/table">
            <a:tbl>
              <a:tblPr/>
              <a:tblGrid>
                <a:gridCol w="3200400"/>
                <a:gridCol w="2377440"/>
                <a:gridCol w="2468880"/>
                <a:gridCol w="3017520"/>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you have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you want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It is…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51206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Rows WITH the right answer, a number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predict that number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supervised · regression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past sales → next month's sales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51206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Rows WITH the right answer, a category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predict that category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supervised · classification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past emails → spam or not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51206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Rows with NO answers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find natural groups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unsupervised · clustering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customers → segments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51206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Rows with NO answers, too many columns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simpler description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unsupervised · dim. reduction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80 survey items → 3 scores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51206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 fixed data — a world you can act in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good policy over time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reinforcement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robot learning to walk</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8" name="Shape 5"/>
          <p:cNvSpPr/>
          <p:nvPr/>
        </p:nvSpPr>
        <p:spPr>
          <a:xfrm>
            <a:off x="548640" y="5577840"/>
            <a:ext cx="11064240" cy="713232"/>
          </a:xfrm>
          <a:prstGeom prst="roundRect">
            <a:avLst>
              <a:gd name="adj" fmla="val 11538"/>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6"/>
          <p:cNvSpPr txBox="1"/>
          <p:nvPr/>
        </p:nvSpPr>
        <p:spPr>
          <a:xfrm>
            <a:off x="868680" y="5705856"/>
            <a:ext cx="10424160" cy="475488"/>
          </a:xfrm>
          <a:prstGeom prst="rect">
            <a:avLst/>
          </a:prstGeom>
          <a:noFill/>
          <a:ln/>
        </p:spPr>
        <p:txBody>
          <a:bodyPr wrap="square" lIns="0" tIns="0" rIns="0" bIns="0" rtlCol="0" anchor="ctr"/>
          <a:lstStyle/>
          <a:p>
            <a:pPr indent="0" marL="0">
              <a:lnSpc>
                <a:spcPct val="115000"/>
              </a:lnSpc>
              <a:buNone/>
            </a:pPr>
            <a:r>
              <a:rPr lang="en-US" sz="1150" b="1" dirty="0">
                <a:solidFill>
                  <a:srgbClr val="A63B24"/>
                </a:solidFill>
                <a:latin typeface="Calibri" pitchFamily="34" charset="0"/>
                <a:ea typeface="Calibri" pitchFamily="34" charset="-122"/>
                <a:cs typeface="Calibri" pitchFamily="34" charset="-120"/>
              </a:rPr>
              <a:t>⚠ The most common beginner mistake: having no labels, wanting a prediction anyway, and reaching for a supervised model. If nobody has written down the right answer for your existing rows, no supervised algorithm can help you — getting labels IS the project.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2.6  ·  THE MAP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Every algorithm in this module, and the box it lives in</a:t>
            </a:r>
            <a:endParaRPr lang="en-US" sz="3200" dirty="0"/>
          </a:p>
        </p:txBody>
      </p:sp>
      <p:pic>
        <p:nvPicPr>
          <p:cNvPr id="5" name="Image 0" descr="/home/claude/day31/fig/algorithm_map.png">    </p:cNvPr>
          <p:cNvPicPr>
            <a:picLocks noChangeAspect="1"/>
          </p:cNvPicPr>
          <p:nvPr/>
        </p:nvPicPr>
        <p:blipFill>
          <a:blip r:embed="rId1"/>
          <a:stretch>
            <a:fillRect/>
          </a:stretch>
        </p:blipFill>
        <p:spPr>
          <a:xfrm>
            <a:off x="1188720" y="1536192"/>
            <a:ext cx="9784080" cy="2997574"/>
          </a:xfrm>
          <a:prstGeom prst="rect">
            <a:avLst/>
          </a:prstGeom>
        </p:spPr>
      </p:pic>
      <p:sp>
        <p:nvSpPr>
          <p:cNvPr id="6" name="Shape 3"/>
          <p:cNvSpPr/>
          <p:nvPr/>
        </p:nvSpPr>
        <p:spPr>
          <a:xfrm>
            <a:off x="548640" y="4754880"/>
            <a:ext cx="11064240" cy="1097280"/>
          </a:xfrm>
          <a:prstGeom prst="roundRect">
            <a:avLst>
              <a:gd name="adj" fmla="val 75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4956048"/>
            <a:ext cx="10424160" cy="731520"/>
          </a:xfrm>
          <a:prstGeom prst="rect">
            <a:avLst/>
          </a:prstGeom>
          <a:noFill/>
          <a:ln/>
        </p:spPr>
        <p:txBody>
          <a:bodyPr wrap="square" lIns="0" tIns="0" rIns="0" bIns="0" rtlCol="0" anchor="ctr"/>
          <a:lstStyle/>
          <a:p>
            <a:pPr indent="0" marL="0">
              <a:lnSpc>
                <a:spcPct val="120000"/>
              </a:lnSpc>
              <a:buNone/>
            </a:pPr>
            <a:r>
              <a:rPr lang="en-US" sz="1250" dirty="0">
                <a:solidFill>
                  <a:srgbClr val="1F3A5F"/>
                </a:solidFill>
                <a:latin typeface="Calibri" pitchFamily="34" charset="0"/>
                <a:ea typeface="Calibri" pitchFamily="34" charset="-122"/>
                <a:cs typeface="Calibri" pitchFamily="34" charset="-120"/>
              </a:rPr>
              <a:t>Do not memorise this — it is a map to come back to. Two things worth noticing now: most of the famous names do BOTH regression and classification, so the box is set by your problem and not by the tool; and the first six weeks of this module live almost entirely in the first two columns.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a Project Actually Runs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pipeline, and the one rule you cannot break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eight steps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Train and test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THE PIPELINE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eight steps, every time</a:t>
            </a:r>
            <a:endParaRPr lang="en-US" sz="3200" dirty="0"/>
          </a:p>
        </p:txBody>
      </p:sp>
      <p:pic>
        <p:nvPicPr>
          <p:cNvPr id="5" name="Image 0" descr="/home/claude/day31/fig/pipeline.png">    </p:cNvPr>
          <p:cNvPicPr>
            <a:picLocks noChangeAspect="1"/>
          </p:cNvPicPr>
          <p:nvPr/>
        </p:nvPicPr>
        <p:blipFill>
          <a:blip r:embed="rId1"/>
          <a:stretch>
            <a:fillRect/>
          </a:stretch>
        </p:blipFill>
        <p:spPr>
          <a:xfrm>
            <a:off x="1005840" y="1572768"/>
            <a:ext cx="10149840" cy="2885937"/>
          </a:xfrm>
          <a:prstGeom prst="rect">
            <a:avLst/>
          </a:prstGeom>
        </p:spPr>
      </p:pic>
      <p:sp>
        <p:nvSpPr>
          <p:cNvPr id="6" name="Shape 3"/>
          <p:cNvSpPr/>
          <p:nvPr/>
        </p:nvSpPr>
        <p:spPr>
          <a:xfrm>
            <a:off x="548640" y="4663440"/>
            <a:ext cx="5486400" cy="1188720"/>
          </a:xfrm>
          <a:prstGeom prst="roundRect">
            <a:avLst>
              <a:gd name="adj" fmla="val 6923"/>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791456"/>
            <a:ext cx="4937760" cy="274320"/>
          </a:xfrm>
          <a:prstGeom prst="rect">
            <a:avLst/>
          </a:prstGeom>
          <a:noFill/>
          <a:ln/>
        </p:spPr>
        <p:txBody>
          <a:bodyPr wrap="square" lIns="0" tIns="0" rIns="0" bIns="0" rtlCol="0" anchor="ctr"/>
          <a:lstStyle/>
          <a:p>
            <a:pPr indent="0" marL="0">
              <a:buNone/>
            </a:pPr>
            <a:r>
              <a:rPr lang="en-US" sz="1350" b="1" dirty="0">
                <a:solidFill>
                  <a:srgbClr val="8A5B00"/>
                </a:solidFill>
                <a:latin typeface="Calibri" pitchFamily="34" charset="0"/>
                <a:ea typeface="Calibri" pitchFamily="34" charset="-122"/>
                <a:cs typeface="Calibri" pitchFamily="34" charset="-120"/>
              </a:rPr>
              <a:t>Where the time actually goes</a:t>
            </a:r>
            <a:endParaRPr lang="en-US" sz="1350" dirty="0"/>
          </a:p>
        </p:txBody>
      </p:sp>
      <p:sp>
        <p:nvSpPr>
          <p:cNvPr id="8" name="Text 5"/>
          <p:cNvSpPr txBox="1"/>
          <p:nvPr/>
        </p:nvSpPr>
        <p:spPr>
          <a:xfrm>
            <a:off x="804672" y="5102352"/>
            <a:ext cx="4983480" cy="713232"/>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Steps 1 to 3 — getting, cleaning and encoding the data — are routinely most of a real project. Step 5, the part everyone imagines when they say “machine learning”, is often three lines of code.</a:t>
            </a:r>
            <a:endParaRPr lang="en-US" sz="1150" dirty="0"/>
          </a:p>
        </p:txBody>
      </p:sp>
      <p:sp>
        <p:nvSpPr>
          <p:cNvPr id="9" name="Shape 6"/>
          <p:cNvSpPr/>
          <p:nvPr/>
        </p:nvSpPr>
        <p:spPr>
          <a:xfrm>
            <a:off x="6309360" y="4663440"/>
            <a:ext cx="5303520" cy="1188720"/>
          </a:xfrm>
          <a:prstGeom prst="roundRect">
            <a:avLst>
              <a:gd name="adj" fmla="val 6923"/>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791456"/>
            <a:ext cx="4754880" cy="2743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Today we do steps 3 and 4</a:t>
            </a:r>
            <a:endParaRPr lang="en-US" sz="1350" dirty="0"/>
          </a:p>
        </p:txBody>
      </p:sp>
      <p:sp>
        <p:nvSpPr>
          <p:cNvPr id="11" name="Text 8"/>
          <p:cNvSpPr txBox="1"/>
          <p:nvPr/>
        </p:nvSpPr>
        <p:spPr>
          <a:xfrm>
            <a:off x="6565392" y="5102352"/>
            <a:ext cx="4800600" cy="713232"/>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Encoding, and the train/test split. Steps 1 and 2 you already know — that was Module 1. Step 5 onwards is the rest of Module 3.</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TRAIN AND TEST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The one rule you can never break</a:t>
            </a:r>
            <a:endParaRPr lang="en-US" sz="3200" dirty="0"/>
          </a:p>
        </p:txBody>
      </p:sp>
      <p:pic>
        <p:nvPicPr>
          <p:cNvPr id="5" name="Image 0" descr="/home/claude/day31/fig/train_test.png">    </p:cNvPr>
          <p:cNvPicPr>
            <a:picLocks noChangeAspect="1"/>
          </p:cNvPicPr>
          <p:nvPr/>
        </p:nvPicPr>
        <p:blipFill>
          <a:blip r:embed="rId1"/>
          <a:stretch>
            <a:fillRect/>
          </a:stretch>
        </p:blipFill>
        <p:spPr>
          <a:xfrm>
            <a:off x="731520" y="1536192"/>
            <a:ext cx="10698480" cy="2848371"/>
          </a:xfrm>
          <a:prstGeom prst="rect">
            <a:avLst/>
          </a:prstGeom>
        </p:spPr>
      </p:pic>
      <p:sp>
        <p:nvSpPr>
          <p:cNvPr id="6" name="Shape 3"/>
          <p:cNvSpPr/>
          <p:nvPr/>
        </p:nvSpPr>
        <p:spPr>
          <a:xfrm>
            <a:off x="548640" y="4480560"/>
            <a:ext cx="5486400" cy="1371600"/>
          </a:xfrm>
          <a:prstGeom prst="roundRect">
            <a:avLst>
              <a:gd name="adj" fmla="val 6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608576"/>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What happened on the right</a:t>
            </a:r>
            <a:endParaRPr lang="en-US" sz="1350" dirty="0"/>
          </a:p>
        </p:txBody>
      </p:sp>
      <p:sp>
        <p:nvSpPr>
          <p:cNvPr id="8" name="Text 5"/>
          <p:cNvSpPr txBox="1"/>
          <p:nvPr/>
        </p:nvSpPr>
        <p:spPr>
          <a:xfrm>
            <a:off x="804672" y="4919472"/>
            <a:ext cx="4983480" cy="86868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The decision tree drew a line through EVERY training point exactly — R² = 1.000, a perfect score. On the held-out test points it scored −0.628: worse than if it had ignored the data and guessed the average price every time.</a:t>
            </a:r>
            <a:endParaRPr lang="en-US" sz="1150" dirty="0"/>
          </a:p>
        </p:txBody>
      </p:sp>
      <p:sp>
        <p:nvSpPr>
          <p:cNvPr id="9" name="Shape 6"/>
          <p:cNvSpPr/>
          <p:nvPr/>
        </p:nvSpPr>
        <p:spPr>
          <a:xfrm>
            <a:off x="6309360" y="4480560"/>
            <a:ext cx="5303520" cy="1371600"/>
          </a:xfrm>
          <a:prstGeom prst="roundRect">
            <a:avLst>
              <a:gd name="adj" fmla="val 6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608576"/>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Why we split before we start</a:t>
            </a:r>
            <a:endParaRPr lang="en-US" sz="1350" dirty="0"/>
          </a:p>
        </p:txBody>
      </p:sp>
      <p:sp>
        <p:nvSpPr>
          <p:cNvPr id="11" name="Text 8"/>
          <p:cNvSpPr txBox="1"/>
          <p:nvPr/>
        </p:nvSpPr>
        <p:spPr>
          <a:xfrm>
            <a:off x="6565392" y="4919472"/>
            <a:ext cx="4800600" cy="914400"/>
          </a:xfrm>
          <a:prstGeom prst="rect">
            <a:avLst/>
          </a:prstGeom>
          <a:noFill/>
          <a:ln/>
        </p:spPr>
        <p:txBody>
          <a:bodyPr wrap="square" lIns="0" tIns="0" rIns="0" bIns="0" rtlCol="0" anchor="ctr"/>
          <a:lstStyle/>
          <a:p>
            <a:pPr indent="0" marL="0">
              <a:lnSpc>
                <a:spcPct val="115000"/>
              </a:lnSpc>
              <a:buNone/>
            </a:pPr>
            <a:r>
              <a:rPr lang="en-US" sz="1100" dirty="0">
                <a:solidFill>
                  <a:srgbClr val="2B3445"/>
                </a:solidFill>
                <a:latin typeface="Calibri" pitchFamily="34" charset="0"/>
                <a:ea typeface="Calibri" pitchFamily="34" charset="-122"/>
                <a:cs typeface="Calibri" pitchFamily="34" charset="-120"/>
              </a:rPr>
              <a:t>Memorising the answers is not learning, and from inside the training data the two look identical. Hiding 20–30% of the rows before you start is the only way to tell them apart.</a:t>
            </a:r>
            <a:endParaRPr lang="en-US" sz="1100" dirty="0"/>
          </a:p>
          <a:p>
            <a:pPr indent="0" marL="0">
              <a:lnSpc>
                <a:spcPct val="115000"/>
              </a:lnSpc>
              <a:buNone/>
            </a:pPr>
            <a:endParaRPr lang="en-US" sz="1100" dirty="0"/>
          </a:p>
          <a:p>
            <a:pPr indent="0" marL="0">
              <a:lnSpc>
                <a:spcPct val="115000"/>
              </a:lnSpc>
              <a:buNone/>
            </a:pPr>
            <a:r>
              <a:rPr lang="en-US" sz="1100" dirty="0">
                <a:solidFill>
                  <a:srgbClr val="2B3445"/>
                </a:solidFill>
                <a:latin typeface="Calibri" pitchFamily="34" charset="0"/>
                <a:ea typeface="Calibri" pitchFamily="34" charset="-122"/>
                <a:cs typeface="Calibri" pitchFamily="34" charset="-120"/>
              </a:rPr>
              <a:t>This is called OVERFITTING, and it is the central problem of the whole module.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a Feature Is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And why a model cannot read “Boston”  ·  10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types of column</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problem with words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TYPES OF FEATURE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Every column in your data is one of these</a:t>
            </a:r>
            <a:endParaRPr lang="en-US" sz="3200" dirty="0"/>
          </a:p>
        </p:txBody>
      </p:sp>
      <p:pic>
        <p:nvPicPr>
          <p:cNvPr id="5" name="Image 0" descr="/home/claude/day31/fig/feature_types.png">    </p:cNvPr>
          <p:cNvPicPr>
            <a:picLocks noChangeAspect="1"/>
          </p:cNvPicPr>
          <p:nvPr/>
        </p:nvPicPr>
        <p:blipFill>
          <a:blip r:embed="rId1"/>
          <a:stretch>
            <a:fillRect/>
          </a:stretch>
        </p:blipFill>
        <p:spPr>
          <a:xfrm>
            <a:off x="1051560" y="1536192"/>
            <a:ext cx="10058400" cy="2953142"/>
          </a:xfrm>
          <a:prstGeom prst="rect">
            <a:avLst/>
          </a:prstGeom>
        </p:spPr>
      </p:pic>
      <p:sp>
        <p:nvSpPr>
          <p:cNvPr id="6" name="Shape 3"/>
          <p:cNvSpPr/>
          <p:nvPr/>
        </p:nvSpPr>
        <p:spPr>
          <a:xfrm>
            <a:off x="548640" y="4663440"/>
            <a:ext cx="11064240" cy="1188720"/>
          </a:xfrm>
          <a:prstGeom prst="roundRect">
            <a:avLst>
              <a:gd name="adj" fmla="val 6923"/>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4809744"/>
            <a:ext cx="8229600" cy="274320"/>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The distinction that matters today</a:t>
            </a:r>
            <a:endParaRPr lang="en-US" sz="1400" dirty="0"/>
          </a:p>
        </p:txBody>
      </p:sp>
      <p:sp>
        <p:nvSpPr>
          <p:cNvPr id="8" name="Text 5"/>
          <p:cNvSpPr txBox="1"/>
          <p:nvPr/>
        </p:nvSpPr>
        <p:spPr>
          <a:xfrm>
            <a:off x="868680" y="5138928"/>
            <a:ext cx="10424160" cy="64008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NOMINAL means the categories have no order — Boston is not more or less than Miami. ORDINAL means they genuinely do — small really is less than large. Getting this one call wrong is the mistake in section 5, and it costs real accuracy.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4.2  ·  THE PROBLEM</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Why you cannot just hand a model the word “Boston”</a:t>
            </a:r>
            <a:endParaRPr lang="en-US" sz="3200" dirty="0"/>
          </a:p>
        </p:txBody>
      </p:sp>
      <p:sp>
        <p:nvSpPr>
          <p:cNvPr id="5" name="Shape 3"/>
          <p:cNvSpPr/>
          <p:nvPr/>
        </p:nvSpPr>
        <p:spPr>
          <a:xfrm>
            <a:off x="548640" y="1572768"/>
            <a:ext cx="658368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2240280"/>
          </a:xfrm>
          <a:prstGeom prst="roundRect">
            <a:avLst>
              <a:gd name="adj" fmla="val 2857"/>
            </a:avLst>
          </a:prstGeom>
          <a:solidFill>
            <a:srgbClr val="1B2B45"/>
          </a:solidFill>
          <a:ln w="12700">
            <a:solidFill>
              <a:srgbClr val="1B2B45"/>
            </a:solidFill>
            <a:prstDash val="solid"/>
          </a:ln>
        </p:spPr>
      </p:sp>
      <p:sp>
        <p:nvSpPr>
          <p:cNvPr id="7" name="Text 5"/>
          <p:cNvSpPr txBox="1"/>
          <p:nvPr/>
        </p:nvSpPr>
        <p:spPr>
          <a:xfrm>
            <a:off x="969264" y="1892808"/>
            <a:ext cx="5751576" cy="202082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&gt;&gt;&gt; from sklearn.linear_model import LinearRegression</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&gt;&gt;&gt; df[["area", "city"]].head(2)</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area    city</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0   1450  Boston</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1    890  Austin</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&gt;&gt;&gt; LinearRegression().fit(df[["area", "city"]], df.price)</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ValueError: could not convert string to float: 'Boston'</a:t>
            </a:r>
            <a:endParaRPr lang="en-US" sz="1050" dirty="0"/>
          </a:p>
        </p:txBody>
      </p:sp>
      <p:sp>
        <p:nvSpPr>
          <p:cNvPr id="8" name="Shape 6"/>
          <p:cNvSpPr/>
          <p:nvPr/>
        </p:nvSpPr>
        <p:spPr>
          <a:xfrm>
            <a:off x="7406640" y="1572768"/>
            <a:ext cx="4206240" cy="2651760"/>
          </a:xfrm>
          <a:prstGeom prst="roundRect">
            <a:avLst>
              <a:gd name="adj" fmla="val 310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7662672" y="1737360"/>
            <a:ext cx="3749040" cy="274320"/>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Why it refuses</a:t>
            </a:r>
            <a:endParaRPr lang="en-US" sz="1400" dirty="0"/>
          </a:p>
        </p:txBody>
      </p:sp>
      <p:sp>
        <p:nvSpPr>
          <p:cNvPr id="10" name="Text 8"/>
          <p:cNvSpPr txBox="1"/>
          <p:nvPr/>
        </p:nvSpPr>
        <p:spPr>
          <a:xfrm>
            <a:off x="7662672" y="2103120"/>
            <a:ext cx="3749040" cy="2011680"/>
          </a:xfrm>
          <a:prstGeom prst="rect">
            <a:avLst/>
          </a:prstGeom>
          <a:noFill/>
          <a:ln/>
        </p:spPr>
        <p:txBody>
          <a:bodyPr wrap="square" lIns="0" tIns="0" rIns="0" bIns="0" rtlCol="0" anchor="ctr"/>
          <a:lstStyle/>
          <a:p>
            <a:pPr indent="0" marL="0">
              <a:lnSpc>
                <a:spcPct val="125000"/>
              </a:lnSpc>
              <a:buNone/>
            </a:pPr>
            <a:r>
              <a:rPr lang="en-US" sz="1150" dirty="0">
                <a:solidFill>
                  <a:srgbClr val="6B4A0B"/>
                </a:solidFill>
                <a:latin typeface="Calibri" pitchFamily="34" charset="0"/>
                <a:ea typeface="Calibri" pitchFamily="34" charset="-122"/>
                <a:cs typeface="Calibri" pitchFamily="34" charset="-120"/>
              </a:rPr>
              <a:t>Every model you will meet does arithmetic on its inputs: it multiplies them by weights and adds them up.</a:t>
            </a:r>
            <a:endParaRPr lang="en-US" sz="1150" dirty="0"/>
          </a:p>
          <a:p>
            <a:pPr indent="0" marL="0">
              <a:lnSpc>
                <a:spcPct val="125000"/>
              </a:lnSpc>
              <a:buNone/>
            </a:pPr>
            <a:endParaRPr lang="en-US" sz="1150" dirty="0"/>
          </a:p>
          <a:p>
            <a:pPr indent="0" marL="0">
              <a:lnSpc>
                <a:spcPct val="125000"/>
              </a:lnSpc>
              <a:buNone/>
            </a:pPr>
            <a:r>
              <a:rPr lang="en-US" sz="1150" dirty="0">
                <a:solidFill>
                  <a:srgbClr val="6B4A0B"/>
                </a:solidFill>
                <a:latin typeface="Calibri" pitchFamily="34" charset="0"/>
                <a:ea typeface="Calibri" pitchFamily="34" charset="-122"/>
                <a:cs typeface="Calibri" pitchFamily="34" charset="-120"/>
              </a:rPr>
              <a:t>There is no sensible value for</a:t>
            </a:r>
            <a:endParaRPr lang="en-US" sz="1150" dirty="0"/>
          </a:p>
          <a:p>
            <a:pPr indent="0" marL="0">
              <a:lnSpc>
                <a:spcPct val="125000"/>
              </a:lnSpc>
              <a:buNone/>
            </a:pPr>
            <a:r>
              <a:rPr lang="en-US" sz="1150" dirty="0">
                <a:solidFill>
                  <a:srgbClr val="6B4A0B"/>
                </a:solidFill>
                <a:latin typeface="Calibri" pitchFamily="34" charset="0"/>
                <a:ea typeface="Calibri" pitchFamily="34" charset="-122"/>
                <a:cs typeface="Calibri" pitchFamily="34" charset="-120"/>
              </a:rPr>
              <a:t>“Boston × 0.4”.</a:t>
            </a:r>
            <a:endParaRPr lang="en-US" sz="1150" dirty="0"/>
          </a:p>
          <a:p>
            <a:pPr indent="0" marL="0">
              <a:lnSpc>
                <a:spcPct val="125000"/>
              </a:lnSpc>
              <a:buNone/>
            </a:pPr>
            <a:endParaRPr lang="en-US" sz="1150" dirty="0"/>
          </a:p>
          <a:p>
            <a:pPr indent="0" marL="0">
              <a:lnSpc>
                <a:spcPct val="125000"/>
              </a:lnSpc>
              <a:buNone/>
            </a:pPr>
            <a:r>
              <a:rPr lang="en-US" sz="1150" dirty="0">
                <a:solidFill>
                  <a:srgbClr val="6B4A0B"/>
                </a:solidFill>
                <a:latin typeface="Calibri" pitchFamily="34" charset="0"/>
                <a:ea typeface="Calibri" pitchFamily="34" charset="-122"/>
                <a:cs typeface="Calibri" pitchFamily="34" charset="-120"/>
              </a:rPr>
              <a:t>So every categorical column must become numbers before training — and HOW you do that changes the answer.</a:t>
            </a:r>
            <a:endParaRPr lang="en-US" sz="1150" dirty="0"/>
          </a:p>
        </p:txBody>
      </p:sp>
      <p:sp>
        <p:nvSpPr>
          <p:cNvPr id="11" name="Shape 9"/>
          <p:cNvSpPr/>
          <p:nvPr/>
        </p:nvSpPr>
        <p:spPr>
          <a:xfrm>
            <a:off x="548640" y="4389120"/>
            <a:ext cx="11064240" cy="1463040"/>
          </a:xfrm>
          <a:prstGeom prst="roundRect">
            <a:avLst>
              <a:gd name="adj" fmla="val 5625"/>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868680" y="4617720"/>
            <a:ext cx="10424160" cy="1005840"/>
          </a:xfrm>
          <a:prstGeom prst="rect">
            <a:avLst/>
          </a:prstGeom>
          <a:noFill/>
          <a:ln/>
        </p:spPr>
        <p:txBody>
          <a:bodyPr wrap="square" lIns="0" tIns="0" rIns="0" bIns="0" rtlCol="0" anchor="ctr"/>
          <a:lstStyle/>
          <a:p>
            <a:pPr indent="0" marL="0">
              <a:lnSpc>
                <a:spcPct val="125000"/>
              </a:lnSpc>
              <a:buNone/>
            </a:pPr>
            <a:r>
              <a:rPr lang="en-US" sz="1300" dirty="0">
                <a:solidFill>
                  <a:srgbClr val="1F3A5F"/>
                </a:solidFill>
                <a:latin typeface="Calibri" pitchFamily="34" charset="0"/>
                <a:ea typeface="Calibri" pitchFamily="34" charset="-122"/>
                <a:cs typeface="Calibri" pitchFamily="34" charset="-120"/>
              </a:rPr>
              <a:t>This is not a software limitation you could code around. It is what the model IS: a weighted sum. Turning categories into numbers that the arithmetic can handle honestly is called ENCODING, and it is the rest of this session.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5</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Encoding Categorical Data</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Turning words into numbers, honestly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Label encoding and its trap</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One-hot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Ordinal</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High cardinality</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Leakage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5.1  ·  LABEL ENCODING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The obvious idea, and why it is wrong</a:t>
            </a:r>
            <a:endParaRPr lang="en-US" sz="3200" dirty="0"/>
          </a:p>
        </p:txBody>
      </p:sp>
      <p:pic>
        <p:nvPicPr>
          <p:cNvPr id="5" name="Image 0" descr="/home/claude/day31/fig/label_trap.png">    </p:cNvPr>
          <p:cNvPicPr>
            <a:picLocks noChangeAspect="1"/>
          </p:cNvPicPr>
          <p:nvPr/>
        </p:nvPicPr>
        <p:blipFill>
          <a:blip r:embed="rId1"/>
          <a:stretch>
            <a:fillRect/>
          </a:stretch>
        </p:blipFill>
        <p:spPr>
          <a:xfrm>
            <a:off x="1097280" y="1536192"/>
            <a:ext cx="9966960" cy="2989490"/>
          </a:xfrm>
          <a:prstGeom prst="rect">
            <a:avLst/>
          </a:prstGeom>
        </p:spPr>
      </p:pic>
      <p:sp>
        <p:nvSpPr>
          <p:cNvPr id="6" name="Shape 3"/>
          <p:cNvSpPr/>
          <p:nvPr/>
        </p:nvSpPr>
        <p:spPr>
          <a:xfrm>
            <a:off x="548640" y="4663440"/>
            <a:ext cx="5486400" cy="1188720"/>
          </a:xfrm>
          <a:prstGeom prst="roundRect">
            <a:avLst>
              <a:gd name="adj" fmla="val 692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791456"/>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What the model now believes</a:t>
            </a:r>
            <a:endParaRPr lang="en-US" sz="1350" dirty="0"/>
          </a:p>
        </p:txBody>
      </p:sp>
      <p:sp>
        <p:nvSpPr>
          <p:cNvPr id="8" name="Text 5"/>
          <p:cNvSpPr txBox="1"/>
          <p:nvPr/>
        </p:nvSpPr>
        <p:spPr>
          <a:xfrm>
            <a:off x="804672" y="5102352"/>
            <a:ext cx="4983480" cy="713232"/>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Austin=0, Boston=1, Denver=2. A linear model multiplies that by a weight, so it is forced to believe Denver is twice Boston and Seattle is four times it. None of that is true.</a:t>
            </a:r>
            <a:endParaRPr lang="en-US" sz="1150" dirty="0"/>
          </a:p>
        </p:txBody>
      </p:sp>
      <p:sp>
        <p:nvSpPr>
          <p:cNvPr id="9" name="Shape 6"/>
          <p:cNvSpPr/>
          <p:nvPr/>
        </p:nvSpPr>
        <p:spPr>
          <a:xfrm>
            <a:off x="6309360" y="4663440"/>
            <a:ext cx="5303520" cy="1188720"/>
          </a:xfrm>
          <a:prstGeom prst="roundRect">
            <a:avLst>
              <a:gd name="adj" fmla="val 692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791456"/>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Measured, on 600 houses</a:t>
            </a:r>
            <a:endParaRPr lang="en-US" sz="1350" dirty="0"/>
          </a:p>
        </p:txBody>
      </p:sp>
      <p:sp>
        <p:nvSpPr>
          <p:cNvPr id="11" name="Text 8"/>
          <p:cNvSpPr txBox="1"/>
          <p:nvPr/>
        </p:nvSpPr>
        <p:spPr>
          <a:xfrm>
            <a:off x="6565392" y="5102352"/>
            <a:ext cx="4800600" cy="713232"/>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Same data, same model, only the encoding changed: average error on new houses went from $23,330 down to $11,150. The wrong encoding DOUBLED the error.</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5.2  ·  ONE-HOT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One-hot encoding — the right default for nominal columns</a:t>
            </a:r>
            <a:endParaRPr lang="en-US" sz="3200" dirty="0"/>
          </a:p>
        </p:txBody>
      </p:sp>
      <p:pic>
        <p:nvPicPr>
          <p:cNvPr id="5" name="Image 0" descr="/home/claude/day31/fig/onehot.png">    </p:cNvPr>
          <p:cNvPicPr>
            <a:picLocks noChangeAspect="1"/>
          </p:cNvPicPr>
          <p:nvPr/>
        </p:nvPicPr>
        <p:blipFill>
          <a:blip r:embed="rId1"/>
          <a:stretch>
            <a:fillRect/>
          </a:stretch>
        </p:blipFill>
        <p:spPr>
          <a:xfrm>
            <a:off x="1737360" y="1517904"/>
            <a:ext cx="8686800" cy="2974932"/>
          </a:xfrm>
          <a:prstGeom prst="rect">
            <a:avLst/>
          </a:prstGeom>
        </p:spPr>
      </p:pic>
      <p:sp>
        <p:nvSpPr>
          <p:cNvPr id="6" name="Shape 3"/>
          <p:cNvSpPr/>
          <p:nvPr/>
        </p:nvSpPr>
        <p:spPr>
          <a:xfrm>
            <a:off x="548640" y="4754880"/>
            <a:ext cx="11064240" cy="1097280"/>
          </a:xfrm>
          <a:prstGeom prst="roundRect">
            <a:avLst>
              <a:gd name="adj" fmla="val 75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4956048"/>
            <a:ext cx="10424160" cy="731520"/>
          </a:xfrm>
          <a:prstGeom prst="rect">
            <a:avLst/>
          </a:prstGeom>
          <a:noFill/>
          <a:ln/>
        </p:spPr>
        <p:txBody>
          <a:bodyPr wrap="square" lIns="0" tIns="0" rIns="0" bIns="0" rtlCol="0" anchor="ctr"/>
          <a:lstStyle/>
          <a:p>
            <a:pPr indent="0" marL="0">
              <a:lnSpc>
                <a:spcPct val="120000"/>
              </a:lnSpc>
              <a:buNone/>
            </a:pPr>
            <a:r>
              <a:rPr lang="en-US" sz="1300" dirty="0">
                <a:solidFill>
                  <a:srgbClr val="1C6F5C"/>
                </a:solidFill>
                <a:latin typeface="Calibri" pitchFamily="34" charset="0"/>
                <a:ea typeface="Calibri" pitchFamily="34" charset="-122"/>
                <a:cs typeface="Calibri" pitchFamily="34" charset="-120"/>
              </a:rPr>
              <a:t>Each category gets its own yes/no column. Nothing is bigger than anything else, so no false order can be invented — and the model gets to learn a completely separate adjustment for each city, instead of being forced onto one straight line through them.</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5.3  ·  DOES IT ACTUALLY WORK?</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Proof that it worked: the model found the real answer</a:t>
            </a:r>
            <a:endParaRPr lang="en-US" sz="3200" dirty="0"/>
          </a:p>
        </p:txBody>
      </p:sp>
      <p:pic>
        <p:nvPicPr>
          <p:cNvPr id="5" name="Image 0" descr="/home/claude/day31/fig/recovered.png">    </p:cNvPr>
          <p:cNvPicPr>
            <a:picLocks noChangeAspect="1"/>
          </p:cNvPicPr>
          <p:nvPr/>
        </p:nvPicPr>
        <p:blipFill>
          <a:blip r:embed="rId1"/>
          <a:stretch>
            <a:fillRect/>
          </a:stretch>
        </p:blipFill>
        <p:spPr>
          <a:xfrm>
            <a:off x="1737360" y="1554480"/>
            <a:ext cx="8686800" cy="2688579"/>
          </a:xfrm>
          <a:prstGeom prst="rect">
            <a:avLst/>
          </a:prstGeom>
        </p:spPr>
      </p:pic>
      <p:sp>
        <p:nvSpPr>
          <p:cNvPr id="6" name="Shape 3"/>
          <p:cNvSpPr/>
          <p:nvPr/>
        </p:nvSpPr>
        <p:spPr>
          <a:xfrm>
            <a:off x="548640" y="4709160"/>
            <a:ext cx="5486400" cy="1143000"/>
          </a:xfrm>
          <a:prstGeom prst="roundRect">
            <a:avLst>
              <a:gd name="adj" fmla="val 72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837176"/>
            <a:ext cx="4937760" cy="2743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How we can check at all</a:t>
            </a:r>
            <a:endParaRPr lang="en-US" sz="1350" dirty="0"/>
          </a:p>
        </p:txBody>
      </p:sp>
      <p:sp>
        <p:nvSpPr>
          <p:cNvPr id="8" name="Text 5"/>
          <p:cNvSpPr txBox="1"/>
          <p:nvPr/>
        </p:nvSpPr>
        <p:spPr>
          <a:xfrm>
            <a:off x="804672" y="5148072"/>
            <a:ext cx="4983480" cy="658368"/>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This data was simulated, so we KNOW the true effect of each city — we built them in. Real data never lets you do this, which is exactly why simulated data is so useful for learning.</a:t>
            </a:r>
            <a:endParaRPr lang="en-US" sz="1150" dirty="0"/>
          </a:p>
        </p:txBody>
      </p:sp>
      <p:sp>
        <p:nvSpPr>
          <p:cNvPr id="9" name="Shape 6"/>
          <p:cNvSpPr/>
          <p:nvPr/>
        </p:nvSpPr>
        <p:spPr>
          <a:xfrm>
            <a:off x="6309360" y="4709160"/>
            <a:ext cx="5303520" cy="1143000"/>
          </a:xfrm>
          <a:prstGeom prst="roundRect">
            <a:avLst>
              <a:gd name="adj" fmla="val 72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837176"/>
            <a:ext cx="4754880" cy="274320"/>
          </a:xfrm>
          <a:prstGeom prst="rect">
            <a:avLst/>
          </a:prstGeom>
          <a:noFill/>
          <a:ln/>
        </p:spPr>
        <p:txBody>
          <a:bodyPr wrap="square" lIns="0" tIns="0" rIns="0" bIns="0" rtlCol="0" anchor="ctr"/>
          <a:lstStyle/>
          <a:p>
            <a:pPr indent="0" marL="0">
              <a:buNone/>
            </a:pPr>
            <a:r>
              <a:rPr lang="en-US" sz="1300" b="1" dirty="0">
                <a:solidFill>
                  <a:srgbClr val="1C6F5C"/>
                </a:solidFill>
                <a:latin typeface="Calibri" pitchFamily="34" charset="0"/>
                <a:ea typeface="Calibri" pitchFamily="34" charset="-122"/>
                <a:cs typeface="Calibri" pitchFamily="34" charset="-120"/>
              </a:rPr>
              <a:t>Every city within a few thousand dollars</a:t>
            </a:r>
            <a:endParaRPr lang="en-US" sz="1300" dirty="0"/>
          </a:p>
        </p:txBody>
      </p:sp>
      <p:sp>
        <p:nvSpPr>
          <p:cNvPr id="11" name="Text 8"/>
          <p:cNvSpPr txBox="1"/>
          <p:nvPr/>
        </p:nvSpPr>
        <p:spPr>
          <a:xfrm>
            <a:off x="6565392" y="5148072"/>
            <a:ext cx="4800600" cy="658368"/>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Boston's true premium over Austin is $80k; the model learned $83k. Denver's is $25k; it learned $26k. It worked out five separate city effects from nothing but the one-hot columns.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5.4  ·  drop_first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dummy variable trap — and what it really costs</a:t>
            </a:r>
            <a:endParaRPr lang="en-US" sz="3200" dirty="0"/>
          </a:p>
        </p:txBody>
      </p:sp>
      <p:sp>
        <p:nvSpPr>
          <p:cNvPr id="5" name="Shape 3"/>
          <p:cNvSpPr/>
          <p:nvPr/>
        </p:nvSpPr>
        <p:spPr>
          <a:xfrm>
            <a:off x="548640" y="1572768"/>
            <a:ext cx="5486400" cy="2286000"/>
          </a:xfrm>
          <a:prstGeom prst="roundRect">
            <a:avLst>
              <a:gd name="adj" fmla="val 36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37360"/>
            <a:ext cx="4937760" cy="292608"/>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redundancy</a:t>
            </a:r>
            <a:endParaRPr lang="en-US" sz="1450" dirty="0"/>
          </a:p>
        </p:txBody>
      </p:sp>
      <p:sp>
        <p:nvSpPr>
          <p:cNvPr id="7" name="Text 5"/>
          <p:cNvSpPr txBox="1"/>
          <p:nvPr/>
        </p:nvSpPr>
        <p:spPr>
          <a:xfrm>
            <a:off x="822960" y="2148840"/>
            <a:ext cx="4983480" cy="1645920"/>
          </a:xfrm>
          <a:prstGeom prst="rect">
            <a:avLst/>
          </a:prstGeom>
          <a:noFill/>
          <a:ln/>
        </p:spPr>
        <p:txBody>
          <a:bodyPr wrap="square" lIns="0" tIns="0" rIns="0" bIns="0" rtlCol="0" anchor="ctr"/>
          <a:lstStyle/>
          <a:p>
            <a:pPr indent="0" marL="0">
              <a:lnSpc>
                <a:spcPct val="125000"/>
              </a:lnSpc>
              <a:buNone/>
            </a:pPr>
            <a:r>
              <a:rPr lang="en-US" sz="1200" dirty="0">
                <a:solidFill>
                  <a:srgbClr val="6B4A0B"/>
                </a:solidFill>
                <a:latin typeface="Calibri" pitchFamily="34" charset="0"/>
                <a:ea typeface="Calibri" pitchFamily="34" charset="-122"/>
                <a:cs typeface="Calibri" pitchFamily="34" charset="-120"/>
              </a:rPr>
              <a:t>If a house is not Austin, not Denver, not Miami and not Seattle, it must be Boston. The fifth column carries no information the other four did not already give you.</a:t>
            </a:r>
            <a:endParaRPr lang="en-US" sz="1200" dirty="0"/>
          </a:p>
          <a:p>
            <a:pPr indent="0" marL="0">
              <a:lnSpc>
                <a:spcPct val="125000"/>
              </a:lnSpc>
              <a:buNone/>
            </a:pPr>
            <a:endParaRPr lang="en-US" sz="1200" dirty="0"/>
          </a:p>
          <a:p>
            <a:pPr indent="0" marL="0">
              <a:lnSpc>
                <a:spcPct val="125000"/>
              </a:lnSpc>
              <a:buNone/>
            </a:pPr>
            <a:r>
              <a:rPr lang="en-US" sz="1200" dirty="0">
                <a:solidFill>
                  <a:srgbClr val="6B4A0B"/>
                </a:solidFill>
                <a:latin typeface="Calibri" pitchFamily="34" charset="0"/>
                <a:ea typeface="Calibri" pitchFamily="34" charset="-122"/>
                <a:cs typeface="Calibri" pitchFamily="34" charset="-120"/>
              </a:rPr>
              <a:t>The five dummies add to exactly 1 in every row — which is the same thing the model's intercept already is.</a:t>
            </a:r>
            <a:endParaRPr lang="en-US" sz="1200" dirty="0"/>
          </a:p>
        </p:txBody>
      </p:sp>
      <p:sp>
        <p:nvSpPr>
          <p:cNvPr id="8" name="Shape 6"/>
          <p:cNvSpPr/>
          <p:nvPr/>
        </p:nvSpPr>
        <p:spPr>
          <a:xfrm>
            <a:off x="6309360" y="1572768"/>
            <a:ext cx="5303520" cy="2286000"/>
          </a:xfrm>
          <a:prstGeom prst="roundRect">
            <a:avLst>
              <a:gd name="adj" fmla="val 36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565392" y="1737360"/>
            <a:ext cx="475488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Measured on our 600 houses</a:t>
            </a:r>
            <a:endParaRPr lang="en-US" sz="14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565392" y="2148840"/>
          <a:ext cx="4800600" cy="914400"/>
        </p:xfrm>
        <a:graphic>
          <a:graphicData uri="http://schemas.openxmlformats.org/drawingml/2006/table">
            <a:tbl>
              <a:tblPr/>
              <a:tblGrid>
                <a:gridCol w="2468880"/>
                <a:gridCol w="777240"/>
                <a:gridCol w="1554480"/>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design matrix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cols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02336">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intercept + all 5 dummies</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6  ← deficient</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02336">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intercept + 4 dummies</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6  ← fine</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1" name="Text 8"/>
          <p:cNvSpPr txBox="1"/>
          <p:nvPr/>
        </p:nvSpPr>
        <p:spPr>
          <a:xfrm>
            <a:off x="6565392" y="3429000"/>
            <a:ext cx="4800600" cy="365760"/>
          </a:xfrm>
          <a:prstGeom prst="rect">
            <a:avLst/>
          </a:prstGeom>
          <a:noFill/>
          <a:ln/>
        </p:spPr>
        <p:txBody>
          <a:bodyPr wrap="square" lIns="0" tIns="0" rIns="0" bIns="0" rtlCol="0" anchor="ctr"/>
          <a:lstStyle/>
          <a:p>
            <a:pPr indent="0" marL="0">
              <a:buNone/>
            </a:pPr>
            <a:r>
              <a:rPr lang="en-US" sz="1100" dirty="0">
                <a:solidFill>
                  <a:srgbClr val="2B3445"/>
                </a:solidFill>
                <a:latin typeface="Calibri" pitchFamily="34" charset="0"/>
                <a:ea typeface="Calibri" pitchFamily="34" charset="-122"/>
                <a:cs typeface="Calibri" pitchFamily="34" charset="-120"/>
              </a:rPr>
              <a:t>Condition number with all five: 7.9 × 10¹⁸. statsmodels warns outright.</a:t>
            </a:r>
            <a:endParaRPr lang="en-US" sz="1100" dirty="0"/>
          </a:p>
        </p:txBody>
      </p:sp>
      <p:sp>
        <p:nvSpPr>
          <p:cNvPr id="12" name="Shape 9"/>
          <p:cNvSpPr/>
          <p:nvPr/>
        </p:nvSpPr>
        <p:spPr>
          <a:xfrm>
            <a:off x="548640" y="4023360"/>
            <a:ext cx="11064240" cy="1828800"/>
          </a:xfrm>
          <a:prstGeom prst="roundRect">
            <a:avLst>
              <a:gd name="adj" fmla="val 45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0"/>
          <p:cNvSpPr txBox="1"/>
          <p:nvPr/>
        </p:nvSpPr>
        <p:spPr>
          <a:xfrm>
            <a:off x="868680" y="4178808"/>
            <a:ext cx="914400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The honest version of this rule — which most tutorials get wrong</a:t>
            </a:r>
            <a:endParaRPr lang="en-US" sz="1400" dirty="0"/>
          </a:p>
        </p:txBody>
      </p:sp>
      <p:sp>
        <p:nvSpPr>
          <p:cNvPr id="14" name="Text 11"/>
          <p:cNvSpPr txBox="1"/>
          <p:nvPr/>
        </p:nvSpPr>
        <p:spPr>
          <a:xfrm>
            <a:off x="868680" y="4498848"/>
            <a:ext cx="10424160" cy="1280160"/>
          </a:xfrm>
          <a:prstGeom prst="rect">
            <a:avLst/>
          </a:prstGeom>
          <a:noFill/>
          <a:ln/>
        </p:spPr>
        <p:txBody>
          <a:bodyPr wrap="square" lIns="0" tIns="0" rIns="0" bIns="0" rtlCol="0" anchor="ctr"/>
          <a:lstStyle/>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It does NOT break your predictions. We checked: all five dummies and four dummies gave test error of $11,151 either way, identical to four decimal places, because scikit-learn's solver quietly picks one of the infinitely many equivalent answers.</a:t>
            </a:r>
            <a:endParaRPr lang="en-US" sz="1150" dirty="0"/>
          </a:p>
          <a:p>
            <a:pPr indent="0" marL="0">
              <a:lnSpc>
                <a:spcPct val="120000"/>
              </a:lnSpc>
              <a:buNone/>
            </a:pPr>
            <a:endParaRPr lang="en-US" sz="1150" dirty="0"/>
          </a:p>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What it breaks is INTERPRETATION — the coefficients are no longer unique, so reading them is meaningless — and classical OLS, which needs to invert a matrix that is now singular. Use drop_first=True whenever you plan to read the coefficients or use statsmodels. For a tree or a random forest it genuinely does not matter.</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5.5  ·  ORDINAL</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Ordinal encoding — when the order IS real</a:t>
            </a:r>
            <a:endParaRPr lang="en-US" sz="3200" dirty="0"/>
          </a:p>
        </p:txBody>
      </p:sp>
      <p:sp>
        <p:nvSpPr>
          <p:cNvPr id="5" name="Shape 3"/>
          <p:cNvSpPr/>
          <p:nvPr/>
        </p:nvSpPr>
        <p:spPr>
          <a:xfrm>
            <a:off x="548640" y="1572768"/>
            <a:ext cx="5486400" cy="2377440"/>
          </a:xfrm>
          <a:prstGeom prst="roundRect">
            <a:avLst>
              <a:gd name="adj" fmla="val 3462"/>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37360"/>
            <a:ext cx="4937760" cy="292608"/>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Some categories really are ranked</a:t>
            </a:r>
            <a:endParaRPr lang="en-US" sz="1450" dirty="0"/>
          </a:p>
        </p:txBody>
      </p:sp>
      <p:sp>
        <p:nvSpPr>
          <p:cNvPr id="7" name="Text 5"/>
          <p:cNvSpPr txBox="1"/>
          <p:nvPr/>
        </p:nvSpPr>
        <p:spPr>
          <a:xfrm>
            <a:off x="822960" y="2148840"/>
            <a:ext cx="4983480" cy="1097280"/>
          </a:xfrm>
          <a:prstGeom prst="rect">
            <a:avLst/>
          </a:prstGeom>
          <a:noFill/>
          <a:ln/>
        </p:spPr>
        <p:txBody>
          <a:bodyPr wrap="square" lIns="0" tIns="0" rIns="0" bIns="0" rtlCol="0" anchor="ctr"/>
          <a:lstStyle/>
          <a:p>
            <a:pPr indent="0" marL="0">
              <a:lnSpc>
                <a:spcPct val="145000"/>
              </a:lnSpc>
              <a:buNone/>
            </a:pPr>
            <a:r>
              <a:rPr lang="en-US" sz="1250" dirty="0">
                <a:solidFill>
                  <a:srgbClr val="2B3445"/>
                </a:solidFill>
                <a:latin typeface="Calibri" pitchFamily="34" charset="0"/>
                <a:ea typeface="Calibri" pitchFamily="34" charset="-122"/>
                <a:cs typeface="Calibri" pitchFamily="34" charset="-120"/>
              </a:rPr>
              <a:t>High School &lt; Bachelor &lt; Master &lt; PhD</a:t>
            </a:r>
            <a:endParaRPr lang="en-US" sz="1250" dirty="0"/>
          </a:p>
          <a:p>
            <a:pPr indent="0" marL="0">
              <a:lnSpc>
                <a:spcPct val="145000"/>
              </a:lnSpc>
              <a:buNone/>
            </a:pPr>
            <a:r>
              <a:rPr lang="en-US" sz="1250" dirty="0">
                <a:solidFill>
                  <a:srgbClr val="2B3445"/>
                </a:solidFill>
                <a:latin typeface="Calibri" pitchFamily="34" charset="0"/>
                <a:ea typeface="Calibri" pitchFamily="34" charset="-122"/>
                <a:cs typeface="Calibri" pitchFamily="34" charset="-120"/>
              </a:rPr>
              <a:t>S &lt; M &lt; L &lt; XL</a:t>
            </a:r>
            <a:endParaRPr lang="en-US" sz="1250" dirty="0"/>
          </a:p>
          <a:p>
            <a:pPr indent="0" marL="0">
              <a:lnSpc>
                <a:spcPct val="145000"/>
              </a:lnSpc>
              <a:buNone/>
            </a:pPr>
            <a:r>
              <a:rPr lang="en-US" sz="1250" dirty="0">
                <a:solidFill>
                  <a:srgbClr val="2B3445"/>
                </a:solidFill>
                <a:latin typeface="Calibri" pitchFamily="34" charset="0"/>
                <a:ea typeface="Calibri" pitchFamily="34" charset="-122"/>
                <a:cs typeface="Calibri" pitchFamily="34" charset="-120"/>
              </a:rPr>
              <a:t>bronze &lt; silver &lt; gold</a:t>
            </a:r>
            <a:endParaRPr lang="en-US" sz="1250" dirty="0"/>
          </a:p>
          <a:p>
            <a:pPr indent="0" marL="0">
              <a:lnSpc>
                <a:spcPct val="145000"/>
              </a:lnSpc>
              <a:buNone/>
            </a:pPr>
            <a:r>
              <a:rPr lang="en-US" sz="1250" dirty="0">
                <a:solidFill>
                  <a:srgbClr val="2B3445"/>
                </a:solidFill>
                <a:latin typeface="Calibri" pitchFamily="34" charset="0"/>
                <a:ea typeface="Calibri" pitchFamily="34" charset="-122"/>
                <a:cs typeface="Calibri" pitchFamily="34" charset="-120"/>
              </a:rPr>
              <a:t>never &lt; sometimes &lt; often &lt; always</a:t>
            </a:r>
            <a:endParaRPr lang="en-US" sz="1250" dirty="0"/>
          </a:p>
        </p:txBody>
      </p:sp>
      <p:sp>
        <p:nvSpPr>
          <p:cNvPr id="8" name="Text 6"/>
          <p:cNvSpPr txBox="1"/>
          <p:nvPr/>
        </p:nvSpPr>
        <p:spPr>
          <a:xfrm>
            <a:off x="822960" y="3310128"/>
            <a:ext cx="4983480" cy="502920"/>
          </a:xfrm>
          <a:prstGeom prst="rect">
            <a:avLst/>
          </a:prstGeom>
          <a:noFill/>
          <a:ln/>
        </p:spPr>
        <p:txBody>
          <a:bodyPr wrap="square" lIns="0" tIns="0" rIns="0" bIns="0" rtlCol="0" anchor="ctr"/>
          <a:lstStyle/>
          <a:p>
            <a:pPr indent="0" marL="0">
              <a:lnSpc>
                <a:spcPct val="115000"/>
              </a:lnSpc>
              <a:buNone/>
            </a:pPr>
            <a:r>
              <a:rPr lang="en-US" sz="1200" b="1" dirty="0">
                <a:solidFill>
                  <a:srgbClr val="1C6F5C"/>
                </a:solidFill>
                <a:latin typeface="Calibri" pitchFamily="34" charset="0"/>
                <a:ea typeface="Calibri" pitchFamily="34" charset="-122"/>
                <a:cs typeface="Calibri" pitchFamily="34" charset="-120"/>
              </a:rPr>
              <a:t>Here 0, 1, 2, 3 is not a lie — it is the truth, and it costs you ONE column instead of four.</a:t>
            </a:r>
            <a:endParaRPr lang="en-US" sz="1200" dirty="0"/>
          </a:p>
        </p:txBody>
      </p:sp>
      <p:sp>
        <p:nvSpPr>
          <p:cNvPr id="9" name="Shape 7"/>
          <p:cNvSpPr/>
          <p:nvPr/>
        </p:nvSpPr>
        <p:spPr>
          <a:xfrm>
            <a:off x="6309360" y="1572768"/>
            <a:ext cx="5303520" cy="2377440"/>
          </a:xfrm>
          <a:prstGeom prst="roundRect">
            <a:avLst>
              <a:gd name="adj" fmla="val 3462"/>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37360"/>
            <a:ext cx="4754880" cy="292608"/>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 But it assumes EVEN spacing</a:t>
            </a:r>
            <a:endParaRPr lang="en-US" sz="1450" dirty="0"/>
          </a:p>
        </p:txBody>
      </p:sp>
      <p:sp>
        <p:nvSpPr>
          <p:cNvPr id="11" name="Text 9"/>
          <p:cNvSpPr txBox="1"/>
          <p:nvPr/>
        </p:nvSpPr>
        <p:spPr>
          <a:xfrm>
            <a:off x="6565392" y="2121408"/>
            <a:ext cx="4800600" cy="64008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0, 1, 2, 3 says the jump from Bachelor to Master is the same size as the jump from Master to PhD. Sometimes true, often not.</a:t>
            </a:r>
            <a:endParaRPr lang="en-US" sz="1150" dirty="0"/>
          </a:p>
        </p:txBody>
      </p:sp>
      <p:sp>
        <p:nvSpPr>
          <p:cNvPr id="12" name="Text 10"/>
          <p:cNvSpPr txBox="1"/>
          <p:nvPr/>
        </p:nvSpPr>
        <p:spPr>
          <a:xfrm>
            <a:off x="6565392" y="2734056"/>
            <a:ext cx="4800600" cy="274320"/>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Both tested on 500 people, test error in $000:</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565392" y="2980944"/>
          <a:ext cx="4800600" cy="914400"/>
        </p:xfrm>
        <a:graphic>
          <a:graphicData uri="http://schemas.openxmlformats.org/drawingml/2006/table">
            <a:tbl>
              <a:tblPr/>
              <a:tblGrid>
                <a:gridCol w="2103120"/>
                <a:gridCol w="1325880"/>
                <a:gridCol w="1371600"/>
              </a:tblGrid>
              <a:tr h="30175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true gaps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ordinal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one-hot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01752">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even (0, 8, 16, 24)</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4.98</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4.97</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01752">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uneven (0, 6, 9, 34)</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6.04</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4.64</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4" name="Shape 11"/>
          <p:cNvSpPr/>
          <p:nvPr/>
        </p:nvSpPr>
        <p:spPr>
          <a:xfrm>
            <a:off x="548640" y="4114800"/>
            <a:ext cx="11064240" cy="1737360"/>
          </a:xfrm>
          <a:prstGeom prst="roundRect">
            <a:avLst>
              <a:gd name="adj" fmla="val 4737"/>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5" name="Text 12"/>
          <p:cNvSpPr txBox="1"/>
          <p:nvPr/>
        </p:nvSpPr>
        <p:spPr>
          <a:xfrm>
            <a:off x="868680" y="4270248"/>
            <a:ext cx="822960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The rule that follows from those two rows</a:t>
            </a:r>
            <a:endParaRPr lang="en-US" sz="1400" dirty="0"/>
          </a:p>
        </p:txBody>
      </p:sp>
      <p:sp>
        <p:nvSpPr>
          <p:cNvPr id="16" name="Text 13"/>
          <p:cNvSpPr txBox="1"/>
          <p:nvPr/>
        </p:nvSpPr>
        <p:spPr>
          <a:xfrm>
            <a:off x="868680" y="4590288"/>
            <a:ext cx="10424160" cy="1188720"/>
          </a:xfrm>
          <a:prstGeom prst="rect">
            <a:avLst/>
          </a:prstGeom>
          <a:noFill/>
          <a:ln/>
        </p:spPr>
        <p:txBody>
          <a:bodyPr wrap="square" lIns="0" tIns="0" rIns="0" bIns="0" rtlCol="0" anchor="ctr"/>
          <a:lstStyle/>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When the spacing really is even, ordinal ties one-hot exactly (4.98 vs 4.97) and uses a quarter of the columns — use it. When the spacing is uneven, ordinal is 30% worse (6.04 vs 4.64), because it is forced to put the four levels on one straight line and the real jump to PhD is nothing like the others.</a:t>
            </a:r>
            <a:endParaRPr lang="en-US" sz="1150" dirty="0"/>
          </a:p>
          <a:p>
            <a:pPr indent="0" marL="0">
              <a:lnSpc>
                <a:spcPct val="120000"/>
              </a:lnSpc>
              <a:buNone/>
            </a:pPr>
            <a:endParaRPr lang="en-US" sz="1150" dirty="0"/>
          </a:p>
          <a:p>
            <a:pPr indent="0" marL="0">
              <a:lnSpc>
                <a:spcPct val="120000"/>
              </a:lnSpc>
              <a:buNone/>
            </a:pPr>
            <a:r>
              <a:rPr lang="en-US" sz="1150" dirty="0">
                <a:solidFill>
                  <a:srgbClr val="2B3445"/>
                </a:solidFill>
                <a:latin typeface="Calibri" pitchFamily="34" charset="0"/>
                <a:ea typeface="Calibri" pitchFamily="34" charset="-122"/>
                <a:cs typeface="Calibri" pitchFamily="34" charset="-120"/>
              </a:rPr>
              <a:t>If you are unsure whether the gaps are even, one-hot is the safe choice: it never assumes anything about spacing.</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5.6  ·  TOO MANY CATEGORIES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When one-hot is the wrong answer</a:t>
            </a:r>
            <a:endParaRPr lang="en-US" sz="3200" dirty="0"/>
          </a:p>
        </p:txBody>
      </p:sp>
      <p:pic>
        <p:nvPicPr>
          <p:cNvPr id="5" name="Image 0" descr="/home/claude/day31/fig/cardinality.png">    </p:cNvPr>
          <p:cNvPicPr>
            <a:picLocks noChangeAspect="1"/>
          </p:cNvPicPr>
          <p:nvPr/>
        </p:nvPicPr>
        <p:blipFill>
          <a:blip r:embed="rId1"/>
          <a:stretch>
            <a:fillRect/>
          </a:stretch>
        </p:blipFill>
        <p:spPr>
          <a:xfrm>
            <a:off x="1005840" y="1554480"/>
            <a:ext cx="10149840" cy="2541272"/>
          </a:xfrm>
          <a:prstGeom prst="rect">
            <a:avLst/>
          </a:prstGeom>
        </p:spPr>
      </p:pic>
      <p:sp>
        <p:nvSpPr>
          <p:cNvPr id="6" name="Shape 3"/>
          <p:cNvSpPr/>
          <p:nvPr/>
        </p:nvSpPr>
        <p:spPr>
          <a:xfrm>
            <a:off x="548640" y="4343400"/>
            <a:ext cx="5486400" cy="1508760"/>
          </a:xfrm>
          <a:prstGeom prst="roundRect">
            <a:avLst>
              <a:gd name="adj" fmla="val 5455"/>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480560"/>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The blow-up</a:t>
            </a:r>
            <a:endParaRPr lang="en-US" sz="1350" dirty="0"/>
          </a:p>
        </p:txBody>
      </p:sp>
      <p:sp>
        <p:nvSpPr>
          <p:cNvPr id="8" name="Text 5"/>
          <p:cNvSpPr txBox="1"/>
          <p:nvPr/>
        </p:nvSpPr>
        <p:spPr>
          <a:xfrm>
            <a:off x="804672" y="4800600"/>
            <a:ext cx="4983480" cy="96012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One-hot makes one column per category, so a zip-code column with 565 values turns 1,000 rows into a table with 565 extra columns — almost all zeros, and nearly as many knobs as there are examples to set them with. The model memorises.</a:t>
            </a:r>
            <a:endParaRPr lang="en-US" sz="1150" dirty="0"/>
          </a:p>
        </p:txBody>
      </p:sp>
      <p:sp>
        <p:nvSpPr>
          <p:cNvPr id="9" name="Shape 6"/>
          <p:cNvSpPr/>
          <p:nvPr/>
        </p:nvSpPr>
        <p:spPr>
          <a:xfrm>
            <a:off x="6309360" y="4343400"/>
            <a:ext cx="5303520" cy="1508760"/>
          </a:xfrm>
          <a:prstGeom prst="roundRect">
            <a:avLst>
              <a:gd name="adj" fmla="val 5455"/>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480560"/>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What to do instead</a:t>
            </a:r>
            <a:endParaRPr lang="en-US" sz="1350" dirty="0"/>
          </a:p>
        </p:txBody>
      </p:sp>
      <p:sp>
        <p:nvSpPr>
          <p:cNvPr id="11" name="Text 8"/>
          <p:cNvSpPr txBox="1"/>
          <p:nvPr/>
        </p:nvSpPr>
        <p:spPr>
          <a:xfrm>
            <a:off x="6565392" y="4800600"/>
            <a:ext cx="4800600" cy="1005840"/>
          </a:xfrm>
          <a:prstGeom prst="rect">
            <a:avLst/>
          </a:prstGeom>
          <a:noFill/>
          <a:ln/>
        </p:spPr>
        <p:txBody>
          <a:bodyPr wrap="square" lIns="0" tIns="0" rIns="0" bIns="0" rtlCol="0" anchor="ctr"/>
          <a:lstStyle/>
          <a:p>
            <a:pPr indent="0" marL="0">
              <a:lnSpc>
                <a:spcPct val="115000"/>
              </a:lnSpc>
              <a:buNone/>
            </a:pPr>
            <a:r>
              <a:rPr lang="en-US" sz="1050" dirty="0">
                <a:solidFill>
                  <a:srgbClr val="2B3445"/>
                </a:solidFill>
                <a:latin typeface="Calibri" pitchFamily="34" charset="0"/>
                <a:ea typeface="Calibri" pitchFamily="34" charset="-122"/>
                <a:cs typeface="Calibri" pitchFamily="34" charset="-120"/>
              </a:rPr>
              <a:t>Group the rare ones into “Other” and one-hot the rest  ·  use FREQUENCY encoding (replace each category by how often it appears)  ·  use TARGET encoding (replace it by the average label for that category) — with the warning on the next slide  ·  or use a model that handles categories natively, such as CatBoost or LightGBM.</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5.7  ·  LEAKAGE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 Fit the encoder on TRAIN only — or it will lie to you</a:t>
            </a:r>
            <a:endParaRPr lang="en-US" sz="3200" dirty="0"/>
          </a:p>
        </p:txBody>
      </p:sp>
      <p:pic>
        <p:nvPicPr>
          <p:cNvPr id="5" name="Image 0" descr="/home/claude/day31/fig/leakage.png">    </p:cNvPr>
          <p:cNvPicPr>
            <a:picLocks noChangeAspect="1"/>
          </p:cNvPicPr>
          <p:nvPr/>
        </p:nvPicPr>
        <p:blipFill>
          <a:blip r:embed="rId1"/>
          <a:stretch>
            <a:fillRect/>
          </a:stretch>
        </p:blipFill>
        <p:spPr>
          <a:xfrm>
            <a:off x="1463040" y="1554480"/>
            <a:ext cx="9235440" cy="2921683"/>
          </a:xfrm>
          <a:prstGeom prst="rect">
            <a:avLst/>
          </a:prstGeom>
        </p:spPr>
      </p:pic>
      <p:sp>
        <p:nvSpPr>
          <p:cNvPr id="6" name="Shape 3"/>
          <p:cNvSpPr/>
          <p:nvPr/>
        </p:nvSpPr>
        <p:spPr>
          <a:xfrm>
            <a:off x="548640" y="4754880"/>
            <a:ext cx="5486400" cy="1097280"/>
          </a:xfrm>
          <a:prstGeom prst="roundRect">
            <a:avLst>
              <a:gd name="adj" fmla="val 75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873752"/>
            <a:ext cx="4937760" cy="274320"/>
          </a:xfrm>
          <a:prstGeom prst="rect">
            <a:avLst/>
          </a:prstGeom>
          <a:noFill/>
          <a:ln/>
        </p:spPr>
        <p:txBody>
          <a:bodyPr wrap="square" lIns="0" tIns="0" rIns="0" bIns="0" rtlCol="0" anchor="ctr"/>
          <a:lstStyle/>
          <a:p>
            <a:pPr indent="0" marL="0">
              <a:buNone/>
            </a:pPr>
            <a:r>
              <a:rPr lang="en-US" sz="1350" b="1" dirty="0">
                <a:solidFill>
                  <a:srgbClr val="A63B24"/>
                </a:solidFill>
                <a:latin typeface="Calibri" pitchFamily="34" charset="0"/>
                <a:ea typeface="Calibri" pitchFamily="34" charset="-122"/>
                <a:cs typeface="Calibri" pitchFamily="34" charset="-120"/>
              </a:rPr>
              <a:t>What the red bars are doing</a:t>
            </a:r>
            <a:endParaRPr lang="en-US" sz="1350" dirty="0"/>
          </a:p>
        </p:txBody>
      </p:sp>
      <p:sp>
        <p:nvSpPr>
          <p:cNvPr id="8" name="Text 5"/>
          <p:cNvSpPr txBox="1"/>
          <p:nvPr/>
        </p:nvSpPr>
        <p:spPr>
          <a:xfrm>
            <a:off x="804672" y="5184648"/>
            <a:ext cx="4983480" cy="64008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The target encoder was fitted on all the rows, so each test row's own answer helped build its own feature. At 200 categories the model reports a test R² of +0.38 on data containing nothing at all.</a:t>
            </a:r>
            <a:endParaRPr lang="en-US" sz="1150" dirty="0"/>
          </a:p>
        </p:txBody>
      </p:sp>
      <p:sp>
        <p:nvSpPr>
          <p:cNvPr id="9" name="Shape 6"/>
          <p:cNvSpPr/>
          <p:nvPr/>
        </p:nvSpPr>
        <p:spPr>
          <a:xfrm>
            <a:off x="6309360" y="4754880"/>
            <a:ext cx="5303520" cy="1097280"/>
          </a:xfrm>
          <a:prstGeom prst="roundRect">
            <a:avLst>
              <a:gd name="adj" fmla="val 75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873752"/>
            <a:ext cx="4754880" cy="274320"/>
          </a:xfrm>
          <a:prstGeom prst="rect">
            <a:avLst/>
          </a:prstGeom>
          <a:noFill/>
          <a:ln/>
        </p:spPr>
        <p:txBody>
          <a:bodyPr wrap="square" lIns="0" tIns="0" rIns="0" bIns="0" rtlCol="0" anchor="ctr"/>
          <a:lstStyle/>
          <a:p>
            <a:pPr indent="0" marL="0">
              <a:buNone/>
            </a:pPr>
            <a:r>
              <a:rPr lang="en-US" sz="1350" b="1" dirty="0">
                <a:solidFill>
                  <a:srgbClr val="1C6F5C"/>
                </a:solidFill>
                <a:latin typeface="Calibri" pitchFamily="34" charset="0"/>
                <a:ea typeface="Calibri" pitchFamily="34" charset="-122"/>
                <a:cs typeface="Calibri" pitchFamily="34" charset="-120"/>
              </a:rPr>
              <a:t>The green bars are correct</a:t>
            </a:r>
            <a:endParaRPr lang="en-US" sz="1350" dirty="0"/>
          </a:p>
        </p:txBody>
      </p:sp>
      <p:sp>
        <p:nvSpPr>
          <p:cNvPr id="11" name="Text 8"/>
          <p:cNvSpPr txBox="1"/>
          <p:nvPr/>
        </p:nvSpPr>
        <p:spPr>
          <a:xfrm>
            <a:off x="6565392" y="5184648"/>
            <a:ext cx="4800600" cy="658368"/>
          </a:xfrm>
          <a:prstGeom prst="rect">
            <a:avLst/>
          </a:prstGeom>
          <a:noFill/>
          <a:ln/>
        </p:spPr>
        <p:txBody>
          <a:bodyPr wrap="square" lIns="0" tIns="0" rIns="0" bIns="0" rtlCol="0" anchor="ctr"/>
          <a:lstStyle/>
          <a:p>
            <a:pPr indent="0" marL="0">
              <a:lnSpc>
                <a:spcPct val="115000"/>
              </a:lnSpc>
              <a:buNone/>
            </a:pPr>
            <a:r>
              <a:rPr lang="en-US" sz="1150" dirty="0">
                <a:solidFill>
                  <a:srgbClr val="2B3445"/>
                </a:solidFill>
                <a:latin typeface="Calibri" pitchFamily="34" charset="0"/>
                <a:ea typeface="Calibri" pitchFamily="34" charset="-122"/>
                <a:cs typeface="Calibri" pitchFamily="34" charset="-120"/>
              </a:rPr>
              <a:t>Fitted on train only, the model reports a NEGATIVE test R² — correctly saying “this is worthless”. The honest answer looks like failure, and the leaky one looks like success. That is the danger.</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5.8  ·  REFERENCE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Which encoder, and when</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3749040"/>
                <a:gridCol w="3108960"/>
                <a:gridCol w="420624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Your column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Nominal, under ~15 categories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one-hot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pd.get_dummies(df, columns=[c])</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Nominal, and you will read coefficients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one-hot, drop one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pd.get_dummies(…, drop_first=True)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Ordinal, gaps roughly even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ordinal — map by hand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df[c].map({"S":0, "M":1, "L":2})</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Ordinal, gaps clearly uneven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one-hot (safer)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pd.get_dummies(df, columns=[c])</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Nominal, hundreds of categories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group rare → Other, then one-hot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value_counts() then .where()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Still too many after grouping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frequency or target encoding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df[c].map(df[c].value_counts())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0624">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LABEL of a classifier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label encoding is correct here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LabelEncoder().fit_transform(y)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047488"/>
            <a:ext cx="11064240" cy="1143000"/>
          </a:xfrm>
          <a:prstGeom prst="roundRect">
            <a:avLst>
              <a:gd name="adj" fmla="val 72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248656"/>
            <a:ext cx="10424160" cy="777240"/>
          </a:xfrm>
          <a:prstGeom prst="rect">
            <a:avLst/>
          </a:prstGeom>
          <a:noFill/>
          <a:ln/>
        </p:spPr>
        <p:txBody>
          <a:bodyPr wrap="square" lIns="0" tIns="0" rIns="0" bIns="0" rtlCol="0" anchor="ctr"/>
          <a:lstStyle/>
          <a:p>
            <a:pPr indent="0" marL="0">
              <a:lnSpc>
                <a:spcPct val="120000"/>
              </a:lnSpc>
              <a:buNone/>
            </a:pPr>
            <a:r>
              <a:rPr lang="en-US" sz="1250" b="1" dirty="0">
                <a:solidFill>
                  <a:srgbClr val="8A5B00"/>
                </a:solidFill>
                <a:latin typeface="Calibri" pitchFamily="34" charset="0"/>
                <a:ea typeface="Calibri" pitchFamily="34" charset="-122"/>
                <a:cs typeface="Calibri" pitchFamily="34" charset="-120"/>
              </a:rPr>
              <a:t>Two rules that cover almost everything: when in doubt, ONE-HOT — it assumes nothing. And whatever you choose, FIT IT ON TRAIN ONLY. The last row is the exception worth remembering: LabelEncoder is the right tool for the thing you are predicting, and the wrong tool for the things you predict from.</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first-week mistakes</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4023360"/>
                <a:gridCol w="3840480"/>
                <a:gridCol w="320040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did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goes wrong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fed a string column to .fit()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ValueError: could not convert to float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encode it first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LabelEncoder on a nominal feature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error doubled: $11k → $23k</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one-hot for nominal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one-hot on 565 zip codes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565 columns from 1,000 rows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group rare → Other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scored the model on its training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R² = 1.000 and useless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always hold out a test set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fitted the encoder before splitting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fake test R² of +0.38 on noise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fit on train, apply to test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ordinal-encoded an uneven order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6.04 vs 4.64 error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one-hot when gaps are uneven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kept all k dummies, then read coefficients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coefficients are not unique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drop_first=True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 labels, reached for a classifier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nothing to learn from</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it is an unsupervised problem</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Rows 4 and 5 are the same mistake wearing different clothes: letting the model see, in any form at all, data you intend to grade it on.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6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prepare any dataset for a model</a:t>
            </a:r>
            <a:endParaRPr lang="en-US" sz="3200" dirty="0"/>
          </a:p>
        </p:txBody>
      </p:sp>
      <p:sp>
        <p:nvSpPr>
          <p:cNvPr id="5" name="Shape 3"/>
          <p:cNvSpPr/>
          <p:nvPr/>
        </p:nvSpPr>
        <p:spPr>
          <a:xfrm>
            <a:off x="548640" y="1572768"/>
            <a:ext cx="6583680" cy="4343400"/>
          </a:xfrm>
          <a:prstGeom prst="roundRect">
            <a:avLst>
              <a:gd name="adj" fmla="val 189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5751576" cy="3712464"/>
          </a:xfrm>
          <a:prstGeom prst="rect">
            <a:avLst/>
          </a:prstGeom>
          <a:noFill/>
          <a:ln/>
        </p:spPr>
        <p:txBody>
          <a:bodyPr wrap="square" lIns="0" tIns="0" rIns="0" bIns="0" rtlCol="0" anchor="t"/>
          <a:lstStyle/>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import pandas as pd</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from sklearn.model_selection import train_test_split</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def prepare(df, label, ordinal_maps=None, max_cats=15):</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"""Split first, then encode. Returns X_train, X_test, y_train, y_test."""</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ordinal_maps = ordinal_maps or {}</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y = df[label]</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X = df.drop(columns=[label])</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  1. SPLIT FIRST - nothing may learn from the test rows</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X_tr, X_te, y_tr, y_te = train_test_split(</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X, y, test_size=0.25, random_state=42)</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  2. ordinal columns: a map YOU wrote, so order is intentional</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for col, mapping in ordinal_maps.items():</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X_tr[col] = X_tr[col].map(mapping)</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X_te[col] = X_te[col].map(mapping)</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  3. group rare categories, using TRAIN counts only</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cats = X_tr.select_dtypes(include="object").columns</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for col in cats:</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keep = X_tr[col].value_counts().head(max_cats).index</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X_tr[col] = X_tr[col].where(X_tr[col].isin(keep), "Other")</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X_te[col] = X_te[col].where(X_te[col].isin(keep), "Other")</a:t>
            </a:r>
            <a:endParaRPr lang="en-US" sz="700" dirty="0"/>
          </a:p>
          <a:p>
            <a:pPr indent="0" marL="0">
              <a:lnSpc>
                <a:spcPct val="112000"/>
              </a:lnSpc>
              <a:buNone/>
            </a:pP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  4. one-hot, then align so both frames have the same columns</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X_tr = pd.get_dummies(X_tr, columns=list(cats)).astype(float)</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X_te = pd.get_dummies(X_te, columns=list(cats)).astype(float)</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X_te = X_te.reindex(columns=X_tr.columns, fill_value=0.0)</a:t>
            </a:r>
            <a:endParaRPr lang="en-US" sz="700" dirty="0"/>
          </a:p>
          <a:p>
            <a:pPr indent="0" marL="0">
              <a:lnSpc>
                <a:spcPct val="112000"/>
              </a:lnSpc>
              <a:buNone/>
            </a:pPr>
            <a:r>
              <a:rPr lang="en-US" sz="700" dirty="0">
                <a:solidFill>
                  <a:srgbClr val="E7EEF8"/>
                </a:solidFill>
                <a:latin typeface="Courier New" pitchFamily="34" charset="0"/>
                <a:ea typeface="Courier New" pitchFamily="34" charset="-122"/>
                <a:cs typeface="Courier New" pitchFamily="34" charset="-120"/>
              </a:rPr>
              <a:t>    return X_tr, X_te, y_tr, y_te</a:t>
            </a:r>
            <a:endParaRPr lang="en-US" sz="700" dirty="0"/>
          </a:p>
        </p:txBody>
      </p:sp>
      <p:sp>
        <p:nvSpPr>
          <p:cNvPr id="8" name="Shape 6"/>
          <p:cNvSpPr/>
          <p:nvPr/>
        </p:nvSpPr>
        <p:spPr>
          <a:xfrm>
            <a:off x="7406640" y="16916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819656"/>
            <a:ext cx="118872" cy="329184"/>
          </a:xfrm>
          <a:prstGeom prst="roundRect">
            <a:avLst>
              <a:gd name="adj" fmla="val 38462"/>
            </a:avLst>
          </a:prstGeom>
          <a:solidFill>
            <a:srgbClr val="E8674C"/>
          </a:solidFill>
          <a:ln w="12700">
            <a:solidFill>
              <a:srgbClr val="333333"/>
            </a:solidFill>
            <a:prstDash val="solid"/>
          </a:ln>
        </p:spPr>
      </p:sp>
      <p:sp>
        <p:nvSpPr>
          <p:cNvPr id="10" name="Text 8"/>
          <p:cNvSpPr txBox="1"/>
          <p:nvPr/>
        </p:nvSpPr>
        <p:spPr>
          <a:xfrm>
            <a:off x="7790688" y="1746504"/>
            <a:ext cx="361188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Split is the FIRST step</a:t>
            </a:r>
            <a:endParaRPr lang="en-US" sz="1050" dirty="0"/>
          </a:p>
        </p:txBody>
      </p:sp>
      <p:sp>
        <p:nvSpPr>
          <p:cNvPr id="11" name="Text 9"/>
          <p:cNvSpPr txBox="1"/>
          <p:nvPr/>
        </p:nvSpPr>
        <p:spPr>
          <a:xfrm>
            <a:off x="7790688" y="19933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everything after it is fitted on train</a:t>
            </a:r>
            <a:endParaRPr lang="en-US" sz="950" dirty="0"/>
          </a:p>
        </p:txBody>
      </p:sp>
      <p:sp>
        <p:nvSpPr>
          <p:cNvPr id="12" name="Shape 10"/>
          <p:cNvSpPr/>
          <p:nvPr/>
        </p:nvSpPr>
        <p:spPr>
          <a:xfrm>
            <a:off x="7406640" y="23774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505456"/>
            <a:ext cx="118872" cy="329184"/>
          </a:xfrm>
          <a:prstGeom prst="roundRect">
            <a:avLst>
              <a:gd name="adj" fmla="val 38462"/>
            </a:avLst>
          </a:prstGeom>
          <a:solidFill>
            <a:srgbClr val="E8674C"/>
          </a:solidFill>
          <a:ln w="12700">
            <a:solidFill>
              <a:srgbClr val="333333"/>
            </a:solidFill>
            <a:prstDash val="solid"/>
          </a:ln>
        </p:spPr>
      </p:sp>
      <p:sp>
        <p:nvSpPr>
          <p:cNvPr id="14" name="Text 12"/>
          <p:cNvSpPr txBox="1"/>
          <p:nvPr/>
        </p:nvSpPr>
        <p:spPr>
          <a:xfrm>
            <a:off x="7790688" y="2432304"/>
            <a:ext cx="361188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Ordinal maps are hand-written</a:t>
            </a:r>
            <a:endParaRPr lang="en-US" sz="1050" dirty="0"/>
          </a:p>
        </p:txBody>
      </p:sp>
      <p:sp>
        <p:nvSpPr>
          <p:cNvPr id="15" name="Text 13"/>
          <p:cNvSpPr txBox="1"/>
          <p:nvPr/>
        </p:nvSpPr>
        <p:spPr>
          <a:xfrm>
            <a:off x="7790688" y="26791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an order you chose, not one invented</a:t>
            </a:r>
            <a:endParaRPr lang="en-US" sz="950" dirty="0"/>
          </a:p>
        </p:txBody>
      </p:sp>
      <p:sp>
        <p:nvSpPr>
          <p:cNvPr id="16" name="Shape 14"/>
          <p:cNvSpPr/>
          <p:nvPr/>
        </p:nvSpPr>
        <p:spPr>
          <a:xfrm>
            <a:off x="7406640" y="30632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3191256"/>
            <a:ext cx="118872" cy="329184"/>
          </a:xfrm>
          <a:prstGeom prst="roundRect">
            <a:avLst>
              <a:gd name="adj" fmla="val 38462"/>
            </a:avLst>
          </a:prstGeom>
          <a:solidFill>
            <a:srgbClr val="FFC145"/>
          </a:solidFill>
          <a:ln w="12700">
            <a:solidFill>
              <a:srgbClr val="333333"/>
            </a:solidFill>
            <a:prstDash val="solid"/>
          </a:ln>
        </p:spPr>
      </p:sp>
      <p:sp>
        <p:nvSpPr>
          <p:cNvPr id="18" name="Text 16"/>
          <p:cNvSpPr txBox="1"/>
          <p:nvPr/>
        </p:nvSpPr>
        <p:spPr>
          <a:xfrm>
            <a:off x="7790688" y="3118104"/>
            <a:ext cx="361188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Rare categories use TRAIN counts</a:t>
            </a:r>
            <a:endParaRPr lang="en-US" sz="1050" dirty="0"/>
          </a:p>
        </p:txBody>
      </p:sp>
      <p:sp>
        <p:nvSpPr>
          <p:cNvPr id="19" name="Text 17"/>
          <p:cNvSpPr txBox="1"/>
          <p:nvPr/>
        </p:nvSpPr>
        <p:spPr>
          <a:xfrm>
            <a:off x="7790688" y="33649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test rows must not vote</a:t>
            </a:r>
            <a:endParaRPr lang="en-US" sz="950" dirty="0"/>
          </a:p>
        </p:txBody>
      </p:sp>
      <p:sp>
        <p:nvSpPr>
          <p:cNvPr id="20" name="Shape 18"/>
          <p:cNvSpPr/>
          <p:nvPr/>
        </p:nvSpPr>
        <p:spPr>
          <a:xfrm>
            <a:off x="7406640" y="37490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877056"/>
            <a:ext cx="118872" cy="329184"/>
          </a:xfrm>
          <a:prstGeom prst="roundRect">
            <a:avLst>
              <a:gd name="adj" fmla="val 38462"/>
            </a:avLst>
          </a:prstGeom>
          <a:solidFill>
            <a:srgbClr val="FFC145"/>
          </a:solidFill>
          <a:ln w="12700">
            <a:solidFill>
              <a:srgbClr val="333333"/>
            </a:solidFill>
            <a:prstDash val="solid"/>
          </a:ln>
        </p:spPr>
      </p:sp>
      <p:sp>
        <p:nvSpPr>
          <p:cNvPr id="22" name="Text 20"/>
          <p:cNvSpPr txBox="1"/>
          <p:nvPr/>
        </p:nvSpPr>
        <p:spPr>
          <a:xfrm>
            <a:off x="7790688" y="3803904"/>
            <a:ext cx="361188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Columns are aligned at the end</a:t>
            </a:r>
            <a:endParaRPr lang="en-US" sz="1050" dirty="0"/>
          </a:p>
        </p:txBody>
      </p:sp>
      <p:sp>
        <p:nvSpPr>
          <p:cNvPr id="23" name="Text 21"/>
          <p:cNvSpPr txBox="1"/>
          <p:nvPr/>
        </p:nvSpPr>
        <p:spPr>
          <a:xfrm>
            <a:off x="7790688" y="40507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a city only in test would break it</a:t>
            </a:r>
            <a:endParaRPr lang="en-US" sz="950" dirty="0"/>
          </a:p>
        </p:txBody>
      </p:sp>
      <p:sp>
        <p:nvSpPr>
          <p:cNvPr id="24" name="Shape 22"/>
          <p:cNvSpPr/>
          <p:nvPr/>
        </p:nvSpPr>
        <p:spPr>
          <a:xfrm>
            <a:off x="7406640" y="44348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4562856"/>
            <a:ext cx="118872" cy="329184"/>
          </a:xfrm>
          <a:prstGeom prst="roundRect">
            <a:avLst>
              <a:gd name="adj" fmla="val 38462"/>
            </a:avLst>
          </a:prstGeom>
          <a:solidFill>
            <a:srgbClr val="2FA98C"/>
          </a:solidFill>
          <a:ln w="12700">
            <a:solidFill>
              <a:srgbClr val="333333"/>
            </a:solidFill>
            <a:prstDash val="solid"/>
          </a:ln>
        </p:spPr>
      </p:sp>
      <p:sp>
        <p:nvSpPr>
          <p:cNvPr id="26" name="Text 24"/>
          <p:cNvSpPr txBox="1"/>
          <p:nvPr/>
        </p:nvSpPr>
        <p:spPr>
          <a:xfrm>
            <a:off x="7790688" y="4489704"/>
            <a:ext cx="361188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astype(float)</a:t>
            </a:r>
            <a:endParaRPr lang="en-US" sz="1050" dirty="0"/>
          </a:p>
        </p:txBody>
      </p:sp>
      <p:sp>
        <p:nvSpPr>
          <p:cNvPr id="27" name="Text 25"/>
          <p:cNvSpPr txBox="1"/>
          <p:nvPr/>
        </p:nvSpPr>
        <p:spPr>
          <a:xfrm>
            <a:off x="7790688" y="47365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booleans trip up some models</a:t>
            </a:r>
            <a:endParaRPr lang="en-US" sz="950" dirty="0"/>
          </a:p>
        </p:txBody>
      </p:sp>
      <p:sp>
        <p:nvSpPr>
          <p:cNvPr id="28" name="Shape 26"/>
          <p:cNvSpPr/>
          <p:nvPr/>
        </p:nvSpPr>
        <p:spPr>
          <a:xfrm>
            <a:off x="7406640" y="5120640"/>
            <a:ext cx="4206240" cy="585216"/>
          </a:xfrm>
          <a:prstGeom prst="roundRect">
            <a:avLst>
              <a:gd name="adj" fmla="val 1406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5248656"/>
            <a:ext cx="118872" cy="329184"/>
          </a:xfrm>
          <a:prstGeom prst="roundRect">
            <a:avLst>
              <a:gd name="adj" fmla="val 38462"/>
            </a:avLst>
          </a:prstGeom>
          <a:solidFill>
            <a:srgbClr val="2FA98C"/>
          </a:solidFill>
          <a:ln w="12700">
            <a:solidFill>
              <a:srgbClr val="333333"/>
            </a:solidFill>
            <a:prstDash val="solid"/>
          </a:ln>
        </p:spPr>
      </p:sp>
      <p:sp>
        <p:nvSpPr>
          <p:cNvPr id="30" name="Text 28"/>
          <p:cNvSpPr txBox="1"/>
          <p:nvPr/>
        </p:nvSpPr>
        <p:spPr>
          <a:xfrm>
            <a:off x="7790688" y="5175504"/>
            <a:ext cx="3611880" cy="256032"/>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No label encoding anywhere</a:t>
            </a:r>
            <a:endParaRPr lang="en-US" sz="1050" dirty="0"/>
          </a:p>
        </p:txBody>
      </p:sp>
      <p:sp>
        <p:nvSpPr>
          <p:cNvPr id="31" name="Text 29"/>
          <p:cNvSpPr txBox="1"/>
          <p:nvPr/>
        </p:nvSpPr>
        <p:spPr>
          <a:xfrm>
            <a:off x="7790688" y="5422392"/>
            <a:ext cx="3703320" cy="237744"/>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except on y, which is not here</a:t>
            </a:r>
            <a:endParaRPr lang="en-US" sz="950" dirty="0"/>
          </a:p>
        </p:txBody>
      </p:sp>
      <p:sp>
        <p:nvSpPr>
          <p:cNvPr id="32" name="Text 30"/>
          <p:cNvSpPr txBox="1"/>
          <p:nvPr/>
        </p:nvSpPr>
        <p:spPr>
          <a:xfrm>
            <a:off x="548640" y="5998464"/>
            <a:ext cx="6766560" cy="365760"/>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In real projects a scikit-learn Pipeline does all of this for you, and refuses to let you leak. We build it by hand first so you know what it is doing.</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459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84708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8470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7282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0665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Types, encodings, shapes, splits</a:t>
            </a:r>
            <a:endParaRPr lang="en-US" sz="1150" dirty="0"/>
          </a:p>
        </p:txBody>
      </p:sp>
      <p:sp>
        <p:nvSpPr>
          <p:cNvPr id="10" name="Text 8"/>
          <p:cNvSpPr txBox="1"/>
          <p:nvPr/>
        </p:nvSpPr>
        <p:spPr>
          <a:xfrm>
            <a:off x="6583680" y="18653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5603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761488"/>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761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6426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29809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Label on nominal, leak, scoring on train</a:t>
            </a:r>
            <a:endParaRPr lang="en-US" sz="1150" dirty="0"/>
          </a:p>
        </p:txBody>
      </p:sp>
      <p:sp>
        <p:nvSpPr>
          <p:cNvPr id="16" name="Text 14"/>
          <p:cNvSpPr txBox="1"/>
          <p:nvPr/>
        </p:nvSpPr>
        <p:spPr>
          <a:xfrm>
            <a:off x="6583680" y="27797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4747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675888"/>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6758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5570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38953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Encode, split, prepare, compare</a:t>
            </a:r>
            <a:endParaRPr lang="en-US" sz="1150" dirty="0"/>
          </a:p>
        </p:txBody>
      </p:sp>
      <p:sp>
        <p:nvSpPr>
          <p:cNvPr id="22" name="Text 20"/>
          <p:cNvSpPr txBox="1"/>
          <p:nvPr/>
        </p:nvSpPr>
        <p:spPr>
          <a:xfrm>
            <a:off x="6583680" y="36941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389120"/>
            <a:ext cx="758952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4590288"/>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4590288"/>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47141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480974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Classify 8 real problems, then fix a pipeline</a:t>
            </a:r>
            <a:endParaRPr lang="en-US" sz="1150" dirty="0"/>
          </a:p>
        </p:txBody>
      </p:sp>
      <p:sp>
        <p:nvSpPr>
          <p:cNvPr id="28" name="Text 26"/>
          <p:cNvSpPr txBox="1"/>
          <p:nvPr/>
        </p:nvSpPr>
        <p:spPr>
          <a:xfrm>
            <a:off x="6583680" y="460857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45920"/>
            <a:ext cx="3200400" cy="2907792"/>
          </a:xfrm>
          <a:prstGeom prst="roundRect">
            <a:avLst>
              <a:gd name="adj" fmla="val 283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0136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16712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Day31_Practice_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88036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Split before you encode</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Nominal → one-hot</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Never score on training data</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Solutions shared after class</a:t>
            </a:r>
            <a:endParaRPr lang="en-US" sz="1150" dirty="0"/>
          </a:p>
        </p:txBody>
      </p:sp>
      <p:sp>
        <p:nvSpPr>
          <p:cNvPr id="33" name="Shape 31"/>
          <p:cNvSpPr/>
          <p:nvPr/>
        </p:nvSpPr>
        <p:spPr>
          <a:xfrm>
            <a:off x="548640" y="5394960"/>
            <a:ext cx="11064240" cy="868680"/>
          </a:xfrm>
          <a:prstGeom prst="roundRect">
            <a:avLst>
              <a:gd name="adj" fmla="val 9474"/>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550408"/>
            <a:ext cx="10424160" cy="548640"/>
          </a:xfrm>
          <a:prstGeom prst="rect">
            <a:avLst/>
          </a:prstGeom>
          <a:noFill/>
          <a:ln/>
        </p:spPr>
        <p:txBody>
          <a:bodyPr wrap="square" lIns="0" tIns="0" rIns="0" bIns="0" rtlCol="0" anchor="ctr"/>
          <a:lstStyle/>
          <a:p>
            <a:pPr indent="0" marL="0">
              <a:buNone/>
            </a:pPr>
            <a:r>
              <a:rPr lang="en-US" sz="1350" b="1" i="1" dirty="0">
                <a:solidFill>
                  <a:srgbClr val="8A5B00"/>
                </a:solidFill>
                <a:latin typeface="Calibri" pitchFamily="34" charset="0"/>
                <a:ea typeface="Calibri" pitchFamily="34" charset="-122"/>
                <a:cs typeface="Calibri" pitchFamily="34" charset="-120"/>
              </a:rPr>
              <a:t>No model fitting is required today beyond what is given to you. Today is about getting data into a shape a model can actually use — which, as the pipeline slide showed, is most of the real work.</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Traditional code: rules + data → answers. ML: data + answers → rules.</a:t>
            </a:r>
            <a:endParaRPr lang="en-US" sz="95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Sample = a row. Feature = an input column. Label = the answer column.</a:t>
            </a:r>
            <a:endParaRPr lang="en-US" sz="95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“Learning” = try numbers, measure the error, keep the best. No magic.</a:t>
            </a:r>
            <a:endParaRPr lang="en-US" sz="95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SUPERVISED: the answers come with the data. ~90% of industry work.</a:t>
            </a:r>
            <a:endParaRPr lang="en-US" sz="95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Regression = the label is a number. Classification = it is a category.</a:t>
            </a:r>
            <a:endParaRPr lang="en-US" sz="95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UNSUPERVISED: no answers — cluster the rows, or shrink the columns.</a:t>
            </a:r>
            <a:endParaRPr lang="en-US" sz="95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REINFORCEMENT: no answers, but the world pays you a reward.</a:t>
            </a:r>
            <a:endParaRPr lang="en-US" sz="95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A tree scored R² = 1.000 on its training data and −0.628 on new data.</a:t>
            </a:r>
            <a:endParaRPr lang="en-US" sz="95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Models do arithmetic, so every word column must be ENCODED first.</a:t>
            </a:r>
            <a:endParaRPr lang="en-US" sz="95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Label-encoding a nominal column doubled the error: $11k → $23k.</a:t>
            </a:r>
            <a:endParaRPr lang="en-US" sz="95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One-hot: one yes/no column each. No false order. The safe default.</a:t>
            </a:r>
            <a:endParaRPr lang="en-US" sz="95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950" dirty="0">
                <a:solidFill>
                  <a:srgbClr val="DCE6F3"/>
                </a:solidFill>
                <a:latin typeface="Calibri" pitchFamily="34" charset="0"/>
                <a:ea typeface="Calibri" pitchFamily="34" charset="-122"/>
                <a:cs typeface="Calibri" pitchFamily="34" charset="-120"/>
              </a:rPr>
              <a:t>⚠ Split FIRST, then fit encoders on train only — or your score is a lie.</a:t>
            </a:r>
            <a:endParaRPr lang="en-US" sz="95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658368"/>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Take your Day 21 dataset: list every column and label it numeric / nominal / ordinal  ·  say what a supervised problem on it would predict, and whether that is regression or classification  ·  run prepare() on it and report the shape before and after</a:t>
            </a:r>
            <a:endParaRPr lang="en-US" sz="9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93776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Topics 3.3 + 3.4</a:t>
            </a:r>
            <a:endParaRPr lang="en-US" sz="1300" dirty="0"/>
          </a:p>
        </p:txBody>
      </p:sp>
      <p:sp>
        <p:nvSpPr>
          <p:cNvPr id="47" name="Text 45"/>
          <p:cNvSpPr txBox="1"/>
          <p:nvPr/>
        </p:nvSpPr>
        <p:spPr>
          <a:xfrm>
            <a:off x="6492240" y="5632704"/>
            <a:ext cx="4892040" cy="658368"/>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Feature scaling, and feature engineering. Why a column measured in thousands drowns out one measured in units, what to do about it, and how to build features that are not in the data you were given.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31 - Intro to Machine Learning</dc:title>
  <dc:subject>PptxGenJS Presentation</dc:subject>
  <dc:creator>Data Science Program</dc:creator>
  <cp:lastModifiedBy>Data Science Program</cp:lastModifiedBy>
  <cp:revision>1</cp:revision>
  <dcterms:created xsi:type="dcterms:W3CDTF">2026-10-18T04:42:07Z</dcterms:created>
  <dcterms:modified xsi:type="dcterms:W3CDTF">2026-10-18T04:42:07Z</dcterms:modified>
</cp:coreProperties>
</file>