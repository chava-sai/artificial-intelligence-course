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19. The chip saying 'zero free choices' is the theme: dropping, filling and deduplicating all change your data, and the job is to know what each one costs rather than to find the correct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link explicit: an unmatched left join produced NaNs, and a duplicate key produced repeated rows. Today is the clean-up.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red sections are about honesty rather than syntax. The syntax here is easy; the judgement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want a rule for what to do with missing data. There is not one. Giving them the habit of documenting the choice is far more useful than a fake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missing-at-random question is the one that separates careful analysis from careless. Comparing the two groups takes one line and often reveals the pattern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dtype clue is the most reliable one: if a column you expect to be numeric came in as text, something non-numeric is in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dropna(subset=...) is almost always better than a bare dropna(). Students reach for the bare version and lose far more than they intended.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ffill-on-unsorted-data mistake is common and completely invisible in the output. Make them say out loud what the row order means before using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is the heart of the session. Run it live and let them see the std drop. It is the clearest evidence that filling is not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at the duplicates before dropping them is the step students skip. Conflicting copies often reveal a real data problem upstream.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ordering point is the one students have never considered. Two defensible pipelines, different row counts. Normalise before deduplicating, always.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 8 is the pandas-wide rule: methods return copies. Students run dropna, print the frame, and wonder why nothing happened.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'receipt' framing works well. A cleaning step nobody can reconstruct is a cleaning step nobody can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rule turns cleaning from a mechanical task into an analytical one, which is the point of the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twelve lines aloud. Tomorrow's outliers are the same judgement problem again: a value that looks wrong may be the most important one in the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D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A2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DATA SCIENCE  ·  MODULE 1  ·  TOPIC 1.18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Duplicates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—  every choice has a cost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4626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min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+ live code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66160" y="452628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67328" y="4626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min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767328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notebook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09360" y="452628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0528" y="4626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choices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98280" y="1371600"/>
            <a:ext cx="25146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0" descr="/home/claude/day19/b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1737360"/>
            <a:ext cx="1911096" cy="178308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98280" y="3977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University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5806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&amp; presented by  </a:t>
            </a:r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 ·  5 MINUTES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we start — five questions from Day 18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46504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7393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merge's default how?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77393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 —  a silent filter.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14016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587752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61518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merge ADD rows?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61518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Duplicate keys multiply them.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55264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429000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45643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indicator=True give?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34564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/ left_only / right_only.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09651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270248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29768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my int column become float?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429768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unmatched row put a NaN in it.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111496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111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13892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concat(axis=1) matches on what?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513892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  —  not a key.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8521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Yesterday's merges CREATED missing values and duplicate rows. Today is about what to do with them.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today's two hours are structured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39112"/>
            <a:ext cx="420624" cy="420624"/>
          </a:xfrm>
          <a:prstGeom prst="ellipse">
            <a:avLst/>
          </a:prstGeom>
          <a:solidFill>
            <a:srgbClr val="E8674C"/>
          </a:solidFill>
          <a:ln w="12700">
            <a:solidFill>
              <a:srgbClr val="E867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8745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what is missing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2402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gaps isna() cannot see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9672" y="203911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9672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18745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22402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dropna, and when it is honest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364992"/>
            <a:ext cx="420624" cy="420624"/>
          </a:xfrm>
          <a:prstGeom prst="ellipse">
            <a:avLst/>
          </a:prstGeom>
          <a:solidFill>
            <a:srgbClr val="E8674C"/>
          </a:solidFill>
          <a:ln w="12700">
            <a:solidFill>
              <a:srgbClr val="E8674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200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566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fillna, ffill, interpolate — and the cost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301752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19672" y="336499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19672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3200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3566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Exact, partial, and fuzzy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42416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34340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4672" y="4690872"/>
            <a:ext cx="420624" cy="420624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4526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build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1417320" y="4892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cleaning pipeline that reports itself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709160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63640" y="434340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519672" y="4690872"/>
            <a:ext cx="420624" cy="42062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19672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0" y="4526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notebook</a:t>
            </a:r>
            <a:endParaRPr lang="en-US" sz="1550" dirty="0"/>
          </a:p>
        </p:txBody>
      </p:sp>
      <p:sp>
        <p:nvSpPr>
          <p:cNvPr id="39" name="Text 37"/>
          <p:cNvSpPr txBox="1"/>
          <p:nvPr/>
        </p:nvSpPr>
        <p:spPr>
          <a:xfrm>
            <a:off x="7132320" y="4892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code, I walk around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10424160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is red because the worst missing values are the ones that do not look missing. Section 3 because filling always distorts something.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will be able 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missing values, including the ones disguised as data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10712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66744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66744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66744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66744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between dropping and filling, and justify it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28816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28816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28816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28816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your cleaning did to the mean, the spread and the row count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34856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90888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90888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390888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390888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exact and near-duplicate rows safely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70916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68680" y="4864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neutral option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519379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rows loses information and can bias what remains. Filling invents numbers that were never measured. Leaving gaps makes every later step harder. All three are legitimate; none is free. The professional skill is not picking the right one — it is stating which you picked, why, and what it cost.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What Is Missing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what isna() cannot see  ·  20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commands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Disguised missing values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na_values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·  FINDING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commands, run on every new dataset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108960"/>
                <a:gridCol w="46634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df.isna().sum()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count per column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headline number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df.isna().mean()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PROPORTION per column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missing of 10 is very different from 5 of 10,000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df.isna().any(axis=1).sum()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with any 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rows a dropna() would remove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337560"/>
            <a:ext cx="5486400" cy="2514600"/>
          </a:xfrm>
          <a:prstGeom prst="roundRect">
            <a:avLst>
              <a:gd name="adj" fmla="val 3273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4672" y="3483864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proportion, not just the count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04672" y="3840480"/>
            <a:ext cx="4983480" cy="1005840"/>
          </a:xfrm>
          <a:prstGeom prst="roundRect">
            <a:avLst>
              <a:gd name="adj" fmla="val 6364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9264" y="3950208"/>
            <a:ext cx="4654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   0.20      one in five  — fillable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   0.60      most of it   — probably drop the COLUMN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   0.00      clean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498348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 that is 60% empty rarely deserves to be filled. Filling it would mean inventing more data than you measured, and every later model would be learning your assumption rather than the world.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3337560"/>
            <a:ext cx="530352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565392" y="3483864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missing at random?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565392" y="38404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deciding what to do, ask WHY the values are missing. If high earners skip the salary question, dropping those rows removes the high earners and your average falls — the gap is not random, so neither is the damage.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565392" y="4800600"/>
            <a:ext cx="4800600" cy="777240"/>
          </a:xfrm>
          <a:prstGeom prst="roundRect">
            <a:avLst>
              <a:gd name="adj" fmla="val 823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29984" y="4910328"/>
            <a:ext cx="44714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compare the rows WITH and WITHOUT the gap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df[df["salary"].isna()]["dept"].value_counts()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df[df["salary"].notna()]["dept"].value_counts()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·  DISGUISED MISSING VALUES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gaps isna() cannot see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400800" cy="2743200"/>
          </a:xfrm>
          <a:prstGeom prst="roundRect">
            <a:avLst>
              <a:gd name="adj" fmla="val 3000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585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These are all “missing” — and none are NaN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03120"/>
            <a:ext cx="384048" cy="292608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2728" y="2103120"/>
            <a:ext cx="1353312" cy="292608"/>
          </a:xfrm>
          <a:prstGeom prst="rect">
            <a:avLst/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52728" y="210312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24328" y="2103120"/>
            <a:ext cx="1353312" cy="292608"/>
          </a:xfrm>
          <a:prstGeom prst="rect">
            <a:avLst/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24328" y="210312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995928" y="2103120"/>
            <a:ext cx="1353312" cy="292608"/>
          </a:xfrm>
          <a:prstGeom prst="rect">
            <a:avLst/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95928" y="210312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367528" y="2103120"/>
            <a:ext cx="1353312" cy="292608"/>
          </a:xfrm>
          <a:prstGeom prst="rect">
            <a:avLst/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67528" y="210312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68680" y="2414016"/>
            <a:ext cx="384048" cy="292608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241401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252728" y="2414016"/>
            <a:ext cx="13533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52728" y="2414016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624328" y="2414016"/>
            <a:ext cx="13533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24328" y="2414016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995928" y="2414016"/>
            <a:ext cx="13533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95928" y="2414016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67528" y="2414016"/>
            <a:ext cx="13533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367528" y="2414016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68680" y="2724912"/>
            <a:ext cx="384048" cy="292608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8680" y="272491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252728" y="2724912"/>
            <a:ext cx="13533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252728" y="272491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624328" y="2724912"/>
            <a:ext cx="1353312" cy="292608"/>
          </a:xfrm>
          <a:prstGeom prst="rect">
            <a:avLst/>
          </a:prstGeom>
          <a:solidFill>
            <a:srgbClr val="FFF1C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24328" y="272491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-999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995928" y="2724912"/>
            <a:ext cx="13533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995928" y="272491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67528" y="2724912"/>
            <a:ext cx="1353312" cy="292608"/>
          </a:xfrm>
          <a:prstGeom prst="rect">
            <a:avLst/>
          </a:prstGeom>
          <a:solidFill>
            <a:srgbClr val="FFF1C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367528" y="272491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N/A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68680" y="3035808"/>
            <a:ext cx="384048" cy="292608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68680" y="303580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252728" y="3035808"/>
            <a:ext cx="13533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252728" y="303580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624328" y="3035808"/>
            <a:ext cx="13533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624328" y="303580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995928" y="3035808"/>
            <a:ext cx="1353312" cy="292608"/>
          </a:xfrm>
          <a:prstGeom prst="rect">
            <a:avLst/>
          </a:prstGeom>
          <a:solidFill>
            <a:srgbClr val="FBE3DC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995928" y="303580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367528" y="3035808"/>
            <a:ext cx="13533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367528" y="303580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Delhi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68680" y="3346704"/>
            <a:ext cx="384048" cy="292608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68680" y="334670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252728" y="3346704"/>
            <a:ext cx="13533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252728" y="3346704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Neha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624328" y="3346704"/>
            <a:ext cx="13533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624328" y="3346704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995928" y="3346704"/>
            <a:ext cx="1353312" cy="292608"/>
          </a:xfrm>
          <a:prstGeom prst="rect">
            <a:avLst/>
          </a:prstGeom>
          <a:solidFill>
            <a:srgbClr val="FFF1C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995928" y="3346704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367528" y="3346704"/>
            <a:ext cx="13533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367528" y="3346704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68680" y="3584448"/>
            <a:ext cx="5852160" cy="548640"/>
          </a:xfrm>
          <a:prstGeom prst="roundRect">
            <a:avLst>
              <a:gd name="adj" fmla="val 116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033272" y="3694176"/>
            <a:ext cx="5522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df.isna().sum()   -&gt;   age 0    score 1    city 1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it found ONE of the four. -999, N/A and unknown are just data.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223760" y="1572768"/>
            <a:ext cx="4389120" cy="2743200"/>
          </a:xfrm>
          <a:prstGeom prst="roundRect">
            <a:avLst>
              <a:gd name="adj" fmla="val 300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59" name="Text 57"/>
          <p:cNvSpPr txBox="1"/>
          <p:nvPr/>
        </p:nvSpPr>
        <p:spPr>
          <a:xfrm>
            <a:off x="7479792" y="1719072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fix, at read time</a:t>
            </a:r>
            <a:endParaRPr lang="en-US" sz="1450" dirty="0"/>
          </a:p>
        </p:txBody>
      </p:sp>
      <p:sp>
        <p:nvSpPr>
          <p:cNvPr id="60" name="Shape 58"/>
          <p:cNvSpPr/>
          <p:nvPr/>
        </p:nvSpPr>
        <p:spPr>
          <a:xfrm>
            <a:off x="7479792" y="2084832"/>
            <a:ext cx="3886200" cy="1005840"/>
          </a:xfrm>
          <a:prstGeom prst="roundRect">
            <a:avLst>
              <a:gd name="adj" fmla="val 6364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644384" y="2194560"/>
            <a:ext cx="35570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pd.read_csv(path, na_values=[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"-999", "N/A", "unknown",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"", "-", "missing"])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7479792" y="320040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isna() finds all four — and a bonus: the score column becomes float64 instead of text, because the word “unknown” was what forced it to be a string in the first place.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48640" y="443484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4" name="Text 62"/>
          <p:cNvSpPr txBox="1"/>
          <p:nvPr/>
        </p:nvSpPr>
        <p:spPr>
          <a:xfrm>
            <a:off x="868680" y="45811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spot them before they bite</a:t>
            </a:r>
            <a:endParaRPr lang="en-US" sz="1450" dirty="0"/>
          </a:p>
        </p:txBody>
      </p:sp>
      <p:sp>
        <p:nvSpPr>
          <p:cNvPr id="65" name="Shape 63"/>
          <p:cNvSpPr/>
          <p:nvPr/>
        </p:nvSpPr>
        <p:spPr>
          <a:xfrm>
            <a:off x="868680" y="4892040"/>
            <a:ext cx="5212080" cy="822960"/>
          </a:xfrm>
          <a:prstGeom prst="roundRect">
            <a:avLst>
              <a:gd name="adj" fmla="val 7778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033272" y="5001768"/>
            <a:ext cx="4882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df["city"].value_counts()      look for odd entries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df["age"].describe()           a min of -999 is a flag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df.dtypes                      text where you expected numbers</a:t>
            </a:r>
            <a:endParaRPr lang="en-US" sz="950" dirty="0"/>
          </a:p>
        </p:txBody>
      </p:sp>
      <p:sp>
        <p:nvSpPr>
          <p:cNvPr id="67" name="Text 65"/>
          <p:cNvSpPr txBox="1"/>
          <p:nvPr/>
        </p:nvSpPr>
        <p:spPr>
          <a:xfrm>
            <a:off x="6400800" y="4873752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numeric column stored as text almost always means a sentinel value is hiding in it. A minimum of -999, or a maximum of 9999, is a placeholder somebody chose decades ago. Run value_counts and describe on every column before you trust any of them.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Dropping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removing rows is honest  ·  15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how, thresh, subset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·  DROPPING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dropna — and the arguments that make it precise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9319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it when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df.dropna()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row with ANY 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rarely — it is the bluntest option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df.dropna(how="all")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completely empty 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safe; a good first 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df.dropna(subset=["salary"])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missing THAT column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usual choice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df.dropna(thresh=3)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with fewer than 3 real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rows need a minimum of evidence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df.dropna(axis=1)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COLUMNS with any 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a column is mostly empty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251960"/>
            <a:ext cx="5486400" cy="1645920"/>
          </a:xfrm>
          <a:prstGeom prst="roundRect">
            <a:avLst>
              <a:gd name="adj" fmla="val 5000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4672" y="4352544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dropna() is greedier than it looks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04672" y="4709160"/>
            <a:ext cx="4983480" cy="731520"/>
          </a:xfrm>
          <a:prstGeom prst="roundRect">
            <a:avLst>
              <a:gd name="adj" fmla="val 875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9264" y="4818888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rows, one gap in column a, three in column b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df.dropna()        -&gt;  2 rows survive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548640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gap anywhere removes the whole row, including the columns that were perfectly fine.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09360" y="4251960"/>
            <a:ext cx="5303520" cy="1645920"/>
          </a:xfrm>
          <a:prstGeom prst="roundRect">
            <a:avLst>
              <a:gd name="adj" fmla="val 500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565392" y="4352544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dropping IS the right answer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4681728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few rows affected, and they look random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column is the thing you are measuring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report how many you removed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Filling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fill distorts something  ·  25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fillna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ffill &amp; interpolate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the cost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·  fillna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ways to fill a gap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46634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Puts 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fillna(0)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counts, where missing truly means 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fillna(s.mean())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roughly symmetric numeric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fillna(s.median())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middle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skewed data, or data with outliers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s.ffill()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previous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 data: sensor readings, prices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s.interpolate()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value on the line between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 numeric series over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251960"/>
            <a:ext cx="5760720" cy="1645920"/>
          </a:xfrm>
          <a:prstGeom prst="roundRect">
            <a:avLst>
              <a:gd name="adj" fmla="val 5000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4672" y="4352544"/>
            <a:ext cx="5212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fillna(0) is almost never right for a measurement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04672" y="4709160"/>
            <a:ext cx="5257800" cy="658368"/>
          </a:xfrm>
          <a:prstGeom prst="roundRect">
            <a:avLst>
              <a:gd name="adj" fmla="val 9722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9264" y="4818888"/>
            <a:ext cx="4928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[10, 20, NaN, 40, 50]      true mean 30.0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fillna(0)                  mean 24.0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5413248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temperature is not 0 degrees. A missing salary is not an unpaid employee. Zero is a VALUE, and inserting it changes the answer.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583680" y="4251960"/>
            <a:ext cx="5029200" cy="164592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839712" y="4352544"/>
            <a:ext cx="4480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ffill assumes an ORDER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6839712" y="4681728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Carrying the previous value forward only makes sense if the rows are in a meaningful sequence — by date, by time, by reading number. On a table sorted alphabetically by name, ffill copies one stranger's data onto another. Sort first, or do not use it.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·  THE COST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what your filling did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five numbers, filled three ways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2066544"/>
            <a:ext cx="4937760" cy="457200"/>
          </a:xfrm>
          <a:prstGeom prst="roundRect">
            <a:avLst>
              <a:gd name="adj" fmla="val 140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7552" y="2176272"/>
            <a:ext cx="4608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[10, 20, NaN, 40, 50]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578608"/>
          <a:ext cx="10515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1371600"/>
                <a:gridCol w="822960"/>
                <a:gridCol w="484632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honest, but 4 of 5 values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fillna(mean)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held, SPREAD SHRANK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fillna(0)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mean is now wrong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interpolate()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guessed 30 — here, correctly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4343400"/>
            <a:ext cx="5760720" cy="1508760"/>
          </a:xfrm>
          <a:prstGeom prst="roundRect">
            <a:avLst>
              <a:gd name="adj" fmla="val 5455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04672" y="4480560"/>
            <a:ext cx="5212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Mean-filling shrinks the spread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04672" y="4809744"/>
            <a:ext cx="5257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filled value sits exactly at the centre, so it adds no variation at all. The standard deviation fell from 18.26 to 15.81 — the data now looks MORE consistent than it really is, and any model trained on it will be overconfident.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583680" y="4343400"/>
            <a:ext cx="5029200" cy="1508760"/>
          </a:xfrm>
          <a:prstGeom prst="roundRect">
            <a:avLst>
              <a:gd name="adj" fmla="val 5455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839712" y="4480560"/>
            <a:ext cx="4480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lines to print every time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839712" y="4809744"/>
            <a:ext cx="4526280" cy="777240"/>
          </a:xfrm>
          <a:prstGeom prst="roundRect">
            <a:avLst>
              <a:gd name="adj" fmla="val 823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004304" y="4919472"/>
            <a:ext cx="41970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before: mean, std, count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: mean, std, count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filled: how many, with what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839712" y="563270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cannot state those numbers, you do not know what you did.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Exact, partial, and fuzzy  ·  20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&amp; keep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·  DUPLICATES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and removing duplicate rows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03504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10512"/>
            <a:ext cx="384048" cy="274320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2728" y="1810512"/>
            <a:ext cx="1307592" cy="274320"/>
          </a:xfrm>
          <a:prstGeom prst="rect">
            <a:avLst/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52728" y="1810512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78608" y="1810512"/>
            <a:ext cx="1307592" cy="274320"/>
          </a:xfrm>
          <a:prstGeom prst="rect">
            <a:avLst/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78608" y="1810512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904488" y="1810512"/>
            <a:ext cx="1307592" cy="274320"/>
          </a:xfrm>
          <a:prstGeom prst="rect">
            <a:avLst/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04488" y="1810512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68680" y="2103120"/>
            <a:ext cx="384048" cy="274320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210312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252728" y="2103120"/>
            <a:ext cx="13075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52728" y="2103120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78608" y="2103120"/>
            <a:ext cx="13075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578608" y="2103120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904488" y="2103120"/>
            <a:ext cx="13075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04488" y="2103120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68680" y="2395728"/>
            <a:ext cx="384048" cy="274320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239572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252728" y="2395728"/>
            <a:ext cx="13075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252728" y="2395728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78608" y="2395728"/>
            <a:ext cx="13075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578608" y="2395728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904488" y="2395728"/>
            <a:ext cx="13075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904488" y="2395728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68680" y="2688336"/>
            <a:ext cx="384048" cy="274320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8680" y="268833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252728" y="2688336"/>
            <a:ext cx="1307592" cy="274320"/>
          </a:xfrm>
          <a:prstGeom prst="rect">
            <a:avLst/>
          </a:prstGeom>
          <a:solidFill>
            <a:srgbClr val="FFF1C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252728" y="2688336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578608" y="2688336"/>
            <a:ext cx="1307592" cy="274320"/>
          </a:xfrm>
          <a:prstGeom prst="rect">
            <a:avLst/>
          </a:prstGeom>
          <a:solidFill>
            <a:srgbClr val="FFF1C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578608" y="2688336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904488" y="2688336"/>
            <a:ext cx="1307592" cy="274320"/>
          </a:xfrm>
          <a:prstGeom prst="rect">
            <a:avLst/>
          </a:prstGeom>
          <a:solidFill>
            <a:srgbClr val="FFF1C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904488" y="2688336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68680" y="2980944"/>
            <a:ext cx="384048" cy="274320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68680" y="298094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252728" y="2980944"/>
            <a:ext cx="13075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252728" y="2980944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578608" y="2980944"/>
            <a:ext cx="13075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578608" y="2980944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904488" y="2980944"/>
            <a:ext cx="13075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904488" y="2980944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68680" y="3273552"/>
            <a:ext cx="384048" cy="274320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68680" y="327355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252728" y="3273552"/>
            <a:ext cx="1307592" cy="274320"/>
          </a:xfrm>
          <a:prstGeom prst="rect">
            <a:avLst/>
          </a:prstGeom>
          <a:solidFill>
            <a:srgbClr val="FBE3DC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252728" y="3273552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578608" y="3273552"/>
            <a:ext cx="1307592" cy="274320"/>
          </a:xfrm>
          <a:prstGeom prst="rect">
            <a:avLst/>
          </a:prstGeom>
          <a:solidFill>
            <a:srgbClr val="FBE3DC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578608" y="3273552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C-diff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904488" y="3273552"/>
            <a:ext cx="1307592" cy="274320"/>
          </a:xfrm>
          <a:prstGeom prst="rect">
            <a:avLst/>
          </a:prstGeom>
          <a:solidFill>
            <a:srgbClr val="FBE3DC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904488" y="3273552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68680" y="3520440"/>
            <a:ext cx="5486400" cy="777240"/>
          </a:xfrm>
          <a:prstGeom prst="roundRect">
            <a:avLst>
              <a:gd name="adj" fmla="val 823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33272" y="3630168"/>
            <a:ext cx="51572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        [F F True F F]   only row 2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df.drop_duplicates()   4 rows — row 2 removed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row 4 is NOT an exact duplicate: name and v differ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858000" y="1572768"/>
            <a:ext cx="4754880" cy="2743200"/>
          </a:xfrm>
          <a:prstGeom prst="roundRect">
            <a:avLst>
              <a:gd name="adj" fmla="val 300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56" name="Text 54"/>
          <p:cNvSpPr txBox="1"/>
          <p:nvPr/>
        </p:nvSpPr>
        <p:spPr>
          <a:xfrm>
            <a:off x="7114032" y="1719072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changes the question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7114032" y="2084832"/>
            <a:ext cx="4526280" cy="914400"/>
          </a:xfrm>
          <a:prstGeom prst="roundRect">
            <a:avLst>
              <a:gd name="adj" fmla="val 70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278624" y="2194560"/>
            <a:ext cx="41970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drop_duplicates()              4 rows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drop_duplicates(subset="id")   3 rows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7114032" y="310896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subset, a row counts as a duplicate only if EVERY column matches. With subset="id", id 3 appears twice, so one of them goes — and you have just silently chosen which version of C to keep.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48640" y="448056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1" name="Text 59"/>
          <p:cNvSpPr txBox="1"/>
          <p:nvPr/>
        </p:nvSpPr>
        <p:spPr>
          <a:xfrm>
            <a:off x="868680" y="46268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keep= decides WHICH copy survives</a:t>
            </a:r>
            <a:endParaRPr lang="en-US" sz="1450" dirty="0"/>
          </a:p>
        </p:txBody>
      </p:sp>
      <p:sp>
        <p:nvSpPr>
          <p:cNvPr id="62" name="Shape 60"/>
          <p:cNvSpPr/>
          <p:nvPr/>
        </p:nvSpPr>
        <p:spPr>
          <a:xfrm>
            <a:off x="868680" y="4937760"/>
            <a:ext cx="5212080" cy="731520"/>
          </a:xfrm>
          <a:prstGeom prst="roundRect">
            <a:avLst>
              <a:gd name="adj" fmla="val 875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033272" y="5047488"/>
            <a:ext cx="4882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keep="first"   the default — keeps the earliest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keep="last"    keeps the most recent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keep=False     removes ALL copies, keeping none</a:t>
            </a:r>
            <a:endParaRPr lang="en-US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6400800" y="4919472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keep="last" is often what you want for records updated over time. keep=False is for INVESTIGATING — use  df[df.duplicated(subset="id", keep=False)]  to look at every conflicting copy before deciding.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·  THE SUBTLE ONES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Near-duplicates, and why order matters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760720" cy="2514600"/>
          </a:xfrm>
          <a:prstGeom prst="roundRect">
            <a:avLst>
              <a:gd name="adj" fmla="val 3273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5212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These four are two cities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04672" y="2084832"/>
            <a:ext cx="5257800" cy="1188720"/>
          </a:xfrm>
          <a:prstGeom prst="roundRect">
            <a:avLst>
              <a:gd name="adj" fmla="val 538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194560"/>
            <a:ext cx="49286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["Pune", " pune", "PUNE", "Mumbai"]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nunique()                      -&gt;  4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str.strip().str.lower()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.nunique()           -&gt;  2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364992"/>
            <a:ext cx="5257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drop_duplicates compares strings exactly, so a leading space makes two identical cities look different. Day 15's staff.csv had exactly this.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0" y="1572768"/>
            <a:ext cx="5029200" cy="2514600"/>
          </a:xfrm>
          <a:prstGeom prst="roundRect">
            <a:avLst>
              <a:gd name="adj" fmla="val 3273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39712" y="1719072"/>
            <a:ext cx="4480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And remember the Day 15 trap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39712" y="2084832"/>
            <a:ext cx="4526280" cy="868680"/>
          </a:xfrm>
          <a:prstGeom prst="roundRect">
            <a:avLst>
              <a:gd name="adj" fmla="val 7368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04304" y="2194560"/>
            <a:ext cx="41970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str.strip().str.title()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"IT"  -&gt;  "It"      mangled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str.strip().str.lower()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"IT"  -&gt;  "it"      safe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839712" y="310896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Normalising to lower case is predictable and never invents capitalisation. Cleaning can introduce errors as easily as it removes them — always re-inspect afterwards.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11064240" cy="1600200"/>
          </a:xfrm>
          <a:prstGeom prst="roundRect">
            <a:avLst>
              <a:gd name="adj" fmla="val 5143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68680" y="43982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of your cleaning steps changes the answer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68680" y="4709160"/>
            <a:ext cx="5212080" cy="777240"/>
          </a:xfrm>
          <a:prstGeom prst="roundRect">
            <a:avLst>
              <a:gd name="adj" fmla="val 823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33272" y="4818888"/>
            <a:ext cx="48828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["Pune", " Pune", "Delhi"]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dedupe, then clean   -&gt;  3 rows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clean, then dedupe   -&gt;  2 rows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690872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Deduplicating first leaves “Pune” and “ Pune” as separate rows, because at that moment they genuinely are different strings. Normalise the text FIRST, then deduplicate. This is a real ordering rule, not a style preference — the two pipelines give different data.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corner — eight cleaning bugs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840480"/>
                <a:gridCol w="30175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wrote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df.isna().sum()  only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misses -999, "N/A", "unknown"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read_csv(na_values=[...])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df.dropna()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gap removes the whole row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dropna(subset=["col"])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df.fillna(0)  on a measurement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mean becomes wrong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fillna(median)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fillna(mean)  unreported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spread silently shrinks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 std before and after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ffill()  on unsorted rows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copies a stranger's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first, or do not use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df.drop_duplicates()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misses " Pune" vs "Pune"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 and lower FIRST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dedupe, then clean text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leaves near-duplicates behind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clean, THEN dedupe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df.dropna()  without assigning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changes — it returns a copy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 = df.dropna(...)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5955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56875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8 catches everyone at least once: almost every cleaning method RETURNS a new frame rather than changing yours.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·  MINI BUILD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 — a pipeline that reports itself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58368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783080"/>
            <a:ext cx="6080760" cy="3931920"/>
          </a:xfrm>
          <a:prstGeom prst="roundRect">
            <a:avLst>
              <a:gd name="adj" fmla="val 1628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1892808"/>
            <a:ext cx="5751576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---- 1. read, declaring the disguises up front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pd.read_csv("staff.csv",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na_values=["-999", "N/A", "unknown", ""])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= len(df)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print("rows:", start)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print(df.isna().mean().round(2))        # proportion per column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---- 2. normalise text BEFORE deduplicating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col in ["name", "dept"]: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df[col] = df[col].str.strip().str.lower()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---- 3. now duplicates are findable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dupes = df.duplicated(subset=["emp_id"], keep=False)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print("conflicting rows:\n", df[dupes])        # LOOK before dropping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df.drop_duplicates(subset=["emp_id"], keep="last")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---- 4. fill, and measure what it cost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= df["salary"].agg(["mean", "std", "count"])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df["salary"] = df["salary"].fillna(df["salary"].median())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= df["salary"].agg(["mean", "std", "count"])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print(pd.concat([before, after], axis=1,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keys=["before", "after"]).round(2))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---- 5. the receipt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print(f"{start} rows in, {len(df)} out")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406640" y="1572768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62088" y="1673352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E867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90688" y="160934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na_values first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790688" y="182880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the disguised gaps at read time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06640" y="2148840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62088" y="2249424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90688" y="218541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Proportion, not count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240487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10 differs from 5 of 10,000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2724912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62088" y="2825496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E867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90688" y="276148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Normalise, THEN dedupe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790688" y="298094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changes the answer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06640" y="3300984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62088" y="3401568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90688" y="33375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keep=False to LOOK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790688" y="355701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conflicts before dropping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06640" y="3877056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62088" y="3977640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90688" y="391363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median, not mean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790688" y="413308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when outliers exist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406640" y="4453128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62088" y="4553712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90688" y="448970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table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790688" y="470916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what the fill cost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406640" y="5029200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562088" y="5129784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90688" y="50657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receipt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790688" y="528523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pipeline ends with the count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9984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reading this output can reconstruct exactly what you did to the data. That is the standard to aim for.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TO YOU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session — 30 minutes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38528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013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output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148840"/>
            <a:ext cx="5669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Disguised gaps, dropna, fill costs, dedupe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9476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questions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715768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962656"/>
            <a:ext cx="420624" cy="420624"/>
          </a:xfrm>
          <a:prstGeom prst="ellipse">
            <a:avLst/>
          </a:prstGeom>
          <a:solidFill>
            <a:srgbClr val="E8674C"/>
          </a:solidFill>
          <a:ln w="12700">
            <a:solidFill>
              <a:srgbClr val="E867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962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8254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&amp; fix the bug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172968"/>
            <a:ext cx="5669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Zero-filling, unsorted ffill, wrong order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questions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39896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3986784"/>
            <a:ext cx="420624" cy="420624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8496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code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197096"/>
            <a:ext cx="5669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Find, drop, fill, measure, deduplicate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39959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tasks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764024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5010912"/>
            <a:ext cx="420624" cy="42062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010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4873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5221224"/>
            <a:ext cx="5669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pipeline, and a biased gap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50200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tasks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12480" y="1691640"/>
            <a:ext cx="3200400" cy="2971800"/>
          </a:xfrm>
          <a:prstGeom prst="roundRect">
            <a:avLst>
              <a:gd name="adj" fmla="val 2769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686800" y="18470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notebook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0" y="221284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E7C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Day19_Practice_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E7C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Questions.ipynb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796528" y="2926080"/>
            <a:ext cx="2651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value_counts before trusting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mean and std before/after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 hand — I am walking around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shared after class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68680" y="5120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cleaning step today must be followed by one line saying what it changed: how many rows, and what happened to the mean and spread.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9966960" y="4480560"/>
            <a:ext cx="3840480" cy="3840480"/>
          </a:xfrm>
          <a:prstGeom prst="ellipse">
            <a:avLst/>
          </a:prstGeom>
          <a:solidFill>
            <a:srgbClr val="1A2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IN TWELVE LINES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5361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neutral choice — dropping and filling both cost.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121408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1031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isna() misses -999, "N/A" and "unknown". Use na_values.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688336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26700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numeric column stored as text means a sentinel is hiding.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255264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323697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PROPORTION missing, not just the count.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WHY it is missing before deciding what to do.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389120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43708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dropna() removes a row for a gap in any column at all.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1554480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6364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39128" y="15361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dropna(subset=[...]) is almost always the better call.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640" y="2121408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39128" y="21031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fillna(0) on a measurement changes the mean. Avoid it.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63640" y="2688336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6364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739128" y="26700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fillna(mean) holds the mean but SHRINKS the spread.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63640" y="3255264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6364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739128" y="323697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ffill assumes an order — sort first, or do not use it.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63640" y="3822192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6364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739128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drop_duplicates: subset= decides what counts, keep= which survives.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63640" y="4389120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6364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739128" y="43708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text BEFORE deduplicating. The order changes the answer.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" y="5230368"/>
            <a:ext cx="5349240" cy="1097280"/>
          </a:xfrm>
          <a:prstGeom prst="roundRect">
            <a:avLst>
              <a:gd name="adj" fmla="val 7500"/>
            </a:avLst>
          </a:prstGeom>
          <a:solidFill>
            <a:srgbClr val="1E3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68680" y="5358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868680" y="5632704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messy CSV and write a cleaning pipeline that prints a receipt  ·  Fill one column three different ways and compare the mean and std each time  ·  Find a dataset where dropping the gaps biases the result, and say how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63640" y="5230368"/>
            <a:ext cx="5349240" cy="1097280"/>
          </a:xfrm>
          <a:prstGeom prst="roundRect">
            <a:avLst>
              <a:gd name="adj" fmla="val 7500"/>
            </a:avLst>
          </a:prstGeom>
          <a:solidFill>
            <a:srgbClr val="1E3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92240" y="5358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  —  Topic 1.19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492240" y="5632704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 &amp; treatment:  the 1.5 x IQR rule, z-scores, and deciding whether a strange value is an error or the finding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19 - Missing Values &amp; Duplicates</dc:title>
  <dc:subject>PptxGenJS Presentation</dc:subject>
  <dc:creator>Data Science Program</dc:creator>
  <cp:lastModifiedBy>Data Science Program</cp:lastModifiedBy>
  <cp:revision>1</cp:revision>
  <dcterms:created xsi:type="dcterms:W3CDTF">2026-10-01T11:57:49Z</dcterms:created>
  <dcterms:modified xsi:type="dcterms:W3CDTF">2026-10-01T11:57:49Z</dcterms:modified>
</cp:coreProperties>
</file>