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20 combines three topics because they belong together: you find outliers with numbers, but you UNDERSTAND them by looking. The session is deliberately brisk - depth comes in tomorrow's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them that this is compressed. Students cope well with compression when it is named; they lose confidence when they sense material is being rushed without acknowledgement.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Pointing at tomorrow helps: today is the toolkit, tomorrow is using it on something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fraud example is the one that stops students deleting outliers reflexively. In that domain the outliers ARE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61.9 versus 2.66 is the whole argument for IQR over z-score. Run it live - it surprises people who were taught z-scores as the standard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Treating without looking is the error. One printed row usually answers the question faster than any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Anscombe is the single best argument for plotting ever constructed. Show the real version in the notebook - these sketches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fig, ax from the start. Students who learn plt.plot first have to unlearn it the moment they need subplots.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are where marks are lost in the project. Make it a rule now: no unlabelled axes in anything submitted.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think they must pick one library. Saying 'draw with seaborn, adjust with matplotlib' resolves that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boxplot-as-IQR-picture link is the thread that ties the whole session together. Draw the whiskers on the board and label them Q1 - 1.5*IQR.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seaborn misreading in student projects. A bar chart of 'total sales' that silently shows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'show it to someone else' test is worth more than a style guide. Encourage pairs to swap charts during the practice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6 changed in recent pandas: corr() on a frame with text columns raises rather than quietly dropping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grid is a reusable template. Tell them to keep it - it is the opening move on any new dataset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Enforce labelling from the first chart. It is the easiest habit to build now and the hardest to add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Tomorrow is the payoff - a real dataset, from raw file to written findings, using everything built over the last six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37160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TOPICS 1.19 – 1.21</a:t>
            </a:r>
            <a:endParaRPr lang="en-US" sz="1300" dirty="0"/>
          </a:p>
        </p:txBody>
      </p:sp>
      <p:sp>
        <p:nvSpPr>
          <p:cNvPr id="5" name="Text 3"/>
          <p:cNvSpPr txBox="1"/>
          <p:nvPr/>
        </p:nvSpPr>
        <p:spPr>
          <a:xfrm>
            <a:off x="822960" y="1828800"/>
            <a:ext cx="8412480" cy="173736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Outliers,</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Matplotlib &amp; Seaborn</a:t>
            </a:r>
            <a:endParaRPr lang="en-US" sz="3600" dirty="0"/>
          </a:p>
        </p:txBody>
      </p:sp>
      <p:sp>
        <p:nvSpPr>
          <p:cNvPr id="6" name="Text 4"/>
          <p:cNvSpPr txBox="1"/>
          <p:nvPr/>
        </p:nvSpPr>
        <p:spPr>
          <a:xfrm>
            <a:off x="841248" y="3657600"/>
            <a:ext cx="8229600" cy="365760"/>
          </a:xfrm>
          <a:prstGeom prst="rect">
            <a:avLst/>
          </a:prstGeom>
          <a:noFill/>
          <a:ln/>
        </p:spPr>
        <p:txBody>
          <a:bodyPr wrap="square" lIns="0" tIns="0" rIns="0" bIns="0" rtlCol="0" anchor="ctr"/>
          <a:lstStyle/>
          <a:p>
            <a:pPr indent="0" marL="0">
              <a:buNone/>
            </a:pPr>
            <a:r>
              <a:rPr lang="en-US" sz="1700" i="1" dirty="0">
                <a:solidFill>
                  <a:srgbClr val="AFC2DC"/>
                </a:solidFill>
                <a:latin typeface="Calibri" pitchFamily="34" charset="0"/>
                <a:ea typeface="Calibri" pitchFamily="34" charset="-122"/>
                <a:cs typeface="Calibri" pitchFamily="34" charset="-120"/>
              </a:rPr>
              <a:t>Day 20  —  finding the strange values, and seeing the data</a:t>
            </a:r>
            <a:endParaRPr lang="en-US" sz="1700" dirty="0"/>
          </a:p>
        </p:txBody>
      </p:sp>
      <p:sp>
        <p:nvSpPr>
          <p:cNvPr id="7" name="Shape 5"/>
          <p:cNvSpPr/>
          <p:nvPr/>
        </p:nvSpPr>
        <p:spPr>
          <a:xfrm>
            <a:off x="822960" y="4480560"/>
            <a:ext cx="2468880" cy="960120"/>
          </a:xfrm>
          <a:prstGeom prst="roundRect">
            <a:avLst>
              <a:gd name="adj" fmla="val 8571"/>
            </a:avLst>
          </a:prstGeom>
          <a:solidFill>
            <a:srgbClr val="1E3151"/>
          </a:solidFill>
          <a:ln w="12700">
            <a:solidFill>
              <a:srgbClr val="1E3151"/>
            </a:solidFill>
            <a:prstDash val="solid"/>
          </a:ln>
        </p:spPr>
      </p:sp>
      <p:sp>
        <p:nvSpPr>
          <p:cNvPr id="8" name="Text 6"/>
          <p:cNvSpPr txBox="1"/>
          <p:nvPr/>
        </p:nvSpPr>
        <p:spPr>
          <a:xfrm>
            <a:off x="1024128" y="458114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a:t>
            </a:r>
            <a:endParaRPr lang="en-US" sz="2200" dirty="0"/>
          </a:p>
        </p:txBody>
      </p:sp>
      <p:sp>
        <p:nvSpPr>
          <p:cNvPr id="9" name="Text 7"/>
          <p:cNvSpPr txBox="1"/>
          <p:nvPr/>
        </p:nvSpPr>
        <p:spPr>
          <a:xfrm>
            <a:off x="1024128" y="498348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Topics in one session</a:t>
            </a:r>
            <a:endParaRPr lang="en-US" sz="1050" dirty="0"/>
          </a:p>
        </p:txBody>
      </p:sp>
      <p:sp>
        <p:nvSpPr>
          <p:cNvPr id="10" name="Shape 8"/>
          <p:cNvSpPr/>
          <p:nvPr/>
        </p:nvSpPr>
        <p:spPr>
          <a:xfrm>
            <a:off x="3566160" y="4480560"/>
            <a:ext cx="2468880" cy="960120"/>
          </a:xfrm>
          <a:prstGeom prst="roundRect">
            <a:avLst>
              <a:gd name="adj" fmla="val 8571"/>
            </a:avLst>
          </a:prstGeom>
          <a:solidFill>
            <a:srgbClr val="1E3151"/>
          </a:solidFill>
          <a:ln w="12700">
            <a:solidFill>
              <a:srgbClr val="1E3151"/>
            </a:solidFill>
            <a:prstDash val="solid"/>
          </a:ln>
        </p:spPr>
      </p:sp>
      <p:sp>
        <p:nvSpPr>
          <p:cNvPr id="11" name="Text 9"/>
          <p:cNvSpPr txBox="1"/>
          <p:nvPr/>
        </p:nvSpPr>
        <p:spPr>
          <a:xfrm>
            <a:off x="3767328" y="458114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12" name="Text 10"/>
          <p:cNvSpPr txBox="1"/>
          <p:nvPr/>
        </p:nvSpPr>
        <p:spPr>
          <a:xfrm>
            <a:off x="3767328" y="498348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Concepts + live code</a:t>
            </a:r>
            <a:endParaRPr lang="en-US" sz="1050" dirty="0"/>
          </a:p>
        </p:txBody>
      </p:sp>
      <p:sp>
        <p:nvSpPr>
          <p:cNvPr id="13" name="Shape 11"/>
          <p:cNvSpPr/>
          <p:nvPr/>
        </p:nvSpPr>
        <p:spPr>
          <a:xfrm>
            <a:off x="6309360" y="4480560"/>
            <a:ext cx="2468880" cy="960120"/>
          </a:xfrm>
          <a:prstGeom prst="roundRect">
            <a:avLst>
              <a:gd name="adj" fmla="val 8571"/>
            </a:avLst>
          </a:prstGeom>
          <a:solidFill>
            <a:srgbClr val="1E3151"/>
          </a:solidFill>
          <a:ln w="12700">
            <a:solidFill>
              <a:srgbClr val="1E3151"/>
            </a:solidFill>
            <a:prstDash val="solid"/>
          </a:ln>
        </p:spPr>
      </p:sp>
      <p:sp>
        <p:nvSpPr>
          <p:cNvPr id="14" name="Text 12"/>
          <p:cNvSpPr txBox="1"/>
          <p:nvPr/>
        </p:nvSpPr>
        <p:spPr>
          <a:xfrm>
            <a:off x="6510528" y="458114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5" name="Text 13"/>
          <p:cNvSpPr txBox="1"/>
          <p:nvPr/>
        </p:nvSpPr>
        <p:spPr>
          <a:xfrm>
            <a:off x="6510528" y="498348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Practice notebook</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0/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WHY TOGETHER</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Three topics, one idea</a:t>
            </a:r>
            <a:endParaRPr lang="en-US" sz="3200" dirty="0"/>
          </a:p>
        </p:txBody>
      </p:sp>
      <p:sp>
        <p:nvSpPr>
          <p:cNvPr id="5" name="Shape 3"/>
          <p:cNvSpPr/>
          <p:nvPr/>
        </p:nvSpPr>
        <p:spPr>
          <a:xfrm>
            <a:off x="548640" y="1572768"/>
            <a:ext cx="576072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They are the same job</a:t>
            </a:r>
            <a:endParaRPr lang="en-US" sz="1500" dirty="0"/>
          </a:p>
        </p:txBody>
      </p:sp>
      <p:sp>
        <p:nvSpPr>
          <p:cNvPr id="7" name="Text 5"/>
          <p:cNvSpPr txBox="1"/>
          <p:nvPr/>
        </p:nvSpPr>
        <p:spPr>
          <a:xfrm>
            <a:off x="804672" y="2103120"/>
            <a:ext cx="5257800" cy="160020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An outlier is a number that looks wrong. You FIND it with arithmetic — the IQR rule, a z-score — but you can only DECIDE about it by looking at the data. And looking at data means plotting it.</a:t>
            </a:r>
            <a:endParaRPr lang="en-US" sz="1250" dirty="0"/>
          </a:p>
          <a:p>
            <a:pPr indent="0" marL="0">
              <a:lnSpc>
                <a:spcPct val="120000"/>
              </a:lnSpc>
              <a:buNone/>
            </a:pPr>
            <a:endParaRPr lang="en-US" sz="1250" dirty="0"/>
          </a:p>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So: detect, then draw, then judge.</a:t>
            </a:r>
            <a:endParaRPr lang="en-US" sz="1250" dirty="0"/>
          </a:p>
        </p:txBody>
      </p:sp>
      <p:sp>
        <p:nvSpPr>
          <p:cNvPr id="8" name="Shape 6"/>
          <p:cNvSpPr/>
          <p:nvPr/>
        </p:nvSpPr>
        <p:spPr>
          <a:xfrm>
            <a:off x="6583680" y="1572768"/>
            <a:ext cx="5029200" cy="2286000"/>
          </a:xfrm>
          <a:prstGeom prst="roundRect">
            <a:avLst>
              <a:gd name="adj" fmla="val 36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Four questions from Day 19</a:t>
            </a:r>
            <a:endParaRPr lang="en-US" sz="1450" dirty="0"/>
          </a:p>
        </p:txBody>
      </p:sp>
      <p:sp>
        <p:nvSpPr>
          <p:cNvPr id="10" name="Text 8"/>
          <p:cNvSpPr txBox="1"/>
          <p:nvPr/>
        </p:nvSpPr>
        <p:spPr>
          <a:xfrm>
            <a:off x="6839712" y="2103120"/>
            <a:ext cx="4480560" cy="219456"/>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Does isna() find -999?</a:t>
            </a:r>
            <a:endParaRPr lang="en-US" sz="1150" dirty="0"/>
          </a:p>
        </p:txBody>
      </p:sp>
      <p:sp>
        <p:nvSpPr>
          <p:cNvPr id="11" name="Text 9"/>
          <p:cNvSpPr txBox="1"/>
          <p:nvPr/>
        </p:nvSpPr>
        <p:spPr>
          <a:xfrm>
            <a:off x="6949440" y="2304288"/>
            <a:ext cx="4389120" cy="219456"/>
          </a:xfrm>
          <a:prstGeom prst="rect">
            <a:avLst/>
          </a:prstGeom>
          <a:noFill/>
          <a:ln/>
        </p:spPr>
        <p:txBody>
          <a:bodyPr wrap="square" lIns="0" tIns="0" rIns="0" bIns="0" rtlCol="0" anchor="ctr"/>
          <a:lstStyle/>
          <a:p>
            <a:pPr indent="0" marL="0">
              <a:buNone/>
            </a:pPr>
            <a:r>
              <a:rPr lang="en-US" sz="1100" dirty="0">
                <a:solidFill>
                  <a:srgbClr val="2FA98C"/>
                </a:solidFill>
                <a:latin typeface="Calibri" pitchFamily="34" charset="0"/>
                <a:ea typeface="Calibri" pitchFamily="34" charset="-122"/>
                <a:cs typeface="Calibri" pitchFamily="34" charset="-120"/>
              </a:rPr>
              <a:t>→  No  —  use na_values.</a:t>
            </a:r>
            <a:endParaRPr lang="en-US" sz="1100" dirty="0"/>
          </a:p>
        </p:txBody>
      </p:sp>
      <p:sp>
        <p:nvSpPr>
          <p:cNvPr id="12" name="Text 10"/>
          <p:cNvSpPr txBox="1"/>
          <p:nvPr/>
        </p:nvSpPr>
        <p:spPr>
          <a:xfrm>
            <a:off x="6839712" y="2532888"/>
            <a:ext cx="4480560" cy="219456"/>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fillna(mean) does what to std?</a:t>
            </a:r>
            <a:endParaRPr lang="en-US" sz="1150" dirty="0"/>
          </a:p>
        </p:txBody>
      </p:sp>
      <p:sp>
        <p:nvSpPr>
          <p:cNvPr id="13" name="Text 11"/>
          <p:cNvSpPr txBox="1"/>
          <p:nvPr/>
        </p:nvSpPr>
        <p:spPr>
          <a:xfrm>
            <a:off x="6949440" y="2734056"/>
            <a:ext cx="4389120" cy="219456"/>
          </a:xfrm>
          <a:prstGeom prst="rect">
            <a:avLst/>
          </a:prstGeom>
          <a:noFill/>
          <a:ln/>
        </p:spPr>
        <p:txBody>
          <a:bodyPr wrap="square" lIns="0" tIns="0" rIns="0" bIns="0" rtlCol="0" anchor="ctr"/>
          <a:lstStyle/>
          <a:p>
            <a:pPr indent="0" marL="0">
              <a:buNone/>
            </a:pPr>
            <a:r>
              <a:rPr lang="en-US" sz="1100" dirty="0">
                <a:solidFill>
                  <a:srgbClr val="2FA98C"/>
                </a:solidFill>
                <a:latin typeface="Calibri" pitchFamily="34" charset="0"/>
                <a:ea typeface="Calibri" pitchFamily="34" charset="-122"/>
                <a:cs typeface="Calibri" pitchFamily="34" charset="-120"/>
              </a:rPr>
              <a:t>→  Shrinks it.</a:t>
            </a:r>
            <a:endParaRPr lang="en-US" sz="1100" dirty="0"/>
          </a:p>
        </p:txBody>
      </p:sp>
      <p:sp>
        <p:nvSpPr>
          <p:cNvPr id="14" name="Text 12"/>
          <p:cNvSpPr txBox="1"/>
          <p:nvPr/>
        </p:nvSpPr>
        <p:spPr>
          <a:xfrm>
            <a:off x="6839712" y="2962656"/>
            <a:ext cx="4480560" cy="219456"/>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Normalise or dedupe first?</a:t>
            </a:r>
            <a:endParaRPr lang="en-US" sz="1150" dirty="0"/>
          </a:p>
        </p:txBody>
      </p:sp>
      <p:sp>
        <p:nvSpPr>
          <p:cNvPr id="15" name="Text 13"/>
          <p:cNvSpPr txBox="1"/>
          <p:nvPr/>
        </p:nvSpPr>
        <p:spPr>
          <a:xfrm>
            <a:off x="6949440" y="3163824"/>
            <a:ext cx="4389120" cy="219456"/>
          </a:xfrm>
          <a:prstGeom prst="rect">
            <a:avLst/>
          </a:prstGeom>
          <a:noFill/>
          <a:ln/>
        </p:spPr>
        <p:txBody>
          <a:bodyPr wrap="square" lIns="0" tIns="0" rIns="0" bIns="0" rtlCol="0" anchor="ctr"/>
          <a:lstStyle/>
          <a:p>
            <a:pPr indent="0" marL="0">
              <a:buNone/>
            </a:pPr>
            <a:r>
              <a:rPr lang="en-US" sz="1100" dirty="0">
                <a:solidFill>
                  <a:srgbClr val="2FA98C"/>
                </a:solidFill>
                <a:latin typeface="Calibri" pitchFamily="34" charset="0"/>
                <a:ea typeface="Calibri" pitchFamily="34" charset="-122"/>
                <a:cs typeface="Calibri" pitchFamily="34" charset="-120"/>
              </a:rPr>
              <a:t>→  Normalise. Always.</a:t>
            </a:r>
            <a:endParaRPr lang="en-US" sz="1100" dirty="0"/>
          </a:p>
        </p:txBody>
      </p:sp>
      <p:sp>
        <p:nvSpPr>
          <p:cNvPr id="16" name="Text 14"/>
          <p:cNvSpPr txBox="1"/>
          <p:nvPr/>
        </p:nvSpPr>
        <p:spPr>
          <a:xfrm>
            <a:off x="6839712" y="3392424"/>
            <a:ext cx="4480560" cy="219456"/>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Why ask WHY a value is missing?</a:t>
            </a:r>
            <a:endParaRPr lang="en-US" sz="1150" dirty="0"/>
          </a:p>
        </p:txBody>
      </p:sp>
      <p:sp>
        <p:nvSpPr>
          <p:cNvPr id="17" name="Text 15"/>
          <p:cNvSpPr txBox="1"/>
          <p:nvPr/>
        </p:nvSpPr>
        <p:spPr>
          <a:xfrm>
            <a:off x="6949440" y="3593592"/>
            <a:ext cx="4389120" cy="219456"/>
          </a:xfrm>
          <a:prstGeom prst="rect">
            <a:avLst/>
          </a:prstGeom>
          <a:noFill/>
          <a:ln/>
        </p:spPr>
        <p:txBody>
          <a:bodyPr wrap="square" lIns="0" tIns="0" rIns="0" bIns="0" rtlCol="0" anchor="ctr"/>
          <a:lstStyle/>
          <a:p>
            <a:pPr indent="0" marL="0">
              <a:buNone/>
            </a:pPr>
            <a:r>
              <a:rPr lang="en-US" sz="1100" dirty="0">
                <a:solidFill>
                  <a:srgbClr val="2FA98C"/>
                </a:solidFill>
                <a:latin typeface="Calibri" pitchFamily="34" charset="0"/>
                <a:ea typeface="Calibri" pitchFamily="34" charset="-122"/>
                <a:cs typeface="Calibri" pitchFamily="34" charset="-120"/>
              </a:rPr>
              <a:t>→  The gaps may not be random.</a:t>
            </a:r>
            <a:endParaRPr lang="en-US" sz="1100" dirty="0"/>
          </a:p>
        </p:txBody>
      </p:sp>
      <p:sp>
        <p:nvSpPr>
          <p:cNvPr id="18" name="Shape 16"/>
          <p:cNvSpPr/>
          <p:nvPr/>
        </p:nvSpPr>
        <p:spPr>
          <a:xfrm>
            <a:off x="548640" y="4023360"/>
            <a:ext cx="11064240" cy="1828800"/>
          </a:xfrm>
          <a:prstGeom prst="roundRect">
            <a:avLst>
              <a:gd name="adj" fmla="val 4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9" name="Text 17"/>
          <p:cNvSpPr txBox="1"/>
          <p:nvPr/>
        </p:nvSpPr>
        <p:spPr>
          <a:xfrm>
            <a:off x="868680" y="4169664"/>
            <a:ext cx="64008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A word on today's pace</a:t>
            </a:r>
            <a:endParaRPr lang="en-US" sz="1450" dirty="0"/>
          </a:p>
        </p:txBody>
      </p:sp>
      <p:sp>
        <p:nvSpPr>
          <p:cNvPr id="20" name="Text 18"/>
          <p:cNvSpPr txBox="1"/>
          <p:nvPr/>
        </p:nvSpPr>
        <p:spPr>
          <a:xfrm>
            <a:off x="868680" y="4480560"/>
            <a:ext cx="10424160" cy="118872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Three topics in one session means we cover the essentials of each rather than everything. That is deliberate: plotting is a skill you build by doing, not by being shown every argument. You will get the core twenty per cent that handles eighty per cent of real work, and tomorrow's full EDA project is where it becomes fluent. The practice notebook is longer than usual for the same reason.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E8674C"/>
          </a:solidFill>
          <a:ln w="12700">
            <a:solidFill>
              <a:srgbClr val="E8674C"/>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Outliers</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IQR, z-scores, and what to do about them</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30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Matplotlib</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fig, ax — and the four core plots</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30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Seaborn</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Statistical plots straight from a DataFrame</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2FA98C"/>
          </a:solidFill>
          <a:ln w="12700">
            <a:solidFill>
              <a:srgbClr val="2FA98C"/>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Mini build</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 one-screen look at a new dataset</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FFC145"/>
          </a:solidFill>
          <a:ln w="12700">
            <a:solidFill>
              <a:srgbClr val="FFC145"/>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35" name="Shape 33"/>
          <p:cNvSpPr/>
          <p:nvPr/>
        </p:nvSpPr>
        <p:spPr>
          <a:xfrm>
            <a:off x="6309360" y="4343400"/>
            <a:ext cx="5440680" cy="1115568"/>
          </a:xfrm>
          <a:prstGeom prst="roundRect">
            <a:avLst>
              <a:gd name="adj" fmla="val 7377"/>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Text 34"/>
          <p:cNvSpPr txBox="1"/>
          <p:nvPr/>
        </p:nvSpPr>
        <p:spPr>
          <a:xfrm>
            <a:off x="7178040" y="4526280"/>
            <a:ext cx="365760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Tomorrow — Day 21</a:t>
            </a:r>
            <a:endParaRPr lang="en-US" sz="1400" dirty="0"/>
          </a:p>
        </p:txBody>
      </p:sp>
      <p:sp>
        <p:nvSpPr>
          <p:cNvPr id="37" name="Text 35"/>
          <p:cNvSpPr txBox="1"/>
          <p:nvPr/>
        </p:nvSpPr>
        <p:spPr>
          <a:xfrm>
            <a:off x="7178040" y="4828032"/>
            <a:ext cx="4389120" cy="548640"/>
          </a:xfrm>
          <a:prstGeom prst="rect">
            <a:avLst/>
          </a:prstGeom>
          <a:noFill/>
          <a:ln/>
        </p:spPr>
        <p:txBody>
          <a:bodyPr wrap="square" lIns="0" tIns="0" rIns="0" bIns="0" rtlCol="0" anchor="ctr"/>
          <a:lstStyle/>
          <a:p>
            <a:pPr indent="0" marL="0">
              <a:lnSpc>
                <a:spcPct val="110000"/>
              </a:lnSpc>
              <a:buNone/>
            </a:pPr>
            <a:r>
              <a:rPr lang="en-US" sz="1200" dirty="0">
                <a:solidFill>
                  <a:srgbClr val="6B7789"/>
                </a:solidFill>
                <a:latin typeface="Calibri" pitchFamily="34" charset="0"/>
                <a:ea typeface="Calibri" pitchFamily="34" charset="-122"/>
                <a:cs typeface="Calibri" pitchFamily="34" charset="-120"/>
              </a:rPr>
              <a:t>A full EDA on a real dataset: everything from Days 15 to 20, start to finish.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Outliers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Error, or the finding?  ·  30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IQR rule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Z-scores and their blind spot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Four treatments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ERROR OR FINDING?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same value, three different answers</a:t>
            </a:r>
            <a:endParaRPr lang="en-US" sz="3200" dirty="0"/>
          </a:p>
        </p:txBody>
      </p:sp>
      <p:sp>
        <p:nvSpPr>
          <p:cNvPr id="5" name="Shape 3"/>
          <p:cNvSpPr/>
          <p:nvPr/>
        </p:nvSpPr>
        <p:spPr>
          <a:xfrm>
            <a:off x="548640" y="1600200"/>
            <a:ext cx="3566160" cy="2194560"/>
          </a:xfrm>
          <a:prstGeom prst="roundRect">
            <a:avLst>
              <a:gd name="adj" fmla="val 37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828800"/>
            <a:ext cx="420624" cy="420624"/>
          </a:xfrm>
          <a:prstGeom prst="ellipse">
            <a:avLst/>
          </a:prstGeom>
          <a:solidFill>
            <a:srgbClr val="E8674C"/>
          </a:solidFill>
          <a:ln w="12700">
            <a:solidFill>
              <a:srgbClr val="E8674C"/>
            </a:solidFill>
            <a:prstDash val="solid"/>
          </a:ln>
        </p:spPr>
      </p:sp>
      <p:sp>
        <p:nvSpPr>
          <p:cNvPr id="7" name="Text 5"/>
          <p:cNvSpPr txBox="1"/>
          <p:nvPr/>
        </p:nvSpPr>
        <p:spPr>
          <a:xfrm>
            <a:off x="804672" y="1828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246888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 typo</a:t>
            </a:r>
            <a:endParaRPr lang="en-US" sz="1500" dirty="0"/>
          </a:p>
        </p:txBody>
      </p:sp>
      <p:sp>
        <p:nvSpPr>
          <p:cNvPr id="9" name="Text 7"/>
          <p:cNvSpPr txBox="1"/>
          <p:nvPr/>
        </p:nvSpPr>
        <p:spPr>
          <a:xfrm>
            <a:off x="804672" y="2423160"/>
            <a:ext cx="3063240" cy="457200"/>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A height of 1700 cm</a:t>
            </a:r>
            <a:endParaRPr lang="en-US" sz="1250" dirty="0"/>
          </a:p>
        </p:txBody>
      </p:sp>
      <p:sp>
        <p:nvSpPr>
          <p:cNvPr id="10" name="Text 8"/>
          <p:cNvSpPr txBox="1"/>
          <p:nvPr/>
        </p:nvSpPr>
        <p:spPr>
          <a:xfrm>
            <a:off x="804672" y="2926080"/>
            <a:ext cx="3063240" cy="685800"/>
          </a:xfrm>
          <a:prstGeom prst="rect">
            <a:avLst/>
          </a:prstGeom>
          <a:noFill/>
          <a:ln/>
        </p:spPr>
        <p:txBody>
          <a:bodyPr wrap="square" lIns="0" tIns="0" rIns="0" bIns="0" rtlCol="0" anchor="ctr"/>
          <a:lstStyle/>
          <a:p>
            <a:pPr indent="0" marL="0">
              <a:buNone/>
            </a:pPr>
            <a:r>
              <a:rPr lang="en-US" sz="1250" b="1" dirty="0">
                <a:solidFill>
                  <a:srgbClr val="E8674C"/>
                </a:solidFill>
                <a:latin typeface="Calibri" pitchFamily="34" charset="0"/>
                <a:ea typeface="Calibri" pitchFamily="34" charset="-122"/>
                <a:cs typeface="Calibri" pitchFamily="34" charset="-120"/>
              </a:rPr>
              <a:t>FIX or remove it — it is not real</a:t>
            </a:r>
            <a:endParaRPr lang="en-US" sz="1250" dirty="0"/>
          </a:p>
        </p:txBody>
      </p:sp>
      <p:sp>
        <p:nvSpPr>
          <p:cNvPr id="11" name="Shape 9"/>
          <p:cNvSpPr/>
          <p:nvPr/>
        </p:nvSpPr>
        <p:spPr>
          <a:xfrm>
            <a:off x="4361688" y="1600200"/>
            <a:ext cx="3566160" cy="2194560"/>
          </a:xfrm>
          <a:prstGeom prst="roundRect">
            <a:avLst>
              <a:gd name="adj" fmla="val 37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4617720" y="1828800"/>
            <a:ext cx="420624" cy="420624"/>
          </a:xfrm>
          <a:prstGeom prst="ellipse">
            <a:avLst/>
          </a:prstGeom>
          <a:solidFill>
            <a:srgbClr val="FFC145"/>
          </a:solidFill>
          <a:ln w="12700">
            <a:solidFill>
              <a:srgbClr val="FFC145"/>
            </a:solidFill>
            <a:prstDash val="solid"/>
          </a:ln>
        </p:spPr>
      </p:sp>
      <p:sp>
        <p:nvSpPr>
          <p:cNvPr id="13" name="Text 11"/>
          <p:cNvSpPr txBox="1"/>
          <p:nvPr/>
        </p:nvSpPr>
        <p:spPr>
          <a:xfrm>
            <a:off x="4617720" y="1828800"/>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230368" y="1874520"/>
            <a:ext cx="246888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 sentinel</a:t>
            </a:r>
            <a:endParaRPr lang="en-US" sz="1500" dirty="0"/>
          </a:p>
        </p:txBody>
      </p:sp>
      <p:sp>
        <p:nvSpPr>
          <p:cNvPr id="15" name="Text 13"/>
          <p:cNvSpPr txBox="1"/>
          <p:nvPr/>
        </p:nvSpPr>
        <p:spPr>
          <a:xfrm>
            <a:off x="4617720" y="2423160"/>
            <a:ext cx="3063240" cy="457200"/>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An age of -999</a:t>
            </a:r>
            <a:endParaRPr lang="en-US" sz="1250" dirty="0"/>
          </a:p>
        </p:txBody>
      </p:sp>
      <p:sp>
        <p:nvSpPr>
          <p:cNvPr id="16" name="Text 14"/>
          <p:cNvSpPr txBox="1"/>
          <p:nvPr/>
        </p:nvSpPr>
        <p:spPr>
          <a:xfrm>
            <a:off x="4617720" y="2926080"/>
            <a:ext cx="3063240" cy="685800"/>
          </a:xfrm>
          <a:prstGeom prst="rect">
            <a:avLst/>
          </a:prstGeom>
          <a:noFill/>
          <a:ln/>
        </p:spPr>
        <p:txBody>
          <a:bodyPr wrap="square" lIns="0" tIns="0" rIns="0" bIns="0" rtlCol="0" anchor="ctr"/>
          <a:lstStyle/>
          <a:p>
            <a:pPr indent="0" marL="0">
              <a:buNone/>
            </a:pPr>
            <a:r>
              <a:rPr lang="en-US" sz="1250" b="1" dirty="0">
                <a:solidFill>
                  <a:srgbClr val="8A5B00"/>
                </a:solidFill>
                <a:latin typeface="Calibri" pitchFamily="34" charset="0"/>
                <a:ea typeface="Calibri" pitchFamily="34" charset="-122"/>
                <a:cs typeface="Calibri" pitchFamily="34" charset="-120"/>
              </a:rPr>
              <a:t>Day 19: it means missing</a:t>
            </a:r>
            <a:endParaRPr lang="en-US" sz="1250" dirty="0"/>
          </a:p>
        </p:txBody>
      </p:sp>
      <p:sp>
        <p:nvSpPr>
          <p:cNvPr id="17" name="Shape 15"/>
          <p:cNvSpPr/>
          <p:nvPr/>
        </p:nvSpPr>
        <p:spPr>
          <a:xfrm>
            <a:off x="8174736" y="1600200"/>
            <a:ext cx="3566160" cy="2194560"/>
          </a:xfrm>
          <a:prstGeom prst="roundRect">
            <a:avLst>
              <a:gd name="adj" fmla="val 37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430768" y="1828800"/>
            <a:ext cx="420624" cy="420624"/>
          </a:xfrm>
          <a:prstGeom prst="ellipse">
            <a:avLst/>
          </a:prstGeom>
          <a:solidFill>
            <a:srgbClr val="2FA98C"/>
          </a:solidFill>
          <a:ln w="12700">
            <a:solidFill>
              <a:srgbClr val="2FA98C"/>
            </a:solidFill>
            <a:prstDash val="solid"/>
          </a:ln>
        </p:spPr>
      </p:sp>
      <p:sp>
        <p:nvSpPr>
          <p:cNvPr id="19" name="Text 17"/>
          <p:cNvSpPr txBox="1"/>
          <p:nvPr/>
        </p:nvSpPr>
        <p:spPr>
          <a:xfrm>
            <a:off x="8430768" y="1828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9043416" y="1874520"/>
            <a:ext cx="246888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 real extreme</a:t>
            </a:r>
            <a:endParaRPr lang="en-US" sz="1500" dirty="0"/>
          </a:p>
        </p:txBody>
      </p:sp>
      <p:sp>
        <p:nvSpPr>
          <p:cNvPr id="21" name="Text 19"/>
          <p:cNvSpPr txBox="1"/>
          <p:nvPr/>
        </p:nvSpPr>
        <p:spPr>
          <a:xfrm>
            <a:off x="8430768" y="2423160"/>
            <a:ext cx="3063240" cy="457200"/>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One customer spending 50x the rest</a:t>
            </a:r>
            <a:endParaRPr lang="en-US" sz="1250" dirty="0"/>
          </a:p>
        </p:txBody>
      </p:sp>
      <p:sp>
        <p:nvSpPr>
          <p:cNvPr id="22" name="Text 20"/>
          <p:cNvSpPr txBox="1"/>
          <p:nvPr/>
        </p:nvSpPr>
        <p:spPr>
          <a:xfrm>
            <a:off x="8430768" y="2926080"/>
            <a:ext cx="3063240" cy="685800"/>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KEEP it — it may be the finding</a:t>
            </a:r>
            <a:endParaRPr lang="en-US" sz="1250" dirty="0"/>
          </a:p>
        </p:txBody>
      </p:sp>
      <p:sp>
        <p:nvSpPr>
          <p:cNvPr id="23" name="Shape 21"/>
          <p:cNvSpPr/>
          <p:nvPr/>
        </p:nvSpPr>
        <p:spPr>
          <a:xfrm>
            <a:off x="548640" y="3977640"/>
            <a:ext cx="11064240" cy="1874520"/>
          </a:xfrm>
          <a:prstGeom prst="roundRect">
            <a:avLst>
              <a:gd name="adj" fmla="val 439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Text 22"/>
          <p:cNvSpPr txBox="1"/>
          <p:nvPr/>
        </p:nvSpPr>
        <p:spPr>
          <a:xfrm>
            <a:off x="868680" y="4123944"/>
            <a:ext cx="7315200" cy="274320"/>
          </a:xfrm>
          <a:prstGeom prst="rect">
            <a:avLst/>
          </a:prstGeom>
          <a:noFill/>
          <a:ln/>
        </p:spPr>
        <p:txBody>
          <a:bodyPr wrap="square" lIns="0" tIns="0" rIns="0" bIns="0" rtlCol="0" anchor="ctr"/>
          <a:lstStyle/>
          <a:p>
            <a:pPr indent="0" marL="0">
              <a:buNone/>
            </a:pPr>
            <a:r>
              <a:rPr lang="en-US" sz="1500" b="1" dirty="0">
                <a:solidFill>
                  <a:srgbClr val="8A5B00"/>
                </a:solidFill>
                <a:latin typeface="Calibri" pitchFamily="34" charset="0"/>
                <a:ea typeface="Calibri" pitchFamily="34" charset="-122"/>
                <a:cs typeface="Calibri" pitchFamily="34" charset="-120"/>
              </a:rPr>
              <a:t>No test can tell you which of the three you have</a:t>
            </a:r>
            <a:endParaRPr lang="en-US" sz="1500" dirty="0"/>
          </a:p>
        </p:txBody>
      </p:sp>
      <p:sp>
        <p:nvSpPr>
          <p:cNvPr id="25" name="Text 23"/>
          <p:cNvSpPr txBox="1"/>
          <p:nvPr/>
        </p:nvSpPr>
        <p:spPr>
          <a:xfrm>
            <a:off x="868680" y="4462272"/>
            <a:ext cx="10424160" cy="1188720"/>
          </a:xfrm>
          <a:prstGeom prst="rect">
            <a:avLst/>
          </a:prstGeom>
          <a:noFill/>
          <a:ln/>
        </p:spPr>
        <p:txBody>
          <a:bodyPr wrap="square" lIns="0" tIns="0" rIns="0" bIns="0" rtlCol="0" anchor="ctr"/>
          <a:lstStyle/>
          <a:p>
            <a:pPr indent="0" marL="0">
              <a:lnSpc>
                <a:spcPct val="120000"/>
              </a:lnSpc>
              <a:buNone/>
            </a:pPr>
            <a:r>
              <a:rPr lang="en-US" sz="1300" dirty="0">
                <a:solidFill>
                  <a:srgbClr val="6B4A0B"/>
                </a:solidFill>
                <a:latin typeface="Calibri" pitchFamily="34" charset="0"/>
                <a:ea typeface="Calibri" pitchFamily="34" charset="-122"/>
                <a:cs typeface="Calibri" pitchFamily="34" charset="-120"/>
              </a:rPr>
              <a:t>The IQR rule and the z-score both answer one question only: “is this value far from the others?” They cannot answer “is it wrong?” — that needs you to know what the data MEANS. A fraud detection system exists entirely to find outliers; deleting them would delete the product. The techniques below find candidates. You decide.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IQR vs Z-SCORE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Two detectors — and why one of them fails here</a:t>
            </a:r>
            <a:endParaRPr lang="en-US" sz="3200" dirty="0"/>
          </a:p>
        </p:txBody>
      </p:sp>
      <p:sp>
        <p:nvSpPr>
          <p:cNvPr id="5" name="Shape 3"/>
          <p:cNvSpPr/>
          <p:nvPr/>
        </p:nvSpPr>
        <p:spPr>
          <a:xfrm>
            <a:off x="548640" y="1572768"/>
            <a:ext cx="576072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1.5 x IQR rule  —  Day 14's bounds</a:t>
            </a:r>
            <a:endParaRPr lang="en-US" sz="1400" dirty="0"/>
          </a:p>
        </p:txBody>
      </p:sp>
      <p:sp>
        <p:nvSpPr>
          <p:cNvPr id="7" name="Shape 5"/>
          <p:cNvSpPr/>
          <p:nvPr/>
        </p:nvSpPr>
        <p:spPr>
          <a:xfrm>
            <a:off x="804672" y="2084832"/>
            <a:ext cx="5257800" cy="1463040"/>
          </a:xfrm>
          <a:prstGeom prst="roundRect">
            <a:avLst>
              <a:gd name="adj" fmla="val 4375"/>
            </a:avLst>
          </a:prstGeom>
          <a:solidFill>
            <a:srgbClr val="1B2B45"/>
          </a:solidFill>
          <a:ln w="12700">
            <a:solidFill>
              <a:srgbClr val="1B2B45"/>
            </a:solidFill>
            <a:prstDash val="solid"/>
          </a:ln>
        </p:spPr>
      </p:sp>
      <p:sp>
        <p:nvSpPr>
          <p:cNvPr id="8" name="Text 6"/>
          <p:cNvSpPr txBox="1"/>
          <p:nvPr/>
        </p:nvSpPr>
        <p:spPr>
          <a:xfrm>
            <a:off x="969264" y="2194560"/>
            <a:ext cx="4928616" cy="12435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 = [12, 15, 14, 13, 16, 15, 14, 95, 13]</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q1, q3 = d.quantile([.25, .75])    13.0  15.0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iqr    = q3 - q1                    2.0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lower  = q1 - 1.5 * iqr            10.0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upper  = q3 + 1.5 * iqr            18.0</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d[(d &lt; lower) | (d &gt; upper)]   -&gt;  [95]</a:t>
            </a:r>
            <a:endParaRPr lang="en-US" sz="950" dirty="0"/>
          </a:p>
        </p:txBody>
      </p:sp>
      <p:sp>
        <p:nvSpPr>
          <p:cNvPr id="9" name="Text 7"/>
          <p:cNvSpPr txBox="1"/>
          <p:nvPr/>
        </p:nvSpPr>
        <p:spPr>
          <a:xfrm>
            <a:off x="804672" y="3657600"/>
            <a:ext cx="5257800" cy="457200"/>
          </a:xfrm>
          <a:prstGeom prst="rect">
            <a:avLst/>
          </a:prstGeom>
          <a:noFill/>
          <a:ln/>
        </p:spPr>
        <p:txBody>
          <a:bodyPr wrap="square" lIns="0" tIns="0" rIns="0" bIns="0" rtlCol="0" anchor="ctr"/>
          <a:lstStyle/>
          <a:p>
            <a:pPr indent="0" marL="0">
              <a:buNone/>
            </a:pPr>
            <a:r>
              <a:rPr lang="en-US" sz="1150" b="1" dirty="0">
                <a:solidFill>
                  <a:srgbClr val="1C6F5C"/>
                </a:solidFill>
                <a:latin typeface="Calibri" pitchFamily="34" charset="0"/>
                <a:ea typeface="Calibri" pitchFamily="34" charset="-122"/>
                <a:cs typeface="Calibri" pitchFamily="34" charset="-120"/>
              </a:rPr>
              <a:t>Quartiles ignore the extremes, so the outlier cannot move its own bounds.</a:t>
            </a:r>
            <a:endParaRPr lang="en-US" sz="1150" dirty="0"/>
          </a:p>
        </p:txBody>
      </p:sp>
      <p:sp>
        <p:nvSpPr>
          <p:cNvPr id="10" name="Shape 8"/>
          <p:cNvSpPr/>
          <p:nvPr/>
        </p:nvSpPr>
        <p:spPr>
          <a:xfrm>
            <a:off x="6583680" y="1572768"/>
            <a:ext cx="502920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  The z-score misses it completely</a:t>
            </a:r>
            <a:endParaRPr lang="en-US" sz="1400" dirty="0"/>
          </a:p>
        </p:txBody>
      </p:sp>
      <p:sp>
        <p:nvSpPr>
          <p:cNvPr id="12" name="Shape 10"/>
          <p:cNvSpPr/>
          <p:nvPr/>
        </p:nvSpPr>
        <p:spPr>
          <a:xfrm>
            <a:off x="6839712" y="2084832"/>
            <a:ext cx="4526280" cy="1463040"/>
          </a:xfrm>
          <a:prstGeom prst="roundRect">
            <a:avLst>
              <a:gd name="adj" fmla="val 4375"/>
            </a:avLst>
          </a:prstGeom>
          <a:solidFill>
            <a:srgbClr val="1B2B45"/>
          </a:solidFill>
          <a:ln w="12700">
            <a:solidFill>
              <a:srgbClr val="1B2B45"/>
            </a:solidFill>
            <a:prstDash val="solid"/>
          </a:ln>
        </p:spPr>
      </p:sp>
      <p:sp>
        <p:nvSpPr>
          <p:cNvPr id="13" name="Text 11"/>
          <p:cNvSpPr txBox="1"/>
          <p:nvPr/>
        </p:nvSpPr>
        <p:spPr>
          <a:xfrm>
            <a:off x="7004304" y="2194560"/>
            <a:ext cx="4197096" cy="12435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z = (d - d.mean()) / d.std()</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mean 23.0   std 27.03</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max |z|  -&gt;  2.66</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the usual threshold is 3</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so 95 is NOT flagged</a:t>
            </a:r>
            <a:endParaRPr lang="en-US" sz="950" dirty="0"/>
          </a:p>
        </p:txBody>
      </p:sp>
      <p:sp>
        <p:nvSpPr>
          <p:cNvPr id="14" name="Text 12"/>
          <p:cNvSpPr txBox="1"/>
          <p:nvPr/>
        </p:nvSpPr>
        <p:spPr>
          <a:xfrm>
            <a:off x="6839712" y="3657600"/>
            <a:ext cx="4526280" cy="457200"/>
          </a:xfrm>
          <a:prstGeom prst="rect">
            <a:avLst/>
          </a:prstGeom>
          <a:noFill/>
          <a:ln/>
        </p:spPr>
        <p:txBody>
          <a:bodyPr wrap="square" lIns="0" tIns="0" rIns="0" bIns="0" rtlCol="0" anchor="ctr"/>
          <a:lstStyle/>
          <a:p>
            <a:pPr indent="0" marL="0">
              <a:buNone/>
            </a:pPr>
            <a:r>
              <a:rPr lang="en-US" sz="1150" b="1" dirty="0">
                <a:solidFill>
                  <a:srgbClr val="A63B24"/>
                </a:solidFill>
                <a:latin typeface="Calibri" pitchFamily="34" charset="0"/>
                <a:ea typeface="Calibri" pitchFamily="34" charset="-122"/>
                <a:cs typeface="Calibri" pitchFamily="34" charset="-120"/>
              </a:rPr>
              <a:t>The 95 inflated the mean AND the std, so it hid behind its own distortion.</a:t>
            </a:r>
            <a:endParaRPr lang="en-US" sz="1150" dirty="0"/>
          </a:p>
        </p:txBody>
      </p:sp>
      <p:sp>
        <p:nvSpPr>
          <p:cNvPr id="15" name="Shape 13"/>
          <p:cNvSpPr/>
          <p:nvPr/>
        </p:nvSpPr>
        <p:spPr>
          <a:xfrm>
            <a:off x="548640" y="4343400"/>
            <a:ext cx="1106424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48970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Why this happens, and what it means for your choice</a:t>
            </a:r>
            <a:endParaRPr lang="en-US" sz="1450" dirty="0"/>
          </a:p>
        </p:txBody>
      </p:sp>
      <p:sp>
        <p:nvSpPr>
          <p:cNvPr id="17" name="Text 15"/>
          <p:cNvSpPr txBox="1"/>
          <p:nvPr/>
        </p:nvSpPr>
        <p:spPr>
          <a:xfrm>
            <a:off x="868680" y="4800600"/>
            <a:ext cx="10424160" cy="91440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Against the clean data (mean 14.0, std 1.31) the 95 has a z-score of 61.9. Against the contaminated data it scores 2.66. The z-score is built from the mean and the standard deviation, and Day 14 told you both are dragged by extremes — so the very value you are hunting corrupts the detector looking for it. Use the IQR rule by default; use z-scores only when you already know the data is roughly normal and free of gross errors.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TREATMENT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things you can do — and what each costs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651760"/>
                <a:gridCol w="3566160"/>
                <a:gridCol w="484632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Keep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 nothing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every mean and std stays distorted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Remove the row</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df[df.v &lt;= upper]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loses a real observation; biases if not random</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Cap it (winsorise)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df.v.clip(lower, upper)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keeps the row, invents a value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Transform</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np.log1p(df.v)</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compresses extremes; changes the units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3794760"/>
            <a:ext cx="5760720" cy="2057400"/>
          </a:xfrm>
          <a:prstGeom prst="roundRect">
            <a:avLst>
              <a:gd name="adj" fmla="val 4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3941064"/>
            <a:ext cx="52120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Capping, with Day 13's clip()</a:t>
            </a:r>
            <a:endParaRPr lang="en-US" sz="1400" dirty="0"/>
          </a:p>
        </p:txBody>
      </p:sp>
      <p:sp>
        <p:nvSpPr>
          <p:cNvPr id="8" name="Shape 5"/>
          <p:cNvSpPr/>
          <p:nvPr/>
        </p:nvSpPr>
        <p:spPr>
          <a:xfrm>
            <a:off x="804672" y="4297680"/>
            <a:ext cx="5257800" cy="777240"/>
          </a:xfrm>
          <a:prstGeom prst="roundRect">
            <a:avLst>
              <a:gd name="adj" fmla="val 8235"/>
            </a:avLst>
          </a:prstGeom>
          <a:solidFill>
            <a:srgbClr val="1B2B45"/>
          </a:solidFill>
          <a:ln w="12700">
            <a:solidFill>
              <a:srgbClr val="1B2B45"/>
            </a:solidFill>
            <a:prstDash val="solid"/>
          </a:ln>
        </p:spPr>
      </p:sp>
      <p:sp>
        <p:nvSpPr>
          <p:cNvPr id="9" name="Text 6"/>
          <p:cNvSpPr txBox="1"/>
          <p:nvPr/>
        </p:nvSpPr>
        <p:spPr>
          <a:xfrm>
            <a:off x="969264" y="4407408"/>
            <a:ext cx="4928616" cy="5577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df["v"] = df["v"].clip(lower, upper)</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95 becomes 18.0 — the row survives</a:t>
            </a:r>
            <a:endParaRPr lang="en-US" sz="950" dirty="0"/>
          </a:p>
        </p:txBody>
      </p:sp>
      <p:sp>
        <p:nvSpPr>
          <p:cNvPr id="10" name="Text 7"/>
          <p:cNvSpPr txBox="1"/>
          <p:nvPr/>
        </p:nvSpPr>
        <p:spPr>
          <a:xfrm>
            <a:off x="804672" y="5138928"/>
            <a:ext cx="5257800" cy="640080"/>
          </a:xfrm>
          <a:prstGeom prst="rect">
            <a:avLst/>
          </a:prstGeom>
          <a:noFill/>
          <a:ln/>
        </p:spPr>
        <p:txBody>
          <a:bodyPr wrap="square" lIns="0" tIns="0" rIns="0" bIns="0" rtlCol="0" anchor="ctr"/>
          <a:lstStyle/>
          <a:p>
            <a:pPr indent="0" marL="0">
              <a:lnSpc>
                <a:spcPct val="112000"/>
              </a:lnSpc>
              <a:buNone/>
            </a:pPr>
            <a:r>
              <a:rPr lang="en-US" sz="1150" dirty="0">
                <a:solidFill>
                  <a:srgbClr val="1C6F5C"/>
                </a:solidFill>
                <a:latin typeface="Calibri" pitchFamily="34" charset="0"/>
                <a:ea typeface="Calibri" pitchFamily="34" charset="-122"/>
                <a:cs typeface="Calibri" pitchFamily="34" charset="-120"/>
              </a:rPr>
              <a:t>Often the best compromise: you keep the customer in the dataset but stop one value dominating every statistic. Say in your write-up that you capped, and at what.</a:t>
            </a:r>
            <a:endParaRPr lang="en-US" sz="1150" dirty="0"/>
          </a:p>
        </p:txBody>
      </p:sp>
      <p:sp>
        <p:nvSpPr>
          <p:cNvPr id="11" name="Shape 8"/>
          <p:cNvSpPr/>
          <p:nvPr/>
        </p:nvSpPr>
        <p:spPr>
          <a:xfrm>
            <a:off x="6583680" y="3794760"/>
            <a:ext cx="5029200" cy="2057400"/>
          </a:xfrm>
          <a:prstGeom prst="roundRect">
            <a:avLst>
              <a:gd name="adj" fmla="val 4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9"/>
          <p:cNvSpPr txBox="1"/>
          <p:nvPr/>
        </p:nvSpPr>
        <p:spPr>
          <a:xfrm>
            <a:off x="6839712" y="3941064"/>
            <a:ext cx="4480560" cy="301752"/>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The rule for all four</a:t>
            </a:r>
            <a:endParaRPr lang="en-US" sz="1400" dirty="0"/>
          </a:p>
        </p:txBody>
      </p:sp>
      <p:sp>
        <p:nvSpPr>
          <p:cNvPr id="13" name="Text 10"/>
          <p:cNvSpPr txBox="1"/>
          <p:nvPr/>
        </p:nvSpPr>
        <p:spPr>
          <a:xfrm>
            <a:off x="6839712" y="4297680"/>
            <a:ext cx="4526280" cy="118872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Never treat an outlier you have not looked at. Print the actual rows first — the value, and everything else about that record. Half the time the context tells you immediately whether it is a typo, a sentinel or a genuinely remarkable customer, and the decision makes itself.</a:t>
            </a:r>
            <a:endParaRPr lang="en-US" sz="1200" dirty="0"/>
          </a:p>
        </p:txBody>
      </p:sp>
      <p:sp>
        <p:nvSpPr>
          <p:cNvPr id="14" name="Shape 11"/>
          <p:cNvSpPr/>
          <p:nvPr/>
        </p:nvSpPr>
        <p:spPr>
          <a:xfrm>
            <a:off x="6839712" y="5486400"/>
            <a:ext cx="4526280" cy="274320"/>
          </a:xfrm>
          <a:prstGeom prst="roundRect">
            <a:avLst>
              <a:gd name="adj" fmla="val 23333"/>
            </a:avLst>
          </a:prstGeom>
          <a:solidFill>
            <a:srgbClr val="1B2B45"/>
          </a:solidFill>
          <a:ln w="12700">
            <a:solidFill>
              <a:srgbClr val="1B2B45"/>
            </a:solidFill>
            <a:prstDash val="solid"/>
          </a:ln>
        </p:spPr>
      </p:sp>
      <p:sp>
        <p:nvSpPr>
          <p:cNvPr id="15" name="Text 12"/>
          <p:cNvSpPr txBox="1"/>
          <p:nvPr/>
        </p:nvSpPr>
        <p:spPr>
          <a:xfrm>
            <a:off x="7004304" y="5596128"/>
            <a:ext cx="4197096" cy="548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df[df["v"] &gt; upper]      # LOOK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Matplotlib</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four plots you actually need  ·  30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Why plot at all</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fig, ax</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line · bar · scatter · hist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Labels &amp; saving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WHY PLOT AT ALL</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datasets. Identical statistics.</a:t>
            </a:r>
            <a:endParaRPr lang="en-US" sz="3200" dirty="0"/>
          </a:p>
        </p:txBody>
      </p:sp>
      <p:sp>
        <p:nvSpPr>
          <p:cNvPr id="5" name="Shape 3"/>
          <p:cNvSpPr/>
          <p:nvPr/>
        </p:nvSpPr>
        <p:spPr>
          <a:xfrm>
            <a:off x="548640" y="1600200"/>
            <a:ext cx="2606040" cy="2377440"/>
          </a:xfrm>
          <a:prstGeom prst="roundRect">
            <a:avLst>
              <a:gd name="adj" fmla="val 34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731520" y="1719072"/>
            <a:ext cx="2194560" cy="237744"/>
          </a:xfrm>
          <a:prstGeom prst="rect">
            <a:avLst/>
          </a:prstGeom>
          <a:noFill/>
          <a:ln/>
        </p:spPr>
        <p:txBody>
          <a:bodyPr wrap="square" lIns="0" tIns="0" rIns="0" bIns="0" rtlCol="0" anchor="ctr"/>
          <a:lstStyle/>
          <a:p>
            <a:pPr indent="0" marL="0">
              <a:buNone/>
            </a:pPr>
            <a:r>
              <a:rPr lang="en-US" sz="1150" b="1" dirty="0">
                <a:solidFill>
                  <a:srgbClr val="3E7CB1"/>
                </a:solidFill>
                <a:latin typeface="Calibri" pitchFamily="34" charset="0"/>
                <a:ea typeface="Calibri" pitchFamily="34" charset="-122"/>
                <a:cs typeface="Calibri" pitchFamily="34" charset="-120"/>
              </a:rPr>
              <a:t>dataset I</a:t>
            </a:r>
            <a:endParaRPr lang="en-US" sz="1150" dirty="0"/>
          </a:p>
        </p:txBody>
      </p:sp>
      <p:sp>
        <p:nvSpPr>
          <p:cNvPr id="7" name="Shape 5"/>
          <p:cNvSpPr/>
          <p:nvPr/>
        </p:nvSpPr>
        <p:spPr>
          <a:xfrm>
            <a:off x="777240" y="2011680"/>
            <a:ext cx="2148840" cy="1783080"/>
          </a:xfrm>
          <a:prstGeom prst="rect">
            <a:avLst/>
          </a:prstGeom>
          <a:solidFill>
            <a:srgbClr val="FFFFFF"/>
          </a:solidFill>
          <a:ln w="12700">
            <a:solidFill>
              <a:srgbClr val="D5DCE6"/>
            </a:solidFill>
            <a:prstDash val="solid"/>
          </a:ln>
        </p:spPr>
      </p:sp>
      <p:sp>
        <p:nvSpPr>
          <p:cNvPr id="8" name="Shape 6"/>
          <p:cNvSpPr/>
          <p:nvPr/>
        </p:nvSpPr>
        <p:spPr>
          <a:xfrm>
            <a:off x="2034540" y="2657246"/>
            <a:ext cx="64008" cy="64008"/>
          </a:xfrm>
          <a:prstGeom prst="ellipse">
            <a:avLst/>
          </a:prstGeom>
          <a:solidFill>
            <a:srgbClr val="3E7CB1"/>
          </a:solidFill>
          <a:ln w="12700">
            <a:solidFill>
              <a:srgbClr val="333333"/>
            </a:solidFill>
            <a:prstDash val="solid"/>
          </a:ln>
        </p:spPr>
      </p:sp>
      <p:sp>
        <p:nvSpPr>
          <p:cNvPr id="9" name="Shape 7"/>
          <p:cNvSpPr/>
          <p:nvPr/>
        </p:nvSpPr>
        <p:spPr>
          <a:xfrm>
            <a:off x="1647749" y="2924708"/>
            <a:ext cx="64008" cy="64008"/>
          </a:xfrm>
          <a:prstGeom prst="ellipse">
            <a:avLst/>
          </a:prstGeom>
          <a:solidFill>
            <a:srgbClr val="3E7CB1"/>
          </a:solidFill>
          <a:ln w="12700">
            <a:solidFill>
              <a:srgbClr val="333333"/>
            </a:solidFill>
            <a:prstDash val="solid"/>
          </a:ln>
        </p:spPr>
      </p:sp>
      <p:sp>
        <p:nvSpPr>
          <p:cNvPr id="10" name="Shape 8"/>
          <p:cNvSpPr/>
          <p:nvPr/>
        </p:nvSpPr>
        <p:spPr>
          <a:xfrm>
            <a:off x="2614727" y="2764231"/>
            <a:ext cx="64008" cy="64008"/>
          </a:xfrm>
          <a:prstGeom prst="ellipse">
            <a:avLst/>
          </a:prstGeom>
          <a:solidFill>
            <a:srgbClr val="3E7CB1"/>
          </a:solidFill>
          <a:ln w="12700">
            <a:solidFill>
              <a:srgbClr val="333333"/>
            </a:solidFill>
            <a:prstDash val="solid"/>
          </a:ln>
        </p:spPr>
      </p:sp>
      <p:sp>
        <p:nvSpPr>
          <p:cNvPr id="11" name="Shape 9"/>
          <p:cNvSpPr/>
          <p:nvPr/>
        </p:nvSpPr>
        <p:spPr>
          <a:xfrm>
            <a:off x="1841144" y="2585923"/>
            <a:ext cx="64008" cy="64008"/>
          </a:xfrm>
          <a:prstGeom prst="ellipse">
            <a:avLst/>
          </a:prstGeom>
          <a:solidFill>
            <a:srgbClr val="3E7CB1"/>
          </a:solidFill>
          <a:ln w="12700">
            <a:solidFill>
              <a:srgbClr val="333333"/>
            </a:solidFill>
            <a:prstDash val="solid"/>
          </a:ln>
        </p:spPr>
      </p:sp>
      <p:sp>
        <p:nvSpPr>
          <p:cNvPr id="12" name="Shape 10"/>
          <p:cNvSpPr/>
          <p:nvPr/>
        </p:nvSpPr>
        <p:spPr>
          <a:xfrm>
            <a:off x="2227936" y="2675077"/>
            <a:ext cx="64008" cy="64008"/>
          </a:xfrm>
          <a:prstGeom prst="ellipse">
            <a:avLst/>
          </a:prstGeom>
          <a:solidFill>
            <a:srgbClr val="3E7CB1"/>
          </a:solidFill>
          <a:ln w="12700">
            <a:solidFill>
              <a:srgbClr val="333333"/>
            </a:solidFill>
            <a:prstDash val="solid"/>
          </a:ln>
        </p:spPr>
      </p:sp>
      <p:sp>
        <p:nvSpPr>
          <p:cNvPr id="13" name="Shape 11"/>
          <p:cNvSpPr/>
          <p:nvPr/>
        </p:nvSpPr>
        <p:spPr>
          <a:xfrm>
            <a:off x="2894076" y="2336292"/>
            <a:ext cx="64008" cy="64008"/>
          </a:xfrm>
          <a:prstGeom prst="ellipse">
            <a:avLst/>
          </a:prstGeom>
          <a:solidFill>
            <a:srgbClr val="3E7CB1"/>
          </a:solidFill>
          <a:ln w="12700">
            <a:solidFill>
              <a:srgbClr val="333333"/>
            </a:solidFill>
            <a:prstDash val="solid"/>
          </a:ln>
        </p:spPr>
      </p:sp>
      <p:sp>
        <p:nvSpPr>
          <p:cNvPr id="14" name="Shape 12"/>
          <p:cNvSpPr/>
          <p:nvPr/>
        </p:nvSpPr>
        <p:spPr>
          <a:xfrm>
            <a:off x="1260958" y="2871216"/>
            <a:ext cx="64008" cy="64008"/>
          </a:xfrm>
          <a:prstGeom prst="ellipse">
            <a:avLst/>
          </a:prstGeom>
          <a:solidFill>
            <a:srgbClr val="3E7CB1"/>
          </a:solidFill>
          <a:ln w="12700">
            <a:solidFill>
              <a:srgbClr val="333333"/>
            </a:solidFill>
            <a:prstDash val="solid"/>
          </a:ln>
        </p:spPr>
      </p:sp>
      <p:sp>
        <p:nvSpPr>
          <p:cNvPr id="15" name="Shape 13"/>
          <p:cNvSpPr/>
          <p:nvPr/>
        </p:nvSpPr>
        <p:spPr>
          <a:xfrm>
            <a:off x="874166" y="3566617"/>
            <a:ext cx="64008" cy="64008"/>
          </a:xfrm>
          <a:prstGeom prst="ellipse">
            <a:avLst/>
          </a:prstGeom>
          <a:solidFill>
            <a:srgbClr val="3E7CB1"/>
          </a:solidFill>
          <a:ln w="12700">
            <a:solidFill>
              <a:srgbClr val="333333"/>
            </a:solidFill>
            <a:prstDash val="solid"/>
          </a:ln>
        </p:spPr>
      </p:sp>
      <p:sp>
        <p:nvSpPr>
          <p:cNvPr id="16" name="Shape 14"/>
          <p:cNvSpPr/>
          <p:nvPr/>
        </p:nvSpPr>
        <p:spPr>
          <a:xfrm>
            <a:off x="2421331" y="2122322"/>
            <a:ext cx="64008" cy="64008"/>
          </a:xfrm>
          <a:prstGeom prst="ellipse">
            <a:avLst/>
          </a:prstGeom>
          <a:solidFill>
            <a:srgbClr val="3E7CB1"/>
          </a:solidFill>
          <a:ln w="12700">
            <a:solidFill>
              <a:srgbClr val="333333"/>
            </a:solidFill>
            <a:prstDash val="solid"/>
          </a:ln>
        </p:spPr>
      </p:sp>
      <p:sp>
        <p:nvSpPr>
          <p:cNvPr id="17" name="Shape 15"/>
          <p:cNvSpPr/>
          <p:nvPr/>
        </p:nvSpPr>
        <p:spPr>
          <a:xfrm>
            <a:off x="1454353" y="3459632"/>
            <a:ext cx="64008" cy="64008"/>
          </a:xfrm>
          <a:prstGeom prst="ellipse">
            <a:avLst/>
          </a:prstGeom>
          <a:solidFill>
            <a:srgbClr val="3E7CB1"/>
          </a:solidFill>
          <a:ln w="12700">
            <a:solidFill>
              <a:srgbClr val="333333"/>
            </a:solidFill>
            <a:prstDash val="solid"/>
          </a:ln>
        </p:spPr>
      </p:sp>
      <p:sp>
        <p:nvSpPr>
          <p:cNvPr id="18" name="Shape 16"/>
          <p:cNvSpPr/>
          <p:nvPr/>
        </p:nvSpPr>
        <p:spPr>
          <a:xfrm>
            <a:off x="1067562" y="3263494"/>
            <a:ext cx="64008" cy="64008"/>
          </a:xfrm>
          <a:prstGeom prst="ellipse">
            <a:avLst/>
          </a:prstGeom>
          <a:solidFill>
            <a:srgbClr val="3E7CB1"/>
          </a:solidFill>
          <a:ln w="12700">
            <a:solidFill>
              <a:srgbClr val="333333"/>
            </a:solidFill>
            <a:prstDash val="solid"/>
          </a:ln>
        </p:spPr>
      </p:sp>
      <p:sp>
        <p:nvSpPr>
          <p:cNvPr id="19" name="Shape 17"/>
          <p:cNvSpPr/>
          <p:nvPr/>
        </p:nvSpPr>
        <p:spPr>
          <a:xfrm>
            <a:off x="3410712" y="1600200"/>
            <a:ext cx="2606040" cy="2377440"/>
          </a:xfrm>
          <a:prstGeom prst="roundRect">
            <a:avLst>
              <a:gd name="adj" fmla="val 34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0" name="Text 18"/>
          <p:cNvSpPr txBox="1"/>
          <p:nvPr/>
        </p:nvSpPr>
        <p:spPr>
          <a:xfrm>
            <a:off x="3593592" y="1719072"/>
            <a:ext cx="2194560" cy="237744"/>
          </a:xfrm>
          <a:prstGeom prst="rect">
            <a:avLst/>
          </a:prstGeom>
          <a:noFill/>
          <a:ln/>
        </p:spPr>
        <p:txBody>
          <a:bodyPr wrap="square" lIns="0" tIns="0" rIns="0" bIns="0" rtlCol="0" anchor="ctr"/>
          <a:lstStyle/>
          <a:p>
            <a:pPr indent="0" marL="0">
              <a:buNone/>
            </a:pPr>
            <a:r>
              <a:rPr lang="en-US" sz="1150" b="1" dirty="0">
                <a:solidFill>
                  <a:srgbClr val="FFC145"/>
                </a:solidFill>
                <a:latin typeface="Calibri" pitchFamily="34" charset="0"/>
                <a:ea typeface="Calibri" pitchFamily="34" charset="-122"/>
                <a:cs typeface="Calibri" pitchFamily="34" charset="-120"/>
              </a:rPr>
              <a:t>dataset II</a:t>
            </a:r>
            <a:endParaRPr lang="en-US" sz="1150" dirty="0"/>
          </a:p>
        </p:txBody>
      </p:sp>
      <p:sp>
        <p:nvSpPr>
          <p:cNvPr id="21" name="Shape 19"/>
          <p:cNvSpPr/>
          <p:nvPr/>
        </p:nvSpPr>
        <p:spPr>
          <a:xfrm>
            <a:off x="3639312" y="2011680"/>
            <a:ext cx="2148840" cy="1783080"/>
          </a:xfrm>
          <a:prstGeom prst="rect">
            <a:avLst/>
          </a:prstGeom>
          <a:solidFill>
            <a:srgbClr val="FFFFFF"/>
          </a:solidFill>
          <a:ln w="12700">
            <a:solidFill>
              <a:srgbClr val="D5DCE6"/>
            </a:solidFill>
            <a:prstDash val="solid"/>
          </a:ln>
        </p:spPr>
      </p:sp>
      <p:sp>
        <p:nvSpPr>
          <p:cNvPr id="22" name="Shape 20"/>
          <p:cNvSpPr/>
          <p:nvPr/>
        </p:nvSpPr>
        <p:spPr>
          <a:xfrm>
            <a:off x="4896612" y="2336292"/>
            <a:ext cx="64008" cy="64008"/>
          </a:xfrm>
          <a:prstGeom prst="ellipse">
            <a:avLst/>
          </a:prstGeom>
          <a:solidFill>
            <a:srgbClr val="FFC145"/>
          </a:solidFill>
          <a:ln w="12700">
            <a:solidFill>
              <a:srgbClr val="333333"/>
            </a:solidFill>
            <a:prstDash val="solid"/>
          </a:ln>
        </p:spPr>
      </p:sp>
      <p:sp>
        <p:nvSpPr>
          <p:cNvPr id="23" name="Shape 21"/>
          <p:cNvSpPr/>
          <p:nvPr/>
        </p:nvSpPr>
        <p:spPr>
          <a:xfrm>
            <a:off x="4509821" y="2585923"/>
            <a:ext cx="64008" cy="64008"/>
          </a:xfrm>
          <a:prstGeom prst="ellipse">
            <a:avLst/>
          </a:prstGeom>
          <a:solidFill>
            <a:srgbClr val="FFC145"/>
          </a:solidFill>
          <a:ln w="12700">
            <a:solidFill>
              <a:srgbClr val="333333"/>
            </a:solidFill>
            <a:prstDash val="solid"/>
          </a:ln>
        </p:spPr>
      </p:sp>
      <p:sp>
        <p:nvSpPr>
          <p:cNvPr id="24" name="Shape 22"/>
          <p:cNvSpPr/>
          <p:nvPr/>
        </p:nvSpPr>
        <p:spPr>
          <a:xfrm>
            <a:off x="5476799" y="2443277"/>
            <a:ext cx="64008" cy="64008"/>
          </a:xfrm>
          <a:prstGeom prst="ellipse">
            <a:avLst/>
          </a:prstGeom>
          <a:solidFill>
            <a:srgbClr val="FFC145"/>
          </a:solidFill>
          <a:ln w="12700">
            <a:solidFill>
              <a:srgbClr val="333333"/>
            </a:solidFill>
            <a:prstDash val="solid"/>
          </a:ln>
        </p:spPr>
      </p:sp>
      <p:sp>
        <p:nvSpPr>
          <p:cNvPr id="25" name="Shape 23"/>
          <p:cNvSpPr/>
          <p:nvPr/>
        </p:nvSpPr>
        <p:spPr>
          <a:xfrm>
            <a:off x="4703216" y="2425446"/>
            <a:ext cx="64008" cy="64008"/>
          </a:xfrm>
          <a:prstGeom prst="ellipse">
            <a:avLst/>
          </a:prstGeom>
          <a:solidFill>
            <a:srgbClr val="FFC145"/>
          </a:solidFill>
          <a:ln w="12700">
            <a:solidFill>
              <a:srgbClr val="333333"/>
            </a:solidFill>
            <a:prstDash val="solid"/>
          </a:ln>
        </p:spPr>
      </p:sp>
      <p:sp>
        <p:nvSpPr>
          <p:cNvPr id="26" name="Shape 24"/>
          <p:cNvSpPr/>
          <p:nvPr/>
        </p:nvSpPr>
        <p:spPr>
          <a:xfrm>
            <a:off x="5090008" y="2282800"/>
            <a:ext cx="64008" cy="64008"/>
          </a:xfrm>
          <a:prstGeom prst="ellipse">
            <a:avLst/>
          </a:prstGeom>
          <a:solidFill>
            <a:srgbClr val="FFC145"/>
          </a:solidFill>
          <a:ln w="12700">
            <a:solidFill>
              <a:srgbClr val="333333"/>
            </a:solidFill>
            <a:prstDash val="solid"/>
          </a:ln>
        </p:spPr>
      </p:sp>
      <p:sp>
        <p:nvSpPr>
          <p:cNvPr id="27" name="Shape 25"/>
          <p:cNvSpPr/>
          <p:nvPr/>
        </p:nvSpPr>
        <p:spPr>
          <a:xfrm>
            <a:off x="5756148" y="2585923"/>
            <a:ext cx="64008" cy="64008"/>
          </a:xfrm>
          <a:prstGeom prst="ellipse">
            <a:avLst/>
          </a:prstGeom>
          <a:solidFill>
            <a:srgbClr val="FFC145"/>
          </a:solidFill>
          <a:ln w="12700">
            <a:solidFill>
              <a:srgbClr val="333333"/>
            </a:solidFill>
            <a:prstDash val="solid"/>
          </a:ln>
        </p:spPr>
      </p:sp>
      <p:sp>
        <p:nvSpPr>
          <p:cNvPr id="28" name="Shape 26"/>
          <p:cNvSpPr/>
          <p:nvPr/>
        </p:nvSpPr>
        <p:spPr>
          <a:xfrm>
            <a:off x="4123030" y="3031693"/>
            <a:ext cx="64008" cy="64008"/>
          </a:xfrm>
          <a:prstGeom prst="ellipse">
            <a:avLst/>
          </a:prstGeom>
          <a:solidFill>
            <a:srgbClr val="FFC145"/>
          </a:solidFill>
          <a:ln w="12700">
            <a:solidFill>
              <a:srgbClr val="333333"/>
            </a:solidFill>
            <a:prstDash val="solid"/>
          </a:ln>
        </p:spPr>
      </p:sp>
      <p:sp>
        <p:nvSpPr>
          <p:cNvPr id="29" name="Shape 27"/>
          <p:cNvSpPr/>
          <p:nvPr/>
        </p:nvSpPr>
        <p:spPr>
          <a:xfrm>
            <a:off x="3736238" y="3762756"/>
            <a:ext cx="64008" cy="64008"/>
          </a:xfrm>
          <a:prstGeom prst="ellipse">
            <a:avLst/>
          </a:prstGeom>
          <a:solidFill>
            <a:srgbClr val="FFC145"/>
          </a:solidFill>
          <a:ln w="12700">
            <a:solidFill>
              <a:srgbClr val="333333"/>
            </a:solidFill>
            <a:prstDash val="solid"/>
          </a:ln>
        </p:spPr>
      </p:sp>
      <p:sp>
        <p:nvSpPr>
          <p:cNvPr id="30" name="Shape 28"/>
          <p:cNvSpPr/>
          <p:nvPr/>
        </p:nvSpPr>
        <p:spPr>
          <a:xfrm>
            <a:off x="5283403" y="2336292"/>
            <a:ext cx="64008" cy="64008"/>
          </a:xfrm>
          <a:prstGeom prst="ellipse">
            <a:avLst/>
          </a:prstGeom>
          <a:solidFill>
            <a:srgbClr val="FFC145"/>
          </a:solidFill>
          <a:ln w="12700">
            <a:solidFill>
              <a:srgbClr val="333333"/>
            </a:solidFill>
            <a:prstDash val="solid"/>
          </a:ln>
        </p:spPr>
      </p:sp>
      <p:sp>
        <p:nvSpPr>
          <p:cNvPr id="31" name="Shape 29"/>
          <p:cNvSpPr/>
          <p:nvPr/>
        </p:nvSpPr>
        <p:spPr>
          <a:xfrm>
            <a:off x="4316425" y="2782062"/>
            <a:ext cx="64008" cy="64008"/>
          </a:xfrm>
          <a:prstGeom prst="ellipse">
            <a:avLst/>
          </a:prstGeom>
          <a:solidFill>
            <a:srgbClr val="FFC145"/>
          </a:solidFill>
          <a:ln w="12700">
            <a:solidFill>
              <a:srgbClr val="333333"/>
            </a:solidFill>
            <a:prstDash val="solid"/>
          </a:ln>
        </p:spPr>
      </p:sp>
      <p:sp>
        <p:nvSpPr>
          <p:cNvPr id="32" name="Shape 30"/>
          <p:cNvSpPr/>
          <p:nvPr/>
        </p:nvSpPr>
        <p:spPr>
          <a:xfrm>
            <a:off x="3929634" y="3352648"/>
            <a:ext cx="64008" cy="64008"/>
          </a:xfrm>
          <a:prstGeom prst="ellipse">
            <a:avLst/>
          </a:prstGeom>
          <a:solidFill>
            <a:srgbClr val="FFC145"/>
          </a:solidFill>
          <a:ln w="12700">
            <a:solidFill>
              <a:srgbClr val="333333"/>
            </a:solidFill>
            <a:prstDash val="solid"/>
          </a:ln>
        </p:spPr>
      </p:sp>
      <p:sp>
        <p:nvSpPr>
          <p:cNvPr id="33" name="Shape 31"/>
          <p:cNvSpPr/>
          <p:nvPr/>
        </p:nvSpPr>
        <p:spPr>
          <a:xfrm>
            <a:off x="6272784" y="1600200"/>
            <a:ext cx="2606040" cy="2377440"/>
          </a:xfrm>
          <a:prstGeom prst="roundRect">
            <a:avLst>
              <a:gd name="adj" fmla="val 34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6455664" y="1719072"/>
            <a:ext cx="2194560" cy="237744"/>
          </a:xfrm>
          <a:prstGeom prst="rect">
            <a:avLst/>
          </a:prstGeom>
          <a:noFill/>
          <a:ln/>
        </p:spPr>
        <p:txBody>
          <a:bodyPr wrap="square" lIns="0" tIns="0" rIns="0" bIns="0" rtlCol="0" anchor="ctr"/>
          <a:lstStyle/>
          <a:p>
            <a:pPr indent="0" marL="0">
              <a:buNone/>
            </a:pPr>
            <a:r>
              <a:rPr lang="en-US" sz="1150" b="1" dirty="0">
                <a:solidFill>
                  <a:srgbClr val="2FA98C"/>
                </a:solidFill>
                <a:latin typeface="Calibri" pitchFamily="34" charset="0"/>
                <a:ea typeface="Calibri" pitchFamily="34" charset="-122"/>
                <a:cs typeface="Calibri" pitchFamily="34" charset="-120"/>
              </a:rPr>
              <a:t>dataset III</a:t>
            </a:r>
            <a:endParaRPr lang="en-US" sz="1150" dirty="0"/>
          </a:p>
        </p:txBody>
      </p:sp>
      <p:sp>
        <p:nvSpPr>
          <p:cNvPr id="35" name="Shape 33"/>
          <p:cNvSpPr/>
          <p:nvPr/>
        </p:nvSpPr>
        <p:spPr>
          <a:xfrm>
            <a:off x="6501384" y="2011680"/>
            <a:ext cx="2148840" cy="1783080"/>
          </a:xfrm>
          <a:prstGeom prst="rect">
            <a:avLst/>
          </a:prstGeom>
          <a:solidFill>
            <a:srgbClr val="FFFFFF"/>
          </a:solidFill>
          <a:ln w="12700">
            <a:solidFill>
              <a:srgbClr val="D5DCE6"/>
            </a:solidFill>
            <a:prstDash val="solid"/>
          </a:ln>
        </p:spPr>
      </p:sp>
      <p:sp>
        <p:nvSpPr>
          <p:cNvPr id="36" name="Shape 34"/>
          <p:cNvSpPr/>
          <p:nvPr/>
        </p:nvSpPr>
        <p:spPr>
          <a:xfrm>
            <a:off x="7758684" y="2960370"/>
            <a:ext cx="64008" cy="64008"/>
          </a:xfrm>
          <a:prstGeom prst="ellipse">
            <a:avLst/>
          </a:prstGeom>
          <a:solidFill>
            <a:srgbClr val="2FA98C"/>
          </a:solidFill>
          <a:ln w="12700">
            <a:solidFill>
              <a:srgbClr val="333333"/>
            </a:solidFill>
            <a:prstDash val="solid"/>
          </a:ln>
        </p:spPr>
      </p:sp>
      <p:sp>
        <p:nvSpPr>
          <p:cNvPr id="37" name="Shape 35"/>
          <p:cNvSpPr/>
          <p:nvPr/>
        </p:nvSpPr>
        <p:spPr>
          <a:xfrm>
            <a:off x="7371893" y="3103016"/>
            <a:ext cx="64008" cy="64008"/>
          </a:xfrm>
          <a:prstGeom prst="ellipse">
            <a:avLst/>
          </a:prstGeom>
          <a:solidFill>
            <a:srgbClr val="2FA98C"/>
          </a:solidFill>
          <a:ln w="12700">
            <a:solidFill>
              <a:srgbClr val="333333"/>
            </a:solidFill>
            <a:prstDash val="solid"/>
          </a:ln>
        </p:spPr>
      </p:sp>
      <p:sp>
        <p:nvSpPr>
          <p:cNvPr id="38" name="Shape 36"/>
          <p:cNvSpPr/>
          <p:nvPr/>
        </p:nvSpPr>
        <p:spPr>
          <a:xfrm>
            <a:off x="8338871" y="1979676"/>
            <a:ext cx="64008" cy="64008"/>
          </a:xfrm>
          <a:prstGeom prst="ellipse">
            <a:avLst/>
          </a:prstGeom>
          <a:solidFill>
            <a:srgbClr val="2FA98C"/>
          </a:solidFill>
          <a:ln w="12700">
            <a:solidFill>
              <a:srgbClr val="333333"/>
            </a:solidFill>
            <a:prstDash val="solid"/>
          </a:ln>
        </p:spPr>
      </p:sp>
      <p:sp>
        <p:nvSpPr>
          <p:cNvPr id="39" name="Shape 37"/>
          <p:cNvSpPr/>
          <p:nvPr/>
        </p:nvSpPr>
        <p:spPr>
          <a:xfrm>
            <a:off x="7565288" y="3031693"/>
            <a:ext cx="64008" cy="64008"/>
          </a:xfrm>
          <a:prstGeom prst="ellipse">
            <a:avLst/>
          </a:prstGeom>
          <a:solidFill>
            <a:srgbClr val="2FA98C"/>
          </a:solidFill>
          <a:ln w="12700">
            <a:solidFill>
              <a:srgbClr val="333333"/>
            </a:solidFill>
            <a:prstDash val="solid"/>
          </a:ln>
        </p:spPr>
      </p:sp>
      <p:sp>
        <p:nvSpPr>
          <p:cNvPr id="40" name="Shape 38"/>
          <p:cNvSpPr/>
          <p:nvPr/>
        </p:nvSpPr>
        <p:spPr>
          <a:xfrm>
            <a:off x="7952080" y="2889047"/>
            <a:ext cx="64008" cy="64008"/>
          </a:xfrm>
          <a:prstGeom prst="ellipse">
            <a:avLst/>
          </a:prstGeom>
          <a:solidFill>
            <a:srgbClr val="2FA98C"/>
          </a:solidFill>
          <a:ln w="12700">
            <a:solidFill>
              <a:srgbClr val="333333"/>
            </a:solidFill>
            <a:prstDash val="solid"/>
          </a:ln>
        </p:spPr>
      </p:sp>
      <p:sp>
        <p:nvSpPr>
          <p:cNvPr id="41" name="Shape 39"/>
          <p:cNvSpPr/>
          <p:nvPr/>
        </p:nvSpPr>
        <p:spPr>
          <a:xfrm>
            <a:off x="8618220" y="2675077"/>
            <a:ext cx="64008" cy="64008"/>
          </a:xfrm>
          <a:prstGeom prst="ellipse">
            <a:avLst/>
          </a:prstGeom>
          <a:solidFill>
            <a:srgbClr val="2FA98C"/>
          </a:solidFill>
          <a:ln w="12700">
            <a:solidFill>
              <a:srgbClr val="333333"/>
            </a:solidFill>
            <a:prstDash val="solid"/>
          </a:ln>
        </p:spPr>
      </p:sp>
      <p:sp>
        <p:nvSpPr>
          <p:cNvPr id="42" name="Shape 40"/>
          <p:cNvSpPr/>
          <p:nvPr/>
        </p:nvSpPr>
        <p:spPr>
          <a:xfrm>
            <a:off x="6985102" y="3245663"/>
            <a:ext cx="64008" cy="64008"/>
          </a:xfrm>
          <a:prstGeom prst="ellipse">
            <a:avLst/>
          </a:prstGeom>
          <a:solidFill>
            <a:srgbClr val="2FA98C"/>
          </a:solidFill>
          <a:ln w="12700">
            <a:solidFill>
              <a:srgbClr val="333333"/>
            </a:solidFill>
            <a:prstDash val="solid"/>
          </a:ln>
        </p:spPr>
      </p:sp>
      <p:sp>
        <p:nvSpPr>
          <p:cNvPr id="43" name="Shape 41"/>
          <p:cNvSpPr/>
          <p:nvPr/>
        </p:nvSpPr>
        <p:spPr>
          <a:xfrm>
            <a:off x="6598310" y="3388309"/>
            <a:ext cx="64008" cy="64008"/>
          </a:xfrm>
          <a:prstGeom prst="ellipse">
            <a:avLst/>
          </a:prstGeom>
          <a:solidFill>
            <a:srgbClr val="2FA98C"/>
          </a:solidFill>
          <a:ln w="12700">
            <a:solidFill>
              <a:srgbClr val="333333"/>
            </a:solidFill>
            <a:prstDash val="solid"/>
          </a:ln>
        </p:spPr>
      </p:sp>
      <p:sp>
        <p:nvSpPr>
          <p:cNvPr id="44" name="Shape 42"/>
          <p:cNvSpPr/>
          <p:nvPr/>
        </p:nvSpPr>
        <p:spPr>
          <a:xfrm>
            <a:off x="8145475" y="2782062"/>
            <a:ext cx="64008" cy="64008"/>
          </a:xfrm>
          <a:prstGeom prst="ellipse">
            <a:avLst/>
          </a:prstGeom>
          <a:solidFill>
            <a:srgbClr val="2FA98C"/>
          </a:solidFill>
          <a:ln w="12700">
            <a:solidFill>
              <a:srgbClr val="333333"/>
            </a:solidFill>
            <a:prstDash val="solid"/>
          </a:ln>
        </p:spPr>
      </p:sp>
      <p:sp>
        <p:nvSpPr>
          <p:cNvPr id="45" name="Shape 43"/>
          <p:cNvSpPr/>
          <p:nvPr/>
        </p:nvSpPr>
        <p:spPr>
          <a:xfrm>
            <a:off x="7178497" y="3174340"/>
            <a:ext cx="64008" cy="64008"/>
          </a:xfrm>
          <a:prstGeom prst="ellipse">
            <a:avLst/>
          </a:prstGeom>
          <a:solidFill>
            <a:srgbClr val="2FA98C"/>
          </a:solidFill>
          <a:ln w="12700">
            <a:solidFill>
              <a:srgbClr val="333333"/>
            </a:solidFill>
            <a:prstDash val="solid"/>
          </a:ln>
        </p:spPr>
      </p:sp>
      <p:sp>
        <p:nvSpPr>
          <p:cNvPr id="46" name="Shape 44"/>
          <p:cNvSpPr/>
          <p:nvPr/>
        </p:nvSpPr>
        <p:spPr>
          <a:xfrm>
            <a:off x="6791706" y="3316986"/>
            <a:ext cx="64008" cy="64008"/>
          </a:xfrm>
          <a:prstGeom prst="ellipse">
            <a:avLst/>
          </a:prstGeom>
          <a:solidFill>
            <a:srgbClr val="2FA98C"/>
          </a:solidFill>
          <a:ln w="12700">
            <a:solidFill>
              <a:srgbClr val="333333"/>
            </a:solidFill>
            <a:prstDash val="solid"/>
          </a:ln>
        </p:spPr>
      </p:sp>
      <p:sp>
        <p:nvSpPr>
          <p:cNvPr id="47" name="Shape 45"/>
          <p:cNvSpPr/>
          <p:nvPr/>
        </p:nvSpPr>
        <p:spPr>
          <a:xfrm>
            <a:off x="9134856" y="1600200"/>
            <a:ext cx="2606040" cy="2377440"/>
          </a:xfrm>
          <a:prstGeom prst="roundRect">
            <a:avLst>
              <a:gd name="adj" fmla="val 34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48" name="Text 46"/>
          <p:cNvSpPr txBox="1"/>
          <p:nvPr/>
        </p:nvSpPr>
        <p:spPr>
          <a:xfrm>
            <a:off x="9317736" y="1719072"/>
            <a:ext cx="2194560" cy="237744"/>
          </a:xfrm>
          <a:prstGeom prst="rect">
            <a:avLst/>
          </a:prstGeom>
          <a:noFill/>
          <a:ln/>
        </p:spPr>
        <p:txBody>
          <a:bodyPr wrap="square" lIns="0" tIns="0" rIns="0" bIns="0" rtlCol="0" anchor="ctr"/>
          <a:lstStyle/>
          <a:p>
            <a:pPr indent="0" marL="0">
              <a:buNone/>
            </a:pPr>
            <a:r>
              <a:rPr lang="en-US" sz="1150" b="1" dirty="0">
                <a:solidFill>
                  <a:srgbClr val="E8674C"/>
                </a:solidFill>
                <a:latin typeface="Calibri" pitchFamily="34" charset="0"/>
                <a:ea typeface="Calibri" pitchFamily="34" charset="-122"/>
                <a:cs typeface="Calibri" pitchFamily="34" charset="-120"/>
              </a:rPr>
              <a:t>dataset IV</a:t>
            </a:r>
            <a:endParaRPr lang="en-US" sz="1150" dirty="0"/>
          </a:p>
        </p:txBody>
      </p:sp>
      <p:sp>
        <p:nvSpPr>
          <p:cNvPr id="49" name="Shape 47"/>
          <p:cNvSpPr/>
          <p:nvPr/>
        </p:nvSpPr>
        <p:spPr>
          <a:xfrm>
            <a:off x="9363456" y="2011680"/>
            <a:ext cx="2148840" cy="1783080"/>
          </a:xfrm>
          <a:prstGeom prst="rect">
            <a:avLst/>
          </a:prstGeom>
          <a:solidFill>
            <a:srgbClr val="FFFFFF"/>
          </a:solidFill>
          <a:ln w="12700">
            <a:solidFill>
              <a:srgbClr val="D5DCE6"/>
            </a:solidFill>
            <a:prstDash val="solid"/>
          </a:ln>
        </p:spPr>
      </p:sp>
      <p:sp>
        <p:nvSpPr>
          <p:cNvPr id="50" name="Shape 48"/>
          <p:cNvSpPr/>
          <p:nvPr/>
        </p:nvSpPr>
        <p:spPr>
          <a:xfrm>
            <a:off x="9718243" y="3120847"/>
            <a:ext cx="64008" cy="64008"/>
          </a:xfrm>
          <a:prstGeom prst="ellipse">
            <a:avLst/>
          </a:prstGeom>
          <a:solidFill>
            <a:srgbClr val="E8674C"/>
          </a:solidFill>
          <a:ln w="12700">
            <a:solidFill>
              <a:srgbClr val="333333"/>
            </a:solidFill>
            <a:prstDash val="solid"/>
          </a:ln>
        </p:spPr>
      </p:sp>
      <p:sp>
        <p:nvSpPr>
          <p:cNvPr id="51" name="Shape 49"/>
          <p:cNvSpPr/>
          <p:nvPr/>
        </p:nvSpPr>
        <p:spPr>
          <a:xfrm>
            <a:off x="9718243" y="3281324"/>
            <a:ext cx="64008" cy="64008"/>
          </a:xfrm>
          <a:prstGeom prst="ellipse">
            <a:avLst/>
          </a:prstGeom>
          <a:solidFill>
            <a:srgbClr val="E8674C"/>
          </a:solidFill>
          <a:ln w="12700">
            <a:solidFill>
              <a:srgbClr val="333333"/>
            </a:solidFill>
            <a:prstDash val="solid"/>
          </a:ln>
        </p:spPr>
      </p:sp>
      <p:sp>
        <p:nvSpPr>
          <p:cNvPr id="52" name="Shape 50"/>
          <p:cNvSpPr/>
          <p:nvPr/>
        </p:nvSpPr>
        <p:spPr>
          <a:xfrm>
            <a:off x="9718243" y="2889047"/>
            <a:ext cx="64008" cy="64008"/>
          </a:xfrm>
          <a:prstGeom prst="ellipse">
            <a:avLst/>
          </a:prstGeom>
          <a:solidFill>
            <a:srgbClr val="E8674C"/>
          </a:solidFill>
          <a:ln w="12700">
            <a:solidFill>
              <a:srgbClr val="333333"/>
            </a:solidFill>
            <a:prstDash val="solid"/>
          </a:ln>
        </p:spPr>
      </p:sp>
      <p:sp>
        <p:nvSpPr>
          <p:cNvPr id="53" name="Shape 51"/>
          <p:cNvSpPr/>
          <p:nvPr/>
        </p:nvSpPr>
        <p:spPr>
          <a:xfrm>
            <a:off x="9718243" y="2657246"/>
            <a:ext cx="64008" cy="64008"/>
          </a:xfrm>
          <a:prstGeom prst="ellipse">
            <a:avLst/>
          </a:prstGeom>
          <a:solidFill>
            <a:srgbClr val="E8674C"/>
          </a:solidFill>
          <a:ln w="12700">
            <a:solidFill>
              <a:srgbClr val="333333"/>
            </a:solidFill>
            <a:prstDash val="solid"/>
          </a:ln>
        </p:spPr>
      </p:sp>
      <p:sp>
        <p:nvSpPr>
          <p:cNvPr id="54" name="Shape 52"/>
          <p:cNvSpPr/>
          <p:nvPr/>
        </p:nvSpPr>
        <p:spPr>
          <a:xfrm>
            <a:off x="9718243" y="2728570"/>
            <a:ext cx="64008" cy="64008"/>
          </a:xfrm>
          <a:prstGeom prst="ellipse">
            <a:avLst/>
          </a:prstGeom>
          <a:solidFill>
            <a:srgbClr val="E8674C"/>
          </a:solidFill>
          <a:ln w="12700">
            <a:solidFill>
              <a:srgbClr val="333333"/>
            </a:solidFill>
            <a:prstDash val="solid"/>
          </a:ln>
        </p:spPr>
      </p:sp>
      <p:sp>
        <p:nvSpPr>
          <p:cNvPr id="55" name="Shape 53"/>
          <p:cNvSpPr/>
          <p:nvPr/>
        </p:nvSpPr>
        <p:spPr>
          <a:xfrm>
            <a:off x="9718243" y="3013862"/>
            <a:ext cx="64008" cy="64008"/>
          </a:xfrm>
          <a:prstGeom prst="ellipse">
            <a:avLst/>
          </a:prstGeom>
          <a:solidFill>
            <a:srgbClr val="E8674C"/>
          </a:solidFill>
          <a:ln w="12700">
            <a:solidFill>
              <a:srgbClr val="333333"/>
            </a:solidFill>
            <a:prstDash val="solid"/>
          </a:ln>
        </p:spPr>
      </p:sp>
      <p:sp>
        <p:nvSpPr>
          <p:cNvPr id="56" name="Shape 54"/>
          <p:cNvSpPr/>
          <p:nvPr/>
        </p:nvSpPr>
        <p:spPr>
          <a:xfrm>
            <a:off x="9718243" y="3388309"/>
            <a:ext cx="64008" cy="64008"/>
          </a:xfrm>
          <a:prstGeom prst="ellipse">
            <a:avLst/>
          </a:prstGeom>
          <a:solidFill>
            <a:srgbClr val="E8674C"/>
          </a:solidFill>
          <a:ln w="12700">
            <a:solidFill>
              <a:srgbClr val="333333"/>
            </a:solidFill>
            <a:prstDash val="solid"/>
          </a:ln>
        </p:spPr>
      </p:sp>
      <p:sp>
        <p:nvSpPr>
          <p:cNvPr id="57" name="Shape 55"/>
          <p:cNvSpPr/>
          <p:nvPr/>
        </p:nvSpPr>
        <p:spPr>
          <a:xfrm>
            <a:off x="11480292" y="1997507"/>
            <a:ext cx="64008" cy="64008"/>
          </a:xfrm>
          <a:prstGeom prst="ellipse">
            <a:avLst/>
          </a:prstGeom>
          <a:solidFill>
            <a:srgbClr val="E8674C"/>
          </a:solidFill>
          <a:ln w="12700">
            <a:solidFill>
              <a:srgbClr val="333333"/>
            </a:solidFill>
            <a:prstDash val="solid"/>
          </a:ln>
        </p:spPr>
      </p:sp>
      <p:sp>
        <p:nvSpPr>
          <p:cNvPr id="58" name="Shape 56"/>
          <p:cNvSpPr/>
          <p:nvPr/>
        </p:nvSpPr>
        <p:spPr>
          <a:xfrm>
            <a:off x="9718243" y="3334817"/>
            <a:ext cx="64008" cy="64008"/>
          </a:xfrm>
          <a:prstGeom prst="ellipse">
            <a:avLst/>
          </a:prstGeom>
          <a:solidFill>
            <a:srgbClr val="E8674C"/>
          </a:solidFill>
          <a:ln w="12700">
            <a:solidFill>
              <a:srgbClr val="333333"/>
            </a:solidFill>
            <a:prstDash val="solid"/>
          </a:ln>
        </p:spPr>
      </p:sp>
      <p:sp>
        <p:nvSpPr>
          <p:cNvPr id="59" name="Shape 57"/>
          <p:cNvSpPr/>
          <p:nvPr/>
        </p:nvSpPr>
        <p:spPr>
          <a:xfrm>
            <a:off x="9718243" y="2853385"/>
            <a:ext cx="64008" cy="64008"/>
          </a:xfrm>
          <a:prstGeom prst="ellipse">
            <a:avLst/>
          </a:prstGeom>
          <a:solidFill>
            <a:srgbClr val="E8674C"/>
          </a:solidFill>
          <a:ln w="12700">
            <a:solidFill>
              <a:srgbClr val="333333"/>
            </a:solidFill>
            <a:prstDash val="solid"/>
          </a:ln>
        </p:spPr>
      </p:sp>
      <p:sp>
        <p:nvSpPr>
          <p:cNvPr id="60" name="Shape 58"/>
          <p:cNvSpPr/>
          <p:nvPr/>
        </p:nvSpPr>
        <p:spPr>
          <a:xfrm>
            <a:off x="9718243" y="2942539"/>
            <a:ext cx="64008" cy="64008"/>
          </a:xfrm>
          <a:prstGeom prst="ellipse">
            <a:avLst/>
          </a:prstGeom>
          <a:solidFill>
            <a:srgbClr val="E8674C"/>
          </a:solidFill>
          <a:ln w="12700">
            <a:solidFill>
              <a:srgbClr val="333333"/>
            </a:solidFill>
            <a:prstDash val="solid"/>
          </a:ln>
        </p:spPr>
      </p:sp>
      <p:sp>
        <p:nvSpPr>
          <p:cNvPr id="61" name="Shape 59"/>
          <p:cNvSpPr/>
          <p:nvPr/>
        </p:nvSpPr>
        <p:spPr>
          <a:xfrm>
            <a:off x="548640" y="4114800"/>
            <a:ext cx="11064240" cy="1737360"/>
          </a:xfrm>
          <a:prstGeom prst="roundRect">
            <a:avLst>
              <a:gd name="adj" fmla="val 4737"/>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2" name="Text 60"/>
          <p:cNvSpPr txBox="1"/>
          <p:nvPr/>
        </p:nvSpPr>
        <p:spPr>
          <a:xfrm>
            <a:off x="868680" y="4261104"/>
            <a:ext cx="9144000" cy="274320"/>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All four have the same mean, the same standard deviation, and the same correlation</a:t>
            </a:r>
            <a:endParaRPr lang="en-US" sz="1500" dirty="0"/>
          </a:p>
        </p:txBody>
      </p:sp>
      <p:sp>
        <p:nvSpPr>
          <p:cNvPr id="63" name="Shape 61"/>
          <p:cNvSpPr/>
          <p:nvPr/>
        </p:nvSpPr>
        <p:spPr>
          <a:xfrm>
            <a:off x="868680" y="4572000"/>
            <a:ext cx="5212080" cy="777240"/>
          </a:xfrm>
          <a:prstGeom prst="roundRect">
            <a:avLst>
              <a:gd name="adj" fmla="val 8235"/>
            </a:avLst>
          </a:prstGeom>
          <a:solidFill>
            <a:srgbClr val="1B2B45"/>
          </a:solidFill>
          <a:ln w="12700">
            <a:solidFill>
              <a:srgbClr val="1B2B45"/>
            </a:solidFill>
            <a:prstDash val="solid"/>
          </a:ln>
        </p:spPr>
      </p:sp>
      <p:sp>
        <p:nvSpPr>
          <p:cNvPr id="64" name="Text 62"/>
          <p:cNvSpPr txBox="1"/>
          <p:nvPr/>
        </p:nvSpPr>
        <p:spPr>
          <a:xfrm>
            <a:off x="1033272" y="4681728"/>
            <a:ext cx="4882896" cy="5577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mean x  9.00    mean y  7.50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std  y  2.03    r       0.816</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for ALL FOUR, to three decimals</a:t>
            </a:r>
            <a:endParaRPr lang="en-US" sz="950" dirty="0"/>
          </a:p>
        </p:txBody>
      </p:sp>
      <p:sp>
        <p:nvSpPr>
          <p:cNvPr id="65" name="Text 63"/>
          <p:cNvSpPr txBox="1"/>
          <p:nvPr/>
        </p:nvSpPr>
        <p:spPr>
          <a:xfrm>
            <a:off x="6400800" y="4553712"/>
            <a:ext cx="4983480" cy="114300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This is Anscombe's quartet, built in 1973 to make exactly this point. One is roughly linear, one is a curve, one is a line with a single outlier, and one is a vertical stack with a single distant point. Every summary statistic you learned on Day 14 is blind to the difference. Plotting takes ten seconds and is not optional.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THE INTERFACE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fig, ax — the one habit to build</a:t>
            </a:r>
            <a:endParaRPr lang="en-US" sz="3200" dirty="0"/>
          </a:p>
        </p:txBody>
      </p:sp>
      <p:sp>
        <p:nvSpPr>
          <p:cNvPr id="5" name="Shape 3"/>
          <p:cNvSpPr/>
          <p:nvPr/>
        </p:nvSpPr>
        <p:spPr>
          <a:xfrm>
            <a:off x="548640" y="1572768"/>
            <a:ext cx="5760720" cy="2377440"/>
          </a:xfrm>
          <a:prstGeom prst="roundRect">
            <a:avLst>
              <a:gd name="adj" fmla="val 3462"/>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The style you will see online</a:t>
            </a:r>
            <a:endParaRPr lang="en-US" sz="1400" dirty="0"/>
          </a:p>
        </p:txBody>
      </p:sp>
      <p:sp>
        <p:nvSpPr>
          <p:cNvPr id="7" name="Shape 5"/>
          <p:cNvSpPr/>
          <p:nvPr/>
        </p:nvSpPr>
        <p:spPr>
          <a:xfrm>
            <a:off x="804672" y="2084832"/>
            <a:ext cx="5257800" cy="1188720"/>
          </a:xfrm>
          <a:prstGeom prst="roundRect">
            <a:avLst>
              <a:gd name="adj" fmla="val 5385"/>
            </a:avLst>
          </a:prstGeom>
          <a:solidFill>
            <a:srgbClr val="1B2B45"/>
          </a:solidFill>
          <a:ln w="12700">
            <a:solidFill>
              <a:srgbClr val="1B2B45"/>
            </a:solidFill>
            <a:prstDash val="solid"/>
          </a:ln>
        </p:spPr>
      </p:sp>
      <p:sp>
        <p:nvSpPr>
          <p:cNvPr id="8" name="Text 6"/>
          <p:cNvSpPr txBox="1"/>
          <p:nvPr/>
        </p:nvSpPr>
        <p:spPr>
          <a:xfrm>
            <a:off x="969264" y="2194560"/>
            <a:ext cx="4928616" cy="9692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plt.plot(x, 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plt.title("Sales")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plt.xlabel("Month")</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plt.show()</a:t>
            </a:r>
            <a:endParaRPr lang="en-US" sz="1000" dirty="0"/>
          </a:p>
        </p:txBody>
      </p:sp>
      <p:sp>
        <p:nvSpPr>
          <p:cNvPr id="9" name="Text 7"/>
          <p:cNvSpPr txBox="1"/>
          <p:nvPr/>
        </p:nvSpPr>
        <p:spPr>
          <a:xfrm>
            <a:off x="804672" y="3383280"/>
            <a:ext cx="5257800" cy="50292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Works for one quick chart. It draws on whatever figure happens to be current, so the moment you want two plots side by side it falls apart.</a:t>
            </a:r>
            <a:endParaRPr lang="en-US" sz="1150" dirty="0"/>
          </a:p>
        </p:txBody>
      </p:sp>
      <p:sp>
        <p:nvSpPr>
          <p:cNvPr id="10" name="Shape 8"/>
          <p:cNvSpPr/>
          <p:nvPr/>
        </p:nvSpPr>
        <p:spPr>
          <a:xfrm>
            <a:off x="6583680" y="1572768"/>
            <a:ext cx="5029200" cy="2377440"/>
          </a:xfrm>
          <a:prstGeom prst="roundRect">
            <a:avLst>
              <a:gd name="adj" fmla="val 346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style to learn</a:t>
            </a:r>
            <a:endParaRPr lang="en-US" sz="1400" dirty="0"/>
          </a:p>
        </p:txBody>
      </p:sp>
      <p:sp>
        <p:nvSpPr>
          <p:cNvPr id="12" name="Shape 10"/>
          <p:cNvSpPr/>
          <p:nvPr/>
        </p:nvSpPr>
        <p:spPr>
          <a:xfrm>
            <a:off x="6839712" y="2084832"/>
            <a:ext cx="4526280" cy="1188720"/>
          </a:xfrm>
          <a:prstGeom prst="roundRect">
            <a:avLst>
              <a:gd name="adj" fmla="val 5385"/>
            </a:avLst>
          </a:prstGeom>
          <a:solidFill>
            <a:srgbClr val="1B2B45"/>
          </a:solidFill>
          <a:ln w="12700">
            <a:solidFill>
              <a:srgbClr val="1B2B45"/>
            </a:solidFill>
            <a:prstDash val="solid"/>
          </a:ln>
        </p:spPr>
      </p:sp>
      <p:sp>
        <p:nvSpPr>
          <p:cNvPr id="13" name="Text 11"/>
          <p:cNvSpPr txBox="1"/>
          <p:nvPr/>
        </p:nvSpPr>
        <p:spPr>
          <a:xfrm>
            <a:off x="7004304" y="2194560"/>
            <a:ext cx="4197096" cy="9692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fig, ax = plt.subplots(figsize=(7, 4))</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ax.plot(x, y)</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ax.set_title("Sales")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ax.set_xlabel("Month")</a:t>
            </a:r>
            <a:endParaRPr lang="en-US" sz="950" dirty="0"/>
          </a:p>
        </p:txBody>
      </p:sp>
      <p:sp>
        <p:nvSpPr>
          <p:cNvPr id="14" name="Text 12"/>
          <p:cNvSpPr txBox="1"/>
          <p:nvPr/>
        </p:nvSpPr>
        <p:spPr>
          <a:xfrm>
            <a:off x="6839712" y="3383280"/>
            <a:ext cx="4526280" cy="502920"/>
          </a:xfrm>
          <a:prstGeom prst="rect">
            <a:avLst/>
          </a:prstGeom>
          <a:noFill/>
          <a:ln/>
        </p:spPr>
        <p:txBody>
          <a:bodyPr wrap="square" lIns="0" tIns="0" rIns="0" bIns="0" rtlCol="0" anchor="ctr"/>
          <a:lstStyle/>
          <a:p>
            <a:pPr indent="0" marL="0">
              <a:lnSpc>
                <a:spcPct val="112000"/>
              </a:lnSpc>
              <a:buNone/>
            </a:pPr>
            <a:r>
              <a:rPr lang="en-US" sz="1150" dirty="0">
                <a:solidFill>
                  <a:srgbClr val="1C6F5C"/>
                </a:solidFill>
                <a:latin typeface="Calibri" pitchFamily="34" charset="0"/>
                <a:ea typeface="Calibri" pitchFamily="34" charset="-122"/>
                <a:cs typeface="Calibri" pitchFamily="34" charset="-120"/>
              </a:rPr>
              <a:t>fig is the canvas, ax is the one set of axes you are drawing on. Named, so there is never any doubt which plot you are changing.</a:t>
            </a:r>
            <a:endParaRPr lang="en-US" sz="1150" dirty="0"/>
          </a:p>
        </p:txBody>
      </p:sp>
      <p:sp>
        <p:nvSpPr>
          <p:cNvPr id="15" name="Shape 13"/>
          <p:cNvSpPr/>
          <p:nvPr/>
        </p:nvSpPr>
        <p:spPr>
          <a:xfrm>
            <a:off x="548640" y="4069080"/>
            <a:ext cx="11064240" cy="1783080"/>
          </a:xfrm>
          <a:prstGeom prst="roundRect">
            <a:avLst>
              <a:gd name="adj" fmla="val 461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22960" y="4215384"/>
            <a:ext cx="7315200" cy="27432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Two plots side by side — the reason this matters</a:t>
            </a:r>
            <a:endParaRPr lang="en-US" sz="1450" dirty="0"/>
          </a:p>
        </p:txBody>
      </p:sp>
      <p:sp>
        <p:nvSpPr>
          <p:cNvPr id="17" name="Shape 15"/>
          <p:cNvSpPr/>
          <p:nvPr/>
        </p:nvSpPr>
        <p:spPr>
          <a:xfrm>
            <a:off x="822960" y="4526280"/>
            <a:ext cx="5212080" cy="1005840"/>
          </a:xfrm>
          <a:prstGeom prst="roundRect">
            <a:avLst>
              <a:gd name="adj" fmla="val 6364"/>
            </a:avLst>
          </a:prstGeom>
          <a:solidFill>
            <a:srgbClr val="1B2B45"/>
          </a:solidFill>
          <a:ln w="12700">
            <a:solidFill>
              <a:srgbClr val="1B2B45"/>
            </a:solidFill>
            <a:prstDash val="solid"/>
          </a:ln>
        </p:spPr>
      </p:sp>
      <p:sp>
        <p:nvSpPr>
          <p:cNvPr id="18" name="Text 16"/>
          <p:cNvSpPr txBox="1"/>
          <p:nvPr/>
        </p:nvSpPr>
        <p:spPr>
          <a:xfrm>
            <a:off x="987552" y="4636008"/>
            <a:ext cx="4882896" cy="7863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fig, axes = plt.subplots(1, 2, figsize=(10, 4))</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axes[0].hist(df["age"])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axes[1].scatter(df["age"], df["salary"])</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fig.tight_layout()</a:t>
            </a:r>
            <a:endParaRPr lang="en-US" sz="950" dirty="0"/>
          </a:p>
        </p:txBody>
      </p:sp>
      <p:sp>
        <p:nvSpPr>
          <p:cNvPr id="19" name="Text 17"/>
          <p:cNvSpPr txBox="1"/>
          <p:nvPr/>
        </p:nvSpPr>
        <p:spPr>
          <a:xfrm>
            <a:off x="6400800" y="4507992"/>
            <a:ext cx="4983480" cy="109728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axes is a NumPy array of Axes objects — Day 12's indexing, applied to charts. For a grid use plt.subplots(2, 2) and index with axes[0, 1]. And always finish with fig.tight_layout(), which stops the labels of one plot overlapping the next.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CORE PLOTS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four plots that cover most of your work</a:t>
            </a:r>
            <a:endParaRPr lang="en-US" sz="3200" dirty="0"/>
          </a:p>
        </p:txBody>
      </p:sp>
      <p:sp>
        <p:nvSpPr>
          <p:cNvPr id="5" name="Shape 3"/>
          <p:cNvSpPr/>
          <p:nvPr/>
        </p:nvSpPr>
        <p:spPr>
          <a:xfrm>
            <a:off x="548640" y="1600200"/>
            <a:ext cx="2606040" cy="2651760"/>
          </a:xfrm>
          <a:prstGeom prst="roundRect">
            <a:avLst>
              <a:gd name="adj" fmla="val 315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2148840" cy="384048"/>
          </a:xfrm>
          <a:prstGeom prst="roundRect">
            <a:avLst>
              <a:gd name="adj" fmla="val 14286"/>
            </a:avLst>
          </a:prstGeom>
          <a:solidFill>
            <a:srgbClr val="3E7CB1"/>
          </a:solidFill>
          <a:ln w="12700">
            <a:solidFill>
              <a:srgbClr val="333333"/>
            </a:solidFill>
            <a:prstDash val="solid"/>
          </a:ln>
        </p:spPr>
      </p:sp>
      <p:sp>
        <p:nvSpPr>
          <p:cNvPr id="7" name="Text 5"/>
          <p:cNvSpPr txBox="1"/>
          <p:nvPr/>
        </p:nvSpPr>
        <p:spPr>
          <a:xfrm>
            <a:off x="777240" y="1783080"/>
            <a:ext cx="21488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line</a:t>
            </a:r>
            <a:endParaRPr lang="en-US" sz="1300" dirty="0"/>
          </a:p>
        </p:txBody>
      </p:sp>
      <p:sp>
        <p:nvSpPr>
          <p:cNvPr id="8" name="Text 6"/>
          <p:cNvSpPr txBox="1"/>
          <p:nvPr/>
        </p:nvSpPr>
        <p:spPr>
          <a:xfrm>
            <a:off x="777240" y="2286000"/>
            <a:ext cx="2148840" cy="457200"/>
          </a:xfrm>
          <a:prstGeom prst="rect">
            <a:avLst/>
          </a:prstGeom>
          <a:noFill/>
          <a:ln/>
        </p:spPr>
        <p:txBody>
          <a:bodyPr wrap="square" lIns="0" tIns="0" rIns="0" bIns="0" rtlCol="0" anchor="ctr"/>
          <a:lstStyle/>
          <a:p>
            <a:pPr algn="ctr" indent="0" marL="0">
              <a:buNone/>
            </a:pPr>
            <a:r>
              <a:rPr lang="en-US" sz="1250" dirty="0">
                <a:solidFill>
                  <a:srgbClr val="2B3445"/>
                </a:solidFill>
                <a:latin typeface="Calibri" pitchFamily="34" charset="0"/>
                <a:ea typeface="Calibri" pitchFamily="34" charset="-122"/>
                <a:cs typeface="Calibri" pitchFamily="34" charset="-120"/>
              </a:rPr>
              <a:t>a value over time</a:t>
            </a:r>
            <a:endParaRPr lang="en-US" sz="1250" dirty="0"/>
          </a:p>
        </p:txBody>
      </p:sp>
      <p:sp>
        <p:nvSpPr>
          <p:cNvPr id="9" name="Text 7"/>
          <p:cNvSpPr txBox="1"/>
          <p:nvPr/>
        </p:nvSpPr>
        <p:spPr>
          <a:xfrm>
            <a:off x="685800" y="2834640"/>
            <a:ext cx="2331720" cy="548640"/>
          </a:xfrm>
          <a:prstGeom prst="rect">
            <a:avLst/>
          </a:prstGeom>
          <a:noFill/>
          <a:ln/>
        </p:spPr>
        <p:txBody>
          <a:bodyPr wrap="square" lIns="0" tIns="0" rIns="0" bIns="0" rtlCol="0" anchor="ctr"/>
          <a:lstStyle/>
          <a:p>
            <a:pPr algn="ctr" indent="0" marL="0">
              <a:buNone/>
            </a:pPr>
            <a:r>
              <a:rPr lang="en-US" sz="1000" dirty="0">
                <a:solidFill>
                  <a:srgbClr val="1F3A5F"/>
                </a:solidFill>
                <a:latin typeface="Courier New" pitchFamily="34" charset="0"/>
                <a:ea typeface="Courier New" pitchFamily="34" charset="-122"/>
                <a:cs typeface="Courier New" pitchFamily="34" charset="-120"/>
              </a:rPr>
              <a:t>ax.plot(x, y)</a:t>
            </a:r>
            <a:endParaRPr lang="en-US" sz="1000" dirty="0"/>
          </a:p>
        </p:txBody>
      </p:sp>
      <p:sp>
        <p:nvSpPr>
          <p:cNvPr id="10" name="Text 8"/>
          <p:cNvSpPr txBox="1"/>
          <p:nvPr/>
        </p:nvSpPr>
        <p:spPr>
          <a:xfrm>
            <a:off x="731520" y="3474720"/>
            <a:ext cx="2240280" cy="640080"/>
          </a:xfrm>
          <a:prstGeom prst="rect">
            <a:avLst/>
          </a:prstGeom>
          <a:noFill/>
          <a:ln/>
        </p:spPr>
        <p:txBody>
          <a:bodyPr wrap="square" lIns="0" tIns="0" rIns="0" bIns="0" rtlCol="0" anchor="ctr"/>
          <a:lstStyle/>
          <a:p>
            <a:pPr algn="ctr" indent="0" marL="0">
              <a:buNone/>
            </a:pPr>
            <a:r>
              <a:rPr lang="en-US" sz="1050" i="1" dirty="0">
                <a:solidFill>
                  <a:srgbClr val="6B7789"/>
                </a:solidFill>
                <a:latin typeface="Calibri" pitchFamily="34" charset="0"/>
                <a:ea typeface="Calibri" pitchFamily="34" charset="-122"/>
                <a:cs typeface="Calibri" pitchFamily="34" charset="-120"/>
              </a:rPr>
              <a:t>only when x has a real order</a:t>
            </a:r>
            <a:endParaRPr lang="en-US" sz="1050" dirty="0"/>
          </a:p>
        </p:txBody>
      </p:sp>
      <p:sp>
        <p:nvSpPr>
          <p:cNvPr id="11" name="Shape 9"/>
          <p:cNvSpPr/>
          <p:nvPr/>
        </p:nvSpPr>
        <p:spPr>
          <a:xfrm>
            <a:off x="3410712" y="1600200"/>
            <a:ext cx="2606040" cy="2651760"/>
          </a:xfrm>
          <a:prstGeom prst="roundRect">
            <a:avLst>
              <a:gd name="adj" fmla="val 315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3639312" y="1783080"/>
            <a:ext cx="2148840" cy="384048"/>
          </a:xfrm>
          <a:prstGeom prst="roundRect">
            <a:avLst>
              <a:gd name="adj" fmla="val 14286"/>
            </a:avLst>
          </a:prstGeom>
          <a:solidFill>
            <a:srgbClr val="FFC145"/>
          </a:solidFill>
          <a:ln w="12700">
            <a:solidFill>
              <a:srgbClr val="333333"/>
            </a:solidFill>
            <a:prstDash val="solid"/>
          </a:ln>
        </p:spPr>
      </p:sp>
      <p:sp>
        <p:nvSpPr>
          <p:cNvPr id="13" name="Text 11"/>
          <p:cNvSpPr txBox="1"/>
          <p:nvPr/>
        </p:nvSpPr>
        <p:spPr>
          <a:xfrm>
            <a:off x="3639312" y="1783080"/>
            <a:ext cx="2148840" cy="384048"/>
          </a:xfrm>
          <a:prstGeom prst="rect">
            <a:avLst/>
          </a:prstGeom>
          <a:noFill/>
          <a:ln/>
        </p:spPr>
        <p:txBody>
          <a:bodyPr wrap="square" lIns="0" tIns="0" rIns="0" bIns="0" rtlCol="0" anchor="ctr"/>
          <a:lstStyle/>
          <a:p>
            <a:pPr algn="ctr" indent="0" marL="0">
              <a:buNone/>
            </a:pPr>
            <a:r>
              <a:rPr lang="en-US" sz="1300" b="1" dirty="0">
                <a:solidFill>
                  <a:srgbClr val="152238"/>
                </a:solidFill>
                <a:latin typeface="Courier New" pitchFamily="34" charset="0"/>
                <a:ea typeface="Courier New" pitchFamily="34" charset="-122"/>
                <a:cs typeface="Courier New" pitchFamily="34" charset="-120"/>
              </a:rPr>
              <a:t>bar</a:t>
            </a:r>
            <a:endParaRPr lang="en-US" sz="1300" dirty="0"/>
          </a:p>
        </p:txBody>
      </p:sp>
      <p:sp>
        <p:nvSpPr>
          <p:cNvPr id="14" name="Text 12"/>
          <p:cNvSpPr txBox="1"/>
          <p:nvPr/>
        </p:nvSpPr>
        <p:spPr>
          <a:xfrm>
            <a:off x="3639312" y="2286000"/>
            <a:ext cx="2148840" cy="457200"/>
          </a:xfrm>
          <a:prstGeom prst="rect">
            <a:avLst/>
          </a:prstGeom>
          <a:noFill/>
          <a:ln/>
        </p:spPr>
        <p:txBody>
          <a:bodyPr wrap="square" lIns="0" tIns="0" rIns="0" bIns="0" rtlCol="0" anchor="ctr"/>
          <a:lstStyle/>
          <a:p>
            <a:pPr algn="ctr" indent="0" marL="0">
              <a:buNone/>
            </a:pPr>
            <a:r>
              <a:rPr lang="en-US" sz="1250" dirty="0">
                <a:solidFill>
                  <a:srgbClr val="2B3445"/>
                </a:solidFill>
                <a:latin typeface="Calibri" pitchFamily="34" charset="0"/>
                <a:ea typeface="Calibri" pitchFamily="34" charset="-122"/>
                <a:cs typeface="Calibri" pitchFamily="34" charset="-120"/>
              </a:rPr>
              <a:t>comparing categories</a:t>
            </a:r>
            <a:endParaRPr lang="en-US" sz="1250" dirty="0"/>
          </a:p>
        </p:txBody>
      </p:sp>
      <p:sp>
        <p:nvSpPr>
          <p:cNvPr id="15" name="Text 13"/>
          <p:cNvSpPr txBox="1"/>
          <p:nvPr/>
        </p:nvSpPr>
        <p:spPr>
          <a:xfrm>
            <a:off x="3547872" y="2834640"/>
            <a:ext cx="2331720" cy="548640"/>
          </a:xfrm>
          <a:prstGeom prst="rect">
            <a:avLst/>
          </a:prstGeom>
          <a:noFill/>
          <a:ln/>
        </p:spPr>
        <p:txBody>
          <a:bodyPr wrap="square" lIns="0" tIns="0" rIns="0" bIns="0" rtlCol="0" anchor="ctr"/>
          <a:lstStyle/>
          <a:p>
            <a:pPr algn="ctr" indent="0" marL="0">
              <a:buNone/>
            </a:pPr>
            <a:r>
              <a:rPr lang="en-US" sz="1000" dirty="0">
                <a:solidFill>
                  <a:srgbClr val="1F3A5F"/>
                </a:solidFill>
                <a:latin typeface="Courier New" pitchFamily="34" charset="0"/>
                <a:ea typeface="Courier New" pitchFamily="34" charset="-122"/>
                <a:cs typeface="Courier New" pitchFamily="34" charset="-120"/>
              </a:rPr>
              <a:t>ax.bar(names, vals)</a:t>
            </a:r>
            <a:endParaRPr lang="en-US" sz="1000" dirty="0"/>
          </a:p>
        </p:txBody>
      </p:sp>
      <p:sp>
        <p:nvSpPr>
          <p:cNvPr id="16" name="Text 14"/>
          <p:cNvSpPr txBox="1"/>
          <p:nvPr/>
        </p:nvSpPr>
        <p:spPr>
          <a:xfrm>
            <a:off x="3593592" y="3474720"/>
            <a:ext cx="2240280" cy="640080"/>
          </a:xfrm>
          <a:prstGeom prst="rect">
            <a:avLst/>
          </a:prstGeom>
          <a:noFill/>
          <a:ln/>
        </p:spPr>
        <p:txBody>
          <a:bodyPr wrap="square" lIns="0" tIns="0" rIns="0" bIns="0" rtlCol="0" anchor="ctr"/>
          <a:lstStyle/>
          <a:p>
            <a:pPr algn="ctr" indent="0" marL="0">
              <a:buNone/>
            </a:pPr>
            <a:r>
              <a:rPr lang="en-US" sz="1050" i="1" dirty="0">
                <a:solidFill>
                  <a:srgbClr val="6B7789"/>
                </a:solidFill>
                <a:latin typeface="Calibri" pitchFamily="34" charset="0"/>
                <a:ea typeface="Calibri" pitchFamily="34" charset="-122"/>
                <a:cs typeface="Calibri" pitchFamily="34" charset="-120"/>
              </a:rPr>
              <a:t>sort first, or it reads as noise</a:t>
            </a:r>
            <a:endParaRPr lang="en-US" sz="1050" dirty="0"/>
          </a:p>
        </p:txBody>
      </p:sp>
      <p:sp>
        <p:nvSpPr>
          <p:cNvPr id="17" name="Shape 15"/>
          <p:cNvSpPr/>
          <p:nvPr/>
        </p:nvSpPr>
        <p:spPr>
          <a:xfrm>
            <a:off x="6272784" y="1600200"/>
            <a:ext cx="2606040" cy="2651760"/>
          </a:xfrm>
          <a:prstGeom prst="roundRect">
            <a:avLst>
              <a:gd name="adj" fmla="val 315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6501384" y="1783080"/>
            <a:ext cx="2148840" cy="384048"/>
          </a:xfrm>
          <a:prstGeom prst="roundRect">
            <a:avLst>
              <a:gd name="adj" fmla="val 14286"/>
            </a:avLst>
          </a:prstGeom>
          <a:solidFill>
            <a:srgbClr val="2FA98C"/>
          </a:solidFill>
          <a:ln w="12700">
            <a:solidFill>
              <a:srgbClr val="333333"/>
            </a:solidFill>
            <a:prstDash val="solid"/>
          </a:ln>
        </p:spPr>
      </p:sp>
      <p:sp>
        <p:nvSpPr>
          <p:cNvPr id="19" name="Text 17"/>
          <p:cNvSpPr txBox="1"/>
          <p:nvPr/>
        </p:nvSpPr>
        <p:spPr>
          <a:xfrm>
            <a:off x="6501384" y="1783080"/>
            <a:ext cx="21488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scatter</a:t>
            </a:r>
            <a:endParaRPr lang="en-US" sz="1300" dirty="0"/>
          </a:p>
        </p:txBody>
      </p:sp>
      <p:sp>
        <p:nvSpPr>
          <p:cNvPr id="20" name="Text 18"/>
          <p:cNvSpPr txBox="1"/>
          <p:nvPr/>
        </p:nvSpPr>
        <p:spPr>
          <a:xfrm>
            <a:off x="6501384" y="2286000"/>
            <a:ext cx="2148840" cy="457200"/>
          </a:xfrm>
          <a:prstGeom prst="rect">
            <a:avLst/>
          </a:prstGeom>
          <a:noFill/>
          <a:ln/>
        </p:spPr>
        <p:txBody>
          <a:bodyPr wrap="square" lIns="0" tIns="0" rIns="0" bIns="0" rtlCol="0" anchor="ctr"/>
          <a:lstStyle/>
          <a:p>
            <a:pPr algn="ctr" indent="0" marL="0">
              <a:buNone/>
            </a:pPr>
            <a:r>
              <a:rPr lang="en-US" sz="1250" dirty="0">
                <a:solidFill>
                  <a:srgbClr val="2B3445"/>
                </a:solidFill>
                <a:latin typeface="Calibri" pitchFamily="34" charset="0"/>
                <a:ea typeface="Calibri" pitchFamily="34" charset="-122"/>
                <a:cs typeface="Calibri" pitchFamily="34" charset="-120"/>
              </a:rPr>
              <a:t>two numbers, related?</a:t>
            </a:r>
            <a:endParaRPr lang="en-US" sz="1250" dirty="0"/>
          </a:p>
        </p:txBody>
      </p:sp>
      <p:sp>
        <p:nvSpPr>
          <p:cNvPr id="21" name="Text 19"/>
          <p:cNvSpPr txBox="1"/>
          <p:nvPr/>
        </p:nvSpPr>
        <p:spPr>
          <a:xfrm>
            <a:off x="6409944" y="2834640"/>
            <a:ext cx="2331720" cy="548640"/>
          </a:xfrm>
          <a:prstGeom prst="rect">
            <a:avLst/>
          </a:prstGeom>
          <a:noFill/>
          <a:ln/>
        </p:spPr>
        <p:txBody>
          <a:bodyPr wrap="square" lIns="0" tIns="0" rIns="0" bIns="0" rtlCol="0" anchor="ctr"/>
          <a:lstStyle/>
          <a:p>
            <a:pPr algn="ctr" indent="0" marL="0">
              <a:buNone/>
            </a:pPr>
            <a:r>
              <a:rPr lang="en-US" sz="1000" dirty="0">
                <a:solidFill>
                  <a:srgbClr val="1F3A5F"/>
                </a:solidFill>
                <a:latin typeface="Courier New" pitchFamily="34" charset="0"/>
                <a:ea typeface="Courier New" pitchFamily="34" charset="-122"/>
                <a:cs typeface="Courier New" pitchFamily="34" charset="-120"/>
              </a:rPr>
              <a:t>ax.scatter(x, y)</a:t>
            </a:r>
            <a:endParaRPr lang="en-US" sz="1000" dirty="0"/>
          </a:p>
        </p:txBody>
      </p:sp>
      <p:sp>
        <p:nvSpPr>
          <p:cNvPr id="22" name="Text 20"/>
          <p:cNvSpPr txBox="1"/>
          <p:nvPr/>
        </p:nvSpPr>
        <p:spPr>
          <a:xfrm>
            <a:off x="6455664" y="3474720"/>
            <a:ext cx="2240280" cy="640080"/>
          </a:xfrm>
          <a:prstGeom prst="rect">
            <a:avLst/>
          </a:prstGeom>
          <a:noFill/>
          <a:ln/>
        </p:spPr>
        <p:txBody>
          <a:bodyPr wrap="square" lIns="0" tIns="0" rIns="0" bIns="0" rtlCol="0" anchor="ctr"/>
          <a:lstStyle/>
          <a:p>
            <a:pPr algn="ctr" indent="0" marL="0">
              <a:buNone/>
            </a:pPr>
            <a:r>
              <a:rPr lang="en-US" sz="1050" i="1" dirty="0">
                <a:solidFill>
                  <a:srgbClr val="6B7789"/>
                </a:solidFill>
                <a:latin typeface="Calibri" pitchFamily="34" charset="0"/>
                <a:ea typeface="Calibri" pitchFamily="34" charset="-122"/>
                <a:cs typeface="Calibri" pitchFamily="34" charset="-120"/>
              </a:rPr>
              <a:t>add alpha=0.5 when points overlap</a:t>
            </a:r>
            <a:endParaRPr lang="en-US" sz="1050" dirty="0"/>
          </a:p>
        </p:txBody>
      </p:sp>
      <p:sp>
        <p:nvSpPr>
          <p:cNvPr id="23" name="Shape 21"/>
          <p:cNvSpPr/>
          <p:nvPr/>
        </p:nvSpPr>
        <p:spPr>
          <a:xfrm>
            <a:off x="9134856" y="1600200"/>
            <a:ext cx="2606040" cy="2651760"/>
          </a:xfrm>
          <a:prstGeom prst="roundRect">
            <a:avLst>
              <a:gd name="adj" fmla="val 315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9363456" y="1783080"/>
            <a:ext cx="2148840" cy="384048"/>
          </a:xfrm>
          <a:prstGeom prst="roundRect">
            <a:avLst>
              <a:gd name="adj" fmla="val 14286"/>
            </a:avLst>
          </a:prstGeom>
          <a:solidFill>
            <a:srgbClr val="E8674C"/>
          </a:solidFill>
          <a:ln w="12700">
            <a:solidFill>
              <a:srgbClr val="333333"/>
            </a:solidFill>
            <a:prstDash val="solid"/>
          </a:ln>
        </p:spPr>
      </p:sp>
      <p:sp>
        <p:nvSpPr>
          <p:cNvPr id="25" name="Text 23"/>
          <p:cNvSpPr txBox="1"/>
          <p:nvPr/>
        </p:nvSpPr>
        <p:spPr>
          <a:xfrm>
            <a:off x="9363456" y="1783080"/>
            <a:ext cx="21488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hist</a:t>
            </a:r>
            <a:endParaRPr lang="en-US" sz="1300" dirty="0"/>
          </a:p>
        </p:txBody>
      </p:sp>
      <p:sp>
        <p:nvSpPr>
          <p:cNvPr id="26" name="Text 24"/>
          <p:cNvSpPr txBox="1"/>
          <p:nvPr/>
        </p:nvSpPr>
        <p:spPr>
          <a:xfrm>
            <a:off x="9363456" y="2286000"/>
            <a:ext cx="2148840" cy="457200"/>
          </a:xfrm>
          <a:prstGeom prst="rect">
            <a:avLst/>
          </a:prstGeom>
          <a:noFill/>
          <a:ln/>
        </p:spPr>
        <p:txBody>
          <a:bodyPr wrap="square" lIns="0" tIns="0" rIns="0" bIns="0" rtlCol="0" anchor="ctr"/>
          <a:lstStyle/>
          <a:p>
            <a:pPr algn="ctr" indent="0" marL="0">
              <a:buNone/>
            </a:pPr>
            <a:r>
              <a:rPr lang="en-US" sz="1250" dirty="0">
                <a:solidFill>
                  <a:srgbClr val="2B3445"/>
                </a:solidFill>
                <a:latin typeface="Calibri" pitchFamily="34" charset="0"/>
                <a:ea typeface="Calibri" pitchFamily="34" charset="-122"/>
                <a:cs typeface="Calibri" pitchFamily="34" charset="-120"/>
              </a:rPr>
              <a:t>the shape of one column</a:t>
            </a:r>
            <a:endParaRPr lang="en-US" sz="1250" dirty="0"/>
          </a:p>
        </p:txBody>
      </p:sp>
      <p:sp>
        <p:nvSpPr>
          <p:cNvPr id="27" name="Text 25"/>
          <p:cNvSpPr txBox="1"/>
          <p:nvPr/>
        </p:nvSpPr>
        <p:spPr>
          <a:xfrm>
            <a:off x="9272016" y="2834640"/>
            <a:ext cx="2331720" cy="548640"/>
          </a:xfrm>
          <a:prstGeom prst="rect">
            <a:avLst/>
          </a:prstGeom>
          <a:noFill/>
          <a:ln/>
        </p:spPr>
        <p:txBody>
          <a:bodyPr wrap="square" lIns="0" tIns="0" rIns="0" bIns="0" rtlCol="0" anchor="ctr"/>
          <a:lstStyle/>
          <a:p>
            <a:pPr algn="ctr" indent="0" marL="0">
              <a:buNone/>
            </a:pPr>
            <a:r>
              <a:rPr lang="en-US" sz="1000" dirty="0">
                <a:solidFill>
                  <a:srgbClr val="1F3A5F"/>
                </a:solidFill>
                <a:latin typeface="Courier New" pitchFamily="34" charset="0"/>
                <a:ea typeface="Courier New" pitchFamily="34" charset="-122"/>
                <a:cs typeface="Courier New" pitchFamily="34" charset="-120"/>
              </a:rPr>
              <a:t>ax.hist(v, bins=20)</a:t>
            </a:r>
            <a:endParaRPr lang="en-US" sz="1000" dirty="0"/>
          </a:p>
        </p:txBody>
      </p:sp>
      <p:sp>
        <p:nvSpPr>
          <p:cNvPr id="28" name="Text 26"/>
          <p:cNvSpPr txBox="1"/>
          <p:nvPr/>
        </p:nvSpPr>
        <p:spPr>
          <a:xfrm>
            <a:off x="9317736" y="3474720"/>
            <a:ext cx="2240280" cy="640080"/>
          </a:xfrm>
          <a:prstGeom prst="rect">
            <a:avLst/>
          </a:prstGeom>
          <a:noFill/>
          <a:ln/>
        </p:spPr>
        <p:txBody>
          <a:bodyPr wrap="square" lIns="0" tIns="0" rIns="0" bIns="0" rtlCol="0" anchor="ctr"/>
          <a:lstStyle/>
          <a:p>
            <a:pPr algn="ctr" indent="0" marL="0">
              <a:buNone/>
            </a:pPr>
            <a:r>
              <a:rPr lang="en-US" sz="1050" i="1" dirty="0">
                <a:solidFill>
                  <a:srgbClr val="6B7789"/>
                </a:solidFill>
                <a:latin typeface="Calibri" pitchFamily="34" charset="0"/>
                <a:ea typeface="Calibri" pitchFamily="34" charset="-122"/>
                <a:cs typeface="Calibri" pitchFamily="34" charset="-120"/>
              </a:rPr>
              <a:t>bins changes the story — try a few</a:t>
            </a:r>
            <a:endParaRPr lang="en-US" sz="1050" dirty="0"/>
          </a:p>
        </p:txBody>
      </p:sp>
      <p:sp>
        <p:nvSpPr>
          <p:cNvPr id="29" name="Shape 27"/>
          <p:cNvSpPr/>
          <p:nvPr/>
        </p:nvSpPr>
        <p:spPr>
          <a:xfrm>
            <a:off x="548640" y="4389120"/>
            <a:ext cx="11064240" cy="1463040"/>
          </a:xfrm>
          <a:prstGeom prst="roundRect">
            <a:avLst>
              <a:gd name="adj" fmla="val 562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 y="453542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A chart without labels is not finished</a:t>
            </a:r>
            <a:endParaRPr lang="en-US" sz="1450" dirty="0"/>
          </a:p>
        </p:txBody>
      </p:sp>
      <p:sp>
        <p:nvSpPr>
          <p:cNvPr id="31" name="Shape 29"/>
          <p:cNvSpPr/>
          <p:nvPr/>
        </p:nvSpPr>
        <p:spPr>
          <a:xfrm>
            <a:off x="868680" y="4846320"/>
            <a:ext cx="5212080" cy="822960"/>
          </a:xfrm>
          <a:prstGeom prst="roundRect">
            <a:avLst>
              <a:gd name="adj" fmla="val 7778"/>
            </a:avLst>
          </a:prstGeom>
          <a:solidFill>
            <a:srgbClr val="1B2B45"/>
          </a:solidFill>
          <a:ln w="12700">
            <a:solidFill>
              <a:srgbClr val="1B2B45"/>
            </a:solidFill>
            <a:prstDash val="solid"/>
          </a:ln>
        </p:spPr>
      </p:sp>
      <p:sp>
        <p:nvSpPr>
          <p:cNvPr id="32" name="Text 30"/>
          <p:cNvSpPr txBox="1"/>
          <p:nvPr/>
        </p:nvSpPr>
        <p:spPr>
          <a:xfrm>
            <a:off x="1033272" y="4956048"/>
            <a:ext cx="4882896" cy="60350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ax.set_xlabel("Month")     ax.set_ylabel("Sales (Rs)")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ax.set_title("Monthly sales, 2026")</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ax.legend()               fig.savefig("out.png", dpi=150,</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bbox_inches="tight")</a:t>
            </a:r>
            <a:endParaRPr lang="en-US" sz="900" dirty="0"/>
          </a:p>
        </p:txBody>
      </p:sp>
      <p:sp>
        <p:nvSpPr>
          <p:cNvPr id="33" name="Text 31"/>
          <p:cNvSpPr txBox="1"/>
          <p:nvPr/>
        </p:nvSpPr>
        <p:spPr>
          <a:xfrm>
            <a:off x="6400800" y="4828032"/>
            <a:ext cx="4983480" cy="8686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Units in the axis label, a title that says what the reader is looking at, and a legend whenever there is more than one series. bbox_inches=“tight” stops savefig cropping your labels off, which it will otherwise do.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Seaborn</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Statistical plots from a DataFrame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Why seaborn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Five plots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hue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barplot trap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WHY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Seaborn — matplotlib that understands DataFrames</a:t>
            </a:r>
            <a:endParaRPr lang="en-US" sz="3200" dirty="0"/>
          </a:p>
        </p:txBody>
      </p:sp>
      <p:sp>
        <p:nvSpPr>
          <p:cNvPr id="5" name="Shape 3"/>
          <p:cNvSpPr/>
          <p:nvPr/>
        </p:nvSpPr>
        <p:spPr>
          <a:xfrm>
            <a:off x="548640" y="1572768"/>
            <a:ext cx="5760720" cy="2377440"/>
          </a:xfrm>
          <a:prstGeom prst="roundRect">
            <a:avLst>
              <a:gd name="adj" fmla="val 3462"/>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Matplotlib: you do the grouping</a:t>
            </a:r>
            <a:endParaRPr lang="en-US" sz="1400" dirty="0"/>
          </a:p>
        </p:txBody>
      </p:sp>
      <p:sp>
        <p:nvSpPr>
          <p:cNvPr id="7" name="Shape 5"/>
          <p:cNvSpPr/>
          <p:nvPr/>
        </p:nvSpPr>
        <p:spPr>
          <a:xfrm>
            <a:off x="804672" y="2084832"/>
            <a:ext cx="5257800" cy="1417320"/>
          </a:xfrm>
          <a:prstGeom prst="roundRect">
            <a:avLst>
              <a:gd name="adj" fmla="val 4516"/>
            </a:avLst>
          </a:prstGeom>
          <a:solidFill>
            <a:srgbClr val="1B2B45"/>
          </a:solidFill>
          <a:ln w="12700">
            <a:solidFill>
              <a:srgbClr val="1B2B45"/>
            </a:solidFill>
            <a:prstDash val="solid"/>
          </a:ln>
        </p:spPr>
      </p:sp>
      <p:sp>
        <p:nvSpPr>
          <p:cNvPr id="8" name="Text 6"/>
          <p:cNvSpPr txBox="1"/>
          <p:nvPr/>
        </p:nvSpPr>
        <p:spPr>
          <a:xfrm>
            <a:off x="969264" y="2194560"/>
            <a:ext cx="4928616" cy="11978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for city in df["city"].unique():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sub = df[df["city"] == city]</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ax.scatter(sub["age"], sub["spend"],</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label=city)</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ax.legend()</a:t>
            </a:r>
            <a:endParaRPr lang="en-US" sz="950" dirty="0"/>
          </a:p>
        </p:txBody>
      </p:sp>
      <p:sp>
        <p:nvSpPr>
          <p:cNvPr id="9" name="Shape 7"/>
          <p:cNvSpPr/>
          <p:nvPr/>
        </p:nvSpPr>
        <p:spPr>
          <a:xfrm>
            <a:off x="6583680" y="1572768"/>
            <a:ext cx="5029200" cy="2377440"/>
          </a:xfrm>
          <a:prstGeom prst="roundRect">
            <a:avLst>
              <a:gd name="adj" fmla="val 346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Seaborn: you name the column</a:t>
            </a:r>
            <a:endParaRPr lang="en-US" sz="1400" dirty="0"/>
          </a:p>
        </p:txBody>
      </p:sp>
      <p:sp>
        <p:nvSpPr>
          <p:cNvPr id="11" name="Shape 9"/>
          <p:cNvSpPr/>
          <p:nvPr/>
        </p:nvSpPr>
        <p:spPr>
          <a:xfrm>
            <a:off x="6839712" y="2084832"/>
            <a:ext cx="4526280" cy="1417320"/>
          </a:xfrm>
          <a:prstGeom prst="roundRect">
            <a:avLst>
              <a:gd name="adj" fmla="val 4516"/>
            </a:avLst>
          </a:prstGeom>
          <a:solidFill>
            <a:srgbClr val="1B2B45"/>
          </a:solidFill>
          <a:ln w="12700">
            <a:solidFill>
              <a:srgbClr val="1B2B45"/>
            </a:solidFill>
            <a:prstDash val="solid"/>
          </a:ln>
        </p:spPr>
      </p:sp>
      <p:sp>
        <p:nvSpPr>
          <p:cNvPr id="12" name="Text 10"/>
          <p:cNvSpPr txBox="1"/>
          <p:nvPr/>
        </p:nvSpPr>
        <p:spPr>
          <a:xfrm>
            <a:off x="7004304" y="2194560"/>
            <a:ext cx="4197096" cy="11978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sns.scatterplot(data=df,</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x="age",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y="spend",</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hue="city")</a:t>
            </a:r>
            <a:endParaRPr lang="en-US" sz="950" dirty="0"/>
          </a:p>
        </p:txBody>
      </p:sp>
      <p:sp>
        <p:nvSpPr>
          <p:cNvPr id="13" name="Text 11"/>
          <p:cNvSpPr txBox="1"/>
          <p:nvPr/>
        </p:nvSpPr>
        <p:spPr>
          <a:xfrm>
            <a:off x="6839712" y="3611880"/>
            <a:ext cx="4526280" cy="274320"/>
          </a:xfrm>
          <a:prstGeom prst="rect">
            <a:avLst/>
          </a:prstGeom>
          <a:noFill/>
          <a:ln/>
        </p:spPr>
        <p:txBody>
          <a:bodyPr wrap="square" lIns="0" tIns="0" rIns="0" bIns="0" rtlCol="0" anchor="ctr"/>
          <a:lstStyle/>
          <a:p>
            <a:pPr indent="0" marL="0">
              <a:buNone/>
            </a:pPr>
            <a:r>
              <a:rPr lang="en-US" sz="1150" dirty="0">
                <a:solidFill>
                  <a:srgbClr val="1C6F5C"/>
                </a:solidFill>
                <a:latin typeface="Calibri" pitchFamily="34" charset="0"/>
                <a:ea typeface="Calibri" pitchFamily="34" charset="-122"/>
                <a:cs typeface="Calibri" pitchFamily="34" charset="-120"/>
              </a:rPr>
              <a:t>Same chart, legend included. hue= splits by any column.</a:t>
            </a:r>
            <a:endParaRPr lang="en-US" sz="1150" dirty="0"/>
          </a:p>
        </p:txBody>
      </p:sp>
      <p:sp>
        <p:nvSpPr>
          <p:cNvPr id="14" name="Shape 12"/>
          <p:cNvSpPr/>
          <p:nvPr/>
        </p:nvSpPr>
        <p:spPr>
          <a:xfrm>
            <a:off x="548640" y="4069080"/>
            <a:ext cx="11064240" cy="1783080"/>
          </a:xfrm>
          <a:prstGeom prst="roundRect">
            <a:avLst>
              <a:gd name="adj" fmla="val 461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3"/>
          <p:cNvSpPr txBox="1"/>
          <p:nvPr/>
        </p:nvSpPr>
        <p:spPr>
          <a:xfrm>
            <a:off x="868680" y="421538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It is matplotlib underneath — which is why both matter</a:t>
            </a:r>
            <a:endParaRPr lang="en-US" sz="1450" dirty="0"/>
          </a:p>
        </p:txBody>
      </p:sp>
      <p:sp>
        <p:nvSpPr>
          <p:cNvPr id="16" name="Shape 14"/>
          <p:cNvSpPr/>
          <p:nvPr/>
        </p:nvSpPr>
        <p:spPr>
          <a:xfrm>
            <a:off x="868680" y="4526280"/>
            <a:ext cx="5212080" cy="777240"/>
          </a:xfrm>
          <a:prstGeom prst="roundRect">
            <a:avLst>
              <a:gd name="adj" fmla="val 8235"/>
            </a:avLst>
          </a:prstGeom>
          <a:solidFill>
            <a:srgbClr val="1B2B45"/>
          </a:solidFill>
          <a:ln w="12700">
            <a:solidFill>
              <a:srgbClr val="1B2B45"/>
            </a:solidFill>
            <a:prstDash val="solid"/>
          </a:ln>
        </p:spPr>
      </p:sp>
      <p:sp>
        <p:nvSpPr>
          <p:cNvPr id="17" name="Text 15"/>
          <p:cNvSpPr txBox="1"/>
          <p:nvPr/>
        </p:nvSpPr>
        <p:spPr>
          <a:xfrm>
            <a:off x="1033272" y="4636008"/>
            <a:ext cx="4882896" cy="5577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fig, ax = plt.subplots(figsize=(7, 4))</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sns.boxplot(data=df, x="city", y="spend", ax=ax)</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ax.set_title("Spend by city")       # matplotlib again</a:t>
            </a:r>
            <a:endParaRPr lang="en-US" sz="950" dirty="0"/>
          </a:p>
        </p:txBody>
      </p:sp>
      <p:sp>
        <p:nvSpPr>
          <p:cNvPr id="18" name="Text 16"/>
          <p:cNvSpPr txBox="1"/>
          <p:nvPr/>
        </p:nvSpPr>
        <p:spPr>
          <a:xfrm>
            <a:off x="6400800" y="4507992"/>
            <a:ext cx="4983480" cy="10972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Every seaborn function takes ax= and returns an Axes, so you draw with seaborn and then adjust with matplotlib. Learn seaborn for the statistical defaults and matplotlib for the control — they are one toolkit, not two competing ones.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THE SET TO KNOW</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Five seaborn plots that answer real questions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00400"/>
                <a:gridCol w="4389120"/>
                <a:gridCol w="347472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Plot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What shape is this 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sns.histplot(data=df, x="age")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distribution, skew, gaps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Does this group differ?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sns.boxplot(data=df, x="city", y="v")</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median, spread, OUTLIERS as dots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Are these two related?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sns.scatterplot(..., hue="city")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relationship, split by a category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What correlates with what?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sns.heatmap(df.corr(numeric_only=True))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whole correlation matrix at once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How many of each?</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sns.countplot(data=df, x="city")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Day 15's value_counts, drawn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4206240"/>
            <a:ext cx="5760720" cy="1645920"/>
          </a:xfrm>
          <a:prstGeom prst="roundRect">
            <a:avLst>
              <a:gd name="adj" fmla="val 5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352544"/>
            <a:ext cx="52120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boxplot is the outlier plot</a:t>
            </a:r>
            <a:endParaRPr lang="en-US" sz="1400" dirty="0"/>
          </a:p>
        </p:txBody>
      </p:sp>
      <p:sp>
        <p:nvSpPr>
          <p:cNvPr id="8" name="Text 5"/>
          <p:cNvSpPr txBox="1"/>
          <p:nvPr/>
        </p:nvSpPr>
        <p:spPr>
          <a:xfrm>
            <a:off x="804672" y="4681728"/>
            <a:ext cx="5257800" cy="1051560"/>
          </a:xfrm>
          <a:prstGeom prst="rect">
            <a:avLst/>
          </a:prstGeom>
          <a:noFill/>
          <a:ln/>
        </p:spPr>
        <p:txBody>
          <a:bodyPr wrap="square" lIns="0" tIns="0" rIns="0" bIns="0" rtlCol="0" anchor="ctr"/>
          <a:lstStyle/>
          <a:p>
            <a:pPr indent="0" marL="0">
              <a:lnSpc>
                <a:spcPct val="115000"/>
              </a:lnSpc>
              <a:buNone/>
            </a:pPr>
            <a:r>
              <a:rPr lang="en-US" sz="1200" dirty="0">
                <a:solidFill>
                  <a:srgbClr val="1C6F5C"/>
                </a:solidFill>
                <a:latin typeface="Calibri" pitchFamily="34" charset="0"/>
                <a:ea typeface="Calibri" pitchFamily="34" charset="-122"/>
                <a:cs typeface="Calibri" pitchFamily="34" charset="-120"/>
              </a:rPr>
              <a:t>Its whiskers are drawn at exactly the 1.5 x IQR bounds from section 1, and anything beyond them is plotted as an individual dot. So a boxplot is section 1 and section 3 in one picture — the detection rule, drawn.</a:t>
            </a:r>
            <a:endParaRPr lang="en-US" sz="1200" dirty="0"/>
          </a:p>
        </p:txBody>
      </p:sp>
      <p:sp>
        <p:nvSpPr>
          <p:cNvPr id="9" name="Shape 6"/>
          <p:cNvSpPr/>
          <p:nvPr/>
        </p:nvSpPr>
        <p:spPr>
          <a:xfrm>
            <a:off x="6583680" y="4206240"/>
            <a:ext cx="5029200" cy="1645920"/>
          </a:xfrm>
          <a:prstGeom prst="roundRect">
            <a:avLst>
              <a:gd name="adj" fmla="val 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839712" y="4352544"/>
            <a:ext cx="4480560" cy="301752"/>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One more worth knowing</a:t>
            </a:r>
            <a:endParaRPr lang="en-US" sz="1400" dirty="0"/>
          </a:p>
        </p:txBody>
      </p:sp>
      <p:sp>
        <p:nvSpPr>
          <p:cNvPr id="11" name="Shape 8"/>
          <p:cNvSpPr/>
          <p:nvPr/>
        </p:nvSpPr>
        <p:spPr>
          <a:xfrm>
            <a:off x="6839712" y="4681728"/>
            <a:ext cx="4526280" cy="548640"/>
          </a:xfrm>
          <a:prstGeom prst="roundRect">
            <a:avLst>
              <a:gd name="adj" fmla="val 11667"/>
            </a:avLst>
          </a:prstGeom>
          <a:solidFill>
            <a:srgbClr val="1B2B45"/>
          </a:solidFill>
          <a:ln w="12700">
            <a:solidFill>
              <a:srgbClr val="1B2B45"/>
            </a:solidFill>
            <a:prstDash val="solid"/>
          </a:ln>
        </p:spPr>
      </p:sp>
      <p:sp>
        <p:nvSpPr>
          <p:cNvPr id="12" name="Text 9"/>
          <p:cNvSpPr txBox="1"/>
          <p:nvPr/>
        </p:nvSpPr>
        <p:spPr>
          <a:xfrm>
            <a:off x="7004304" y="4791456"/>
            <a:ext cx="4197096" cy="3291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sns.pairplot(df, hue="city")</a:t>
            </a:r>
            <a:endParaRPr lang="en-US" sz="1000" dirty="0"/>
          </a:p>
        </p:txBody>
      </p:sp>
      <p:sp>
        <p:nvSpPr>
          <p:cNvPr id="13" name="Text 10"/>
          <p:cNvSpPr txBox="1"/>
          <p:nvPr/>
        </p:nvSpPr>
        <p:spPr>
          <a:xfrm>
            <a:off x="6839712" y="5303520"/>
            <a:ext cx="4526280" cy="457200"/>
          </a:xfrm>
          <a:prstGeom prst="rect">
            <a:avLst/>
          </a:prstGeom>
          <a:noFill/>
          <a:ln/>
        </p:spPr>
        <p:txBody>
          <a:bodyPr wrap="square" lIns="0" tIns="0" rIns="0" bIns="0" rtlCol="0" anchor="ctr"/>
          <a:lstStyle/>
          <a:p>
            <a:pPr indent="0" marL="0">
              <a:lnSpc>
                <a:spcPct val="112000"/>
              </a:lnSpc>
              <a:buNone/>
            </a:pPr>
            <a:r>
              <a:rPr lang="en-US" sz="1150" dirty="0">
                <a:solidFill>
                  <a:srgbClr val="2B3445"/>
                </a:solidFill>
                <a:latin typeface="Calibri" pitchFamily="34" charset="0"/>
                <a:ea typeface="Calibri" pitchFamily="34" charset="-122"/>
                <a:cs typeface="Calibri" pitchFamily="34" charset="-120"/>
              </a:rPr>
              <a:t>Every numeric column against every other, in one grid. Slow on wide data — use it on five or six columns, not fifty.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3.3  ·  READ THE DEFAULT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seaborn trap — barplot shows the MEAN</a:t>
            </a:r>
            <a:endParaRPr lang="en-US" sz="3200" dirty="0"/>
          </a:p>
        </p:txBody>
      </p:sp>
      <p:sp>
        <p:nvSpPr>
          <p:cNvPr id="5" name="Shape 3"/>
          <p:cNvSpPr/>
          <p:nvPr/>
        </p:nvSpPr>
        <p:spPr>
          <a:xfrm>
            <a:off x="548640" y="1572768"/>
            <a:ext cx="5760720" cy="2606040"/>
          </a:xfrm>
          <a:prstGeom prst="roundRect">
            <a:avLst>
              <a:gd name="adj" fmla="val 3158"/>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Not the total</a:t>
            </a:r>
            <a:endParaRPr lang="en-US" sz="1500" dirty="0"/>
          </a:p>
        </p:txBody>
      </p:sp>
      <p:sp>
        <p:nvSpPr>
          <p:cNvPr id="7" name="Shape 5"/>
          <p:cNvSpPr/>
          <p:nvPr/>
        </p:nvSpPr>
        <p:spPr>
          <a:xfrm>
            <a:off x="804672" y="2084832"/>
            <a:ext cx="5257800" cy="1600200"/>
          </a:xfrm>
          <a:prstGeom prst="roundRect">
            <a:avLst>
              <a:gd name="adj" fmla="val 4000"/>
            </a:avLst>
          </a:prstGeom>
          <a:solidFill>
            <a:srgbClr val="1B2B45"/>
          </a:solidFill>
          <a:ln w="12700">
            <a:solidFill>
              <a:srgbClr val="1B2B45"/>
            </a:solidFill>
            <a:prstDash val="solid"/>
          </a:ln>
        </p:spPr>
      </p:sp>
      <p:sp>
        <p:nvSpPr>
          <p:cNvPr id="8" name="Text 6"/>
          <p:cNvSpPr txBox="1"/>
          <p:nvPr/>
        </p:nvSpPr>
        <p:spPr>
          <a:xfrm>
            <a:off x="969264" y="2194560"/>
            <a:ext cx="4928616" cy="13807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   g   v</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  10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  20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B  30</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sns.barplot(data=df, x="g", y="v")</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-&gt;  A shows 15      B shows 30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 is the MEAN of 10 and 20, not the sum</a:t>
            </a:r>
            <a:endParaRPr lang="en-US" sz="950" dirty="0"/>
          </a:p>
        </p:txBody>
      </p:sp>
      <p:sp>
        <p:nvSpPr>
          <p:cNvPr id="9" name="Text 7"/>
          <p:cNvSpPr txBox="1"/>
          <p:nvPr/>
        </p:nvSpPr>
        <p:spPr>
          <a:xfrm>
            <a:off x="804672" y="3749040"/>
            <a:ext cx="5257800" cy="320040"/>
          </a:xfrm>
          <a:prstGeom prst="rect">
            <a:avLst/>
          </a:prstGeom>
          <a:noFill/>
          <a:ln/>
        </p:spPr>
        <p:txBody>
          <a:bodyPr wrap="square" lIns="0" tIns="0" rIns="0" bIns="0" rtlCol="0" anchor="ctr"/>
          <a:lstStyle/>
          <a:p>
            <a:pPr indent="0" marL="0">
              <a:buNone/>
            </a:pPr>
            <a:r>
              <a:rPr lang="en-US" sz="1150" b="1" dirty="0">
                <a:solidFill>
                  <a:srgbClr val="A63B24"/>
                </a:solidFill>
                <a:latin typeface="Calibri" pitchFamily="34" charset="0"/>
                <a:ea typeface="Calibri" pitchFamily="34" charset="-122"/>
                <a:cs typeface="Calibri" pitchFamily="34" charset="-120"/>
              </a:rPr>
              <a:t>Both bars look equal-ish, and a reader assumes they are totals.</a:t>
            </a:r>
            <a:endParaRPr lang="en-US" sz="1150" dirty="0"/>
          </a:p>
        </p:txBody>
      </p:sp>
      <p:sp>
        <p:nvSpPr>
          <p:cNvPr id="10" name="Shape 8"/>
          <p:cNvSpPr/>
          <p:nvPr/>
        </p:nvSpPr>
        <p:spPr>
          <a:xfrm>
            <a:off x="6583680" y="1572768"/>
            <a:ext cx="5029200" cy="2606040"/>
          </a:xfrm>
          <a:prstGeom prst="roundRect">
            <a:avLst>
              <a:gd name="adj" fmla="val 3158"/>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Say what you mean</a:t>
            </a:r>
            <a:endParaRPr lang="en-US" sz="1500" dirty="0"/>
          </a:p>
        </p:txBody>
      </p:sp>
      <p:sp>
        <p:nvSpPr>
          <p:cNvPr id="12" name="Shape 10"/>
          <p:cNvSpPr/>
          <p:nvPr/>
        </p:nvSpPr>
        <p:spPr>
          <a:xfrm>
            <a:off x="6839712" y="2084832"/>
            <a:ext cx="4526280" cy="1600200"/>
          </a:xfrm>
          <a:prstGeom prst="roundRect">
            <a:avLst>
              <a:gd name="adj" fmla="val 4000"/>
            </a:avLst>
          </a:prstGeom>
          <a:solidFill>
            <a:srgbClr val="1B2B45"/>
          </a:solidFill>
          <a:ln w="12700">
            <a:solidFill>
              <a:srgbClr val="1B2B45"/>
            </a:solidFill>
            <a:prstDash val="solid"/>
          </a:ln>
        </p:spPr>
      </p:sp>
      <p:sp>
        <p:nvSpPr>
          <p:cNvPr id="13" name="Text 11"/>
          <p:cNvSpPr txBox="1"/>
          <p:nvPr/>
        </p:nvSpPr>
        <p:spPr>
          <a:xfrm>
            <a:off x="7004304" y="2194560"/>
            <a:ext cx="4197096" cy="138074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sns.barplot(data=df, x="g", y="v",</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estimator="sum")</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or group it yourself first:</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t = df.groupby("g", as_index=False)["v"].sum()</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sns.barplot(data=t, x="g", y="v")</a:t>
            </a:r>
            <a:endParaRPr lang="en-US" sz="900" dirty="0"/>
          </a:p>
        </p:txBody>
      </p:sp>
      <p:sp>
        <p:nvSpPr>
          <p:cNvPr id="14" name="Text 12"/>
          <p:cNvSpPr txBox="1"/>
          <p:nvPr/>
        </p:nvSpPr>
        <p:spPr>
          <a:xfrm>
            <a:off x="6839712" y="3749040"/>
            <a:ext cx="4526280" cy="365760"/>
          </a:xfrm>
          <a:prstGeom prst="rect">
            <a:avLst/>
          </a:prstGeom>
          <a:noFill/>
          <a:ln/>
        </p:spPr>
        <p:txBody>
          <a:bodyPr wrap="square" lIns="0" tIns="0" rIns="0" bIns="0" rtlCol="0" anchor="ctr"/>
          <a:lstStyle/>
          <a:p>
            <a:pPr indent="0" marL="0">
              <a:buNone/>
            </a:pPr>
            <a:r>
              <a:rPr lang="en-US" sz="1150" dirty="0">
                <a:solidFill>
                  <a:srgbClr val="1C6F5C"/>
                </a:solidFill>
                <a:latin typeface="Calibri" pitchFamily="34" charset="0"/>
                <a:ea typeface="Calibri" pitchFamily="34" charset="-122"/>
                <a:cs typeface="Calibri" pitchFamily="34" charset="-120"/>
              </a:rPr>
              <a:t>The second is clearer — you can see the numbers before they are drawn.</a:t>
            </a:r>
            <a:endParaRPr lang="en-US" sz="1150" dirty="0"/>
          </a:p>
        </p:txBody>
      </p:sp>
      <p:sp>
        <p:nvSpPr>
          <p:cNvPr id="15" name="Shape 13"/>
          <p:cNvSpPr/>
          <p:nvPr/>
        </p:nvSpPr>
        <p:spPr>
          <a:xfrm>
            <a:off x="548640" y="4297680"/>
            <a:ext cx="11064240" cy="1554480"/>
          </a:xfrm>
          <a:prstGeom prst="roundRect">
            <a:avLst>
              <a:gd name="adj" fmla="val 529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44398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And those little lines on top of the bars</a:t>
            </a:r>
            <a:endParaRPr lang="en-US" sz="1450" dirty="0"/>
          </a:p>
        </p:txBody>
      </p:sp>
      <p:sp>
        <p:nvSpPr>
          <p:cNvPr id="17" name="Text 15"/>
          <p:cNvSpPr txBox="1"/>
          <p:nvPr/>
        </p:nvSpPr>
        <p:spPr>
          <a:xfrm>
            <a:off x="868680" y="4754880"/>
            <a:ext cx="10424160" cy="96012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Seaborn draws a confidence interval on every bar by default — the thin vertical line through the top. It is genuinely useful information, but only if you know it is there and what it means. If you are plotting totals rather than estimates it is meaningless, so turn it off with  errorbar=None . The broader lesson: before you show anyone a seaborn chart, check what the default actually computed.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3.4  ·  A DECISION TABLE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Choosing the right chart</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657600"/>
                <a:gridCol w="3657600"/>
                <a:gridCol w="374904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want to show</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Avoid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 numeric column's shape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histplot  or  boxplot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bar of the mean — it hides the shape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number per category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barplot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pie charts; and sort the bars first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Change over time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lineplot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bars, unless the gaps matter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Two numbers together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scatterplot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two separate line charts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Many columns at once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heatmap of corr()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wall of scatter plots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Counts of a category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countplot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table, if there are more than five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4663440"/>
            <a:ext cx="11064240" cy="1188720"/>
          </a:xfrm>
          <a:prstGeom prst="roundRect">
            <a:avLst>
              <a:gd name="adj" fmla="val 692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846320"/>
            <a:ext cx="10424160" cy="822960"/>
          </a:xfrm>
          <a:prstGeom prst="rect">
            <a:avLst/>
          </a:prstGeom>
          <a:noFill/>
          <a:ln/>
        </p:spPr>
        <p:txBody>
          <a:bodyPr wrap="square" lIns="0" tIns="0" rIns="0" bIns="0" rtlCol="0" anchor="ctr"/>
          <a:lstStyle/>
          <a:p>
            <a:pPr indent="0" marL="0">
              <a:lnSpc>
                <a:spcPct val="115000"/>
              </a:lnSpc>
              <a:buNone/>
            </a:pPr>
            <a:r>
              <a:rPr lang="en-US" sz="1250" b="1" dirty="0">
                <a:solidFill>
                  <a:srgbClr val="1C6F5C"/>
                </a:solidFill>
                <a:latin typeface="Calibri" pitchFamily="34" charset="0"/>
                <a:ea typeface="Calibri" pitchFamily="34" charset="-122"/>
                <a:cs typeface="Calibri" pitchFamily="34" charset="-120"/>
              </a:rPr>
              <a:t>The honest test:  </a:t>
            </a:r>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show the chart to someone who has not seen the data and ask them what it says. If they get it wrong, the chart is wrong — not the reader. That test will improve your plots faster than any list of rules, and it is the standard your Day 21 project will be marked against.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plotting and outlier bugs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023360"/>
                <a:gridCol w="4023360"/>
                <a:gridCol w="301752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z-score on dirty data</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outlier hides behind its own effect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 the IQR rule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deleting every outlier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you may delete the finding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LOOK at the rows first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plt.plot() for two charts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both land on the same axes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fig, ax = plt.subplots()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no axis labels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nobody can read it, including you</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ax.set_xlabel(...)</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sns.barplot  for totals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shows the MEAN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estimator="sum"</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df.corr()  with text columns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ValueError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corr(numeric_only=True)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savefig  cutting off labels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default crops tightly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bbox_inches="tight"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overlapping subplot labels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unreadable grid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fig.tight_layout()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Rows 1 and 2 cost you correctness. Rows 3 to 8 cost you marks. All eight are in today's practice notebook.</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one screen, one new dataset</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import matplotlib.pyplot as plt</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import seaborn as sns</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---- 1. find the outliers, do not act yet</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q1, q3 = df["spend"].quantile([.25, .75])</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iqr    = q3 - q1</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lo, hi = q1 - 1.5 * iqr, q3 + 1.5 * iqr</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odd = df[(df["spend"] &lt; lo) | (df["spend"] &gt; hi)]</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print(f"{len(odd)} outliers of {len(df)} rows")</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print(odd)                      #  LOOK at them</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---- 2. four views, one figure</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fig, axes = plt.subplots(2, 2, figsize=(11, 7))</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sns.histplot(data=df, x="spend", bins=20, ax=axes[0, 0])</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axes[0, 0].set_title("Spend: distribution")</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sns.boxplot(data=df, x="city", y="spend", ax=axes[0, 1])</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axes[0, 1].set_title("Spend by city (dots = outliers)")</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sns.scatterplot(data=df, x="age", y="spend",</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hue="city", alpha=0.7, ax=axes[1, 0])</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axes[1, 0].set_title("Age vs spend")</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sns.heatmap(df.corr(numeric_only=True), annot=True,</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cmap="Blues", ax=axes[1, 1])</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axes[1, 1].set_title("Correlations")</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fig.tight_layout()</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fig.savefig("overview.png", dpi=150, bbox_inches="tight")</a:t>
            </a:r>
            <a:endParaRPr lang="en-US" sz="700" dirty="0"/>
          </a:p>
        </p:txBody>
      </p:sp>
      <p:sp>
        <p:nvSpPr>
          <p:cNvPr id="8" name="Shape 6"/>
          <p:cNvSpPr/>
          <p:nvPr/>
        </p:nvSpPr>
        <p:spPr>
          <a:xfrm>
            <a:off x="7406640" y="1572768"/>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664208"/>
            <a:ext cx="118872" cy="274320"/>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591056"/>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Detect first</a:t>
            </a:r>
            <a:endParaRPr lang="en-US" sz="1050" dirty="0"/>
          </a:p>
        </p:txBody>
      </p:sp>
      <p:sp>
        <p:nvSpPr>
          <p:cNvPr id="11" name="Text 9"/>
          <p:cNvSpPr txBox="1"/>
          <p:nvPr/>
        </p:nvSpPr>
        <p:spPr>
          <a:xfrm>
            <a:off x="7790688" y="1801368"/>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IQR bounds, before any plotting</a:t>
            </a:r>
            <a:endParaRPr lang="en-US" sz="900" dirty="0"/>
          </a:p>
        </p:txBody>
      </p:sp>
      <p:sp>
        <p:nvSpPr>
          <p:cNvPr id="12" name="Shape 10"/>
          <p:cNvSpPr/>
          <p:nvPr/>
        </p:nvSpPr>
        <p:spPr>
          <a:xfrm>
            <a:off x="7406640" y="2103120"/>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194560"/>
            <a:ext cx="118872" cy="274320"/>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121408"/>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Print the rows</a:t>
            </a:r>
            <a:endParaRPr lang="en-US" sz="1050" dirty="0"/>
          </a:p>
        </p:txBody>
      </p:sp>
      <p:sp>
        <p:nvSpPr>
          <p:cNvPr id="15" name="Text 13"/>
          <p:cNvSpPr txBox="1"/>
          <p:nvPr/>
        </p:nvSpPr>
        <p:spPr>
          <a:xfrm>
            <a:off x="7790688" y="2331720"/>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never treat what you have not seen</a:t>
            </a:r>
            <a:endParaRPr lang="en-US" sz="900" dirty="0"/>
          </a:p>
        </p:txBody>
      </p:sp>
      <p:sp>
        <p:nvSpPr>
          <p:cNvPr id="16" name="Shape 14"/>
          <p:cNvSpPr/>
          <p:nvPr/>
        </p:nvSpPr>
        <p:spPr>
          <a:xfrm>
            <a:off x="7406640" y="2633472"/>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2724912"/>
            <a:ext cx="118872" cy="274320"/>
          </a:xfrm>
          <a:prstGeom prst="roundRect">
            <a:avLst>
              <a:gd name="adj" fmla="val 38462"/>
            </a:avLst>
          </a:prstGeom>
          <a:solidFill>
            <a:srgbClr val="3E7CB1"/>
          </a:solidFill>
          <a:ln w="12700">
            <a:solidFill>
              <a:srgbClr val="333333"/>
            </a:solidFill>
            <a:prstDash val="solid"/>
          </a:ln>
        </p:spPr>
      </p:sp>
      <p:sp>
        <p:nvSpPr>
          <p:cNvPr id="18" name="Text 16"/>
          <p:cNvSpPr txBox="1"/>
          <p:nvPr/>
        </p:nvSpPr>
        <p:spPr>
          <a:xfrm>
            <a:off x="7790688" y="2651760"/>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2 x 2 grid</a:t>
            </a:r>
            <a:endParaRPr lang="en-US" sz="1050" dirty="0"/>
          </a:p>
        </p:txBody>
      </p:sp>
      <p:sp>
        <p:nvSpPr>
          <p:cNvPr id="19" name="Text 17"/>
          <p:cNvSpPr txBox="1"/>
          <p:nvPr/>
        </p:nvSpPr>
        <p:spPr>
          <a:xfrm>
            <a:off x="7790688" y="2862072"/>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axes[0, 0] — Day 12 indexing</a:t>
            </a:r>
            <a:endParaRPr lang="en-US" sz="900" dirty="0"/>
          </a:p>
        </p:txBody>
      </p:sp>
      <p:sp>
        <p:nvSpPr>
          <p:cNvPr id="20" name="Shape 18"/>
          <p:cNvSpPr/>
          <p:nvPr/>
        </p:nvSpPr>
        <p:spPr>
          <a:xfrm>
            <a:off x="7406640" y="3163824"/>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255264"/>
            <a:ext cx="118872" cy="274320"/>
          </a:xfrm>
          <a:prstGeom prst="roundRect">
            <a:avLst>
              <a:gd name="adj" fmla="val 38462"/>
            </a:avLst>
          </a:prstGeom>
          <a:solidFill>
            <a:srgbClr val="2FA98C"/>
          </a:solidFill>
          <a:ln w="12700">
            <a:solidFill>
              <a:srgbClr val="333333"/>
            </a:solidFill>
            <a:prstDash val="solid"/>
          </a:ln>
        </p:spPr>
      </p:sp>
      <p:sp>
        <p:nvSpPr>
          <p:cNvPr id="22" name="Text 20"/>
          <p:cNvSpPr txBox="1"/>
          <p:nvPr/>
        </p:nvSpPr>
        <p:spPr>
          <a:xfrm>
            <a:off x="7790688" y="3182112"/>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histplot</a:t>
            </a:r>
            <a:endParaRPr lang="en-US" sz="1050" dirty="0"/>
          </a:p>
        </p:txBody>
      </p:sp>
      <p:sp>
        <p:nvSpPr>
          <p:cNvPr id="23" name="Text 21"/>
          <p:cNvSpPr txBox="1"/>
          <p:nvPr/>
        </p:nvSpPr>
        <p:spPr>
          <a:xfrm>
            <a:off x="7790688" y="3392424"/>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the shape of one column</a:t>
            </a:r>
            <a:endParaRPr lang="en-US" sz="900" dirty="0"/>
          </a:p>
        </p:txBody>
      </p:sp>
      <p:sp>
        <p:nvSpPr>
          <p:cNvPr id="24" name="Shape 22"/>
          <p:cNvSpPr/>
          <p:nvPr/>
        </p:nvSpPr>
        <p:spPr>
          <a:xfrm>
            <a:off x="7406640" y="3694176"/>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3785616"/>
            <a:ext cx="118872" cy="274320"/>
          </a:xfrm>
          <a:prstGeom prst="roundRect">
            <a:avLst>
              <a:gd name="adj" fmla="val 38462"/>
            </a:avLst>
          </a:prstGeom>
          <a:solidFill>
            <a:srgbClr val="2FA98C"/>
          </a:solidFill>
          <a:ln w="12700">
            <a:solidFill>
              <a:srgbClr val="333333"/>
            </a:solidFill>
            <a:prstDash val="solid"/>
          </a:ln>
        </p:spPr>
      </p:sp>
      <p:sp>
        <p:nvSpPr>
          <p:cNvPr id="26" name="Text 24"/>
          <p:cNvSpPr txBox="1"/>
          <p:nvPr/>
        </p:nvSpPr>
        <p:spPr>
          <a:xfrm>
            <a:off x="7790688" y="3712464"/>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boxplot</a:t>
            </a:r>
            <a:endParaRPr lang="en-US" sz="1050" dirty="0"/>
          </a:p>
        </p:txBody>
      </p:sp>
      <p:sp>
        <p:nvSpPr>
          <p:cNvPr id="27" name="Text 25"/>
          <p:cNvSpPr txBox="1"/>
          <p:nvPr/>
        </p:nvSpPr>
        <p:spPr>
          <a:xfrm>
            <a:off x="7790688" y="3922776"/>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the IQR rule, drawn</a:t>
            </a:r>
            <a:endParaRPr lang="en-US" sz="900" dirty="0"/>
          </a:p>
        </p:txBody>
      </p:sp>
      <p:sp>
        <p:nvSpPr>
          <p:cNvPr id="28" name="Shape 26"/>
          <p:cNvSpPr/>
          <p:nvPr/>
        </p:nvSpPr>
        <p:spPr>
          <a:xfrm>
            <a:off x="7406640" y="4224528"/>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4315968"/>
            <a:ext cx="118872" cy="274320"/>
          </a:xfrm>
          <a:prstGeom prst="roundRect">
            <a:avLst>
              <a:gd name="adj" fmla="val 38462"/>
            </a:avLst>
          </a:prstGeom>
          <a:solidFill>
            <a:srgbClr val="3E7CB1"/>
          </a:solidFill>
          <a:ln w="12700">
            <a:solidFill>
              <a:srgbClr val="333333"/>
            </a:solidFill>
            <a:prstDash val="solid"/>
          </a:ln>
        </p:spPr>
      </p:sp>
      <p:sp>
        <p:nvSpPr>
          <p:cNvPr id="30" name="Text 28"/>
          <p:cNvSpPr txBox="1"/>
          <p:nvPr/>
        </p:nvSpPr>
        <p:spPr>
          <a:xfrm>
            <a:off x="7790688" y="4242816"/>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hue=</a:t>
            </a:r>
            <a:endParaRPr lang="en-US" sz="1050" dirty="0"/>
          </a:p>
        </p:txBody>
      </p:sp>
      <p:sp>
        <p:nvSpPr>
          <p:cNvPr id="31" name="Text 29"/>
          <p:cNvSpPr txBox="1"/>
          <p:nvPr/>
        </p:nvSpPr>
        <p:spPr>
          <a:xfrm>
            <a:off x="7790688" y="4453128"/>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a third variable, free</a:t>
            </a:r>
            <a:endParaRPr lang="en-US" sz="900" dirty="0"/>
          </a:p>
        </p:txBody>
      </p:sp>
      <p:sp>
        <p:nvSpPr>
          <p:cNvPr id="32" name="Shape 30"/>
          <p:cNvSpPr/>
          <p:nvPr/>
        </p:nvSpPr>
        <p:spPr>
          <a:xfrm>
            <a:off x="7406640" y="4754880"/>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3" name="Shape 31"/>
          <p:cNvSpPr/>
          <p:nvPr/>
        </p:nvSpPr>
        <p:spPr>
          <a:xfrm>
            <a:off x="7562088" y="4846320"/>
            <a:ext cx="118872" cy="274320"/>
          </a:xfrm>
          <a:prstGeom prst="roundRect">
            <a:avLst>
              <a:gd name="adj" fmla="val 38462"/>
            </a:avLst>
          </a:prstGeom>
          <a:solidFill>
            <a:srgbClr val="FFC145"/>
          </a:solidFill>
          <a:ln w="12700">
            <a:solidFill>
              <a:srgbClr val="333333"/>
            </a:solidFill>
            <a:prstDash val="solid"/>
          </a:ln>
        </p:spPr>
      </p:sp>
      <p:sp>
        <p:nvSpPr>
          <p:cNvPr id="34" name="Text 32"/>
          <p:cNvSpPr txBox="1"/>
          <p:nvPr/>
        </p:nvSpPr>
        <p:spPr>
          <a:xfrm>
            <a:off x="7790688" y="4773168"/>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numeric_only=True</a:t>
            </a:r>
            <a:endParaRPr lang="en-US" sz="1050" dirty="0"/>
          </a:p>
        </p:txBody>
      </p:sp>
      <p:sp>
        <p:nvSpPr>
          <p:cNvPr id="35" name="Text 33"/>
          <p:cNvSpPr txBox="1"/>
          <p:nvPr/>
        </p:nvSpPr>
        <p:spPr>
          <a:xfrm>
            <a:off x="7790688" y="4983480"/>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corr() needs it with text columns</a:t>
            </a:r>
            <a:endParaRPr lang="en-US" sz="900" dirty="0"/>
          </a:p>
        </p:txBody>
      </p:sp>
      <p:sp>
        <p:nvSpPr>
          <p:cNvPr id="36" name="Shape 34"/>
          <p:cNvSpPr/>
          <p:nvPr/>
        </p:nvSpPr>
        <p:spPr>
          <a:xfrm>
            <a:off x="7406640" y="5285232"/>
            <a:ext cx="4206240" cy="457200"/>
          </a:xfrm>
          <a:prstGeom prst="roundRect">
            <a:avLst>
              <a:gd name="adj" fmla="val 18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7" name="Shape 35"/>
          <p:cNvSpPr/>
          <p:nvPr/>
        </p:nvSpPr>
        <p:spPr>
          <a:xfrm>
            <a:off x="7562088" y="5376672"/>
            <a:ext cx="118872" cy="274320"/>
          </a:xfrm>
          <a:prstGeom prst="roundRect">
            <a:avLst>
              <a:gd name="adj" fmla="val 38462"/>
            </a:avLst>
          </a:prstGeom>
          <a:solidFill>
            <a:srgbClr val="FFC145"/>
          </a:solidFill>
          <a:ln w="12700">
            <a:solidFill>
              <a:srgbClr val="333333"/>
            </a:solidFill>
            <a:prstDash val="solid"/>
          </a:ln>
        </p:spPr>
      </p:sp>
      <p:sp>
        <p:nvSpPr>
          <p:cNvPr id="38" name="Text 36"/>
          <p:cNvSpPr txBox="1"/>
          <p:nvPr/>
        </p:nvSpPr>
        <p:spPr>
          <a:xfrm>
            <a:off x="7790688" y="5303520"/>
            <a:ext cx="3017520" cy="219456"/>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tight_layout + bbox</a:t>
            </a:r>
            <a:endParaRPr lang="en-US" sz="1050" dirty="0"/>
          </a:p>
        </p:txBody>
      </p:sp>
      <p:sp>
        <p:nvSpPr>
          <p:cNvPr id="39" name="Text 37"/>
          <p:cNvSpPr txBox="1"/>
          <p:nvPr/>
        </p:nvSpPr>
        <p:spPr>
          <a:xfrm>
            <a:off x="7790688" y="5513832"/>
            <a:ext cx="3703320" cy="201168"/>
          </a:xfrm>
          <a:prstGeom prst="rect">
            <a:avLst/>
          </a:prstGeom>
          <a:noFill/>
          <a:ln/>
        </p:spPr>
        <p:txBody>
          <a:bodyPr wrap="square" lIns="0" tIns="0" rIns="0" bIns="0" rtlCol="0" anchor="ctr"/>
          <a:lstStyle/>
          <a:p>
            <a:pPr indent="0" marL="0">
              <a:buNone/>
            </a:pPr>
            <a:r>
              <a:rPr lang="en-US" sz="900" dirty="0">
                <a:solidFill>
                  <a:srgbClr val="6B7789"/>
                </a:solidFill>
                <a:latin typeface="Calibri" pitchFamily="34" charset="0"/>
                <a:ea typeface="Calibri" pitchFamily="34" charset="-122"/>
                <a:cs typeface="Calibri" pitchFamily="34" charset="-120"/>
              </a:rPr>
              <a:t>nothing cropped, nothing overlapping</a:t>
            </a:r>
            <a:endParaRPr lang="en-US" sz="900" dirty="0"/>
          </a:p>
        </p:txBody>
      </p:sp>
      <p:sp>
        <p:nvSpPr>
          <p:cNvPr id="40" name="Text 38"/>
          <p:cNvSpPr txBox="1"/>
          <p:nvPr/>
        </p:nvSpPr>
        <p:spPr>
          <a:xfrm>
            <a:off x="548640" y="5998464"/>
            <a:ext cx="6766560" cy="292608"/>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Four charts and an outlier check is a complete first look at a dataset. This is tomorrow's project in miniature.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IQR bounds, z-scores, plot defaults</a:t>
            </a:r>
            <a:endParaRPr lang="en-US" sz="1150" dirty="0"/>
          </a:p>
        </p:txBody>
      </p:sp>
      <p:sp>
        <p:nvSpPr>
          <p:cNvPr id="10" name="Text 8"/>
          <p:cNvSpPr txBox="1"/>
          <p:nvPr/>
        </p:nvSpPr>
        <p:spPr>
          <a:xfrm>
            <a:off x="6583680" y="1947672"/>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Z-score blind spot, barplot mean, labels</a:t>
            </a:r>
            <a:endParaRPr lang="en-US" sz="1150" dirty="0"/>
          </a:p>
        </p:txBody>
      </p:sp>
      <p:sp>
        <p:nvSpPr>
          <p:cNvPr id="16" name="Text 14"/>
          <p:cNvSpPr txBox="1"/>
          <p:nvPr/>
        </p:nvSpPr>
        <p:spPr>
          <a:xfrm>
            <a:off x="6583680" y="2971800"/>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Detect, cap, hist, box, scatter with hue</a:t>
            </a:r>
            <a:endParaRPr lang="en-US" sz="1150" dirty="0"/>
          </a:p>
        </p:txBody>
      </p:sp>
      <p:sp>
        <p:nvSpPr>
          <p:cNvPr id="22" name="Text 20"/>
          <p:cNvSpPr txBox="1"/>
          <p:nvPr/>
        </p:nvSpPr>
        <p:spPr>
          <a:xfrm>
            <a:off x="6583680" y="3995928"/>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A 2x2 overview, and an outlier you should KEEP</a:t>
            </a:r>
            <a:endParaRPr lang="en-US" sz="1150" dirty="0"/>
          </a:p>
        </p:txBody>
      </p:sp>
      <p:sp>
        <p:nvSpPr>
          <p:cNvPr id="28" name="Text 26"/>
          <p:cNvSpPr txBox="1"/>
          <p:nvPr/>
        </p:nvSpPr>
        <p:spPr>
          <a:xfrm>
            <a:off x="6583680" y="502005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Day20_Practice_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Label every axis</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Print outlier rows before acting</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Swap charts with a neighbour</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Every chart you make today must have both axes labelled and a title. An unlabelled chart is an unfinished chart.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An outlier may be a typo, a sentinel, or the finding itself.</a:t>
            </a:r>
            <a:endParaRPr lang="en-US" sz="100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No test can tell you which. Print the rows and look.</a:t>
            </a:r>
            <a:endParaRPr lang="en-US" sz="100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IQR bounds: Q1 - 1.5*IQR  and  Q3 + 1.5*IQR.</a:t>
            </a:r>
            <a:endParaRPr lang="en-US" sz="100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 A z-score can MISS the outlier that distorts its own mean.</a:t>
            </a:r>
            <a:endParaRPr lang="en-US" sz="100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Keep, remove, cap with clip(), or transform — all have costs.</a:t>
            </a:r>
            <a:endParaRPr lang="en-US" sz="100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Anscombe: identical statistics, four completely different shapes.</a:t>
            </a:r>
            <a:endParaRPr lang="en-US" sz="100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Always  fig, ax = plt.subplots()  — never bare plt.plot().</a:t>
            </a:r>
            <a:endParaRPr lang="en-US" sz="100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line · bar · scatter · hist cover most of what you need.</a:t>
            </a:r>
            <a:endParaRPr lang="en-US" sz="100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Label both axes and give every chart a title.</a:t>
            </a:r>
            <a:endParaRPr lang="en-US" sz="100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Seaborn takes data= and a column name, and gives you hue=.</a:t>
            </a:r>
            <a:endParaRPr lang="en-US" sz="100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 sns.barplot shows the MEAN, with a confidence interval.</a:t>
            </a:r>
            <a:endParaRPr lang="en-US" sz="100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A boxplot IS the IQR rule, drawn — dots are the outliers.</a:t>
            </a:r>
            <a:endParaRPr lang="en-US" sz="100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Find the outliers in a dataset by IQR and by z-score and explain any disagreement  ·  Rebuild the 2x2 overview grid for a dataset of your own  ·  Take one chart and improve it until a classmate reads it correctly</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Day 21</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1050" dirty="0">
                <a:solidFill>
                  <a:srgbClr val="AFC2DC"/>
                </a:solidFill>
                <a:latin typeface="Calibri" pitchFamily="34" charset="0"/>
                <a:ea typeface="Calibri" pitchFamily="34" charset="-122"/>
                <a:cs typeface="Calibri" pitchFamily="34" charset="-120"/>
              </a:rPr>
              <a:t>Mini project: a full EDA on a real dataset. Load, clean, explore, visualise and write up — everything from Days 15 to 20, end to end.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20 - Outliers, Matplotlib &amp; Seaborn</dc:title>
  <dc:subject>PptxGenJS Presentation</dc:subject>
  <dc:creator>Data Science Program</dc:creator>
  <cp:lastModifiedBy>Data Science Program</cp:lastModifiedBy>
  <cp:revision>1</cp:revision>
  <dcterms:created xsi:type="dcterms:W3CDTF">2026-10-03T05:50:56Z</dcterms:created>
  <dcterms:modified xsi:type="dcterms:W3CDTF">2026-10-03T05:50:56Z</dcterms:modified>
</cp:coreProperties>
</file>