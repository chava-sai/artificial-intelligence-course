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Yesterday we learned to store and compute values. Today the program starts making decisions and repeating work. Frame it as: every data pipeline you will ever write is conditionals plus loops wrapped around the types from yesterday.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this. Do not reveal the right column until someone answers. Five minutes maximum - if the room is shaky on two or more, slow down during today's truthiness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tighter split today - four sections instead of Day 1's three. Keep an eye on the clock during for loops; that section always runs long because students want to try variations.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Hand-tracing is the single skill that separates students who cope with nested loops from those who stall. Demonstrate it live at least twice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a block with 2 spaces then 4 spaces in the same if and show the TabError/IndentationError. Colab auto-indents after a colon, which hides the problem until they paste code from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Day 1 truthiness explicitly - it is the same list. The 'if items:' idiom is what they will actually see in real code, so introduce it now rather than 'if len(items) &gt;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Live-demo the reordering bug: move the &gt;= 40 branch to the top and run with 90. Seeing 'C' print for a 90 is the moment elif ordering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Pitfall 1 is the big one - separate ifs versus elif. It is the most common logic bug in beginner grading code and it produces no error, just a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nested ternary and then immediately say 'do not write this'. They will see it in other people's code, so they should recognise it, but not produce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variable is a copy' point saves an hour of confusion later. Run it live - students are always surprised the list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Off-by-one is the defining loop bug. Spend a full minute on the green/red strip. Ask: 'how do I loop 1 to 5 inclusive?' and wait for range(1,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enumerate and zip are what separate code that looks like a beginner's from code that looks professional. Insist on them from today rather than range(len(x)).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pattern is 80% of what loops are for. The hand-trace table is the demonstration of the habit from the outcomes slide - walk it out loud, row by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the NumPy seed here. When you reach broadcasting in 1.12, call back to this slide explicitly - it makes vectorisation feel like a solution to a problem they already felt.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run an infinite loop and stop it in front of them. Removing the fear of 'I broke it' is worth the 30 seconds - otherwise they freeze when it happens during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'until a value converges' bullet is gradient descent, which they meet in Module 4. Say that out loud - it makes while loops feel relevant rather than academic.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and deliberately type 'abc', then '150', then '85'. Three inputs demonstrates all three paths through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colour strips do the explaining here. For continue, stress that the loop does NOT stop - students routinely confuse the two in the first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for/else brief - it is recognition-level knowledge, not something to test on. pass matters more day to day, especially when they start stubbing out functions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Photograph slide, same as Day 1. The last row (mutating while iterating) is subtle - mention it exists but do not go deep, they will meet it properly with lists in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live if the clock allows, typing it from scratch rather than pasting. Ask the room what comes next at each line. If you are short on time, run it once and walk the right-hand column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questions notebook now. Watch for students stuck in infinite loops who are afraid to say so - check screens rather than waiting for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twelve lines aloud as a spaced-repetition pass. Confirm homework. Tomorrow's functions topic builds directly on today - a function body is just another indented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D3050"/>
          </a:solidFill>
          <a:ln w="12700">
            <a:solidFill>
              <a:srgbClr val="333333"/>
            </a:solidFill>
            <a:prstDash val="solid"/>
          </a:ln>
        </p:spPr>
      </p:sp>
      <p:sp>
        <p:nvSpPr>
          <p:cNvPr id="3" name="Shape 1"/>
          <p:cNvSpPr/>
          <p:nvPr/>
        </p:nvSpPr>
        <p:spPr>
          <a:xfrm>
            <a:off x="10607040" y="4206240"/>
            <a:ext cx="3108960" cy="3108960"/>
          </a:xfrm>
          <a:prstGeom prst="ellipse">
            <a:avLst/>
          </a:prstGeom>
          <a:solidFill>
            <a:srgbClr val="1A2A46"/>
          </a:solidFill>
          <a:ln w="12700">
            <a:solidFill>
              <a:srgbClr val="333333"/>
            </a:solidFill>
            <a:prstDash val="solid"/>
          </a:ln>
        </p:spPr>
      </p:sp>
      <p:sp>
        <p:nvSpPr>
          <p:cNvPr id="4" name="Text 2"/>
          <p:cNvSpPr txBox="1"/>
          <p:nvPr/>
        </p:nvSpPr>
        <p:spPr>
          <a:xfrm>
            <a:off x="822960" y="1417320"/>
            <a:ext cx="8686800" cy="320040"/>
          </a:xfrm>
          <a:prstGeom prst="rect">
            <a:avLst/>
          </a:prstGeom>
          <a:noFill/>
          <a:ln/>
        </p:spPr>
        <p:txBody>
          <a:bodyPr wrap="square" lIns="0" tIns="0" rIns="0" bIns="0" rtlCol="0" anchor="ctr"/>
          <a:lstStyle/>
          <a:p>
            <a:pPr indent="0" marL="0">
              <a:buNone/>
            </a:pPr>
            <a:r>
              <a:rPr lang="en-US" sz="1300" b="1" spc="200" kern="0" dirty="0">
                <a:solidFill>
                  <a:srgbClr val="FFC145"/>
                </a:solidFill>
                <a:latin typeface="Calibri" pitchFamily="34" charset="0"/>
                <a:ea typeface="Calibri" pitchFamily="34" charset="-122"/>
                <a:cs typeface="Calibri" pitchFamily="34" charset="-120"/>
              </a:rPr>
              <a:t>PYTHON FOR DATA SCIENCE  ·  MODULE 1  ·  TOPIC 1.2</a:t>
            </a:r>
            <a:endParaRPr lang="en-US" sz="1300" dirty="0"/>
          </a:p>
        </p:txBody>
      </p:sp>
      <p:sp>
        <p:nvSpPr>
          <p:cNvPr id="5" name="Text 3"/>
          <p:cNvSpPr txBox="1"/>
          <p:nvPr/>
        </p:nvSpPr>
        <p:spPr>
          <a:xfrm>
            <a:off x="822960" y="1874520"/>
            <a:ext cx="8412480" cy="1737360"/>
          </a:xfrm>
          <a:prstGeom prst="rect">
            <a:avLst/>
          </a:prstGeom>
          <a:noFill/>
          <a:ln/>
        </p:spPr>
        <p:txBody>
          <a:bodyPr wrap="square" lIns="0" tIns="0" rIns="0" bIns="0" rtlCol="0" anchor="ctr"/>
          <a:lstStyle/>
          <a:p>
            <a:pPr indent="0" marL="0">
              <a:lnSpc>
                <a:spcPct val="105000"/>
              </a:lnSpc>
              <a:buNone/>
            </a:pPr>
            <a:r>
              <a:rPr lang="en-US" sz="4800" b="1" dirty="0">
                <a:solidFill>
                  <a:srgbClr val="FFFFFF"/>
                </a:solidFill>
                <a:latin typeface="Cambria" pitchFamily="34" charset="0"/>
                <a:ea typeface="Cambria" pitchFamily="34" charset="-122"/>
                <a:cs typeface="Cambria" pitchFamily="34" charset="-120"/>
              </a:rPr>
              <a:t>Loops &amp;</a:t>
            </a:r>
            <a:endParaRPr lang="en-US" sz="4800" dirty="0"/>
          </a:p>
          <a:p>
            <a:pPr indent="0" marL="0">
              <a:lnSpc>
                <a:spcPct val="105000"/>
              </a:lnSpc>
              <a:buNone/>
            </a:pPr>
            <a:r>
              <a:rPr lang="en-US" sz="4800" b="1" dirty="0">
                <a:solidFill>
                  <a:srgbClr val="FFFFFF"/>
                </a:solidFill>
                <a:latin typeface="Cambria" pitchFamily="34" charset="0"/>
                <a:ea typeface="Cambria" pitchFamily="34" charset="-122"/>
                <a:cs typeface="Cambria" pitchFamily="34" charset="-120"/>
              </a:rPr>
              <a:t>Conditionals</a:t>
            </a:r>
            <a:endParaRPr lang="en-US" sz="4800" dirty="0"/>
          </a:p>
        </p:txBody>
      </p:sp>
      <p:sp>
        <p:nvSpPr>
          <p:cNvPr id="6" name="Text 4"/>
          <p:cNvSpPr txBox="1"/>
          <p:nvPr/>
        </p:nvSpPr>
        <p:spPr>
          <a:xfrm>
            <a:off x="841248" y="3703320"/>
            <a:ext cx="8229600" cy="365760"/>
          </a:xfrm>
          <a:prstGeom prst="rect">
            <a:avLst/>
          </a:prstGeom>
          <a:noFill/>
          <a:ln/>
        </p:spPr>
        <p:txBody>
          <a:bodyPr wrap="square" lIns="0" tIns="0" rIns="0" bIns="0" rtlCol="0" anchor="ctr"/>
          <a:lstStyle/>
          <a:p>
            <a:pPr indent="0" marL="0">
              <a:buNone/>
            </a:pPr>
            <a:r>
              <a:rPr lang="en-US" sz="1800" i="1" dirty="0">
                <a:solidFill>
                  <a:srgbClr val="AFC2DC"/>
                </a:solidFill>
                <a:latin typeface="Calibri" pitchFamily="34" charset="0"/>
                <a:ea typeface="Calibri" pitchFamily="34" charset="-122"/>
                <a:cs typeface="Calibri" pitchFamily="34" charset="-120"/>
              </a:rPr>
              <a:t>Day 2  —  teaching the computer to decide and to repeat</a:t>
            </a:r>
            <a:endParaRPr lang="en-US" sz="1800" dirty="0"/>
          </a:p>
        </p:txBody>
      </p:sp>
      <p:sp>
        <p:nvSpPr>
          <p:cNvPr id="7" name="Shape 5"/>
          <p:cNvSpPr/>
          <p:nvPr/>
        </p:nvSpPr>
        <p:spPr>
          <a:xfrm>
            <a:off x="822960" y="4526280"/>
            <a:ext cx="2468880" cy="960120"/>
          </a:xfrm>
          <a:prstGeom prst="roundRect">
            <a:avLst>
              <a:gd name="adj" fmla="val 8571"/>
            </a:avLst>
          </a:prstGeom>
          <a:solidFill>
            <a:srgbClr val="1E3151"/>
          </a:solidFill>
          <a:ln w="12700">
            <a:solidFill>
              <a:srgbClr val="1E3151"/>
            </a:solidFill>
            <a:prstDash val="solid"/>
          </a:ln>
        </p:spPr>
      </p:sp>
      <p:sp>
        <p:nvSpPr>
          <p:cNvPr id="8" name="Text 6"/>
          <p:cNvSpPr txBox="1"/>
          <p:nvPr/>
        </p:nvSpPr>
        <p:spPr>
          <a:xfrm>
            <a:off x="1024128" y="462686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90 min</a:t>
            </a:r>
            <a:endParaRPr lang="en-US" sz="2200" dirty="0"/>
          </a:p>
        </p:txBody>
      </p:sp>
      <p:sp>
        <p:nvSpPr>
          <p:cNvPr id="9" name="Text 7"/>
          <p:cNvSpPr txBox="1"/>
          <p:nvPr/>
        </p:nvSpPr>
        <p:spPr>
          <a:xfrm>
            <a:off x="1024128" y="5029200"/>
            <a:ext cx="2103120" cy="320040"/>
          </a:xfrm>
          <a:prstGeom prst="rect">
            <a:avLst/>
          </a:prstGeom>
          <a:noFill/>
          <a:ln/>
        </p:spPr>
        <p:txBody>
          <a:bodyPr wrap="square" lIns="0" tIns="0" rIns="0" bIns="0" rtlCol="0" anchor="ctr"/>
          <a:lstStyle/>
          <a:p>
            <a:pPr indent="0" marL="0">
              <a:buNone/>
            </a:pPr>
            <a:r>
              <a:rPr lang="en-US" sz="1200" dirty="0">
                <a:solidFill>
                  <a:srgbClr val="9DB2CE"/>
                </a:solidFill>
                <a:latin typeface="Calibri" pitchFamily="34" charset="0"/>
                <a:ea typeface="Calibri" pitchFamily="34" charset="-122"/>
                <a:cs typeface="Calibri" pitchFamily="34" charset="-120"/>
              </a:rPr>
              <a:t>Concepts + live code</a:t>
            </a:r>
            <a:endParaRPr lang="en-US" sz="1200" dirty="0"/>
          </a:p>
        </p:txBody>
      </p:sp>
      <p:sp>
        <p:nvSpPr>
          <p:cNvPr id="10" name="Shape 8"/>
          <p:cNvSpPr/>
          <p:nvPr/>
        </p:nvSpPr>
        <p:spPr>
          <a:xfrm>
            <a:off x="3566160" y="4526280"/>
            <a:ext cx="2468880" cy="960120"/>
          </a:xfrm>
          <a:prstGeom prst="roundRect">
            <a:avLst>
              <a:gd name="adj" fmla="val 8571"/>
            </a:avLst>
          </a:prstGeom>
          <a:solidFill>
            <a:srgbClr val="1E3151"/>
          </a:solidFill>
          <a:ln w="12700">
            <a:solidFill>
              <a:srgbClr val="1E3151"/>
            </a:solidFill>
            <a:prstDash val="solid"/>
          </a:ln>
        </p:spPr>
      </p:sp>
      <p:sp>
        <p:nvSpPr>
          <p:cNvPr id="11" name="Text 9"/>
          <p:cNvSpPr txBox="1"/>
          <p:nvPr/>
        </p:nvSpPr>
        <p:spPr>
          <a:xfrm>
            <a:off x="3767328" y="462686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30 min</a:t>
            </a:r>
            <a:endParaRPr lang="en-US" sz="2200" dirty="0"/>
          </a:p>
        </p:txBody>
      </p:sp>
      <p:sp>
        <p:nvSpPr>
          <p:cNvPr id="12" name="Text 10"/>
          <p:cNvSpPr txBox="1"/>
          <p:nvPr/>
        </p:nvSpPr>
        <p:spPr>
          <a:xfrm>
            <a:off x="3767328" y="5029200"/>
            <a:ext cx="2103120" cy="320040"/>
          </a:xfrm>
          <a:prstGeom prst="rect">
            <a:avLst/>
          </a:prstGeom>
          <a:noFill/>
          <a:ln/>
        </p:spPr>
        <p:txBody>
          <a:bodyPr wrap="square" lIns="0" tIns="0" rIns="0" bIns="0" rtlCol="0" anchor="ctr"/>
          <a:lstStyle/>
          <a:p>
            <a:pPr indent="0" marL="0">
              <a:buNone/>
            </a:pPr>
            <a:r>
              <a:rPr lang="en-US" sz="1200" dirty="0">
                <a:solidFill>
                  <a:srgbClr val="9DB2CE"/>
                </a:solidFill>
                <a:latin typeface="Calibri" pitchFamily="34" charset="0"/>
                <a:ea typeface="Calibri" pitchFamily="34" charset="-122"/>
                <a:cs typeface="Calibri" pitchFamily="34" charset="-120"/>
              </a:rPr>
              <a:t>Practice notebook</a:t>
            </a:r>
            <a:endParaRPr lang="en-US" sz="1200" dirty="0"/>
          </a:p>
        </p:txBody>
      </p:sp>
      <p:sp>
        <p:nvSpPr>
          <p:cNvPr id="13" name="Shape 11"/>
          <p:cNvSpPr/>
          <p:nvPr/>
        </p:nvSpPr>
        <p:spPr>
          <a:xfrm>
            <a:off x="6309360" y="4526280"/>
            <a:ext cx="2468880" cy="960120"/>
          </a:xfrm>
          <a:prstGeom prst="roundRect">
            <a:avLst>
              <a:gd name="adj" fmla="val 8571"/>
            </a:avLst>
          </a:prstGeom>
          <a:solidFill>
            <a:srgbClr val="1E3151"/>
          </a:solidFill>
          <a:ln w="12700">
            <a:solidFill>
              <a:srgbClr val="1E3151"/>
            </a:solidFill>
            <a:prstDash val="solid"/>
          </a:ln>
        </p:spPr>
      </p:sp>
      <p:sp>
        <p:nvSpPr>
          <p:cNvPr id="14" name="Text 12"/>
          <p:cNvSpPr txBox="1"/>
          <p:nvPr/>
        </p:nvSpPr>
        <p:spPr>
          <a:xfrm>
            <a:off x="6510528" y="462686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4</a:t>
            </a:r>
            <a:endParaRPr lang="en-US" sz="2200" dirty="0"/>
          </a:p>
        </p:txBody>
      </p:sp>
      <p:sp>
        <p:nvSpPr>
          <p:cNvPr id="15" name="Text 13"/>
          <p:cNvSpPr txBox="1"/>
          <p:nvPr/>
        </p:nvSpPr>
        <p:spPr>
          <a:xfrm>
            <a:off x="6510528" y="5029200"/>
            <a:ext cx="2103120" cy="320040"/>
          </a:xfrm>
          <a:prstGeom prst="rect">
            <a:avLst/>
          </a:prstGeom>
          <a:noFill/>
          <a:ln/>
        </p:spPr>
        <p:txBody>
          <a:bodyPr wrap="square" lIns="0" tIns="0" rIns="0" bIns="0" rtlCol="0" anchor="ctr"/>
          <a:lstStyle/>
          <a:p>
            <a:pPr indent="0" marL="0">
              <a:buNone/>
            </a:pPr>
            <a:r>
              <a:rPr lang="en-US" sz="1200" dirty="0">
                <a:solidFill>
                  <a:srgbClr val="9DB2CE"/>
                </a:solidFill>
                <a:latin typeface="Calibri" pitchFamily="34" charset="0"/>
                <a:ea typeface="Calibri" pitchFamily="34" charset="-122"/>
                <a:cs typeface="Calibri" pitchFamily="34" charset="-120"/>
              </a:rPr>
              <a:t>Control-flow tools</a:t>
            </a:r>
            <a:endParaRPr lang="en-US" sz="1200" dirty="0"/>
          </a:p>
        </p:txBody>
      </p:sp>
      <p:sp>
        <p:nvSpPr>
          <p:cNvPr id="16" name="Shape 14"/>
          <p:cNvSpPr/>
          <p:nvPr/>
        </p:nvSpPr>
        <p:spPr>
          <a:xfrm>
            <a:off x="9098280" y="1371600"/>
            <a:ext cx="2514600" cy="2514600"/>
          </a:xfrm>
          <a:prstGeom prst="roundRect">
            <a:avLst>
              <a:gd name="adj" fmla="val 3636"/>
            </a:avLst>
          </a:prstGeom>
          <a:solidFill>
            <a:srgbClr val="FFFFFF"/>
          </a:solidFill>
          <a:ln w="12700">
            <a:solidFill>
              <a:srgbClr val="333333"/>
            </a:solidFill>
            <a:prstDash val="solid"/>
          </a:ln>
          <a:effectLst>
            <a:outerShdw sx="100000" sy="100000" kx="0" ky="0" algn="bl" rotWithShape="0" blurRad="177800" dist="38100" dir="5400000">
              <a:srgbClr val="000000">
                <a:alpha val="35000"/>
              </a:srgbClr>
            </a:outerShdw>
          </a:effectLst>
        </p:spPr>
      </p:sp>
      <p:pic>
        <p:nvPicPr>
          <p:cNvPr id="17" name="Image 0" descr="/home/claude/day2/bu_logo.png">    </p:cNvPr>
          <p:cNvPicPr>
            <a:picLocks noChangeAspect="1"/>
          </p:cNvPicPr>
          <p:nvPr/>
        </p:nvPicPr>
        <p:blipFill>
          <a:blip r:embed="rId1"/>
          <a:stretch>
            <a:fillRect/>
          </a:stretch>
        </p:blipFill>
        <p:spPr>
          <a:xfrm>
            <a:off x="9400032" y="1737360"/>
            <a:ext cx="1911096" cy="1783080"/>
          </a:xfrm>
          <a:prstGeom prst="rect">
            <a:avLst/>
          </a:prstGeom>
        </p:spPr>
      </p:pic>
      <p:sp>
        <p:nvSpPr>
          <p:cNvPr id="18" name="Text 15"/>
          <p:cNvSpPr txBox="1"/>
          <p:nvPr/>
        </p:nvSpPr>
        <p:spPr>
          <a:xfrm>
            <a:off x="9098280" y="3977640"/>
            <a:ext cx="2514600" cy="274320"/>
          </a:xfrm>
          <a:prstGeom prst="rect">
            <a:avLst/>
          </a:prstGeom>
          <a:noFill/>
          <a:ln/>
        </p:spPr>
        <p:txBody>
          <a:bodyPr wrap="square" lIns="0" tIns="0" rIns="0" bIns="0" rtlCol="0" anchor="ctr"/>
          <a:lstStyle/>
          <a:p>
            <a:pPr algn="ctr" indent="0" marL="0">
              <a:buNone/>
            </a:pPr>
            <a:r>
              <a:rPr lang="en-US" sz="1200" b="1" dirty="0">
                <a:solidFill>
                  <a:srgbClr val="AFC2DC"/>
                </a:solidFill>
                <a:latin typeface="Calibri" pitchFamily="34" charset="0"/>
                <a:ea typeface="Calibri" pitchFamily="34" charset="-122"/>
                <a:cs typeface="Calibri" pitchFamily="34" charset="-120"/>
              </a:rPr>
              <a:t>Boston University</a:t>
            </a:r>
            <a:endParaRPr lang="en-US" sz="1200" dirty="0"/>
          </a:p>
        </p:txBody>
      </p:sp>
      <p:sp>
        <p:nvSpPr>
          <p:cNvPr id="19" name="Text 16"/>
          <p:cNvSpPr txBox="1"/>
          <p:nvPr/>
        </p:nvSpPr>
        <p:spPr>
          <a:xfrm>
            <a:off x="841248" y="5806440"/>
            <a:ext cx="7315200" cy="292608"/>
          </a:xfrm>
          <a:prstGeom prst="rect">
            <a:avLst/>
          </a:prstGeom>
          <a:noFill/>
          <a:ln/>
        </p:spPr>
        <p:txBody>
          <a:bodyPr wrap="square" lIns="0" tIns="0" rIns="0" bIns="0" rtlCol="0" anchor="ctr"/>
          <a:lstStyle/>
          <a:p>
            <a:pPr indent="0" marL="0">
              <a:buNone/>
            </a:pPr>
            <a:r>
              <a:rPr lang="en-US" sz="1300" dirty="0">
                <a:solidFill>
                  <a:srgbClr val="8FA6C4"/>
                </a:solidFill>
                <a:latin typeface="Calibri" pitchFamily="34" charset="0"/>
                <a:ea typeface="Calibri" pitchFamily="34" charset="-122"/>
                <a:cs typeface="Calibri" pitchFamily="34" charset="-120"/>
              </a:rPr>
              <a:t>Prepared &amp; presented by  </a:t>
            </a:r>
            <a:pPr indent="0" marL="0">
              <a:buNone/>
            </a:pPr>
            <a:r>
              <a:rPr lang="en-US" sz="1300" b="1" dirty="0">
                <a:solidFill>
                  <a:srgbClr val="FFC145"/>
                </a:solidFill>
                <a:latin typeface="Calibri" pitchFamily="34" charset="0"/>
                <a:ea typeface="Calibri" pitchFamily="34" charset="-122"/>
                <a:cs typeface="Calibri" pitchFamily="34" charset="-120"/>
              </a:rPr>
              <a:t>Srinivasa Sai Chava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WARM-UP  ·  5 MINUTES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Before we start — five questions from Day 1</a:t>
            </a:r>
            <a:endParaRPr lang="en-US" sz="3200" dirty="0"/>
          </a:p>
        </p:txBody>
      </p:sp>
      <p:sp>
        <p:nvSpPr>
          <p:cNvPr id="5" name="Shape 3"/>
          <p:cNvSpPr/>
          <p:nvPr/>
        </p:nvSpPr>
        <p:spPr>
          <a:xfrm>
            <a:off x="548640" y="1572768"/>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746504"/>
            <a:ext cx="384048" cy="384048"/>
          </a:xfrm>
          <a:prstGeom prst="ellipse">
            <a:avLst/>
          </a:prstGeom>
          <a:solidFill>
            <a:srgbClr val="3E7CB1"/>
          </a:solidFill>
          <a:ln w="12700">
            <a:solidFill>
              <a:srgbClr val="3E7CB1"/>
            </a:solidFill>
            <a:prstDash val="solid"/>
          </a:ln>
        </p:spPr>
      </p:sp>
      <p:sp>
        <p:nvSpPr>
          <p:cNvPr id="7" name="Text 5"/>
          <p:cNvSpPr txBox="1"/>
          <p:nvPr/>
        </p:nvSpPr>
        <p:spPr>
          <a:xfrm>
            <a:off x="777240" y="17465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25880" y="1773936"/>
            <a:ext cx="4480560" cy="329184"/>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input() returns what type?</a:t>
            </a:r>
            <a:endParaRPr lang="en-US" sz="1450" dirty="0"/>
          </a:p>
        </p:txBody>
      </p:sp>
      <p:sp>
        <p:nvSpPr>
          <p:cNvPr id="9" name="Text 7"/>
          <p:cNvSpPr txBox="1"/>
          <p:nvPr/>
        </p:nvSpPr>
        <p:spPr>
          <a:xfrm>
            <a:off x="5943600" y="1773936"/>
            <a:ext cx="5486400" cy="329184"/>
          </a:xfrm>
          <a:prstGeom prst="rect">
            <a:avLst/>
          </a:prstGeom>
          <a:noFill/>
          <a:ln/>
        </p:spPr>
        <p:txBody>
          <a:bodyPr wrap="square" lIns="0" tIns="0" rIns="0" bIns="0" rtlCol="0" anchor="ctr"/>
          <a:lstStyle/>
          <a:p>
            <a:pPr indent="0" marL="0">
              <a:buNone/>
            </a:pPr>
            <a:r>
              <a:rPr lang="en-US" sz="1350" b="1" dirty="0">
                <a:solidFill>
                  <a:srgbClr val="2FA98C"/>
                </a:solidFill>
                <a:latin typeface="Calibri" pitchFamily="34" charset="0"/>
                <a:ea typeface="Calibri" pitchFamily="34" charset="-122"/>
                <a:cs typeface="Calibri" pitchFamily="34" charset="-120"/>
              </a:rPr>
              <a:t>→   </a:t>
            </a:r>
            <a:pPr indent="0" marL="0">
              <a:buNone/>
            </a:pPr>
            <a:r>
              <a:rPr lang="en-US" sz="1350" dirty="0">
                <a:solidFill>
                  <a:srgbClr val="2B3445"/>
                </a:solidFill>
                <a:latin typeface="Calibri" pitchFamily="34" charset="0"/>
                <a:ea typeface="Calibri" pitchFamily="34" charset="-122"/>
                <a:cs typeface="Calibri" pitchFamily="34" charset="-120"/>
              </a:rPr>
              <a:t>str  —  always. Cast it.</a:t>
            </a:r>
            <a:endParaRPr lang="en-US" sz="1350" dirty="0"/>
          </a:p>
        </p:txBody>
      </p:sp>
      <p:sp>
        <p:nvSpPr>
          <p:cNvPr id="10" name="Shape 8"/>
          <p:cNvSpPr/>
          <p:nvPr/>
        </p:nvSpPr>
        <p:spPr>
          <a:xfrm>
            <a:off x="548640" y="2414016"/>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777240" y="2587752"/>
            <a:ext cx="384048" cy="384048"/>
          </a:xfrm>
          <a:prstGeom prst="ellipse">
            <a:avLst/>
          </a:prstGeom>
          <a:solidFill>
            <a:srgbClr val="3E7CB1"/>
          </a:solidFill>
          <a:ln w="12700">
            <a:solidFill>
              <a:srgbClr val="3E7CB1"/>
            </a:solidFill>
            <a:prstDash val="solid"/>
          </a:ln>
        </p:spPr>
      </p:sp>
      <p:sp>
        <p:nvSpPr>
          <p:cNvPr id="12" name="Text 10"/>
          <p:cNvSpPr txBox="1"/>
          <p:nvPr/>
        </p:nvSpPr>
        <p:spPr>
          <a:xfrm>
            <a:off x="777240" y="25877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325880" y="2615184"/>
            <a:ext cx="4480560" cy="329184"/>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int(9.99) gives?</a:t>
            </a:r>
            <a:endParaRPr lang="en-US" sz="1450" dirty="0"/>
          </a:p>
        </p:txBody>
      </p:sp>
      <p:sp>
        <p:nvSpPr>
          <p:cNvPr id="14" name="Text 12"/>
          <p:cNvSpPr txBox="1"/>
          <p:nvPr/>
        </p:nvSpPr>
        <p:spPr>
          <a:xfrm>
            <a:off x="5943600" y="2615184"/>
            <a:ext cx="5486400" cy="329184"/>
          </a:xfrm>
          <a:prstGeom prst="rect">
            <a:avLst/>
          </a:prstGeom>
          <a:noFill/>
          <a:ln/>
        </p:spPr>
        <p:txBody>
          <a:bodyPr wrap="square" lIns="0" tIns="0" rIns="0" bIns="0" rtlCol="0" anchor="ctr"/>
          <a:lstStyle/>
          <a:p>
            <a:pPr indent="0" marL="0">
              <a:buNone/>
            </a:pPr>
            <a:r>
              <a:rPr lang="en-US" sz="1350" b="1" dirty="0">
                <a:solidFill>
                  <a:srgbClr val="2FA98C"/>
                </a:solidFill>
                <a:latin typeface="Calibri" pitchFamily="34" charset="0"/>
                <a:ea typeface="Calibri" pitchFamily="34" charset="-122"/>
                <a:cs typeface="Calibri" pitchFamily="34" charset="-120"/>
              </a:rPr>
              <a:t>→   </a:t>
            </a:r>
            <a:pPr indent="0" marL="0">
              <a:buNone/>
            </a:pPr>
            <a:r>
              <a:rPr lang="en-US" sz="1350" dirty="0">
                <a:solidFill>
                  <a:srgbClr val="2B3445"/>
                </a:solidFill>
                <a:latin typeface="Calibri" pitchFamily="34" charset="0"/>
                <a:ea typeface="Calibri" pitchFamily="34" charset="-122"/>
                <a:cs typeface="Calibri" pitchFamily="34" charset="-120"/>
              </a:rPr>
              <a:t>9  —  it truncates, never rounds.</a:t>
            </a:r>
            <a:endParaRPr lang="en-US" sz="1350" dirty="0"/>
          </a:p>
        </p:txBody>
      </p:sp>
      <p:sp>
        <p:nvSpPr>
          <p:cNvPr id="15" name="Shape 13"/>
          <p:cNvSpPr/>
          <p:nvPr/>
        </p:nvSpPr>
        <p:spPr>
          <a:xfrm>
            <a:off x="548640" y="3255264"/>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777240" y="3429000"/>
            <a:ext cx="384048" cy="384048"/>
          </a:xfrm>
          <a:prstGeom prst="ellipse">
            <a:avLst/>
          </a:prstGeom>
          <a:solidFill>
            <a:srgbClr val="3E7CB1"/>
          </a:solidFill>
          <a:ln w="12700">
            <a:solidFill>
              <a:srgbClr val="3E7CB1"/>
            </a:solidFill>
            <a:prstDash val="solid"/>
          </a:ln>
        </p:spPr>
      </p:sp>
      <p:sp>
        <p:nvSpPr>
          <p:cNvPr id="17" name="Text 15"/>
          <p:cNvSpPr txBox="1"/>
          <p:nvPr/>
        </p:nvSpPr>
        <p:spPr>
          <a:xfrm>
            <a:off x="777240" y="3429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325880" y="3456432"/>
            <a:ext cx="4480560" cy="329184"/>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Why is 0.1 + 0.2 == 0.3 False?</a:t>
            </a:r>
            <a:endParaRPr lang="en-US" sz="1450" dirty="0"/>
          </a:p>
        </p:txBody>
      </p:sp>
      <p:sp>
        <p:nvSpPr>
          <p:cNvPr id="19" name="Text 17"/>
          <p:cNvSpPr txBox="1"/>
          <p:nvPr/>
        </p:nvSpPr>
        <p:spPr>
          <a:xfrm>
            <a:off x="5943600" y="3456432"/>
            <a:ext cx="5486400" cy="329184"/>
          </a:xfrm>
          <a:prstGeom prst="rect">
            <a:avLst/>
          </a:prstGeom>
          <a:noFill/>
          <a:ln/>
        </p:spPr>
        <p:txBody>
          <a:bodyPr wrap="square" lIns="0" tIns="0" rIns="0" bIns="0" rtlCol="0" anchor="ctr"/>
          <a:lstStyle/>
          <a:p>
            <a:pPr indent="0" marL="0">
              <a:buNone/>
            </a:pPr>
            <a:r>
              <a:rPr lang="en-US" sz="1350" b="1" dirty="0">
                <a:solidFill>
                  <a:srgbClr val="2FA98C"/>
                </a:solidFill>
                <a:latin typeface="Calibri" pitchFamily="34" charset="0"/>
                <a:ea typeface="Calibri" pitchFamily="34" charset="-122"/>
                <a:cs typeface="Calibri" pitchFamily="34" charset="-120"/>
              </a:rPr>
              <a:t>→   </a:t>
            </a:r>
            <a:pPr indent="0" marL="0">
              <a:buNone/>
            </a:pPr>
            <a:r>
              <a:rPr lang="en-US" sz="1350" dirty="0">
                <a:solidFill>
                  <a:srgbClr val="2B3445"/>
                </a:solidFill>
                <a:latin typeface="Calibri" pitchFamily="34" charset="0"/>
                <a:ea typeface="Calibri" pitchFamily="34" charset="-122"/>
                <a:cs typeface="Calibri" pitchFamily="34" charset="-120"/>
              </a:rPr>
              <a:t>Binary cannot store 0.1 exactly. Use math.isclose().</a:t>
            </a:r>
            <a:endParaRPr lang="en-US" sz="1350" dirty="0"/>
          </a:p>
        </p:txBody>
      </p:sp>
      <p:sp>
        <p:nvSpPr>
          <p:cNvPr id="20" name="Shape 18"/>
          <p:cNvSpPr/>
          <p:nvPr/>
        </p:nvSpPr>
        <p:spPr>
          <a:xfrm>
            <a:off x="548640" y="4096512"/>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77240" y="4270248"/>
            <a:ext cx="384048" cy="384048"/>
          </a:xfrm>
          <a:prstGeom prst="ellipse">
            <a:avLst/>
          </a:prstGeom>
          <a:solidFill>
            <a:srgbClr val="3E7CB1"/>
          </a:solidFill>
          <a:ln w="12700">
            <a:solidFill>
              <a:srgbClr val="3E7CB1"/>
            </a:solidFill>
            <a:prstDash val="solid"/>
          </a:ln>
        </p:spPr>
      </p:sp>
      <p:sp>
        <p:nvSpPr>
          <p:cNvPr id="22" name="Text 20"/>
          <p:cNvSpPr txBox="1"/>
          <p:nvPr/>
        </p:nvSpPr>
        <p:spPr>
          <a:xfrm>
            <a:off x="777240" y="4270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325880" y="4297680"/>
            <a:ext cx="4480560" cy="329184"/>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2 ** 3 ** 2 evaluates to?</a:t>
            </a:r>
            <a:endParaRPr lang="en-US" sz="1450" dirty="0"/>
          </a:p>
        </p:txBody>
      </p:sp>
      <p:sp>
        <p:nvSpPr>
          <p:cNvPr id="24" name="Text 22"/>
          <p:cNvSpPr txBox="1"/>
          <p:nvPr/>
        </p:nvSpPr>
        <p:spPr>
          <a:xfrm>
            <a:off x="5943600" y="4297680"/>
            <a:ext cx="5486400" cy="329184"/>
          </a:xfrm>
          <a:prstGeom prst="rect">
            <a:avLst/>
          </a:prstGeom>
          <a:noFill/>
          <a:ln/>
        </p:spPr>
        <p:txBody>
          <a:bodyPr wrap="square" lIns="0" tIns="0" rIns="0" bIns="0" rtlCol="0" anchor="ctr"/>
          <a:lstStyle/>
          <a:p>
            <a:pPr indent="0" marL="0">
              <a:buNone/>
            </a:pPr>
            <a:r>
              <a:rPr lang="en-US" sz="1350" b="1" dirty="0">
                <a:solidFill>
                  <a:srgbClr val="2FA98C"/>
                </a:solidFill>
                <a:latin typeface="Calibri" pitchFamily="34" charset="0"/>
                <a:ea typeface="Calibri" pitchFamily="34" charset="-122"/>
                <a:cs typeface="Calibri" pitchFamily="34" charset="-120"/>
              </a:rPr>
              <a:t>→   </a:t>
            </a:r>
            <a:pPr indent="0" marL="0">
              <a:buNone/>
            </a:pPr>
            <a:r>
              <a:rPr lang="en-US" sz="1350" dirty="0">
                <a:solidFill>
                  <a:srgbClr val="2B3445"/>
                </a:solidFill>
                <a:latin typeface="Calibri" pitchFamily="34" charset="0"/>
                <a:ea typeface="Calibri" pitchFamily="34" charset="-122"/>
                <a:cs typeface="Calibri" pitchFamily="34" charset="-120"/>
              </a:rPr>
              <a:t>512  —  ** is right-to-left.</a:t>
            </a:r>
            <a:endParaRPr lang="en-US" sz="1350" dirty="0"/>
          </a:p>
        </p:txBody>
      </p:sp>
      <p:sp>
        <p:nvSpPr>
          <p:cNvPr id="25" name="Shape 23"/>
          <p:cNvSpPr/>
          <p:nvPr/>
        </p:nvSpPr>
        <p:spPr>
          <a:xfrm>
            <a:off x="548640" y="4937760"/>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Shape 24"/>
          <p:cNvSpPr/>
          <p:nvPr/>
        </p:nvSpPr>
        <p:spPr>
          <a:xfrm>
            <a:off x="777240" y="5111496"/>
            <a:ext cx="384048" cy="384048"/>
          </a:xfrm>
          <a:prstGeom prst="ellipse">
            <a:avLst/>
          </a:prstGeom>
          <a:solidFill>
            <a:srgbClr val="3E7CB1"/>
          </a:solidFill>
          <a:ln w="12700">
            <a:solidFill>
              <a:srgbClr val="3E7CB1"/>
            </a:solidFill>
            <a:prstDash val="solid"/>
          </a:ln>
        </p:spPr>
      </p:sp>
      <p:sp>
        <p:nvSpPr>
          <p:cNvPr id="27" name="Text 25"/>
          <p:cNvSpPr txBox="1"/>
          <p:nvPr/>
        </p:nvSpPr>
        <p:spPr>
          <a:xfrm>
            <a:off x="777240" y="5111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1325880" y="5138928"/>
            <a:ext cx="4480560" cy="329184"/>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When do I use is instead of ==?</a:t>
            </a:r>
            <a:endParaRPr lang="en-US" sz="1450" dirty="0"/>
          </a:p>
        </p:txBody>
      </p:sp>
      <p:sp>
        <p:nvSpPr>
          <p:cNvPr id="29" name="Text 27"/>
          <p:cNvSpPr txBox="1"/>
          <p:nvPr/>
        </p:nvSpPr>
        <p:spPr>
          <a:xfrm>
            <a:off x="5943600" y="5138928"/>
            <a:ext cx="5486400" cy="329184"/>
          </a:xfrm>
          <a:prstGeom prst="rect">
            <a:avLst/>
          </a:prstGeom>
          <a:noFill/>
          <a:ln/>
        </p:spPr>
        <p:txBody>
          <a:bodyPr wrap="square" lIns="0" tIns="0" rIns="0" bIns="0" rtlCol="0" anchor="ctr"/>
          <a:lstStyle/>
          <a:p>
            <a:pPr indent="0" marL="0">
              <a:buNone/>
            </a:pPr>
            <a:r>
              <a:rPr lang="en-US" sz="1350" b="1" dirty="0">
                <a:solidFill>
                  <a:srgbClr val="2FA98C"/>
                </a:solidFill>
                <a:latin typeface="Calibri" pitchFamily="34" charset="0"/>
                <a:ea typeface="Calibri" pitchFamily="34" charset="-122"/>
                <a:cs typeface="Calibri" pitchFamily="34" charset="-120"/>
              </a:rPr>
              <a:t>→   </a:t>
            </a:r>
            <a:pPr indent="0" marL="0">
              <a:buNone/>
            </a:pPr>
            <a:r>
              <a:rPr lang="en-US" sz="1350" dirty="0">
                <a:solidFill>
                  <a:srgbClr val="2B3445"/>
                </a:solidFill>
                <a:latin typeface="Calibri" pitchFamily="34" charset="0"/>
                <a:ea typeface="Calibri" pitchFamily="34" charset="-122"/>
                <a:cs typeface="Calibri" pitchFamily="34" charset="-120"/>
              </a:rPr>
              <a:t>Only with None, True and False.</a:t>
            </a:r>
            <a:endParaRPr lang="en-US" sz="1350" dirty="0"/>
          </a:p>
        </p:txBody>
      </p:sp>
      <p:sp>
        <p:nvSpPr>
          <p:cNvPr id="30" name="Text 28"/>
          <p:cNvSpPr txBox="1"/>
          <p:nvPr/>
        </p:nvSpPr>
        <p:spPr>
          <a:xfrm>
            <a:off x="548640" y="5852160"/>
            <a:ext cx="11064240" cy="292608"/>
          </a:xfrm>
          <a:prstGeom prst="rect">
            <a:avLst/>
          </a:prstGeom>
          <a:noFill/>
          <a:ln/>
        </p:spPr>
        <p:txBody>
          <a:bodyPr wrap="square" lIns="0" tIns="0" rIns="0" bIns="0" rtlCol="0" anchor="ctr"/>
          <a:lstStyle/>
          <a:p>
            <a:pPr indent="0" marL="0">
              <a:buNone/>
            </a:pPr>
            <a:r>
              <a:rPr lang="en-US" sz="1300" i="1" dirty="0">
                <a:solidFill>
                  <a:srgbClr val="6B7789"/>
                </a:solidFill>
                <a:latin typeface="Calibri" pitchFamily="34" charset="0"/>
                <a:ea typeface="Calibri" pitchFamily="34" charset="-122"/>
                <a:cs typeface="Calibri" pitchFamily="34" charset="-120"/>
              </a:rPr>
              <a:t>Today's material sits directly on top of these. If any felt shaky, revisit the Day 1 notebook tonight.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SESSION PLAN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How today's two hours are structured</a:t>
            </a:r>
            <a:endParaRPr lang="en-US" sz="3200" dirty="0"/>
          </a:p>
        </p:txBody>
      </p:sp>
      <p:sp>
        <p:nvSpPr>
          <p:cNvPr id="5" name="Shape 3"/>
          <p:cNvSpPr/>
          <p:nvPr/>
        </p:nvSpPr>
        <p:spPr>
          <a:xfrm>
            <a:off x="548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39112"/>
            <a:ext cx="420624" cy="420624"/>
          </a:xfrm>
          <a:prstGeom prst="ellipse">
            <a:avLst/>
          </a:prstGeom>
          <a:solidFill>
            <a:srgbClr val="3E7CB1"/>
          </a:solidFill>
          <a:ln w="12700">
            <a:solidFill>
              <a:srgbClr val="3E7CB1"/>
            </a:solidFill>
            <a:prstDash val="solid"/>
          </a:ln>
        </p:spPr>
      </p:sp>
      <p:sp>
        <p:nvSpPr>
          <p:cNvPr id="7" name="Text 5"/>
          <p:cNvSpPr txBox="1"/>
          <p:nvPr/>
        </p:nvSpPr>
        <p:spPr>
          <a:xfrm>
            <a:off x="804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1874520"/>
            <a:ext cx="3200400" cy="347472"/>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Conditionals</a:t>
            </a:r>
            <a:endParaRPr lang="en-US" sz="1600" dirty="0"/>
          </a:p>
        </p:txBody>
      </p:sp>
      <p:sp>
        <p:nvSpPr>
          <p:cNvPr id="9" name="Text 7"/>
          <p:cNvSpPr txBox="1"/>
          <p:nvPr/>
        </p:nvSpPr>
        <p:spPr>
          <a:xfrm>
            <a:off x="1417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if · elif · else · indentation · ternary</a:t>
            </a:r>
            <a:endParaRPr lang="en-US" sz="1250" dirty="0"/>
          </a:p>
        </p:txBody>
      </p:sp>
      <p:sp>
        <p:nvSpPr>
          <p:cNvPr id="10" name="Text 8"/>
          <p:cNvSpPr txBox="1"/>
          <p:nvPr/>
        </p:nvSpPr>
        <p:spPr>
          <a:xfrm>
            <a:off x="4709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25 min</a:t>
            </a:r>
            <a:endParaRPr lang="en-US" sz="1300" dirty="0"/>
          </a:p>
        </p:txBody>
      </p:sp>
      <p:sp>
        <p:nvSpPr>
          <p:cNvPr id="11" name="Shape 9"/>
          <p:cNvSpPr/>
          <p:nvPr/>
        </p:nvSpPr>
        <p:spPr>
          <a:xfrm>
            <a:off x="6263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6519672" y="2039112"/>
            <a:ext cx="420624" cy="420624"/>
          </a:xfrm>
          <a:prstGeom prst="ellipse">
            <a:avLst/>
          </a:prstGeom>
          <a:solidFill>
            <a:srgbClr val="3E7CB1"/>
          </a:solidFill>
          <a:ln w="12700">
            <a:solidFill>
              <a:srgbClr val="3E7CB1"/>
            </a:solidFill>
            <a:prstDash val="solid"/>
          </a:ln>
        </p:spPr>
      </p:sp>
      <p:sp>
        <p:nvSpPr>
          <p:cNvPr id="13" name="Text 11"/>
          <p:cNvSpPr txBox="1"/>
          <p:nvPr/>
        </p:nvSpPr>
        <p:spPr>
          <a:xfrm>
            <a:off x="6519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132320" y="1874520"/>
            <a:ext cx="3200400" cy="347472"/>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for loops</a:t>
            </a:r>
            <a:endParaRPr lang="en-US" sz="1600" dirty="0"/>
          </a:p>
        </p:txBody>
      </p:sp>
      <p:sp>
        <p:nvSpPr>
          <p:cNvPr id="15" name="Text 13"/>
          <p:cNvSpPr txBox="1"/>
          <p:nvPr/>
        </p:nvSpPr>
        <p:spPr>
          <a:xfrm>
            <a:off x="7132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range() · enumerate · zip · nested loops</a:t>
            </a:r>
            <a:endParaRPr lang="en-US" sz="1250" dirty="0"/>
          </a:p>
        </p:txBody>
      </p:sp>
      <p:sp>
        <p:nvSpPr>
          <p:cNvPr id="16" name="Text 14"/>
          <p:cNvSpPr txBox="1"/>
          <p:nvPr/>
        </p:nvSpPr>
        <p:spPr>
          <a:xfrm>
            <a:off x="10424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25 min</a:t>
            </a:r>
            <a:endParaRPr lang="en-US" sz="1300" dirty="0"/>
          </a:p>
        </p:txBody>
      </p:sp>
      <p:sp>
        <p:nvSpPr>
          <p:cNvPr id="17" name="Shape 15"/>
          <p:cNvSpPr/>
          <p:nvPr/>
        </p:nvSpPr>
        <p:spPr>
          <a:xfrm>
            <a:off x="548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804672" y="3364992"/>
            <a:ext cx="420624" cy="420624"/>
          </a:xfrm>
          <a:prstGeom prst="ellipse">
            <a:avLst/>
          </a:prstGeom>
          <a:solidFill>
            <a:srgbClr val="3E7CB1"/>
          </a:solidFill>
          <a:ln w="12700">
            <a:solidFill>
              <a:srgbClr val="3E7CB1"/>
            </a:solidFill>
            <a:prstDash val="solid"/>
          </a:ln>
        </p:spPr>
      </p:sp>
      <p:sp>
        <p:nvSpPr>
          <p:cNvPr id="19" name="Text 17"/>
          <p:cNvSpPr txBox="1"/>
          <p:nvPr/>
        </p:nvSpPr>
        <p:spPr>
          <a:xfrm>
            <a:off x="804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417320" y="3200400"/>
            <a:ext cx="3200400" cy="347472"/>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while loops</a:t>
            </a:r>
            <a:endParaRPr lang="en-US" sz="1600" dirty="0"/>
          </a:p>
        </p:txBody>
      </p:sp>
      <p:sp>
        <p:nvSpPr>
          <p:cNvPr id="21" name="Text 19"/>
          <p:cNvSpPr txBox="1"/>
          <p:nvPr/>
        </p:nvSpPr>
        <p:spPr>
          <a:xfrm>
            <a:off x="1417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Conditions, infinite loops, input validation</a:t>
            </a:r>
            <a:endParaRPr lang="en-US" sz="1250" dirty="0"/>
          </a:p>
        </p:txBody>
      </p:sp>
      <p:sp>
        <p:nvSpPr>
          <p:cNvPr id="22" name="Text 20"/>
          <p:cNvSpPr txBox="1"/>
          <p:nvPr/>
        </p:nvSpPr>
        <p:spPr>
          <a:xfrm>
            <a:off x="4709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20 min</a:t>
            </a:r>
            <a:endParaRPr lang="en-US" sz="1300" dirty="0"/>
          </a:p>
        </p:txBody>
      </p:sp>
      <p:sp>
        <p:nvSpPr>
          <p:cNvPr id="23" name="Shape 21"/>
          <p:cNvSpPr/>
          <p:nvPr/>
        </p:nvSpPr>
        <p:spPr>
          <a:xfrm>
            <a:off x="6263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6519672" y="3364992"/>
            <a:ext cx="420624" cy="420624"/>
          </a:xfrm>
          <a:prstGeom prst="ellipse">
            <a:avLst/>
          </a:prstGeom>
          <a:solidFill>
            <a:srgbClr val="3E7CB1"/>
          </a:solidFill>
          <a:ln w="12700">
            <a:solidFill>
              <a:srgbClr val="3E7CB1"/>
            </a:solidFill>
            <a:prstDash val="solid"/>
          </a:ln>
        </p:spPr>
      </p:sp>
      <p:sp>
        <p:nvSpPr>
          <p:cNvPr id="25" name="Text 23"/>
          <p:cNvSpPr txBox="1"/>
          <p:nvPr/>
        </p:nvSpPr>
        <p:spPr>
          <a:xfrm>
            <a:off x="6519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7132320" y="3200400"/>
            <a:ext cx="3200400" cy="347472"/>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break · continue · pass</a:t>
            </a:r>
            <a:endParaRPr lang="en-US" sz="1600" dirty="0"/>
          </a:p>
        </p:txBody>
      </p:sp>
      <p:sp>
        <p:nvSpPr>
          <p:cNvPr id="27" name="Text 25"/>
          <p:cNvSpPr txBox="1"/>
          <p:nvPr/>
        </p:nvSpPr>
        <p:spPr>
          <a:xfrm>
            <a:off x="7132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Changing a loop's path mid-flight</a:t>
            </a:r>
            <a:endParaRPr lang="en-US" sz="1250" dirty="0"/>
          </a:p>
        </p:txBody>
      </p:sp>
      <p:sp>
        <p:nvSpPr>
          <p:cNvPr id="28" name="Text 26"/>
          <p:cNvSpPr txBox="1"/>
          <p:nvPr/>
        </p:nvSpPr>
        <p:spPr>
          <a:xfrm>
            <a:off x="10424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15 min</a:t>
            </a:r>
            <a:endParaRPr lang="en-US" sz="1300" dirty="0"/>
          </a:p>
        </p:txBody>
      </p:sp>
      <p:sp>
        <p:nvSpPr>
          <p:cNvPr id="29" name="Shape 27"/>
          <p:cNvSpPr/>
          <p:nvPr/>
        </p:nvSpPr>
        <p:spPr>
          <a:xfrm>
            <a:off x="548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Shape 28"/>
          <p:cNvSpPr/>
          <p:nvPr/>
        </p:nvSpPr>
        <p:spPr>
          <a:xfrm>
            <a:off x="804672" y="4690872"/>
            <a:ext cx="420624" cy="420624"/>
          </a:xfrm>
          <a:prstGeom prst="ellipse">
            <a:avLst/>
          </a:prstGeom>
          <a:solidFill>
            <a:srgbClr val="2FA98C"/>
          </a:solidFill>
          <a:ln w="12700">
            <a:solidFill>
              <a:srgbClr val="2FA98C"/>
            </a:solidFill>
            <a:prstDash val="solid"/>
          </a:ln>
        </p:spPr>
      </p:sp>
      <p:sp>
        <p:nvSpPr>
          <p:cNvPr id="31" name="Text 29"/>
          <p:cNvSpPr txBox="1"/>
          <p:nvPr/>
        </p:nvSpPr>
        <p:spPr>
          <a:xfrm>
            <a:off x="804672" y="46908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1417320" y="4526280"/>
            <a:ext cx="3200400" cy="347472"/>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Mini build</a:t>
            </a:r>
            <a:endParaRPr lang="en-US" sz="1600" dirty="0"/>
          </a:p>
        </p:txBody>
      </p:sp>
      <p:sp>
        <p:nvSpPr>
          <p:cNvPr id="33" name="Text 31"/>
          <p:cNvSpPr txBox="1"/>
          <p:nvPr/>
        </p:nvSpPr>
        <p:spPr>
          <a:xfrm>
            <a:off x="1417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Number guessing game</a:t>
            </a:r>
            <a:endParaRPr lang="en-US" sz="1250" dirty="0"/>
          </a:p>
        </p:txBody>
      </p:sp>
      <p:sp>
        <p:nvSpPr>
          <p:cNvPr id="34" name="Text 32"/>
          <p:cNvSpPr txBox="1"/>
          <p:nvPr/>
        </p:nvSpPr>
        <p:spPr>
          <a:xfrm>
            <a:off x="4709160" y="452628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min</a:t>
            </a:r>
            <a:endParaRPr lang="en-US" sz="1300" dirty="0"/>
          </a:p>
        </p:txBody>
      </p:sp>
      <p:sp>
        <p:nvSpPr>
          <p:cNvPr id="35" name="Shape 33"/>
          <p:cNvSpPr/>
          <p:nvPr/>
        </p:nvSpPr>
        <p:spPr>
          <a:xfrm>
            <a:off x="6263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6" name="Shape 34"/>
          <p:cNvSpPr/>
          <p:nvPr/>
        </p:nvSpPr>
        <p:spPr>
          <a:xfrm>
            <a:off x="6519672" y="4690872"/>
            <a:ext cx="420624" cy="420624"/>
          </a:xfrm>
          <a:prstGeom prst="ellipse">
            <a:avLst/>
          </a:prstGeom>
          <a:solidFill>
            <a:srgbClr val="FFC145"/>
          </a:solidFill>
          <a:ln w="12700">
            <a:solidFill>
              <a:srgbClr val="FFC145"/>
            </a:solidFill>
            <a:prstDash val="solid"/>
          </a:ln>
        </p:spPr>
      </p:sp>
      <p:sp>
        <p:nvSpPr>
          <p:cNvPr id="37" name="Text 35"/>
          <p:cNvSpPr txBox="1"/>
          <p:nvPr/>
        </p:nvSpPr>
        <p:spPr>
          <a:xfrm>
            <a:off x="6519672" y="469087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38" name="Text 36"/>
          <p:cNvSpPr txBox="1"/>
          <p:nvPr/>
        </p:nvSpPr>
        <p:spPr>
          <a:xfrm>
            <a:off x="7132320" y="4526280"/>
            <a:ext cx="3200400" cy="347472"/>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Practice notebook</a:t>
            </a:r>
            <a:endParaRPr lang="en-US" sz="1600" dirty="0"/>
          </a:p>
        </p:txBody>
      </p:sp>
      <p:sp>
        <p:nvSpPr>
          <p:cNvPr id="39" name="Text 37"/>
          <p:cNvSpPr txBox="1"/>
          <p:nvPr/>
        </p:nvSpPr>
        <p:spPr>
          <a:xfrm>
            <a:off x="7132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You code, I walk around</a:t>
            </a:r>
            <a:endParaRPr lang="en-US" sz="1250" dirty="0"/>
          </a:p>
        </p:txBody>
      </p:sp>
      <p:sp>
        <p:nvSpPr>
          <p:cNvPr id="40" name="Text 38"/>
          <p:cNvSpPr txBox="1"/>
          <p:nvPr/>
        </p:nvSpPr>
        <p:spPr>
          <a:xfrm>
            <a:off x="10424160" y="4526280"/>
            <a:ext cx="1097280" cy="320040"/>
          </a:xfrm>
          <a:prstGeom prst="rect">
            <a:avLst/>
          </a:prstGeom>
          <a:noFill/>
          <a:ln/>
        </p:spPr>
        <p:txBody>
          <a:bodyPr wrap="square" lIns="0" tIns="0" rIns="0" bIns="0" rtlCol="0" anchor="ctr"/>
          <a:lstStyle/>
          <a:p>
            <a:pPr algn="r" indent="0" marL="0">
              <a:buNone/>
            </a:pPr>
            <a:r>
              <a:rPr lang="en-US" sz="1300" b="1" dirty="0">
                <a:solidFill>
                  <a:srgbClr val="E8674C"/>
                </a:solidFill>
                <a:latin typeface="Calibri" pitchFamily="34" charset="0"/>
                <a:ea typeface="Calibri" pitchFamily="34" charset="-122"/>
                <a:cs typeface="Calibri" pitchFamily="34" charset="-120"/>
              </a:rPr>
              <a:t>30 min</a:t>
            </a:r>
            <a:endParaRPr lang="en-US" sz="1300" dirty="0"/>
          </a:p>
        </p:txBody>
      </p:sp>
      <p:sp>
        <p:nvSpPr>
          <p:cNvPr id="41" name="Text 39"/>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300" i="1" dirty="0">
                <a:solidFill>
                  <a:srgbClr val="6B7789"/>
                </a:solidFill>
                <a:latin typeface="Calibri" pitchFamily="34" charset="0"/>
                <a:ea typeface="Calibri" pitchFamily="34" charset="-122"/>
                <a:cs typeface="Calibri" pitchFamily="34" charset="-120"/>
              </a:rPr>
              <a:t>Same three notebooks as Day 1:  teaching notebook  ·  practice questions  ·  practice solutions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LEARNING OUTCOMES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By the end of today you will be able to</a:t>
            </a:r>
            <a:endParaRPr lang="en-US" sz="3200" dirty="0"/>
          </a:p>
        </p:txBody>
      </p:sp>
      <p:sp>
        <p:nvSpPr>
          <p:cNvPr id="5" name="Shape 3"/>
          <p:cNvSpPr/>
          <p:nvPr/>
        </p:nvSpPr>
        <p:spPr>
          <a:xfrm>
            <a:off x="548640"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84832"/>
            <a:ext cx="438912" cy="438912"/>
          </a:xfrm>
          <a:prstGeom prst="ellipse">
            <a:avLst/>
          </a:prstGeom>
          <a:solidFill>
            <a:srgbClr val="FFC145"/>
          </a:solidFill>
          <a:ln w="12700">
            <a:solidFill>
              <a:srgbClr val="FFC145"/>
            </a:solidFill>
            <a:prstDash val="solid"/>
          </a:ln>
        </p:spPr>
      </p:sp>
      <p:sp>
        <p:nvSpPr>
          <p:cNvPr id="7" name="Text 5"/>
          <p:cNvSpPr txBox="1"/>
          <p:nvPr/>
        </p:nvSpPr>
        <p:spPr>
          <a:xfrm>
            <a:off x="804672"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804672"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Branch</a:t>
            </a:r>
            <a:endParaRPr lang="en-US" sz="1600" dirty="0"/>
          </a:p>
        </p:txBody>
      </p:sp>
      <p:sp>
        <p:nvSpPr>
          <p:cNvPr id="9" name="Text 7"/>
          <p:cNvSpPr txBox="1"/>
          <p:nvPr/>
        </p:nvSpPr>
        <p:spPr>
          <a:xfrm>
            <a:off x="804672"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Write if / elif / else chains that pick exactly one path</a:t>
            </a:r>
            <a:endParaRPr lang="en-US" sz="1250" dirty="0"/>
          </a:p>
        </p:txBody>
      </p:sp>
      <p:sp>
        <p:nvSpPr>
          <p:cNvPr id="10" name="Shape 8"/>
          <p:cNvSpPr/>
          <p:nvPr/>
        </p:nvSpPr>
        <p:spPr>
          <a:xfrm>
            <a:off x="3410712"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3666744" y="2084832"/>
            <a:ext cx="438912" cy="438912"/>
          </a:xfrm>
          <a:prstGeom prst="ellipse">
            <a:avLst/>
          </a:prstGeom>
          <a:solidFill>
            <a:srgbClr val="FFC145"/>
          </a:solidFill>
          <a:ln w="12700">
            <a:solidFill>
              <a:srgbClr val="FFC145"/>
            </a:solidFill>
            <a:prstDash val="solid"/>
          </a:ln>
        </p:spPr>
      </p:sp>
      <p:sp>
        <p:nvSpPr>
          <p:cNvPr id="12" name="Text 10"/>
          <p:cNvSpPr txBox="1"/>
          <p:nvPr/>
        </p:nvSpPr>
        <p:spPr>
          <a:xfrm>
            <a:off x="3666744"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3666744"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Repeat</a:t>
            </a:r>
            <a:endParaRPr lang="en-US" sz="1600" dirty="0"/>
          </a:p>
        </p:txBody>
      </p:sp>
      <p:sp>
        <p:nvSpPr>
          <p:cNvPr id="14" name="Text 12"/>
          <p:cNvSpPr txBox="1"/>
          <p:nvPr/>
        </p:nvSpPr>
        <p:spPr>
          <a:xfrm>
            <a:off x="3666744"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Loop over any sequence with for, and over a condition with while</a:t>
            </a:r>
            <a:endParaRPr lang="en-US" sz="1250" dirty="0"/>
          </a:p>
        </p:txBody>
      </p:sp>
      <p:sp>
        <p:nvSpPr>
          <p:cNvPr id="15" name="Shape 13"/>
          <p:cNvSpPr/>
          <p:nvPr/>
        </p:nvSpPr>
        <p:spPr>
          <a:xfrm>
            <a:off x="6272784"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6528816" y="2084832"/>
            <a:ext cx="438912" cy="438912"/>
          </a:xfrm>
          <a:prstGeom prst="ellipse">
            <a:avLst/>
          </a:prstGeom>
          <a:solidFill>
            <a:srgbClr val="FFC145"/>
          </a:solidFill>
          <a:ln w="12700">
            <a:solidFill>
              <a:srgbClr val="FFC145"/>
            </a:solidFill>
            <a:prstDash val="solid"/>
          </a:ln>
        </p:spPr>
      </p:sp>
      <p:sp>
        <p:nvSpPr>
          <p:cNvPr id="17" name="Text 15"/>
          <p:cNvSpPr txBox="1"/>
          <p:nvPr/>
        </p:nvSpPr>
        <p:spPr>
          <a:xfrm>
            <a:off x="6528816"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528816"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Choose</a:t>
            </a:r>
            <a:endParaRPr lang="en-US" sz="1600" dirty="0"/>
          </a:p>
        </p:txBody>
      </p:sp>
      <p:sp>
        <p:nvSpPr>
          <p:cNvPr id="19" name="Text 17"/>
          <p:cNvSpPr txBox="1"/>
          <p:nvPr/>
        </p:nvSpPr>
        <p:spPr>
          <a:xfrm>
            <a:off x="6528816"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Know instantly whether a task needs a for loop or a while loop</a:t>
            </a:r>
            <a:endParaRPr lang="en-US" sz="1250" dirty="0"/>
          </a:p>
        </p:txBody>
      </p:sp>
      <p:sp>
        <p:nvSpPr>
          <p:cNvPr id="20" name="Shape 18"/>
          <p:cNvSpPr/>
          <p:nvPr/>
        </p:nvSpPr>
        <p:spPr>
          <a:xfrm>
            <a:off x="9134856"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9390888" y="2084832"/>
            <a:ext cx="438912" cy="438912"/>
          </a:xfrm>
          <a:prstGeom prst="ellipse">
            <a:avLst/>
          </a:prstGeom>
          <a:solidFill>
            <a:srgbClr val="FFC145"/>
          </a:solidFill>
          <a:ln w="12700">
            <a:solidFill>
              <a:srgbClr val="FFC145"/>
            </a:solidFill>
            <a:prstDash val="solid"/>
          </a:ln>
        </p:spPr>
      </p:sp>
      <p:sp>
        <p:nvSpPr>
          <p:cNvPr id="22" name="Text 20"/>
          <p:cNvSpPr txBox="1"/>
          <p:nvPr/>
        </p:nvSpPr>
        <p:spPr>
          <a:xfrm>
            <a:off x="9390888"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9390888"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Control</a:t>
            </a:r>
            <a:endParaRPr lang="en-US" sz="1600" dirty="0"/>
          </a:p>
        </p:txBody>
      </p:sp>
      <p:sp>
        <p:nvSpPr>
          <p:cNvPr id="24" name="Text 22"/>
          <p:cNvSpPr txBox="1"/>
          <p:nvPr/>
        </p:nvSpPr>
        <p:spPr>
          <a:xfrm>
            <a:off x="9390888"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Exit early with break, skip an item with continue, stub with pass</a:t>
            </a:r>
            <a:endParaRPr lang="en-US" sz="1250" dirty="0"/>
          </a:p>
        </p:txBody>
      </p:sp>
      <p:sp>
        <p:nvSpPr>
          <p:cNvPr id="25" name="Shape 23"/>
          <p:cNvSpPr/>
          <p:nvPr/>
        </p:nvSpPr>
        <p:spPr>
          <a:xfrm>
            <a:off x="548640" y="4709160"/>
            <a:ext cx="11064240" cy="1097280"/>
          </a:xfrm>
          <a:prstGeom prst="roundRect">
            <a:avLst>
              <a:gd name="adj" fmla="val 75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Text 24"/>
          <p:cNvSpPr txBox="1"/>
          <p:nvPr/>
        </p:nvSpPr>
        <p:spPr>
          <a:xfrm>
            <a:off x="868680" y="4864608"/>
            <a:ext cx="4572000" cy="292608"/>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The habit to build today</a:t>
            </a:r>
            <a:endParaRPr lang="en-US" sz="1400" dirty="0"/>
          </a:p>
        </p:txBody>
      </p:sp>
      <p:sp>
        <p:nvSpPr>
          <p:cNvPr id="27" name="Text 25"/>
          <p:cNvSpPr txBox="1"/>
          <p:nvPr/>
        </p:nvSpPr>
        <p:spPr>
          <a:xfrm>
            <a:off x="868680" y="5193792"/>
            <a:ext cx="10424160" cy="502920"/>
          </a:xfrm>
          <a:prstGeom prst="rect">
            <a:avLst/>
          </a:prstGeom>
          <a:noFill/>
          <a:ln/>
        </p:spPr>
        <p:txBody>
          <a:bodyPr wrap="square" lIns="0" tIns="0" rIns="0" bIns="0" rtlCol="0" anchor="ctr"/>
          <a:lstStyle/>
          <a:p>
            <a:pPr indent="0" marL="0">
              <a:buNone/>
            </a:pPr>
            <a:r>
              <a:rPr lang="en-US" sz="1300" dirty="0">
                <a:solidFill>
                  <a:srgbClr val="6B4A0B"/>
                </a:solidFill>
                <a:latin typeface="Calibri" pitchFamily="34" charset="0"/>
                <a:ea typeface="Calibri" pitchFamily="34" charset="-122"/>
                <a:cs typeface="Calibri" pitchFamily="34" charset="-120"/>
              </a:rPr>
              <a:t>Trace the loop by hand before you run it. Write the variable values for the first two passes on paper. Students who can hand-trace a loop debug in minutes; students who cannot debug by randomly changing things.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1</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Conditionals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Teaching the program to choose  ·  25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Indentation</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if / else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elif chains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Truthiness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Ternary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1.1  ·  THE BLOCK</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Control flow, and why indentation is not optional</a:t>
            </a:r>
            <a:endParaRPr lang="en-US" sz="3200" dirty="0"/>
          </a:p>
        </p:txBody>
      </p:sp>
      <p:sp>
        <p:nvSpPr>
          <p:cNvPr id="5" name="Shape 3"/>
          <p:cNvSpPr/>
          <p:nvPr/>
        </p:nvSpPr>
        <p:spPr>
          <a:xfrm>
            <a:off x="548640" y="1572768"/>
            <a:ext cx="5120640" cy="2286000"/>
          </a:xfrm>
          <a:prstGeom prst="roundRect">
            <a:avLst>
              <a:gd name="adj" fmla="val 36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57200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Until now: straight-line code</a:t>
            </a:r>
            <a:endParaRPr lang="en-US" sz="1450" dirty="0"/>
          </a:p>
        </p:txBody>
      </p:sp>
      <p:sp>
        <p:nvSpPr>
          <p:cNvPr id="7" name="Shape 5"/>
          <p:cNvSpPr/>
          <p:nvPr/>
        </p:nvSpPr>
        <p:spPr>
          <a:xfrm>
            <a:off x="1234440" y="2148840"/>
            <a:ext cx="1554480" cy="384048"/>
          </a:xfrm>
          <a:prstGeom prst="roundRect">
            <a:avLst>
              <a:gd name="adj" fmla="val 19048"/>
            </a:avLst>
          </a:prstGeom>
          <a:solidFill>
            <a:srgbClr val="3E7CB1"/>
          </a:solidFill>
          <a:ln w="12700">
            <a:solidFill>
              <a:srgbClr val="333333"/>
            </a:solidFill>
            <a:prstDash val="solid"/>
          </a:ln>
        </p:spPr>
      </p:sp>
      <p:sp>
        <p:nvSpPr>
          <p:cNvPr id="8" name="Text 6"/>
          <p:cNvSpPr txBox="1"/>
          <p:nvPr/>
        </p:nvSpPr>
        <p:spPr>
          <a:xfrm>
            <a:off x="1234440" y="2148840"/>
            <a:ext cx="15544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line 1</a:t>
            </a:r>
            <a:endParaRPr lang="en-US" sz="1150" dirty="0"/>
          </a:p>
        </p:txBody>
      </p:sp>
      <p:sp>
        <p:nvSpPr>
          <p:cNvPr id="9" name="Shape 7"/>
          <p:cNvSpPr/>
          <p:nvPr/>
        </p:nvSpPr>
        <p:spPr>
          <a:xfrm>
            <a:off x="2011680" y="2532888"/>
            <a:ext cx="0" cy="201168"/>
          </a:xfrm>
          <a:prstGeom prst="line">
            <a:avLst/>
          </a:prstGeom>
          <a:noFill/>
          <a:ln w="25400">
            <a:solidFill>
              <a:srgbClr val="8FA0B6"/>
            </a:solidFill>
            <a:prstDash val="solid"/>
            <a:tailEnd type="triangle"/>
          </a:ln>
        </p:spPr>
      </p:sp>
      <p:sp>
        <p:nvSpPr>
          <p:cNvPr id="10" name="Shape 8"/>
          <p:cNvSpPr/>
          <p:nvPr/>
        </p:nvSpPr>
        <p:spPr>
          <a:xfrm>
            <a:off x="1234440" y="2734056"/>
            <a:ext cx="1554480" cy="384048"/>
          </a:xfrm>
          <a:prstGeom prst="roundRect">
            <a:avLst>
              <a:gd name="adj" fmla="val 19048"/>
            </a:avLst>
          </a:prstGeom>
          <a:solidFill>
            <a:srgbClr val="3E7CB1"/>
          </a:solidFill>
          <a:ln w="12700">
            <a:solidFill>
              <a:srgbClr val="333333"/>
            </a:solidFill>
            <a:prstDash val="solid"/>
          </a:ln>
        </p:spPr>
      </p:sp>
      <p:sp>
        <p:nvSpPr>
          <p:cNvPr id="11" name="Text 9"/>
          <p:cNvSpPr txBox="1"/>
          <p:nvPr/>
        </p:nvSpPr>
        <p:spPr>
          <a:xfrm>
            <a:off x="1234440" y="2734056"/>
            <a:ext cx="15544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line 2</a:t>
            </a:r>
            <a:endParaRPr lang="en-US" sz="1150" dirty="0"/>
          </a:p>
        </p:txBody>
      </p:sp>
      <p:sp>
        <p:nvSpPr>
          <p:cNvPr id="12" name="Shape 10"/>
          <p:cNvSpPr/>
          <p:nvPr/>
        </p:nvSpPr>
        <p:spPr>
          <a:xfrm>
            <a:off x="2011680" y="3118104"/>
            <a:ext cx="0" cy="201168"/>
          </a:xfrm>
          <a:prstGeom prst="line">
            <a:avLst/>
          </a:prstGeom>
          <a:noFill/>
          <a:ln w="25400">
            <a:solidFill>
              <a:srgbClr val="8FA0B6"/>
            </a:solidFill>
            <a:prstDash val="solid"/>
            <a:tailEnd type="triangle"/>
          </a:ln>
        </p:spPr>
      </p:sp>
      <p:sp>
        <p:nvSpPr>
          <p:cNvPr id="13" name="Shape 11"/>
          <p:cNvSpPr/>
          <p:nvPr/>
        </p:nvSpPr>
        <p:spPr>
          <a:xfrm>
            <a:off x="1234440" y="3319272"/>
            <a:ext cx="1554480" cy="384048"/>
          </a:xfrm>
          <a:prstGeom prst="roundRect">
            <a:avLst>
              <a:gd name="adj" fmla="val 19048"/>
            </a:avLst>
          </a:prstGeom>
          <a:solidFill>
            <a:srgbClr val="3E7CB1"/>
          </a:solidFill>
          <a:ln w="12700">
            <a:solidFill>
              <a:srgbClr val="333333"/>
            </a:solidFill>
            <a:prstDash val="solid"/>
          </a:ln>
        </p:spPr>
      </p:sp>
      <p:sp>
        <p:nvSpPr>
          <p:cNvPr id="14" name="Text 12"/>
          <p:cNvSpPr txBox="1"/>
          <p:nvPr/>
        </p:nvSpPr>
        <p:spPr>
          <a:xfrm>
            <a:off x="1234440" y="3319272"/>
            <a:ext cx="15544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line 3</a:t>
            </a:r>
            <a:endParaRPr lang="en-US" sz="1150" dirty="0"/>
          </a:p>
        </p:txBody>
      </p:sp>
      <p:sp>
        <p:nvSpPr>
          <p:cNvPr id="15" name="Text 13"/>
          <p:cNvSpPr txBox="1"/>
          <p:nvPr/>
        </p:nvSpPr>
        <p:spPr>
          <a:xfrm>
            <a:off x="3063240" y="2377440"/>
            <a:ext cx="2468880"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Every line runs, once, top to bottom. No choices, no repeats.</a:t>
            </a:r>
            <a:endParaRPr lang="en-US" sz="1250" dirty="0"/>
          </a:p>
        </p:txBody>
      </p:sp>
      <p:sp>
        <p:nvSpPr>
          <p:cNvPr id="16" name="Shape 14"/>
          <p:cNvSpPr/>
          <p:nvPr/>
        </p:nvSpPr>
        <p:spPr>
          <a:xfrm>
            <a:off x="5943600" y="1572768"/>
            <a:ext cx="5669280" cy="2286000"/>
          </a:xfrm>
          <a:prstGeom prst="roundRect">
            <a:avLst>
              <a:gd name="adj" fmla="val 36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Text 15"/>
          <p:cNvSpPr txBox="1"/>
          <p:nvPr/>
        </p:nvSpPr>
        <p:spPr>
          <a:xfrm>
            <a:off x="6199632" y="1719072"/>
            <a:ext cx="521208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From today: the path can fork and repeat</a:t>
            </a:r>
            <a:endParaRPr lang="en-US" sz="1450" dirty="0"/>
          </a:p>
        </p:txBody>
      </p:sp>
      <p:sp>
        <p:nvSpPr>
          <p:cNvPr id="18" name="Shape 16"/>
          <p:cNvSpPr/>
          <p:nvPr/>
        </p:nvSpPr>
        <p:spPr>
          <a:xfrm>
            <a:off x="7223760" y="2148840"/>
            <a:ext cx="1371600" cy="365760"/>
          </a:xfrm>
          <a:prstGeom prst="roundRect">
            <a:avLst>
              <a:gd name="adj" fmla="val 20000"/>
            </a:avLst>
          </a:prstGeom>
          <a:solidFill>
            <a:srgbClr val="3E7CB1"/>
          </a:solidFill>
          <a:ln w="12700">
            <a:solidFill>
              <a:srgbClr val="333333"/>
            </a:solidFill>
            <a:prstDash val="solid"/>
          </a:ln>
        </p:spPr>
      </p:sp>
      <p:sp>
        <p:nvSpPr>
          <p:cNvPr id="19" name="Text 17"/>
          <p:cNvSpPr txBox="1"/>
          <p:nvPr/>
        </p:nvSpPr>
        <p:spPr>
          <a:xfrm>
            <a:off x="7223760" y="2148840"/>
            <a:ext cx="137160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start</a:t>
            </a:r>
            <a:endParaRPr lang="en-US" sz="1150" dirty="0"/>
          </a:p>
        </p:txBody>
      </p:sp>
      <p:sp>
        <p:nvSpPr>
          <p:cNvPr id="20" name="Shape 18"/>
          <p:cNvSpPr/>
          <p:nvPr/>
        </p:nvSpPr>
        <p:spPr>
          <a:xfrm>
            <a:off x="7909560" y="2514600"/>
            <a:ext cx="0" cy="182880"/>
          </a:xfrm>
          <a:prstGeom prst="line">
            <a:avLst/>
          </a:prstGeom>
          <a:noFill/>
          <a:ln w="25400">
            <a:solidFill>
              <a:srgbClr val="8FA0B6"/>
            </a:solidFill>
            <a:prstDash val="solid"/>
            <a:tailEnd type="triangle"/>
          </a:ln>
        </p:spPr>
      </p:sp>
      <p:sp>
        <p:nvSpPr>
          <p:cNvPr id="21" name="Shape 19"/>
          <p:cNvSpPr/>
          <p:nvPr/>
        </p:nvSpPr>
        <p:spPr>
          <a:xfrm>
            <a:off x="7086600" y="2697480"/>
            <a:ext cx="1645920" cy="658368"/>
          </a:xfrm>
          <a:prstGeom prst="diamond">
            <a:avLst/>
          </a:prstGeom>
          <a:solidFill>
            <a:srgbClr val="FFC145"/>
          </a:solidFill>
          <a:ln w="12700">
            <a:solidFill>
              <a:srgbClr val="333333"/>
            </a:solidFill>
            <a:prstDash val="solid"/>
          </a:ln>
        </p:spPr>
      </p:sp>
      <p:sp>
        <p:nvSpPr>
          <p:cNvPr id="22" name="Text 20"/>
          <p:cNvSpPr txBox="1"/>
          <p:nvPr/>
        </p:nvSpPr>
        <p:spPr>
          <a:xfrm>
            <a:off x="7300570" y="2697480"/>
            <a:ext cx="1217981" cy="658368"/>
          </a:xfrm>
          <a:prstGeom prst="rect">
            <a:avLst/>
          </a:prstGeom>
          <a:noFill/>
          <a:ln/>
        </p:spPr>
        <p:txBody>
          <a:bodyPr wrap="square" lIns="0" tIns="0" rIns="0" bIns="0" rtlCol="0" anchor="ctr"/>
          <a:lstStyle/>
          <a:p>
            <a:pPr algn="ctr" indent="0" marL="0">
              <a:buNone/>
            </a:pPr>
            <a:r>
              <a:rPr lang="en-US" sz="1050" b="1" dirty="0">
                <a:solidFill>
                  <a:srgbClr val="152238"/>
                </a:solidFill>
                <a:latin typeface="Courier New" pitchFamily="34" charset="0"/>
                <a:ea typeface="Courier New" pitchFamily="34" charset="-122"/>
                <a:cs typeface="Courier New" pitchFamily="34" charset="-120"/>
              </a:rPr>
              <a:t>test?</a:t>
            </a:r>
            <a:endParaRPr lang="en-US" sz="1050" dirty="0"/>
          </a:p>
        </p:txBody>
      </p:sp>
      <p:sp>
        <p:nvSpPr>
          <p:cNvPr id="23" name="Shape 21"/>
          <p:cNvSpPr/>
          <p:nvPr/>
        </p:nvSpPr>
        <p:spPr>
          <a:xfrm>
            <a:off x="8732520" y="3026664"/>
            <a:ext cx="822960" cy="0"/>
          </a:xfrm>
          <a:prstGeom prst="line">
            <a:avLst/>
          </a:prstGeom>
          <a:noFill/>
          <a:ln w="25400">
            <a:solidFill>
              <a:srgbClr val="8FA0B6"/>
            </a:solidFill>
            <a:prstDash val="solid"/>
            <a:tailEnd type="triangle"/>
          </a:ln>
        </p:spPr>
      </p:sp>
      <p:sp>
        <p:nvSpPr>
          <p:cNvPr id="24" name="Shape 22"/>
          <p:cNvSpPr/>
          <p:nvPr/>
        </p:nvSpPr>
        <p:spPr>
          <a:xfrm>
            <a:off x="9601200" y="2843784"/>
            <a:ext cx="1371600" cy="365760"/>
          </a:xfrm>
          <a:prstGeom prst="roundRect">
            <a:avLst>
              <a:gd name="adj" fmla="val 20000"/>
            </a:avLst>
          </a:prstGeom>
          <a:solidFill>
            <a:srgbClr val="2FA98C"/>
          </a:solidFill>
          <a:ln w="12700">
            <a:solidFill>
              <a:srgbClr val="333333"/>
            </a:solidFill>
            <a:prstDash val="solid"/>
          </a:ln>
        </p:spPr>
      </p:sp>
      <p:sp>
        <p:nvSpPr>
          <p:cNvPr id="25" name="Text 23"/>
          <p:cNvSpPr txBox="1"/>
          <p:nvPr/>
        </p:nvSpPr>
        <p:spPr>
          <a:xfrm>
            <a:off x="9601200" y="2843784"/>
            <a:ext cx="137160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path A</a:t>
            </a:r>
            <a:endParaRPr lang="en-US" sz="1150" dirty="0"/>
          </a:p>
        </p:txBody>
      </p:sp>
      <p:sp>
        <p:nvSpPr>
          <p:cNvPr id="26" name="Shape 24"/>
          <p:cNvSpPr/>
          <p:nvPr/>
        </p:nvSpPr>
        <p:spPr>
          <a:xfrm>
            <a:off x="7909560" y="3355848"/>
            <a:ext cx="0" cy="256032"/>
          </a:xfrm>
          <a:prstGeom prst="line">
            <a:avLst/>
          </a:prstGeom>
          <a:noFill/>
          <a:ln w="25400">
            <a:solidFill>
              <a:srgbClr val="8FA0B6"/>
            </a:solidFill>
            <a:prstDash val="solid"/>
            <a:tailEnd type="triangle"/>
          </a:ln>
        </p:spPr>
      </p:sp>
      <p:sp>
        <p:nvSpPr>
          <p:cNvPr id="27" name="Shape 25"/>
          <p:cNvSpPr/>
          <p:nvPr/>
        </p:nvSpPr>
        <p:spPr>
          <a:xfrm>
            <a:off x="7223760" y="3611880"/>
            <a:ext cx="1371600" cy="365760"/>
          </a:xfrm>
          <a:prstGeom prst="roundRect">
            <a:avLst>
              <a:gd name="adj" fmla="val 20000"/>
            </a:avLst>
          </a:prstGeom>
          <a:solidFill>
            <a:srgbClr val="E8674C"/>
          </a:solidFill>
          <a:ln w="12700">
            <a:solidFill>
              <a:srgbClr val="333333"/>
            </a:solidFill>
            <a:prstDash val="solid"/>
          </a:ln>
        </p:spPr>
      </p:sp>
      <p:sp>
        <p:nvSpPr>
          <p:cNvPr id="28" name="Text 26"/>
          <p:cNvSpPr txBox="1"/>
          <p:nvPr/>
        </p:nvSpPr>
        <p:spPr>
          <a:xfrm>
            <a:off x="7223760" y="3611880"/>
            <a:ext cx="137160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path B</a:t>
            </a:r>
            <a:endParaRPr lang="en-US" sz="1150" dirty="0"/>
          </a:p>
        </p:txBody>
      </p:sp>
      <p:sp>
        <p:nvSpPr>
          <p:cNvPr id="29" name="Text 27"/>
          <p:cNvSpPr txBox="1"/>
          <p:nvPr/>
        </p:nvSpPr>
        <p:spPr>
          <a:xfrm>
            <a:off x="8732520" y="2770632"/>
            <a:ext cx="822960" cy="237744"/>
          </a:xfrm>
          <a:prstGeom prst="rect">
            <a:avLst/>
          </a:prstGeom>
          <a:noFill/>
          <a:ln/>
        </p:spPr>
        <p:txBody>
          <a:bodyPr wrap="square" lIns="0" tIns="0" rIns="0" bIns="0" rtlCol="0" anchor="ctr"/>
          <a:lstStyle/>
          <a:p>
            <a:pPr algn="ctr" indent="0" marL="0">
              <a:buNone/>
            </a:pPr>
            <a:r>
              <a:rPr lang="en-US" sz="1050" b="1" dirty="0">
                <a:solidFill>
                  <a:srgbClr val="2FA98C"/>
                </a:solidFill>
                <a:latin typeface="Calibri" pitchFamily="34" charset="0"/>
                <a:ea typeface="Calibri" pitchFamily="34" charset="-122"/>
                <a:cs typeface="Calibri" pitchFamily="34" charset="-120"/>
              </a:rPr>
              <a:t>True</a:t>
            </a:r>
            <a:endParaRPr lang="en-US" sz="1050" dirty="0"/>
          </a:p>
        </p:txBody>
      </p:sp>
      <p:sp>
        <p:nvSpPr>
          <p:cNvPr id="30" name="Text 28"/>
          <p:cNvSpPr txBox="1"/>
          <p:nvPr/>
        </p:nvSpPr>
        <p:spPr>
          <a:xfrm>
            <a:off x="7955280" y="3346704"/>
            <a:ext cx="731520" cy="237744"/>
          </a:xfrm>
          <a:prstGeom prst="rect">
            <a:avLst/>
          </a:prstGeom>
          <a:noFill/>
          <a:ln/>
        </p:spPr>
        <p:txBody>
          <a:bodyPr wrap="square" lIns="0" tIns="0" rIns="0" bIns="0" rtlCol="0" anchor="ctr"/>
          <a:lstStyle/>
          <a:p>
            <a:pPr algn="ctr" indent="0" marL="0">
              <a:buNone/>
            </a:pPr>
            <a:r>
              <a:rPr lang="en-US" sz="1050" b="1" dirty="0">
                <a:solidFill>
                  <a:srgbClr val="E8674C"/>
                </a:solidFill>
                <a:latin typeface="Calibri" pitchFamily="34" charset="0"/>
                <a:ea typeface="Calibri" pitchFamily="34" charset="-122"/>
                <a:cs typeface="Calibri" pitchFamily="34" charset="-120"/>
              </a:rPr>
              <a:t>False</a:t>
            </a:r>
            <a:endParaRPr lang="en-US" sz="1050" dirty="0"/>
          </a:p>
        </p:txBody>
      </p:sp>
      <p:sp>
        <p:nvSpPr>
          <p:cNvPr id="31" name="Shape 29"/>
          <p:cNvSpPr/>
          <p:nvPr/>
        </p:nvSpPr>
        <p:spPr>
          <a:xfrm>
            <a:off x="548640" y="4114800"/>
            <a:ext cx="11064240" cy="1783080"/>
          </a:xfrm>
          <a:prstGeom prst="roundRect">
            <a:avLst>
              <a:gd name="adj" fmla="val 4615"/>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2" name="Text 30"/>
          <p:cNvSpPr txBox="1"/>
          <p:nvPr/>
        </p:nvSpPr>
        <p:spPr>
          <a:xfrm>
            <a:off x="868680" y="4261104"/>
            <a:ext cx="7315200" cy="320040"/>
          </a:xfrm>
          <a:prstGeom prst="rect">
            <a:avLst/>
          </a:prstGeom>
          <a:noFill/>
          <a:ln/>
        </p:spPr>
        <p:txBody>
          <a:bodyPr wrap="square" lIns="0" tIns="0" rIns="0" bIns="0" rtlCol="0" anchor="ctr"/>
          <a:lstStyle/>
          <a:p>
            <a:pPr indent="0" marL="0">
              <a:buNone/>
            </a:pPr>
            <a:r>
              <a:rPr lang="en-US" sz="1600" b="1" dirty="0">
                <a:solidFill>
                  <a:srgbClr val="A63B24"/>
                </a:solidFill>
                <a:latin typeface="Calibri" pitchFamily="34" charset="0"/>
                <a:ea typeface="Calibri" pitchFamily="34" charset="-122"/>
                <a:cs typeface="Calibri" pitchFamily="34" charset="-120"/>
              </a:rPr>
              <a:t>⚠  Python uses INDENTATION where other languages use { }</a:t>
            </a:r>
            <a:endParaRPr lang="en-US" sz="1600" dirty="0"/>
          </a:p>
        </p:txBody>
      </p:sp>
      <p:sp>
        <p:nvSpPr>
          <p:cNvPr id="33" name="Shape 31"/>
          <p:cNvSpPr/>
          <p:nvPr/>
        </p:nvSpPr>
        <p:spPr>
          <a:xfrm>
            <a:off x="868680" y="4645152"/>
            <a:ext cx="5212080" cy="1097280"/>
          </a:xfrm>
          <a:prstGeom prst="roundRect">
            <a:avLst>
              <a:gd name="adj" fmla="val 5833"/>
            </a:avLst>
          </a:prstGeom>
          <a:solidFill>
            <a:srgbClr val="1B2B45"/>
          </a:solidFill>
          <a:ln w="12700">
            <a:solidFill>
              <a:srgbClr val="1B2B45"/>
            </a:solidFill>
            <a:prstDash val="solid"/>
          </a:ln>
        </p:spPr>
      </p:sp>
      <p:sp>
        <p:nvSpPr>
          <p:cNvPr id="34" name="Text 32"/>
          <p:cNvSpPr txBox="1"/>
          <p:nvPr/>
        </p:nvSpPr>
        <p:spPr>
          <a:xfrm>
            <a:off x="1033272" y="4754880"/>
            <a:ext cx="4882896" cy="87782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if marks &gt;= 40:</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print("Pass")        # 4 spaces = inside the if</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print("Well done")   # also inside</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print("Done")            # NOT indented = always runs</a:t>
            </a:r>
            <a:endParaRPr lang="en-US" sz="1100" dirty="0"/>
          </a:p>
        </p:txBody>
      </p:sp>
      <p:sp>
        <p:nvSpPr>
          <p:cNvPr id="35" name="Text 33"/>
          <p:cNvSpPr txBox="1"/>
          <p:nvPr/>
        </p:nvSpPr>
        <p:spPr>
          <a:xfrm>
            <a:off x="6400800" y="4626864"/>
            <a:ext cx="4937760" cy="11430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The colon  :  opens a block. The indent defines it.</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4 spaces is the standard. Be consistent — never mix tabs and spaces.</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Wrong indent = IndentationError, or worse, silently wrong logic.</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1.2  ·  THE FORK</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if and if / else</a:t>
            </a:r>
            <a:endParaRPr lang="en-US" sz="3200" dirty="0"/>
          </a:p>
        </p:txBody>
      </p:sp>
      <p:sp>
        <p:nvSpPr>
          <p:cNvPr id="5" name="Shape 3"/>
          <p:cNvSpPr/>
          <p:nvPr/>
        </p:nvSpPr>
        <p:spPr>
          <a:xfrm>
            <a:off x="548640" y="1572768"/>
            <a:ext cx="5486400" cy="2331720"/>
          </a:xfrm>
          <a:prstGeom prst="roundRect">
            <a:avLst>
              <a:gd name="adj" fmla="val 3529"/>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if  —  do it, or skip it</a:t>
            </a:r>
            <a:endParaRPr lang="en-US" sz="1500" dirty="0"/>
          </a:p>
        </p:txBody>
      </p:sp>
      <p:sp>
        <p:nvSpPr>
          <p:cNvPr id="7" name="Shape 5"/>
          <p:cNvSpPr/>
          <p:nvPr/>
        </p:nvSpPr>
        <p:spPr>
          <a:xfrm>
            <a:off x="804672" y="2084832"/>
            <a:ext cx="2743200" cy="960120"/>
          </a:xfrm>
          <a:prstGeom prst="roundRect">
            <a:avLst>
              <a:gd name="adj" fmla="val 6667"/>
            </a:avLst>
          </a:prstGeom>
          <a:solidFill>
            <a:srgbClr val="1B2B45"/>
          </a:solidFill>
          <a:ln w="12700">
            <a:solidFill>
              <a:srgbClr val="1B2B45"/>
            </a:solidFill>
            <a:prstDash val="solid"/>
          </a:ln>
        </p:spPr>
      </p:sp>
      <p:sp>
        <p:nvSpPr>
          <p:cNvPr id="8" name="Text 6"/>
          <p:cNvSpPr txBox="1"/>
          <p:nvPr/>
        </p:nvSpPr>
        <p:spPr>
          <a:xfrm>
            <a:off x="969264" y="2194560"/>
            <a:ext cx="2414016" cy="74066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if marks &gt;= 40:</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print("Pass")</a:t>
            </a:r>
            <a:endParaRPr lang="en-US" sz="1100" dirty="0"/>
          </a:p>
          <a:p>
            <a:pPr indent="0" marL="0">
              <a:lnSpc>
                <a:spcPct val="112000"/>
              </a:lnSpc>
              <a:buNone/>
            </a:pP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print("Next")</a:t>
            </a:r>
            <a:endParaRPr lang="en-US" sz="1100" dirty="0"/>
          </a:p>
        </p:txBody>
      </p:sp>
      <p:sp>
        <p:nvSpPr>
          <p:cNvPr id="9" name="Shape 7"/>
          <p:cNvSpPr/>
          <p:nvPr/>
        </p:nvSpPr>
        <p:spPr>
          <a:xfrm>
            <a:off x="3794760" y="2084832"/>
            <a:ext cx="1417320" cy="566928"/>
          </a:xfrm>
          <a:prstGeom prst="diamond">
            <a:avLst/>
          </a:prstGeom>
          <a:solidFill>
            <a:srgbClr val="FFC145"/>
          </a:solidFill>
          <a:ln w="12700">
            <a:solidFill>
              <a:srgbClr val="333333"/>
            </a:solidFill>
            <a:prstDash val="solid"/>
          </a:ln>
        </p:spPr>
      </p:sp>
      <p:sp>
        <p:nvSpPr>
          <p:cNvPr id="10" name="Text 8"/>
          <p:cNvSpPr txBox="1"/>
          <p:nvPr/>
        </p:nvSpPr>
        <p:spPr>
          <a:xfrm>
            <a:off x="3979012" y="2084832"/>
            <a:ext cx="1048817" cy="566928"/>
          </a:xfrm>
          <a:prstGeom prst="rect">
            <a:avLst/>
          </a:prstGeom>
          <a:noFill/>
          <a:ln/>
        </p:spPr>
        <p:txBody>
          <a:bodyPr wrap="square" lIns="0" tIns="0" rIns="0" bIns="0" rtlCol="0" anchor="ctr"/>
          <a:lstStyle/>
          <a:p>
            <a:pPr algn="ctr" indent="0" marL="0">
              <a:buNone/>
            </a:pPr>
            <a:r>
              <a:rPr lang="en-US" sz="950" b="1" dirty="0">
                <a:solidFill>
                  <a:srgbClr val="152238"/>
                </a:solidFill>
                <a:latin typeface="Courier New" pitchFamily="34" charset="0"/>
                <a:ea typeface="Courier New" pitchFamily="34" charset="-122"/>
                <a:cs typeface="Courier New" pitchFamily="34" charset="-120"/>
              </a:rPr>
              <a:t>marks</a:t>
            </a:r>
            <a:endParaRPr lang="en-US" sz="950" dirty="0"/>
          </a:p>
          <a:p>
            <a:pPr algn="ctr" indent="0" marL="0">
              <a:buNone/>
            </a:pPr>
            <a:r>
              <a:rPr lang="en-US" sz="950" b="1" dirty="0">
                <a:solidFill>
                  <a:srgbClr val="152238"/>
                </a:solidFill>
                <a:latin typeface="Courier New" pitchFamily="34" charset="0"/>
                <a:ea typeface="Courier New" pitchFamily="34" charset="-122"/>
                <a:cs typeface="Courier New" pitchFamily="34" charset="-120"/>
              </a:rPr>
              <a:t>&gt;= 40</a:t>
            </a:r>
            <a:endParaRPr lang="en-US" sz="950" dirty="0"/>
          </a:p>
        </p:txBody>
      </p:sp>
      <p:sp>
        <p:nvSpPr>
          <p:cNvPr id="11" name="Shape 9"/>
          <p:cNvSpPr/>
          <p:nvPr/>
        </p:nvSpPr>
        <p:spPr>
          <a:xfrm>
            <a:off x="4507992" y="2651760"/>
            <a:ext cx="0" cy="201168"/>
          </a:xfrm>
          <a:prstGeom prst="line">
            <a:avLst/>
          </a:prstGeom>
          <a:noFill/>
          <a:ln w="25400">
            <a:solidFill>
              <a:srgbClr val="8FA0B6"/>
            </a:solidFill>
            <a:prstDash val="solid"/>
            <a:tailEnd type="triangle"/>
          </a:ln>
        </p:spPr>
      </p:sp>
      <p:sp>
        <p:nvSpPr>
          <p:cNvPr id="12" name="Shape 10"/>
          <p:cNvSpPr/>
          <p:nvPr/>
        </p:nvSpPr>
        <p:spPr>
          <a:xfrm>
            <a:off x="3913632" y="2852928"/>
            <a:ext cx="1188720" cy="329184"/>
          </a:xfrm>
          <a:prstGeom prst="roundRect">
            <a:avLst>
              <a:gd name="adj" fmla="val 22222"/>
            </a:avLst>
          </a:prstGeom>
          <a:solidFill>
            <a:srgbClr val="2FA98C"/>
          </a:solidFill>
          <a:ln w="12700">
            <a:solidFill>
              <a:srgbClr val="333333"/>
            </a:solidFill>
            <a:prstDash val="solid"/>
          </a:ln>
        </p:spPr>
      </p:sp>
      <p:sp>
        <p:nvSpPr>
          <p:cNvPr id="13" name="Text 11"/>
          <p:cNvSpPr txBox="1"/>
          <p:nvPr/>
        </p:nvSpPr>
        <p:spPr>
          <a:xfrm>
            <a:off x="3913632" y="2852928"/>
            <a:ext cx="118872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Pass</a:t>
            </a:r>
            <a:endParaRPr lang="en-US" sz="1000" dirty="0"/>
          </a:p>
        </p:txBody>
      </p:sp>
      <p:sp>
        <p:nvSpPr>
          <p:cNvPr id="14" name="Shape 12"/>
          <p:cNvSpPr/>
          <p:nvPr/>
        </p:nvSpPr>
        <p:spPr>
          <a:xfrm>
            <a:off x="4507992" y="3182112"/>
            <a:ext cx="0" cy="201168"/>
          </a:xfrm>
          <a:prstGeom prst="line">
            <a:avLst/>
          </a:prstGeom>
          <a:noFill/>
          <a:ln w="25400">
            <a:solidFill>
              <a:srgbClr val="8FA0B6"/>
            </a:solidFill>
            <a:prstDash val="solid"/>
            <a:tailEnd type="triangle"/>
          </a:ln>
        </p:spPr>
      </p:sp>
      <p:sp>
        <p:nvSpPr>
          <p:cNvPr id="15" name="Shape 13"/>
          <p:cNvSpPr/>
          <p:nvPr/>
        </p:nvSpPr>
        <p:spPr>
          <a:xfrm>
            <a:off x="3913632" y="3383280"/>
            <a:ext cx="1188720" cy="329184"/>
          </a:xfrm>
          <a:prstGeom prst="roundRect">
            <a:avLst>
              <a:gd name="adj" fmla="val 22222"/>
            </a:avLst>
          </a:prstGeom>
          <a:solidFill>
            <a:srgbClr val="3E7CB1"/>
          </a:solidFill>
          <a:ln w="12700">
            <a:solidFill>
              <a:srgbClr val="333333"/>
            </a:solidFill>
            <a:prstDash val="solid"/>
          </a:ln>
        </p:spPr>
      </p:sp>
      <p:sp>
        <p:nvSpPr>
          <p:cNvPr id="16" name="Text 14"/>
          <p:cNvSpPr txBox="1"/>
          <p:nvPr/>
        </p:nvSpPr>
        <p:spPr>
          <a:xfrm>
            <a:off x="3913632" y="3383280"/>
            <a:ext cx="118872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Next</a:t>
            </a:r>
            <a:endParaRPr lang="en-US" sz="1000" dirty="0"/>
          </a:p>
        </p:txBody>
      </p:sp>
      <p:sp>
        <p:nvSpPr>
          <p:cNvPr id="17" name="Shape 15"/>
          <p:cNvSpPr/>
          <p:nvPr/>
        </p:nvSpPr>
        <p:spPr>
          <a:xfrm>
            <a:off x="5212080" y="2368296"/>
            <a:ext cx="502920" cy="0"/>
          </a:xfrm>
          <a:prstGeom prst="line">
            <a:avLst/>
          </a:prstGeom>
          <a:noFill/>
          <a:ln w="25400">
            <a:solidFill>
              <a:srgbClr val="8FA0B6"/>
            </a:solidFill>
            <a:prstDash val="solid"/>
          </a:ln>
        </p:spPr>
      </p:sp>
      <p:sp>
        <p:nvSpPr>
          <p:cNvPr id="18" name="Shape 16"/>
          <p:cNvSpPr/>
          <p:nvPr/>
        </p:nvSpPr>
        <p:spPr>
          <a:xfrm>
            <a:off x="5715000" y="2368296"/>
            <a:ext cx="0" cy="1179576"/>
          </a:xfrm>
          <a:prstGeom prst="line">
            <a:avLst/>
          </a:prstGeom>
          <a:noFill/>
          <a:ln w="25400">
            <a:solidFill>
              <a:srgbClr val="8FA0B6"/>
            </a:solidFill>
            <a:prstDash val="solid"/>
          </a:ln>
        </p:spPr>
      </p:sp>
      <p:sp>
        <p:nvSpPr>
          <p:cNvPr id="19" name="Shape 17"/>
          <p:cNvSpPr/>
          <p:nvPr/>
        </p:nvSpPr>
        <p:spPr>
          <a:xfrm>
            <a:off x="5715000" y="3547872"/>
            <a:ext cx="-612648" cy="0"/>
          </a:xfrm>
          <a:prstGeom prst="line">
            <a:avLst/>
          </a:prstGeom>
          <a:noFill/>
          <a:ln w="25400">
            <a:solidFill>
              <a:srgbClr val="8FA0B6"/>
            </a:solidFill>
            <a:prstDash val="solid"/>
            <a:tailEnd type="triangle"/>
          </a:ln>
        </p:spPr>
      </p:sp>
      <p:sp>
        <p:nvSpPr>
          <p:cNvPr id="20" name="Text 18"/>
          <p:cNvSpPr txBox="1"/>
          <p:nvPr/>
        </p:nvSpPr>
        <p:spPr>
          <a:xfrm>
            <a:off x="5212080" y="2084832"/>
            <a:ext cx="548640" cy="237744"/>
          </a:xfrm>
          <a:prstGeom prst="rect">
            <a:avLst/>
          </a:prstGeom>
          <a:noFill/>
          <a:ln/>
        </p:spPr>
        <p:txBody>
          <a:bodyPr wrap="square" lIns="0" tIns="0" rIns="0" bIns="0" rtlCol="0" anchor="ctr"/>
          <a:lstStyle/>
          <a:p>
            <a:pPr algn="ctr" indent="0" marL="0">
              <a:buNone/>
            </a:pPr>
            <a:r>
              <a:rPr lang="en-US" sz="1050" b="1" dirty="0">
                <a:solidFill>
                  <a:srgbClr val="E8674C"/>
                </a:solidFill>
                <a:latin typeface="Calibri" pitchFamily="34" charset="0"/>
                <a:ea typeface="Calibri" pitchFamily="34" charset="-122"/>
                <a:cs typeface="Calibri" pitchFamily="34" charset="-120"/>
              </a:rPr>
              <a:t>False</a:t>
            </a:r>
            <a:endParaRPr lang="en-US" sz="1050" dirty="0"/>
          </a:p>
        </p:txBody>
      </p:sp>
      <p:sp>
        <p:nvSpPr>
          <p:cNvPr id="21" name="Text 19"/>
          <p:cNvSpPr txBox="1"/>
          <p:nvPr/>
        </p:nvSpPr>
        <p:spPr>
          <a:xfrm>
            <a:off x="3657600" y="2670048"/>
            <a:ext cx="822960" cy="237744"/>
          </a:xfrm>
          <a:prstGeom prst="rect">
            <a:avLst/>
          </a:prstGeom>
          <a:noFill/>
          <a:ln/>
        </p:spPr>
        <p:txBody>
          <a:bodyPr wrap="square" lIns="0" tIns="0" rIns="0" bIns="0" rtlCol="0" anchor="ctr"/>
          <a:lstStyle/>
          <a:p>
            <a:pPr algn="ctr" indent="0" marL="0">
              <a:buNone/>
            </a:pPr>
            <a:r>
              <a:rPr lang="en-US" sz="1050" b="1" dirty="0">
                <a:solidFill>
                  <a:srgbClr val="2FA98C"/>
                </a:solidFill>
                <a:latin typeface="Calibri" pitchFamily="34" charset="0"/>
                <a:ea typeface="Calibri" pitchFamily="34" charset="-122"/>
                <a:cs typeface="Calibri" pitchFamily="34" charset="-120"/>
              </a:rPr>
              <a:t>True</a:t>
            </a:r>
            <a:endParaRPr lang="en-US" sz="1050" dirty="0"/>
          </a:p>
        </p:txBody>
      </p:sp>
      <p:sp>
        <p:nvSpPr>
          <p:cNvPr id="22" name="Shape 20"/>
          <p:cNvSpPr/>
          <p:nvPr/>
        </p:nvSpPr>
        <p:spPr>
          <a:xfrm>
            <a:off x="6309360" y="1572768"/>
            <a:ext cx="5303520" cy="2331720"/>
          </a:xfrm>
          <a:prstGeom prst="roundRect">
            <a:avLst>
              <a:gd name="adj" fmla="val 3529"/>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3" name="Text 21"/>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if / else  —  always exactly one of the two</a:t>
            </a:r>
            <a:endParaRPr lang="en-US" sz="1500" dirty="0"/>
          </a:p>
        </p:txBody>
      </p:sp>
      <p:sp>
        <p:nvSpPr>
          <p:cNvPr id="24" name="Shape 22"/>
          <p:cNvSpPr/>
          <p:nvPr/>
        </p:nvSpPr>
        <p:spPr>
          <a:xfrm>
            <a:off x="6492240" y="2121408"/>
            <a:ext cx="2468880" cy="1188720"/>
          </a:xfrm>
          <a:prstGeom prst="roundRect">
            <a:avLst>
              <a:gd name="adj" fmla="val 5385"/>
            </a:avLst>
          </a:prstGeom>
          <a:solidFill>
            <a:srgbClr val="1B2B45"/>
          </a:solidFill>
          <a:ln w="12700">
            <a:solidFill>
              <a:srgbClr val="1B2B45"/>
            </a:solidFill>
            <a:prstDash val="solid"/>
          </a:ln>
        </p:spPr>
      </p:sp>
      <p:sp>
        <p:nvSpPr>
          <p:cNvPr id="25" name="Text 23"/>
          <p:cNvSpPr txBox="1"/>
          <p:nvPr/>
        </p:nvSpPr>
        <p:spPr>
          <a:xfrm>
            <a:off x="6656832" y="2231136"/>
            <a:ext cx="2139696" cy="96926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if marks &gt;= 40: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print("Pass")</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else:</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print("Fail")</a:t>
            </a:r>
            <a:endParaRPr lang="en-US" sz="950" dirty="0"/>
          </a:p>
        </p:txBody>
      </p:sp>
      <p:sp>
        <p:nvSpPr>
          <p:cNvPr id="26" name="Shape 24"/>
          <p:cNvSpPr/>
          <p:nvPr/>
        </p:nvSpPr>
        <p:spPr>
          <a:xfrm>
            <a:off x="9601200" y="2121408"/>
            <a:ext cx="1371600" cy="530352"/>
          </a:xfrm>
          <a:prstGeom prst="diamond">
            <a:avLst/>
          </a:prstGeom>
          <a:solidFill>
            <a:srgbClr val="FFC145"/>
          </a:solidFill>
          <a:ln w="12700">
            <a:solidFill>
              <a:srgbClr val="333333"/>
            </a:solidFill>
            <a:prstDash val="solid"/>
          </a:ln>
        </p:spPr>
      </p:sp>
      <p:sp>
        <p:nvSpPr>
          <p:cNvPr id="27" name="Text 25"/>
          <p:cNvSpPr txBox="1"/>
          <p:nvPr/>
        </p:nvSpPr>
        <p:spPr>
          <a:xfrm>
            <a:off x="9779508" y="2121408"/>
            <a:ext cx="1014984" cy="530352"/>
          </a:xfrm>
          <a:prstGeom prst="rect">
            <a:avLst/>
          </a:prstGeom>
          <a:noFill/>
          <a:ln/>
        </p:spPr>
        <p:txBody>
          <a:bodyPr wrap="square" lIns="0" tIns="0" rIns="0" bIns="0" rtlCol="0" anchor="ctr"/>
          <a:lstStyle/>
          <a:p>
            <a:pPr algn="ctr" indent="0" marL="0">
              <a:buNone/>
            </a:pPr>
            <a:r>
              <a:rPr lang="en-US" sz="900" b="1" dirty="0">
                <a:solidFill>
                  <a:srgbClr val="152238"/>
                </a:solidFill>
                <a:latin typeface="Courier New" pitchFamily="34" charset="0"/>
                <a:ea typeface="Courier New" pitchFamily="34" charset="-122"/>
                <a:cs typeface="Courier New" pitchFamily="34" charset="-120"/>
              </a:rPr>
              <a:t>marks</a:t>
            </a:r>
            <a:endParaRPr lang="en-US" sz="900" dirty="0"/>
          </a:p>
          <a:p>
            <a:pPr algn="ctr" indent="0" marL="0">
              <a:buNone/>
            </a:pPr>
            <a:r>
              <a:rPr lang="en-US" sz="900" b="1" dirty="0">
                <a:solidFill>
                  <a:srgbClr val="152238"/>
                </a:solidFill>
                <a:latin typeface="Courier New" pitchFamily="34" charset="0"/>
                <a:ea typeface="Courier New" pitchFamily="34" charset="-122"/>
                <a:cs typeface="Courier New" pitchFamily="34" charset="-120"/>
              </a:rPr>
              <a:t>&gt;= 40</a:t>
            </a:r>
            <a:endParaRPr lang="en-US" sz="900" dirty="0"/>
          </a:p>
        </p:txBody>
      </p:sp>
      <p:sp>
        <p:nvSpPr>
          <p:cNvPr id="28" name="Shape 26"/>
          <p:cNvSpPr/>
          <p:nvPr/>
        </p:nvSpPr>
        <p:spPr>
          <a:xfrm>
            <a:off x="10287000" y="2651760"/>
            <a:ext cx="0" cy="146304"/>
          </a:xfrm>
          <a:prstGeom prst="line">
            <a:avLst/>
          </a:prstGeom>
          <a:noFill/>
          <a:ln w="25400">
            <a:solidFill>
              <a:srgbClr val="8FA0B6"/>
            </a:solidFill>
            <a:prstDash val="solid"/>
          </a:ln>
        </p:spPr>
      </p:sp>
      <p:sp>
        <p:nvSpPr>
          <p:cNvPr id="29" name="Shape 27"/>
          <p:cNvSpPr/>
          <p:nvPr/>
        </p:nvSpPr>
        <p:spPr>
          <a:xfrm>
            <a:off x="9555480" y="2798064"/>
            <a:ext cx="1463040" cy="0"/>
          </a:xfrm>
          <a:prstGeom prst="line">
            <a:avLst/>
          </a:prstGeom>
          <a:noFill/>
          <a:ln w="25400">
            <a:solidFill>
              <a:srgbClr val="8FA0B6"/>
            </a:solidFill>
            <a:prstDash val="solid"/>
          </a:ln>
        </p:spPr>
      </p:sp>
      <p:sp>
        <p:nvSpPr>
          <p:cNvPr id="30" name="Shape 28"/>
          <p:cNvSpPr/>
          <p:nvPr/>
        </p:nvSpPr>
        <p:spPr>
          <a:xfrm>
            <a:off x="9555480" y="2798064"/>
            <a:ext cx="0" cy="201168"/>
          </a:xfrm>
          <a:prstGeom prst="line">
            <a:avLst/>
          </a:prstGeom>
          <a:noFill/>
          <a:ln w="25400">
            <a:solidFill>
              <a:srgbClr val="8FA0B6"/>
            </a:solidFill>
            <a:prstDash val="solid"/>
            <a:tailEnd type="triangle"/>
          </a:ln>
        </p:spPr>
      </p:sp>
      <p:sp>
        <p:nvSpPr>
          <p:cNvPr id="31" name="Shape 29"/>
          <p:cNvSpPr/>
          <p:nvPr/>
        </p:nvSpPr>
        <p:spPr>
          <a:xfrm>
            <a:off x="11018520" y="2798064"/>
            <a:ext cx="0" cy="201168"/>
          </a:xfrm>
          <a:prstGeom prst="line">
            <a:avLst/>
          </a:prstGeom>
          <a:noFill/>
          <a:ln w="25400">
            <a:solidFill>
              <a:srgbClr val="8FA0B6"/>
            </a:solidFill>
            <a:prstDash val="solid"/>
            <a:tailEnd type="triangle"/>
          </a:ln>
        </p:spPr>
      </p:sp>
      <p:sp>
        <p:nvSpPr>
          <p:cNvPr id="32" name="Shape 30"/>
          <p:cNvSpPr/>
          <p:nvPr/>
        </p:nvSpPr>
        <p:spPr>
          <a:xfrm>
            <a:off x="9052560" y="2999232"/>
            <a:ext cx="1005840" cy="329184"/>
          </a:xfrm>
          <a:prstGeom prst="roundRect">
            <a:avLst>
              <a:gd name="adj" fmla="val 22222"/>
            </a:avLst>
          </a:prstGeom>
          <a:solidFill>
            <a:srgbClr val="2FA98C"/>
          </a:solidFill>
          <a:ln w="12700">
            <a:solidFill>
              <a:srgbClr val="333333"/>
            </a:solidFill>
            <a:prstDash val="solid"/>
          </a:ln>
        </p:spPr>
      </p:sp>
      <p:sp>
        <p:nvSpPr>
          <p:cNvPr id="33" name="Text 31"/>
          <p:cNvSpPr txBox="1"/>
          <p:nvPr/>
        </p:nvSpPr>
        <p:spPr>
          <a:xfrm>
            <a:off x="9052560" y="2999232"/>
            <a:ext cx="100584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Pass</a:t>
            </a:r>
            <a:endParaRPr lang="en-US" sz="1000" dirty="0"/>
          </a:p>
        </p:txBody>
      </p:sp>
      <p:sp>
        <p:nvSpPr>
          <p:cNvPr id="34" name="Shape 32"/>
          <p:cNvSpPr/>
          <p:nvPr/>
        </p:nvSpPr>
        <p:spPr>
          <a:xfrm>
            <a:off x="10515600" y="2999232"/>
            <a:ext cx="1005840" cy="329184"/>
          </a:xfrm>
          <a:prstGeom prst="roundRect">
            <a:avLst>
              <a:gd name="adj" fmla="val 22222"/>
            </a:avLst>
          </a:prstGeom>
          <a:solidFill>
            <a:srgbClr val="E8674C"/>
          </a:solidFill>
          <a:ln w="12700">
            <a:solidFill>
              <a:srgbClr val="333333"/>
            </a:solidFill>
            <a:prstDash val="solid"/>
          </a:ln>
        </p:spPr>
      </p:sp>
      <p:sp>
        <p:nvSpPr>
          <p:cNvPr id="35" name="Text 33"/>
          <p:cNvSpPr txBox="1"/>
          <p:nvPr/>
        </p:nvSpPr>
        <p:spPr>
          <a:xfrm>
            <a:off x="10515600" y="2999232"/>
            <a:ext cx="100584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Fail</a:t>
            </a:r>
            <a:endParaRPr lang="en-US" sz="1000" dirty="0"/>
          </a:p>
        </p:txBody>
      </p:sp>
      <p:sp>
        <p:nvSpPr>
          <p:cNvPr id="36" name="Text 34"/>
          <p:cNvSpPr txBox="1"/>
          <p:nvPr/>
        </p:nvSpPr>
        <p:spPr>
          <a:xfrm>
            <a:off x="8979408" y="2542032"/>
            <a:ext cx="731520" cy="237744"/>
          </a:xfrm>
          <a:prstGeom prst="rect">
            <a:avLst/>
          </a:prstGeom>
          <a:noFill/>
          <a:ln/>
        </p:spPr>
        <p:txBody>
          <a:bodyPr wrap="square" lIns="0" tIns="0" rIns="0" bIns="0" rtlCol="0" anchor="ctr"/>
          <a:lstStyle/>
          <a:p>
            <a:pPr algn="ctr" indent="0" marL="0">
              <a:buNone/>
            </a:pPr>
            <a:r>
              <a:rPr lang="en-US" sz="1050" b="1" dirty="0">
                <a:solidFill>
                  <a:srgbClr val="2FA98C"/>
                </a:solidFill>
                <a:latin typeface="Calibri" pitchFamily="34" charset="0"/>
                <a:ea typeface="Calibri" pitchFamily="34" charset="-122"/>
                <a:cs typeface="Calibri" pitchFamily="34" charset="-120"/>
              </a:rPr>
              <a:t>True</a:t>
            </a:r>
            <a:endParaRPr lang="en-US" sz="1050" dirty="0"/>
          </a:p>
        </p:txBody>
      </p:sp>
      <p:sp>
        <p:nvSpPr>
          <p:cNvPr id="37" name="Text 35"/>
          <p:cNvSpPr txBox="1"/>
          <p:nvPr/>
        </p:nvSpPr>
        <p:spPr>
          <a:xfrm>
            <a:off x="10716768" y="2542032"/>
            <a:ext cx="731520" cy="237744"/>
          </a:xfrm>
          <a:prstGeom prst="rect">
            <a:avLst/>
          </a:prstGeom>
          <a:noFill/>
          <a:ln/>
        </p:spPr>
        <p:txBody>
          <a:bodyPr wrap="square" lIns="0" tIns="0" rIns="0" bIns="0" rtlCol="0" anchor="ctr"/>
          <a:lstStyle/>
          <a:p>
            <a:pPr algn="ctr" indent="0" marL="0">
              <a:buNone/>
            </a:pPr>
            <a:r>
              <a:rPr lang="en-US" sz="1050" b="1" dirty="0">
                <a:solidFill>
                  <a:srgbClr val="E8674C"/>
                </a:solidFill>
                <a:latin typeface="Calibri" pitchFamily="34" charset="0"/>
                <a:ea typeface="Calibri" pitchFamily="34" charset="-122"/>
                <a:cs typeface="Calibri" pitchFamily="34" charset="-120"/>
              </a:rPr>
              <a:t>False</a:t>
            </a:r>
            <a:endParaRPr lang="en-US" sz="1050" dirty="0"/>
          </a:p>
        </p:txBody>
      </p:sp>
      <p:sp>
        <p:nvSpPr>
          <p:cNvPr id="38" name="Shape 36"/>
          <p:cNvSpPr/>
          <p:nvPr/>
        </p:nvSpPr>
        <p:spPr>
          <a:xfrm>
            <a:off x="548640" y="4160520"/>
            <a:ext cx="11064240" cy="1691640"/>
          </a:xfrm>
          <a:prstGeom prst="roundRect">
            <a:avLst>
              <a:gd name="adj" fmla="val 4865"/>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9" name="Text 37"/>
          <p:cNvSpPr txBox="1"/>
          <p:nvPr/>
        </p:nvSpPr>
        <p:spPr>
          <a:xfrm>
            <a:off x="868680" y="4315968"/>
            <a:ext cx="6400800" cy="301752"/>
          </a:xfrm>
          <a:prstGeom prst="rect">
            <a:avLst/>
          </a:prstGeom>
          <a:noFill/>
          <a:ln/>
        </p:spPr>
        <p:txBody>
          <a:bodyPr wrap="square" lIns="0" tIns="0" rIns="0" bIns="0" rtlCol="0" anchor="ctr"/>
          <a:lstStyle/>
          <a:p>
            <a:pPr indent="0" marL="0">
              <a:buNone/>
            </a:pPr>
            <a:r>
              <a:rPr lang="en-US" sz="1500" b="1" dirty="0">
                <a:solidFill>
                  <a:srgbClr val="8A5B00"/>
                </a:solidFill>
                <a:latin typeface="Calibri" pitchFamily="34" charset="0"/>
                <a:ea typeface="Calibri" pitchFamily="34" charset="-122"/>
                <a:cs typeface="Calibri" pitchFamily="34" charset="-120"/>
              </a:rPr>
              <a:t>The condition is just a bool — anything truthy works</a:t>
            </a:r>
            <a:endParaRPr lang="en-US" sz="1500" dirty="0"/>
          </a:p>
        </p:txBody>
      </p:sp>
      <p:sp>
        <p:nvSpPr>
          <p:cNvPr id="40" name="Shape 38"/>
          <p:cNvSpPr/>
          <p:nvPr/>
        </p:nvSpPr>
        <p:spPr>
          <a:xfrm>
            <a:off x="868680" y="4681728"/>
            <a:ext cx="5212080" cy="1005840"/>
          </a:xfrm>
          <a:prstGeom prst="roundRect">
            <a:avLst>
              <a:gd name="adj" fmla="val 6364"/>
            </a:avLst>
          </a:prstGeom>
          <a:solidFill>
            <a:srgbClr val="1B2B45"/>
          </a:solidFill>
          <a:ln w="12700">
            <a:solidFill>
              <a:srgbClr val="1B2B45"/>
            </a:solidFill>
            <a:prstDash val="solid"/>
          </a:ln>
        </p:spPr>
      </p:sp>
      <p:sp>
        <p:nvSpPr>
          <p:cNvPr id="41" name="Text 39"/>
          <p:cNvSpPr txBox="1"/>
          <p:nvPr/>
        </p:nvSpPr>
        <p:spPr>
          <a:xfrm>
            <a:off x="1033272" y="4791456"/>
            <a:ext cx="4882896" cy="78638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if name:          # True when name is not empty</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if items:         # True when the list has items</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if count != 0:    # explicit is clearer for numbers</a:t>
            </a:r>
            <a:endParaRPr lang="en-US" sz="1100" dirty="0"/>
          </a:p>
        </p:txBody>
      </p:sp>
      <p:sp>
        <p:nvSpPr>
          <p:cNvPr id="42" name="Text 40"/>
          <p:cNvSpPr txBox="1"/>
          <p:nvPr/>
        </p:nvSpPr>
        <p:spPr>
          <a:xfrm>
            <a:off x="6400800" y="4663440"/>
            <a:ext cx="4983480" cy="1051560"/>
          </a:xfrm>
          <a:prstGeom prst="rect">
            <a:avLst/>
          </a:prstGeom>
          <a:noFill/>
          <a:ln/>
        </p:spPr>
        <p:txBody>
          <a:bodyPr wrap="square" lIns="0" tIns="0" rIns="0" bIns="0" rtlCol="0" anchor="ctr"/>
          <a:lstStyle/>
          <a:p>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Yesterday's falsy list applies here directly: 0, 0.0, "", [], {}, (), None and False all send you down the else branch. Everything else takes the if branch — including "0" and "False", which are non-empty strings.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1.3  ·  THE CHAIN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elif — picking exactly one from many</a:t>
            </a:r>
            <a:endParaRPr lang="en-US" sz="3200" dirty="0"/>
          </a:p>
        </p:txBody>
      </p:sp>
      <p:sp>
        <p:nvSpPr>
          <p:cNvPr id="5" name="Shape 3"/>
          <p:cNvSpPr/>
          <p:nvPr/>
        </p:nvSpPr>
        <p:spPr>
          <a:xfrm>
            <a:off x="548640" y="1572768"/>
            <a:ext cx="5029200" cy="2926080"/>
          </a:xfrm>
          <a:prstGeom prst="roundRect">
            <a:avLst>
              <a:gd name="adj" fmla="val 281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48056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Grade bands</a:t>
            </a:r>
            <a:endParaRPr lang="en-US" sz="1500" dirty="0"/>
          </a:p>
        </p:txBody>
      </p:sp>
      <p:sp>
        <p:nvSpPr>
          <p:cNvPr id="7" name="Shape 5"/>
          <p:cNvSpPr/>
          <p:nvPr/>
        </p:nvSpPr>
        <p:spPr>
          <a:xfrm>
            <a:off x="804672" y="2084832"/>
            <a:ext cx="4526280" cy="2240280"/>
          </a:xfrm>
          <a:prstGeom prst="roundRect">
            <a:avLst>
              <a:gd name="adj" fmla="val 2857"/>
            </a:avLst>
          </a:prstGeom>
          <a:solidFill>
            <a:srgbClr val="1B2B45"/>
          </a:solidFill>
          <a:ln w="12700">
            <a:solidFill>
              <a:srgbClr val="1B2B45"/>
            </a:solidFill>
            <a:prstDash val="solid"/>
          </a:ln>
        </p:spPr>
      </p:sp>
      <p:sp>
        <p:nvSpPr>
          <p:cNvPr id="8" name="Text 6"/>
          <p:cNvSpPr txBox="1"/>
          <p:nvPr/>
        </p:nvSpPr>
        <p:spPr>
          <a:xfrm>
            <a:off x="969264" y="2194560"/>
            <a:ext cx="4197096" cy="202082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if percentage &gt;= 75:</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grade = "A"</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elif percentage &gt;= 60:</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grade = "B"</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elif percentage &gt;= 40:</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grade = "C"</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else:</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grade = "F"</a:t>
            </a:r>
            <a:endParaRPr lang="en-US" sz="1100" dirty="0"/>
          </a:p>
          <a:p>
            <a:pPr indent="0" marL="0">
              <a:lnSpc>
                <a:spcPct val="112000"/>
              </a:lnSpc>
              <a:buNone/>
            </a:pP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Python checks TOP TO BOTTOM and stops</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at the FIRST True. Order matters.</a:t>
            </a:r>
            <a:endParaRPr lang="en-US" sz="1100" dirty="0"/>
          </a:p>
        </p:txBody>
      </p:sp>
      <p:sp>
        <p:nvSpPr>
          <p:cNvPr id="9" name="Shape 7"/>
          <p:cNvSpPr/>
          <p:nvPr/>
        </p:nvSpPr>
        <p:spPr>
          <a:xfrm>
            <a:off x="5852160" y="1572768"/>
            <a:ext cx="5760720" cy="2926080"/>
          </a:xfrm>
          <a:prstGeom prst="roundRect">
            <a:avLst>
              <a:gd name="adj" fmla="val 281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108192" y="1719072"/>
            <a:ext cx="521208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How Python walks the chain</a:t>
            </a:r>
            <a:endParaRPr lang="en-US" sz="1500" dirty="0"/>
          </a:p>
        </p:txBody>
      </p:sp>
      <p:sp>
        <p:nvSpPr>
          <p:cNvPr id="11" name="Shape 9"/>
          <p:cNvSpPr/>
          <p:nvPr/>
        </p:nvSpPr>
        <p:spPr>
          <a:xfrm>
            <a:off x="6172200" y="2121408"/>
            <a:ext cx="1463040" cy="548640"/>
          </a:xfrm>
          <a:prstGeom prst="diamond">
            <a:avLst/>
          </a:prstGeom>
          <a:solidFill>
            <a:srgbClr val="FFC145"/>
          </a:solidFill>
          <a:ln w="12700">
            <a:solidFill>
              <a:srgbClr val="333333"/>
            </a:solidFill>
            <a:prstDash val="solid"/>
          </a:ln>
        </p:spPr>
      </p:sp>
      <p:sp>
        <p:nvSpPr>
          <p:cNvPr id="12" name="Text 10"/>
          <p:cNvSpPr txBox="1"/>
          <p:nvPr/>
        </p:nvSpPr>
        <p:spPr>
          <a:xfrm>
            <a:off x="6362395" y="2121408"/>
            <a:ext cx="1082650" cy="548640"/>
          </a:xfrm>
          <a:prstGeom prst="rect">
            <a:avLst/>
          </a:prstGeom>
          <a:noFill/>
          <a:ln/>
        </p:spPr>
        <p:txBody>
          <a:bodyPr wrap="square" lIns="0" tIns="0" rIns="0" bIns="0" rtlCol="0" anchor="ctr"/>
          <a:lstStyle/>
          <a:p>
            <a:pPr algn="ctr" indent="0" marL="0">
              <a:buNone/>
            </a:pPr>
            <a:r>
              <a:rPr lang="en-US" sz="1000" b="1" dirty="0">
                <a:solidFill>
                  <a:srgbClr val="152238"/>
                </a:solidFill>
                <a:latin typeface="Courier New" pitchFamily="34" charset="0"/>
                <a:ea typeface="Courier New" pitchFamily="34" charset="-122"/>
                <a:cs typeface="Courier New" pitchFamily="34" charset="-120"/>
              </a:rPr>
              <a:t>&gt;= 75</a:t>
            </a:r>
            <a:endParaRPr lang="en-US" sz="1000" dirty="0"/>
          </a:p>
        </p:txBody>
      </p:sp>
      <p:sp>
        <p:nvSpPr>
          <p:cNvPr id="13" name="Shape 11"/>
          <p:cNvSpPr/>
          <p:nvPr/>
        </p:nvSpPr>
        <p:spPr>
          <a:xfrm>
            <a:off x="7635240" y="2395728"/>
            <a:ext cx="685800" cy="0"/>
          </a:xfrm>
          <a:prstGeom prst="line">
            <a:avLst/>
          </a:prstGeom>
          <a:noFill/>
          <a:ln w="25400">
            <a:solidFill>
              <a:srgbClr val="8FA0B6"/>
            </a:solidFill>
            <a:prstDash val="solid"/>
            <a:tailEnd type="triangle"/>
          </a:ln>
        </p:spPr>
      </p:sp>
      <p:sp>
        <p:nvSpPr>
          <p:cNvPr id="14" name="Shape 12"/>
          <p:cNvSpPr/>
          <p:nvPr/>
        </p:nvSpPr>
        <p:spPr>
          <a:xfrm>
            <a:off x="8366760" y="2221992"/>
            <a:ext cx="960120" cy="347472"/>
          </a:xfrm>
          <a:prstGeom prst="roundRect">
            <a:avLst>
              <a:gd name="adj" fmla="val 21053"/>
            </a:avLst>
          </a:prstGeom>
          <a:solidFill>
            <a:srgbClr val="2FA98C"/>
          </a:solidFill>
          <a:ln w="12700">
            <a:solidFill>
              <a:srgbClr val="333333"/>
            </a:solidFill>
            <a:prstDash val="solid"/>
          </a:ln>
        </p:spPr>
      </p:sp>
      <p:sp>
        <p:nvSpPr>
          <p:cNvPr id="15" name="Text 13"/>
          <p:cNvSpPr txBox="1"/>
          <p:nvPr/>
        </p:nvSpPr>
        <p:spPr>
          <a:xfrm>
            <a:off x="8366760" y="2221992"/>
            <a:ext cx="96012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A</a:t>
            </a:r>
            <a:endParaRPr lang="en-US" sz="1050" dirty="0"/>
          </a:p>
        </p:txBody>
      </p:sp>
      <p:sp>
        <p:nvSpPr>
          <p:cNvPr id="16" name="Text 14"/>
          <p:cNvSpPr txBox="1"/>
          <p:nvPr/>
        </p:nvSpPr>
        <p:spPr>
          <a:xfrm>
            <a:off x="7589520" y="2139696"/>
            <a:ext cx="777240" cy="237744"/>
          </a:xfrm>
          <a:prstGeom prst="rect">
            <a:avLst/>
          </a:prstGeom>
          <a:noFill/>
          <a:ln/>
        </p:spPr>
        <p:txBody>
          <a:bodyPr wrap="square" lIns="0" tIns="0" rIns="0" bIns="0" rtlCol="0" anchor="ctr"/>
          <a:lstStyle/>
          <a:p>
            <a:pPr algn="ctr" indent="0" marL="0">
              <a:buNone/>
            </a:pPr>
            <a:r>
              <a:rPr lang="en-US" sz="1050" b="1" dirty="0">
                <a:solidFill>
                  <a:srgbClr val="2FA98C"/>
                </a:solidFill>
                <a:latin typeface="Calibri" pitchFamily="34" charset="0"/>
                <a:ea typeface="Calibri" pitchFamily="34" charset="-122"/>
                <a:cs typeface="Calibri" pitchFamily="34" charset="-120"/>
              </a:rPr>
              <a:t>True</a:t>
            </a:r>
            <a:endParaRPr lang="en-US" sz="1050" dirty="0"/>
          </a:p>
        </p:txBody>
      </p:sp>
      <p:sp>
        <p:nvSpPr>
          <p:cNvPr id="17" name="Shape 15"/>
          <p:cNvSpPr/>
          <p:nvPr/>
        </p:nvSpPr>
        <p:spPr>
          <a:xfrm>
            <a:off x="6903720" y="2670048"/>
            <a:ext cx="0" cy="109728"/>
          </a:xfrm>
          <a:prstGeom prst="line">
            <a:avLst/>
          </a:prstGeom>
          <a:noFill/>
          <a:ln w="25400">
            <a:solidFill>
              <a:srgbClr val="8FA0B6"/>
            </a:solidFill>
            <a:prstDash val="solid"/>
            <a:tailEnd type="triangle"/>
          </a:ln>
        </p:spPr>
      </p:sp>
      <p:sp>
        <p:nvSpPr>
          <p:cNvPr id="18" name="Text 16"/>
          <p:cNvSpPr txBox="1"/>
          <p:nvPr/>
        </p:nvSpPr>
        <p:spPr>
          <a:xfrm>
            <a:off x="6967728" y="2633472"/>
            <a:ext cx="685800" cy="237744"/>
          </a:xfrm>
          <a:prstGeom prst="rect">
            <a:avLst/>
          </a:prstGeom>
          <a:noFill/>
          <a:ln/>
        </p:spPr>
        <p:txBody>
          <a:bodyPr wrap="square" lIns="0" tIns="0" rIns="0" bIns="0" rtlCol="0" anchor="ctr"/>
          <a:lstStyle/>
          <a:p>
            <a:pPr algn="ctr" indent="0" marL="0">
              <a:buNone/>
            </a:pPr>
            <a:r>
              <a:rPr lang="en-US" sz="1050" b="1" dirty="0">
                <a:solidFill>
                  <a:srgbClr val="E8674C"/>
                </a:solidFill>
                <a:latin typeface="Calibri" pitchFamily="34" charset="0"/>
                <a:ea typeface="Calibri" pitchFamily="34" charset="-122"/>
                <a:cs typeface="Calibri" pitchFamily="34" charset="-120"/>
              </a:rPr>
              <a:t>False</a:t>
            </a:r>
            <a:endParaRPr lang="en-US" sz="1050" dirty="0"/>
          </a:p>
        </p:txBody>
      </p:sp>
      <p:sp>
        <p:nvSpPr>
          <p:cNvPr id="19" name="Shape 17"/>
          <p:cNvSpPr/>
          <p:nvPr/>
        </p:nvSpPr>
        <p:spPr>
          <a:xfrm>
            <a:off x="6172200" y="2779776"/>
            <a:ext cx="1463040" cy="548640"/>
          </a:xfrm>
          <a:prstGeom prst="diamond">
            <a:avLst/>
          </a:prstGeom>
          <a:solidFill>
            <a:srgbClr val="FFC145"/>
          </a:solidFill>
          <a:ln w="12700">
            <a:solidFill>
              <a:srgbClr val="333333"/>
            </a:solidFill>
            <a:prstDash val="solid"/>
          </a:ln>
        </p:spPr>
      </p:sp>
      <p:sp>
        <p:nvSpPr>
          <p:cNvPr id="20" name="Text 18"/>
          <p:cNvSpPr txBox="1"/>
          <p:nvPr/>
        </p:nvSpPr>
        <p:spPr>
          <a:xfrm>
            <a:off x="6362395" y="2779776"/>
            <a:ext cx="1082650" cy="548640"/>
          </a:xfrm>
          <a:prstGeom prst="rect">
            <a:avLst/>
          </a:prstGeom>
          <a:noFill/>
          <a:ln/>
        </p:spPr>
        <p:txBody>
          <a:bodyPr wrap="square" lIns="0" tIns="0" rIns="0" bIns="0" rtlCol="0" anchor="ctr"/>
          <a:lstStyle/>
          <a:p>
            <a:pPr algn="ctr" indent="0" marL="0">
              <a:buNone/>
            </a:pPr>
            <a:r>
              <a:rPr lang="en-US" sz="1000" b="1" dirty="0">
                <a:solidFill>
                  <a:srgbClr val="152238"/>
                </a:solidFill>
                <a:latin typeface="Courier New" pitchFamily="34" charset="0"/>
                <a:ea typeface="Courier New" pitchFamily="34" charset="-122"/>
                <a:cs typeface="Courier New" pitchFamily="34" charset="-120"/>
              </a:rPr>
              <a:t>&gt;= 60</a:t>
            </a:r>
            <a:endParaRPr lang="en-US" sz="1000" dirty="0"/>
          </a:p>
        </p:txBody>
      </p:sp>
      <p:sp>
        <p:nvSpPr>
          <p:cNvPr id="21" name="Shape 19"/>
          <p:cNvSpPr/>
          <p:nvPr/>
        </p:nvSpPr>
        <p:spPr>
          <a:xfrm>
            <a:off x="7635240" y="3054096"/>
            <a:ext cx="685800" cy="0"/>
          </a:xfrm>
          <a:prstGeom prst="line">
            <a:avLst/>
          </a:prstGeom>
          <a:noFill/>
          <a:ln w="25400">
            <a:solidFill>
              <a:srgbClr val="8FA0B6"/>
            </a:solidFill>
            <a:prstDash val="solid"/>
            <a:tailEnd type="triangle"/>
          </a:ln>
        </p:spPr>
      </p:sp>
      <p:sp>
        <p:nvSpPr>
          <p:cNvPr id="22" name="Shape 20"/>
          <p:cNvSpPr/>
          <p:nvPr/>
        </p:nvSpPr>
        <p:spPr>
          <a:xfrm>
            <a:off x="8366760" y="2880360"/>
            <a:ext cx="960120" cy="347472"/>
          </a:xfrm>
          <a:prstGeom prst="roundRect">
            <a:avLst>
              <a:gd name="adj" fmla="val 21053"/>
            </a:avLst>
          </a:prstGeom>
          <a:solidFill>
            <a:srgbClr val="3E7CB1"/>
          </a:solidFill>
          <a:ln w="12700">
            <a:solidFill>
              <a:srgbClr val="333333"/>
            </a:solidFill>
            <a:prstDash val="solid"/>
          </a:ln>
        </p:spPr>
      </p:sp>
      <p:sp>
        <p:nvSpPr>
          <p:cNvPr id="23" name="Text 21"/>
          <p:cNvSpPr txBox="1"/>
          <p:nvPr/>
        </p:nvSpPr>
        <p:spPr>
          <a:xfrm>
            <a:off x="8366760" y="2880360"/>
            <a:ext cx="96012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
            </a:r>
            <a:endParaRPr lang="en-US" sz="1050" dirty="0"/>
          </a:p>
        </p:txBody>
      </p:sp>
      <p:sp>
        <p:nvSpPr>
          <p:cNvPr id="24" name="Text 22"/>
          <p:cNvSpPr txBox="1"/>
          <p:nvPr/>
        </p:nvSpPr>
        <p:spPr>
          <a:xfrm>
            <a:off x="7589520" y="2798064"/>
            <a:ext cx="777240" cy="237744"/>
          </a:xfrm>
          <a:prstGeom prst="rect">
            <a:avLst/>
          </a:prstGeom>
          <a:noFill/>
          <a:ln/>
        </p:spPr>
        <p:txBody>
          <a:bodyPr wrap="square" lIns="0" tIns="0" rIns="0" bIns="0" rtlCol="0" anchor="ctr"/>
          <a:lstStyle/>
          <a:p>
            <a:pPr algn="ctr" indent="0" marL="0">
              <a:buNone/>
            </a:pPr>
            <a:r>
              <a:rPr lang="en-US" sz="1050" b="1" dirty="0">
                <a:solidFill>
                  <a:srgbClr val="2FA98C"/>
                </a:solidFill>
                <a:latin typeface="Calibri" pitchFamily="34" charset="0"/>
                <a:ea typeface="Calibri" pitchFamily="34" charset="-122"/>
                <a:cs typeface="Calibri" pitchFamily="34" charset="-120"/>
              </a:rPr>
              <a:t>True</a:t>
            </a:r>
            <a:endParaRPr lang="en-US" sz="1050" dirty="0"/>
          </a:p>
        </p:txBody>
      </p:sp>
      <p:sp>
        <p:nvSpPr>
          <p:cNvPr id="25" name="Shape 23"/>
          <p:cNvSpPr/>
          <p:nvPr/>
        </p:nvSpPr>
        <p:spPr>
          <a:xfrm>
            <a:off x="6903720" y="3328416"/>
            <a:ext cx="0" cy="109728"/>
          </a:xfrm>
          <a:prstGeom prst="line">
            <a:avLst/>
          </a:prstGeom>
          <a:noFill/>
          <a:ln w="25400">
            <a:solidFill>
              <a:srgbClr val="8FA0B6"/>
            </a:solidFill>
            <a:prstDash val="solid"/>
            <a:tailEnd type="triangle"/>
          </a:ln>
        </p:spPr>
      </p:sp>
      <p:sp>
        <p:nvSpPr>
          <p:cNvPr id="26" name="Text 24"/>
          <p:cNvSpPr txBox="1"/>
          <p:nvPr/>
        </p:nvSpPr>
        <p:spPr>
          <a:xfrm>
            <a:off x="6967728" y="3291840"/>
            <a:ext cx="685800" cy="237744"/>
          </a:xfrm>
          <a:prstGeom prst="rect">
            <a:avLst/>
          </a:prstGeom>
          <a:noFill/>
          <a:ln/>
        </p:spPr>
        <p:txBody>
          <a:bodyPr wrap="square" lIns="0" tIns="0" rIns="0" bIns="0" rtlCol="0" anchor="ctr"/>
          <a:lstStyle/>
          <a:p>
            <a:pPr algn="ctr" indent="0" marL="0">
              <a:buNone/>
            </a:pPr>
            <a:r>
              <a:rPr lang="en-US" sz="1050" b="1" dirty="0">
                <a:solidFill>
                  <a:srgbClr val="E8674C"/>
                </a:solidFill>
                <a:latin typeface="Calibri" pitchFamily="34" charset="0"/>
                <a:ea typeface="Calibri" pitchFamily="34" charset="-122"/>
                <a:cs typeface="Calibri" pitchFamily="34" charset="-120"/>
              </a:rPr>
              <a:t>False</a:t>
            </a:r>
            <a:endParaRPr lang="en-US" sz="1050" dirty="0"/>
          </a:p>
        </p:txBody>
      </p:sp>
      <p:sp>
        <p:nvSpPr>
          <p:cNvPr id="27" name="Shape 25"/>
          <p:cNvSpPr/>
          <p:nvPr/>
        </p:nvSpPr>
        <p:spPr>
          <a:xfrm>
            <a:off x="6172200" y="3438144"/>
            <a:ext cx="1463040" cy="548640"/>
          </a:xfrm>
          <a:prstGeom prst="diamond">
            <a:avLst/>
          </a:prstGeom>
          <a:solidFill>
            <a:srgbClr val="FFC145"/>
          </a:solidFill>
          <a:ln w="12700">
            <a:solidFill>
              <a:srgbClr val="333333"/>
            </a:solidFill>
            <a:prstDash val="solid"/>
          </a:ln>
        </p:spPr>
      </p:sp>
      <p:sp>
        <p:nvSpPr>
          <p:cNvPr id="28" name="Text 26"/>
          <p:cNvSpPr txBox="1"/>
          <p:nvPr/>
        </p:nvSpPr>
        <p:spPr>
          <a:xfrm>
            <a:off x="6362395" y="3438144"/>
            <a:ext cx="1082650" cy="548640"/>
          </a:xfrm>
          <a:prstGeom prst="rect">
            <a:avLst/>
          </a:prstGeom>
          <a:noFill/>
          <a:ln/>
        </p:spPr>
        <p:txBody>
          <a:bodyPr wrap="square" lIns="0" tIns="0" rIns="0" bIns="0" rtlCol="0" anchor="ctr"/>
          <a:lstStyle/>
          <a:p>
            <a:pPr algn="ctr" indent="0" marL="0">
              <a:buNone/>
            </a:pPr>
            <a:r>
              <a:rPr lang="en-US" sz="1000" b="1" dirty="0">
                <a:solidFill>
                  <a:srgbClr val="152238"/>
                </a:solidFill>
                <a:latin typeface="Courier New" pitchFamily="34" charset="0"/>
                <a:ea typeface="Courier New" pitchFamily="34" charset="-122"/>
                <a:cs typeface="Courier New" pitchFamily="34" charset="-120"/>
              </a:rPr>
              <a:t>&gt;= 40</a:t>
            </a:r>
            <a:endParaRPr lang="en-US" sz="1000" dirty="0"/>
          </a:p>
        </p:txBody>
      </p:sp>
      <p:sp>
        <p:nvSpPr>
          <p:cNvPr id="29" name="Shape 27"/>
          <p:cNvSpPr/>
          <p:nvPr/>
        </p:nvSpPr>
        <p:spPr>
          <a:xfrm>
            <a:off x="7635240" y="3712464"/>
            <a:ext cx="685800" cy="0"/>
          </a:xfrm>
          <a:prstGeom prst="line">
            <a:avLst/>
          </a:prstGeom>
          <a:noFill/>
          <a:ln w="25400">
            <a:solidFill>
              <a:srgbClr val="8FA0B6"/>
            </a:solidFill>
            <a:prstDash val="solid"/>
            <a:tailEnd type="triangle"/>
          </a:ln>
        </p:spPr>
      </p:sp>
      <p:sp>
        <p:nvSpPr>
          <p:cNvPr id="30" name="Shape 28"/>
          <p:cNvSpPr/>
          <p:nvPr/>
        </p:nvSpPr>
        <p:spPr>
          <a:xfrm>
            <a:off x="8366760" y="3538728"/>
            <a:ext cx="960120" cy="347472"/>
          </a:xfrm>
          <a:prstGeom prst="roundRect">
            <a:avLst>
              <a:gd name="adj" fmla="val 21053"/>
            </a:avLst>
          </a:prstGeom>
          <a:solidFill>
            <a:srgbClr val="5C93BE"/>
          </a:solidFill>
          <a:ln w="12700">
            <a:solidFill>
              <a:srgbClr val="333333"/>
            </a:solidFill>
            <a:prstDash val="solid"/>
          </a:ln>
        </p:spPr>
      </p:sp>
      <p:sp>
        <p:nvSpPr>
          <p:cNvPr id="31" name="Text 29"/>
          <p:cNvSpPr txBox="1"/>
          <p:nvPr/>
        </p:nvSpPr>
        <p:spPr>
          <a:xfrm>
            <a:off x="8366760" y="3538728"/>
            <a:ext cx="96012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a:t>
            </a:r>
            <a:endParaRPr lang="en-US" sz="1050" dirty="0"/>
          </a:p>
        </p:txBody>
      </p:sp>
      <p:sp>
        <p:nvSpPr>
          <p:cNvPr id="32" name="Text 30"/>
          <p:cNvSpPr txBox="1"/>
          <p:nvPr/>
        </p:nvSpPr>
        <p:spPr>
          <a:xfrm>
            <a:off x="7589520" y="3456432"/>
            <a:ext cx="777240" cy="237744"/>
          </a:xfrm>
          <a:prstGeom prst="rect">
            <a:avLst/>
          </a:prstGeom>
          <a:noFill/>
          <a:ln/>
        </p:spPr>
        <p:txBody>
          <a:bodyPr wrap="square" lIns="0" tIns="0" rIns="0" bIns="0" rtlCol="0" anchor="ctr"/>
          <a:lstStyle/>
          <a:p>
            <a:pPr algn="ctr" indent="0" marL="0">
              <a:buNone/>
            </a:pPr>
            <a:r>
              <a:rPr lang="en-US" sz="1050" b="1" dirty="0">
                <a:solidFill>
                  <a:srgbClr val="2FA98C"/>
                </a:solidFill>
                <a:latin typeface="Calibri" pitchFamily="34" charset="0"/>
                <a:ea typeface="Calibri" pitchFamily="34" charset="-122"/>
                <a:cs typeface="Calibri" pitchFamily="34" charset="-120"/>
              </a:rPr>
              <a:t>True</a:t>
            </a:r>
            <a:endParaRPr lang="en-US" sz="1050" dirty="0"/>
          </a:p>
        </p:txBody>
      </p:sp>
      <p:sp>
        <p:nvSpPr>
          <p:cNvPr id="33" name="Shape 31"/>
          <p:cNvSpPr/>
          <p:nvPr/>
        </p:nvSpPr>
        <p:spPr>
          <a:xfrm>
            <a:off x="6903720" y="4023360"/>
            <a:ext cx="0" cy="109728"/>
          </a:xfrm>
          <a:prstGeom prst="line">
            <a:avLst/>
          </a:prstGeom>
          <a:noFill/>
          <a:ln w="25400">
            <a:solidFill>
              <a:srgbClr val="8FA0B6"/>
            </a:solidFill>
            <a:prstDash val="solid"/>
            <a:tailEnd type="triangle"/>
          </a:ln>
        </p:spPr>
      </p:sp>
      <p:sp>
        <p:nvSpPr>
          <p:cNvPr id="34" name="Shape 32"/>
          <p:cNvSpPr/>
          <p:nvPr/>
        </p:nvSpPr>
        <p:spPr>
          <a:xfrm>
            <a:off x="6309360" y="4133088"/>
            <a:ext cx="1188720" cy="329184"/>
          </a:xfrm>
          <a:prstGeom prst="roundRect">
            <a:avLst>
              <a:gd name="adj" fmla="val 22222"/>
            </a:avLst>
          </a:prstGeom>
          <a:solidFill>
            <a:srgbClr val="E8674C"/>
          </a:solidFill>
          <a:ln w="12700">
            <a:solidFill>
              <a:srgbClr val="333333"/>
            </a:solidFill>
            <a:prstDash val="solid"/>
          </a:ln>
        </p:spPr>
      </p:sp>
      <p:sp>
        <p:nvSpPr>
          <p:cNvPr id="35" name="Text 33"/>
          <p:cNvSpPr txBox="1"/>
          <p:nvPr/>
        </p:nvSpPr>
        <p:spPr>
          <a:xfrm>
            <a:off x="6309360" y="4133088"/>
            <a:ext cx="118872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else → F</a:t>
            </a:r>
            <a:endParaRPr lang="en-US" sz="1000" dirty="0"/>
          </a:p>
        </p:txBody>
      </p:sp>
      <p:sp>
        <p:nvSpPr>
          <p:cNvPr id="36" name="Text 34"/>
          <p:cNvSpPr txBox="1"/>
          <p:nvPr/>
        </p:nvSpPr>
        <p:spPr>
          <a:xfrm>
            <a:off x="8549640" y="4114800"/>
            <a:ext cx="2834640" cy="365760"/>
          </a:xfrm>
          <a:prstGeom prst="rect">
            <a:avLst/>
          </a:prstGeom>
          <a:noFill/>
          <a:ln/>
        </p:spPr>
        <p:txBody>
          <a:bodyPr wrap="square" lIns="0" tIns="0" rIns="0" bIns="0" rtlCol="0" anchor="ctr"/>
          <a:lstStyle/>
          <a:p>
            <a:pPr indent="0" marL="0">
              <a:buNone/>
            </a:pPr>
            <a:r>
              <a:rPr lang="en-US" sz="1200" i="1" dirty="0">
                <a:solidFill>
                  <a:srgbClr val="6B7789"/>
                </a:solidFill>
                <a:latin typeface="Calibri" pitchFamily="34" charset="0"/>
                <a:ea typeface="Calibri" pitchFamily="34" charset="-122"/>
                <a:cs typeface="Calibri" pitchFamily="34" charset="-120"/>
              </a:rPr>
              <a:t>Once one branch fires, the rest are never tested.</a:t>
            </a:r>
            <a:endParaRPr lang="en-US" sz="1200" dirty="0"/>
          </a:p>
        </p:txBody>
      </p:sp>
      <p:sp>
        <p:nvSpPr>
          <p:cNvPr id="37" name="Shape 35"/>
          <p:cNvSpPr/>
          <p:nvPr/>
        </p:nvSpPr>
        <p:spPr>
          <a:xfrm>
            <a:off x="548640" y="4754880"/>
            <a:ext cx="11064240" cy="1097280"/>
          </a:xfrm>
          <a:prstGeom prst="roundRect">
            <a:avLst>
              <a:gd name="adj" fmla="val 75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8" name="Text 36"/>
          <p:cNvSpPr txBox="1"/>
          <p:nvPr/>
        </p:nvSpPr>
        <p:spPr>
          <a:xfrm>
            <a:off x="868680" y="4956048"/>
            <a:ext cx="10424160" cy="731520"/>
          </a:xfrm>
          <a:prstGeom prst="rect">
            <a:avLst/>
          </a:prstGeom>
          <a:noFill/>
          <a:ln/>
        </p:spPr>
        <p:txBody>
          <a:bodyPr wrap="square" lIns="0" tIns="0" rIns="0" bIns="0" rtlCol="0" anchor="ctr"/>
          <a:lstStyle/>
          <a:p>
            <a:pPr indent="0" marL="0">
              <a:lnSpc>
                <a:spcPct val="115000"/>
              </a:lnSpc>
              <a:buNone/>
            </a:pPr>
            <a:r>
              <a:rPr lang="en-US" sz="1350" b="1" dirty="0">
                <a:solidFill>
                  <a:srgbClr val="A63B24"/>
                </a:solidFill>
                <a:latin typeface="Calibri" pitchFamily="34" charset="0"/>
                <a:ea typeface="Calibri" pitchFamily="34" charset="-122"/>
                <a:cs typeface="Calibri" pitchFamily="34" charset="-120"/>
              </a:rPr>
              <a:t>⚠  Order matters:  </a:t>
            </a:r>
            <a:pPr indent="0" marL="0">
              <a:lnSpc>
                <a:spcPct val="115000"/>
              </a:lnSpc>
              <a:buNone/>
            </a:pPr>
            <a:r>
              <a:rPr lang="en-US" sz="1350" dirty="0">
                <a:solidFill>
                  <a:srgbClr val="6B4A0B"/>
                </a:solidFill>
                <a:latin typeface="Calibri" pitchFamily="34" charset="0"/>
                <a:ea typeface="Calibri" pitchFamily="34" charset="-122"/>
                <a:cs typeface="Calibri" pitchFamily="34" charset="-120"/>
              </a:rPr>
              <a:t>if you put  &gt;= 40  first, a student with 90 gets a “C” — because 90 &gt;= 40 is True and Python stops there. Always order from the most restrictive condition to the least.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1.4  ·  PITFALLS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Four conditional mistakes you will make this week</a:t>
            </a:r>
            <a:endParaRPr lang="en-US" sz="3200" dirty="0"/>
          </a:p>
        </p:txBody>
      </p:sp>
      <p:sp>
        <p:nvSpPr>
          <p:cNvPr id="5" name="Shape 3"/>
          <p:cNvSpPr/>
          <p:nvPr/>
        </p:nvSpPr>
        <p:spPr>
          <a:xfrm>
            <a:off x="548640" y="1572768"/>
            <a:ext cx="5440680" cy="2029968"/>
          </a:xfrm>
          <a:prstGeom prst="roundRect">
            <a:avLst>
              <a:gd name="adj" fmla="val 405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755648"/>
            <a:ext cx="384048" cy="384048"/>
          </a:xfrm>
          <a:prstGeom prst="ellipse">
            <a:avLst/>
          </a:prstGeom>
          <a:solidFill>
            <a:srgbClr val="E8674C"/>
          </a:solidFill>
          <a:ln w="12700">
            <a:solidFill>
              <a:srgbClr val="E8674C"/>
            </a:solidFill>
            <a:prstDash val="solid"/>
          </a:ln>
        </p:spPr>
      </p:sp>
      <p:sp>
        <p:nvSpPr>
          <p:cNvPr id="7" name="Text 5"/>
          <p:cNvSpPr txBox="1"/>
          <p:nvPr/>
        </p:nvSpPr>
        <p:spPr>
          <a:xfrm>
            <a:off x="777240" y="1755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80160" y="1755648"/>
            <a:ext cx="4480560" cy="320040"/>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Separate ifs instead of elif</a:t>
            </a:r>
            <a:endParaRPr lang="en-US" sz="1450" dirty="0"/>
          </a:p>
        </p:txBody>
      </p:sp>
      <p:sp>
        <p:nvSpPr>
          <p:cNvPr id="9" name="Shape 7"/>
          <p:cNvSpPr/>
          <p:nvPr/>
        </p:nvSpPr>
        <p:spPr>
          <a:xfrm>
            <a:off x="777240" y="2194560"/>
            <a:ext cx="4983480" cy="1234440"/>
          </a:xfrm>
          <a:prstGeom prst="roundRect">
            <a:avLst>
              <a:gd name="adj" fmla="val 5185"/>
            </a:avLst>
          </a:prstGeom>
          <a:solidFill>
            <a:srgbClr val="1B2B45"/>
          </a:solidFill>
          <a:ln w="12700">
            <a:solidFill>
              <a:srgbClr val="1B2B45"/>
            </a:solidFill>
            <a:prstDash val="solid"/>
          </a:ln>
        </p:spPr>
      </p:sp>
      <p:sp>
        <p:nvSpPr>
          <p:cNvPr id="10" name="Text 8"/>
          <p:cNvSpPr txBox="1"/>
          <p:nvPr/>
        </p:nvSpPr>
        <p:spPr>
          <a:xfrm>
            <a:off x="941832" y="2304288"/>
            <a:ext cx="4654296" cy="10149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if m &gt;= 75: g = "A"</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if m &gt;= 60: g = "B"   # runs too!</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m=90 ends up as "B"</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Fix: use elif so only one fires.</a:t>
            </a:r>
            <a:endParaRPr lang="en-US" sz="1050" dirty="0"/>
          </a:p>
        </p:txBody>
      </p:sp>
      <p:sp>
        <p:nvSpPr>
          <p:cNvPr id="11" name="Shape 9"/>
          <p:cNvSpPr/>
          <p:nvPr/>
        </p:nvSpPr>
        <p:spPr>
          <a:xfrm>
            <a:off x="6263640" y="1572768"/>
            <a:ext cx="5440680" cy="2029968"/>
          </a:xfrm>
          <a:prstGeom prst="roundRect">
            <a:avLst>
              <a:gd name="adj" fmla="val 405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6492240" y="1755648"/>
            <a:ext cx="384048" cy="384048"/>
          </a:xfrm>
          <a:prstGeom prst="ellipse">
            <a:avLst/>
          </a:prstGeom>
          <a:solidFill>
            <a:srgbClr val="E8674C"/>
          </a:solidFill>
          <a:ln w="12700">
            <a:solidFill>
              <a:srgbClr val="E8674C"/>
            </a:solidFill>
            <a:prstDash val="solid"/>
          </a:ln>
        </p:spPr>
      </p:sp>
      <p:sp>
        <p:nvSpPr>
          <p:cNvPr id="13" name="Text 11"/>
          <p:cNvSpPr txBox="1"/>
          <p:nvPr/>
        </p:nvSpPr>
        <p:spPr>
          <a:xfrm>
            <a:off x="6492240" y="1755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6995160" y="1755648"/>
            <a:ext cx="4480560" cy="320040"/>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Comparing to True</a:t>
            </a:r>
            <a:endParaRPr lang="en-US" sz="1450" dirty="0"/>
          </a:p>
        </p:txBody>
      </p:sp>
      <p:sp>
        <p:nvSpPr>
          <p:cNvPr id="15" name="Shape 13"/>
          <p:cNvSpPr/>
          <p:nvPr/>
        </p:nvSpPr>
        <p:spPr>
          <a:xfrm>
            <a:off x="6492240" y="2194560"/>
            <a:ext cx="4983480" cy="1234440"/>
          </a:xfrm>
          <a:prstGeom prst="roundRect">
            <a:avLst>
              <a:gd name="adj" fmla="val 5185"/>
            </a:avLst>
          </a:prstGeom>
          <a:solidFill>
            <a:srgbClr val="1B2B45"/>
          </a:solidFill>
          <a:ln w="12700">
            <a:solidFill>
              <a:srgbClr val="1B2B45"/>
            </a:solidFill>
            <a:prstDash val="solid"/>
          </a:ln>
        </p:spPr>
      </p:sp>
      <p:sp>
        <p:nvSpPr>
          <p:cNvPr id="16" name="Text 14"/>
          <p:cNvSpPr txBox="1"/>
          <p:nvPr/>
        </p:nvSpPr>
        <p:spPr>
          <a:xfrm>
            <a:off x="6656832" y="2304288"/>
            <a:ext cx="4654296" cy="10149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if is_valid == True:      # noisy</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if is_valid:              # correct</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if not is_valid:          # for False</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never write == False</a:t>
            </a:r>
            <a:endParaRPr lang="en-US" sz="1050" dirty="0"/>
          </a:p>
        </p:txBody>
      </p:sp>
      <p:sp>
        <p:nvSpPr>
          <p:cNvPr id="17" name="Shape 15"/>
          <p:cNvSpPr/>
          <p:nvPr/>
        </p:nvSpPr>
        <p:spPr>
          <a:xfrm>
            <a:off x="548640" y="3785616"/>
            <a:ext cx="5440680" cy="2029968"/>
          </a:xfrm>
          <a:prstGeom prst="roundRect">
            <a:avLst>
              <a:gd name="adj" fmla="val 405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777240" y="3968496"/>
            <a:ext cx="384048" cy="384048"/>
          </a:xfrm>
          <a:prstGeom prst="ellipse">
            <a:avLst/>
          </a:prstGeom>
          <a:solidFill>
            <a:srgbClr val="E8674C"/>
          </a:solidFill>
          <a:ln w="12700">
            <a:solidFill>
              <a:srgbClr val="E8674C"/>
            </a:solidFill>
            <a:prstDash val="solid"/>
          </a:ln>
        </p:spPr>
      </p:sp>
      <p:sp>
        <p:nvSpPr>
          <p:cNvPr id="19" name="Text 17"/>
          <p:cNvSpPr txBox="1"/>
          <p:nvPr/>
        </p:nvSpPr>
        <p:spPr>
          <a:xfrm>
            <a:off x="777240" y="3968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280160" y="3968496"/>
            <a:ext cx="4480560" cy="320040"/>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Repeating the variable</a:t>
            </a:r>
            <a:endParaRPr lang="en-US" sz="1450" dirty="0"/>
          </a:p>
        </p:txBody>
      </p:sp>
      <p:sp>
        <p:nvSpPr>
          <p:cNvPr id="21" name="Shape 19"/>
          <p:cNvSpPr/>
          <p:nvPr/>
        </p:nvSpPr>
        <p:spPr>
          <a:xfrm>
            <a:off x="777240" y="4407408"/>
            <a:ext cx="4983480" cy="1234440"/>
          </a:xfrm>
          <a:prstGeom prst="roundRect">
            <a:avLst>
              <a:gd name="adj" fmla="val 5185"/>
            </a:avLst>
          </a:prstGeom>
          <a:solidFill>
            <a:srgbClr val="1B2B45"/>
          </a:solidFill>
          <a:ln w="12700">
            <a:solidFill>
              <a:srgbClr val="1B2B45"/>
            </a:solidFill>
            <a:prstDash val="solid"/>
          </a:ln>
        </p:spPr>
      </p:sp>
      <p:sp>
        <p:nvSpPr>
          <p:cNvPr id="22" name="Text 20"/>
          <p:cNvSpPr txBox="1"/>
          <p:nvPr/>
        </p:nvSpPr>
        <p:spPr>
          <a:xfrm>
            <a:off x="941832" y="4517136"/>
            <a:ext cx="4654296" cy="10149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if m &gt; 40 and m &lt; 100:    # works</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if 40 &lt; m &lt; 100:          # better</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if x == 1 or x == 2:      # works</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if x in (1, 2):           # better</a:t>
            </a:r>
            <a:endParaRPr lang="en-US" sz="1050" dirty="0"/>
          </a:p>
        </p:txBody>
      </p:sp>
      <p:sp>
        <p:nvSpPr>
          <p:cNvPr id="23" name="Shape 21"/>
          <p:cNvSpPr/>
          <p:nvPr/>
        </p:nvSpPr>
        <p:spPr>
          <a:xfrm>
            <a:off x="6263640" y="3785616"/>
            <a:ext cx="5440680" cy="2029968"/>
          </a:xfrm>
          <a:prstGeom prst="roundRect">
            <a:avLst>
              <a:gd name="adj" fmla="val 405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6492240" y="3968496"/>
            <a:ext cx="384048" cy="384048"/>
          </a:xfrm>
          <a:prstGeom prst="ellipse">
            <a:avLst/>
          </a:prstGeom>
          <a:solidFill>
            <a:srgbClr val="E8674C"/>
          </a:solidFill>
          <a:ln w="12700">
            <a:solidFill>
              <a:srgbClr val="E8674C"/>
            </a:solidFill>
            <a:prstDash val="solid"/>
          </a:ln>
        </p:spPr>
      </p:sp>
      <p:sp>
        <p:nvSpPr>
          <p:cNvPr id="25" name="Text 23"/>
          <p:cNvSpPr txBox="1"/>
          <p:nvPr/>
        </p:nvSpPr>
        <p:spPr>
          <a:xfrm>
            <a:off x="6492240" y="3968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6995160" y="3968496"/>
            <a:ext cx="4480560" cy="320040"/>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Empty block</a:t>
            </a:r>
            <a:endParaRPr lang="en-US" sz="1450" dirty="0"/>
          </a:p>
        </p:txBody>
      </p:sp>
      <p:sp>
        <p:nvSpPr>
          <p:cNvPr id="27" name="Shape 25"/>
          <p:cNvSpPr/>
          <p:nvPr/>
        </p:nvSpPr>
        <p:spPr>
          <a:xfrm>
            <a:off x="6492240" y="4407408"/>
            <a:ext cx="4983480" cy="1234440"/>
          </a:xfrm>
          <a:prstGeom prst="roundRect">
            <a:avLst>
              <a:gd name="adj" fmla="val 5185"/>
            </a:avLst>
          </a:prstGeom>
          <a:solidFill>
            <a:srgbClr val="1B2B45"/>
          </a:solidFill>
          <a:ln w="12700">
            <a:solidFill>
              <a:srgbClr val="1B2B45"/>
            </a:solidFill>
            <a:prstDash val="solid"/>
          </a:ln>
        </p:spPr>
      </p:sp>
      <p:sp>
        <p:nvSpPr>
          <p:cNvPr id="28" name="Text 26"/>
          <p:cNvSpPr txBox="1"/>
          <p:nvPr/>
        </p:nvSpPr>
        <p:spPr>
          <a:xfrm>
            <a:off x="6656832" y="4517136"/>
            <a:ext cx="4654296" cy="10149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if condition:</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 TODO later</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-&gt; IndentationError</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Fix: use  pass  as a placeholder.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1.5  ·  COMPACT FORMS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Two shorthands worth knowing</a:t>
            </a:r>
            <a:endParaRPr lang="en-US" sz="3200" dirty="0"/>
          </a:p>
        </p:txBody>
      </p:sp>
      <p:sp>
        <p:nvSpPr>
          <p:cNvPr id="5" name="Shape 3"/>
          <p:cNvSpPr/>
          <p:nvPr/>
        </p:nvSpPr>
        <p:spPr>
          <a:xfrm>
            <a:off x="548640" y="1572768"/>
            <a:ext cx="5486400" cy="2651760"/>
          </a:xfrm>
          <a:prstGeom prst="roundRect">
            <a:avLst>
              <a:gd name="adj" fmla="val 310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Conditional expression (“ternary”)</a:t>
            </a:r>
            <a:endParaRPr lang="en-US" sz="1500" dirty="0"/>
          </a:p>
        </p:txBody>
      </p:sp>
      <p:sp>
        <p:nvSpPr>
          <p:cNvPr id="7" name="Shape 5"/>
          <p:cNvSpPr/>
          <p:nvPr/>
        </p:nvSpPr>
        <p:spPr>
          <a:xfrm>
            <a:off x="804672" y="2103120"/>
            <a:ext cx="4983480" cy="960120"/>
          </a:xfrm>
          <a:prstGeom prst="roundRect">
            <a:avLst>
              <a:gd name="adj" fmla="val 6667"/>
            </a:avLst>
          </a:prstGeom>
          <a:solidFill>
            <a:srgbClr val="1B2B45"/>
          </a:solidFill>
          <a:ln w="12700">
            <a:solidFill>
              <a:srgbClr val="1B2B45"/>
            </a:solidFill>
            <a:prstDash val="solid"/>
          </a:ln>
        </p:spPr>
      </p:sp>
      <p:sp>
        <p:nvSpPr>
          <p:cNvPr id="8" name="Text 6"/>
          <p:cNvSpPr txBox="1"/>
          <p:nvPr/>
        </p:nvSpPr>
        <p:spPr>
          <a:xfrm>
            <a:off x="969264" y="2212848"/>
            <a:ext cx="4654296" cy="74066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the long way</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if n % 2 == 0:  label = "even"</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else:           label = "odd"</a:t>
            </a:r>
            <a:endParaRPr lang="en-US" sz="1100" dirty="0"/>
          </a:p>
        </p:txBody>
      </p:sp>
      <p:sp>
        <p:nvSpPr>
          <p:cNvPr id="9" name="Shape 7"/>
          <p:cNvSpPr/>
          <p:nvPr/>
        </p:nvSpPr>
        <p:spPr>
          <a:xfrm>
            <a:off x="804672" y="3154680"/>
            <a:ext cx="4983480" cy="566928"/>
          </a:xfrm>
          <a:prstGeom prst="roundRect">
            <a:avLst>
              <a:gd name="adj" fmla="val 11290"/>
            </a:avLst>
          </a:prstGeom>
          <a:solidFill>
            <a:srgbClr val="1B2B45"/>
          </a:solidFill>
          <a:ln w="12700">
            <a:solidFill>
              <a:srgbClr val="1B2B45"/>
            </a:solidFill>
            <a:prstDash val="solid"/>
          </a:ln>
        </p:spPr>
      </p:sp>
      <p:sp>
        <p:nvSpPr>
          <p:cNvPr id="10" name="Text 8"/>
          <p:cNvSpPr txBox="1"/>
          <p:nvPr/>
        </p:nvSpPr>
        <p:spPr>
          <a:xfrm>
            <a:off x="969264" y="3264408"/>
            <a:ext cx="4654296" cy="347472"/>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the same thing in one line</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label = "even" if n % 2 == 0 else "odd"</a:t>
            </a:r>
            <a:endParaRPr lang="en-US" sz="1100" dirty="0"/>
          </a:p>
        </p:txBody>
      </p:sp>
      <p:sp>
        <p:nvSpPr>
          <p:cNvPr id="11" name="Text 9"/>
          <p:cNvSpPr txBox="1"/>
          <p:nvPr/>
        </p:nvSpPr>
        <p:spPr>
          <a:xfrm>
            <a:off x="804672" y="3822192"/>
            <a:ext cx="4983480" cy="274320"/>
          </a:xfrm>
          <a:prstGeom prst="rect">
            <a:avLst/>
          </a:prstGeom>
          <a:noFill/>
          <a:ln/>
        </p:spPr>
        <p:txBody>
          <a:bodyPr wrap="square" lIns="0" tIns="0" rIns="0" bIns="0" rtlCol="0" anchor="ctr"/>
          <a:lstStyle/>
          <a:p>
            <a:pPr indent="0" marL="0">
              <a:buNone/>
            </a:pPr>
            <a:r>
              <a:rPr lang="en-US" sz="1200" i="1" dirty="0">
                <a:solidFill>
                  <a:srgbClr val="6B7789"/>
                </a:solidFill>
                <a:latin typeface="Calibri" pitchFamily="34" charset="0"/>
                <a:ea typeface="Calibri" pitchFamily="34" charset="-122"/>
                <a:cs typeface="Calibri" pitchFamily="34" charset="-120"/>
              </a:rPr>
              <a:t>Reads as: value_if_true  if  condition  else  value_if_false</a:t>
            </a:r>
            <a:endParaRPr lang="en-US" sz="1200" dirty="0"/>
          </a:p>
        </p:txBody>
      </p:sp>
      <p:sp>
        <p:nvSpPr>
          <p:cNvPr id="12" name="Shape 10"/>
          <p:cNvSpPr/>
          <p:nvPr/>
        </p:nvSpPr>
        <p:spPr>
          <a:xfrm>
            <a:off x="6309360" y="1572768"/>
            <a:ext cx="5303520" cy="2651760"/>
          </a:xfrm>
          <a:prstGeom prst="roundRect">
            <a:avLst>
              <a:gd name="adj" fmla="val 310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1"/>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match / case  (Python 3.10+)</a:t>
            </a:r>
            <a:endParaRPr lang="en-US" sz="1500" dirty="0"/>
          </a:p>
        </p:txBody>
      </p:sp>
      <p:sp>
        <p:nvSpPr>
          <p:cNvPr id="14" name="Shape 12"/>
          <p:cNvSpPr/>
          <p:nvPr/>
        </p:nvSpPr>
        <p:spPr>
          <a:xfrm>
            <a:off x="6565392" y="2103120"/>
            <a:ext cx="4800600" cy="1691640"/>
          </a:xfrm>
          <a:prstGeom prst="roundRect">
            <a:avLst>
              <a:gd name="adj" fmla="val 3784"/>
            </a:avLst>
          </a:prstGeom>
          <a:solidFill>
            <a:srgbClr val="1B2B45"/>
          </a:solidFill>
          <a:ln w="12700">
            <a:solidFill>
              <a:srgbClr val="1B2B45"/>
            </a:solidFill>
            <a:prstDash val="solid"/>
          </a:ln>
        </p:spPr>
      </p:sp>
      <p:sp>
        <p:nvSpPr>
          <p:cNvPr id="15" name="Text 13"/>
          <p:cNvSpPr txBox="1"/>
          <p:nvPr/>
        </p:nvSpPr>
        <p:spPr>
          <a:xfrm>
            <a:off x="6729984" y="2212848"/>
            <a:ext cx="4471416" cy="147218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match command:</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case "start":</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run()</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case "stop":</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halt()</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case _:            # _ is the default</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print("unknown")</a:t>
            </a:r>
            <a:endParaRPr lang="en-US" sz="1100" dirty="0"/>
          </a:p>
        </p:txBody>
      </p:sp>
      <p:sp>
        <p:nvSpPr>
          <p:cNvPr id="16" name="Text 14"/>
          <p:cNvSpPr txBox="1"/>
          <p:nvPr/>
        </p:nvSpPr>
        <p:spPr>
          <a:xfrm>
            <a:off x="6565392" y="3840480"/>
            <a:ext cx="4800600" cy="274320"/>
          </a:xfrm>
          <a:prstGeom prst="rect">
            <a:avLst/>
          </a:prstGeom>
          <a:noFill/>
          <a:ln/>
        </p:spPr>
        <p:txBody>
          <a:bodyPr wrap="square" lIns="0" tIns="0" rIns="0" bIns="0" rtlCol="0" anchor="ctr"/>
          <a:lstStyle/>
          <a:p>
            <a:pPr indent="0" marL="0">
              <a:buNone/>
            </a:pPr>
            <a:r>
              <a:rPr lang="en-US" sz="1200" i="1" dirty="0">
                <a:solidFill>
                  <a:srgbClr val="6B7789"/>
                </a:solidFill>
                <a:latin typeface="Calibri" pitchFamily="34" charset="0"/>
                <a:ea typeface="Calibri" pitchFamily="34" charset="-122"/>
                <a:cs typeface="Calibri" pitchFamily="34" charset="-120"/>
              </a:rPr>
              <a:t>Useful for many exact values. An elif chain does the same job.</a:t>
            </a:r>
            <a:endParaRPr lang="en-US" sz="1200" dirty="0"/>
          </a:p>
        </p:txBody>
      </p:sp>
      <p:sp>
        <p:nvSpPr>
          <p:cNvPr id="17" name="Shape 15"/>
          <p:cNvSpPr/>
          <p:nvPr/>
        </p:nvSpPr>
        <p:spPr>
          <a:xfrm>
            <a:off x="548640" y="4480560"/>
            <a:ext cx="11064240" cy="1371600"/>
          </a:xfrm>
          <a:prstGeom prst="roundRect">
            <a:avLst>
              <a:gd name="adj" fmla="val 6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Text 16"/>
          <p:cNvSpPr txBox="1"/>
          <p:nvPr/>
        </p:nvSpPr>
        <p:spPr>
          <a:xfrm>
            <a:off x="868680" y="4626864"/>
            <a:ext cx="5943600" cy="292608"/>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Use the ternary only when it stays readable</a:t>
            </a:r>
            <a:endParaRPr lang="en-US" sz="1450" dirty="0"/>
          </a:p>
        </p:txBody>
      </p:sp>
      <p:sp>
        <p:nvSpPr>
          <p:cNvPr id="19" name="Shape 17"/>
          <p:cNvSpPr/>
          <p:nvPr/>
        </p:nvSpPr>
        <p:spPr>
          <a:xfrm>
            <a:off x="868680" y="4956048"/>
            <a:ext cx="5212080" cy="749808"/>
          </a:xfrm>
          <a:prstGeom prst="roundRect">
            <a:avLst>
              <a:gd name="adj" fmla="val 8537"/>
            </a:avLst>
          </a:prstGeom>
          <a:solidFill>
            <a:srgbClr val="1B2B45"/>
          </a:solidFill>
          <a:ln w="12700">
            <a:solidFill>
              <a:srgbClr val="1B2B45"/>
            </a:solidFill>
            <a:prstDash val="solid"/>
          </a:ln>
        </p:spPr>
      </p:sp>
      <p:sp>
        <p:nvSpPr>
          <p:cNvPr id="20" name="Text 18"/>
          <p:cNvSpPr txBox="1"/>
          <p:nvPr/>
        </p:nvSpPr>
        <p:spPr>
          <a:xfrm>
            <a:off x="1033272" y="5065776"/>
            <a:ext cx="4882896" cy="530352"/>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fine</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status = "pass" if m &gt;= 40 else "fail"</a:t>
            </a:r>
            <a:endParaRPr lang="en-US" sz="1100" dirty="0"/>
          </a:p>
        </p:txBody>
      </p:sp>
      <p:sp>
        <p:nvSpPr>
          <p:cNvPr id="21" name="Shape 19"/>
          <p:cNvSpPr/>
          <p:nvPr/>
        </p:nvSpPr>
        <p:spPr>
          <a:xfrm>
            <a:off x="6400800" y="4956048"/>
            <a:ext cx="4983480" cy="749808"/>
          </a:xfrm>
          <a:prstGeom prst="roundRect">
            <a:avLst>
              <a:gd name="adj" fmla="val 8537"/>
            </a:avLst>
          </a:prstGeom>
          <a:solidFill>
            <a:srgbClr val="1B2B45"/>
          </a:solidFill>
          <a:ln w="12700">
            <a:solidFill>
              <a:srgbClr val="1B2B45"/>
            </a:solidFill>
            <a:prstDash val="solid"/>
          </a:ln>
        </p:spPr>
      </p:sp>
      <p:sp>
        <p:nvSpPr>
          <p:cNvPr id="22" name="Text 20"/>
          <p:cNvSpPr txBox="1"/>
          <p:nvPr/>
        </p:nvSpPr>
        <p:spPr>
          <a:xfrm>
            <a:off x="6565392" y="5065776"/>
            <a:ext cx="4654296" cy="530352"/>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unreadable - use if/elif instead</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g = "A" if m&gt;=75 else "B" if m&gt;=60 else "C"</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2</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for loops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Repeating once per item  ·  25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Iterables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range()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enumerate &amp; zip</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Accumulators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Nested loops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2.1  ·  ANATOMY</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for loop — one pass per item</a:t>
            </a:r>
            <a:endParaRPr lang="en-US" sz="3200" dirty="0"/>
          </a:p>
        </p:txBody>
      </p:sp>
      <p:sp>
        <p:nvSpPr>
          <p:cNvPr id="5" name="Shape 3"/>
          <p:cNvSpPr/>
          <p:nvPr/>
        </p:nvSpPr>
        <p:spPr>
          <a:xfrm>
            <a:off x="548640" y="1572768"/>
            <a:ext cx="11064240" cy="1874520"/>
          </a:xfrm>
          <a:prstGeom prst="roundRect">
            <a:avLst>
              <a:gd name="adj" fmla="val 439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22960" y="1737360"/>
            <a:ext cx="5486400" cy="320040"/>
          </a:xfrm>
          <a:prstGeom prst="rect">
            <a:avLst/>
          </a:prstGeom>
          <a:noFill/>
          <a:ln/>
        </p:spPr>
        <p:txBody>
          <a:bodyPr wrap="square" lIns="0" tIns="0" rIns="0" bIns="0" rtlCol="0" anchor="ctr"/>
          <a:lstStyle/>
          <a:p>
            <a:pPr indent="0" marL="0">
              <a:buNone/>
            </a:pPr>
            <a:r>
              <a:rPr lang="en-US" sz="1700" b="1" dirty="0">
                <a:solidFill>
                  <a:srgbClr val="1F3A5F"/>
                </a:solidFill>
                <a:latin typeface="Courier New" pitchFamily="34" charset="0"/>
                <a:ea typeface="Courier New" pitchFamily="34" charset="-122"/>
                <a:cs typeface="Courier New" pitchFamily="34" charset="-120"/>
              </a:rPr>
              <a:t>for  &lt;variable&gt;  in  &lt;iterable&gt;  :</a:t>
            </a:r>
            <a:endParaRPr lang="en-US" sz="1700" dirty="0"/>
          </a:p>
        </p:txBody>
      </p:sp>
      <p:sp>
        <p:nvSpPr>
          <p:cNvPr id="7" name="Shape 5"/>
          <p:cNvSpPr/>
          <p:nvPr/>
        </p:nvSpPr>
        <p:spPr>
          <a:xfrm>
            <a:off x="822960" y="2148840"/>
            <a:ext cx="5212080" cy="1097280"/>
          </a:xfrm>
          <a:prstGeom prst="roundRect">
            <a:avLst>
              <a:gd name="adj" fmla="val 5833"/>
            </a:avLst>
          </a:prstGeom>
          <a:solidFill>
            <a:srgbClr val="1B2B45"/>
          </a:solidFill>
          <a:ln w="12700">
            <a:solidFill>
              <a:srgbClr val="1B2B45"/>
            </a:solidFill>
            <a:prstDash val="solid"/>
          </a:ln>
        </p:spPr>
      </p:sp>
      <p:sp>
        <p:nvSpPr>
          <p:cNvPr id="8" name="Text 6"/>
          <p:cNvSpPr txBox="1"/>
          <p:nvPr/>
        </p:nvSpPr>
        <p:spPr>
          <a:xfrm>
            <a:off x="987552" y="2258568"/>
            <a:ext cx="4882896" cy="87782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for subject in ["Python", "Stats", "ML"]:</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print(subject)</a:t>
            </a:r>
            <a:endParaRPr lang="en-US" sz="1100" dirty="0"/>
          </a:p>
          <a:p>
            <a:pPr indent="0" marL="0">
              <a:lnSpc>
                <a:spcPct val="112000"/>
              </a:lnSpc>
              <a:buNone/>
            </a:pP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runs 3 times, once per item</a:t>
            </a:r>
            <a:endParaRPr lang="en-US" sz="1100" dirty="0"/>
          </a:p>
        </p:txBody>
      </p:sp>
      <p:sp>
        <p:nvSpPr>
          <p:cNvPr id="9" name="Shape 7"/>
          <p:cNvSpPr/>
          <p:nvPr/>
        </p:nvSpPr>
        <p:spPr>
          <a:xfrm>
            <a:off x="6400800" y="2212848"/>
            <a:ext cx="1234440" cy="402336"/>
          </a:xfrm>
          <a:prstGeom prst="roundRect">
            <a:avLst>
              <a:gd name="adj" fmla="val 18182"/>
            </a:avLst>
          </a:prstGeom>
          <a:solidFill>
            <a:srgbClr val="3E7CB1"/>
          </a:solidFill>
          <a:ln w="12700">
            <a:solidFill>
              <a:srgbClr val="333333"/>
            </a:solidFill>
            <a:prstDash val="solid"/>
          </a:ln>
        </p:spPr>
      </p:sp>
      <p:sp>
        <p:nvSpPr>
          <p:cNvPr id="10" name="Text 8"/>
          <p:cNvSpPr txBox="1"/>
          <p:nvPr/>
        </p:nvSpPr>
        <p:spPr>
          <a:xfrm>
            <a:off x="6400800" y="2212848"/>
            <a:ext cx="12344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"Python"</a:t>
            </a:r>
            <a:endParaRPr lang="en-US" sz="1000" dirty="0"/>
          </a:p>
        </p:txBody>
      </p:sp>
      <p:sp>
        <p:nvSpPr>
          <p:cNvPr id="11" name="Shape 9"/>
          <p:cNvSpPr/>
          <p:nvPr/>
        </p:nvSpPr>
        <p:spPr>
          <a:xfrm>
            <a:off x="7013448" y="2615184"/>
            <a:ext cx="0" cy="201168"/>
          </a:xfrm>
          <a:prstGeom prst="line">
            <a:avLst/>
          </a:prstGeom>
          <a:noFill/>
          <a:ln w="25400">
            <a:solidFill>
              <a:srgbClr val="8FA0B6"/>
            </a:solidFill>
            <a:prstDash val="solid"/>
            <a:tailEnd type="triangle"/>
          </a:ln>
        </p:spPr>
      </p:sp>
      <p:sp>
        <p:nvSpPr>
          <p:cNvPr id="12" name="Shape 10"/>
          <p:cNvSpPr/>
          <p:nvPr/>
        </p:nvSpPr>
        <p:spPr>
          <a:xfrm>
            <a:off x="7772400" y="2212848"/>
            <a:ext cx="1234440" cy="402336"/>
          </a:xfrm>
          <a:prstGeom prst="roundRect">
            <a:avLst>
              <a:gd name="adj" fmla="val 18182"/>
            </a:avLst>
          </a:prstGeom>
          <a:solidFill>
            <a:srgbClr val="3E7CB1"/>
          </a:solidFill>
          <a:ln w="12700">
            <a:solidFill>
              <a:srgbClr val="333333"/>
            </a:solidFill>
            <a:prstDash val="solid"/>
          </a:ln>
        </p:spPr>
      </p:sp>
      <p:sp>
        <p:nvSpPr>
          <p:cNvPr id="13" name="Text 11"/>
          <p:cNvSpPr txBox="1"/>
          <p:nvPr/>
        </p:nvSpPr>
        <p:spPr>
          <a:xfrm>
            <a:off x="7772400" y="2212848"/>
            <a:ext cx="12344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"Stats"</a:t>
            </a:r>
            <a:endParaRPr lang="en-US" sz="1000" dirty="0"/>
          </a:p>
        </p:txBody>
      </p:sp>
      <p:sp>
        <p:nvSpPr>
          <p:cNvPr id="14" name="Shape 12"/>
          <p:cNvSpPr/>
          <p:nvPr/>
        </p:nvSpPr>
        <p:spPr>
          <a:xfrm>
            <a:off x="8385048" y="2615184"/>
            <a:ext cx="0" cy="201168"/>
          </a:xfrm>
          <a:prstGeom prst="line">
            <a:avLst/>
          </a:prstGeom>
          <a:noFill/>
          <a:ln w="25400">
            <a:solidFill>
              <a:srgbClr val="8FA0B6"/>
            </a:solidFill>
            <a:prstDash val="solid"/>
            <a:tailEnd type="triangle"/>
          </a:ln>
        </p:spPr>
      </p:sp>
      <p:sp>
        <p:nvSpPr>
          <p:cNvPr id="15" name="Shape 13"/>
          <p:cNvSpPr/>
          <p:nvPr/>
        </p:nvSpPr>
        <p:spPr>
          <a:xfrm>
            <a:off x="9144000" y="2212848"/>
            <a:ext cx="1234440" cy="402336"/>
          </a:xfrm>
          <a:prstGeom prst="roundRect">
            <a:avLst>
              <a:gd name="adj" fmla="val 18182"/>
            </a:avLst>
          </a:prstGeom>
          <a:solidFill>
            <a:srgbClr val="3E7CB1"/>
          </a:solidFill>
          <a:ln w="12700">
            <a:solidFill>
              <a:srgbClr val="333333"/>
            </a:solidFill>
            <a:prstDash val="solid"/>
          </a:ln>
        </p:spPr>
      </p:sp>
      <p:sp>
        <p:nvSpPr>
          <p:cNvPr id="16" name="Text 14"/>
          <p:cNvSpPr txBox="1"/>
          <p:nvPr/>
        </p:nvSpPr>
        <p:spPr>
          <a:xfrm>
            <a:off x="9144000" y="2212848"/>
            <a:ext cx="12344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"ML"</a:t>
            </a:r>
            <a:endParaRPr lang="en-US" sz="1000" dirty="0"/>
          </a:p>
        </p:txBody>
      </p:sp>
      <p:sp>
        <p:nvSpPr>
          <p:cNvPr id="17" name="Shape 15"/>
          <p:cNvSpPr/>
          <p:nvPr/>
        </p:nvSpPr>
        <p:spPr>
          <a:xfrm>
            <a:off x="9756648" y="2615184"/>
            <a:ext cx="0" cy="201168"/>
          </a:xfrm>
          <a:prstGeom prst="line">
            <a:avLst/>
          </a:prstGeom>
          <a:noFill/>
          <a:ln w="25400">
            <a:solidFill>
              <a:srgbClr val="8FA0B6"/>
            </a:solidFill>
            <a:prstDash val="solid"/>
            <a:tailEnd type="triangle"/>
          </a:ln>
        </p:spPr>
      </p:sp>
      <p:sp>
        <p:nvSpPr>
          <p:cNvPr id="18" name="Shape 16"/>
          <p:cNvSpPr/>
          <p:nvPr/>
        </p:nvSpPr>
        <p:spPr>
          <a:xfrm>
            <a:off x="6400800" y="2816352"/>
            <a:ext cx="3977640" cy="384048"/>
          </a:xfrm>
          <a:prstGeom prst="roundRect">
            <a:avLst>
              <a:gd name="adj" fmla="val 19048"/>
            </a:avLst>
          </a:prstGeom>
          <a:solidFill>
            <a:srgbClr val="2FA98C"/>
          </a:solidFill>
          <a:ln w="12700">
            <a:solidFill>
              <a:srgbClr val="333333"/>
            </a:solidFill>
            <a:prstDash val="solid"/>
          </a:ln>
        </p:spPr>
      </p:sp>
      <p:sp>
        <p:nvSpPr>
          <p:cNvPr id="19" name="Text 17"/>
          <p:cNvSpPr txBox="1"/>
          <p:nvPr/>
        </p:nvSpPr>
        <p:spPr>
          <a:xfrm>
            <a:off x="6400800" y="2816352"/>
            <a:ext cx="397764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loop body runs, once for each</a:t>
            </a:r>
            <a:endParaRPr lang="en-US" sz="1050" dirty="0"/>
          </a:p>
        </p:txBody>
      </p:sp>
      <p:sp>
        <p:nvSpPr>
          <p:cNvPr id="20" name="Text 18"/>
          <p:cNvSpPr txBox="1"/>
          <p:nvPr/>
        </p:nvSpPr>
        <p:spPr>
          <a:xfrm>
            <a:off x="6400800" y="1938528"/>
            <a:ext cx="3977640" cy="237744"/>
          </a:xfrm>
          <a:prstGeom prst="rect">
            <a:avLst/>
          </a:prstGeom>
          <a:noFill/>
          <a:ln/>
        </p:spPr>
        <p:txBody>
          <a:bodyPr wrap="square" lIns="0" tIns="0" rIns="0" bIns="0" rtlCol="0" anchor="ctr"/>
          <a:lstStyle/>
          <a:p>
            <a:pPr algn="ctr" indent="0" marL="0">
              <a:buNone/>
            </a:pPr>
            <a:r>
              <a:rPr lang="en-US" sz="1100" b="1" dirty="0">
                <a:solidFill>
                  <a:srgbClr val="6B7789"/>
                </a:solidFill>
                <a:latin typeface="Calibri" pitchFamily="34" charset="0"/>
                <a:ea typeface="Calibri" pitchFamily="34" charset="-122"/>
                <a:cs typeface="Calibri" pitchFamily="34" charset="-120"/>
              </a:rPr>
              <a:t>the list</a:t>
            </a:r>
            <a:endParaRPr lang="en-US" sz="1100" dirty="0"/>
          </a:p>
        </p:txBody>
      </p:sp>
      <p:sp>
        <p:nvSpPr>
          <p:cNvPr id="21" name="Shape 19"/>
          <p:cNvSpPr/>
          <p:nvPr/>
        </p:nvSpPr>
        <p:spPr>
          <a:xfrm>
            <a:off x="548640" y="3657600"/>
            <a:ext cx="5486400" cy="2194560"/>
          </a:xfrm>
          <a:prstGeom prst="roundRect">
            <a:avLst>
              <a:gd name="adj" fmla="val 375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2" name="Text 20"/>
          <p:cNvSpPr txBox="1"/>
          <p:nvPr/>
        </p:nvSpPr>
        <p:spPr>
          <a:xfrm>
            <a:off x="804672" y="3803904"/>
            <a:ext cx="493776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What counts as an iterable?</a:t>
            </a:r>
            <a:endParaRPr lang="en-US" sz="1500" dirty="0"/>
          </a:p>
        </p:txBody>
      </p:sp>
      <p:sp>
        <p:nvSpPr>
          <p:cNvPr id="23" name="Shape 21"/>
          <p:cNvSpPr/>
          <p:nvPr/>
        </p:nvSpPr>
        <p:spPr>
          <a:xfrm>
            <a:off x="804672" y="4169664"/>
            <a:ext cx="4983480" cy="1554480"/>
          </a:xfrm>
          <a:prstGeom prst="roundRect">
            <a:avLst>
              <a:gd name="adj" fmla="val 4118"/>
            </a:avLst>
          </a:prstGeom>
          <a:solidFill>
            <a:srgbClr val="1B2B45"/>
          </a:solidFill>
          <a:ln w="12700">
            <a:solidFill>
              <a:srgbClr val="1B2B45"/>
            </a:solidFill>
            <a:prstDash val="solid"/>
          </a:ln>
        </p:spPr>
      </p:sp>
      <p:sp>
        <p:nvSpPr>
          <p:cNvPr id="24" name="Text 22"/>
          <p:cNvSpPr txBox="1"/>
          <p:nvPr/>
        </p:nvSpPr>
        <p:spPr>
          <a:xfrm>
            <a:off x="969264" y="4279392"/>
            <a:ext cx="4654296" cy="133502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for c in "PYTHON":      # each character</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for n in [1, 2, 3]:     # each list item</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for k in {"a": 1}:      # each dict KEY</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for i in range(5):      # 0,1,2,3,4</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for line in open(f):    # each file line</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Anything you can step through, one at a time.</a:t>
            </a:r>
            <a:endParaRPr lang="en-US" sz="1050" dirty="0"/>
          </a:p>
        </p:txBody>
      </p:sp>
      <p:sp>
        <p:nvSpPr>
          <p:cNvPr id="25" name="Shape 23"/>
          <p:cNvSpPr/>
          <p:nvPr/>
        </p:nvSpPr>
        <p:spPr>
          <a:xfrm>
            <a:off x="6309360" y="3657600"/>
            <a:ext cx="5303520" cy="2194560"/>
          </a:xfrm>
          <a:prstGeom prst="roundRect">
            <a:avLst>
              <a:gd name="adj" fmla="val 375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Text 24"/>
          <p:cNvSpPr txBox="1"/>
          <p:nvPr/>
        </p:nvSpPr>
        <p:spPr>
          <a:xfrm>
            <a:off x="6565392" y="3803904"/>
            <a:ext cx="475488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  The loop variable is a copy</a:t>
            </a:r>
            <a:endParaRPr lang="en-US" sz="1500" dirty="0"/>
          </a:p>
        </p:txBody>
      </p:sp>
      <p:sp>
        <p:nvSpPr>
          <p:cNvPr id="27" name="Shape 25"/>
          <p:cNvSpPr/>
          <p:nvPr/>
        </p:nvSpPr>
        <p:spPr>
          <a:xfrm>
            <a:off x="6565392" y="4169664"/>
            <a:ext cx="4800600" cy="1234440"/>
          </a:xfrm>
          <a:prstGeom prst="roundRect">
            <a:avLst>
              <a:gd name="adj" fmla="val 5185"/>
            </a:avLst>
          </a:prstGeom>
          <a:solidFill>
            <a:srgbClr val="1B2B45"/>
          </a:solidFill>
          <a:ln w="12700">
            <a:solidFill>
              <a:srgbClr val="1B2B45"/>
            </a:solidFill>
            <a:prstDash val="solid"/>
          </a:ln>
        </p:spPr>
      </p:sp>
      <p:sp>
        <p:nvSpPr>
          <p:cNvPr id="28" name="Text 26"/>
          <p:cNvSpPr txBox="1"/>
          <p:nvPr/>
        </p:nvSpPr>
        <p:spPr>
          <a:xfrm>
            <a:off x="6729984" y="4279392"/>
            <a:ext cx="4471416" cy="10149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nums = [1, 2, 3]</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for n in nums:</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n = n * 10        # changes n only</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print(nums)           # [1, 2, 3] - unchanged!</a:t>
            </a:r>
            <a:endParaRPr lang="en-US" sz="1050" dirty="0"/>
          </a:p>
        </p:txBody>
      </p:sp>
      <p:sp>
        <p:nvSpPr>
          <p:cNvPr id="29" name="Text 27"/>
          <p:cNvSpPr txBox="1"/>
          <p:nvPr/>
        </p:nvSpPr>
        <p:spPr>
          <a:xfrm>
            <a:off x="6565392" y="5468112"/>
            <a:ext cx="4800600" cy="274320"/>
          </a:xfrm>
          <a:prstGeom prst="rect">
            <a:avLst/>
          </a:prstGeom>
          <a:noFill/>
          <a:ln/>
        </p:spPr>
        <p:txBody>
          <a:bodyPr wrap="square" lIns="0" tIns="0" rIns="0" bIns="0" rtlCol="0" anchor="ctr"/>
          <a:lstStyle/>
          <a:p>
            <a:pPr indent="0" marL="0">
              <a:buNone/>
            </a:pPr>
            <a:r>
              <a:rPr lang="en-US" sz="1200" i="1" dirty="0">
                <a:solidFill>
                  <a:srgbClr val="8E3A24"/>
                </a:solidFill>
                <a:latin typeface="Calibri" pitchFamily="34" charset="0"/>
                <a:ea typeface="Calibri" pitchFamily="34" charset="-122"/>
                <a:cs typeface="Calibri" pitchFamily="34" charset="-120"/>
              </a:rPr>
              <a:t>To build a changed list, collect into a new one.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2.2  ·  RANGE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range() — generating numbers to loop over</a:t>
            </a:r>
            <a:endParaRPr lang="en-US" sz="3200" dirty="0"/>
          </a:p>
        </p:txBody>
      </p:sp>
      <p:sp>
        <p:nvSpPr>
          <p:cNvPr id="5" name="Shape 3"/>
          <p:cNvSpPr/>
          <p:nvPr/>
        </p:nvSpPr>
        <p:spPr>
          <a:xfrm>
            <a:off x="548640" y="1572768"/>
            <a:ext cx="11064240" cy="2148840"/>
          </a:xfrm>
          <a:prstGeom prst="roundRect">
            <a:avLst>
              <a:gd name="adj" fmla="val 383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2960" y="1737360"/>
          <a:ext cx="10515600" cy="914400"/>
        </p:xfrm>
        <a:graphic>
          <a:graphicData uri="http://schemas.openxmlformats.org/drawingml/2006/table">
            <a:tbl>
              <a:tblPr/>
              <a:tblGrid>
                <a:gridCol w="2560320"/>
                <a:gridCol w="3108960"/>
                <a:gridCol w="48463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Call</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Produces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Reads as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38404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range(5)</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0 1 2 3 4</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five values, starting at 0</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8404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range(2, 7)</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2 3 4 5 6</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from 2 up to but NOT including 7</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8404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range(0, 10, 2)</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0 2 4 6 8</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step of 2</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8404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range(5, 0, -1)</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5 4 3 2 1</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counting down with a negative step</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7" name="Shape 4"/>
          <p:cNvSpPr/>
          <p:nvPr/>
        </p:nvSpPr>
        <p:spPr>
          <a:xfrm>
            <a:off x="548640" y="3886200"/>
            <a:ext cx="6675120" cy="1965960"/>
          </a:xfrm>
          <a:prstGeom prst="roundRect">
            <a:avLst>
              <a:gd name="adj" fmla="val 4186"/>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8" name="Text 5"/>
          <p:cNvSpPr txBox="1"/>
          <p:nvPr/>
        </p:nvSpPr>
        <p:spPr>
          <a:xfrm>
            <a:off x="804672" y="4041648"/>
            <a:ext cx="612648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  The stop value is EXCLUDED — the #1 off-by-one bug</a:t>
            </a:r>
            <a:endParaRPr lang="en-US" sz="1500" dirty="0"/>
          </a:p>
        </p:txBody>
      </p:sp>
      <p:sp>
        <p:nvSpPr>
          <p:cNvPr id="9" name="Shape 6"/>
          <p:cNvSpPr/>
          <p:nvPr/>
        </p:nvSpPr>
        <p:spPr>
          <a:xfrm>
            <a:off x="868680" y="4480560"/>
            <a:ext cx="603504" cy="502920"/>
          </a:xfrm>
          <a:prstGeom prst="roundRect">
            <a:avLst>
              <a:gd name="adj" fmla="val 10909"/>
            </a:avLst>
          </a:prstGeom>
          <a:solidFill>
            <a:srgbClr val="2FA98C"/>
          </a:solidFill>
          <a:ln w="12700">
            <a:solidFill>
              <a:srgbClr val="333333"/>
            </a:solidFill>
            <a:prstDash val="solid"/>
          </a:ln>
        </p:spPr>
      </p:sp>
      <p:sp>
        <p:nvSpPr>
          <p:cNvPr id="10" name="Text 7"/>
          <p:cNvSpPr txBox="1"/>
          <p:nvPr/>
        </p:nvSpPr>
        <p:spPr>
          <a:xfrm>
            <a:off x="868680" y="4480560"/>
            <a:ext cx="60350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0</a:t>
            </a:r>
            <a:endParaRPr lang="en-US" sz="1400" dirty="0"/>
          </a:p>
        </p:txBody>
      </p:sp>
      <p:sp>
        <p:nvSpPr>
          <p:cNvPr id="11" name="Shape 8"/>
          <p:cNvSpPr/>
          <p:nvPr/>
        </p:nvSpPr>
        <p:spPr>
          <a:xfrm>
            <a:off x="1581912" y="4480560"/>
            <a:ext cx="603504" cy="502920"/>
          </a:xfrm>
          <a:prstGeom prst="roundRect">
            <a:avLst>
              <a:gd name="adj" fmla="val 10909"/>
            </a:avLst>
          </a:prstGeom>
          <a:solidFill>
            <a:srgbClr val="2FA98C"/>
          </a:solidFill>
          <a:ln w="12700">
            <a:solidFill>
              <a:srgbClr val="333333"/>
            </a:solidFill>
            <a:prstDash val="solid"/>
          </a:ln>
        </p:spPr>
      </p:sp>
      <p:sp>
        <p:nvSpPr>
          <p:cNvPr id="12" name="Text 9"/>
          <p:cNvSpPr txBox="1"/>
          <p:nvPr/>
        </p:nvSpPr>
        <p:spPr>
          <a:xfrm>
            <a:off x="1581912" y="4480560"/>
            <a:ext cx="60350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13" name="Shape 10"/>
          <p:cNvSpPr/>
          <p:nvPr/>
        </p:nvSpPr>
        <p:spPr>
          <a:xfrm>
            <a:off x="2295144" y="4480560"/>
            <a:ext cx="603504" cy="502920"/>
          </a:xfrm>
          <a:prstGeom prst="roundRect">
            <a:avLst>
              <a:gd name="adj" fmla="val 10909"/>
            </a:avLst>
          </a:prstGeom>
          <a:solidFill>
            <a:srgbClr val="2FA98C"/>
          </a:solidFill>
          <a:ln w="12700">
            <a:solidFill>
              <a:srgbClr val="333333"/>
            </a:solidFill>
            <a:prstDash val="solid"/>
          </a:ln>
        </p:spPr>
      </p:sp>
      <p:sp>
        <p:nvSpPr>
          <p:cNvPr id="14" name="Text 11"/>
          <p:cNvSpPr txBox="1"/>
          <p:nvPr/>
        </p:nvSpPr>
        <p:spPr>
          <a:xfrm>
            <a:off x="2295144" y="4480560"/>
            <a:ext cx="60350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5" name="Shape 12"/>
          <p:cNvSpPr/>
          <p:nvPr/>
        </p:nvSpPr>
        <p:spPr>
          <a:xfrm>
            <a:off x="3008376" y="4480560"/>
            <a:ext cx="603504" cy="502920"/>
          </a:xfrm>
          <a:prstGeom prst="roundRect">
            <a:avLst>
              <a:gd name="adj" fmla="val 10909"/>
            </a:avLst>
          </a:prstGeom>
          <a:solidFill>
            <a:srgbClr val="2FA98C"/>
          </a:solidFill>
          <a:ln w="12700">
            <a:solidFill>
              <a:srgbClr val="333333"/>
            </a:solidFill>
            <a:prstDash val="solid"/>
          </a:ln>
        </p:spPr>
      </p:sp>
      <p:sp>
        <p:nvSpPr>
          <p:cNvPr id="16" name="Text 13"/>
          <p:cNvSpPr txBox="1"/>
          <p:nvPr/>
        </p:nvSpPr>
        <p:spPr>
          <a:xfrm>
            <a:off x="3008376" y="4480560"/>
            <a:ext cx="60350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17" name="Shape 14"/>
          <p:cNvSpPr/>
          <p:nvPr/>
        </p:nvSpPr>
        <p:spPr>
          <a:xfrm>
            <a:off x="3721608" y="4480560"/>
            <a:ext cx="603504" cy="502920"/>
          </a:xfrm>
          <a:prstGeom prst="roundRect">
            <a:avLst>
              <a:gd name="adj" fmla="val 10909"/>
            </a:avLst>
          </a:prstGeom>
          <a:solidFill>
            <a:srgbClr val="2FA98C"/>
          </a:solidFill>
          <a:ln w="12700">
            <a:solidFill>
              <a:srgbClr val="333333"/>
            </a:solidFill>
            <a:prstDash val="solid"/>
          </a:ln>
        </p:spPr>
      </p:sp>
      <p:sp>
        <p:nvSpPr>
          <p:cNvPr id="18" name="Text 15"/>
          <p:cNvSpPr txBox="1"/>
          <p:nvPr/>
        </p:nvSpPr>
        <p:spPr>
          <a:xfrm>
            <a:off x="3721608" y="4480560"/>
            <a:ext cx="60350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19" name="Shape 16"/>
          <p:cNvSpPr/>
          <p:nvPr/>
        </p:nvSpPr>
        <p:spPr>
          <a:xfrm>
            <a:off x="4434840" y="4480560"/>
            <a:ext cx="603504" cy="502920"/>
          </a:xfrm>
          <a:prstGeom prst="roundRect">
            <a:avLst>
              <a:gd name="adj" fmla="val 10909"/>
            </a:avLst>
          </a:prstGeom>
          <a:solidFill>
            <a:srgbClr val="F2C9BE"/>
          </a:solidFill>
          <a:ln w="12700">
            <a:solidFill>
              <a:srgbClr val="333333"/>
            </a:solidFill>
            <a:prstDash val="solid"/>
          </a:ln>
        </p:spPr>
      </p:sp>
      <p:sp>
        <p:nvSpPr>
          <p:cNvPr id="20" name="Text 17"/>
          <p:cNvSpPr txBox="1"/>
          <p:nvPr/>
        </p:nvSpPr>
        <p:spPr>
          <a:xfrm>
            <a:off x="4434840" y="4480560"/>
            <a:ext cx="603504" cy="502920"/>
          </a:xfrm>
          <a:prstGeom prst="rect">
            <a:avLst/>
          </a:prstGeom>
          <a:noFill/>
          <a:ln/>
        </p:spPr>
        <p:txBody>
          <a:bodyPr wrap="square" lIns="0" tIns="0" rIns="0" bIns="0" rtlCol="0" anchor="ctr"/>
          <a:lstStyle/>
          <a:p>
            <a:pPr algn="ctr" indent="0" marL="0">
              <a:buNone/>
            </a:pPr>
            <a:r>
              <a:rPr lang="en-US" sz="1400" b="1" dirty="0">
                <a:solidFill>
                  <a:srgbClr val="A63B24"/>
                </a:solidFill>
                <a:latin typeface="Courier New" pitchFamily="34" charset="0"/>
                <a:ea typeface="Courier New" pitchFamily="34" charset="-122"/>
                <a:cs typeface="Courier New" pitchFamily="34" charset="-120"/>
              </a:rPr>
              <a:t>5</a:t>
            </a:r>
            <a:endParaRPr lang="en-US" sz="1400" dirty="0"/>
          </a:p>
        </p:txBody>
      </p:sp>
      <p:sp>
        <p:nvSpPr>
          <p:cNvPr id="21" name="Text 18"/>
          <p:cNvSpPr txBox="1"/>
          <p:nvPr/>
        </p:nvSpPr>
        <p:spPr>
          <a:xfrm>
            <a:off x="868680" y="5029200"/>
            <a:ext cx="3566160" cy="256032"/>
          </a:xfrm>
          <a:prstGeom prst="rect">
            <a:avLst/>
          </a:prstGeom>
          <a:noFill/>
          <a:ln/>
        </p:spPr>
        <p:txBody>
          <a:bodyPr wrap="square" lIns="0" tIns="0" rIns="0" bIns="0" rtlCol="0" anchor="ctr"/>
          <a:lstStyle/>
          <a:p>
            <a:pPr indent="0" marL="0">
              <a:buNone/>
            </a:pPr>
            <a:r>
              <a:rPr lang="en-US" sz="1150" b="1" dirty="0">
                <a:solidFill>
                  <a:srgbClr val="1C6F5C"/>
                </a:solidFill>
                <a:latin typeface="Calibri" pitchFamily="34" charset="0"/>
                <a:ea typeface="Calibri" pitchFamily="34" charset="-122"/>
                <a:cs typeface="Calibri" pitchFamily="34" charset="-120"/>
              </a:rPr>
              <a:t>range(5)  gives these five</a:t>
            </a:r>
            <a:endParaRPr lang="en-US" sz="1150" dirty="0"/>
          </a:p>
        </p:txBody>
      </p:sp>
      <p:sp>
        <p:nvSpPr>
          <p:cNvPr id="22" name="Text 19"/>
          <p:cNvSpPr txBox="1"/>
          <p:nvPr/>
        </p:nvSpPr>
        <p:spPr>
          <a:xfrm>
            <a:off x="4343400" y="5029200"/>
            <a:ext cx="1828800" cy="256032"/>
          </a:xfrm>
          <a:prstGeom prst="rect">
            <a:avLst/>
          </a:prstGeom>
          <a:noFill/>
          <a:ln/>
        </p:spPr>
        <p:txBody>
          <a:bodyPr wrap="square" lIns="0" tIns="0" rIns="0" bIns="0" rtlCol="0" anchor="ctr"/>
          <a:lstStyle/>
          <a:p>
            <a:pPr indent="0" marL="0">
              <a:buNone/>
            </a:pPr>
            <a:r>
              <a:rPr lang="en-US" sz="1150" b="1" dirty="0">
                <a:solidFill>
                  <a:srgbClr val="A63B24"/>
                </a:solidFill>
                <a:latin typeface="Calibri" pitchFamily="34" charset="0"/>
                <a:ea typeface="Calibri" pitchFamily="34" charset="-122"/>
                <a:cs typeface="Calibri" pitchFamily="34" charset="-120"/>
              </a:rPr>
              <a:t>5 is NOT included</a:t>
            </a:r>
            <a:endParaRPr lang="en-US" sz="1150" dirty="0"/>
          </a:p>
        </p:txBody>
      </p:sp>
      <p:sp>
        <p:nvSpPr>
          <p:cNvPr id="23" name="Text 20"/>
          <p:cNvSpPr txBox="1"/>
          <p:nvPr/>
        </p:nvSpPr>
        <p:spPr>
          <a:xfrm>
            <a:off x="804672" y="5349240"/>
            <a:ext cx="6172200" cy="411480"/>
          </a:xfrm>
          <a:prstGeom prst="rect">
            <a:avLst/>
          </a:prstGeom>
          <a:noFill/>
          <a:ln/>
        </p:spPr>
        <p:txBody>
          <a:bodyPr wrap="square" lIns="0" tIns="0" rIns="0" bIns="0" rtlCol="0" anchor="ctr"/>
          <a:lstStyle/>
          <a:p>
            <a:pPr indent="0" marL="0">
              <a:buNone/>
            </a:pPr>
            <a:r>
              <a:rPr lang="en-US" sz="1250" dirty="0">
                <a:solidFill>
                  <a:srgbClr val="6B4A0B"/>
                </a:solidFill>
                <a:latin typeface="Calibri" pitchFamily="34" charset="0"/>
                <a:ea typeface="Calibri" pitchFamily="34" charset="-122"/>
                <a:cs typeface="Calibri" pitchFamily="34" charset="-120"/>
              </a:rPr>
              <a:t>To loop 1..5 inclusive, write range(1, 6). To loop over positions in a list, range(len(items)) is exactly right.</a:t>
            </a:r>
            <a:endParaRPr lang="en-US" sz="1250" dirty="0"/>
          </a:p>
        </p:txBody>
      </p:sp>
      <p:sp>
        <p:nvSpPr>
          <p:cNvPr id="24" name="Shape 21"/>
          <p:cNvSpPr/>
          <p:nvPr/>
        </p:nvSpPr>
        <p:spPr>
          <a:xfrm>
            <a:off x="7498080" y="3886200"/>
            <a:ext cx="4114800" cy="1965960"/>
          </a:xfrm>
          <a:prstGeom prst="roundRect">
            <a:avLst>
              <a:gd name="adj" fmla="val 4186"/>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5" name="Text 22"/>
          <p:cNvSpPr txBox="1"/>
          <p:nvPr/>
        </p:nvSpPr>
        <p:spPr>
          <a:xfrm>
            <a:off x="7754112" y="4041648"/>
            <a:ext cx="356616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Typical uses</a:t>
            </a:r>
            <a:endParaRPr lang="en-US" sz="1500" dirty="0"/>
          </a:p>
        </p:txBody>
      </p:sp>
      <p:sp>
        <p:nvSpPr>
          <p:cNvPr id="26" name="Shape 23"/>
          <p:cNvSpPr/>
          <p:nvPr/>
        </p:nvSpPr>
        <p:spPr>
          <a:xfrm>
            <a:off x="7754112" y="4407408"/>
            <a:ext cx="3611880" cy="1325880"/>
          </a:xfrm>
          <a:prstGeom prst="roundRect">
            <a:avLst>
              <a:gd name="adj" fmla="val 4828"/>
            </a:avLst>
          </a:prstGeom>
          <a:solidFill>
            <a:srgbClr val="1B2B45"/>
          </a:solidFill>
          <a:ln w="12700">
            <a:solidFill>
              <a:srgbClr val="1B2B45"/>
            </a:solidFill>
            <a:prstDash val="solid"/>
          </a:ln>
        </p:spPr>
      </p:sp>
      <p:sp>
        <p:nvSpPr>
          <p:cNvPr id="27" name="Text 24"/>
          <p:cNvSpPr txBox="1"/>
          <p:nvPr/>
        </p:nvSpPr>
        <p:spPr>
          <a:xfrm>
            <a:off x="7918704" y="4517136"/>
            <a:ext cx="3282696" cy="110642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for i in range(3):</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print("hello")</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for i in range(1, 11):</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print(5, "x", i, "=", 5*i)</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2.3  ·  BETTER LOOPS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enumerate and zip — the two you will use constantly</a:t>
            </a:r>
            <a:endParaRPr lang="en-US" sz="3200" dirty="0"/>
          </a:p>
        </p:txBody>
      </p:sp>
      <p:sp>
        <p:nvSpPr>
          <p:cNvPr id="5" name="Shape 3"/>
          <p:cNvSpPr/>
          <p:nvPr/>
        </p:nvSpPr>
        <p:spPr>
          <a:xfrm>
            <a:off x="548640" y="1572768"/>
            <a:ext cx="548640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enumerate  —  item AND its position</a:t>
            </a:r>
            <a:endParaRPr lang="en-US" sz="1500" dirty="0"/>
          </a:p>
        </p:txBody>
      </p:sp>
      <p:sp>
        <p:nvSpPr>
          <p:cNvPr id="7" name="Shape 5"/>
          <p:cNvSpPr/>
          <p:nvPr/>
        </p:nvSpPr>
        <p:spPr>
          <a:xfrm>
            <a:off x="804672" y="2103120"/>
            <a:ext cx="4983480" cy="777240"/>
          </a:xfrm>
          <a:prstGeom prst="roundRect">
            <a:avLst>
              <a:gd name="adj" fmla="val 8235"/>
            </a:avLst>
          </a:prstGeom>
          <a:solidFill>
            <a:srgbClr val="1B2B45"/>
          </a:solidFill>
          <a:ln w="12700">
            <a:solidFill>
              <a:srgbClr val="1B2B45"/>
            </a:solidFill>
            <a:prstDash val="solid"/>
          </a:ln>
        </p:spPr>
      </p:sp>
      <p:sp>
        <p:nvSpPr>
          <p:cNvPr id="8" name="Text 6"/>
          <p:cNvSpPr txBox="1"/>
          <p:nvPr/>
        </p:nvSpPr>
        <p:spPr>
          <a:xfrm>
            <a:off x="969264" y="2212848"/>
            <a:ext cx="4654296" cy="55778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clumsy</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for i in range(len(names)):</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print(i, names[i])</a:t>
            </a:r>
            <a:endParaRPr lang="en-US" sz="1100" dirty="0"/>
          </a:p>
        </p:txBody>
      </p:sp>
      <p:sp>
        <p:nvSpPr>
          <p:cNvPr id="9" name="Shape 7"/>
          <p:cNvSpPr/>
          <p:nvPr/>
        </p:nvSpPr>
        <p:spPr>
          <a:xfrm>
            <a:off x="804672" y="2971800"/>
            <a:ext cx="4983480" cy="1005840"/>
          </a:xfrm>
          <a:prstGeom prst="roundRect">
            <a:avLst>
              <a:gd name="adj" fmla="val 6364"/>
            </a:avLst>
          </a:prstGeom>
          <a:solidFill>
            <a:srgbClr val="1B2B45"/>
          </a:solidFill>
          <a:ln w="12700">
            <a:solidFill>
              <a:srgbClr val="1B2B45"/>
            </a:solidFill>
            <a:prstDash val="solid"/>
          </a:ln>
        </p:spPr>
      </p:sp>
      <p:sp>
        <p:nvSpPr>
          <p:cNvPr id="10" name="Text 8"/>
          <p:cNvSpPr txBox="1"/>
          <p:nvPr/>
        </p:nvSpPr>
        <p:spPr>
          <a:xfrm>
            <a:off x="969264" y="3081528"/>
            <a:ext cx="4654296" cy="78638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idiomatic</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for i, name in enumerate(names):</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print(i, name)</a:t>
            </a:r>
            <a:endParaRPr lang="en-US" sz="1100" dirty="0"/>
          </a:p>
          <a:p>
            <a:pPr indent="0" marL="0">
              <a:lnSpc>
                <a:spcPct val="112000"/>
              </a:lnSpc>
              <a:buNone/>
            </a:pP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enumerate(names, start=1)   # count from 1</a:t>
            </a:r>
            <a:endParaRPr lang="en-US" sz="1100" dirty="0"/>
          </a:p>
        </p:txBody>
      </p:sp>
      <p:sp>
        <p:nvSpPr>
          <p:cNvPr id="11" name="Shape 9"/>
          <p:cNvSpPr/>
          <p:nvPr/>
        </p:nvSpPr>
        <p:spPr>
          <a:xfrm>
            <a:off x="6309360" y="1572768"/>
            <a:ext cx="5303520" cy="2514600"/>
          </a:xfrm>
          <a:prstGeom prst="roundRect">
            <a:avLst>
              <a:gd name="adj" fmla="val 327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10"/>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zip  —  walk two sequences together</a:t>
            </a:r>
            <a:endParaRPr lang="en-US" sz="1500" dirty="0"/>
          </a:p>
        </p:txBody>
      </p:sp>
      <p:sp>
        <p:nvSpPr>
          <p:cNvPr id="13" name="Shape 11"/>
          <p:cNvSpPr/>
          <p:nvPr/>
        </p:nvSpPr>
        <p:spPr>
          <a:xfrm>
            <a:off x="6565392" y="2103120"/>
            <a:ext cx="4800600" cy="1417320"/>
          </a:xfrm>
          <a:prstGeom prst="roundRect">
            <a:avLst>
              <a:gd name="adj" fmla="val 4516"/>
            </a:avLst>
          </a:prstGeom>
          <a:solidFill>
            <a:srgbClr val="1B2B45"/>
          </a:solidFill>
          <a:ln w="12700">
            <a:solidFill>
              <a:srgbClr val="1B2B45"/>
            </a:solidFill>
            <a:prstDash val="solid"/>
          </a:ln>
        </p:spPr>
      </p:sp>
      <p:sp>
        <p:nvSpPr>
          <p:cNvPr id="14" name="Text 12"/>
          <p:cNvSpPr txBox="1"/>
          <p:nvPr/>
        </p:nvSpPr>
        <p:spPr>
          <a:xfrm>
            <a:off x="6729984" y="2212848"/>
            <a:ext cx="4471416" cy="119786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names  = ["Ravi", "Sara", "Amit"]</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scores = [88, 91, 76]</a:t>
            </a:r>
            <a:endParaRPr lang="en-US" sz="1100" dirty="0"/>
          </a:p>
          <a:p>
            <a:pPr indent="0" marL="0">
              <a:lnSpc>
                <a:spcPct val="112000"/>
              </a:lnSpc>
              <a:buNone/>
            </a:pP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for name, score in zip(names, scores):</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print(f"{name}: {score}")</a:t>
            </a:r>
            <a:endParaRPr lang="en-US" sz="1100" dirty="0"/>
          </a:p>
        </p:txBody>
      </p:sp>
      <p:sp>
        <p:nvSpPr>
          <p:cNvPr id="15" name="Text 13"/>
          <p:cNvSpPr txBox="1"/>
          <p:nvPr/>
        </p:nvSpPr>
        <p:spPr>
          <a:xfrm>
            <a:off x="6565392" y="3611880"/>
            <a:ext cx="4800600" cy="411480"/>
          </a:xfrm>
          <a:prstGeom prst="rect">
            <a:avLst/>
          </a:prstGeom>
          <a:noFill/>
          <a:ln/>
        </p:spPr>
        <p:txBody>
          <a:bodyPr wrap="square" lIns="0" tIns="0" rIns="0" bIns="0" rtlCol="0" anchor="ctr"/>
          <a:lstStyle/>
          <a:p>
            <a:pPr indent="0" marL="0">
              <a:buNone/>
            </a:pPr>
            <a:r>
              <a:rPr lang="en-US" sz="1200" i="1" dirty="0">
                <a:solidFill>
                  <a:srgbClr val="8E3A24"/>
                </a:solidFill>
                <a:latin typeface="Calibri" pitchFamily="34" charset="0"/>
                <a:ea typeface="Calibri" pitchFamily="34" charset="-122"/>
                <a:cs typeface="Calibri" pitchFamily="34" charset="-120"/>
              </a:rPr>
              <a:t>zip stops at the SHORTER sequence — extra items are silently dropped.</a:t>
            </a:r>
            <a:endParaRPr lang="en-US" sz="1200" dirty="0"/>
          </a:p>
        </p:txBody>
      </p:sp>
      <p:sp>
        <p:nvSpPr>
          <p:cNvPr id="16" name="Shape 14"/>
          <p:cNvSpPr/>
          <p:nvPr/>
        </p:nvSpPr>
        <p:spPr>
          <a:xfrm>
            <a:off x="548640" y="4343400"/>
            <a:ext cx="11064240" cy="1508760"/>
          </a:xfrm>
          <a:prstGeom prst="roundRect">
            <a:avLst>
              <a:gd name="adj" fmla="val 5455"/>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Text 15"/>
          <p:cNvSpPr txBox="1"/>
          <p:nvPr/>
        </p:nvSpPr>
        <p:spPr>
          <a:xfrm>
            <a:off x="822960" y="4498848"/>
            <a:ext cx="4572000" cy="292608"/>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Looping over a dictionary</a:t>
            </a:r>
            <a:endParaRPr lang="en-US" sz="1450" dirty="0"/>
          </a:p>
        </p:txBody>
      </p:sp>
      <p:sp>
        <p:nvSpPr>
          <p:cNvPr id="18" name="Shape 16"/>
          <p:cNvSpPr/>
          <p:nvPr/>
        </p:nvSpPr>
        <p:spPr>
          <a:xfrm>
            <a:off x="822960" y="4828032"/>
            <a:ext cx="5212080" cy="868680"/>
          </a:xfrm>
          <a:prstGeom prst="roundRect">
            <a:avLst>
              <a:gd name="adj" fmla="val 7368"/>
            </a:avLst>
          </a:prstGeom>
          <a:solidFill>
            <a:srgbClr val="1B2B45"/>
          </a:solidFill>
          <a:ln w="12700">
            <a:solidFill>
              <a:srgbClr val="1B2B45"/>
            </a:solidFill>
            <a:prstDash val="solid"/>
          </a:ln>
        </p:spPr>
      </p:sp>
      <p:sp>
        <p:nvSpPr>
          <p:cNvPr id="19" name="Text 17"/>
          <p:cNvSpPr txBox="1"/>
          <p:nvPr/>
        </p:nvSpPr>
        <p:spPr>
          <a:xfrm>
            <a:off x="987552" y="4937760"/>
            <a:ext cx="4882896" cy="64922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marks = {"Python": 88, "Stats": 71}</a:t>
            </a:r>
            <a:endParaRPr lang="en-US" sz="1100" dirty="0"/>
          </a:p>
          <a:p>
            <a:pPr indent="0" marL="0">
              <a:lnSpc>
                <a:spcPct val="112000"/>
              </a:lnSpc>
              <a:buNone/>
            </a:pP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for subject in marks:            # keys only</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for subject, m in marks.items(): # key AND value</a:t>
            </a:r>
            <a:endParaRPr lang="en-US" sz="1100" dirty="0"/>
          </a:p>
        </p:txBody>
      </p:sp>
      <p:sp>
        <p:nvSpPr>
          <p:cNvPr id="20" name="Text 18"/>
          <p:cNvSpPr txBox="1"/>
          <p:nvPr/>
        </p:nvSpPr>
        <p:spPr>
          <a:xfrm>
            <a:off x="6400800" y="4809744"/>
            <a:ext cx="4983480" cy="91440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Looping a dict directly gives you the keys, not the values — a surprise for most people the first time. Use .items() when you need both, .values() when you only need the values. This is exactly the pattern you will use on DataFrame columns in Module 1.14.</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2.4  ·  BUILDING RESULTS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accumulator pattern — the backbone of data work</a:t>
            </a:r>
            <a:endParaRPr lang="en-US" sz="3200" dirty="0"/>
          </a:p>
        </p:txBody>
      </p:sp>
      <p:sp>
        <p:nvSpPr>
          <p:cNvPr id="5" name="Shape 3"/>
          <p:cNvSpPr/>
          <p:nvPr/>
        </p:nvSpPr>
        <p:spPr>
          <a:xfrm>
            <a:off x="548640" y="1572768"/>
            <a:ext cx="5486400" cy="2651760"/>
          </a:xfrm>
          <a:prstGeom prst="roundRect">
            <a:avLst>
              <a:gd name="adj" fmla="val 310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The three-step shape</a:t>
            </a:r>
            <a:endParaRPr lang="en-US" sz="1500" dirty="0"/>
          </a:p>
        </p:txBody>
      </p:sp>
      <p:sp>
        <p:nvSpPr>
          <p:cNvPr id="7" name="Shape 5"/>
          <p:cNvSpPr/>
          <p:nvPr/>
        </p:nvSpPr>
        <p:spPr>
          <a:xfrm>
            <a:off x="804672" y="2103120"/>
            <a:ext cx="4983480" cy="1965960"/>
          </a:xfrm>
          <a:prstGeom prst="roundRect">
            <a:avLst>
              <a:gd name="adj" fmla="val 3256"/>
            </a:avLst>
          </a:prstGeom>
          <a:solidFill>
            <a:srgbClr val="1B2B45"/>
          </a:solidFill>
          <a:ln w="12700">
            <a:solidFill>
              <a:srgbClr val="1B2B45"/>
            </a:solidFill>
            <a:prstDash val="solid"/>
          </a:ln>
        </p:spPr>
      </p:sp>
      <p:sp>
        <p:nvSpPr>
          <p:cNvPr id="8" name="Text 6"/>
          <p:cNvSpPr txBox="1"/>
          <p:nvPr/>
        </p:nvSpPr>
        <p:spPr>
          <a:xfrm>
            <a:off x="969264" y="2212848"/>
            <a:ext cx="4654296" cy="174650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total = 0                    # 1. INITIALISE</a:t>
            </a:r>
            <a:endParaRPr lang="en-US" sz="1100" dirty="0"/>
          </a:p>
          <a:p>
            <a:pPr indent="0" marL="0">
              <a:lnSpc>
                <a:spcPct val="112000"/>
              </a:lnSpc>
              <a:buNone/>
            </a:pP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for m in marks:              # 2. LOOP</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total = total + m        # 3. UPDATE</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 or:  total += m</a:t>
            </a:r>
            <a:endParaRPr lang="en-US" sz="1100" dirty="0"/>
          </a:p>
          <a:p>
            <a:pPr indent="0" marL="0">
              <a:lnSpc>
                <a:spcPct val="112000"/>
              </a:lnSpc>
              <a:buNone/>
            </a:pP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print(total)                 # use it after</a:t>
            </a:r>
            <a:endParaRPr lang="en-US" sz="1100" dirty="0"/>
          </a:p>
        </p:txBody>
      </p:sp>
      <p:sp>
        <p:nvSpPr>
          <p:cNvPr id="9" name="Shape 7"/>
          <p:cNvSpPr/>
          <p:nvPr/>
        </p:nvSpPr>
        <p:spPr>
          <a:xfrm>
            <a:off x="6309360" y="1572768"/>
            <a:ext cx="5303520" cy="2651760"/>
          </a:xfrm>
          <a:prstGeom prst="roundRect">
            <a:avLst>
              <a:gd name="adj" fmla="val 310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Hand-trace it: marks = [10, 20, 30]</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565392" y="2103120"/>
          <a:ext cx="4800600" cy="914400"/>
        </p:xfrm>
        <a:graphic>
          <a:graphicData uri="http://schemas.openxmlformats.org/drawingml/2006/table">
            <a:tbl>
              <a:tblPr/>
              <a:tblGrid>
                <a:gridCol w="914400"/>
                <a:gridCol w="822960"/>
                <a:gridCol w="1554480"/>
                <a:gridCol w="1508760"/>
              </a:tblGrid>
              <a:tr h="36576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Pass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total before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total after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365760">
                <a:tc>
                  <a:txBody>
                    <a:bodyPr/>
                    <a:lstStyle/>
                    <a:p>
                      <a:pPr algn="ctr" indent="0" marL="0">
                        <a:buNone/>
                      </a:pPr>
                      <a:r>
                        <a:rPr lang="en-US" sz="1150" dirty="0">
                          <a:solidFill>
                            <a:srgbClr val="2B3445"/>
                          </a:solidFill>
                          <a:latin typeface="Calibri" pitchFamily="34" charset="0"/>
                          <a:ea typeface="Calibri" pitchFamily="34" charset="-122"/>
                          <a:cs typeface="Calibri" pitchFamily="34" charset="-120"/>
                        </a:rPr>
                        <a:t>start</a:t>
                      </a:r>
                      <a:endParaRPr lang="en-US" sz="11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algn="ctr" indent="0" marL="0">
                        <a:buNone/>
                      </a:pPr>
                      <a:r>
                        <a:rPr lang="en-US" sz="1150" b="1" dirty="0">
                          <a:solidFill>
                            <a:srgbClr val="1F3A5F"/>
                          </a:solidFill>
                          <a:latin typeface="Courier New" pitchFamily="34" charset="0"/>
                          <a:ea typeface="Courier New" pitchFamily="34" charset="-122"/>
                          <a:cs typeface="Courier New" pitchFamily="34" charset="-120"/>
                        </a:rPr>
                        <a:t>—</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algn="ctr" indent="0" marL="0">
                        <a:buNone/>
                      </a:pPr>
                      <a:r>
                        <a:rPr lang="en-US" sz="1150" b="1" dirty="0">
                          <a:solidFill>
                            <a:srgbClr val="1F3A5F"/>
                          </a:solidFill>
                          <a:latin typeface="Courier New" pitchFamily="34" charset="0"/>
                          <a:ea typeface="Courier New" pitchFamily="34" charset="-122"/>
                          <a:cs typeface="Courier New" pitchFamily="34" charset="-120"/>
                        </a:rPr>
                        <a:t>—</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algn="ctr" indent="0" marL="0">
                        <a:buNone/>
                      </a:pPr>
                      <a:r>
                        <a:rPr lang="en-US" sz="1150" b="1" dirty="0">
                          <a:solidFill>
                            <a:srgbClr val="1F3A5F"/>
                          </a:solidFill>
                          <a:latin typeface="Courier New" pitchFamily="34" charset="0"/>
                          <a:ea typeface="Courier New" pitchFamily="34" charset="-122"/>
                          <a:cs typeface="Courier New" pitchFamily="34" charset="-120"/>
                        </a:rPr>
                        <a:t>0</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65760">
                <a:tc>
                  <a:txBody>
                    <a:bodyPr/>
                    <a:lstStyle/>
                    <a:p>
                      <a:pPr algn="ctr" indent="0" marL="0">
                        <a:buNone/>
                      </a:pPr>
                      <a:r>
                        <a:rPr lang="en-US" sz="1150" dirty="0">
                          <a:solidFill>
                            <a:srgbClr val="2B344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algn="ctr" indent="0" marL="0">
                        <a:buNone/>
                      </a:pPr>
                      <a:r>
                        <a:rPr lang="en-US" sz="1150" b="1" dirty="0">
                          <a:solidFill>
                            <a:srgbClr val="1F3A5F"/>
                          </a:solidFill>
                          <a:latin typeface="Courier New" pitchFamily="34" charset="0"/>
                          <a:ea typeface="Courier New" pitchFamily="34" charset="-122"/>
                          <a:cs typeface="Courier New" pitchFamily="34" charset="-120"/>
                        </a:rPr>
                        <a:t>10</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algn="ctr" indent="0" marL="0">
                        <a:buNone/>
                      </a:pPr>
                      <a:r>
                        <a:rPr lang="en-US" sz="1150" b="1" dirty="0">
                          <a:solidFill>
                            <a:srgbClr val="1F3A5F"/>
                          </a:solidFill>
                          <a:latin typeface="Courier New" pitchFamily="34" charset="0"/>
                          <a:ea typeface="Courier New" pitchFamily="34" charset="-122"/>
                          <a:cs typeface="Courier New" pitchFamily="34" charset="-120"/>
                        </a:rPr>
                        <a:t>0</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algn="ctr" indent="0" marL="0">
                        <a:buNone/>
                      </a:pPr>
                      <a:r>
                        <a:rPr lang="en-US" sz="1150" b="1" dirty="0">
                          <a:solidFill>
                            <a:srgbClr val="1F3A5F"/>
                          </a:solidFill>
                          <a:latin typeface="Courier New" pitchFamily="34" charset="0"/>
                          <a:ea typeface="Courier New" pitchFamily="34" charset="-122"/>
                          <a:cs typeface="Courier New" pitchFamily="34" charset="-120"/>
                        </a:rPr>
                        <a:t>10</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65760">
                <a:tc>
                  <a:txBody>
                    <a:bodyPr/>
                    <a:lstStyle/>
                    <a:p>
                      <a:pPr algn="ctr" indent="0" marL="0">
                        <a:buNone/>
                      </a:pPr>
                      <a:r>
                        <a:rPr lang="en-US" sz="1150" dirty="0">
                          <a:solidFill>
                            <a:srgbClr val="2B344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algn="ctr" indent="0" marL="0">
                        <a:buNone/>
                      </a:pPr>
                      <a:r>
                        <a:rPr lang="en-US" sz="1150" b="1" dirty="0">
                          <a:solidFill>
                            <a:srgbClr val="1F3A5F"/>
                          </a:solidFill>
                          <a:latin typeface="Courier New" pitchFamily="34" charset="0"/>
                          <a:ea typeface="Courier New" pitchFamily="34" charset="-122"/>
                          <a:cs typeface="Courier New" pitchFamily="34" charset="-120"/>
                        </a:rPr>
                        <a:t>20</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algn="ctr" indent="0" marL="0">
                        <a:buNone/>
                      </a:pPr>
                      <a:r>
                        <a:rPr lang="en-US" sz="1150" b="1" dirty="0">
                          <a:solidFill>
                            <a:srgbClr val="1F3A5F"/>
                          </a:solidFill>
                          <a:latin typeface="Courier New" pitchFamily="34" charset="0"/>
                          <a:ea typeface="Courier New" pitchFamily="34" charset="-122"/>
                          <a:cs typeface="Courier New" pitchFamily="34" charset="-120"/>
                        </a:rPr>
                        <a:t>10</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algn="ctr" indent="0" marL="0">
                        <a:buNone/>
                      </a:pPr>
                      <a:r>
                        <a:rPr lang="en-US" sz="1150" b="1" dirty="0">
                          <a:solidFill>
                            <a:srgbClr val="1F3A5F"/>
                          </a:solidFill>
                          <a:latin typeface="Courier New" pitchFamily="34" charset="0"/>
                          <a:ea typeface="Courier New" pitchFamily="34" charset="-122"/>
                          <a:cs typeface="Courier New" pitchFamily="34" charset="-120"/>
                        </a:rPr>
                        <a:t>30</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65760">
                <a:tc>
                  <a:txBody>
                    <a:bodyPr/>
                    <a:lstStyle/>
                    <a:p>
                      <a:pPr algn="ctr" indent="0" marL="0">
                        <a:buNone/>
                      </a:pPr>
                      <a:r>
                        <a:rPr lang="en-US" sz="1150" dirty="0">
                          <a:solidFill>
                            <a:srgbClr val="2B344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algn="ctr" indent="0" marL="0">
                        <a:buNone/>
                      </a:pPr>
                      <a:r>
                        <a:rPr lang="en-US" sz="1150" b="1" dirty="0">
                          <a:solidFill>
                            <a:srgbClr val="1F3A5F"/>
                          </a:solidFill>
                          <a:latin typeface="Courier New" pitchFamily="34" charset="0"/>
                          <a:ea typeface="Courier New" pitchFamily="34" charset="-122"/>
                          <a:cs typeface="Courier New" pitchFamily="34" charset="-120"/>
                        </a:rPr>
                        <a:t>30</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algn="ctr" indent="0" marL="0">
                        <a:buNone/>
                      </a:pPr>
                      <a:r>
                        <a:rPr lang="en-US" sz="1150" b="1" dirty="0">
                          <a:solidFill>
                            <a:srgbClr val="1F3A5F"/>
                          </a:solidFill>
                          <a:latin typeface="Courier New" pitchFamily="34" charset="0"/>
                          <a:ea typeface="Courier New" pitchFamily="34" charset="-122"/>
                          <a:cs typeface="Courier New" pitchFamily="34" charset="-120"/>
                        </a:rPr>
                        <a:t>30</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algn="ctr" indent="0" marL="0">
                        <a:buNone/>
                      </a:pPr>
                      <a:r>
                        <a:rPr lang="en-US" sz="1150" b="1" dirty="0">
                          <a:solidFill>
                            <a:srgbClr val="1F3A5F"/>
                          </a:solidFill>
                          <a:latin typeface="Courier New" pitchFamily="34" charset="0"/>
                          <a:ea typeface="Courier New" pitchFamily="34" charset="-122"/>
                          <a:cs typeface="Courier New" pitchFamily="34" charset="-120"/>
                        </a:rPr>
                        <a:t>60</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12" name="Shape 9"/>
          <p:cNvSpPr/>
          <p:nvPr/>
        </p:nvSpPr>
        <p:spPr>
          <a:xfrm>
            <a:off x="548640" y="4434840"/>
            <a:ext cx="2606040" cy="1417320"/>
          </a:xfrm>
          <a:prstGeom prst="roundRect">
            <a:avLst>
              <a:gd name="adj" fmla="val 5806"/>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0"/>
          <p:cNvSpPr txBox="1"/>
          <p:nvPr/>
        </p:nvSpPr>
        <p:spPr>
          <a:xfrm>
            <a:off x="749808" y="4553712"/>
            <a:ext cx="219456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Sum</a:t>
            </a:r>
            <a:endParaRPr lang="en-US" sz="1400" dirty="0"/>
          </a:p>
        </p:txBody>
      </p:sp>
      <p:sp>
        <p:nvSpPr>
          <p:cNvPr id="14" name="Shape 11"/>
          <p:cNvSpPr/>
          <p:nvPr/>
        </p:nvSpPr>
        <p:spPr>
          <a:xfrm>
            <a:off x="749808" y="4864608"/>
            <a:ext cx="2212848" cy="822960"/>
          </a:xfrm>
          <a:prstGeom prst="roundRect">
            <a:avLst>
              <a:gd name="adj" fmla="val 7778"/>
            </a:avLst>
          </a:prstGeom>
          <a:solidFill>
            <a:srgbClr val="1B2B45"/>
          </a:solidFill>
          <a:ln w="12700">
            <a:solidFill>
              <a:srgbClr val="1B2B45"/>
            </a:solidFill>
            <a:prstDash val="solid"/>
          </a:ln>
        </p:spPr>
      </p:sp>
      <p:sp>
        <p:nvSpPr>
          <p:cNvPr id="15" name="Text 12"/>
          <p:cNvSpPr txBox="1"/>
          <p:nvPr/>
        </p:nvSpPr>
        <p:spPr>
          <a:xfrm>
            <a:off x="914400" y="4974336"/>
            <a:ext cx="1883664" cy="60350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total = 0</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total += m</a:t>
            </a:r>
            <a:endParaRPr lang="en-US" sz="900" dirty="0"/>
          </a:p>
        </p:txBody>
      </p:sp>
      <p:sp>
        <p:nvSpPr>
          <p:cNvPr id="16" name="Shape 13"/>
          <p:cNvSpPr/>
          <p:nvPr/>
        </p:nvSpPr>
        <p:spPr>
          <a:xfrm>
            <a:off x="3410712" y="4434840"/>
            <a:ext cx="2606040" cy="1417320"/>
          </a:xfrm>
          <a:prstGeom prst="roundRect">
            <a:avLst>
              <a:gd name="adj" fmla="val 5806"/>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Text 14"/>
          <p:cNvSpPr txBox="1"/>
          <p:nvPr/>
        </p:nvSpPr>
        <p:spPr>
          <a:xfrm>
            <a:off x="3611880" y="4553712"/>
            <a:ext cx="219456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Count</a:t>
            </a:r>
            <a:endParaRPr lang="en-US" sz="1400" dirty="0"/>
          </a:p>
        </p:txBody>
      </p:sp>
      <p:sp>
        <p:nvSpPr>
          <p:cNvPr id="18" name="Shape 15"/>
          <p:cNvSpPr/>
          <p:nvPr/>
        </p:nvSpPr>
        <p:spPr>
          <a:xfrm>
            <a:off x="3611880" y="4864608"/>
            <a:ext cx="2212848" cy="822960"/>
          </a:xfrm>
          <a:prstGeom prst="roundRect">
            <a:avLst>
              <a:gd name="adj" fmla="val 7778"/>
            </a:avLst>
          </a:prstGeom>
          <a:solidFill>
            <a:srgbClr val="1B2B45"/>
          </a:solidFill>
          <a:ln w="12700">
            <a:solidFill>
              <a:srgbClr val="1B2B45"/>
            </a:solidFill>
            <a:prstDash val="solid"/>
          </a:ln>
        </p:spPr>
      </p:sp>
      <p:sp>
        <p:nvSpPr>
          <p:cNvPr id="19" name="Text 16"/>
          <p:cNvSpPr txBox="1"/>
          <p:nvPr/>
        </p:nvSpPr>
        <p:spPr>
          <a:xfrm>
            <a:off x="3776472" y="4974336"/>
            <a:ext cx="1883664" cy="60350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count = 0</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if m &gt;= 40: count += 1</a:t>
            </a:r>
            <a:endParaRPr lang="en-US" sz="900" dirty="0"/>
          </a:p>
        </p:txBody>
      </p:sp>
      <p:sp>
        <p:nvSpPr>
          <p:cNvPr id="20" name="Shape 17"/>
          <p:cNvSpPr/>
          <p:nvPr/>
        </p:nvSpPr>
        <p:spPr>
          <a:xfrm>
            <a:off x="6272784" y="4434840"/>
            <a:ext cx="2606040" cy="1417320"/>
          </a:xfrm>
          <a:prstGeom prst="roundRect">
            <a:avLst>
              <a:gd name="adj" fmla="val 5806"/>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Text 18"/>
          <p:cNvSpPr txBox="1"/>
          <p:nvPr/>
        </p:nvSpPr>
        <p:spPr>
          <a:xfrm>
            <a:off x="6473952" y="4553712"/>
            <a:ext cx="219456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Maximum</a:t>
            </a:r>
            <a:endParaRPr lang="en-US" sz="1400" dirty="0"/>
          </a:p>
        </p:txBody>
      </p:sp>
      <p:sp>
        <p:nvSpPr>
          <p:cNvPr id="22" name="Shape 19"/>
          <p:cNvSpPr/>
          <p:nvPr/>
        </p:nvSpPr>
        <p:spPr>
          <a:xfrm>
            <a:off x="6473952" y="4864608"/>
            <a:ext cx="2212848" cy="822960"/>
          </a:xfrm>
          <a:prstGeom prst="roundRect">
            <a:avLst>
              <a:gd name="adj" fmla="val 7778"/>
            </a:avLst>
          </a:prstGeom>
          <a:solidFill>
            <a:srgbClr val="1B2B45"/>
          </a:solidFill>
          <a:ln w="12700">
            <a:solidFill>
              <a:srgbClr val="1B2B45"/>
            </a:solidFill>
            <a:prstDash val="solid"/>
          </a:ln>
        </p:spPr>
      </p:sp>
      <p:sp>
        <p:nvSpPr>
          <p:cNvPr id="23" name="Text 20"/>
          <p:cNvSpPr txBox="1"/>
          <p:nvPr/>
        </p:nvSpPr>
        <p:spPr>
          <a:xfrm>
            <a:off x="6638544" y="4974336"/>
            <a:ext cx="1883664" cy="60350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best = marks[0]</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if m &gt; best: best = m</a:t>
            </a:r>
            <a:endParaRPr lang="en-US" sz="900" dirty="0"/>
          </a:p>
        </p:txBody>
      </p:sp>
      <p:sp>
        <p:nvSpPr>
          <p:cNvPr id="24" name="Shape 21"/>
          <p:cNvSpPr/>
          <p:nvPr/>
        </p:nvSpPr>
        <p:spPr>
          <a:xfrm>
            <a:off x="9134856" y="4434840"/>
            <a:ext cx="2606040" cy="1417320"/>
          </a:xfrm>
          <a:prstGeom prst="roundRect">
            <a:avLst>
              <a:gd name="adj" fmla="val 5806"/>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5" name="Text 22"/>
          <p:cNvSpPr txBox="1"/>
          <p:nvPr/>
        </p:nvSpPr>
        <p:spPr>
          <a:xfrm>
            <a:off x="9336024" y="4553712"/>
            <a:ext cx="219456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Collect</a:t>
            </a:r>
            <a:endParaRPr lang="en-US" sz="1400" dirty="0"/>
          </a:p>
        </p:txBody>
      </p:sp>
      <p:sp>
        <p:nvSpPr>
          <p:cNvPr id="26" name="Shape 23"/>
          <p:cNvSpPr/>
          <p:nvPr/>
        </p:nvSpPr>
        <p:spPr>
          <a:xfrm>
            <a:off x="9336024" y="4864608"/>
            <a:ext cx="2212848" cy="822960"/>
          </a:xfrm>
          <a:prstGeom prst="roundRect">
            <a:avLst>
              <a:gd name="adj" fmla="val 7778"/>
            </a:avLst>
          </a:prstGeom>
          <a:solidFill>
            <a:srgbClr val="1B2B45"/>
          </a:solidFill>
          <a:ln w="12700">
            <a:solidFill>
              <a:srgbClr val="1B2B45"/>
            </a:solidFill>
            <a:prstDash val="solid"/>
          </a:ln>
        </p:spPr>
      </p:sp>
      <p:sp>
        <p:nvSpPr>
          <p:cNvPr id="27" name="Text 24"/>
          <p:cNvSpPr txBox="1"/>
          <p:nvPr/>
        </p:nvSpPr>
        <p:spPr>
          <a:xfrm>
            <a:off x="9500616" y="4974336"/>
            <a:ext cx="1883664" cy="60350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passed = []</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passed.append(m)</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2.5  ·  NESTING</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Nested loops — a loop inside a loop</a:t>
            </a:r>
            <a:endParaRPr lang="en-US" sz="3200" dirty="0"/>
          </a:p>
        </p:txBody>
      </p:sp>
      <p:sp>
        <p:nvSpPr>
          <p:cNvPr id="5" name="Shape 3"/>
          <p:cNvSpPr/>
          <p:nvPr/>
        </p:nvSpPr>
        <p:spPr>
          <a:xfrm>
            <a:off x="548640" y="1572768"/>
            <a:ext cx="5394960" cy="2651760"/>
          </a:xfrm>
          <a:prstGeom prst="roundRect">
            <a:avLst>
              <a:gd name="adj" fmla="val 310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84632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The inner loop runs fully, every outer pass</a:t>
            </a:r>
            <a:endParaRPr lang="en-US" sz="1450" dirty="0"/>
          </a:p>
        </p:txBody>
      </p:sp>
      <p:sp>
        <p:nvSpPr>
          <p:cNvPr id="7" name="Shape 5"/>
          <p:cNvSpPr/>
          <p:nvPr/>
        </p:nvSpPr>
        <p:spPr>
          <a:xfrm>
            <a:off x="804672" y="2103120"/>
            <a:ext cx="4892040" cy="1234440"/>
          </a:xfrm>
          <a:prstGeom prst="roundRect">
            <a:avLst>
              <a:gd name="adj" fmla="val 5185"/>
            </a:avLst>
          </a:prstGeom>
          <a:solidFill>
            <a:srgbClr val="1B2B45"/>
          </a:solidFill>
          <a:ln w="12700">
            <a:solidFill>
              <a:srgbClr val="1B2B45"/>
            </a:solidFill>
            <a:prstDash val="solid"/>
          </a:ln>
        </p:spPr>
      </p:sp>
      <p:sp>
        <p:nvSpPr>
          <p:cNvPr id="8" name="Text 6"/>
          <p:cNvSpPr txBox="1"/>
          <p:nvPr/>
        </p:nvSpPr>
        <p:spPr>
          <a:xfrm>
            <a:off x="969264" y="2212848"/>
            <a:ext cx="4562856" cy="101498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for i in range(1, 4):</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for j in range(1, 4):</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print(i, j)</a:t>
            </a:r>
            <a:endParaRPr lang="en-US" sz="1100" dirty="0"/>
          </a:p>
          <a:p>
            <a:pPr indent="0" marL="0">
              <a:lnSpc>
                <a:spcPct val="112000"/>
              </a:lnSpc>
              <a:buNone/>
            </a:pP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3 outer x 3 inner = 9 lines of output</a:t>
            </a:r>
            <a:endParaRPr lang="en-US" sz="1100" dirty="0"/>
          </a:p>
        </p:txBody>
      </p:sp>
      <p:sp>
        <p:nvSpPr>
          <p:cNvPr id="9" name="Shape 7"/>
          <p:cNvSpPr/>
          <p:nvPr/>
        </p:nvSpPr>
        <p:spPr>
          <a:xfrm>
            <a:off x="804672" y="3429000"/>
            <a:ext cx="4892040" cy="749808"/>
          </a:xfrm>
          <a:prstGeom prst="roundRect">
            <a:avLst>
              <a:gd name="adj" fmla="val 8537"/>
            </a:avLst>
          </a:prstGeom>
          <a:solidFill>
            <a:srgbClr val="1B2B45"/>
          </a:solidFill>
          <a:ln w="12700">
            <a:solidFill>
              <a:srgbClr val="1B2B45"/>
            </a:solidFill>
            <a:prstDash val="solid"/>
          </a:ln>
        </p:spPr>
      </p:sp>
      <p:sp>
        <p:nvSpPr>
          <p:cNvPr id="10" name="Text 8"/>
          <p:cNvSpPr txBox="1"/>
          <p:nvPr/>
        </p:nvSpPr>
        <p:spPr>
          <a:xfrm>
            <a:off x="969264" y="3538728"/>
            <a:ext cx="4562856" cy="530352"/>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1 1   1 2   1 3</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2 1   2 2   2 3      &lt;- j resets every time i advances</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3 1   3 2   3 3</a:t>
            </a:r>
            <a:endParaRPr lang="en-US" sz="1050" dirty="0"/>
          </a:p>
        </p:txBody>
      </p:sp>
      <p:sp>
        <p:nvSpPr>
          <p:cNvPr id="11" name="Shape 9"/>
          <p:cNvSpPr/>
          <p:nvPr/>
        </p:nvSpPr>
        <p:spPr>
          <a:xfrm>
            <a:off x="6126480" y="1572768"/>
            <a:ext cx="5486400" cy="2651760"/>
          </a:xfrm>
          <a:prstGeom prst="roundRect">
            <a:avLst>
              <a:gd name="adj" fmla="val 310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10"/>
          <p:cNvSpPr txBox="1"/>
          <p:nvPr/>
        </p:nvSpPr>
        <p:spPr>
          <a:xfrm>
            <a:off x="6382512" y="1719072"/>
            <a:ext cx="493776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Practical: multiplication table</a:t>
            </a:r>
            <a:endParaRPr lang="en-US" sz="1450" dirty="0"/>
          </a:p>
        </p:txBody>
      </p:sp>
      <p:sp>
        <p:nvSpPr>
          <p:cNvPr id="13" name="Shape 11"/>
          <p:cNvSpPr/>
          <p:nvPr/>
        </p:nvSpPr>
        <p:spPr>
          <a:xfrm>
            <a:off x="6382512" y="2103120"/>
            <a:ext cx="4983480" cy="1234440"/>
          </a:xfrm>
          <a:prstGeom prst="roundRect">
            <a:avLst>
              <a:gd name="adj" fmla="val 5185"/>
            </a:avLst>
          </a:prstGeom>
          <a:solidFill>
            <a:srgbClr val="1B2B45"/>
          </a:solidFill>
          <a:ln w="12700">
            <a:solidFill>
              <a:srgbClr val="1B2B45"/>
            </a:solidFill>
            <a:prstDash val="solid"/>
          </a:ln>
        </p:spPr>
      </p:sp>
      <p:sp>
        <p:nvSpPr>
          <p:cNvPr id="14" name="Text 12"/>
          <p:cNvSpPr txBox="1"/>
          <p:nvPr/>
        </p:nvSpPr>
        <p:spPr>
          <a:xfrm>
            <a:off x="6547104" y="2212848"/>
            <a:ext cx="4654296" cy="101498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for i in range(1, 6):</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for j in range(1, 6):</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print(f"{i*j:4}", end="")</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print()      # newline after each ROW</a:t>
            </a:r>
            <a:endParaRPr lang="en-US" sz="1100" dirty="0"/>
          </a:p>
        </p:txBody>
      </p:sp>
      <p:sp>
        <p:nvSpPr>
          <p:cNvPr id="15" name="Text 13"/>
          <p:cNvSpPr txBox="1"/>
          <p:nvPr/>
        </p:nvSpPr>
        <p:spPr>
          <a:xfrm>
            <a:off x="6382512" y="3429000"/>
            <a:ext cx="4983480" cy="73152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The bare print() sits in the OUTER loop — that is what ends each row. Move it one indent deeper and the whole table collapses into a single column. Indentation is the logic here, not decoration.</a:t>
            </a:r>
            <a:endParaRPr lang="en-US" sz="1250" dirty="0"/>
          </a:p>
        </p:txBody>
      </p:sp>
      <p:sp>
        <p:nvSpPr>
          <p:cNvPr id="16" name="Shape 14"/>
          <p:cNvSpPr/>
          <p:nvPr/>
        </p:nvSpPr>
        <p:spPr>
          <a:xfrm>
            <a:off x="548640" y="4480560"/>
            <a:ext cx="11064240" cy="1371600"/>
          </a:xfrm>
          <a:prstGeom prst="roundRect">
            <a:avLst>
              <a:gd name="adj" fmla="val 60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Text 15"/>
          <p:cNvSpPr txBox="1"/>
          <p:nvPr/>
        </p:nvSpPr>
        <p:spPr>
          <a:xfrm>
            <a:off x="868680" y="4626864"/>
            <a:ext cx="5943600" cy="292608"/>
          </a:xfrm>
          <a:prstGeom prst="rect">
            <a:avLst/>
          </a:prstGeom>
          <a:noFill/>
          <a:ln/>
        </p:spPr>
        <p:txBody>
          <a:bodyPr wrap="square" lIns="0" tIns="0" rIns="0" bIns="0" rtlCol="0" anchor="ctr"/>
          <a:lstStyle/>
          <a:p>
            <a:pPr indent="0" marL="0">
              <a:buNone/>
            </a:pPr>
            <a:r>
              <a:rPr lang="en-US" sz="1450" b="1" dirty="0">
                <a:solidFill>
                  <a:srgbClr val="A63B24"/>
                </a:solidFill>
                <a:latin typeface="Calibri" pitchFamily="34" charset="0"/>
                <a:ea typeface="Calibri" pitchFamily="34" charset="-122"/>
                <a:cs typeface="Calibri" pitchFamily="34" charset="-120"/>
              </a:rPr>
              <a:t>⚠  Cost grows by multiplication, not addition</a:t>
            </a:r>
            <a:endParaRPr lang="en-US" sz="1450" dirty="0"/>
          </a:p>
        </p:txBody>
      </p:sp>
      <p:sp>
        <p:nvSpPr>
          <p:cNvPr id="18" name="Text 16"/>
          <p:cNvSpPr txBox="1"/>
          <p:nvPr/>
        </p:nvSpPr>
        <p:spPr>
          <a:xfrm>
            <a:off x="868680" y="4956048"/>
            <a:ext cx="10424160" cy="731520"/>
          </a:xfrm>
          <a:prstGeom prst="rect">
            <a:avLst/>
          </a:prstGeom>
          <a:noFill/>
          <a:ln/>
        </p:spPr>
        <p:txBody>
          <a:bodyPr wrap="square" lIns="0" tIns="0" rIns="0" bIns="0" rtlCol="0" anchor="ctr"/>
          <a:lstStyle/>
          <a:p>
            <a:pPr indent="0" marL="0">
              <a:lnSpc>
                <a:spcPct val="115000"/>
              </a:lnSpc>
              <a:buNone/>
            </a:pPr>
            <a:r>
              <a:rPr lang="en-US" sz="1300" dirty="0">
                <a:solidFill>
                  <a:srgbClr val="6B4A0B"/>
                </a:solidFill>
                <a:latin typeface="Calibri" pitchFamily="34" charset="0"/>
                <a:ea typeface="Calibri" pitchFamily="34" charset="-122"/>
                <a:cs typeface="Calibri" pitchFamily="34" charset="-120"/>
              </a:rPr>
              <a:t>Two nested loops over 1,000 items each is 1,000,000 iterations. Three levels is a billion. This is precisely why NumPy's vectorised operations exist — you will replace these loops in Topic 1.12 and watch the same job run a hundred times faster.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3</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while loops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Repeating until something changes  ·  20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Anatomy</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Infinite loops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for vs while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Input validation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3.1  ·  ANATOMY</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while loop — repeat while a condition holds</a:t>
            </a:r>
            <a:endParaRPr lang="en-US" sz="3200" dirty="0"/>
          </a:p>
        </p:txBody>
      </p:sp>
      <p:sp>
        <p:nvSpPr>
          <p:cNvPr id="5" name="Shape 3"/>
          <p:cNvSpPr/>
          <p:nvPr/>
        </p:nvSpPr>
        <p:spPr>
          <a:xfrm>
            <a:off x="548640" y="1572768"/>
            <a:ext cx="5486400" cy="2606040"/>
          </a:xfrm>
          <a:prstGeom prst="roundRect">
            <a:avLst>
              <a:gd name="adj" fmla="val 3158"/>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Three parts you must always write</a:t>
            </a:r>
            <a:endParaRPr lang="en-US" sz="1500" dirty="0"/>
          </a:p>
        </p:txBody>
      </p:sp>
      <p:sp>
        <p:nvSpPr>
          <p:cNvPr id="7" name="Shape 5"/>
          <p:cNvSpPr/>
          <p:nvPr/>
        </p:nvSpPr>
        <p:spPr>
          <a:xfrm>
            <a:off x="804672" y="2103120"/>
            <a:ext cx="4983480" cy="1371600"/>
          </a:xfrm>
          <a:prstGeom prst="roundRect">
            <a:avLst>
              <a:gd name="adj" fmla="val 4667"/>
            </a:avLst>
          </a:prstGeom>
          <a:solidFill>
            <a:srgbClr val="1B2B45"/>
          </a:solidFill>
          <a:ln w="12700">
            <a:solidFill>
              <a:srgbClr val="1B2B45"/>
            </a:solidFill>
            <a:prstDash val="solid"/>
          </a:ln>
        </p:spPr>
      </p:sp>
      <p:sp>
        <p:nvSpPr>
          <p:cNvPr id="8" name="Text 6"/>
          <p:cNvSpPr txBox="1"/>
          <p:nvPr/>
        </p:nvSpPr>
        <p:spPr>
          <a:xfrm>
            <a:off x="969264" y="2212848"/>
            <a:ext cx="4654296" cy="115214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count = 1                # 1. INITIALISE</a:t>
            </a:r>
            <a:endParaRPr lang="en-US" sz="1100" dirty="0"/>
          </a:p>
          <a:p>
            <a:pPr indent="0" marL="0">
              <a:lnSpc>
                <a:spcPct val="112000"/>
              </a:lnSpc>
              <a:buNone/>
            </a:pP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while count &lt;= 5:        # 2. CONDITION</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print(count)</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count += 1           # 3. UPDATE  &lt;- critical</a:t>
            </a:r>
            <a:endParaRPr lang="en-US" sz="1100" dirty="0"/>
          </a:p>
        </p:txBody>
      </p:sp>
      <p:sp>
        <p:nvSpPr>
          <p:cNvPr id="9" name="Text 7"/>
          <p:cNvSpPr txBox="1"/>
          <p:nvPr/>
        </p:nvSpPr>
        <p:spPr>
          <a:xfrm>
            <a:off x="804672" y="3584448"/>
            <a:ext cx="4983480" cy="457200"/>
          </a:xfrm>
          <a:prstGeom prst="rect">
            <a:avLst/>
          </a:prstGeom>
          <a:noFill/>
          <a:ln/>
        </p:spPr>
        <p:txBody>
          <a:bodyPr wrap="square" lIns="0" tIns="0" rIns="0" bIns="0" rtlCol="0" anchor="ctr"/>
          <a:lstStyle/>
          <a:p>
            <a:pPr indent="0" marL="0">
              <a:buNone/>
            </a:pPr>
            <a:r>
              <a:rPr lang="en-US" sz="1250" b="1" dirty="0">
                <a:solidFill>
                  <a:srgbClr val="A63B24"/>
                </a:solidFill>
                <a:latin typeface="Calibri" pitchFamily="34" charset="0"/>
                <a:ea typeface="Calibri" pitchFamily="34" charset="-122"/>
                <a:cs typeface="Calibri" pitchFamily="34" charset="-120"/>
              </a:rPr>
              <a:t>Forget step 3 and the condition never becomes False. The loop runs forever.</a:t>
            </a:r>
            <a:endParaRPr lang="en-US" sz="1250" dirty="0"/>
          </a:p>
        </p:txBody>
      </p:sp>
      <p:sp>
        <p:nvSpPr>
          <p:cNvPr id="10" name="Shape 8"/>
          <p:cNvSpPr/>
          <p:nvPr/>
        </p:nvSpPr>
        <p:spPr>
          <a:xfrm>
            <a:off x="6309360" y="1572768"/>
            <a:ext cx="5303520" cy="2606040"/>
          </a:xfrm>
          <a:prstGeom prst="roundRect">
            <a:avLst>
              <a:gd name="adj" fmla="val 3158"/>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The cycle</a:t>
            </a:r>
            <a:endParaRPr lang="en-US" sz="1500" dirty="0"/>
          </a:p>
        </p:txBody>
      </p:sp>
      <p:sp>
        <p:nvSpPr>
          <p:cNvPr id="12" name="Shape 10"/>
          <p:cNvSpPr/>
          <p:nvPr/>
        </p:nvSpPr>
        <p:spPr>
          <a:xfrm>
            <a:off x="8366760" y="2103120"/>
            <a:ext cx="1371600" cy="347472"/>
          </a:xfrm>
          <a:prstGeom prst="roundRect">
            <a:avLst>
              <a:gd name="adj" fmla="val 21053"/>
            </a:avLst>
          </a:prstGeom>
          <a:solidFill>
            <a:srgbClr val="3E7CB1"/>
          </a:solidFill>
          <a:ln w="12700">
            <a:solidFill>
              <a:srgbClr val="333333"/>
            </a:solidFill>
            <a:prstDash val="solid"/>
          </a:ln>
        </p:spPr>
      </p:sp>
      <p:sp>
        <p:nvSpPr>
          <p:cNvPr id="13" name="Text 11"/>
          <p:cNvSpPr txBox="1"/>
          <p:nvPr/>
        </p:nvSpPr>
        <p:spPr>
          <a:xfrm>
            <a:off x="8366760" y="2103120"/>
            <a:ext cx="137160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count = 1</a:t>
            </a:r>
            <a:endParaRPr lang="en-US" sz="1000" dirty="0"/>
          </a:p>
        </p:txBody>
      </p:sp>
      <p:sp>
        <p:nvSpPr>
          <p:cNvPr id="14" name="Shape 12"/>
          <p:cNvSpPr/>
          <p:nvPr/>
        </p:nvSpPr>
        <p:spPr>
          <a:xfrm>
            <a:off x="9052560" y="2450592"/>
            <a:ext cx="0" cy="164592"/>
          </a:xfrm>
          <a:prstGeom prst="line">
            <a:avLst/>
          </a:prstGeom>
          <a:noFill/>
          <a:ln w="25400">
            <a:solidFill>
              <a:srgbClr val="8FA0B6"/>
            </a:solidFill>
            <a:prstDash val="solid"/>
            <a:tailEnd type="triangle"/>
          </a:ln>
        </p:spPr>
      </p:sp>
      <p:sp>
        <p:nvSpPr>
          <p:cNvPr id="15" name="Shape 13"/>
          <p:cNvSpPr/>
          <p:nvPr/>
        </p:nvSpPr>
        <p:spPr>
          <a:xfrm>
            <a:off x="8183880" y="2615184"/>
            <a:ext cx="1737360" cy="621792"/>
          </a:xfrm>
          <a:prstGeom prst="diamond">
            <a:avLst/>
          </a:prstGeom>
          <a:solidFill>
            <a:srgbClr val="FFC145"/>
          </a:solidFill>
          <a:ln w="12700">
            <a:solidFill>
              <a:srgbClr val="333333"/>
            </a:solidFill>
            <a:prstDash val="solid"/>
          </a:ln>
        </p:spPr>
      </p:sp>
      <p:sp>
        <p:nvSpPr>
          <p:cNvPr id="16" name="Text 14"/>
          <p:cNvSpPr txBox="1"/>
          <p:nvPr/>
        </p:nvSpPr>
        <p:spPr>
          <a:xfrm>
            <a:off x="8409737" y="2615184"/>
            <a:ext cx="1285646" cy="621792"/>
          </a:xfrm>
          <a:prstGeom prst="rect">
            <a:avLst/>
          </a:prstGeom>
          <a:noFill/>
          <a:ln/>
        </p:spPr>
        <p:txBody>
          <a:bodyPr wrap="square" lIns="0" tIns="0" rIns="0" bIns="0" rtlCol="0" anchor="ctr"/>
          <a:lstStyle/>
          <a:p>
            <a:pPr algn="ctr" indent="0" marL="0">
              <a:buNone/>
            </a:pPr>
            <a:r>
              <a:rPr lang="en-US" sz="1000" b="1" dirty="0">
                <a:solidFill>
                  <a:srgbClr val="152238"/>
                </a:solidFill>
                <a:latin typeface="Courier New" pitchFamily="34" charset="0"/>
                <a:ea typeface="Courier New" pitchFamily="34" charset="-122"/>
                <a:cs typeface="Courier New" pitchFamily="34" charset="-120"/>
              </a:rPr>
              <a:t>count &lt;= 5</a:t>
            </a:r>
            <a:endParaRPr lang="en-US" sz="1000" dirty="0"/>
          </a:p>
        </p:txBody>
      </p:sp>
      <p:sp>
        <p:nvSpPr>
          <p:cNvPr id="17" name="Shape 15"/>
          <p:cNvSpPr/>
          <p:nvPr/>
        </p:nvSpPr>
        <p:spPr>
          <a:xfrm>
            <a:off x="9052560" y="3236976"/>
            <a:ext cx="0" cy="182880"/>
          </a:xfrm>
          <a:prstGeom prst="line">
            <a:avLst/>
          </a:prstGeom>
          <a:noFill/>
          <a:ln w="25400">
            <a:solidFill>
              <a:srgbClr val="8FA0B6"/>
            </a:solidFill>
            <a:prstDash val="solid"/>
            <a:tailEnd type="triangle"/>
          </a:ln>
        </p:spPr>
      </p:sp>
      <p:sp>
        <p:nvSpPr>
          <p:cNvPr id="18" name="Shape 16"/>
          <p:cNvSpPr/>
          <p:nvPr/>
        </p:nvSpPr>
        <p:spPr>
          <a:xfrm>
            <a:off x="8275320" y="3419856"/>
            <a:ext cx="1554480" cy="347472"/>
          </a:xfrm>
          <a:prstGeom prst="roundRect">
            <a:avLst>
              <a:gd name="adj" fmla="val 21053"/>
            </a:avLst>
          </a:prstGeom>
          <a:solidFill>
            <a:srgbClr val="2FA98C"/>
          </a:solidFill>
          <a:ln w="12700">
            <a:solidFill>
              <a:srgbClr val="333333"/>
            </a:solidFill>
            <a:prstDash val="solid"/>
          </a:ln>
        </p:spPr>
      </p:sp>
      <p:sp>
        <p:nvSpPr>
          <p:cNvPr id="19" name="Text 17"/>
          <p:cNvSpPr txBox="1"/>
          <p:nvPr/>
        </p:nvSpPr>
        <p:spPr>
          <a:xfrm>
            <a:off x="8275320" y="3419856"/>
            <a:ext cx="155448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body + update</a:t>
            </a:r>
            <a:endParaRPr lang="en-US" sz="950" dirty="0"/>
          </a:p>
        </p:txBody>
      </p:sp>
      <p:sp>
        <p:nvSpPr>
          <p:cNvPr id="20" name="Shape 18"/>
          <p:cNvSpPr/>
          <p:nvPr/>
        </p:nvSpPr>
        <p:spPr>
          <a:xfrm>
            <a:off x="8275320" y="3593592"/>
            <a:ext cx="-502920" cy="0"/>
          </a:xfrm>
          <a:prstGeom prst="line">
            <a:avLst/>
          </a:prstGeom>
          <a:noFill/>
          <a:ln w="25400">
            <a:solidFill>
              <a:srgbClr val="8FA0B6"/>
            </a:solidFill>
            <a:prstDash val="solid"/>
          </a:ln>
        </p:spPr>
      </p:sp>
      <p:sp>
        <p:nvSpPr>
          <p:cNvPr id="21" name="Shape 19"/>
          <p:cNvSpPr/>
          <p:nvPr/>
        </p:nvSpPr>
        <p:spPr>
          <a:xfrm>
            <a:off x="7772400" y="3593592"/>
            <a:ext cx="0" cy="-667512"/>
          </a:xfrm>
          <a:prstGeom prst="line">
            <a:avLst/>
          </a:prstGeom>
          <a:noFill/>
          <a:ln w="25400">
            <a:solidFill>
              <a:srgbClr val="8FA0B6"/>
            </a:solidFill>
            <a:prstDash val="solid"/>
          </a:ln>
        </p:spPr>
      </p:sp>
      <p:sp>
        <p:nvSpPr>
          <p:cNvPr id="22" name="Shape 20"/>
          <p:cNvSpPr/>
          <p:nvPr/>
        </p:nvSpPr>
        <p:spPr>
          <a:xfrm>
            <a:off x="7772400" y="2926080"/>
            <a:ext cx="411480" cy="0"/>
          </a:xfrm>
          <a:prstGeom prst="line">
            <a:avLst/>
          </a:prstGeom>
          <a:noFill/>
          <a:ln w="25400">
            <a:solidFill>
              <a:srgbClr val="8FA0B6"/>
            </a:solidFill>
            <a:prstDash val="solid"/>
            <a:tailEnd type="triangle"/>
          </a:ln>
        </p:spPr>
      </p:sp>
      <p:sp>
        <p:nvSpPr>
          <p:cNvPr id="23" name="Shape 21"/>
          <p:cNvSpPr/>
          <p:nvPr/>
        </p:nvSpPr>
        <p:spPr>
          <a:xfrm>
            <a:off x="9921240" y="2926080"/>
            <a:ext cx="685800" cy="0"/>
          </a:xfrm>
          <a:prstGeom prst="line">
            <a:avLst/>
          </a:prstGeom>
          <a:noFill/>
          <a:ln w="25400">
            <a:solidFill>
              <a:srgbClr val="8FA0B6"/>
            </a:solidFill>
            <a:prstDash val="solid"/>
            <a:tailEnd type="triangle"/>
          </a:ln>
        </p:spPr>
      </p:sp>
      <p:sp>
        <p:nvSpPr>
          <p:cNvPr id="24" name="Shape 22"/>
          <p:cNvSpPr/>
          <p:nvPr/>
        </p:nvSpPr>
        <p:spPr>
          <a:xfrm>
            <a:off x="10652760" y="2752344"/>
            <a:ext cx="822960" cy="347472"/>
          </a:xfrm>
          <a:prstGeom prst="roundRect">
            <a:avLst>
              <a:gd name="adj" fmla="val 21053"/>
            </a:avLst>
          </a:prstGeom>
          <a:solidFill>
            <a:srgbClr val="E8674C"/>
          </a:solidFill>
          <a:ln w="12700">
            <a:solidFill>
              <a:srgbClr val="333333"/>
            </a:solidFill>
            <a:prstDash val="solid"/>
          </a:ln>
        </p:spPr>
      </p:sp>
      <p:sp>
        <p:nvSpPr>
          <p:cNvPr id="25" name="Text 23"/>
          <p:cNvSpPr txBox="1"/>
          <p:nvPr/>
        </p:nvSpPr>
        <p:spPr>
          <a:xfrm>
            <a:off x="10652760" y="2752344"/>
            <a:ext cx="8229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exit</a:t>
            </a:r>
            <a:endParaRPr lang="en-US" sz="1000" dirty="0"/>
          </a:p>
        </p:txBody>
      </p:sp>
      <p:sp>
        <p:nvSpPr>
          <p:cNvPr id="26" name="Text 24"/>
          <p:cNvSpPr txBox="1"/>
          <p:nvPr/>
        </p:nvSpPr>
        <p:spPr>
          <a:xfrm>
            <a:off x="9098280" y="3200400"/>
            <a:ext cx="640080" cy="237744"/>
          </a:xfrm>
          <a:prstGeom prst="rect">
            <a:avLst/>
          </a:prstGeom>
          <a:noFill/>
          <a:ln/>
        </p:spPr>
        <p:txBody>
          <a:bodyPr wrap="square" lIns="0" tIns="0" rIns="0" bIns="0" rtlCol="0" anchor="ctr"/>
          <a:lstStyle/>
          <a:p>
            <a:pPr algn="ctr" indent="0" marL="0">
              <a:buNone/>
            </a:pPr>
            <a:r>
              <a:rPr lang="en-US" sz="1050" b="1" dirty="0">
                <a:solidFill>
                  <a:srgbClr val="2FA98C"/>
                </a:solidFill>
                <a:latin typeface="Calibri" pitchFamily="34" charset="0"/>
                <a:ea typeface="Calibri" pitchFamily="34" charset="-122"/>
                <a:cs typeface="Calibri" pitchFamily="34" charset="-120"/>
              </a:rPr>
              <a:t>True</a:t>
            </a:r>
            <a:endParaRPr lang="en-US" sz="1050" dirty="0"/>
          </a:p>
        </p:txBody>
      </p:sp>
      <p:sp>
        <p:nvSpPr>
          <p:cNvPr id="27" name="Text 25"/>
          <p:cNvSpPr txBox="1"/>
          <p:nvPr/>
        </p:nvSpPr>
        <p:spPr>
          <a:xfrm>
            <a:off x="9921240" y="2651760"/>
            <a:ext cx="685800" cy="237744"/>
          </a:xfrm>
          <a:prstGeom prst="rect">
            <a:avLst/>
          </a:prstGeom>
          <a:noFill/>
          <a:ln/>
        </p:spPr>
        <p:txBody>
          <a:bodyPr wrap="square" lIns="0" tIns="0" rIns="0" bIns="0" rtlCol="0" anchor="ctr"/>
          <a:lstStyle/>
          <a:p>
            <a:pPr algn="ctr" indent="0" marL="0">
              <a:buNone/>
            </a:pPr>
            <a:r>
              <a:rPr lang="en-US" sz="1050" b="1" dirty="0">
                <a:solidFill>
                  <a:srgbClr val="E8674C"/>
                </a:solidFill>
                <a:latin typeface="Calibri" pitchFamily="34" charset="0"/>
                <a:ea typeface="Calibri" pitchFamily="34" charset="-122"/>
                <a:cs typeface="Calibri" pitchFamily="34" charset="-120"/>
              </a:rPr>
              <a:t>False</a:t>
            </a:r>
            <a:endParaRPr lang="en-US" sz="1050" dirty="0"/>
          </a:p>
        </p:txBody>
      </p:sp>
      <p:sp>
        <p:nvSpPr>
          <p:cNvPr id="28" name="Text 26"/>
          <p:cNvSpPr txBox="1"/>
          <p:nvPr/>
        </p:nvSpPr>
        <p:spPr>
          <a:xfrm>
            <a:off x="6766560" y="3108960"/>
            <a:ext cx="914400" cy="237744"/>
          </a:xfrm>
          <a:prstGeom prst="rect">
            <a:avLst/>
          </a:prstGeom>
          <a:noFill/>
          <a:ln/>
        </p:spPr>
        <p:txBody>
          <a:bodyPr wrap="square" lIns="0" tIns="0" rIns="0" bIns="0" rtlCol="0" anchor="ctr"/>
          <a:lstStyle/>
          <a:p>
            <a:pPr algn="ctr" indent="0" marL="0">
              <a:buNone/>
            </a:pPr>
            <a:r>
              <a:rPr lang="en-US" sz="1000" i="1" dirty="0">
                <a:solidFill>
                  <a:srgbClr val="6B7789"/>
                </a:solidFill>
                <a:latin typeface="Calibri" pitchFamily="34" charset="0"/>
                <a:ea typeface="Calibri" pitchFamily="34" charset="-122"/>
                <a:cs typeface="Calibri" pitchFamily="34" charset="-120"/>
              </a:rPr>
              <a:t>loop back</a:t>
            </a:r>
            <a:endParaRPr lang="en-US" sz="1000" dirty="0"/>
          </a:p>
        </p:txBody>
      </p:sp>
      <p:sp>
        <p:nvSpPr>
          <p:cNvPr id="29" name="Shape 27"/>
          <p:cNvSpPr/>
          <p:nvPr/>
        </p:nvSpPr>
        <p:spPr>
          <a:xfrm>
            <a:off x="548640" y="4434840"/>
            <a:ext cx="11064240" cy="1417320"/>
          </a:xfrm>
          <a:prstGeom prst="roundRect">
            <a:avLst>
              <a:gd name="adj" fmla="val 5806"/>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Text 28"/>
          <p:cNvSpPr txBox="1"/>
          <p:nvPr/>
        </p:nvSpPr>
        <p:spPr>
          <a:xfrm>
            <a:off x="868680" y="4590288"/>
            <a:ext cx="5943600" cy="292608"/>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  The infinite loop — and how to stop one</a:t>
            </a:r>
            <a:endParaRPr lang="en-US" sz="1500" dirty="0"/>
          </a:p>
        </p:txBody>
      </p:sp>
      <p:sp>
        <p:nvSpPr>
          <p:cNvPr id="31" name="Shape 29"/>
          <p:cNvSpPr/>
          <p:nvPr/>
        </p:nvSpPr>
        <p:spPr>
          <a:xfrm>
            <a:off x="868680" y="4937760"/>
            <a:ext cx="5212080" cy="777240"/>
          </a:xfrm>
          <a:prstGeom prst="roundRect">
            <a:avLst>
              <a:gd name="adj" fmla="val 8235"/>
            </a:avLst>
          </a:prstGeom>
          <a:solidFill>
            <a:srgbClr val="1B2B45"/>
          </a:solidFill>
          <a:ln w="12700">
            <a:solidFill>
              <a:srgbClr val="1B2B45"/>
            </a:solidFill>
            <a:prstDash val="solid"/>
          </a:ln>
        </p:spPr>
      </p:sp>
      <p:sp>
        <p:nvSpPr>
          <p:cNvPr id="32" name="Text 30"/>
          <p:cNvSpPr txBox="1"/>
          <p:nvPr/>
        </p:nvSpPr>
        <p:spPr>
          <a:xfrm>
            <a:off x="1033272" y="5047488"/>
            <a:ext cx="4882896" cy="55778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count = 1</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while count &lt;= 5:</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print(count)      # count never changes -&gt; forever</a:t>
            </a:r>
            <a:endParaRPr lang="en-US" sz="1100" dirty="0"/>
          </a:p>
        </p:txBody>
      </p:sp>
      <p:sp>
        <p:nvSpPr>
          <p:cNvPr id="33" name="Text 31"/>
          <p:cNvSpPr txBox="1"/>
          <p:nvPr/>
        </p:nvSpPr>
        <p:spPr>
          <a:xfrm>
            <a:off x="6400800" y="4901184"/>
            <a:ext cx="4983480" cy="868680"/>
          </a:xfrm>
          <a:prstGeom prst="rect">
            <a:avLst/>
          </a:prstGeom>
          <a:noFill/>
          <a:ln/>
        </p:spPr>
        <p:txBody>
          <a:bodyPr wrap="square" lIns="0" tIns="0" rIns="0" bIns="0" rtlCol="0" anchor="ctr"/>
          <a:lstStyle/>
          <a:p>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In Colab: press the stop button on the running cell, or Runtime → Interrupt execution. Your notebook is not broken. Every programmer writes an infinite loop in their first week — the skill is recognising it within five seconds and stopping it.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3.2  ·  CHOOSING</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for or while? Ask one question</a:t>
            </a:r>
            <a:endParaRPr lang="en-US" sz="3200" dirty="0"/>
          </a:p>
        </p:txBody>
      </p:sp>
      <p:sp>
        <p:nvSpPr>
          <p:cNvPr id="5" name="Shape 3"/>
          <p:cNvSpPr/>
          <p:nvPr/>
        </p:nvSpPr>
        <p:spPr>
          <a:xfrm>
            <a:off x="548640" y="1572768"/>
            <a:ext cx="11064240" cy="1051560"/>
          </a:xfrm>
          <a:prstGeom prst="roundRect">
            <a:avLst>
              <a:gd name="adj" fmla="val 7826"/>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68680" y="1755648"/>
            <a:ext cx="10424160" cy="365760"/>
          </a:xfrm>
          <a:prstGeom prst="rect">
            <a:avLst/>
          </a:prstGeom>
          <a:noFill/>
          <a:ln/>
        </p:spPr>
        <p:txBody>
          <a:bodyPr wrap="square" lIns="0" tIns="0" rIns="0" bIns="0" rtlCol="0" anchor="ctr"/>
          <a:lstStyle/>
          <a:p>
            <a:pPr algn="ctr" indent="0" marL="0">
              <a:buNone/>
            </a:pPr>
            <a:r>
              <a:rPr lang="en-US" sz="2100" b="1" dirty="0">
                <a:solidFill>
                  <a:srgbClr val="8A5B00"/>
                </a:solidFill>
                <a:latin typeface="Cambria" pitchFamily="34" charset="0"/>
                <a:ea typeface="Cambria" pitchFamily="34" charset="-122"/>
                <a:cs typeface="Cambria" pitchFamily="34" charset="-120"/>
              </a:rPr>
              <a:t>“Do I know, before I start, how many times this should run?”</a:t>
            </a:r>
            <a:endParaRPr lang="en-US" sz="2100" dirty="0"/>
          </a:p>
        </p:txBody>
      </p:sp>
      <p:sp>
        <p:nvSpPr>
          <p:cNvPr id="7" name="Text 5"/>
          <p:cNvSpPr txBox="1"/>
          <p:nvPr/>
        </p:nvSpPr>
        <p:spPr>
          <a:xfrm>
            <a:off x="868680" y="2148840"/>
            <a:ext cx="10424160" cy="320040"/>
          </a:xfrm>
          <a:prstGeom prst="rect">
            <a:avLst/>
          </a:prstGeom>
          <a:noFill/>
          <a:ln/>
        </p:spPr>
        <p:txBody>
          <a:bodyPr wrap="square" lIns="0" tIns="0" rIns="0" bIns="0" rtlCol="0" anchor="ctr"/>
          <a:lstStyle/>
          <a:p>
            <a:pPr algn="ctr" indent="0" marL="0">
              <a:buNone/>
            </a:pPr>
            <a:r>
              <a:rPr lang="en-US" sz="1500" b="1" dirty="0">
                <a:solidFill>
                  <a:srgbClr val="6B4A0B"/>
                </a:solidFill>
                <a:latin typeface="Calibri" pitchFamily="34" charset="0"/>
                <a:ea typeface="Calibri" pitchFamily="34" charset="-122"/>
                <a:cs typeface="Calibri" pitchFamily="34" charset="-120"/>
              </a:rPr>
              <a:t>Yes → for loop         No → while loop</a:t>
            </a:r>
            <a:endParaRPr lang="en-US" sz="1500" dirty="0"/>
          </a:p>
        </p:txBody>
      </p:sp>
      <p:sp>
        <p:nvSpPr>
          <p:cNvPr id="8" name="Shape 6"/>
          <p:cNvSpPr/>
          <p:nvPr/>
        </p:nvSpPr>
        <p:spPr>
          <a:xfrm>
            <a:off x="548640" y="2788920"/>
            <a:ext cx="5486400" cy="2194560"/>
          </a:xfrm>
          <a:prstGeom prst="roundRect">
            <a:avLst>
              <a:gd name="adj" fmla="val 375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804672" y="2926080"/>
            <a:ext cx="493776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for  —  a known, finite collection</a:t>
            </a:r>
            <a:endParaRPr lang="en-US" sz="1500" dirty="0"/>
          </a:p>
        </p:txBody>
      </p:sp>
      <p:sp>
        <p:nvSpPr>
          <p:cNvPr id="10" name="Text 8"/>
          <p:cNvSpPr txBox="1"/>
          <p:nvPr/>
        </p:nvSpPr>
        <p:spPr>
          <a:xfrm>
            <a:off x="914400" y="3291840"/>
            <a:ext cx="4754880" cy="1600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B3445"/>
                </a:solidFill>
                <a:latin typeface="Calibri" pitchFamily="34" charset="0"/>
                <a:ea typeface="Calibri" pitchFamily="34" charset="-122"/>
                <a:cs typeface="Calibri" pitchFamily="34" charset="-120"/>
              </a:rPr>
              <a:t>Every row in a dataset</a:t>
            </a:r>
            <a:endParaRPr lang="en-US" sz="1300" dirty="0"/>
          </a:p>
          <a:p>
            <a:pPr marL="342900" indent="-342900">
              <a:spcAft>
                <a:spcPts val="800"/>
              </a:spcAft>
              <a:buSzPct val="100000"/>
              <a:buChar char="•"/>
            </a:pPr>
            <a:r>
              <a:rPr lang="en-US" sz="1300" dirty="0">
                <a:solidFill>
                  <a:srgbClr val="2B3445"/>
                </a:solidFill>
                <a:latin typeface="Calibri" pitchFamily="34" charset="0"/>
                <a:ea typeface="Calibri" pitchFamily="34" charset="-122"/>
                <a:cs typeface="Calibri" pitchFamily="34" charset="-120"/>
              </a:rPr>
              <a:t>Every character in a string</a:t>
            </a:r>
            <a:endParaRPr lang="en-US" sz="1300" dirty="0"/>
          </a:p>
          <a:p>
            <a:pPr marL="342900" indent="-342900">
              <a:spcAft>
                <a:spcPts val="800"/>
              </a:spcAft>
              <a:buSzPct val="100000"/>
              <a:buChar char="•"/>
            </a:pPr>
            <a:r>
              <a:rPr lang="en-US" sz="1300" dirty="0">
                <a:solidFill>
                  <a:srgbClr val="2B3445"/>
                </a:solidFill>
                <a:latin typeface="Calibri" pitchFamily="34" charset="0"/>
                <a:ea typeface="Calibri" pitchFamily="34" charset="-122"/>
                <a:cs typeface="Calibri" pitchFamily="34" charset="-120"/>
              </a:rPr>
              <a:t>Exactly 10 times  (range(10))</a:t>
            </a:r>
            <a:endParaRPr lang="en-US" sz="1300" dirty="0"/>
          </a:p>
          <a:p>
            <a:pPr marL="342900" indent="-342900">
              <a:spcAft>
                <a:spcPts val="800"/>
              </a:spcAft>
              <a:buSzPct val="100000"/>
              <a:buChar char="•"/>
            </a:pPr>
            <a:r>
              <a:rPr lang="en-US" sz="1300" dirty="0">
                <a:solidFill>
                  <a:srgbClr val="2B3445"/>
                </a:solidFill>
                <a:latin typeface="Calibri" pitchFamily="34" charset="0"/>
                <a:ea typeface="Calibri" pitchFamily="34" charset="-122"/>
                <a:cs typeface="Calibri" pitchFamily="34" charset="-120"/>
              </a:rPr>
              <a:t>Every file in a folder</a:t>
            </a:r>
            <a:endParaRPr lang="en-US" sz="1300" dirty="0"/>
          </a:p>
        </p:txBody>
      </p:sp>
      <p:sp>
        <p:nvSpPr>
          <p:cNvPr id="11" name="Shape 9"/>
          <p:cNvSpPr/>
          <p:nvPr/>
        </p:nvSpPr>
        <p:spPr>
          <a:xfrm>
            <a:off x="6309360" y="2788920"/>
            <a:ext cx="5303520" cy="2194560"/>
          </a:xfrm>
          <a:prstGeom prst="roundRect">
            <a:avLst>
              <a:gd name="adj" fmla="val 375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10"/>
          <p:cNvSpPr txBox="1"/>
          <p:nvPr/>
        </p:nvSpPr>
        <p:spPr>
          <a:xfrm>
            <a:off x="6565392" y="2926080"/>
            <a:ext cx="475488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while  —  until something changes</a:t>
            </a:r>
            <a:endParaRPr lang="en-US" sz="1500" dirty="0"/>
          </a:p>
        </p:txBody>
      </p:sp>
      <p:sp>
        <p:nvSpPr>
          <p:cNvPr id="13" name="Text 11"/>
          <p:cNvSpPr txBox="1"/>
          <p:nvPr/>
        </p:nvSpPr>
        <p:spPr>
          <a:xfrm>
            <a:off x="6675120" y="3291840"/>
            <a:ext cx="4572000" cy="1600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B3445"/>
                </a:solidFill>
                <a:latin typeface="Calibri" pitchFamily="34" charset="0"/>
                <a:ea typeface="Calibri" pitchFamily="34" charset="-122"/>
                <a:cs typeface="Calibri" pitchFamily="34" charset="-120"/>
              </a:rPr>
              <a:t>Until the user types valid input</a:t>
            </a:r>
            <a:endParaRPr lang="en-US" sz="1300" dirty="0"/>
          </a:p>
          <a:p>
            <a:pPr marL="342900" indent="-342900">
              <a:spcAft>
                <a:spcPts val="800"/>
              </a:spcAft>
              <a:buSzPct val="100000"/>
              <a:buChar char="•"/>
            </a:pPr>
            <a:r>
              <a:rPr lang="en-US" sz="1300" dirty="0">
                <a:solidFill>
                  <a:srgbClr val="2B3445"/>
                </a:solidFill>
                <a:latin typeface="Calibri" pitchFamily="34" charset="0"/>
                <a:ea typeface="Calibri" pitchFamily="34" charset="-122"/>
                <a:cs typeface="Calibri" pitchFamily="34" charset="-120"/>
              </a:rPr>
              <a:t>Until a game ends</a:t>
            </a:r>
            <a:endParaRPr lang="en-US" sz="1300" dirty="0"/>
          </a:p>
          <a:p>
            <a:pPr marL="342900" indent="-342900">
              <a:spcAft>
                <a:spcPts val="800"/>
              </a:spcAft>
              <a:buSzPct val="100000"/>
              <a:buChar char="•"/>
            </a:pPr>
            <a:r>
              <a:rPr lang="en-US" sz="1300" dirty="0">
                <a:solidFill>
                  <a:srgbClr val="2B3445"/>
                </a:solidFill>
                <a:latin typeface="Calibri" pitchFamily="34" charset="0"/>
                <a:ea typeface="Calibri" pitchFamily="34" charset="-122"/>
                <a:cs typeface="Calibri" pitchFamily="34" charset="-120"/>
              </a:rPr>
              <a:t>Until a value converges  (model training!)</a:t>
            </a:r>
            <a:endParaRPr lang="en-US" sz="1300" dirty="0"/>
          </a:p>
          <a:p>
            <a:pPr marL="342900" indent="-342900">
              <a:spcAft>
                <a:spcPts val="800"/>
              </a:spcAft>
              <a:buSzPct val="100000"/>
              <a:buChar char="•"/>
            </a:pPr>
            <a:r>
              <a:rPr lang="en-US" sz="1300" dirty="0">
                <a:solidFill>
                  <a:srgbClr val="2B3445"/>
                </a:solidFill>
                <a:latin typeface="Calibri" pitchFamily="34" charset="0"/>
                <a:ea typeface="Calibri" pitchFamily="34" charset="-122"/>
                <a:cs typeface="Calibri" pitchFamily="34" charset="-120"/>
              </a:rPr>
              <a:t>Until a server responds</a:t>
            </a:r>
            <a:endParaRPr lang="en-US" sz="1300" dirty="0"/>
          </a:p>
        </p:txBody>
      </p:sp>
      <p:sp>
        <p:nvSpPr>
          <p:cNvPr id="14" name="Shape 12"/>
          <p:cNvSpPr/>
          <p:nvPr/>
        </p:nvSpPr>
        <p:spPr>
          <a:xfrm>
            <a:off x="548640" y="5212080"/>
            <a:ext cx="11064240" cy="777240"/>
          </a:xfrm>
          <a:prstGeom prst="roundRect">
            <a:avLst>
              <a:gd name="adj" fmla="val 10588"/>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5" name="Text 13"/>
          <p:cNvSpPr txBox="1"/>
          <p:nvPr/>
        </p:nvSpPr>
        <p:spPr>
          <a:xfrm>
            <a:off x="868680" y="5376672"/>
            <a:ext cx="10424160" cy="457200"/>
          </a:xfrm>
          <a:prstGeom prst="rect">
            <a:avLst/>
          </a:prstGeom>
          <a:noFill/>
          <a:ln/>
        </p:spPr>
        <p:txBody>
          <a:bodyPr wrap="square" lIns="0" tIns="0" rIns="0" bIns="0" rtlCol="0" anchor="ctr"/>
          <a:lstStyle/>
          <a:p>
            <a:pPr indent="0" marL="0">
              <a:buNone/>
            </a:pPr>
            <a:r>
              <a:rPr lang="en-US" sz="1350" i="1" dirty="0">
                <a:solidFill>
                  <a:srgbClr val="1F3A5F"/>
                </a:solidFill>
                <a:latin typeface="Calibri" pitchFamily="34" charset="0"/>
                <a:ea typeface="Calibri" pitchFamily="34" charset="-122"/>
                <a:cs typeface="Calibri" pitchFamily="34" charset="-120"/>
              </a:rPr>
              <a:t>In practice you will write for loops perhaps nine times out of ten. Reach for while only when the stopping point genuinely depends on something you cannot count in advance.</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3.3  ·  IN PRACTICE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classic while loop: refusing to accept bad input</a:t>
            </a:r>
            <a:endParaRPr lang="en-US" sz="3200" dirty="0"/>
          </a:p>
        </p:txBody>
      </p:sp>
      <p:sp>
        <p:nvSpPr>
          <p:cNvPr id="5" name="Shape 3"/>
          <p:cNvSpPr/>
          <p:nvPr/>
        </p:nvSpPr>
        <p:spPr>
          <a:xfrm>
            <a:off x="548640" y="1572768"/>
            <a:ext cx="5760720" cy="3108960"/>
          </a:xfrm>
          <a:prstGeom prst="roundRect">
            <a:avLst>
              <a:gd name="adj" fmla="val 264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Keep asking until the answer is valid</a:t>
            </a:r>
            <a:endParaRPr lang="en-US" sz="1500" dirty="0"/>
          </a:p>
        </p:txBody>
      </p:sp>
      <p:sp>
        <p:nvSpPr>
          <p:cNvPr id="7" name="Shape 5"/>
          <p:cNvSpPr/>
          <p:nvPr/>
        </p:nvSpPr>
        <p:spPr>
          <a:xfrm>
            <a:off x="804672" y="2103120"/>
            <a:ext cx="5257800" cy="2423160"/>
          </a:xfrm>
          <a:prstGeom prst="roundRect">
            <a:avLst>
              <a:gd name="adj" fmla="val 2642"/>
            </a:avLst>
          </a:prstGeom>
          <a:solidFill>
            <a:srgbClr val="1B2B45"/>
          </a:solidFill>
          <a:ln w="12700">
            <a:solidFill>
              <a:srgbClr val="1B2B45"/>
            </a:solidFill>
            <a:prstDash val="solid"/>
          </a:ln>
        </p:spPr>
      </p:sp>
      <p:sp>
        <p:nvSpPr>
          <p:cNvPr id="8" name="Text 6"/>
          <p:cNvSpPr txBox="1"/>
          <p:nvPr/>
        </p:nvSpPr>
        <p:spPr>
          <a:xfrm>
            <a:off x="969264" y="2212848"/>
            <a:ext cx="4928616" cy="220370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marks = -1</a:t>
            </a:r>
            <a:endParaRPr lang="en-US" sz="1100" dirty="0"/>
          </a:p>
          <a:p>
            <a:pPr indent="0" marL="0">
              <a:lnSpc>
                <a:spcPct val="112000"/>
              </a:lnSpc>
              <a:buNone/>
            </a:pP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while marks &lt; 0 or marks &gt; 100:</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raw = input("Enter marks (0-100): ")</a:t>
            </a:r>
            <a:endParaRPr lang="en-US" sz="1100" dirty="0"/>
          </a:p>
          <a:p>
            <a:pPr indent="0" marL="0">
              <a:lnSpc>
                <a:spcPct val="112000"/>
              </a:lnSpc>
              <a:buNone/>
            </a:pP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if raw.isdigit():</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marks = int(raw)</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else:</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print("Digits only, please.")</a:t>
            </a:r>
            <a:endParaRPr lang="en-US" sz="1100" dirty="0"/>
          </a:p>
          <a:p>
            <a:pPr indent="0" marL="0">
              <a:lnSpc>
                <a:spcPct val="112000"/>
              </a:lnSpc>
              <a:buNone/>
            </a:pP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print(f"Recorded: {marks}")</a:t>
            </a:r>
            <a:endParaRPr lang="en-US" sz="1100" dirty="0"/>
          </a:p>
        </p:txBody>
      </p:sp>
      <p:sp>
        <p:nvSpPr>
          <p:cNvPr id="9" name="Shape 7"/>
          <p:cNvSpPr/>
          <p:nvPr/>
        </p:nvSpPr>
        <p:spPr>
          <a:xfrm>
            <a:off x="6583680" y="1572768"/>
            <a:ext cx="5029200" cy="3108960"/>
          </a:xfrm>
          <a:prstGeom prst="roundRect">
            <a:avLst>
              <a:gd name="adj" fmla="val 2647"/>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Why this shape works</a:t>
            </a:r>
            <a:endParaRPr lang="en-US" sz="1500" dirty="0"/>
          </a:p>
        </p:txBody>
      </p:sp>
      <p:sp>
        <p:nvSpPr>
          <p:cNvPr id="11" name="Text 9"/>
          <p:cNvSpPr txBox="1"/>
          <p:nvPr/>
        </p:nvSpPr>
        <p:spPr>
          <a:xfrm>
            <a:off x="6949440" y="2121408"/>
            <a:ext cx="4434840" cy="23774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B3445"/>
                </a:solidFill>
                <a:latin typeface="Calibri" pitchFamily="34" charset="0"/>
                <a:ea typeface="Calibri" pitchFamily="34" charset="-122"/>
                <a:cs typeface="Calibri" pitchFamily="34" charset="-120"/>
              </a:rPr>
              <a:t>marks starts at -1 so the condition is True on the first check — the loop always runs at least once</a:t>
            </a:r>
            <a:endParaRPr lang="en-US" sz="1250" dirty="0"/>
          </a:p>
          <a:p>
            <a:pPr marL="342900" indent="-342900">
              <a:spcAft>
                <a:spcPts val="800"/>
              </a:spcAft>
              <a:buSzPct val="100000"/>
              <a:buChar char="•"/>
            </a:pPr>
            <a:r>
              <a:rPr lang="en-US" sz="1250" dirty="0">
                <a:solidFill>
                  <a:srgbClr val="2B3445"/>
                </a:solidFill>
                <a:latin typeface="Calibri" pitchFamily="34" charset="0"/>
                <a:ea typeface="Calibri" pitchFamily="34" charset="-122"/>
                <a:cs typeface="Calibri" pitchFamily="34" charset="-120"/>
              </a:rPr>
              <a:t>The condition describes what is WRONG, so the loop continues while the input is bad</a:t>
            </a:r>
            <a:endParaRPr lang="en-US" sz="1250" dirty="0"/>
          </a:p>
          <a:p>
            <a:pPr marL="342900" indent="-342900">
              <a:spcAft>
                <a:spcPts val="800"/>
              </a:spcAft>
              <a:buSzPct val="100000"/>
              <a:buChar char="•"/>
            </a:pPr>
            <a:r>
              <a:rPr lang="en-US" sz="1250" dirty="0">
                <a:solidFill>
                  <a:srgbClr val="2B3445"/>
                </a:solidFill>
                <a:latin typeface="Calibri" pitchFamily="34" charset="0"/>
                <a:ea typeface="Calibri" pitchFamily="34" charset="-122"/>
                <a:cs typeface="Calibri" pitchFamily="34" charset="-120"/>
              </a:rPr>
              <a:t>isdigit() screens the text before int() sees it, so no ValueError</a:t>
            </a:r>
            <a:endParaRPr lang="en-US" sz="1250" dirty="0"/>
          </a:p>
          <a:p>
            <a:pPr marL="342900" indent="-342900">
              <a:spcAft>
                <a:spcPts val="800"/>
              </a:spcAft>
              <a:buSzPct val="100000"/>
              <a:buChar char="•"/>
            </a:pPr>
            <a:r>
              <a:rPr lang="en-US" sz="1250" dirty="0">
                <a:solidFill>
                  <a:srgbClr val="2B3445"/>
                </a:solidFill>
                <a:latin typeface="Calibri" pitchFamily="34" charset="0"/>
                <a:ea typeface="Calibri" pitchFamily="34" charset="-122"/>
                <a:cs typeface="Calibri" pitchFamily="34" charset="-120"/>
              </a:rPr>
              <a:t>It exits only when a genuinely valid number has been stored</a:t>
            </a:r>
            <a:endParaRPr lang="en-US" sz="1250" dirty="0"/>
          </a:p>
        </p:txBody>
      </p:sp>
      <p:sp>
        <p:nvSpPr>
          <p:cNvPr id="12" name="Shape 10"/>
          <p:cNvSpPr/>
          <p:nvPr/>
        </p:nvSpPr>
        <p:spPr>
          <a:xfrm>
            <a:off x="548640" y="4892040"/>
            <a:ext cx="11064240" cy="960120"/>
          </a:xfrm>
          <a:prstGeom prst="roundRect">
            <a:avLst>
              <a:gd name="adj" fmla="val 8571"/>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1"/>
          <p:cNvSpPr txBox="1"/>
          <p:nvPr/>
        </p:nvSpPr>
        <p:spPr>
          <a:xfrm>
            <a:off x="868680" y="5074920"/>
            <a:ext cx="10424160" cy="640080"/>
          </a:xfrm>
          <a:prstGeom prst="rect">
            <a:avLst/>
          </a:prstGeom>
          <a:noFill/>
          <a:ln/>
        </p:spPr>
        <p:txBody>
          <a:bodyPr wrap="square" lIns="0" tIns="0" rIns="0" bIns="0" rtlCol="0" anchor="ctr"/>
          <a:lstStyle/>
          <a:p>
            <a:pPr indent="0" marL="0">
              <a:lnSpc>
                <a:spcPct val="115000"/>
              </a:lnSpc>
              <a:buNone/>
            </a:pPr>
            <a:r>
              <a:rPr lang="en-US" sz="1350" b="1" dirty="0">
                <a:solidFill>
                  <a:srgbClr val="8A5B00"/>
                </a:solidFill>
                <a:latin typeface="Calibri" pitchFamily="34" charset="0"/>
                <a:ea typeface="Calibri" pitchFamily="34" charset="-122"/>
                <a:cs typeface="Calibri" pitchFamily="34" charset="-120"/>
              </a:rPr>
              <a:t>Yesterday's lesson, applied:  </a:t>
            </a:r>
            <a:pPr indent="0" marL="0">
              <a:lnSpc>
                <a:spcPct val="115000"/>
              </a:lnSpc>
              <a:buNone/>
            </a:pPr>
            <a:r>
              <a:rPr lang="en-US" sz="1350" dirty="0">
                <a:solidFill>
                  <a:srgbClr val="6B4A0B"/>
                </a:solidFill>
                <a:latin typeface="Calibri" pitchFamily="34" charset="0"/>
                <a:ea typeface="Calibri" pitchFamily="34" charset="-122"/>
                <a:cs typeface="Calibri" pitchFamily="34" charset="-120"/>
              </a:rPr>
              <a:t>input() hands you a string. Screen it, then cast it. This loop is the standard way to do both safely, and you will reuse it in almost every interactive program you write.</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4</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break · continue · pass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Changing a loop's path mid-flight  ·  15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break: leave early</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continue: skip one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pass: do nothing</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for / else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4.1  ·  REDIRECTING THE LOOP</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break and continue</a:t>
            </a:r>
            <a:endParaRPr lang="en-US" sz="3200" dirty="0"/>
          </a:p>
        </p:txBody>
      </p:sp>
      <p:sp>
        <p:nvSpPr>
          <p:cNvPr id="5" name="Shape 3"/>
          <p:cNvSpPr/>
          <p:nvPr/>
        </p:nvSpPr>
        <p:spPr>
          <a:xfrm>
            <a:off x="548640" y="1572768"/>
            <a:ext cx="5486400" cy="3063240"/>
          </a:xfrm>
          <a:prstGeom prst="roundRect">
            <a:avLst>
              <a:gd name="adj" fmla="val 2687"/>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break  —  leave the loop entirely, right now</a:t>
            </a:r>
            <a:endParaRPr lang="en-US" sz="1500" dirty="0"/>
          </a:p>
        </p:txBody>
      </p:sp>
      <p:sp>
        <p:nvSpPr>
          <p:cNvPr id="7" name="Shape 5"/>
          <p:cNvSpPr/>
          <p:nvPr/>
        </p:nvSpPr>
        <p:spPr>
          <a:xfrm>
            <a:off x="804672" y="2103120"/>
            <a:ext cx="4983480" cy="1051560"/>
          </a:xfrm>
          <a:prstGeom prst="roundRect">
            <a:avLst>
              <a:gd name="adj" fmla="val 6087"/>
            </a:avLst>
          </a:prstGeom>
          <a:solidFill>
            <a:srgbClr val="1B2B45"/>
          </a:solidFill>
          <a:ln w="12700">
            <a:solidFill>
              <a:srgbClr val="1B2B45"/>
            </a:solidFill>
            <a:prstDash val="solid"/>
          </a:ln>
        </p:spPr>
      </p:sp>
      <p:sp>
        <p:nvSpPr>
          <p:cNvPr id="8" name="Text 6"/>
          <p:cNvSpPr txBox="1"/>
          <p:nvPr/>
        </p:nvSpPr>
        <p:spPr>
          <a:xfrm>
            <a:off x="969264" y="2212848"/>
            <a:ext cx="4654296" cy="83210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for n in [1, 2, 3, 4, 5]:</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if n == 3:</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break</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print(n)          # prints 1, 2 then stops</a:t>
            </a:r>
            <a:endParaRPr lang="en-US" sz="1100" dirty="0"/>
          </a:p>
        </p:txBody>
      </p:sp>
      <p:sp>
        <p:nvSpPr>
          <p:cNvPr id="9" name="Shape 7"/>
          <p:cNvSpPr/>
          <p:nvPr/>
        </p:nvSpPr>
        <p:spPr>
          <a:xfrm>
            <a:off x="868680" y="3291840"/>
            <a:ext cx="731520" cy="457200"/>
          </a:xfrm>
          <a:prstGeom prst="roundRect">
            <a:avLst>
              <a:gd name="adj" fmla="val 12000"/>
            </a:avLst>
          </a:prstGeom>
          <a:solidFill>
            <a:srgbClr val="2FA98C"/>
          </a:solidFill>
          <a:ln w="12700">
            <a:solidFill>
              <a:srgbClr val="333333"/>
            </a:solidFill>
            <a:prstDash val="solid"/>
          </a:ln>
        </p:spPr>
      </p:sp>
      <p:sp>
        <p:nvSpPr>
          <p:cNvPr id="10" name="Text 8"/>
          <p:cNvSpPr txBox="1"/>
          <p:nvPr/>
        </p:nvSpPr>
        <p:spPr>
          <a:xfrm>
            <a:off x="868680" y="3291840"/>
            <a:ext cx="731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11" name="Shape 9"/>
          <p:cNvSpPr/>
          <p:nvPr/>
        </p:nvSpPr>
        <p:spPr>
          <a:xfrm>
            <a:off x="1737360" y="3291840"/>
            <a:ext cx="731520" cy="457200"/>
          </a:xfrm>
          <a:prstGeom prst="roundRect">
            <a:avLst>
              <a:gd name="adj" fmla="val 12000"/>
            </a:avLst>
          </a:prstGeom>
          <a:solidFill>
            <a:srgbClr val="2FA98C"/>
          </a:solidFill>
          <a:ln w="12700">
            <a:solidFill>
              <a:srgbClr val="333333"/>
            </a:solidFill>
            <a:prstDash val="solid"/>
          </a:ln>
        </p:spPr>
      </p:sp>
      <p:sp>
        <p:nvSpPr>
          <p:cNvPr id="12" name="Text 10"/>
          <p:cNvSpPr txBox="1"/>
          <p:nvPr/>
        </p:nvSpPr>
        <p:spPr>
          <a:xfrm>
            <a:off x="1737360" y="3291840"/>
            <a:ext cx="731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3" name="Shape 11"/>
          <p:cNvSpPr/>
          <p:nvPr/>
        </p:nvSpPr>
        <p:spPr>
          <a:xfrm>
            <a:off x="2606040" y="3291840"/>
            <a:ext cx="731520" cy="457200"/>
          </a:xfrm>
          <a:prstGeom prst="roundRect">
            <a:avLst>
              <a:gd name="adj" fmla="val 12000"/>
            </a:avLst>
          </a:prstGeom>
          <a:solidFill>
            <a:srgbClr val="E8674C"/>
          </a:solidFill>
          <a:ln w="12700">
            <a:solidFill>
              <a:srgbClr val="333333"/>
            </a:solidFill>
            <a:prstDash val="solid"/>
          </a:ln>
        </p:spPr>
      </p:sp>
      <p:sp>
        <p:nvSpPr>
          <p:cNvPr id="14" name="Text 12"/>
          <p:cNvSpPr txBox="1"/>
          <p:nvPr/>
        </p:nvSpPr>
        <p:spPr>
          <a:xfrm>
            <a:off x="2606040" y="3291840"/>
            <a:ext cx="731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15" name="Shape 13"/>
          <p:cNvSpPr/>
          <p:nvPr/>
        </p:nvSpPr>
        <p:spPr>
          <a:xfrm>
            <a:off x="3474720" y="3291840"/>
            <a:ext cx="731520" cy="457200"/>
          </a:xfrm>
          <a:prstGeom prst="roundRect">
            <a:avLst>
              <a:gd name="adj" fmla="val 12000"/>
            </a:avLst>
          </a:prstGeom>
          <a:solidFill>
            <a:srgbClr val="D8DEE8"/>
          </a:solidFill>
          <a:ln w="12700">
            <a:solidFill>
              <a:srgbClr val="333333"/>
            </a:solidFill>
            <a:prstDash val="solid"/>
          </a:ln>
        </p:spPr>
      </p:sp>
      <p:sp>
        <p:nvSpPr>
          <p:cNvPr id="16" name="Text 14"/>
          <p:cNvSpPr txBox="1"/>
          <p:nvPr/>
        </p:nvSpPr>
        <p:spPr>
          <a:xfrm>
            <a:off x="3474720" y="3291840"/>
            <a:ext cx="731520" cy="457200"/>
          </a:xfrm>
          <a:prstGeom prst="rect">
            <a:avLst/>
          </a:prstGeom>
          <a:noFill/>
          <a:ln/>
        </p:spPr>
        <p:txBody>
          <a:bodyPr wrap="square" lIns="0" tIns="0" rIns="0" bIns="0" rtlCol="0" anchor="ctr"/>
          <a:lstStyle/>
          <a:p>
            <a:pPr algn="ctr" indent="0" marL="0">
              <a:buNone/>
            </a:pPr>
            <a:r>
              <a:rPr lang="en-US" sz="1400" b="1" dirty="0">
                <a:solidFill>
                  <a:srgbClr val="8895A8"/>
                </a:solidFill>
                <a:latin typeface="Courier New" pitchFamily="34" charset="0"/>
                <a:ea typeface="Courier New" pitchFamily="34" charset="-122"/>
                <a:cs typeface="Courier New" pitchFamily="34" charset="-120"/>
              </a:rPr>
              <a:t>4</a:t>
            </a:r>
            <a:endParaRPr lang="en-US" sz="1400" dirty="0"/>
          </a:p>
        </p:txBody>
      </p:sp>
      <p:sp>
        <p:nvSpPr>
          <p:cNvPr id="17" name="Shape 15"/>
          <p:cNvSpPr/>
          <p:nvPr/>
        </p:nvSpPr>
        <p:spPr>
          <a:xfrm>
            <a:off x="4343400" y="3291840"/>
            <a:ext cx="731520" cy="457200"/>
          </a:xfrm>
          <a:prstGeom prst="roundRect">
            <a:avLst>
              <a:gd name="adj" fmla="val 12000"/>
            </a:avLst>
          </a:prstGeom>
          <a:solidFill>
            <a:srgbClr val="D8DEE8"/>
          </a:solidFill>
          <a:ln w="12700">
            <a:solidFill>
              <a:srgbClr val="333333"/>
            </a:solidFill>
            <a:prstDash val="solid"/>
          </a:ln>
        </p:spPr>
      </p:sp>
      <p:sp>
        <p:nvSpPr>
          <p:cNvPr id="18" name="Text 16"/>
          <p:cNvSpPr txBox="1"/>
          <p:nvPr/>
        </p:nvSpPr>
        <p:spPr>
          <a:xfrm>
            <a:off x="4343400" y="3291840"/>
            <a:ext cx="731520" cy="457200"/>
          </a:xfrm>
          <a:prstGeom prst="rect">
            <a:avLst/>
          </a:prstGeom>
          <a:noFill/>
          <a:ln/>
        </p:spPr>
        <p:txBody>
          <a:bodyPr wrap="square" lIns="0" tIns="0" rIns="0" bIns="0" rtlCol="0" anchor="ctr"/>
          <a:lstStyle/>
          <a:p>
            <a:pPr algn="ctr" indent="0" marL="0">
              <a:buNone/>
            </a:pPr>
            <a:r>
              <a:rPr lang="en-US" sz="1400" b="1" dirty="0">
                <a:solidFill>
                  <a:srgbClr val="8895A8"/>
                </a:solidFill>
                <a:latin typeface="Courier New" pitchFamily="34" charset="0"/>
                <a:ea typeface="Courier New" pitchFamily="34" charset="-122"/>
                <a:cs typeface="Courier New" pitchFamily="34" charset="-120"/>
              </a:rPr>
              <a:t>5</a:t>
            </a:r>
            <a:endParaRPr lang="en-US" sz="1400" dirty="0"/>
          </a:p>
        </p:txBody>
      </p:sp>
      <p:sp>
        <p:nvSpPr>
          <p:cNvPr id="19" name="Text 17"/>
          <p:cNvSpPr txBox="1"/>
          <p:nvPr/>
        </p:nvSpPr>
        <p:spPr>
          <a:xfrm>
            <a:off x="868680" y="3803904"/>
            <a:ext cx="4846320" cy="256032"/>
          </a:xfrm>
          <a:prstGeom prst="rect">
            <a:avLst/>
          </a:prstGeom>
          <a:noFill/>
          <a:ln/>
        </p:spPr>
        <p:txBody>
          <a:bodyPr wrap="square" lIns="0" tIns="0" rIns="0" bIns="0" rtlCol="0" anchor="ctr"/>
          <a:lstStyle/>
          <a:p>
            <a:pPr indent="0" marL="0">
              <a:buNone/>
            </a:pPr>
            <a:r>
              <a:rPr lang="en-US" sz="1050" b="1" dirty="0">
                <a:solidFill>
                  <a:srgbClr val="6B7789"/>
                </a:solidFill>
                <a:latin typeface="Calibri" pitchFamily="34" charset="0"/>
                <a:ea typeface="Calibri" pitchFamily="34" charset="-122"/>
                <a:cs typeface="Calibri" pitchFamily="34" charset="-120"/>
              </a:rPr>
              <a:t>printed          break          never reached</a:t>
            </a:r>
            <a:endParaRPr lang="en-US" sz="1050" dirty="0"/>
          </a:p>
        </p:txBody>
      </p:sp>
      <p:sp>
        <p:nvSpPr>
          <p:cNvPr id="20" name="Text 18"/>
          <p:cNvSpPr txBox="1"/>
          <p:nvPr/>
        </p:nvSpPr>
        <p:spPr>
          <a:xfrm>
            <a:off x="804672" y="4114800"/>
            <a:ext cx="4983480" cy="411480"/>
          </a:xfrm>
          <a:prstGeom prst="rect">
            <a:avLst/>
          </a:prstGeom>
          <a:noFill/>
          <a:ln/>
        </p:spPr>
        <p:txBody>
          <a:bodyPr wrap="square" lIns="0" tIns="0" rIns="0" bIns="0" rtlCol="0" anchor="ctr"/>
          <a:lstStyle/>
          <a:p>
            <a:pPr indent="0" marL="0">
              <a:buNone/>
            </a:pPr>
            <a:r>
              <a:rPr lang="en-US" sz="1250" dirty="0">
                <a:solidFill>
                  <a:srgbClr val="6B4A0B"/>
                </a:solidFill>
                <a:latin typeface="Calibri" pitchFamily="34" charset="0"/>
                <a:ea typeface="Calibri" pitchFamily="34" charset="-122"/>
                <a:cs typeface="Calibri" pitchFamily="34" charset="-120"/>
              </a:rPr>
              <a:t>Use it when you have found what you were searching for — there is no point checking the rest.</a:t>
            </a:r>
            <a:endParaRPr lang="en-US" sz="1250" dirty="0"/>
          </a:p>
        </p:txBody>
      </p:sp>
      <p:sp>
        <p:nvSpPr>
          <p:cNvPr id="21" name="Shape 19"/>
          <p:cNvSpPr/>
          <p:nvPr/>
        </p:nvSpPr>
        <p:spPr>
          <a:xfrm>
            <a:off x="6309360" y="1572768"/>
            <a:ext cx="5303520" cy="3063240"/>
          </a:xfrm>
          <a:prstGeom prst="roundRect">
            <a:avLst>
              <a:gd name="adj" fmla="val 2687"/>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2" name="Text 20"/>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continue  —  skip this item, carry on</a:t>
            </a:r>
            <a:endParaRPr lang="en-US" sz="1500" dirty="0"/>
          </a:p>
        </p:txBody>
      </p:sp>
      <p:sp>
        <p:nvSpPr>
          <p:cNvPr id="23" name="Shape 21"/>
          <p:cNvSpPr/>
          <p:nvPr/>
        </p:nvSpPr>
        <p:spPr>
          <a:xfrm>
            <a:off x="6565392" y="2103120"/>
            <a:ext cx="4800600" cy="1051560"/>
          </a:xfrm>
          <a:prstGeom prst="roundRect">
            <a:avLst>
              <a:gd name="adj" fmla="val 6087"/>
            </a:avLst>
          </a:prstGeom>
          <a:solidFill>
            <a:srgbClr val="1B2B45"/>
          </a:solidFill>
          <a:ln w="12700">
            <a:solidFill>
              <a:srgbClr val="1B2B45"/>
            </a:solidFill>
            <a:prstDash val="solid"/>
          </a:ln>
        </p:spPr>
      </p:sp>
      <p:sp>
        <p:nvSpPr>
          <p:cNvPr id="24" name="Text 22"/>
          <p:cNvSpPr txBox="1"/>
          <p:nvPr/>
        </p:nvSpPr>
        <p:spPr>
          <a:xfrm>
            <a:off x="6729984" y="2212848"/>
            <a:ext cx="4471416" cy="83210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for n in [1, 2, 3, 4, 5]:</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if n == 3:</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continue</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print(n)          # prints 1, 2, 4, 5</a:t>
            </a:r>
            <a:endParaRPr lang="en-US" sz="1100" dirty="0"/>
          </a:p>
        </p:txBody>
      </p:sp>
      <p:sp>
        <p:nvSpPr>
          <p:cNvPr id="25" name="Shape 23"/>
          <p:cNvSpPr/>
          <p:nvPr/>
        </p:nvSpPr>
        <p:spPr>
          <a:xfrm>
            <a:off x="6629400" y="3291840"/>
            <a:ext cx="731520" cy="457200"/>
          </a:xfrm>
          <a:prstGeom prst="roundRect">
            <a:avLst>
              <a:gd name="adj" fmla="val 12000"/>
            </a:avLst>
          </a:prstGeom>
          <a:solidFill>
            <a:srgbClr val="2FA98C"/>
          </a:solidFill>
          <a:ln w="12700">
            <a:solidFill>
              <a:srgbClr val="333333"/>
            </a:solidFill>
            <a:prstDash val="solid"/>
          </a:ln>
        </p:spPr>
      </p:sp>
      <p:sp>
        <p:nvSpPr>
          <p:cNvPr id="26" name="Text 24"/>
          <p:cNvSpPr txBox="1"/>
          <p:nvPr/>
        </p:nvSpPr>
        <p:spPr>
          <a:xfrm>
            <a:off x="6629400" y="3291840"/>
            <a:ext cx="731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27" name="Shape 25"/>
          <p:cNvSpPr/>
          <p:nvPr/>
        </p:nvSpPr>
        <p:spPr>
          <a:xfrm>
            <a:off x="7498080" y="3291840"/>
            <a:ext cx="731520" cy="457200"/>
          </a:xfrm>
          <a:prstGeom prst="roundRect">
            <a:avLst>
              <a:gd name="adj" fmla="val 12000"/>
            </a:avLst>
          </a:prstGeom>
          <a:solidFill>
            <a:srgbClr val="2FA98C"/>
          </a:solidFill>
          <a:ln w="12700">
            <a:solidFill>
              <a:srgbClr val="333333"/>
            </a:solidFill>
            <a:prstDash val="solid"/>
          </a:ln>
        </p:spPr>
      </p:sp>
      <p:sp>
        <p:nvSpPr>
          <p:cNvPr id="28" name="Text 26"/>
          <p:cNvSpPr txBox="1"/>
          <p:nvPr/>
        </p:nvSpPr>
        <p:spPr>
          <a:xfrm>
            <a:off x="7498080" y="3291840"/>
            <a:ext cx="731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29" name="Shape 27"/>
          <p:cNvSpPr/>
          <p:nvPr/>
        </p:nvSpPr>
        <p:spPr>
          <a:xfrm>
            <a:off x="8366760" y="3291840"/>
            <a:ext cx="731520" cy="457200"/>
          </a:xfrm>
          <a:prstGeom prst="roundRect">
            <a:avLst>
              <a:gd name="adj" fmla="val 12000"/>
            </a:avLst>
          </a:prstGeom>
          <a:solidFill>
            <a:srgbClr val="D8DEE8"/>
          </a:solidFill>
          <a:ln w="12700">
            <a:solidFill>
              <a:srgbClr val="333333"/>
            </a:solidFill>
            <a:prstDash val="solid"/>
          </a:ln>
        </p:spPr>
      </p:sp>
      <p:sp>
        <p:nvSpPr>
          <p:cNvPr id="30" name="Text 28"/>
          <p:cNvSpPr txBox="1"/>
          <p:nvPr/>
        </p:nvSpPr>
        <p:spPr>
          <a:xfrm>
            <a:off x="8366760" y="3291840"/>
            <a:ext cx="731520" cy="457200"/>
          </a:xfrm>
          <a:prstGeom prst="rect">
            <a:avLst/>
          </a:prstGeom>
          <a:noFill/>
          <a:ln/>
        </p:spPr>
        <p:txBody>
          <a:bodyPr wrap="square" lIns="0" tIns="0" rIns="0" bIns="0" rtlCol="0" anchor="ctr"/>
          <a:lstStyle/>
          <a:p>
            <a:pPr algn="ctr" indent="0" marL="0">
              <a:buNone/>
            </a:pPr>
            <a:r>
              <a:rPr lang="en-US" sz="1400" b="1" dirty="0">
                <a:solidFill>
                  <a:srgbClr val="8895A8"/>
                </a:solidFill>
                <a:latin typeface="Courier New" pitchFamily="34" charset="0"/>
                <a:ea typeface="Courier New" pitchFamily="34" charset="-122"/>
                <a:cs typeface="Courier New" pitchFamily="34" charset="-120"/>
              </a:rPr>
              <a:t>3</a:t>
            </a:r>
            <a:endParaRPr lang="en-US" sz="1400" dirty="0"/>
          </a:p>
        </p:txBody>
      </p:sp>
      <p:sp>
        <p:nvSpPr>
          <p:cNvPr id="31" name="Shape 29"/>
          <p:cNvSpPr/>
          <p:nvPr/>
        </p:nvSpPr>
        <p:spPr>
          <a:xfrm>
            <a:off x="9235440" y="3291840"/>
            <a:ext cx="731520" cy="457200"/>
          </a:xfrm>
          <a:prstGeom prst="roundRect">
            <a:avLst>
              <a:gd name="adj" fmla="val 12000"/>
            </a:avLst>
          </a:prstGeom>
          <a:solidFill>
            <a:srgbClr val="2FA98C"/>
          </a:solidFill>
          <a:ln w="12700">
            <a:solidFill>
              <a:srgbClr val="333333"/>
            </a:solidFill>
            <a:prstDash val="solid"/>
          </a:ln>
        </p:spPr>
      </p:sp>
      <p:sp>
        <p:nvSpPr>
          <p:cNvPr id="32" name="Text 30"/>
          <p:cNvSpPr txBox="1"/>
          <p:nvPr/>
        </p:nvSpPr>
        <p:spPr>
          <a:xfrm>
            <a:off x="9235440" y="3291840"/>
            <a:ext cx="731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33" name="Shape 31"/>
          <p:cNvSpPr/>
          <p:nvPr/>
        </p:nvSpPr>
        <p:spPr>
          <a:xfrm>
            <a:off x="10104120" y="3291840"/>
            <a:ext cx="731520" cy="457200"/>
          </a:xfrm>
          <a:prstGeom prst="roundRect">
            <a:avLst>
              <a:gd name="adj" fmla="val 12000"/>
            </a:avLst>
          </a:prstGeom>
          <a:solidFill>
            <a:srgbClr val="2FA98C"/>
          </a:solidFill>
          <a:ln w="12700">
            <a:solidFill>
              <a:srgbClr val="333333"/>
            </a:solidFill>
            <a:prstDash val="solid"/>
          </a:ln>
        </p:spPr>
      </p:sp>
      <p:sp>
        <p:nvSpPr>
          <p:cNvPr id="34" name="Text 32"/>
          <p:cNvSpPr txBox="1"/>
          <p:nvPr/>
        </p:nvSpPr>
        <p:spPr>
          <a:xfrm>
            <a:off x="10104120" y="3291840"/>
            <a:ext cx="731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5</a:t>
            </a:r>
            <a:endParaRPr lang="en-US" sz="1400" dirty="0"/>
          </a:p>
        </p:txBody>
      </p:sp>
      <p:sp>
        <p:nvSpPr>
          <p:cNvPr id="35" name="Text 33"/>
          <p:cNvSpPr txBox="1"/>
          <p:nvPr/>
        </p:nvSpPr>
        <p:spPr>
          <a:xfrm>
            <a:off x="6629400" y="3803904"/>
            <a:ext cx="4663440" cy="256032"/>
          </a:xfrm>
          <a:prstGeom prst="rect">
            <a:avLst/>
          </a:prstGeom>
          <a:noFill/>
          <a:ln/>
        </p:spPr>
        <p:txBody>
          <a:bodyPr wrap="square" lIns="0" tIns="0" rIns="0" bIns="0" rtlCol="0" anchor="ctr"/>
          <a:lstStyle/>
          <a:p>
            <a:pPr indent="0" marL="0">
              <a:buNone/>
            </a:pPr>
            <a:r>
              <a:rPr lang="en-US" sz="1050" b="1" dirty="0">
                <a:solidFill>
                  <a:srgbClr val="6B7789"/>
                </a:solidFill>
                <a:latin typeface="Calibri" pitchFamily="34" charset="0"/>
                <a:ea typeface="Calibri" pitchFamily="34" charset="-122"/>
                <a:cs typeface="Calibri" pitchFamily="34" charset="-120"/>
              </a:rPr>
              <a:t>printed        skipped        printed</a:t>
            </a:r>
            <a:endParaRPr lang="en-US" sz="1050" dirty="0"/>
          </a:p>
        </p:txBody>
      </p:sp>
      <p:sp>
        <p:nvSpPr>
          <p:cNvPr id="36" name="Text 34"/>
          <p:cNvSpPr txBox="1"/>
          <p:nvPr/>
        </p:nvSpPr>
        <p:spPr>
          <a:xfrm>
            <a:off x="6565392" y="4114800"/>
            <a:ext cx="4800600" cy="411480"/>
          </a:xfrm>
          <a:prstGeom prst="rect">
            <a:avLst/>
          </a:prstGeom>
          <a:noFill/>
          <a:ln/>
        </p:spPr>
        <p:txBody>
          <a:bodyPr wrap="square" lIns="0" tIns="0" rIns="0" bIns="0" rtlCol="0" anchor="ctr"/>
          <a:lstStyle/>
          <a:p>
            <a:pPr indent="0" marL="0">
              <a:buNone/>
            </a:pPr>
            <a:r>
              <a:rPr lang="en-US" sz="1250" dirty="0">
                <a:solidFill>
                  <a:srgbClr val="1C6F5C"/>
                </a:solidFill>
                <a:latin typeface="Calibri" pitchFamily="34" charset="0"/>
                <a:ea typeface="Calibri" pitchFamily="34" charset="-122"/>
                <a:cs typeface="Calibri" pitchFamily="34" charset="-120"/>
              </a:rPr>
              <a:t>Use it to filter out items you do not care about, keeping the loop body clean.</a:t>
            </a:r>
            <a:endParaRPr lang="en-US" sz="1250" dirty="0"/>
          </a:p>
        </p:txBody>
      </p:sp>
      <p:sp>
        <p:nvSpPr>
          <p:cNvPr id="37" name="Shape 35"/>
          <p:cNvSpPr/>
          <p:nvPr/>
        </p:nvSpPr>
        <p:spPr>
          <a:xfrm>
            <a:off x="548640" y="4892040"/>
            <a:ext cx="11064240" cy="960120"/>
          </a:xfrm>
          <a:prstGeom prst="roundRect">
            <a:avLst>
              <a:gd name="adj" fmla="val 8571"/>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8" name="Text 36"/>
          <p:cNvSpPr txBox="1"/>
          <p:nvPr/>
        </p:nvSpPr>
        <p:spPr>
          <a:xfrm>
            <a:off x="868680" y="5074920"/>
            <a:ext cx="10424160" cy="640080"/>
          </a:xfrm>
          <a:prstGeom prst="rect">
            <a:avLst/>
          </a:prstGeom>
          <a:noFill/>
          <a:ln/>
        </p:spPr>
        <p:txBody>
          <a:bodyPr wrap="square" lIns="0" tIns="0" rIns="0" bIns="0" rtlCol="0" anchor="ctr"/>
          <a:lstStyle/>
          <a:p>
            <a:pPr indent="0" marL="0">
              <a:lnSpc>
                <a:spcPct val="115000"/>
              </a:lnSpc>
              <a:buNone/>
            </a:pPr>
            <a:r>
              <a:rPr lang="en-US" sz="1350" dirty="0">
                <a:solidFill>
                  <a:srgbClr val="2B3445"/>
                </a:solidFill>
                <a:latin typeface="Calibri" pitchFamily="34" charset="0"/>
                <a:ea typeface="Calibri" pitchFamily="34" charset="-122"/>
                <a:cs typeface="Calibri" pitchFamily="34" charset="-120"/>
              </a:rPr>
              <a:t>In nested loops,  </a:t>
            </a:r>
            <a:pPr indent="0" marL="0">
              <a:lnSpc>
                <a:spcPct val="115000"/>
              </a:lnSpc>
              <a:buNone/>
            </a:pPr>
            <a:r>
              <a:rPr lang="en-US" sz="1350" b="1" dirty="0">
                <a:solidFill>
                  <a:srgbClr val="1F3A5F"/>
                </a:solidFill>
                <a:latin typeface="Courier New" pitchFamily="34" charset="0"/>
                <a:ea typeface="Courier New" pitchFamily="34" charset="-122"/>
                <a:cs typeface="Courier New" pitchFamily="34" charset="-120"/>
              </a:rPr>
              <a:t>break</a:t>
            </a:r>
            <a:pPr indent="0" marL="0">
              <a:lnSpc>
                <a:spcPct val="115000"/>
              </a:lnSpc>
              <a:buNone/>
            </a:pPr>
            <a:r>
              <a:rPr lang="en-US" sz="1350" dirty="0">
                <a:solidFill>
                  <a:srgbClr val="2B3445"/>
                </a:solidFill>
                <a:latin typeface="Calibri" pitchFamily="34" charset="0"/>
                <a:ea typeface="Calibri" pitchFamily="34" charset="-122"/>
                <a:cs typeface="Calibri" pitchFamily="34" charset="-120"/>
              </a:rPr>
              <a:t>  and  </a:t>
            </a:r>
            <a:pPr indent="0" marL="0">
              <a:lnSpc>
                <a:spcPct val="115000"/>
              </a:lnSpc>
              <a:buNone/>
            </a:pPr>
            <a:r>
              <a:rPr lang="en-US" sz="1350" b="1" dirty="0">
                <a:solidFill>
                  <a:srgbClr val="1F3A5F"/>
                </a:solidFill>
                <a:latin typeface="Courier New" pitchFamily="34" charset="0"/>
                <a:ea typeface="Courier New" pitchFamily="34" charset="-122"/>
                <a:cs typeface="Courier New" pitchFamily="34" charset="-120"/>
              </a:rPr>
              <a:t>continue</a:t>
            </a:r>
            <a:pPr indent="0" marL="0">
              <a:lnSpc>
                <a:spcPct val="115000"/>
              </a:lnSpc>
              <a:buNone/>
            </a:pPr>
            <a:r>
              <a:rPr lang="en-US" sz="1350" dirty="0">
                <a:solidFill>
                  <a:srgbClr val="2B3445"/>
                </a:solidFill>
                <a:latin typeface="Calibri" pitchFamily="34" charset="0"/>
                <a:ea typeface="Calibri" pitchFamily="34" charset="-122"/>
                <a:cs typeface="Calibri" pitchFamily="34" charset="-120"/>
              </a:rPr>
              <a:t>  affect only the INNERMOST loop they sit in. Breaking out of both requires a flag variable or wrapping the work in a function and using  </a:t>
            </a:r>
            <a:pPr indent="0" marL="0">
              <a:lnSpc>
                <a:spcPct val="115000"/>
              </a:lnSpc>
              <a:buNone/>
            </a:pPr>
            <a:r>
              <a:rPr lang="en-US" sz="1350" b="1" dirty="0">
                <a:solidFill>
                  <a:srgbClr val="1F3A5F"/>
                </a:solidFill>
                <a:latin typeface="Courier New" pitchFamily="34" charset="0"/>
                <a:ea typeface="Courier New" pitchFamily="34" charset="-122"/>
                <a:cs typeface="Courier New" pitchFamily="34" charset="-120"/>
              </a:rPr>
              <a:t>return</a:t>
            </a:r>
            <a:pPr indent="0" marL="0">
              <a:lnSpc>
                <a:spcPct val="115000"/>
              </a:lnSpc>
              <a:buNone/>
            </a:pPr>
            <a:r>
              <a:rPr lang="en-US" sz="1350" dirty="0">
                <a:solidFill>
                  <a:srgbClr val="2B3445"/>
                </a:solidFill>
                <a:latin typeface="Calibri" pitchFamily="34" charset="0"/>
                <a:ea typeface="Calibri" pitchFamily="34" charset="-122"/>
                <a:cs typeface="Calibri" pitchFamily="34" charset="-120"/>
              </a:rPr>
              <a:t>  — which we meet in Topic 1.3.</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4.2  ·  TWO MORE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pass, and the for / else nobody expects</a:t>
            </a:r>
            <a:endParaRPr lang="en-US" sz="3200" dirty="0"/>
          </a:p>
        </p:txBody>
      </p:sp>
      <p:sp>
        <p:nvSpPr>
          <p:cNvPr id="5" name="Shape 3"/>
          <p:cNvSpPr/>
          <p:nvPr/>
        </p:nvSpPr>
        <p:spPr>
          <a:xfrm>
            <a:off x="548640" y="1572768"/>
            <a:ext cx="5486400" cy="2468880"/>
          </a:xfrm>
          <a:prstGeom prst="roundRect">
            <a:avLst>
              <a:gd name="adj" fmla="val 333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pass  —  a block that does nothing</a:t>
            </a:r>
            <a:endParaRPr lang="en-US" sz="1500" dirty="0"/>
          </a:p>
        </p:txBody>
      </p:sp>
      <p:sp>
        <p:nvSpPr>
          <p:cNvPr id="7" name="Shape 5"/>
          <p:cNvSpPr/>
          <p:nvPr/>
        </p:nvSpPr>
        <p:spPr>
          <a:xfrm>
            <a:off x="804672" y="2103120"/>
            <a:ext cx="4983480" cy="960120"/>
          </a:xfrm>
          <a:prstGeom prst="roundRect">
            <a:avLst>
              <a:gd name="adj" fmla="val 6667"/>
            </a:avLst>
          </a:prstGeom>
          <a:solidFill>
            <a:srgbClr val="1B2B45"/>
          </a:solidFill>
          <a:ln w="12700">
            <a:solidFill>
              <a:srgbClr val="1B2B45"/>
            </a:solidFill>
            <a:prstDash val="solid"/>
          </a:ln>
        </p:spPr>
      </p:sp>
      <p:sp>
        <p:nvSpPr>
          <p:cNvPr id="8" name="Text 6"/>
          <p:cNvSpPr txBox="1"/>
          <p:nvPr/>
        </p:nvSpPr>
        <p:spPr>
          <a:xfrm>
            <a:off x="969264" y="2212848"/>
            <a:ext cx="4654296" cy="74066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if score &gt; 90:</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 TODO: add bonus logic</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-&gt; IndentationError: expected an indented block</a:t>
            </a:r>
            <a:endParaRPr lang="en-US" sz="1050" dirty="0"/>
          </a:p>
        </p:txBody>
      </p:sp>
      <p:sp>
        <p:nvSpPr>
          <p:cNvPr id="9" name="Shape 7"/>
          <p:cNvSpPr/>
          <p:nvPr/>
        </p:nvSpPr>
        <p:spPr>
          <a:xfrm>
            <a:off x="804672" y="3154680"/>
            <a:ext cx="4983480" cy="777240"/>
          </a:xfrm>
          <a:prstGeom prst="roundRect">
            <a:avLst>
              <a:gd name="adj" fmla="val 8235"/>
            </a:avLst>
          </a:prstGeom>
          <a:solidFill>
            <a:srgbClr val="1B2B45"/>
          </a:solidFill>
          <a:ln w="12700">
            <a:solidFill>
              <a:srgbClr val="1B2B45"/>
            </a:solidFill>
            <a:prstDash val="solid"/>
          </a:ln>
        </p:spPr>
      </p:sp>
      <p:sp>
        <p:nvSpPr>
          <p:cNvPr id="10" name="Text 8"/>
          <p:cNvSpPr txBox="1"/>
          <p:nvPr/>
        </p:nvSpPr>
        <p:spPr>
          <a:xfrm>
            <a:off x="969264" y="3264408"/>
            <a:ext cx="4654296" cy="55778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if score &gt; 90:</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pass          # valid placeholder, does nothing</a:t>
            </a:r>
            <a:endParaRPr lang="en-US" sz="1100" dirty="0"/>
          </a:p>
        </p:txBody>
      </p:sp>
      <p:sp>
        <p:nvSpPr>
          <p:cNvPr id="11" name="Shape 9"/>
          <p:cNvSpPr/>
          <p:nvPr/>
        </p:nvSpPr>
        <p:spPr>
          <a:xfrm>
            <a:off x="6309360" y="1572768"/>
            <a:ext cx="5303520" cy="2468880"/>
          </a:xfrm>
          <a:prstGeom prst="roundRect">
            <a:avLst>
              <a:gd name="adj" fmla="val 333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10"/>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for / else  —  else runs if no break happened</a:t>
            </a:r>
            <a:endParaRPr lang="en-US" sz="1450" dirty="0"/>
          </a:p>
        </p:txBody>
      </p:sp>
      <p:sp>
        <p:nvSpPr>
          <p:cNvPr id="13" name="Shape 11"/>
          <p:cNvSpPr/>
          <p:nvPr/>
        </p:nvSpPr>
        <p:spPr>
          <a:xfrm>
            <a:off x="6565392" y="2103120"/>
            <a:ext cx="4800600" cy="1828800"/>
          </a:xfrm>
          <a:prstGeom prst="roundRect">
            <a:avLst>
              <a:gd name="adj" fmla="val 3500"/>
            </a:avLst>
          </a:prstGeom>
          <a:solidFill>
            <a:srgbClr val="1B2B45"/>
          </a:solidFill>
          <a:ln w="12700">
            <a:solidFill>
              <a:srgbClr val="1B2B45"/>
            </a:solidFill>
            <a:prstDash val="solid"/>
          </a:ln>
        </p:spPr>
      </p:sp>
      <p:sp>
        <p:nvSpPr>
          <p:cNvPr id="14" name="Text 12"/>
          <p:cNvSpPr txBox="1"/>
          <p:nvPr/>
        </p:nvSpPr>
        <p:spPr>
          <a:xfrm>
            <a:off x="6729984" y="2212848"/>
            <a:ext cx="4471416" cy="160934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for n in numbers:</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if n &lt; 0:</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print("Found a negative")</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break</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else:</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print("All values were positive")</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else fires ONLY if the loop finished</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without ever hitting break</a:t>
            </a:r>
            <a:endParaRPr lang="en-US" sz="1050" dirty="0"/>
          </a:p>
        </p:txBody>
      </p:sp>
      <p:sp>
        <p:nvSpPr>
          <p:cNvPr id="15" name="Shape 13"/>
          <p:cNvSpPr/>
          <p:nvPr/>
        </p:nvSpPr>
        <p:spPr>
          <a:xfrm>
            <a:off x="548640" y="4206240"/>
            <a:ext cx="11064240" cy="1645920"/>
          </a:xfrm>
          <a:prstGeom prst="roundRect">
            <a:avLst>
              <a:gd name="adj" fmla="val 5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Text 14"/>
          <p:cNvSpPr txBox="1"/>
          <p:nvPr/>
        </p:nvSpPr>
        <p:spPr>
          <a:xfrm>
            <a:off x="868680" y="4370832"/>
            <a:ext cx="5943600" cy="292608"/>
          </a:xfrm>
          <a:prstGeom prst="rect">
            <a:avLst/>
          </a:prstGeom>
          <a:noFill/>
          <a:ln/>
        </p:spPr>
        <p:txBody>
          <a:bodyPr wrap="square" lIns="0" tIns="0" rIns="0" bIns="0" rtlCol="0" anchor="ctr"/>
          <a:lstStyle/>
          <a:p>
            <a:pPr indent="0" marL="0">
              <a:buNone/>
            </a:pPr>
            <a:r>
              <a:rPr lang="en-US" sz="1500" b="1" dirty="0">
                <a:solidFill>
                  <a:srgbClr val="8A5B00"/>
                </a:solidFill>
                <a:latin typeface="Calibri" pitchFamily="34" charset="0"/>
                <a:ea typeface="Calibri" pitchFamily="34" charset="-122"/>
                <a:cs typeface="Calibri" pitchFamily="34" charset="-120"/>
              </a:rPr>
              <a:t>Read for / else as “for ... if no break”</a:t>
            </a:r>
            <a:endParaRPr lang="en-US" sz="1500" dirty="0"/>
          </a:p>
        </p:txBody>
      </p:sp>
      <p:sp>
        <p:nvSpPr>
          <p:cNvPr id="17" name="Text 15"/>
          <p:cNvSpPr txBox="1"/>
          <p:nvPr/>
        </p:nvSpPr>
        <p:spPr>
          <a:xfrm>
            <a:off x="868680" y="4718304"/>
            <a:ext cx="10424160" cy="960120"/>
          </a:xfrm>
          <a:prstGeom prst="rect">
            <a:avLst/>
          </a:prstGeom>
          <a:noFill/>
          <a:ln/>
        </p:spPr>
        <p:txBody>
          <a:bodyPr wrap="square" lIns="0" tIns="0" rIns="0" bIns="0" rtlCol="0" anchor="ctr"/>
          <a:lstStyle/>
          <a:p>
            <a:pPr indent="0" marL="0">
              <a:lnSpc>
                <a:spcPct val="115000"/>
              </a:lnSpc>
              <a:buNone/>
            </a:pPr>
            <a:r>
              <a:rPr lang="en-US" sz="1300" dirty="0">
                <a:solidFill>
                  <a:srgbClr val="6B4A0B"/>
                </a:solidFill>
                <a:latin typeface="Calibri" pitchFamily="34" charset="0"/>
                <a:ea typeface="Calibri" pitchFamily="34" charset="-122"/>
                <a:cs typeface="Calibri" pitchFamily="34" charset="-120"/>
              </a:rPr>
              <a:t>The keyword is badly named — the else has nothing to do with the if/else you learned an hour ago. It is a neat way to express “I searched the whole thing and found nothing” without a found = False flag variable. You will meet it in other people's code, so recognise it; whether you write it yourself is a matter of taste.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RECAP</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Debug corner — the eight loop bugs you will actually hit</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3840480"/>
                <a:gridCol w="3383280"/>
                <a:gridCol w="384048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wrote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range(1, 5)  for 1..5</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stops at 4</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range(1, 6)</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while  with no update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runs forever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change the variable inside the loop</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if / if  instead of if / elif</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several branches fire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elif</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for n in nums: n = n*2</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list unchanged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append to a new list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print() indented too deep</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prints every pass, not per row</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move it out one level</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empty  if  block</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IndentationError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pass</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continue  expecting a stop</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loop carries 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break</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removing items while looping</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items get skipped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loop over a copy: nums[:]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5559552"/>
            <a:ext cx="11064240" cy="731520"/>
          </a:xfrm>
          <a:prstGeom prst="roundRect">
            <a:avLst>
              <a:gd name="adj" fmla="val 1125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687568"/>
            <a:ext cx="10424160" cy="457200"/>
          </a:xfrm>
          <a:prstGeom prst="rect">
            <a:avLst/>
          </a:prstGeom>
          <a:noFill/>
          <a:ln/>
        </p:spPr>
        <p:txBody>
          <a:bodyPr wrap="square" lIns="0" tIns="0" rIns="0" bIns="0" rtlCol="0" anchor="ctr"/>
          <a:lstStyle/>
          <a:p>
            <a:pPr indent="0" marL="0">
              <a:buNone/>
            </a:pPr>
            <a:r>
              <a:rPr lang="en-US" sz="1300" i="1" dirty="0">
                <a:solidFill>
                  <a:srgbClr val="1F3A5F"/>
                </a:solidFill>
                <a:latin typeface="Calibri" pitchFamily="34" charset="0"/>
                <a:ea typeface="Calibri" pitchFamily="34" charset="-122"/>
                <a:cs typeface="Calibri" pitchFamily="34" charset="-120"/>
              </a:rPr>
              <a:t>All eight appear in today's practice notebook. If you can predict each one without running the code, you have the session.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  ·  MINI BUILD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Putting it together — number guessing game</a:t>
            </a:r>
            <a:endParaRPr lang="en-US" sz="3200" dirty="0"/>
          </a:p>
        </p:txBody>
      </p:sp>
      <p:sp>
        <p:nvSpPr>
          <p:cNvPr id="5" name="Shape 3"/>
          <p:cNvSpPr/>
          <p:nvPr/>
        </p:nvSpPr>
        <p:spPr>
          <a:xfrm>
            <a:off x="548640" y="1572768"/>
            <a:ext cx="6400800" cy="3794760"/>
          </a:xfrm>
          <a:prstGeom prst="roundRect">
            <a:avLst>
              <a:gd name="adj" fmla="val 2169"/>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5897880" cy="3429000"/>
          </a:xfrm>
          <a:prstGeom prst="roundRect">
            <a:avLst>
              <a:gd name="adj" fmla="val 1867"/>
            </a:avLst>
          </a:prstGeom>
          <a:solidFill>
            <a:srgbClr val="1B2B45"/>
          </a:solidFill>
          <a:ln w="12700">
            <a:solidFill>
              <a:srgbClr val="1B2B45"/>
            </a:solidFill>
            <a:prstDash val="solid"/>
          </a:ln>
        </p:spPr>
      </p:sp>
      <p:sp>
        <p:nvSpPr>
          <p:cNvPr id="7" name="Text 5"/>
          <p:cNvSpPr txBox="1"/>
          <p:nvPr/>
        </p:nvSpPr>
        <p:spPr>
          <a:xfrm>
            <a:off x="969264" y="1892808"/>
            <a:ext cx="5568696" cy="3209544"/>
          </a:xfrm>
          <a:prstGeom prst="rect">
            <a:avLst/>
          </a:prstGeom>
          <a:noFill/>
          <a:ln/>
        </p:spPr>
        <p:txBody>
          <a:bodyPr wrap="square" lIns="0" tIns="0" rIns="0" bIns="0" rtlCol="0" anchor="t"/>
          <a:lstStyle/>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import random</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secret    = random.randint(1, 100)</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attempts  = 0</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MAX_TRIES = 7</a:t>
            </a:r>
            <a:endParaRPr lang="en-US" sz="850" dirty="0"/>
          </a:p>
          <a:p>
            <a:pPr indent="0" marL="0">
              <a:lnSpc>
                <a:spcPct val="112000"/>
              </a:lnSpc>
              <a:buNone/>
            </a:pP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while attempts &lt; MAX_TRIES:            # unknown count</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raw = input("Your guess (1-100): ")</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if not raw.isdigit():              # validation</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print("Digits only.")</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continue                       # retry</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guess     = int(raw)</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attempts += 1                      # accumulator</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if guess == secret:</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print(f"Correct in {attempts} tries!")</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break                          # found it</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elif guess &lt; secret:               # three-way</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print("Too low")</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else:</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print("Too high")</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else:</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print(f"Out of tries. It was {secret}.")</a:t>
            </a:r>
            <a:endParaRPr lang="en-US" sz="850" dirty="0"/>
          </a:p>
        </p:txBody>
      </p:sp>
      <p:sp>
        <p:nvSpPr>
          <p:cNvPr id="8" name="Shape 6"/>
          <p:cNvSpPr/>
          <p:nvPr/>
        </p:nvSpPr>
        <p:spPr>
          <a:xfrm>
            <a:off x="7178040" y="1572768"/>
            <a:ext cx="4434840" cy="548640"/>
          </a:xfrm>
          <a:prstGeom prst="roundRect">
            <a:avLst>
              <a:gd name="adj" fmla="val 15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Shape 7"/>
          <p:cNvSpPr/>
          <p:nvPr/>
        </p:nvSpPr>
        <p:spPr>
          <a:xfrm>
            <a:off x="7333488" y="1691640"/>
            <a:ext cx="128016" cy="310896"/>
          </a:xfrm>
          <a:prstGeom prst="roundRect">
            <a:avLst>
              <a:gd name="adj" fmla="val 35714"/>
            </a:avLst>
          </a:prstGeom>
          <a:solidFill>
            <a:srgbClr val="3E7CB1"/>
          </a:solidFill>
          <a:ln w="12700">
            <a:solidFill>
              <a:srgbClr val="333333"/>
            </a:solidFill>
            <a:prstDash val="solid"/>
          </a:ln>
        </p:spPr>
      </p:sp>
      <p:sp>
        <p:nvSpPr>
          <p:cNvPr id="10" name="Text 8"/>
          <p:cNvSpPr txBox="1"/>
          <p:nvPr/>
        </p:nvSpPr>
        <p:spPr>
          <a:xfrm>
            <a:off x="7589520" y="1627632"/>
            <a:ext cx="1828800" cy="256032"/>
          </a:xfrm>
          <a:prstGeom prst="rect">
            <a:avLst/>
          </a:prstGeom>
          <a:noFill/>
          <a:ln/>
        </p:spPr>
        <p:txBody>
          <a:bodyPr wrap="square" lIns="0" tIns="0" rIns="0" bIns="0" rtlCol="0" anchor="ctr"/>
          <a:lstStyle/>
          <a:p>
            <a:pPr indent="0" marL="0">
              <a:buNone/>
            </a:pPr>
            <a:r>
              <a:rPr lang="en-US" sz="1150" b="1" dirty="0">
                <a:solidFill>
                  <a:srgbClr val="1F3A5F"/>
                </a:solidFill>
                <a:latin typeface="Courier New" pitchFamily="34" charset="0"/>
                <a:ea typeface="Courier New" pitchFamily="34" charset="-122"/>
                <a:cs typeface="Courier New" pitchFamily="34" charset="-120"/>
              </a:rPr>
              <a:t>while</a:t>
            </a:r>
            <a:endParaRPr lang="en-US" sz="1150" dirty="0"/>
          </a:p>
        </p:txBody>
      </p:sp>
      <p:sp>
        <p:nvSpPr>
          <p:cNvPr id="11" name="Text 9"/>
          <p:cNvSpPr txBox="1"/>
          <p:nvPr/>
        </p:nvSpPr>
        <p:spPr>
          <a:xfrm>
            <a:off x="7589520" y="1856232"/>
            <a:ext cx="3931920" cy="237744"/>
          </a:xfrm>
          <a:prstGeom prst="rect">
            <a:avLst/>
          </a:prstGeom>
          <a:noFill/>
          <a:ln/>
        </p:spPr>
        <p:txBody>
          <a:bodyPr wrap="square" lIns="0" tIns="0" rIns="0" bIns="0" rtlCol="0" anchor="ctr"/>
          <a:lstStyle/>
          <a:p>
            <a:pPr indent="0" marL="0">
              <a:buNone/>
            </a:pPr>
            <a:r>
              <a:rPr lang="en-US" sz="1100" dirty="0">
                <a:solidFill>
                  <a:srgbClr val="6B7789"/>
                </a:solidFill>
                <a:latin typeface="Calibri" pitchFamily="34" charset="0"/>
                <a:ea typeface="Calibri" pitchFamily="34" charset="-122"/>
                <a:cs typeface="Calibri" pitchFamily="34" charset="-120"/>
              </a:rPr>
              <a:t>Unknown number of rounds</a:t>
            </a:r>
            <a:endParaRPr lang="en-US" sz="1100" dirty="0"/>
          </a:p>
        </p:txBody>
      </p:sp>
      <p:sp>
        <p:nvSpPr>
          <p:cNvPr id="12" name="Shape 10"/>
          <p:cNvSpPr/>
          <p:nvPr/>
        </p:nvSpPr>
        <p:spPr>
          <a:xfrm>
            <a:off x="7178040" y="2221992"/>
            <a:ext cx="4434840" cy="548640"/>
          </a:xfrm>
          <a:prstGeom prst="roundRect">
            <a:avLst>
              <a:gd name="adj" fmla="val 15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Shape 11"/>
          <p:cNvSpPr/>
          <p:nvPr/>
        </p:nvSpPr>
        <p:spPr>
          <a:xfrm>
            <a:off x="7333488" y="2340864"/>
            <a:ext cx="128016" cy="310896"/>
          </a:xfrm>
          <a:prstGeom prst="roundRect">
            <a:avLst>
              <a:gd name="adj" fmla="val 35714"/>
            </a:avLst>
          </a:prstGeom>
          <a:solidFill>
            <a:srgbClr val="3E7CB1"/>
          </a:solidFill>
          <a:ln w="12700">
            <a:solidFill>
              <a:srgbClr val="333333"/>
            </a:solidFill>
            <a:prstDash val="solid"/>
          </a:ln>
        </p:spPr>
      </p:sp>
      <p:sp>
        <p:nvSpPr>
          <p:cNvPr id="14" name="Text 12"/>
          <p:cNvSpPr txBox="1"/>
          <p:nvPr/>
        </p:nvSpPr>
        <p:spPr>
          <a:xfrm>
            <a:off x="7589520" y="2276856"/>
            <a:ext cx="1828800" cy="256032"/>
          </a:xfrm>
          <a:prstGeom prst="rect">
            <a:avLst/>
          </a:prstGeom>
          <a:noFill/>
          <a:ln/>
        </p:spPr>
        <p:txBody>
          <a:bodyPr wrap="square" lIns="0" tIns="0" rIns="0" bIns="0" rtlCol="0" anchor="ctr"/>
          <a:lstStyle/>
          <a:p>
            <a:pPr indent="0" marL="0">
              <a:buNone/>
            </a:pPr>
            <a:r>
              <a:rPr lang="en-US" sz="1150" b="1" dirty="0">
                <a:solidFill>
                  <a:srgbClr val="1F3A5F"/>
                </a:solidFill>
                <a:latin typeface="Courier New" pitchFamily="34" charset="0"/>
                <a:ea typeface="Courier New" pitchFamily="34" charset="-122"/>
                <a:cs typeface="Courier New" pitchFamily="34" charset="-120"/>
              </a:rPr>
              <a:t>if / elif / else</a:t>
            </a:r>
            <a:endParaRPr lang="en-US" sz="1150" dirty="0"/>
          </a:p>
        </p:txBody>
      </p:sp>
      <p:sp>
        <p:nvSpPr>
          <p:cNvPr id="15" name="Text 13"/>
          <p:cNvSpPr txBox="1"/>
          <p:nvPr/>
        </p:nvSpPr>
        <p:spPr>
          <a:xfrm>
            <a:off x="7589520" y="2505456"/>
            <a:ext cx="3931920" cy="237744"/>
          </a:xfrm>
          <a:prstGeom prst="rect">
            <a:avLst/>
          </a:prstGeom>
          <a:noFill/>
          <a:ln/>
        </p:spPr>
        <p:txBody>
          <a:bodyPr wrap="square" lIns="0" tIns="0" rIns="0" bIns="0" rtlCol="0" anchor="ctr"/>
          <a:lstStyle/>
          <a:p>
            <a:pPr indent="0" marL="0">
              <a:buNone/>
            </a:pPr>
            <a:r>
              <a:rPr lang="en-US" sz="1100" dirty="0">
                <a:solidFill>
                  <a:srgbClr val="6B7789"/>
                </a:solidFill>
                <a:latin typeface="Calibri" pitchFamily="34" charset="0"/>
                <a:ea typeface="Calibri" pitchFamily="34" charset="-122"/>
                <a:cs typeface="Calibri" pitchFamily="34" charset="-120"/>
              </a:rPr>
              <a:t>Three-way comparison</a:t>
            </a:r>
            <a:endParaRPr lang="en-US" sz="1100" dirty="0"/>
          </a:p>
        </p:txBody>
      </p:sp>
      <p:sp>
        <p:nvSpPr>
          <p:cNvPr id="16" name="Shape 14"/>
          <p:cNvSpPr/>
          <p:nvPr/>
        </p:nvSpPr>
        <p:spPr>
          <a:xfrm>
            <a:off x="7178040" y="2871216"/>
            <a:ext cx="4434840" cy="548640"/>
          </a:xfrm>
          <a:prstGeom prst="roundRect">
            <a:avLst>
              <a:gd name="adj" fmla="val 15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Shape 15"/>
          <p:cNvSpPr/>
          <p:nvPr/>
        </p:nvSpPr>
        <p:spPr>
          <a:xfrm>
            <a:off x="7333488" y="2990088"/>
            <a:ext cx="128016" cy="310896"/>
          </a:xfrm>
          <a:prstGeom prst="roundRect">
            <a:avLst>
              <a:gd name="adj" fmla="val 35714"/>
            </a:avLst>
          </a:prstGeom>
          <a:solidFill>
            <a:srgbClr val="2FA98C"/>
          </a:solidFill>
          <a:ln w="12700">
            <a:solidFill>
              <a:srgbClr val="333333"/>
            </a:solidFill>
            <a:prstDash val="solid"/>
          </a:ln>
        </p:spPr>
      </p:sp>
      <p:sp>
        <p:nvSpPr>
          <p:cNvPr id="18" name="Text 16"/>
          <p:cNvSpPr txBox="1"/>
          <p:nvPr/>
        </p:nvSpPr>
        <p:spPr>
          <a:xfrm>
            <a:off x="7589520" y="2926080"/>
            <a:ext cx="1828800" cy="256032"/>
          </a:xfrm>
          <a:prstGeom prst="rect">
            <a:avLst/>
          </a:prstGeom>
          <a:noFill/>
          <a:ln/>
        </p:spPr>
        <p:txBody>
          <a:bodyPr wrap="square" lIns="0" tIns="0" rIns="0" bIns="0" rtlCol="0" anchor="ctr"/>
          <a:lstStyle/>
          <a:p>
            <a:pPr indent="0" marL="0">
              <a:buNone/>
            </a:pPr>
            <a:r>
              <a:rPr lang="en-US" sz="1150" b="1" dirty="0">
                <a:solidFill>
                  <a:srgbClr val="1F3A5F"/>
                </a:solidFill>
                <a:latin typeface="Courier New" pitchFamily="34" charset="0"/>
                <a:ea typeface="Courier New" pitchFamily="34" charset="-122"/>
                <a:cs typeface="Courier New" pitchFamily="34" charset="-120"/>
              </a:rPr>
              <a:t>continue</a:t>
            </a:r>
            <a:endParaRPr lang="en-US" sz="1150" dirty="0"/>
          </a:p>
        </p:txBody>
      </p:sp>
      <p:sp>
        <p:nvSpPr>
          <p:cNvPr id="19" name="Text 17"/>
          <p:cNvSpPr txBox="1"/>
          <p:nvPr/>
        </p:nvSpPr>
        <p:spPr>
          <a:xfrm>
            <a:off x="7589520" y="3154680"/>
            <a:ext cx="3931920" cy="237744"/>
          </a:xfrm>
          <a:prstGeom prst="rect">
            <a:avLst/>
          </a:prstGeom>
          <a:noFill/>
          <a:ln/>
        </p:spPr>
        <p:txBody>
          <a:bodyPr wrap="square" lIns="0" tIns="0" rIns="0" bIns="0" rtlCol="0" anchor="ctr"/>
          <a:lstStyle/>
          <a:p>
            <a:pPr indent="0" marL="0">
              <a:buNone/>
            </a:pPr>
            <a:r>
              <a:rPr lang="en-US" sz="1100" dirty="0">
                <a:solidFill>
                  <a:srgbClr val="6B7789"/>
                </a:solidFill>
                <a:latin typeface="Calibri" pitchFamily="34" charset="0"/>
                <a:ea typeface="Calibri" pitchFamily="34" charset="-122"/>
                <a:cs typeface="Calibri" pitchFamily="34" charset="-120"/>
              </a:rPr>
              <a:t>Reject bad input, ask again</a:t>
            </a:r>
            <a:endParaRPr lang="en-US" sz="1100" dirty="0"/>
          </a:p>
        </p:txBody>
      </p:sp>
      <p:sp>
        <p:nvSpPr>
          <p:cNvPr id="20" name="Shape 18"/>
          <p:cNvSpPr/>
          <p:nvPr/>
        </p:nvSpPr>
        <p:spPr>
          <a:xfrm>
            <a:off x="7178040" y="3520440"/>
            <a:ext cx="4434840" cy="548640"/>
          </a:xfrm>
          <a:prstGeom prst="roundRect">
            <a:avLst>
              <a:gd name="adj" fmla="val 15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333488" y="3639312"/>
            <a:ext cx="128016" cy="310896"/>
          </a:xfrm>
          <a:prstGeom prst="roundRect">
            <a:avLst>
              <a:gd name="adj" fmla="val 35714"/>
            </a:avLst>
          </a:prstGeom>
          <a:solidFill>
            <a:srgbClr val="E8674C"/>
          </a:solidFill>
          <a:ln w="12700">
            <a:solidFill>
              <a:srgbClr val="333333"/>
            </a:solidFill>
            <a:prstDash val="solid"/>
          </a:ln>
        </p:spPr>
      </p:sp>
      <p:sp>
        <p:nvSpPr>
          <p:cNvPr id="22" name="Text 20"/>
          <p:cNvSpPr txBox="1"/>
          <p:nvPr/>
        </p:nvSpPr>
        <p:spPr>
          <a:xfrm>
            <a:off x="7589520" y="3575304"/>
            <a:ext cx="1828800" cy="256032"/>
          </a:xfrm>
          <a:prstGeom prst="rect">
            <a:avLst/>
          </a:prstGeom>
          <a:noFill/>
          <a:ln/>
        </p:spPr>
        <p:txBody>
          <a:bodyPr wrap="square" lIns="0" tIns="0" rIns="0" bIns="0" rtlCol="0" anchor="ctr"/>
          <a:lstStyle/>
          <a:p>
            <a:pPr indent="0" marL="0">
              <a:buNone/>
            </a:pPr>
            <a:r>
              <a:rPr lang="en-US" sz="1150" b="1" dirty="0">
                <a:solidFill>
                  <a:srgbClr val="1F3A5F"/>
                </a:solidFill>
                <a:latin typeface="Courier New" pitchFamily="34" charset="0"/>
                <a:ea typeface="Courier New" pitchFamily="34" charset="-122"/>
                <a:cs typeface="Courier New" pitchFamily="34" charset="-120"/>
              </a:rPr>
              <a:t>break</a:t>
            </a:r>
            <a:endParaRPr lang="en-US" sz="1150" dirty="0"/>
          </a:p>
        </p:txBody>
      </p:sp>
      <p:sp>
        <p:nvSpPr>
          <p:cNvPr id="23" name="Text 21"/>
          <p:cNvSpPr txBox="1"/>
          <p:nvPr/>
        </p:nvSpPr>
        <p:spPr>
          <a:xfrm>
            <a:off x="7589520" y="3803904"/>
            <a:ext cx="3931920" cy="237744"/>
          </a:xfrm>
          <a:prstGeom prst="rect">
            <a:avLst/>
          </a:prstGeom>
          <a:noFill/>
          <a:ln/>
        </p:spPr>
        <p:txBody>
          <a:bodyPr wrap="square" lIns="0" tIns="0" rIns="0" bIns="0" rtlCol="0" anchor="ctr"/>
          <a:lstStyle/>
          <a:p>
            <a:pPr indent="0" marL="0">
              <a:buNone/>
            </a:pPr>
            <a:r>
              <a:rPr lang="en-US" sz="1100" dirty="0">
                <a:solidFill>
                  <a:srgbClr val="6B7789"/>
                </a:solidFill>
                <a:latin typeface="Calibri" pitchFamily="34" charset="0"/>
                <a:ea typeface="Calibri" pitchFamily="34" charset="-122"/>
                <a:cs typeface="Calibri" pitchFamily="34" charset="-120"/>
              </a:rPr>
              <a:t>Stop the moment they win</a:t>
            </a:r>
            <a:endParaRPr lang="en-US" sz="1100" dirty="0"/>
          </a:p>
        </p:txBody>
      </p:sp>
      <p:sp>
        <p:nvSpPr>
          <p:cNvPr id="24" name="Shape 22"/>
          <p:cNvSpPr/>
          <p:nvPr/>
        </p:nvSpPr>
        <p:spPr>
          <a:xfrm>
            <a:off x="7178040" y="4169664"/>
            <a:ext cx="4434840" cy="548640"/>
          </a:xfrm>
          <a:prstGeom prst="roundRect">
            <a:avLst>
              <a:gd name="adj" fmla="val 15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5" name="Shape 23"/>
          <p:cNvSpPr/>
          <p:nvPr/>
        </p:nvSpPr>
        <p:spPr>
          <a:xfrm>
            <a:off x="7333488" y="4288536"/>
            <a:ext cx="128016" cy="310896"/>
          </a:xfrm>
          <a:prstGeom prst="roundRect">
            <a:avLst>
              <a:gd name="adj" fmla="val 35714"/>
            </a:avLst>
          </a:prstGeom>
          <a:solidFill>
            <a:srgbClr val="FFC145"/>
          </a:solidFill>
          <a:ln w="12700">
            <a:solidFill>
              <a:srgbClr val="333333"/>
            </a:solidFill>
            <a:prstDash val="solid"/>
          </a:ln>
        </p:spPr>
      </p:sp>
      <p:sp>
        <p:nvSpPr>
          <p:cNvPr id="26" name="Text 24"/>
          <p:cNvSpPr txBox="1"/>
          <p:nvPr/>
        </p:nvSpPr>
        <p:spPr>
          <a:xfrm>
            <a:off x="7589520" y="4224528"/>
            <a:ext cx="1828800" cy="256032"/>
          </a:xfrm>
          <a:prstGeom prst="rect">
            <a:avLst/>
          </a:prstGeom>
          <a:noFill/>
          <a:ln/>
        </p:spPr>
        <p:txBody>
          <a:bodyPr wrap="square" lIns="0" tIns="0" rIns="0" bIns="0" rtlCol="0" anchor="ctr"/>
          <a:lstStyle/>
          <a:p>
            <a:pPr indent="0" marL="0">
              <a:buNone/>
            </a:pPr>
            <a:r>
              <a:rPr lang="en-US" sz="1150" b="1" dirty="0">
                <a:solidFill>
                  <a:srgbClr val="1F3A5F"/>
                </a:solidFill>
                <a:latin typeface="Courier New" pitchFamily="34" charset="0"/>
                <a:ea typeface="Courier New" pitchFamily="34" charset="-122"/>
                <a:cs typeface="Courier New" pitchFamily="34" charset="-120"/>
              </a:rPr>
              <a:t>while / else</a:t>
            </a:r>
            <a:endParaRPr lang="en-US" sz="1150" dirty="0"/>
          </a:p>
        </p:txBody>
      </p:sp>
      <p:sp>
        <p:nvSpPr>
          <p:cNvPr id="27" name="Text 25"/>
          <p:cNvSpPr txBox="1"/>
          <p:nvPr/>
        </p:nvSpPr>
        <p:spPr>
          <a:xfrm>
            <a:off x="7589520" y="4453128"/>
            <a:ext cx="3931920" cy="237744"/>
          </a:xfrm>
          <a:prstGeom prst="rect">
            <a:avLst/>
          </a:prstGeom>
          <a:noFill/>
          <a:ln/>
        </p:spPr>
        <p:txBody>
          <a:bodyPr wrap="square" lIns="0" tIns="0" rIns="0" bIns="0" rtlCol="0" anchor="ctr"/>
          <a:lstStyle/>
          <a:p>
            <a:pPr indent="0" marL="0">
              <a:buNone/>
            </a:pPr>
            <a:r>
              <a:rPr lang="en-US" sz="1100" dirty="0">
                <a:solidFill>
                  <a:srgbClr val="6B7789"/>
                </a:solidFill>
                <a:latin typeface="Calibri" pitchFamily="34" charset="0"/>
                <a:ea typeface="Calibri" pitchFamily="34" charset="-122"/>
                <a:cs typeface="Calibri" pitchFamily="34" charset="-120"/>
              </a:rPr>
              <a:t>Fires only if they never broke out</a:t>
            </a:r>
            <a:endParaRPr lang="en-US" sz="1100" dirty="0"/>
          </a:p>
        </p:txBody>
      </p:sp>
      <p:sp>
        <p:nvSpPr>
          <p:cNvPr id="28" name="Shape 26"/>
          <p:cNvSpPr/>
          <p:nvPr/>
        </p:nvSpPr>
        <p:spPr>
          <a:xfrm>
            <a:off x="7178040" y="4818888"/>
            <a:ext cx="4434840" cy="548640"/>
          </a:xfrm>
          <a:prstGeom prst="roundRect">
            <a:avLst>
              <a:gd name="adj" fmla="val 15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9" name="Shape 27"/>
          <p:cNvSpPr/>
          <p:nvPr/>
        </p:nvSpPr>
        <p:spPr>
          <a:xfrm>
            <a:off x="7333488" y="4937760"/>
            <a:ext cx="128016" cy="310896"/>
          </a:xfrm>
          <a:prstGeom prst="roundRect">
            <a:avLst>
              <a:gd name="adj" fmla="val 35714"/>
            </a:avLst>
          </a:prstGeom>
          <a:solidFill>
            <a:srgbClr val="3E7CB1"/>
          </a:solidFill>
          <a:ln w="12700">
            <a:solidFill>
              <a:srgbClr val="333333"/>
            </a:solidFill>
            <a:prstDash val="solid"/>
          </a:ln>
        </p:spPr>
      </p:sp>
      <p:sp>
        <p:nvSpPr>
          <p:cNvPr id="30" name="Text 28"/>
          <p:cNvSpPr txBox="1"/>
          <p:nvPr/>
        </p:nvSpPr>
        <p:spPr>
          <a:xfrm>
            <a:off x="7589520" y="4873752"/>
            <a:ext cx="1828800" cy="256032"/>
          </a:xfrm>
          <a:prstGeom prst="rect">
            <a:avLst/>
          </a:prstGeom>
          <a:noFill/>
          <a:ln/>
        </p:spPr>
        <p:txBody>
          <a:bodyPr wrap="square" lIns="0" tIns="0" rIns="0" bIns="0" rtlCol="0" anchor="ctr"/>
          <a:lstStyle/>
          <a:p>
            <a:pPr indent="0" marL="0">
              <a:buNone/>
            </a:pPr>
            <a:r>
              <a:rPr lang="en-US" sz="1150" b="1" dirty="0">
                <a:solidFill>
                  <a:srgbClr val="1F3A5F"/>
                </a:solidFill>
                <a:latin typeface="Courier New" pitchFamily="34" charset="0"/>
                <a:ea typeface="Courier New" pitchFamily="34" charset="-122"/>
                <a:cs typeface="Courier New" pitchFamily="34" charset="-120"/>
              </a:rPr>
              <a:t>accumulator</a:t>
            </a:r>
            <a:endParaRPr lang="en-US" sz="1150" dirty="0"/>
          </a:p>
        </p:txBody>
      </p:sp>
      <p:sp>
        <p:nvSpPr>
          <p:cNvPr id="31" name="Text 29"/>
          <p:cNvSpPr txBox="1"/>
          <p:nvPr/>
        </p:nvSpPr>
        <p:spPr>
          <a:xfrm>
            <a:off x="7589520" y="5102352"/>
            <a:ext cx="3931920" cy="237744"/>
          </a:xfrm>
          <a:prstGeom prst="rect">
            <a:avLst/>
          </a:prstGeom>
          <a:noFill/>
          <a:ln/>
        </p:spPr>
        <p:txBody>
          <a:bodyPr wrap="square" lIns="0" tIns="0" rIns="0" bIns="0" rtlCol="0" anchor="ctr"/>
          <a:lstStyle/>
          <a:p>
            <a:pPr indent="0" marL="0">
              <a:buNone/>
            </a:pPr>
            <a:r>
              <a:rPr lang="en-US" sz="1100" dirty="0">
                <a:solidFill>
                  <a:srgbClr val="6B7789"/>
                </a:solidFill>
                <a:latin typeface="Calibri" pitchFamily="34" charset="0"/>
                <a:ea typeface="Calibri" pitchFamily="34" charset="-122"/>
                <a:cs typeface="Calibri" pitchFamily="34" charset="-120"/>
              </a:rPr>
              <a:t>attempts += 1 counts the rounds</a:t>
            </a:r>
            <a:endParaRPr lang="en-US" sz="1100" dirty="0"/>
          </a:p>
        </p:txBody>
      </p:sp>
      <p:sp>
        <p:nvSpPr>
          <p:cNvPr id="32" name="Text 30"/>
          <p:cNvSpPr txBox="1"/>
          <p:nvPr/>
        </p:nvSpPr>
        <p:spPr>
          <a:xfrm>
            <a:off x="548640" y="5532120"/>
            <a:ext cx="6400800" cy="274320"/>
          </a:xfrm>
          <a:prstGeom prst="rect">
            <a:avLst/>
          </a:prstGeom>
          <a:noFill/>
          <a:ln/>
        </p:spPr>
        <p:txBody>
          <a:bodyPr wrap="square" lIns="0" tIns="0" rIns="0" bIns="0" rtlCol="0" anchor="ctr"/>
          <a:lstStyle/>
          <a:p>
            <a:pPr indent="0" marL="0">
              <a:buNone/>
            </a:pPr>
            <a:r>
              <a:rPr lang="en-US" sz="1300" i="1" dirty="0">
                <a:solidFill>
                  <a:srgbClr val="6B7789"/>
                </a:solidFill>
                <a:latin typeface="Calibri" pitchFamily="34" charset="0"/>
                <a:ea typeface="Calibri" pitchFamily="34" charset="-122"/>
                <a:cs typeface="Calibri" pitchFamily="34" charset="-120"/>
              </a:rPr>
              <a:t>Every construct from today, in twenty-one lines.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OVER TO YOU</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Practice session — 30 minutes</a:t>
            </a:r>
            <a:endParaRPr lang="en-US" sz="3200" dirty="0"/>
          </a:p>
        </p:txBody>
      </p:sp>
      <p:sp>
        <p:nvSpPr>
          <p:cNvPr id="5" name="Shape 3"/>
          <p:cNvSpPr/>
          <p:nvPr/>
        </p:nvSpPr>
        <p:spPr>
          <a:xfrm>
            <a:off x="548640" y="1691640"/>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938528"/>
            <a:ext cx="420624" cy="420624"/>
          </a:xfrm>
          <a:prstGeom prst="ellipse">
            <a:avLst/>
          </a:prstGeom>
          <a:solidFill>
            <a:srgbClr val="3E7CB1"/>
          </a:solidFill>
          <a:ln w="12700">
            <a:solidFill>
              <a:srgbClr val="3E7CB1"/>
            </a:solidFill>
            <a:prstDash val="solid"/>
          </a:ln>
        </p:spPr>
      </p:sp>
      <p:sp>
        <p:nvSpPr>
          <p:cNvPr id="7" name="Text 5"/>
          <p:cNvSpPr txBox="1"/>
          <p:nvPr/>
        </p:nvSpPr>
        <p:spPr>
          <a:xfrm>
            <a:off x="777240" y="193852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8" name="Text 6"/>
          <p:cNvSpPr txBox="1"/>
          <p:nvPr/>
        </p:nvSpPr>
        <p:spPr>
          <a:xfrm>
            <a:off x="1371600" y="1801368"/>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Predict the output</a:t>
            </a:r>
            <a:endParaRPr lang="en-US" sz="1500" dirty="0"/>
          </a:p>
        </p:txBody>
      </p:sp>
      <p:sp>
        <p:nvSpPr>
          <p:cNvPr id="9" name="Text 7"/>
          <p:cNvSpPr txBox="1"/>
          <p:nvPr/>
        </p:nvSpPr>
        <p:spPr>
          <a:xfrm>
            <a:off x="1371600" y="2148840"/>
            <a:ext cx="512064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Trace the loop on paper BEFORE running it</a:t>
            </a:r>
            <a:endParaRPr lang="en-US" sz="1200" dirty="0"/>
          </a:p>
        </p:txBody>
      </p:sp>
      <p:sp>
        <p:nvSpPr>
          <p:cNvPr id="10" name="Text 8"/>
          <p:cNvSpPr txBox="1"/>
          <p:nvPr/>
        </p:nvSpPr>
        <p:spPr>
          <a:xfrm>
            <a:off x="6400800" y="1947672"/>
            <a:ext cx="146304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8 questions</a:t>
            </a:r>
            <a:endParaRPr lang="en-US" sz="1300" dirty="0"/>
          </a:p>
        </p:txBody>
      </p:sp>
      <p:sp>
        <p:nvSpPr>
          <p:cNvPr id="11" name="Shape 9"/>
          <p:cNvSpPr/>
          <p:nvPr/>
        </p:nvSpPr>
        <p:spPr>
          <a:xfrm>
            <a:off x="548640" y="2715768"/>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777240" y="2962656"/>
            <a:ext cx="420624" cy="420624"/>
          </a:xfrm>
          <a:prstGeom prst="ellipse">
            <a:avLst/>
          </a:prstGeom>
          <a:solidFill>
            <a:srgbClr val="E8674C"/>
          </a:solidFill>
          <a:ln w="12700">
            <a:solidFill>
              <a:srgbClr val="E8674C"/>
            </a:solidFill>
            <a:prstDash val="solid"/>
          </a:ln>
        </p:spPr>
      </p:sp>
      <p:sp>
        <p:nvSpPr>
          <p:cNvPr id="13" name="Text 11"/>
          <p:cNvSpPr txBox="1"/>
          <p:nvPr/>
        </p:nvSpPr>
        <p:spPr>
          <a:xfrm>
            <a:off x="777240" y="29626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2"/>
          <p:cNvSpPr txBox="1"/>
          <p:nvPr/>
        </p:nvSpPr>
        <p:spPr>
          <a:xfrm>
            <a:off x="1371600" y="282549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Spot &amp; fix the bug</a:t>
            </a:r>
            <a:endParaRPr lang="en-US" sz="1500" dirty="0"/>
          </a:p>
        </p:txBody>
      </p:sp>
      <p:sp>
        <p:nvSpPr>
          <p:cNvPr id="15" name="Text 13"/>
          <p:cNvSpPr txBox="1"/>
          <p:nvPr/>
        </p:nvSpPr>
        <p:spPr>
          <a:xfrm>
            <a:off x="1371600" y="3172968"/>
            <a:ext cx="512064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Off-by-one, infinite loop, if vs elif</a:t>
            </a:r>
            <a:endParaRPr lang="en-US" sz="1200" dirty="0"/>
          </a:p>
        </p:txBody>
      </p:sp>
      <p:sp>
        <p:nvSpPr>
          <p:cNvPr id="16" name="Text 14"/>
          <p:cNvSpPr txBox="1"/>
          <p:nvPr/>
        </p:nvSpPr>
        <p:spPr>
          <a:xfrm>
            <a:off x="6400800" y="2971800"/>
            <a:ext cx="146304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4 questions</a:t>
            </a:r>
            <a:endParaRPr lang="en-US" sz="1300" dirty="0"/>
          </a:p>
        </p:txBody>
      </p:sp>
      <p:sp>
        <p:nvSpPr>
          <p:cNvPr id="17" name="Shape 15"/>
          <p:cNvSpPr/>
          <p:nvPr/>
        </p:nvSpPr>
        <p:spPr>
          <a:xfrm>
            <a:off x="548640" y="3739896"/>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777240" y="3986784"/>
            <a:ext cx="420624" cy="420624"/>
          </a:xfrm>
          <a:prstGeom prst="ellipse">
            <a:avLst/>
          </a:prstGeom>
          <a:solidFill>
            <a:srgbClr val="2FA98C"/>
          </a:solidFill>
          <a:ln w="12700">
            <a:solidFill>
              <a:srgbClr val="2FA98C"/>
            </a:solidFill>
            <a:prstDash val="solid"/>
          </a:ln>
        </p:spPr>
      </p:sp>
      <p:sp>
        <p:nvSpPr>
          <p:cNvPr id="19" name="Text 17"/>
          <p:cNvSpPr txBox="1"/>
          <p:nvPr/>
        </p:nvSpPr>
        <p:spPr>
          <a:xfrm>
            <a:off x="777240" y="39867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8"/>
          <p:cNvSpPr txBox="1"/>
          <p:nvPr/>
        </p:nvSpPr>
        <p:spPr>
          <a:xfrm>
            <a:off x="1371600" y="3849624"/>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Write the code</a:t>
            </a:r>
            <a:endParaRPr lang="en-US" sz="1500" dirty="0"/>
          </a:p>
        </p:txBody>
      </p:sp>
      <p:sp>
        <p:nvSpPr>
          <p:cNvPr id="21" name="Text 19"/>
          <p:cNvSpPr txBox="1"/>
          <p:nvPr/>
        </p:nvSpPr>
        <p:spPr>
          <a:xfrm>
            <a:off x="1371600" y="4197096"/>
            <a:ext cx="512064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FizzBuzz, star pattern, grade counter, search</a:t>
            </a:r>
            <a:endParaRPr lang="en-US" sz="1200" dirty="0"/>
          </a:p>
        </p:txBody>
      </p:sp>
      <p:sp>
        <p:nvSpPr>
          <p:cNvPr id="22" name="Text 20"/>
          <p:cNvSpPr txBox="1"/>
          <p:nvPr/>
        </p:nvSpPr>
        <p:spPr>
          <a:xfrm>
            <a:off x="6400800" y="3995928"/>
            <a:ext cx="146304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tasks</a:t>
            </a:r>
            <a:endParaRPr lang="en-US" sz="1300" dirty="0"/>
          </a:p>
        </p:txBody>
      </p:sp>
      <p:sp>
        <p:nvSpPr>
          <p:cNvPr id="23" name="Shape 21"/>
          <p:cNvSpPr/>
          <p:nvPr/>
        </p:nvSpPr>
        <p:spPr>
          <a:xfrm>
            <a:off x="548640" y="4764024"/>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777240" y="5010912"/>
            <a:ext cx="420624" cy="420624"/>
          </a:xfrm>
          <a:prstGeom prst="ellipse">
            <a:avLst/>
          </a:prstGeom>
          <a:solidFill>
            <a:srgbClr val="FFC145"/>
          </a:solidFill>
          <a:ln w="12700">
            <a:solidFill>
              <a:srgbClr val="FFC145"/>
            </a:solidFill>
            <a:prstDash val="solid"/>
          </a:ln>
        </p:spPr>
      </p:sp>
      <p:sp>
        <p:nvSpPr>
          <p:cNvPr id="25" name="Text 23"/>
          <p:cNvSpPr txBox="1"/>
          <p:nvPr/>
        </p:nvSpPr>
        <p:spPr>
          <a:xfrm>
            <a:off x="777240" y="501091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D</a:t>
            </a:r>
            <a:endParaRPr lang="en-US" sz="1300" dirty="0"/>
          </a:p>
        </p:txBody>
      </p:sp>
      <p:sp>
        <p:nvSpPr>
          <p:cNvPr id="26" name="Text 24"/>
          <p:cNvSpPr txBox="1"/>
          <p:nvPr/>
        </p:nvSpPr>
        <p:spPr>
          <a:xfrm>
            <a:off x="1371600" y="4873752"/>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Challenge</a:t>
            </a:r>
            <a:endParaRPr lang="en-US" sz="1500" dirty="0"/>
          </a:p>
        </p:txBody>
      </p:sp>
      <p:sp>
        <p:nvSpPr>
          <p:cNvPr id="27" name="Text 25"/>
          <p:cNvSpPr txBox="1"/>
          <p:nvPr/>
        </p:nvSpPr>
        <p:spPr>
          <a:xfrm>
            <a:off x="1371600" y="5221224"/>
            <a:ext cx="512064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Prime check, multiplication table grid</a:t>
            </a:r>
            <a:endParaRPr lang="en-US" sz="1200" dirty="0"/>
          </a:p>
        </p:txBody>
      </p:sp>
      <p:sp>
        <p:nvSpPr>
          <p:cNvPr id="28" name="Text 26"/>
          <p:cNvSpPr txBox="1"/>
          <p:nvPr/>
        </p:nvSpPr>
        <p:spPr>
          <a:xfrm>
            <a:off x="6400800" y="5020056"/>
            <a:ext cx="146304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 tasks</a:t>
            </a:r>
            <a:endParaRPr lang="en-US" sz="1300" dirty="0"/>
          </a:p>
        </p:txBody>
      </p:sp>
      <p:sp>
        <p:nvSpPr>
          <p:cNvPr id="29" name="Shape 27"/>
          <p:cNvSpPr/>
          <p:nvPr/>
        </p:nvSpPr>
        <p:spPr>
          <a:xfrm>
            <a:off x="8412480" y="1691640"/>
            <a:ext cx="3200400" cy="2971800"/>
          </a:xfrm>
          <a:prstGeom prst="roundRect">
            <a:avLst>
              <a:gd name="adj" fmla="val 2769"/>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Text 28"/>
          <p:cNvSpPr txBox="1"/>
          <p:nvPr/>
        </p:nvSpPr>
        <p:spPr>
          <a:xfrm>
            <a:off x="8686800" y="1847088"/>
            <a:ext cx="274320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Your notebook</a:t>
            </a:r>
            <a:endParaRPr lang="en-US" sz="1500" dirty="0"/>
          </a:p>
        </p:txBody>
      </p:sp>
      <p:sp>
        <p:nvSpPr>
          <p:cNvPr id="31" name="Text 29"/>
          <p:cNvSpPr txBox="1"/>
          <p:nvPr/>
        </p:nvSpPr>
        <p:spPr>
          <a:xfrm>
            <a:off x="8686800" y="2212848"/>
            <a:ext cx="2743200" cy="594360"/>
          </a:xfrm>
          <a:prstGeom prst="rect">
            <a:avLst/>
          </a:prstGeom>
          <a:noFill/>
          <a:ln/>
        </p:spPr>
        <p:txBody>
          <a:bodyPr wrap="square" lIns="0" tIns="0" rIns="0" bIns="0" rtlCol="0" anchor="ctr"/>
          <a:lstStyle/>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Day2_Practice_</a:t>
            </a:r>
            <a:endParaRPr lang="en-US" sz="1250" dirty="0"/>
          </a:p>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Questions.ipynb</a:t>
            </a:r>
            <a:endParaRPr lang="en-US" sz="1250" dirty="0"/>
          </a:p>
        </p:txBody>
      </p:sp>
      <p:sp>
        <p:nvSpPr>
          <p:cNvPr id="32" name="Text 30"/>
          <p:cNvSpPr txBox="1"/>
          <p:nvPr/>
        </p:nvSpPr>
        <p:spPr>
          <a:xfrm>
            <a:off x="8796528" y="2926080"/>
            <a:ext cx="2651760" cy="16002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Open it in Colab</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Trace before you run</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Raise a hand — I am walking around</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Solutions shared after class</a:t>
            </a:r>
            <a:endParaRPr lang="en-US" sz="1200" dirty="0"/>
          </a:p>
        </p:txBody>
      </p:sp>
      <p:sp>
        <p:nvSpPr>
          <p:cNvPr id="33" name="Shape 31"/>
          <p:cNvSpPr/>
          <p:nvPr/>
        </p:nvSpPr>
        <p:spPr>
          <a:xfrm>
            <a:off x="548640" y="4937760"/>
            <a:ext cx="11064240" cy="914400"/>
          </a:xfrm>
          <a:prstGeom prst="roundRect">
            <a:avLst>
              <a:gd name="adj" fmla="val 9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4" name="Text 32"/>
          <p:cNvSpPr txBox="1"/>
          <p:nvPr/>
        </p:nvSpPr>
        <p:spPr>
          <a:xfrm>
            <a:off x="868680" y="5120640"/>
            <a:ext cx="10424160" cy="457200"/>
          </a:xfrm>
          <a:prstGeom prst="rect">
            <a:avLst/>
          </a:prstGeom>
          <a:noFill/>
          <a:ln/>
        </p:spPr>
        <p:txBody>
          <a:bodyPr wrap="square" lIns="0" tIns="0" rIns="0" bIns="0" rtlCol="0" anchor="ctr"/>
          <a:lstStyle/>
          <a:p>
            <a:pPr indent="0" marL="0">
              <a:buNone/>
            </a:pPr>
            <a:r>
              <a:rPr lang="en-US" sz="1400" b="1" i="1" dirty="0">
                <a:solidFill>
                  <a:srgbClr val="8A5B00"/>
                </a:solidFill>
                <a:latin typeface="Calibri" pitchFamily="34" charset="0"/>
                <a:ea typeface="Calibri" pitchFamily="34" charset="-122"/>
                <a:cs typeface="Calibri" pitchFamily="34" charset="-120"/>
              </a:rPr>
              <a:t>If a cell runs forever, press stop. That is not a mistake to be embarrassed about — it is today's material working exactly as described.</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9966960" y="4480560"/>
            <a:ext cx="3840480" cy="3840480"/>
          </a:xfrm>
          <a:prstGeom prst="ellipse">
            <a:avLst/>
          </a:prstGeom>
          <a:solidFill>
            <a:srgbClr val="1A2A46"/>
          </a:solidFill>
          <a:ln w="12700">
            <a:solidFill>
              <a:srgbClr val="333333"/>
            </a:solidFill>
            <a:prstDash val="solid"/>
          </a:ln>
        </p:spPr>
      </p:sp>
      <p:sp>
        <p:nvSpPr>
          <p:cNvPr id="4" name="Text 2"/>
          <p:cNvSpPr txBox="1"/>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FFC145"/>
                </a:solidFill>
                <a:latin typeface="Calibri" pitchFamily="34" charset="0"/>
                <a:ea typeface="Calibri" pitchFamily="34" charset="-122"/>
                <a:cs typeface="Calibri" pitchFamily="34" charset="-120"/>
              </a:rPr>
              <a:t>TODAY IN TWELVE LINES</a:t>
            </a:r>
            <a:endParaRPr lang="en-US" sz="1200" dirty="0"/>
          </a:p>
        </p:txBody>
      </p:sp>
      <p:sp>
        <p:nvSpPr>
          <p:cNvPr id="5" name="Text 3"/>
          <p:cNvSpPr txBox="1"/>
          <p:nvPr/>
        </p:nvSpPr>
        <p:spPr>
          <a:xfrm>
            <a:off x="640080" y="749808"/>
            <a:ext cx="73152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Recap</a:t>
            </a:r>
            <a:endParaRPr lang="en-US" sz="3400" dirty="0"/>
          </a:p>
        </p:txBody>
      </p:sp>
      <p:sp>
        <p:nvSpPr>
          <p:cNvPr id="6" name="Shape 4"/>
          <p:cNvSpPr/>
          <p:nvPr/>
        </p:nvSpPr>
        <p:spPr>
          <a:xfrm>
            <a:off x="640080" y="1554480"/>
            <a:ext cx="329184" cy="329184"/>
          </a:xfrm>
          <a:prstGeom prst="ellipse">
            <a:avLst/>
          </a:prstGeom>
          <a:solidFill>
            <a:srgbClr val="FFC145"/>
          </a:solidFill>
          <a:ln w="12700">
            <a:solidFill>
              <a:srgbClr val="FFC145"/>
            </a:solidFill>
            <a:prstDash val="solid"/>
          </a:ln>
        </p:spPr>
      </p:sp>
      <p:sp>
        <p:nvSpPr>
          <p:cNvPr id="7" name="Text 5"/>
          <p:cNvSpPr txBox="1"/>
          <p:nvPr/>
        </p:nvSpPr>
        <p:spPr>
          <a:xfrm>
            <a:off x="640080" y="155448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15568" y="1536192"/>
            <a:ext cx="4892040" cy="411480"/>
          </a:xfrm>
          <a:prstGeom prst="rect">
            <a:avLst/>
          </a:prstGeom>
          <a:noFill/>
          <a:ln/>
        </p:spPr>
        <p:txBody>
          <a:bodyPr wrap="square" lIns="0" tIns="0" rIns="0" bIns="0" rtlCol="0" anchor="ctr"/>
          <a:lstStyle/>
          <a:p>
            <a:pPr indent="0" marL="0">
              <a:buNone/>
            </a:pPr>
            <a:r>
              <a:rPr lang="en-US" sz="1250" dirty="0">
                <a:solidFill>
                  <a:srgbClr val="DCE6F3"/>
                </a:solidFill>
                <a:latin typeface="Calibri" pitchFamily="34" charset="0"/>
                <a:ea typeface="Calibri" pitchFamily="34" charset="-122"/>
                <a:cs typeface="Calibri" pitchFamily="34" charset="-120"/>
              </a:rPr>
              <a:t>A colon opens a block; the indent defines it.</a:t>
            </a:r>
            <a:endParaRPr lang="en-US" sz="1250" dirty="0"/>
          </a:p>
        </p:txBody>
      </p:sp>
      <p:sp>
        <p:nvSpPr>
          <p:cNvPr id="9" name="Shape 7"/>
          <p:cNvSpPr/>
          <p:nvPr/>
        </p:nvSpPr>
        <p:spPr>
          <a:xfrm>
            <a:off x="640080" y="2121408"/>
            <a:ext cx="329184" cy="329184"/>
          </a:xfrm>
          <a:prstGeom prst="ellipse">
            <a:avLst/>
          </a:prstGeom>
          <a:solidFill>
            <a:srgbClr val="FFC145"/>
          </a:solidFill>
          <a:ln w="12700">
            <a:solidFill>
              <a:srgbClr val="FFC145"/>
            </a:solidFill>
            <a:prstDash val="solid"/>
          </a:ln>
        </p:spPr>
      </p:sp>
      <p:sp>
        <p:nvSpPr>
          <p:cNvPr id="10" name="Text 8"/>
          <p:cNvSpPr txBox="1"/>
          <p:nvPr/>
        </p:nvSpPr>
        <p:spPr>
          <a:xfrm>
            <a:off x="640080" y="2121408"/>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15568" y="2103120"/>
            <a:ext cx="4892040" cy="411480"/>
          </a:xfrm>
          <a:prstGeom prst="rect">
            <a:avLst/>
          </a:prstGeom>
          <a:noFill/>
          <a:ln/>
        </p:spPr>
        <p:txBody>
          <a:bodyPr wrap="square" lIns="0" tIns="0" rIns="0" bIns="0" rtlCol="0" anchor="ctr"/>
          <a:lstStyle/>
          <a:p>
            <a:pPr indent="0" marL="0">
              <a:buNone/>
            </a:pPr>
            <a:r>
              <a:rPr lang="en-US" sz="1250" dirty="0">
                <a:solidFill>
                  <a:srgbClr val="DCE6F3"/>
                </a:solidFill>
                <a:latin typeface="Calibri" pitchFamily="34" charset="0"/>
                <a:ea typeface="Calibri" pitchFamily="34" charset="-122"/>
                <a:cs typeface="Calibri" pitchFamily="34" charset="-120"/>
              </a:rPr>
              <a:t>if / elif / else: only ONE branch ever runs.</a:t>
            </a:r>
            <a:endParaRPr lang="en-US" sz="1250" dirty="0"/>
          </a:p>
        </p:txBody>
      </p:sp>
      <p:sp>
        <p:nvSpPr>
          <p:cNvPr id="12" name="Shape 10"/>
          <p:cNvSpPr/>
          <p:nvPr/>
        </p:nvSpPr>
        <p:spPr>
          <a:xfrm>
            <a:off x="640080" y="2688336"/>
            <a:ext cx="329184" cy="329184"/>
          </a:xfrm>
          <a:prstGeom prst="ellipse">
            <a:avLst/>
          </a:prstGeom>
          <a:solidFill>
            <a:srgbClr val="FFC145"/>
          </a:solidFill>
          <a:ln w="12700">
            <a:solidFill>
              <a:srgbClr val="FFC145"/>
            </a:solidFill>
            <a:prstDash val="solid"/>
          </a:ln>
        </p:spPr>
      </p:sp>
      <p:sp>
        <p:nvSpPr>
          <p:cNvPr id="13" name="Text 11"/>
          <p:cNvSpPr txBox="1"/>
          <p:nvPr/>
        </p:nvSpPr>
        <p:spPr>
          <a:xfrm>
            <a:off x="640080" y="2688336"/>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15568" y="2670048"/>
            <a:ext cx="4892040" cy="411480"/>
          </a:xfrm>
          <a:prstGeom prst="rect">
            <a:avLst/>
          </a:prstGeom>
          <a:noFill/>
          <a:ln/>
        </p:spPr>
        <p:txBody>
          <a:bodyPr wrap="square" lIns="0" tIns="0" rIns="0" bIns="0" rtlCol="0" anchor="ctr"/>
          <a:lstStyle/>
          <a:p>
            <a:pPr indent="0" marL="0">
              <a:buNone/>
            </a:pPr>
            <a:r>
              <a:rPr lang="en-US" sz="1250" dirty="0">
                <a:solidFill>
                  <a:srgbClr val="DCE6F3"/>
                </a:solidFill>
                <a:latin typeface="Calibri" pitchFamily="34" charset="0"/>
                <a:ea typeface="Calibri" pitchFamily="34" charset="-122"/>
                <a:cs typeface="Calibri" pitchFamily="34" charset="-120"/>
              </a:rPr>
              <a:t>elif order matters — most restrictive first.</a:t>
            </a:r>
            <a:endParaRPr lang="en-US" sz="1250" dirty="0"/>
          </a:p>
        </p:txBody>
      </p:sp>
      <p:sp>
        <p:nvSpPr>
          <p:cNvPr id="15" name="Shape 13"/>
          <p:cNvSpPr/>
          <p:nvPr/>
        </p:nvSpPr>
        <p:spPr>
          <a:xfrm>
            <a:off x="640080" y="3255264"/>
            <a:ext cx="329184" cy="329184"/>
          </a:xfrm>
          <a:prstGeom prst="ellipse">
            <a:avLst/>
          </a:prstGeom>
          <a:solidFill>
            <a:srgbClr val="FFC145"/>
          </a:solidFill>
          <a:ln w="12700">
            <a:solidFill>
              <a:srgbClr val="FFC145"/>
            </a:solidFill>
            <a:prstDash val="solid"/>
          </a:ln>
        </p:spPr>
      </p:sp>
      <p:sp>
        <p:nvSpPr>
          <p:cNvPr id="16" name="Text 14"/>
          <p:cNvSpPr txBox="1"/>
          <p:nvPr/>
        </p:nvSpPr>
        <p:spPr>
          <a:xfrm>
            <a:off x="640080" y="3255264"/>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115568" y="3236976"/>
            <a:ext cx="4892040" cy="411480"/>
          </a:xfrm>
          <a:prstGeom prst="rect">
            <a:avLst/>
          </a:prstGeom>
          <a:noFill/>
          <a:ln/>
        </p:spPr>
        <p:txBody>
          <a:bodyPr wrap="square" lIns="0" tIns="0" rIns="0" bIns="0" rtlCol="0" anchor="ctr"/>
          <a:lstStyle/>
          <a:p>
            <a:pPr indent="0" marL="0">
              <a:buNone/>
            </a:pPr>
            <a:r>
              <a:rPr lang="en-US" sz="1250" dirty="0">
                <a:solidFill>
                  <a:srgbClr val="DCE6F3"/>
                </a:solidFill>
                <a:latin typeface="Calibri" pitchFamily="34" charset="0"/>
                <a:ea typeface="Calibri" pitchFamily="34" charset="-122"/>
                <a:cs typeface="Calibri" pitchFamily="34" charset="-120"/>
              </a:rPr>
              <a:t>Separate ifs are not an elif chain.</a:t>
            </a:r>
            <a:endParaRPr lang="en-US" sz="1250" dirty="0"/>
          </a:p>
        </p:txBody>
      </p:sp>
      <p:sp>
        <p:nvSpPr>
          <p:cNvPr id="18" name="Shape 16"/>
          <p:cNvSpPr/>
          <p:nvPr/>
        </p:nvSpPr>
        <p:spPr>
          <a:xfrm>
            <a:off x="640080" y="3822192"/>
            <a:ext cx="329184" cy="329184"/>
          </a:xfrm>
          <a:prstGeom prst="ellipse">
            <a:avLst/>
          </a:prstGeom>
          <a:solidFill>
            <a:srgbClr val="FFC145"/>
          </a:solidFill>
          <a:ln w="12700">
            <a:solidFill>
              <a:srgbClr val="FFC145"/>
            </a:solidFill>
            <a:prstDash val="solid"/>
          </a:ln>
        </p:spPr>
      </p:sp>
      <p:sp>
        <p:nvSpPr>
          <p:cNvPr id="19" name="Text 17"/>
          <p:cNvSpPr txBox="1"/>
          <p:nvPr/>
        </p:nvSpPr>
        <p:spPr>
          <a:xfrm>
            <a:off x="640080" y="3822192"/>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115568" y="3803904"/>
            <a:ext cx="4892040" cy="411480"/>
          </a:xfrm>
          <a:prstGeom prst="rect">
            <a:avLst/>
          </a:prstGeom>
          <a:noFill/>
          <a:ln/>
        </p:spPr>
        <p:txBody>
          <a:bodyPr wrap="square" lIns="0" tIns="0" rIns="0" bIns="0" rtlCol="0" anchor="ctr"/>
          <a:lstStyle/>
          <a:p>
            <a:pPr indent="0" marL="0">
              <a:buNone/>
            </a:pPr>
            <a:r>
              <a:rPr lang="en-US" sz="1250" dirty="0">
                <a:solidFill>
                  <a:srgbClr val="DCE6F3"/>
                </a:solidFill>
                <a:latin typeface="Calibri" pitchFamily="34" charset="0"/>
                <a:ea typeface="Calibri" pitchFamily="34" charset="-122"/>
                <a:cs typeface="Calibri" pitchFamily="34" charset="-120"/>
              </a:rPr>
              <a:t>for = known count. while = until it changes.</a:t>
            </a:r>
            <a:endParaRPr lang="en-US" sz="1250" dirty="0"/>
          </a:p>
        </p:txBody>
      </p:sp>
      <p:sp>
        <p:nvSpPr>
          <p:cNvPr id="21" name="Shape 19"/>
          <p:cNvSpPr/>
          <p:nvPr/>
        </p:nvSpPr>
        <p:spPr>
          <a:xfrm>
            <a:off x="640080" y="4389120"/>
            <a:ext cx="329184" cy="329184"/>
          </a:xfrm>
          <a:prstGeom prst="ellipse">
            <a:avLst/>
          </a:prstGeom>
          <a:solidFill>
            <a:srgbClr val="FFC145"/>
          </a:solidFill>
          <a:ln w="12700">
            <a:solidFill>
              <a:srgbClr val="FFC145"/>
            </a:solidFill>
            <a:prstDash val="solid"/>
          </a:ln>
        </p:spPr>
      </p:sp>
      <p:sp>
        <p:nvSpPr>
          <p:cNvPr id="22" name="Text 20"/>
          <p:cNvSpPr txBox="1"/>
          <p:nvPr/>
        </p:nvSpPr>
        <p:spPr>
          <a:xfrm>
            <a:off x="640080" y="438912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23" name="Text 21"/>
          <p:cNvSpPr txBox="1"/>
          <p:nvPr/>
        </p:nvSpPr>
        <p:spPr>
          <a:xfrm>
            <a:off x="1115568" y="4370832"/>
            <a:ext cx="4892040" cy="411480"/>
          </a:xfrm>
          <a:prstGeom prst="rect">
            <a:avLst/>
          </a:prstGeom>
          <a:noFill/>
          <a:ln/>
        </p:spPr>
        <p:txBody>
          <a:bodyPr wrap="square" lIns="0" tIns="0" rIns="0" bIns="0" rtlCol="0" anchor="ctr"/>
          <a:lstStyle/>
          <a:p>
            <a:pPr indent="0" marL="0">
              <a:buNone/>
            </a:pPr>
            <a:r>
              <a:rPr lang="en-US" sz="1250" dirty="0">
                <a:solidFill>
                  <a:srgbClr val="DCE6F3"/>
                </a:solidFill>
                <a:latin typeface="Calibri" pitchFamily="34" charset="0"/>
                <a:ea typeface="Calibri" pitchFamily="34" charset="-122"/>
                <a:cs typeface="Calibri" pitchFamily="34" charset="-120"/>
              </a:rPr>
              <a:t>range(stop) excludes stop. 1..5 is range(1, 6).</a:t>
            </a:r>
            <a:endParaRPr lang="en-US" sz="1250" dirty="0"/>
          </a:p>
        </p:txBody>
      </p:sp>
      <p:sp>
        <p:nvSpPr>
          <p:cNvPr id="24" name="Shape 22"/>
          <p:cNvSpPr/>
          <p:nvPr/>
        </p:nvSpPr>
        <p:spPr>
          <a:xfrm>
            <a:off x="6263640" y="1554480"/>
            <a:ext cx="329184" cy="329184"/>
          </a:xfrm>
          <a:prstGeom prst="ellipse">
            <a:avLst/>
          </a:prstGeom>
          <a:solidFill>
            <a:srgbClr val="3E7CB1"/>
          </a:solidFill>
          <a:ln w="12700">
            <a:solidFill>
              <a:srgbClr val="3E7CB1"/>
            </a:solidFill>
            <a:prstDash val="solid"/>
          </a:ln>
        </p:spPr>
      </p:sp>
      <p:sp>
        <p:nvSpPr>
          <p:cNvPr id="25" name="Text 23"/>
          <p:cNvSpPr txBox="1"/>
          <p:nvPr/>
        </p:nvSpPr>
        <p:spPr>
          <a:xfrm>
            <a:off x="6263640" y="15544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6" name="Text 24"/>
          <p:cNvSpPr txBox="1"/>
          <p:nvPr/>
        </p:nvSpPr>
        <p:spPr>
          <a:xfrm>
            <a:off x="6739128" y="1536192"/>
            <a:ext cx="4892040" cy="411480"/>
          </a:xfrm>
          <a:prstGeom prst="rect">
            <a:avLst/>
          </a:prstGeom>
          <a:noFill/>
          <a:ln/>
        </p:spPr>
        <p:txBody>
          <a:bodyPr wrap="square" lIns="0" tIns="0" rIns="0" bIns="0" rtlCol="0" anchor="ctr"/>
          <a:lstStyle/>
          <a:p>
            <a:pPr indent="0" marL="0">
              <a:buNone/>
            </a:pPr>
            <a:r>
              <a:rPr lang="en-US" sz="1250" dirty="0">
                <a:solidFill>
                  <a:srgbClr val="DCE6F3"/>
                </a:solidFill>
                <a:latin typeface="Calibri" pitchFamily="34" charset="0"/>
                <a:ea typeface="Calibri" pitchFamily="34" charset="-122"/>
                <a:cs typeface="Calibri" pitchFamily="34" charset="-120"/>
              </a:rPr>
              <a:t>enumerate for index + item; zip for two lists.</a:t>
            </a:r>
            <a:endParaRPr lang="en-US" sz="1250" dirty="0"/>
          </a:p>
        </p:txBody>
      </p:sp>
      <p:sp>
        <p:nvSpPr>
          <p:cNvPr id="27" name="Shape 25"/>
          <p:cNvSpPr/>
          <p:nvPr/>
        </p:nvSpPr>
        <p:spPr>
          <a:xfrm>
            <a:off x="6263640" y="2121408"/>
            <a:ext cx="329184" cy="329184"/>
          </a:xfrm>
          <a:prstGeom prst="ellipse">
            <a:avLst/>
          </a:prstGeom>
          <a:solidFill>
            <a:srgbClr val="3E7CB1"/>
          </a:solidFill>
          <a:ln w="12700">
            <a:solidFill>
              <a:srgbClr val="3E7CB1"/>
            </a:solidFill>
            <a:prstDash val="solid"/>
          </a:ln>
        </p:spPr>
      </p:sp>
      <p:sp>
        <p:nvSpPr>
          <p:cNvPr id="28" name="Text 26"/>
          <p:cNvSpPr txBox="1"/>
          <p:nvPr/>
        </p:nvSpPr>
        <p:spPr>
          <a:xfrm>
            <a:off x="6263640" y="21214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9" name="Text 27"/>
          <p:cNvSpPr txBox="1"/>
          <p:nvPr/>
        </p:nvSpPr>
        <p:spPr>
          <a:xfrm>
            <a:off x="6739128" y="2103120"/>
            <a:ext cx="4892040" cy="411480"/>
          </a:xfrm>
          <a:prstGeom prst="rect">
            <a:avLst/>
          </a:prstGeom>
          <a:noFill/>
          <a:ln/>
        </p:spPr>
        <p:txBody>
          <a:bodyPr wrap="square" lIns="0" tIns="0" rIns="0" bIns="0" rtlCol="0" anchor="ctr"/>
          <a:lstStyle/>
          <a:p>
            <a:pPr indent="0" marL="0">
              <a:buNone/>
            </a:pPr>
            <a:r>
              <a:rPr lang="en-US" sz="1250" dirty="0">
                <a:solidFill>
                  <a:srgbClr val="DCE6F3"/>
                </a:solidFill>
                <a:latin typeface="Calibri" pitchFamily="34" charset="0"/>
                <a:ea typeface="Calibri" pitchFamily="34" charset="-122"/>
                <a:cs typeface="Calibri" pitchFamily="34" charset="-120"/>
              </a:rPr>
              <a:t>Accumulator: initialise, loop, update.</a:t>
            </a:r>
            <a:endParaRPr lang="en-US" sz="1250" dirty="0"/>
          </a:p>
        </p:txBody>
      </p:sp>
      <p:sp>
        <p:nvSpPr>
          <p:cNvPr id="30" name="Shape 28"/>
          <p:cNvSpPr/>
          <p:nvPr/>
        </p:nvSpPr>
        <p:spPr>
          <a:xfrm>
            <a:off x="6263640" y="2688336"/>
            <a:ext cx="329184" cy="329184"/>
          </a:xfrm>
          <a:prstGeom prst="ellipse">
            <a:avLst/>
          </a:prstGeom>
          <a:solidFill>
            <a:srgbClr val="3E7CB1"/>
          </a:solidFill>
          <a:ln w="12700">
            <a:solidFill>
              <a:srgbClr val="3E7CB1"/>
            </a:solidFill>
            <a:prstDash val="solid"/>
          </a:ln>
        </p:spPr>
      </p:sp>
      <p:sp>
        <p:nvSpPr>
          <p:cNvPr id="31" name="Text 29"/>
          <p:cNvSpPr txBox="1"/>
          <p:nvPr/>
        </p:nvSpPr>
        <p:spPr>
          <a:xfrm>
            <a:off x="6263640" y="2688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txBox="1"/>
          <p:nvPr/>
        </p:nvSpPr>
        <p:spPr>
          <a:xfrm>
            <a:off x="6739128" y="2670048"/>
            <a:ext cx="4892040" cy="411480"/>
          </a:xfrm>
          <a:prstGeom prst="rect">
            <a:avLst/>
          </a:prstGeom>
          <a:noFill/>
          <a:ln/>
        </p:spPr>
        <p:txBody>
          <a:bodyPr wrap="square" lIns="0" tIns="0" rIns="0" bIns="0" rtlCol="0" anchor="ctr"/>
          <a:lstStyle/>
          <a:p>
            <a:pPr indent="0" marL="0">
              <a:buNone/>
            </a:pPr>
            <a:r>
              <a:rPr lang="en-US" sz="1250" dirty="0">
                <a:solidFill>
                  <a:srgbClr val="DCE6F3"/>
                </a:solidFill>
                <a:latin typeface="Calibri" pitchFamily="34" charset="0"/>
                <a:ea typeface="Calibri" pitchFamily="34" charset="-122"/>
                <a:cs typeface="Calibri" pitchFamily="34" charset="-120"/>
              </a:rPr>
              <a:t>Nested loops multiply cost — 1000×1000 = 1M.</a:t>
            </a:r>
            <a:endParaRPr lang="en-US" sz="1250" dirty="0"/>
          </a:p>
        </p:txBody>
      </p:sp>
      <p:sp>
        <p:nvSpPr>
          <p:cNvPr id="33" name="Shape 31"/>
          <p:cNvSpPr/>
          <p:nvPr/>
        </p:nvSpPr>
        <p:spPr>
          <a:xfrm>
            <a:off x="6263640" y="3255264"/>
            <a:ext cx="329184" cy="329184"/>
          </a:xfrm>
          <a:prstGeom prst="ellipse">
            <a:avLst/>
          </a:prstGeom>
          <a:solidFill>
            <a:srgbClr val="3E7CB1"/>
          </a:solidFill>
          <a:ln w="12700">
            <a:solidFill>
              <a:srgbClr val="3E7CB1"/>
            </a:solidFill>
            <a:prstDash val="solid"/>
          </a:ln>
        </p:spPr>
      </p:sp>
      <p:sp>
        <p:nvSpPr>
          <p:cNvPr id="34" name="Text 32"/>
          <p:cNvSpPr txBox="1"/>
          <p:nvPr/>
        </p:nvSpPr>
        <p:spPr>
          <a:xfrm>
            <a:off x="6263640" y="32552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5" name="Text 33"/>
          <p:cNvSpPr txBox="1"/>
          <p:nvPr/>
        </p:nvSpPr>
        <p:spPr>
          <a:xfrm>
            <a:off x="6739128" y="3236976"/>
            <a:ext cx="4892040" cy="411480"/>
          </a:xfrm>
          <a:prstGeom prst="rect">
            <a:avLst/>
          </a:prstGeom>
          <a:noFill/>
          <a:ln/>
        </p:spPr>
        <p:txBody>
          <a:bodyPr wrap="square" lIns="0" tIns="0" rIns="0" bIns="0" rtlCol="0" anchor="ctr"/>
          <a:lstStyle/>
          <a:p>
            <a:pPr indent="0" marL="0">
              <a:buNone/>
            </a:pPr>
            <a:r>
              <a:rPr lang="en-US" sz="1250" dirty="0">
                <a:solidFill>
                  <a:srgbClr val="DCE6F3"/>
                </a:solidFill>
                <a:latin typeface="Calibri" pitchFamily="34" charset="0"/>
                <a:ea typeface="Calibri" pitchFamily="34" charset="-122"/>
                <a:cs typeface="Calibri" pitchFamily="34" charset="-120"/>
              </a:rPr>
              <a:t>A while with no update runs forever. Press stop.</a:t>
            </a:r>
            <a:endParaRPr lang="en-US" sz="1250" dirty="0"/>
          </a:p>
        </p:txBody>
      </p:sp>
      <p:sp>
        <p:nvSpPr>
          <p:cNvPr id="36" name="Shape 34"/>
          <p:cNvSpPr/>
          <p:nvPr/>
        </p:nvSpPr>
        <p:spPr>
          <a:xfrm>
            <a:off x="6263640" y="3822192"/>
            <a:ext cx="329184" cy="329184"/>
          </a:xfrm>
          <a:prstGeom prst="ellipse">
            <a:avLst/>
          </a:prstGeom>
          <a:solidFill>
            <a:srgbClr val="3E7CB1"/>
          </a:solidFill>
          <a:ln w="12700">
            <a:solidFill>
              <a:srgbClr val="3E7CB1"/>
            </a:solidFill>
            <a:prstDash val="solid"/>
          </a:ln>
        </p:spPr>
      </p:sp>
      <p:sp>
        <p:nvSpPr>
          <p:cNvPr id="37" name="Text 35"/>
          <p:cNvSpPr txBox="1"/>
          <p:nvPr/>
        </p:nvSpPr>
        <p:spPr>
          <a:xfrm>
            <a:off x="6263640" y="38221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8" name="Text 36"/>
          <p:cNvSpPr txBox="1"/>
          <p:nvPr/>
        </p:nvSpPr>
        <p:spPr>
          <a:xfrm>
            <a:off x="6739128" y="3803904"/>
            <a:ext cx="4892040" cy="411480"/>
          </a:xfrm>
          <a:prstGeom prst="rect">
            <a:avLst/>
          </a:prstGeom>
          <a:noFill/>
          <a:ln/>
        </p:spPr>
        <p:txBody>
          <a:bodyPr wrap="square" lIns="0" tIns="0" rIns="0" bIns="0" rtlCol="0" anchor="ctr"/>
          <a:lstStyle/>
          <a:p>
            <a:pPr indent="0" marL="0">
              <a:buNone/>
            </a:pPr>
            <a:r>
              <a:rPr lang="en-US" sz="1250" dirty="0">
                <a:solidFill>
                  <a:srgbClr val="DCE6F3"/>
                </a:solidFill>
                <a:latin typeface="Calibri" pitchFamily="34" charset="0"/>
                <a:ea typeface="Calibri" pitchFamily="34" charset="-122"/>
                <a:cs typeface="Calibri" pitchFamily="34" charset="-120"/>
              </a:rPr>
              <a:t>break leaves; continue skips; pass does nothing.</a:t>
            </a:r>
            <a:endParaRPr lang="en-US" sz="1250" dirty="0"/>
          </a:p>
        </p:txBody>
      </p:sp>
      <p:sp>
        <p:nvSpPr>
          <p:cNvPr id="39" name="Shape 37"/>
          <p:cNvSpPr/>
          <p:nvPr/>
        </p:nvSpPr>
        <p:spPr>
          <a:xfrm>
            <a:off x="6263640" y="4389120"/>
            <a:ext cx="329184" cy="329184"/>
          </a:xfrm>
          <a:prstGeom prst="ellipse">
            <a:avLst/>
          </a:prstGeom>
          <a:solidFill>
            <a:srgbClr val="3E7CB1"/>
          </a:solidFill>
          <a:ln w="12700">
            <a:solidFill>
              <a:srgbClr val="3E7CB1"/>
            </a:solidFill>
            <a:prstDash val="solid"/>
          </a:ln>
        </p:spPr>
      </p:sp>
      <p:sp>
        <p:nvSpPr>
          <p:cNvPr id="40" name="Text 38"/>
          <p:cNvSpPr txBox="1"/>
          <p:nvPr/>
        </p:nvSpPr>
        <p:spPr>
          <a:xfrm>
            <a:off x="6263640" y="4389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1" name="Text 39"/>
          <p:cNvSpPr txBox="1"/>
          <p:nvPr/>
        </p:nvSpPr>
        <p:spPr>
          <a:xfrm>
            <a:off x="6739128" y="4370832"/>
            <a:ext cx="4892040" cy="411480"/>
          </a:xfrm>
          <a:prstGeom prst="rect">
            <a:avLst/>
          </a:prstGeom>
          <a:noFill/>
          <a:ln/>
        </p:spPr>
        <p:txBody>
          <a:bodyPr wrap="square" lIns="0" tIns="0" rIns="0" bIns="0" rtlCol="0" anchor="ctr"/>
          <a:lstStyle/>
          <a:p>
            <a:pPr indent="0" marL="0">
              <a:buNone/>
            </a:pPr>
            <a:r>
              <a:rPr lang="en-US" sz="1250" dirty="0">
                <a:solidFill>
                  <a:srgbClr val="DCE6F3"/>
                </a:solidFill>
                <a:latin typeface="Calibri" pitchFamily="34" charset="0"/>
                <a:ea typeface="Calibri" pitchFamily="34" charset="-122"/>
                <a:cs typeface="Calibri" pitchFamily="34" charset="-120"/>
              </a:rPr>
              <a:t>break and continue hit the innermost loop only.</a:t>
            </a:r>
            <a:endParaRPr lang="en-US" sz="1250" dirty="0"/>
          </a:p>
        </p:txBody>
      </p:sp>
      <p:sp>
        <p:nvSpPr>
          <p:cNvPr id="42" name="Shape 40"/>
          <p:cNvSpPr/>
          <p:nvPr/>
        </p:nvSpPr>
        <p:spPr>
          <a:xfrm>
            <a:off x="640080" y="5230368"/>
            <a:ext cx="5349240" cy="1097280"/>
          </a:xfrm>
          <a:prstGeom prst="roundRect">
            <a:avLst>
              <a:gd name="adj" fmla="val 7500"/>
            </a:avLst>
          </a:prstGeom>
          <a:solidFill>
            <a:srgbClr val="1E3151"/>
          </a:solidFill>
          <a:ln w="12700">
            <a:solidFill>
              <a:srgbClr val="333333"/>
            </a:solidFill>
            <a:prstDash val="solid"/>
          </a:ln>
        </p:spPr>
      </p:sp>
      <p:sp>
        <p:nvSpPr>
          <p:cNvPr id="43" name="Text 41"/>
          <p:cNvSpPr txBox="1"/>
          <p:nvPr/>
        </p:nvSpPr>
        <p:spPr>
          <a:xfrm>
            <a:off x="86868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Homework</a:t>
            </a:r>
            <a:endParaRPr lang="en-US" sz="1300" dirty="0"/>
          </a:p>
        </p:txBody>
      </p:sp>
      <p:sp>
        <p:nvSpPr>
          <p:cNvPr id="44" name="Text 42"/>
          <p:cNvSpPr txBox="1"/>
          <p:nvPr/>
        </p:nvSpPr>
        <p:spPr>
          <a:xfrm>
            <a:off x="868680" y="5632704"/>
            <a:ext cx="4892040" cy="594360"/>
          </a:xfrm>
          <a:prstGeom prst="rect">
            <a:avLst/>
          </a:prstGeom>
          <a:noFill/>
          <a:ln/>
        </p:spPr>
        <p:txBody>
          <a:bodyPr wrap="square" lIns="0" tIns="0" rIns="0" bIns="0" rtlCol="0" anchor="ctr"/>
          <a:lstStyle/>
          <a:p>
            <a:pPr indent="0" marL="0">
              <a:lnSpc>
                <a:spcPct val="112000"/>
              </a:lnSpc>
              <a:buNone/>
            </a:pPr>
            <a:r>
              <a:rPr lang="en-US" sz="1150" dirty="0">
                <a:solidFill>
                  <a:srgbClr val="AFC2DC"/>
                </a:solidFill>
                <a:latin typeface="Calibri" pitchFamily="34" charset="0"/>
                <a:ea typeface="Calibri" pitchFamily="34" charset="-122"/>
                <a:cs typeface="Calibri" pitchFamily="34" charset="-120"/>
              </a:rPr>
              <a:t>Extend the guessing game with a hot/cold hint  ·  Print a pyramid of stars of height n  ·  Sum every third number from 1 to 100</a:t>
            </a:r>
            <a:endParaRPr lang="en-US" sz="1150" dirty="0"/>
          </a:p>
        </p:txBody>
      </p:sp>
      <p:sp>
        <p:nvSpPr>
          <p:cNvPr id="45" name="Shape 43"/>
          <p:cNvSpPr/>
          <p:nvPr/>
        </p:nvSpPr>
        <p:spPr>
          <a:xfrm>
            <a:off x="6263640" y="5230368"/>
            <a:ext cx="5349240" cy="1097280"/>
          </a:xfrm>
          <a:prstGeom prst="roundRect">
            <a:avLst>
              <a:gd name="adj" fmla="val 7500"/>
            </a:avLst>
          </a:prstGeom>
          <a:solidFill>
            <a:srgbClr val="1E3151"/>
          </a:solidFill>
          <a:ln w="12700">
            <a:solidFill>
              <a:srgbClr val="333333"/>
            </a:solidFill>
            <a:prstDash val="solid"/>
          </a:ln>
        </p:spPr>
      </p:sp>
      <p:sp>
        <p:nvSpPr>
          <p:cNvPr id="46" name="Text 44"/>
          <p:cNvSpPr txBox="1"/>
          <p:nvPr/>
        </p:nvSpPr>
        <p:spPr>
          <a:xfrm>
            <a:off x="649224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Next class  —  Topic 1.3</a:t>
            </a:r>
            <a:endParaRPr lang="en-US" sz="1300" dirty="0"/>
          </a:p>
        </p:txBody>
      </p:sp>
      <p:sp>
        <p:nvSpPr>
          <p:cNvPr id="47" name="Text 45"/>
          <p:cNvSpPr txBox="1"/>
          <p:nvPr/>
        </p:nvSpPr>
        <p:spPr>
          <a:xfrm>
            <a:off x="6492240" y="5632704"/>
            <a:ext cx="4892040" cy="594360"/>
          </a:xfrm>
          <a:prstGeom prst="rect">
            <a:avLst/>
          </a:prstGeom>
          <a:noFill/>
          <a:ln/>
        </p:spPr>
        <p:txBody>
          <a:bodyPr wrap="square" lIns="0" tIns="0" rIns="0" bIns="0" rtlCol="0" anchor="ctr"/>
          <a:lstStyle/>
          <a:p>
            <a:pPr indent="0" marL="0">
              <a:lnSpc>
                <a:spcPct val="112000"/>
              </a:lnSpc>
              <a:buNone/>
            </a:pPr>
            <a:r>
              <a:rPr lang="en-US" sz="1150" dirty="0">
                <a:solidFill>
                  <a:srgbClr val="AFC2DC"/>
                </a:solidFill>
                <a:latin typeface="Calibri" pitchFamily="34" charset="0"/>
                <a:ea typeface="Calibri" pitchFamily="34" charset="-122"/>
                <a:cs typeface="Calibri" pitchFamily="34" charset="-120"/>
              </a:rPr>
              <a:t>Functions &amp; scope:  def, arguments, default and keyword args, *args / **kwargs, return values, local vs global</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2 - Loops &amp; Conditionals</dc:title>
  <dc:subject>PptxGenJS Presentation</dc:subject>
  <dc:creator>Data Science Program</dc:creator>
  <cp:lastModifiedBy>Data Science Program</cp:lastModifiedBy>
  <cp:revision>1</cp:revision>
  <dcterms:created xsi:type="dcterms:W3CDTF">2026-09-03T03:34:56Z</dcterms:created>
  <dcterms:modified xsi:type="dcterms:W3CDTF">2026-09-03T03:34:56Z</dcterms:modified>
</cp:coreProperties>
</file>