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21 is the payoff for Days 15 to 20. I walk through Project A completely; they do Project B. Both datasets contain deliberately planted problems of exactly the kinds we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shift explicitly. Students who have only ever followed instructions find the open-ended version much harder than they expect, and it helps to say so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six-step shape is reusable for the capstone and for any dataset they meet later. Worth them copying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Telling them the data is dirty is fair - the skill being tested is finding and handling the problems, not guessing whether any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derived-revenue point is important: a missing discount is not the same as a zero discount, and treating it as missing would throw away an otherwise perfectly good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where Day 17's transform earns its place. Dwell on it - 'biggest total' and 'best performing' are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findings are the moment the session lands. Reveal them one at a time as the audit code runs, not all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merge WITHOUT dropping the duplicate customer first, let the assert fire, then fix it. Seeing the failure is worth more than describing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caveat is the part that marks out a trustworthy analyst. A finding without one invites the reader to assume nothing was wrong with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zero-versus-missing distinction is the heart of project B. A zero delay is real data; treating it as missing would bias the average upwards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3's trap is the small-sample problem, which turns up everywhere in Module 2. Flagging it now pays off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50-marks-for-process point out loud. It changes how they spend their time, and it is the honest description of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paste this checklist into their notebook as a final cell and tick it off. It is the fastest route to full marks on the process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ten minutes matter: hearing two classmates articulate a finding teaches the write-up skill faster than any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linking forward: Module 2 formalises the judgement they have been making by eye. 'Is this difference real?' becomes a hypothesis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41732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PYTHON FOR DATA SCIENCE  ·  MODULE 1  ·  TOPIC 1.22</a:t>
            </a:r>
            <a:endParaRPr lang="en-US" sz="1300" dirty="0"/>
          </a:p>
        </p:txBody>
      </p:sp>
      <p:sp>
        <p:nvSpPr>
          <p:cNvPr id="5" name="Text 3"/>
          <p:cNvSpPr txBox="1"/>
          <p:nvPr/>
        </p:nvSpPr>
        <p:spPr>
          <a:xfrm>
            <a:off x="822960" y="1965960"/>
            <a:ext cx="841248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EDA Mini Project</a:t>
            </a:r>
            <a:endParaRPr lang="en-US" sz="4600" dirty="0"/>
          </a:p>
        </p:txBody>
      </p:sp>
      <p:sp>
        <p:nvSpPr>
          <p:cNvPr id="6" name="Text 4"/>
          <p:cNvSpPr txBox="1"/>
          <p:nvPr/>
        </p:nvSpPr>
        <p:spPr>
          <a:xfrm>
            <a:off x="841248" y="3291840"/>
            <a:ext cx="8229600" cy="365760"/>
          </a:xfrm>
          <a:prstGeom prst="rect">
            <a:avLst/>
          </a:prstGeom>
          <a:noFill/>
          <a:ln/>
        </p:spPr>
        <p:txBody>
          <a:bodyPr wrap="square" lIns="0" tIns="0" rIns="0" bIns="0" rtlCol="0" anchor="ctr"/>
          <a:lstStyle/>
          <a:p>
            <a:pPr indent="0" marL="0">
              <a:buNone/>
            </a:pPr>
            <a:r>
              <a:rPr lang="en-US" sz="1800" i="1" dirty="0">
                <a:solidFill>
                  <a:srgbClr val="AFC2DC"/>
                </a:solidFill>
                <a:latin typeface="Calibri" pitchFamily="34" charset="0"/>
                <a:ea typeface="Calibri" pitchFamily="34" charset="-122"/>
                <a:cs typeface="Calibri" pitchFamily="34" charset="-120"/>
              </a:rPr>
              <a:t>Day 21  —  a real dataset, from raw file to written findings</a:t>
            </a:r>
            <a:endParaRPr lang="en-US" sz="1800" dirty="0"/>
          </a:p>
        </p:txBody>
      </p:sp>
      <p:sp>
        <p:nvSpPr>
          <p:cNvPr id="7" name="Shape 5"/>
          <p:cNvSpPr/>
          <p:nvPr/>
        </p:nvSpPr>
        <p:spPr>
          <a:xfrm>
            <a:off x="822960" y="4206240"/>
            <a:ext cx="2468880" cy="1005840"/>
          </a:xfrm>
          <a:prstGeom prst="roundRect">
            <a:avLst>
              <a:gd name="adj" fmla="val 8182"/>
            </a:avLst>
          </a:prstGeom>
          <a:solidFill>
            <a:srgbClr val="1E3151"/>
          </a:solidFill>
          <a:ln w="12700">
            <a:solidFill>
              <a:srgbClr val="1E3151"/>
            </a:solidFill>
            <a:prstDash val="solid"/>
          </a:ln>
        </p:spPr>
      </p:sp>
      <p:sp>
        <p:nvSpPr>
          <p:cNvPr id="8" name="Text 6"/>
          <p:cNvSpPr txBox="1"/>
          <p:nvPr/>
        </p:nvSpPr>
        <p:spPr>
          <a:xfrm>
            <a:off x="1024128" y="4297680"/>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1024128" y="470001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Projects: one taught, one yours</a:t>
            </a:r>
            <a:endParaRPr lang="en-US" sz="1050" dirty="0"/>
          </a:p>
        </p:txBody>
      </p:sp>
      <p:sp>
        <p:nvSpPr>
          <p:cNvPr id="10" name="Shape 8"/>
          <p:cNvSpPr/>
          <p:nvPr/>
        </p:nvSpPr>
        <p:spPr>
          <a:xfrm>
            <a:off x="3566160" y="4206240"/>
            <a:ext cx="2468880" cy="1005840"/>
          </a:xfrm>
          <a:prstGeom prst="roundRect">
            <a:avLst>
              <a:gd name="adj" fmla="val 8182"/>
            </a:avLst>
          </a:prstGeom>
          <a:solidFill>
            <a:srgbClr val="1E3151"/>
          </a:solidFill>
          <a:ln w="12700">
            <a:solidFill>
              <a:srgbClr val="1E3151"/>
            </a:solidFill>
            <a:prstDash val="solid"/>
          </a:ln>
        </p:spPr>
      </p:sp>
      <p:sp>
        <p:nvSpPr>
          <p:cNvPr id="11" name="Text 9"/>
          <p:cNvSpPr txBox="1"/>
          <p:nvPr/>
        </p:nvSpPr>
        <p:spPr>
          <a:xfrm>
            <a:off x="3767328" y="4297680"/>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4</a:t>
            </a:r>
            <a:endParaRPr lang="en-US" sz="2200" dirty="0"/>
          </a:p>
        </p:txBody>
      </p:sp>
      <p:sp>
        <p:nvSpPr>
          <p:cNvPr id="12" name="Text 10"/>
          <p:cNvSpPr txBox="1"/>
          <p:nvPr/>
        </p:nvSpPr>
        <p:spPr>
          <a:xfrm>
            <a:off x="3767328" y="470001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Data files provided</a:t>
            </a:r>
            <a:endParaRPr lang="en-US" sz="1050" dirty="0"/>
          </a:p>
        </p:txBody>
      </p:sp>
      <p:sp>
        <p:nvSpPr>
          <p:cNvPr id="13" name="Shape 11"/>
          <p:cNvSpPr/>
          <p:nvPr/>
        </p:nvSpPr>
        <p:spPr>
          <a:xfrm>
            <a:off x="6309360" y="4206240"/>
            <a:ext cx="2468880" cy="1005840"/>
          </a:xfrm>
          <a:prstGeom prst="roundRect">
            <a:avLst>
              <a:gd name="adj" fmla="val 8182"/>
            </a:avLst>
          </a:prstGeom>
          <a:solidFill>
            <a:srgbClr val="1E3151"/>
          </a:solidFill>
          <a:ln w="12700">
            <a:solidFill>
              <a:srgbClr val="1E3151"/>
            </a:solidFill>
            <a:prstDash val="solid"/>
          </a:ln>
        </p:spPr>
      </p:sp>
      <p:sp>
        <p:nvSpPr>
          <p:cNvPr id="14" name="Text 12"/>
          <p:cNvSpPr txBox="1"/>
          <p:nvPr/>
        </p:nvSpPr>
        <p:spPr>
          <a:xfrm>
            <a:off x="6510528" y="4297680"/>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6</a:t>
            </a:r>
            <a:endParaRPr lang="en-US" sz="2200" dirty="0"/>
          </a:p>
        </p:txBody>
      </p:sp>
      <p:sp>
        <p:nvSpPr>
          <p:cNvPr id="15" name="Text 13"/>
          <p:cNvSpPr txBox="1"/>
          <p:nvPr/>
        </p:nvSpPr>
        <p:spPr>
          <a:xfrm>
            <a:off x="6510528" y="470001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Steps in the workflow</a:t>
            </a:r>
            <a:endParaRPr lang="en-US" sz="105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21/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WHY THIS MATTERS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Everything from the last six sessions, in one piece of work</a:t>
            </a:r>
            <a:endParaRPr lang="en-US" sz="3200" dirty="0"/>
          </a:p>
        </p:txBody>
      </p:sp>
      <p:sp>
        <p:nvSpPr>
          <p:cNvPr id="5" name="Shape 3"/>
          <p:cNvSpPr/>
          <p:nvPr/>
        </p:nvSpPr>
        <p:spPr>
          <a:xfrm>
            <a:off x="548640" y="1627632"/>
            <a:ext cx="544068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49808" y="1810512"/>
            <a:ext cx="1051560" cy="365760"/>
          </a:xfrm>
          <a:prstGeom prst="roundRect">
            <a:avLst>
              <a:gd name="adj" fmla="val 15000"/>
            </a:avLst>
          </a:prstGeom>
          <a:solidFill>
            <a:srgbClr val="3E7CB1"/>
          </a:solidFill>
          <a:ln w="12700">
            <a:solidFill>
              <a:srgbClr val="333333"/>
            </a:solidFill>
            <a:prstDash val="solid"/>
          </a:ln>
        </p:spPr>
      </p:sp>
      <p:sp>
        <p:nvSpPr>
          <p:cNvPr id="7" name="Text 5"/>
          <p:cNvSpPr txBox="1"/>
          <p:nvPr/>
        </p:nvSpPr>
        <p:spPr>
          <a:xfrm>
            <a:off x="749808" y="1810512"/>
            <a:ext cx="10515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Day 15</a:t>
            </a:r>
            <a:endParaRPr lang="en-US" sz="1100" dirty="0"/>
          </a:p>
        </p:txBody>
      </p:sp>
      <p:sp>
        <p:nvSpPr>
          <p:cNvPr id="8" name="Text 6"/>
          <p:cNvSpPr txBox="1"/>
          <p:nvPr/>
        </p:nvSpPr>
        <p:spPr>
          <a:xfrm>
            <a:off x="1920240" y="1847088"/>
            <a:ext cx="3931920" cy="320040"/>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read_csv, inspect, derive columns</a:t>
            </a:r>
            <a:endParaRPr lang="en-US" sz="1250" dirty="0"/>
          </a:p>
        </p:txBody>
      </p:sp>
      <p:sp>
        <p:nvSpPr>
          <p:cNvPr id="9" name="Shape 7"/>
          <p:cNvSpPr/>
          <p:nvPr/>
        </p:nvSpPr>
        <p:spPr>
          <a:xfrm>
            <a:off x="6263640" y="1627632"/>
            <a:ext cx="544068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Shape 8"/>
          <p:cNvSpPr/>
          <p:nvPr/>
        </p:nvSpPr>
        <p:spPr>
          <a:xfrm>
            <a:off x="6464808" y="1810512"/>
            <a:ext cx="1051560" cy="365760"/>
          </a:xfrm>
          <a:prstGeom prst="roundRect">
            <a:avLst>
              <a:gd name="adj" fmla="val 15000"/>
            </a:avLst>
          </a:prstGeom>
          <a:solidFill>
            <a:srgbClr val="3E7CB1"/>
          </a:solidFill>
          <a:ln w="12700">
            <a:solidFill>
              <a:srgbClr val="333333"/>
            </a:solidFill>
            <a:prstDash val="solid"/>
          </a:ln>
        </p:spPr>
      </p:sp>
      <p:sp>
        <p:nvSpPr>
          <p:cNvPr id="11" name="Text 9"/>
          <p:cNvSpPr txBox="1"/>
          <p:nvPr/>
        </p:nvSpPr>
        <p:spPr>
          <a:xfrm>
            <a:off x="6464808" y="1810512"/>
            <a:ext cx="10515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Day 16</a:t>
            </a:r>
            <a:endParaRPr lang="en-US" sz="1100" dirty="0"/>
          </a:p>
        </p:txBody>
      </p:sp>
      <p:sp>
        <p:nvSpPr>
          <p:cNvPr id="12" name="Text 10"/>
          <p:cNvSpPr txBox="1"/>
          <p:nvPr/>
        </p:nvSpPr>
        <p:spPr>
          <a:xfrm>
            <a:off x="7635240" y="1847088"/>
            <a:ext cx="3931920" cy="320040"/>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filter rows, loc, reset_index</a:t>
            </a:r>
            <a:endParaRPr lang="en-US" sz="1250" dirty="0"/>
          </a:p>
        </p:txBody>
      </p:sp>
      <p:sp>
        <p:nvSpPr>
          <p:cNvPr id="13" name="Shape 11"/>
          <p:cNvSpPr/>
          <p:nvPr/>
        </p:nvSpPr>
        <p:spPr>
          <a:xfrm>
            <a:off x="548640" y="2468880"/>
            <a:ext cx="544068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Shape 12"/>
          <p:cNvSpPr/>
          <p:nvPr/>
        </p:nvSpPr>
        <p:spPr>
          <a:xfrm>
            <a:off x="749808" y="2651760"/>
            <a:ext cx="1051560" cy="365760"/>
          </a:xfrm>
          <a:prstGeom prst="roundRect">
            <a:avLst>
              <a:gd name="adj" fmla="val 15000"/>
            </a:avLst>
          </a:prstGeom>
          <a:solidFill>
            <a:srgbClr val="3E7CB1"/>
          </a:solidFill>
          <a:ln w="12700">
            <a:solidFill>
              <a:srgbClr val="333333"/>
            </a:solidFill>
            <a:prstDash val="solid"/>
          </a:ln>
        </p:spPr>
      </p:sp>
      <p:sp>
        <p:nvSpPr>
          <p:cNvPr id="15" name="Text 13"/>
          <p:cNvSpPr txBox="1"/>
          <p:nvPr/>
        </p:nvSpPr>
        <p:spPr>
          <a:xfrm>
            <a:off x="749808" y="2651760"/>
            <a:ext cx="10515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Day 17</a:t>
            </a:r>
            <a:endParaRPr lang="en-US" sz="1100" dirty="0"/>
          </a:p>
        </p:txBody>
      </p:sp>
      <p:sp>
        <p:nvSpPr>
          <p:cNvPr id="16" name="Text 14"/>
          <p:cNvSpPr txBox="1"/>
          <p:nvPr/>
        </p:nvSpPr>
        <p:spPr>
          <a:xfrm>
            <a:off x="1920240" y="2688336"/>
            <a:ext cx="3931920" cy="320040"/>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groupby, agg, transform</a:t>
            </a:r>
            <a:endParaRPr lang="en-US" sz="1250" dirty="0"/>
          </a:p>
        </p:txBody>
      </p:sp>
      <p:sp>
        <p:nvSpPr>
          <p:cNvPr id="17" name="Shape 15"/>
          <p:cNvSpPr/>
          <p:nvPr/>
        </p:nvSpPr>
        <p:spPr>
          <a:xfrm>
            <a:off x="6263640" y="2468880"/>
            <a:ext cx="544068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6464808" y="2651760"/>
            <a:ext cx="1051560" cy="365760"/>
          </a:xfrm>
          <a:prstGeom prst="roundRect">
            <a:avLst>
              <a:gd name="adj" fmla="val 15000"/>
            </a:avLst>
          </a:prstGeom>
          <a:solidFill>
            <a:srgbClr val="FFC145"/>
          </a:solidFill>
          <a:ln w="12700">
            <a:solidFill>
              <a:srgbClr val="333333"/>
            </a:solidFill>
            <a:prstDash val="solid"/>
          </a:ln>
        </p:spPr>
      </p:sp>
      <p:sp>
        <p:nvSpPr>
          <p:cNvPr id="19" name="Text 17"/>
          <p:cNvSpPr txBox="1"/>
          <p:nvPr/>
        </p:nvSpPr>
        <p:spPr>
          <a:xfrm>
            <a:off x="6464808" y="2651760"/>
            <a:ext cx="1051560" cy="365760"/>
          </a:xfrm>
          <a:prstGeom prst="rect">
            <a:avLst/>
          </a:prstGeom>
          <a:noFill/>
          <a:ln/>
        </p:spPr>
        <p:txBody>
          <a:bodyPr wrap="square" lIns="0" tIns="0" rIns="0" bIns="0" rtlCol="0" anchor="ctr"/>
          <a:lstStyle/>
          <a:p>
            <a:pPr algn="ctr" indent="0" marL="0">
              <a:buNone/>
            </a:pPr>
            <a:r>
              <a:rPr lang="en-US" sz="1100" b="1" dirty="0">
                <a:solidFill>
                  <a:srgbClr val="152238"/>
                </a:solidFill>
                <a:latin typeface="Calibri" pitchFamily="34" charset="0"/>
                <a:ea typeface="Calibri" pitchFamily="34" charset="-122"/>
                <a:cs typeface="Calibri" pitchFamily="34" charset="-120"/>
              </a:rPr>
              <a:t>Day 18</a:t>
            </a:r>
            <a:endParaRPr lang="en-US" sz="1100" dirty="0"/>
          </a:p>
        </p:txBody>
      </p:sp>
      <p:sp>
        <p:nvSpPr>
          <p:cNvPr id="20" name="Text 18"/>
          <p:cNvSpPr txBox="1"/>
          <p:nvPr/>
        </p:nvSpPr>
        <p:spPr>
          <a:xfrm>
            <a:off x="7635240" y="2688336"/>
            <a:ext cx="3931920" cy="320040"/>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merge two tables, check row counts</a:t>
            </a:r>
            <a:endParaRPr lang="en-US" sz="1250" dirty="0"/>
          </a:p>
        </p:txBody>
      </p:sp>
      <p:sp>
        <p:nvSpPr>
          <p:cNvPr id="21" name="Shape 19"/>
          <p:cNvSpPr/>
          <p:nvPr/>
        </p:nvSpPr>
        <p:spPr>
          <a:xfrm>
            <a:off x="548640" y="3310128"/>
            <a:ext cx="544068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2" name="Shape 20"/>
          <p:cNvSpPr/>
          <p:nvPr/>
        </p:nvSpPr>
        <p:spPr>
          <a:xfrm>
            <a:off x="749808" y="3493008"/>
            <a:ext cx="1051560" cy="365760"/>
          </a:xfrm>
          <a:prstGeom prst="roundRect">
            <a:avLst>
              <a:gd name="adj" fmla="val 15000"/>
            </a:avLst>
          </a:prstGeom>
          <a:solidFill>
            <a:srgbClr val="E8674C"/>
          </a:solidFill>
          <a:ln w="12700">
            <a:solidFill>
              <a:srgbClr val="333333"/>
            </a:solidFill>
            <a:prstDash val="solid"/>
          </a:ln>
        </p:spPr>
      </p:sp>
      <p:sp>
        <p:nvSpPr>
          <p:cNvPr id="23" name="Text 21"/>
          <p:cNvSpPr txBox="1"/>
          <p:nvPr/>
        </p:nvSpPr>
        <p:spPr>
          <a:xfrm>
            <a:off x="749808" y="3493008"/>
            <a:ext cx="10515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Day 19</a:t>
            </a:r>
            <a:endParaRPr lang="en-US" sz="1100" dirty="0"/>
          </a:p>
        </p:txBody>
      </p:sp>
      <p:sp>
        <p:nvSpPr>
          <p:cNvPr id="24" name="Text 22"/>
          <p:cNvSpPr txBox="1"/>
          <p:nvPr/>
        </p:nvSpPr>
        <p:spPr>
          <a:xfrm>
            <a:off x="1920240" y="3529584"/>
            <a:ext cx="3931920" cy="320040"/>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missing values, sentinels, duplicates</a:t>
            </a:r>
            <a:endParaRPr lang="en-US" sz="1250" dirty="0"/>
          </a:p>
        </p:txBody>
      </p:sp>
      <p:sp>
        <p:nvSpPr>
          <p:cNvPr id="25" name="Shape 23"/>
          <p:cNvSpPr/>
          <p:nvPr/>
        </p:nvSpPr>
        <p:spPr>
          <a:xfrm>
            <a:off x="6263640" y="3310128"/>
            <a:ext cx="544068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Shape 24"/>
          <p:cNvSpPr/>
          <p:nvPr/>
        </p:nvSpPr>
        <p:spPr>
          <a:xfrm>
            <a:off x="6464808" y="3493008"/>
            <a:ext cx="1051560" cy="365760"/>
          </a:xfrm>
          <a:prstGeom prst="roundRect">
            <a:avLst>
              <a:gd name="adj" fmla="val 15000"/>
            </a:avLst>
          </a:prstGeom>
          <a:solidFill>
            <a:srgbClr val="2FA98C"/>
          </a:solidFill>
          <a:ln w="12700">
            <a:solidFill>
              <a:srgbClr val="333333"/>
            </a:solidFill>
            <a:prstDash val="solid"/>
          </a:ln>
        </p:spPr>
      </p:sp>
      <p:sp>
        <p:nvSpPr>
          <p:cNvPr id="27" name="Text 25"/>
          <p:cNvSpPr txBox="1"/>
          <p:nvPr/>
        </p:nvSpPr>
        <p:spPr>
          <a:xfrm>
            <a:off x="6464808" y="3493008"/>
            <a:ext cx="10515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Day 20</a:t>
            </a:r>
            <a:endParaRPr lang="en-US" sz="1100" dirty="0"/>
          </a:p>
        </p:txBody>
      </p:sp>
      <p:sp>
        <p:nvSpPr>
          <p:cNvPr id="28" name="Text 26"/>
          <p:cNvSpPr txBox="1"/>
          <p:nvPr/>
        </p:nvSpPr>
        <p:spPr>
          <a:xfrm>
            <a:off x="7635240" y="3529584"/>
            <a:ext cx="3931920" cy="320040"/>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outliers, matplotlib, seaborn</a:t>
            </a:r>
            <a:endParaRPr lang="en-US" sz="1250" dirty="0"/>
          </a:p>
        </p:txBody>
      </p:sp>
      <p:sp>
        <p:nvSpPr>
          <p:cNvPr id="29" name="Shape 27"/>
          <p:cNvSpPr/>
          <p:nvPr/>
        </p:nvSpPr>
        <p:spPr>
          <a:xfrm>
            <a:off x="548640" y="4206240"/>
            <a:ext cx="11064240" cy="1645920"/>
          </a:xfrm>
          <a:prstGeom prst="roundRect">
            <a:avLst>
              <a:gd name="adj" fmla="val 5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 y="4352544"/>
            <a:ext cx="8229600" cy="274320"/>
          </a:xfrm>
          <a:prstGeom prst="rect">
            <a:avLst/>
          </a:prstGeom>
          <a:noFill/>
          <a:ln/>
        </p:spPr>
        <p:txBody>
          <a:bodyPr wrap="square" lIns="0" tIns="0" rIns="0" bIns="0" rtlCol="0" anchor="ctr"/>
          <a:lstStyle/>
          <a:p>
            <a:pPr indent="0" marL="0">
              <a:buNone/>
            </a:pPr>
            <a:r>
              <a:rPr lang="en-US" sz="1500" b="1" dirty="0">
                <a:solidFill>
                  <a:srgbClr val="8A5B00"/>
                </a:solidFill>
                <a:latin typeface="Calibri" pitchFamily="34" charset="0"/>
                <a:ea typeface="Calibri" pitchFamily="34" charset="-122"/>
                <a:cs typeface="Calibri" pitchFamily="34" charset="-120"/>
              </a:rPr>
              <a:t>The difference between knowing the tools and being able to use them</a:t>
            </a:r>
            <a:endParaRPr lang="en-US" sz="1500" dirty="0"/>
          </a:p>
        </p:txBody>
      </p:sp>
      <p:sp>
        <p:nvSpPr>
          <p:cNvPr id="31" name="Text 29"/>
          <p:cNvSpPr txBox="1"/>
          <p:nvPr/>
        </p:nvSpPr>
        <p:spPr>
          <a:xfrm>
            <a:off x="868680" y="4681728"/>
            <a:ext cx="10424160" cy="1005840"/>
          </a:xfrm>
          <a:prstGeom prst="rect">
            <a:avLst/>
          </a:prstGeom>
          <a:noFill/>
          <a:ln/>
        </p:spPr>
        <p:txBody>
          <a:bodyPr wrap="square" lIns="0" tIns="0" rIns="0" bIns="0" rtlCol="0" anchor="ctr"/>
          <a:lstStyle/>
          <a:p>
            <a:pPr indent="0" marL="0">
              <a:lnSpc>
                <a:spcPct val="120000"/>
              </a:lnSpc>
              <a:buNone/>
            </a:pPr>
            <a:r>
              <a:rPr lang="en-US" sz="1300" dirty="0">
                <a:solidFill>
                  <a:srgbClr val="6B4A0B"/>
                </a:solidFill>
                <a:latin typeface="Calibri" pitchFamily="34" charset="0"/>
                <a:ea typeface="Calibri" pitchFamily="34" charset="-122"/>
                <a:cs typeface="Calibri" pitchFamily="34" charset="-120"/>
              </a:rPr>
              <a:t>Every session so far gave you a clean example and told you which method to use. Today nobody tells you. You get two files and five questions, and the work is deciding what to do — which is the only part that is actually difficult. Expect to spend more time looking at the data than writing code.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THE METHOD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six-step EDA workflow</a:t>
            </a:r>
            <a:endParaRPr lang="en-US" sz="3200" dirty="0"/>
          </a:p>
        </p:txBody>
      </p:sp>
      <p:sp>
        <p:nvSpPr>
          <p:cNvPr id="5" name="Shape 3"/>
          <p:cNvSpPr/>
          <p:nvPr/>
        </p:nvSpPr>
        <p:spPr>
          <a:xfrm>
            <a:off x="548640" y="1645920"/>
            <a:ext cx="5440680" cy="914400"/>
          </a:xfrm>
          <a:prstGeom prst="roundRect">
            <a:avLst>
              <a:gd name="adj" fmla="val 9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49808" y="1883664"/>
            <a:ext cx="420624" cy="420624"/>
          </a:xfrm>
          <a:prstGeom prst="ellipse">
            <a:avLst/>
          </a:prstGeom>
          <a:solidFill>
            <a:srgbClr val="3E7CB1"/>
          </a:solidFill>
          <a:ln w="12700">
            <a:solidFill>
              <a:srgbClr val="3E7CB1"/>
            </a:solidFill>
            <a:prstDash val="solid"/>
          </a:ln>
        </p:spPr>
      </p:sp>
      <p:sp>
        <p:nvSpPr>
          <p:cNvPr id="7" name="Text 5"/>
          <p:cNvSpPr txBox="1"/>
          <p:nvPr/>
        </p:nvSpPr>
        <p:spPr>
          <a:xfrm>
            <a:off x="749808" y="1883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25880" y="1755648"/>
            <a:ext cx="452628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Load &amp; look</a:t>
            </a:r>
            <a:endParaRPr lang="en-US" sz="1400" dirty="0"/>
          </a:p>
        </p:txBody>
      </p:sp>
      <p:sp>
        <p:nvSpPr>
          <p:cNvPr id="9" name="Text 7"/>
          <p:cNvSpPr txBox="1"/>
          <p:nvPr/>
        </p:nvSpPr>
        <p:spPr>
          <a:xfrm>
            <a:off x="1325880" y="2066544"/>
            <a:ext cx="4526280" cy="384048"/>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shape, head, dtypes, info — before anything else</a:t>
            </a:r>
            <a:endParaRPr lang="en-US" sz="1150" dirty="0"/>
          </a:p>
        </p:txBody>
      </p:sp>
      <p:sp>
        <p:nvSpPr>
          <p:cNvPr id="10" name="Shape 8"/>
          <p:cNvSpPr/>
          <p:nvPr/>
        </p:nvSpPr>
        <p:spPr>
          <a:xfrm>
            <a:off x="6263640" y="1645920"/>
            <a:ext cx="5440680" cy="914400"/>
          </a:xfrm>
          <a:prstGeom prst="roundRect">
            <a:avLst>
              <a:gd name="adj" fmla="val 9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6464808" y="1883664"/>
            <a:ext cx="420624" cy="420624"/>
          </a:xfrm>
          <a:prstGeom prst="ellipse">
            <a:avLst/>
          </a:prstGeom>
          <a:solidFill>
            <a:srgbClr val="E8674C"/>
          </a:solidFill>
          <a:ln w="12700">
            <a:solidFill>
              <a:srgbClr val="E8674C"/>
            </a:solidFill>
            <a:prstDash val="solid"/>
          </a:ln>
        </p:spPr>
      </p:sp>
      <p:sp>
        <p:nvSpPr>
          <p:cNvPr id="12" name="Text 10"/>
          <p:cNvSpPr txBox="1"/>
          <p:nvPr/>
        </p:nvSpPr>
        <p:spPr>
          <a:xfrm>
            <a:off x="6464808" y="1883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7040880" y="1755648"/>
            <a:ext cx="452628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Audit</a:t>
            </a:r>
            <a:endParaRPr lang="en-US" sz="1400" dirty="0"/>
          </a:p>
        </p:txBody>
      </p:sp>
      <p:sp>
        <p:nvSpPr>
          <p:cNvPr id="14" name="Text 12"/>
          <p:cNvSpPr txBox="1"/>
          <p:nvPr/>
        </p:nvSpPr>
        <p:spPr>
          <a:xfrm>
            <a:off x="7040880" y="2066544"/>
            <a:ext cx="4526280" cy="384048"/>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missing, sentinels, duplicates, odd values</a:t>
            </a:r>
            <a:endParaRPr lang="en-US" sz="1150" dirty="0"/>
          </a:p>
        </p:txBody>
      </p:sp>
      <p:sp>
        <p:nvSpPr>
          <p:cNvPr id="15" name="Shape 13"/>
          <p:cNvSpPr/>
          <p:nvPr/>
        </p:nvSpPr>
        <p:spPr>
          <a:xfrm>
            <a:off x="548640" y="2670048"/>
            <a:ext cx="5440680" cy="914400"/>
          </a:xfrm>
          <a:prstGeom prst="roundRect">
            <a:avLst>
              <a:gd name="adj" fmla="val 9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749808" y="2907792"/>
            <a:ext cx="420624" cy="420624"/>
          </a:xfrm>
          <a:prstGeom prst="ellipse">
            <a:avLst/>
          </a:prstGeom>
          <a:solidFill>
            <a:srgbClr val="E8674C"/>
          </a:solidFill>
          <a:ln w="12700">
            <a:solidFill>
              <a:srgbClr val="E8674C"/>
            </a:solidFill>
            <a:prstDash val="solid"/>
          </a:ln>
        </p:spPr>
      </p:sp>
      <p:sp>
        <p:nvSpPr>
          <p:cNvPr id="17" name="Text 15"/>
          <p:cNvSpPr txBox="1"/>
          <p:nvPr/>
        </p:nvSpPr>
        <p:spPr>
          <a:xfrm>
            <a:off x="749808" y="29077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25880" y="2779776"/>
            <a:ext cx="452628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Clean</a:t>
            </a:r>
            <a:endParaRPr lang="en-US" sz="1400" dirty="0"/>
          </a:p>
        </p:txBody>
      </p:sp>
      <p:sp>
        <p:nvSpPr>
          <p:cNvPr id="19" name="Text 17"/>
          <p:cNvSpPr txBox="1"/>
          <p:nvPr/>
        </p:nvSpPr>
        <p:spPr>
          <a:xfrm>
            <a:off x="1325880" y="3090672"/>
            <a:ext cx="4526280" cy="384048"/>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normalise text, then deduplicate, then decide on gaps</a:t>
            </a:r>
            <a:endParaRPr lang="en-US" sz="1150" dirty="0"/>
          </a:p>
        </p:txBody>
      </p:sp>
      <p:sp>
        <p:nvSpPr>
          <p:cNvPr id="20" name="Shape 18"/>
          <p:cNvSpPr/>
          <p:nvPr/>
        </p:nvSpPr>
        <p:spPr>
          <a:xfrm>
            <a:off x="6263640" y="2670048"/>
            <a:ext cx="5440680" cy="914400"/>
          </a:xfrm>
          <a:prstGeom prst="roundRect">
            <a:avLst>
              <a:gd name="adj" fmla="val 9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6464808" y="2907792"/>
            <a:ext cx="420624" cy="420624"/>
          </a:xfrm>
          <a:prstGeom prst="ellipse">
            <a:avLst/>
          </a:prstGeom>
          <a:solidFill>
            <a:srgbClr val="FFC145"/>
          </a:solidFill>
          <a:ln w="12700">
            <a:solidFill>
              <a:srgbClr val="FFC145"/>
            </a:solidFill>
            <a:prstDash val="solid"/>
          </a:ln>
        </p:spPr>
      </p:sp>
      <p:sp>
        <p:nvSpPr>
          <p:cNvPr id="22" name="Text 20"/>
          <p:cNvSpPr txBox="1"/>
          <p:nvPr/>
        </p:nvSpPr>
        <p:spPr>
          <a:xfrm>
            <a:off x="6464808" y="290779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7040880" y="2779776"/>
            <a:ext cx="452628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Combine</a:t>
            </a:r>
            <a:endParaRPr lang="en-US" sz="1400" dirty="0"/>
          </a:p>
        </p:txBody>
      </p:sp>
      <p:sp>
        <p:nvSpPr>
          <p:cNvPr id="24" name="Text 22"/>
          <p:cNvSpPr txBox="1"/>
          <p:nvPr/>
        </p:nvSpPr>
        <p:spPr>
          <a:xfrm>
            <a:off x="7040880" y="3090672"/>
            <a:ext cx="4526280" cy="384048"/>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merge the lookup table, check the row count</a:t>
            </a:r>
            <a:endParaRPr lang="en-US" sz="1150" dirty="0"/>
          </a:p>
        </p:txBody>
      </p:sp>
      <p:sp>
        <p:nvSpPr>
          <p:cNvPr id="25" name="Shape 23"/>
          <p:cNvSpPr/>
          <p:nvPr/>
        </p:nvSpPr>
        <p:spPr>
          <a:xfrm>
            <a:off x="548640" y="3694176"/>
            <a:ext cx="5440680" cy="914400"/>
          </a:xfrm>
          <a:prstGeom prst="roundRect">
            <a:avLst>
              <a:gd name="adj" fmla="val 9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Shape 24"/>
          <p:cNvSpPr/>
          <p:nvPr/>
        </p:nvSpPr>
        <p:spPr>
          <a:xfrm>
            <a:off x="749808" y="3931920"/>
            <a:ext cx="420624" cy="420624"/>
          </a:xfrm>
          <a:prstGeom prst="ellipse">
            <a:avLst/>
          </a:prstGeom>
          <a:solidFill>
            <a:srgbClr val="2FA98C"/>
          </a:solidFill>
          <a:ln w="12700">
            <a:solidFill>
              <a:srgbClr val="2FA98C"/>
            </a:solidFill>
            <a:prstDash val="solid"/>
          </a:ln>
        </p:spPr>
      </p:sp>
      <p:sp>
        <p:nvSpPr>
          <p:cNvPr id="27" name="Text 25"/>
          <p:cNvSpPr txBox="1"/>
          <p:nvPr/>
        </p:nvSpPr>
        <p:spPr>
          <a:xfrm>
            <a:off x="749808" y="3931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1325880" y="3803904"/>
            <a:ext cx="452628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Explore</a:t>
            </a:r>
            <a:endParaRPr lang="en-US" sz="1400" dirty="0"/>
          </a:p>
        </p:txBody>
      </p:sp>
      <p:sp>
        <p:nvSpPr>
          <p:cNvPr id="29" name="Text 27"/>
          <p:cNvSpPr txBox="1"/>
          <p:nvPr/>
        </p:nvSpPr>
        <p:spPr>
          <a:xfrm>
            <a:off x="1325880" y="4114800"/>
            <a:ext cx="4526280" cy="384048"/>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groupby and plots — answer the questions</a:t>
            </a:r>
            <a:endParaRPr lang="en-US" sz="1150" dirty="0"/>
          </a:p>
        </p:txBody>
      </p:sp>
      <p:sp>
        <p:nvSpPr>
          <p:cNvPr id="30" name="Shape 28"/>
          <p:cNvSpPr/>
          <p:nvPr/>
        </p:nvSpPr>
        <p:spPr>
          <a:xfrm>
            <a:off x="6263640" y="3694176"/>
            <a:ext cx="5440680" cy="914400"/>
          </a:xfrm>
          <a:prstGeom prst="roundRect">
            <a:avLst>
              <a:gd name="adj" fmla="val 9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1" name="Shape 29"/>
          <p:cNvSpPr/>
          <p:nvPr/>
        </p:nvSpPr>
        <p:spPr>
          <a:xfrm>
            <a:off x="6464808" y="3931920"/>
            <a:ext cx="420624" cy="420624"/>
          </a:xfrm>
          <a:prstGeom prst="ellipse">
            <a:avLst/>
          </a:prstGeom>
          <a:solidFill>
            <a:srgbClr val="2FA98C"/>
          </a:solidFill>
          <a:ln w="12700">
            <a:solidFill>
              <a:srgbClr val="2FA98C"/>
            </a:solidFill>
            <a:prstDash val="solid"/>
          </a:ln>
        </p:spPr>
      </p:sp>
      <p:sp>
        <p:nvSpPr>
          <p:cNvPr id="32" name="Text 30"/>
          <p:cNvSpPr txBox="1"/>
          <p:nvPr/>
        </p:nvSpPr>
        <p:spPr>
          <a:xfrm>
            <a:off x="6464808" y="3931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7040880" y="3803904"/>
            <a:ext cx="452628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Write up</a:t>
            </a:r>
            <a:endParaRPr lang="en-US" sz="1400" dirty="0"/>
          </a:p>
        </p:txBody>
      </p:sp>
      <p:sp>
        <p:nvSpPr>
          <p:cNvPr id="34" name="Text 32"/>
          <p:cNvSpPr txBox="1"/>
          <p:nvPr/>
        </p:nvSpPr>
        <p:spPr>
          <a:xfrm>
            <a:off x="7040880" y="4114800"/>
            <a:ext cx="4526280" cy="384048"/>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findings, in sentences, with the caveats</a:t>
            </a:r>
            <a:endParaRPr lang="en-US" sz="1150" dirty="0"/>
          </a:p>
        </p:txBody>
      </p:sp>
      <p:sp>
        <p:nvSpPr>
          <p:cNvPr id="35" name="Shape 33"/>
          <p:cNvSpPr/>
          <p:nvPr/>
        </p:nvSpPr>
        <p:spPr>
          <a:xfrm>
            <a:off x="548640" y="4846320"/>
            <a:ext cx="11064240" cy="1005840"/>
          </a:xfrm>
          <a:prstGeom prst="roundRect">
            <a:avLst>
              <a:gd name="adj" fmla="val 8182"/>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Text 34"/>
          <p:cNvSpPr txBox="1"/>
          <p:nvPr/>
        </p:nvSpPr>
        <p:spPr>
          <a:xfrm>
            <a:off x="868680" y="5029200"/>
            <a:ext cx="10424160" cy="685800"/>
          </a:xfrm>
          <a:prstGeom prst="rect">
            <a:avLst/>
          </a:prstGeom>
          <a:noFill/>
          <a:ln/>
        </p:spPr>
        <p:txBody>
          <a:bodyPr wrap="square" lIns="0" tIns="0" rIns="0" bIns="0" rtlCol="0" anchor="ctr"/>
          <a:lstStyle/>
          <a:p>
            <a:pPr indent="0" marL="0">
              <a:lnSpc>
                <a:spcPct val="115000"/>
              </a:lnSpc>
              <a:buNone/>
            </a:pPr>
            <a:r>
              <a:rPr lang="en-US" sz="1250" b="1" dirty="0">
                <a:solidFill>
                  <a:srgbClr val="1C6F5C"/>
                </a:solidFill>
                <a:latin typeface="Calibri" pitchFamily="34" charset="0"/>
                <a:ea typeface="Calibri" pitchFamily="34" charset="-122"/>
                <a:cs typeface="Calibri" pitchFamily="34" charset="-120"/>
              </a:rPr>
              <a:t>The order matters.  </a:t>
            </a:r>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Auditing before cleaning stops you fixing things that were not broken. Normalising text before deduplicating is the Day 19 rule. Merging before cleaning multiplies your mess. And writing up last means your findings describe the data you actually ended with, not the one you started with.</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TODAY'S WORK</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Two projects — I do one, you do the other</a:t>
            </a:r>
            <a:endParaRPr lang="en-US" sz="3200" dirty="0"/>
          </a:p>
        </p:txBody>
      </p:sp>
      <p:sp>
        <p:nvSpPr>
          <p:cNvPr id="5" name="Shape 3"/>
          <p:cNvSpPr/>
          <p:nvPr/>
        </p:nvSpPr>
        <p:spPr>
          <a:xfrm>
            <a:off x="548640" y="1572768"/>
            <a:ext cx="5486400" cy="3017520"/>
          </a:xfrm>
          <a:prstGeom prst="roundRect">
            <a:avLst>
              <a:gd name="adj" fmla="val 2727"/>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37360"/>
            <a:ext cx="1737360" cy="365760"/>
          </a:xfrm>
          <a:prstGeom prst="roundRect">
            <a:avLst>
              <a:gd name="adj" fmla="val 15000"/>
            </a:avLst>
          </a:prstGeom>
          <a:solidFill>
            <a:srgbClr val="2FA98C"/>
          </a:solidFill>
          <a:ln w="12700">
            <a:solidFill>
              <a:srgbClr val="333333"/>
            </a:solidFill>
            <a:prstDash val="solid"/>
          </a:ln>
        </p:spPr>
      </p:sp>
      <p:sp>
        <p:nvSpPr>
          <p:cNvPr id="7" name="Text 5"/>
          <p:cNvSpPr txBox="1"/>
          <p:nvPr/>
        </p:nvSpPr>
        <p:spPr>
          <a:xfrm>
            <a:off x="804672" y="1737360"/>
            <a:ext cx="17373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PROJECT A</a:t>
            </a:r>
            <a:endParaRPr lang="en-US" sz="1100" dirty="0"/>
          </a:p>
        </p:txBody>
      </p:sp>
      <p:sp>
        <p:nvSpPr>
          <p:cNvPr id="8" name="Text 6"/>
          <p:cNvSpPr txBox="1"/>
          <p:nvPr/>
        </p:nvSpPr>
        <p:spPr>
          <a:xfrm>
            <a:off x="2697480" y="1764792"/>
            <a:ext cx="3108960" cy="320040"/>
          </a:xfrm>
          <a:prstGeom prst="rect">
            <a:avLst/>
          </a:prstGeom>
          <a:noFill/>
          <a:ln/>
        </p:spPr>
        <p:txBody>
          <a:bodyPr wrap="square" lIns="0" tIns="0" rIns="0" bIns="0" rtlCol="0" anchor="ctr"/>
          <a:lstStyle/>
          <a:p>
            <a:pPr indent="0" marL="0">
              <a:buNone/>
            </a:pPr>
            <a:r>
              <a:rPr lang="en-US" sz="1700" b="1" dirty="0">
                <a:solidFill>
                  <a:srgbClr val="1F3A5F"/>
                </a:solidFill>
                <a:latin typeface="Calibri" pitchFamily="34" charset="0"/>
                <a:ea typeface="Calibri" pitchFamily="34" charset="-122"/>
                <a:cs typeface="Calibri" pitchFamily="34" charset="-120"/>
              </a:rPr>
              <a:t>Retail orders</a:t>
            </a:r>
            <a:endParaRPr lang="en-US" sz="1700" dirty="0"/>
          </a:p>
        </p:txBody>
      </p:sp>
      <p:sp>
        <p:nvSpPr>
          <p:cNvPr id="9" name="Text 7"/>
          <p:cNvSpPr txBox="1"/>
          <p:nvPr/>
        </p:nvSpPr>
        <p:spPr>
          <a:xfrm>
            <a:off x="804672" y="2240280"/>
            <a:ext cx="4983480" cy="54864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I walk through this one end to end, on screen, thinking out loud — including the wrong turns.</a:t>
            </a:r>
            <a:endParaRPr lang="en-US" sz="1250" dirty="0"/>
          </a:p>
        </p:txBody>
      </p:sp>
      <p:sp>
        <p:nvSpPr>
          <p:cNvPr id="10" name="Shape 8"/>
          <p:cNvSpPr/>
          <p:nvPr/>
        </p:nvSpPr>
        <p:spPr>
          <a:xfrm>
            <a:off x="804672" y="2834640"/>
            <a:ext cx="4983480" cy="868680"/>
          </a:xfrm>
          <a:prstGeom prst="roundRect">
            <a:avLst>
              <a:gd name="adj" fmla="val 7368"/>
            </a:avLst>
          </a:prstGeom>
          <a:solidFill>
            <a:srgbClr val="1B2B45"/>
          </a:solidFill>
          <a:ln w="12700">
            <a:solidFill>
              <a:srgbClr val="1B2B45"/>
            </a:solidFill>
            <a:prstDash val="solid"/>
          </a:ln>
        </p:spPr>
      </p:sp>
      <p:sp>
        <p:nvSpPr>
          <p:cNvPr id="11" name="Text 9"/>
          <p:cNvSpPr txBox="1"/>
          <p:nvPr/>
        </p:nvSpPr>
        <p:spPr>
          <a:xfrm>
            <a:off x="969264" y="2944368"/>
            <a:ext cx="4654296" cy="64922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orders.csv       423 rows  x 7 cols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customers.csv     81 rows  x 5 cols</a:t>
            </a:r>
            <a:endParaRPr lang="en-US" sz="1050" dirty="0"/>
          </a:p>
        </p:txBody>
      </p:sp>
      <p:sp>
        <p:nvSpPr>
          <p:cNvPr id="12" name="Text 10"/>
          <p:cNvSpPr txBox="1"/>
          <p:nvPr/>
        </p:nvSpPr>
        <p:spPr>
          <a:xfrm>
            <a:off x="804672" y="3840480"/>
            <a:ext cx="4983480" cy="548640"/>
          </a:xfrm>
          <a:prstGeom prst="rect">
            <a:avLst/>
          </a:prstGeom>
          <a:noFill/>
          <a:ln/>
        </p:spPr>
        <p:txBody>
          <a:bodyPr wrap="square" lIns="0" tIns="0" rIns="0" bIns="0" rtlCol="0" anchor="ctr"/>
          <a:lstStyle/>
          <a:p>
            <a:pPr indent="0" marL="0">
              <a:lnSpc>
                <a:spcPct val="115000"/>
              </a:lnSpc>
              <a:buNone/>
            </a:pPr>
            <a:r>
              <a:rPr lang="en-US" sz="1200" i="1" dirty="0">
                <a:solidFill>
                  <a:srgbClr val="1C6F5C"/>
                </a:solidFill>
                <a:latin typeface="Calibri" pitchFamily="34" charset="0"/>
                <a:ea typeface="Calibri" pitchFamily="34" charset="-122"/>
                <a:cs typeface="Calibri" pitchFamily="34" charset="-120"/>
              </a:rPr>
              <a:t>Follow along, but do not race ahead — the point is the reasoning, not the typing.</a:t>
            </a:r>
            <a:endParaRPr lang="en-US" sz="1200" dirty="0"/>
          </a:p>
        </p:txBody>
      </p:sp>
      <p:sp>
        <p:nvSpPr>
          <p:cNvPr id="13" name="Shape 11"/>
          <p:cNvSpPr/>
          <p:nvPr/>
        </p:nvSpPr>
        <p:spPr>
          <a:xfrm>
            <a:off x="6309360" y="1572768"/>
            <a:ext cx="5303520" cy="3017520"/>
          </a:xfrm>
          <a:prstGeom prst="roundRect">
            <a:avLst>
              <a:gd name="adj" fmla="val 2727"/>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Shape 12"/>
          <p:cNvSpPr/>
          <p:nvPr/>
        </p:nvSpPr>
        <p:spPr>
          <a:xfrm>
            <a:off x="6565392" y="1737360"/>
            <a:ext cx="1737360" cy="365760"/>
          </a:xfrm>
          <a:prstGeom prst="roundRect">
            <a:avLst>
              <a:gd name="adj" fmla="val 15000"/>
            </a:avLst>
          </a:prstGeom>
          <a:solidFill>
            <a:srgbClr val="FFC145"/>
          </a:solidFill>
          <a:ln w="12700">
            <a:solidFill>
              <a:srgbClr val="333333"/>
            </a:solidFill>
            <a:prstDash val="solid"/>
          </a:ln>
        </p:spPr>
      </p:sp>
      <p:sp>
        <p:nvSpPr>
          <p:cNvPr id="15" name="Text 13"/>
          <p:cNvSpPr txBox="1"/>
          <p:nvPr/>
        </p:nvSpPr>
        <p:spPr>
          <a:xfrm>
            <a:off x="6565392" y="1737360"/>
            <a:ext cx="1737360" cy="365760"/>
          </a:xfrm>
          <a:prstGeom prst="rect">
            <a:avLst/>
          </a:prstGeom>
          <a:noFill/>
          <a:ln/>
        </p:spPr>
        <p:txBody>
          <a:bodyPr wrap="square" lIns="0" tIns="0" rIns="0" bIns="0" rtlCol="0" anchor="ctr"/>
          <a:lstStyle/>
          <a:p>
            <a:pPr algn="ctr" indent="0" marL="0">
              <a:buNone/>
            </a:pPr>
            <a:r>
              <a:rPr lang="en-US" sz="1100" b="1" dirty="0">
                <a:solidFill>
                  <a:srgbClr val="152238"/>
                </a:solidFill>
                <a:latin typeface="Calibri" pitchFamily="34" charset="0"/>
                <a:ea typeface="Calibri" pitchFamily="34" charset="-122"/>
                <a:cs typeface="Calibri" pitchFamily="34" charset="-120"/>
              </a:rPr>
              <a:t>PROJECT B</a:t>
            </a:r>
            <a:endParaRPr lang="en-US" sz="1100" dirty="0"/>
          </a:p>
        </p:txBody>
      </p:sp>
      <p:sp>
        <p:nvSpPr>
          <p:cNvPr id="16" name="Text 14"/>
          <p:cNvSpPr txBox="1"/>
          <p:nvPr/>
        </p:nvSpPr>
        <p:spPr>
          <a:xfrm>
            <a:off x="8458200" y="1764792"/>
            <a:ext cx="2926080" cy="320040"/>
          </a:xfrm>
          <a:prstGeom prst="rect">
            <a:avLst/>
          </a:prstGeom>
          <a:noFill/>
          <a:ln/>
        </p:spPr>
        <p:txBody>
          <a:bodyPr wrap="square" lIns="0" tIns="0" rIns="0" bIns="0" rtlCol="0" anchor="ctr"/>
          <a:lstStyle/>
          <a:p>
            <a:pPr indent="0" marL="0">
              <a:buNone/>
            </a:pPr>
            <a:r>
              <a:rPr lang="en-US" sz="1700" b="1" dirty="0">
                <a:solidFill>
                  <a:srgbClr val="1F3A5F"/>
                </a:solidFill>
                <a:latin typeface="Calibri" pitchFamily="34" charset="0"/>
                <a:ea typeface="Calibri" pitchFamily="34" charset="-122"/>
                <a:cs typeface="Calibri" pitchFamily="34" charset="-120"/>
              </a:rPr>
              <a:t>Flight delays</a:t>
            </a:r>
            <a:endParaRPr lang="en-US" sz="1700" dirty="0"/>
          </a:p>
        </p:txBody>
      </p:sp>
      <p:sp>
        <p:nvSpPr>
          <p:cNvPr id="17" name="Text 15"/>
          <p:cNvSpPr txBox="1"/>
          <p:nvPr/>
        </p:nvSpPr>
        <p:spPr>
          <a:xfrm>
            <a:off x="6565392" y="2240280"/>
            <a:ext cx="4800600" cy="54864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Yours. Same six steps, different data, different problems — and nobody tells you which method to reach for.</a:t>
            </a:r>
            <a:endParaRPr lang="en-US" sz="1250" dirty="0"/>
          </a:p>
        </p:txBody>
      </p:sp>
      <p:sp>
        <p:nvSpPr>
          <p:cNvPr id="18" name="Shape 16"/>
          <p:cNvSpPr/>
          <p:nvPr/>
        </p:nvSpPr>
        <p:spPr>
          <a:xfrm>
            <a:off x="6565392" y="2834640"/>
            <a:ext cx="4800600" cy="868680"/>
          </a:xfrm>
          <a:prstGeom prst="roundRect">
            <a:avLst>
              <a:gd name="adj" fmla="val 7368"/>
            </a:avLst>
          </a:prstGeom>
          <a:solidFill>
            <a:srgbClr val="1B2B45"/>
          </a:solidFill>
          <a:ln w="12700">
            <a:solidFill>
              <a:srgbClr val="1B2B45"/>
            </a:solidFill>
            <a:prstDash val="solid"/>
          </a:ln>
        </p:spPr>
      </p:sp>
      <p:sp>
        <p:nvSpPr>
          <p:cNvPr id="19" name="Text 17"/>
          <p:cNvSpPr txBox="1"/>
          <p:nvPr/>
        </p:nvSpPr>
        <p:spPr>
          <a:xfrm>
            <a:off x="6729984" y="2944368"/>
            <a:ext cx="4471416" cy="64922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flights.csv      511 rows  x 7 cols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airlines.csv       6 rows  x 3 cols</a:t>
            </a:r>
            <a:endParaRPr lang="en-US" sz="1050" dirty="0"/>
          </a:p>
        </p:txBody>
      </p:sp>
      <p:sp>
        <p:nvSpPr>
          <p:cNvPr id="20" name="Text 18"/>
          <p:cNvSpPr txBox="1"/>
          <p:nvPr/>
        </p:nvSpPr>
        <p:spPr>
          <a:xfrm>
            <a:off x="6565392" y="3840480"/>
            <a:ext cx="4800600" cy="548640"/>
          </a:xfrm>
          <a:prstGeom prst="rect">
            <a:avLst/>
          </a:prstGeom>
          <a:noFill/>
          <a:ln/>
        </p:spPr>
        <p:txBody>
          <a:bodyPr wrap="square" lIns="0" tIns="0" rIns="0" bIns="0" rtlCol="0" anchor="ctr"/>
          <a:lstStyle/>
          <a:p>
            <a:pPr indent="0" marL="0">
              <a:lnSpc>
                <a:spcPct val="115000"/>
              </a:lnSpc>
              <a:buNone/>
            </a:pPr>
            <a:r>
              <a:rPr lang="en-US" sz="1200" i="1" dirty="0">
                <a:solidFill>
                  <a:srgbClr val="8A5B00"/>
                </a:solidFill>
                <a:latin typeface="Calibri" pitchFamily="34" charset="0"/>
                <a:ea typeface="Calibri" pitchFamily="34" charset="-122"/>
                <a:cs typeface="Calibri" pitchFamily="34" charset="-120"/>
              </a:rPr>
              <a:t>Submit the notebook plus five written findings. Marking is on the next-to-last slide.</a:t>
            </a:r>
            <a:endParaRPr lang="en-US" sz="1200" dirty="0"/>
          </a:p>
        </p:txBody>
      </p:sp>
      <p:sp>
        <p:nvSpPr>
          <p:cNvPr id="21" name="Shape 19"/>
          <p:cNvSpPr/>
          <p:nvPr/>
        </p:nvSpPr>
        <p:spPr>
          <a:xfrm>
            <a:off x="548640" y="4754880"/>
            <a:ext cx="11064240" cy="1097280"/>
          </a:xfrm>
          <a:prstGeom prst="roundRect">
            <a:avLst>
              <a:gd name="adj" fmla="val 75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2" name="Text 20"/>
          <p:cNvSpPr txBox="1"/>
          <p:nvPr/>
        </p:nvSpPr>
        <p:spPr>
          <a:xfrm>
            <a:off x="868680" y="4937760"/>
            <a:ext cx="10424160" cy="777240"/>
          </a:xfrm>
          <a:prstGeom prst="rect">
            <a:avLst/>
          </a:prstGeom>
          <a:noFill/>
          <a:ln/>
        </p:spPr>
        <p:txBody>
          <a:bodyPr wrap="square" lIns="0" tIns="0" rIns="0" bIns="0" rtlCol="0" anchor="ctr"/>
          <a:lstStyle/>
          <a:p>
            <a:pPr indent="0" marL="0">
              <a:lnSpc>
                <a:spcPct val="115000"/>
              </a:lnSpc>
              <a:buNone/>
            </a:pPr>
            <a:r>
              <a:rPr lang="en-US" sz="1250" b="1" dirty="0">
                <a:solidFill>
                  <a:srgbClr val="A63B24"/>
                </a:solidFill>
                <a:latin typeface="Calibri" pitchFamily="34" charset="0"/>
                <a:ea typeface="Calibri" pitchFamily="34" charset="-122"/>
                <a:cs typeface="Calibri" pitchFamily="34" charset="-120"/>
              </a:rPr>
              <a:t>⚠  Both datasets are deliberately dirty.  </a:t>
            </a:r>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Every problem in them is one we have covered: sentinel values pandas will not flag, inconsistent text, duplicate rows, a key that matches nothing, and outliers that are NOT errors. If your first numbers look suspiciously clean, you have not audited properly.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Project A — Retail Orders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The walkthrough  ·  45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data</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Five questions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Steps 1 to 6 live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THE DATA</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Project A — what you are given</a:t>
            </a:r>
            <a:endParaRPr lang="en-US" sz="3200" dirty="0"/>
          </a:p>
        </p:txBody>
      </p:sp>
      <p:sp>
        <p:nvSpPr>
          <p:cNvPr id="5" name="Shape 3"/>
          <p:cNvSpPr/>
          <p:nvPr/>
        </p:nvSpPr>
        <p:spPr>
          <a:xfrm>
            <a:off x="548640" y="1572768"/>
            <a:ext cx="5760720" cy="2651760"/>
          </a:xfrm>
          <a:prstGeom prst="roundRect">
            <a:avLst>
              <a:gd name="adj" fmla="val 31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orders.csv  —  423 rows</a:t>
            </a:r>
            <a:endParaRPr lang="en-US" sz="1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04672" y="2103120"/>
          <a:ext cx="5257800" cy="914400"/>
        </p:xfrm>
        <a:graphic>
          <a:graphicData uri="http://schemas.openxmlformats.org/drawingml/2006/table">
            <a:tbl>
              <a:tblPr/>
              <a:tblGrid>
                <a:gridCol w="2103120"/>
                <a:gridCol w="3154680"/>
              </a:tblGrid>
              <a:tr h="29260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order_id</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unique per order — in theory</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customer_id</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links to customers.csv</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order_date</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2025, as text</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category</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product group</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quantity</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units ordered</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unit_price</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price per unit, Rs</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discount_pct</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0 to 20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8" name="Shape 5"/>
          <p:cNvSpPr/>
          <p:nvPr/>
        </p:nvSpPr>
        <p:spPr>
          <a:xfrm>
            <a:off x="6583680" y="1572768"/>
            <a:ext cx="502920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6"/>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customers.csv  —  81 rows</a:t>
            </a:r>
            <a:endParaRPr lang="en-US" sz="14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839712" y="2103120"/>
          <a:ext cx="4526280" cy="914400"/>
        </p:xfrm>
        <a:graphic>
          <a:graphicData uri="http://schemas.openxmlformats.org/drawingml/2006/table">
            <a:tbl>
              <a:tblPr/>
              <a:tblGrid>
                <a:gridCol w="1828800"/>
                <a:gridCol w="2697480"/>
              </a:tblGrid>
              <a:tr h="29260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292608">
                <a:tc>
                  <a:txBody>
                    <a:bodyPr/>
                    <a:lstStyle/>
                    <a:p>
                      <a:pPr indent="0" marL="0">
                        <a:buNone/>
                      </a:pPr>
                      <a:r>
                        <a:rPr lang="en-US" sz="1000" b="1" dirty="0">
                          <a:solidFill>
                            <a:srgbClr val="1F3A5F"/>
                          </a:solidFill>
                          <a:latin typeface="Courier New" pitchFamily="34" charset="0"/>
                          <a:ea typeface="Courier New" pitchFamily="34" charset="-122"/>
                          <a:cs typeface="Courier New" pitchFamily="34" charset="-120"/>
                        </a:rPr>
                        <a:t>customer_id</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the key</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00" b="1" dirty="0">
                          <a:solidFill>
                            <a:srgbClr val="1F3A5F"/>
                          </a:solidFill>
                          <a:latin typeface="Courier New" pitchFamily="34" charset="0"/>
                          <a:ea typeface="Courier New" pitchFamily="34" charset="-122"/>
                          <a:cs typeface="Courier New" pitchFamily="34" charset="-120"/>
                        </a:rPr>
                        <a:t>name</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customer name</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00" b="1" dirty="0">
                          <a:solidFill>
                            <a:srgbClr val="1F3A5F"/>
                          </a:solidFill>
                          <a:latin typeface="Courier New" pitchFamily="34" charset="0"/>
                          <a:ea typeface="Courier New" pitchFamily="34" charset="-122"/>
                          <a:cs typeface="Courier New" pitchFamily="34" charset="-120"/>
                        </a:rPr>
                        <a:t>city</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one of five</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00" b="1" dirty="0">
                          <a:solidFill>
                            <a:srgbClr val="1F3A5F"/>
                          </a:solidFill>
                          <a:latin typeface="Courier New" pitchFamily="34" charset="0"/>
                          <a:ea typeface="Courier New" pitchFamily="34" charset="-122"/>
                          <a:cs typeface="Courier New" pitchFamily="34" charset="-120"/>
                        </a:rPr>
                        <a:t>segment</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Consumer / Corporate / Home Office</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00" b="1" dirty="0">
                          <a:solidFill>
                            <a:srgbClr val="1F3A5F"/>
                          </a:solidFill>
                          <a:latin typeface="Courier New" pitchFamily="34" charset="0"/>
                          <a:ea typeface="Courier New" pitchFamily="34" charset="-122"/>
                          <a:cs typeface="Courier New" pitchFamily="34" charset="-120"/>
                        </a:rPr>
                        <a:t>signup_year</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2019 to 2025</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1" name="Text 7"/>
          <p:cNvSpPr txBox="1"/>
          <p:nvPr/>
        </p:nvSpPr>
        <p:spPr>
          <a:xfrm>
            <a:off x="6839712" y="3749040"/>
            <a:ext cx="4526280" cy="411480"/>
          </a:xfrm>
          <a:prstGeom prst="rect">
            <a:avLst/>
          </a:prstGeom>
          <a:noFill/>
          <a:ln/>
        </p:spPr>
        <p:txBody>
          <a:bodyPr wrap="square" lIns="0" tIns="0" rIns="0" bIns="0" rtlCol="0" anchor="ctr"/>
          <a:lstStyle/>
          <a:p>
            <a:pPr indent="0" marL="0">
              <a:buNone/>
            </a:pPr>
            <a:r>
              <a:rPr lang="en-US" sz="1150" b="1" dirty="0">
                <a:solidFill>
                  <a:srgbClr val="1C6F5C"/>
                </a:solidFill>
                <a:latin typeface="Calibri" pitchFamily="34" charset="0"/>
                <a:ea typeface="Calibri" pitchFamily="34" charset="-122"/>
                <a:cs typeface="Calibri" pitchFamily="34" charset="-120"/>
              </a:rPr>
              <a:t>81 rows for 80 customers. That one extra row is your first finding.</a:t>
            </a:r>
            <a:endParaRPr lang="en-US" sz="1150" dirty="0"/>
          </a:p>
        </p:txBody>
      </p:sp>
      <p:sp>
        <p:nvSpPr>
          <p:cNvPr id="12" name="Shape 8"/>
          <p:cNvSpPr/>
          <p:nvPr/>
        </p:nvSpPr>
        <p:spPr>
          <a:xfrm>
            <a:off x="548640" y="4343400"/>
            <a:ext cx="11064240" cy="1508760"/>
          </a:xfrm>
          <a:prstGeom prst="roundRect">
            <a:avLst>
              <a:gd name="adj" fmla="val 545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9"/>
          <p:cNvSpPr txBox="1"/>
          <p:nvPr/>
        </p:nvSpPr>
        <p:spPr>
          <a:xfrm>
            <a:off x="868680" y="448970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Revenue is not a column — you have to build it</a:t>
            </a:r>
            <a:endParaRPr lang="en-US" sz="1450" dirty="0"/>
          </a:p>
        </p:txBody>
      </p:sp>
      <p:sp>
        <p:nvSpPr>
          <p:cNvPr id="14" name="Shape 10"/>
          <p:cNvSpPr/>
          <p:nvPr/>
        </p:nvSpPr>
        <p:spPr>
          <a:xfrm>
            <a:off x="868680" y="4800600"/>
            <a:ext cx="5212080" cy="548640"/>
          </a:xfrm>
          <a:prstGeom prst="roundRect">
            <a:avLst>
              <a:gd name="adj" fmla="val 11667"/>
            </a:avLst>
          </a:prstGeom>
          <a:solidFill>
            <a:srgbClr val="1B2B45"/>
          </a:solidFill>
          <a:ln w="12700">
            <a:solidFill>
              <a:srgbClr val="1B2B45"/>
            </a:solidFill>
            <a:prstDash val="solid"/>
          </a:ln>
        </p:spPr>
      </p:sp>
      <p:sp>
        <p:nvSpPr>
          <p:cNvPr id="15" name="Text 11"/>
          <p:cNvSpPr txBox="1"/>
          <p:nvPr/>
        </p:nvSpPr>
        <p:spPr>
          <a:xfrm>
            <a:off x="1033272" y="4910328"/>
            <a:ext cx="4882896" cy="3291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revenue = quantity * unit_price * (1 - discount_pct/100)</a:t>
            </a:r>
            <a:endParaRPr lang="en-US" sz="1050" dirty="0"/>
          </a:p>
        </p:txBody>
      </p:sp>
      <p:sp>
        <p:nvSpPr>
          <p:cNvPr id="16" name="Text 12"/>
          <p:cNvSpPr txBox="1"/>
          <p:nvPr/>
        </p:nvSpPr>
        <p:spPr>
          <a:xfrm>
            <a:off x="6400800" y="4782312"/>
            <a:ext cx="4983480" cy="91440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Which means every problem in quantity, unit_price and discount_pct flows straight into your headline number. Clean those three before you compute anything — and decide what a missing discount means before you let it become a missing revenue.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THE BRIEF</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Project A — the five questions</a:t>
            </a:r>
            <a:endParaRPr lang="en-US" sz="3200" dirty="0"/>
          </a:p>
        </p:txBody>
      </p:sp>
      <p:sp>
        <p:nvSpPr>
          <p:cNvPr id="5" name="Shape 3"/>
          <p:cNvSpPr/>
          <p:nvPr/>
        </p:nvSpPr>
        <p:spPr>
          <a:xfrm>
            <a:off x="548640" y="1627632"/>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83080"/>
            <a:ext cx="365760" cy="365760"/>
          </a:xfrm>
          <a:prstGeom prst="ellipse">
            <a:avLst/>
          </a:prstGeom>
          <a:solidFill>
            <a:srgbClr val="3E7CB1"/>
          </a:solidFill>
          <a:ln w="12700">
            <a:solidFill>
              <a:srgbClr val="3E7CB1"/>
            </a:solidFill>
            <a:prstDash val="solid"/>
          </a:ln>
        </p:spPr>
      </p:sp>
      <p:sp>
        <p:nvSpPr>
          <p:cNvPr id="7" name="Text 5"/>
          <p:cNvSpPr txBox="1"/>
          <p:nvPr/>
        </p:nvSpPr>
        <p:spPr>
          <a:xfrm>
            <a:off x="777240" y="17830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98448" y="1810512"/>
            <a:ext cx="10058400" cy="320040"/>
          </a:xfrm>
          <a:prstGeom prst="rect">
            <a:avLst/>
          </a:prstGeom>
          <a:noFill/>
          <a:ln/>
        </p:spPr>
        <p:txBody>
          <a:bodyPr wrap="square" lIns="0" tIns="0" rIns="0" bIns="0" rtlCol="0" anchor="ctr"/>
          <a:lstStyle/>
          <a:p>
            <a:pPr indent="0" marL="0">
              <a:buNone/>
            </a:pPr>
            <a:r>
              <a:rPr lang="en-US" sz="1350" dirty="0">
                <a:solidFill>
                  <a:srgbClr val="1F3A5F"/>
                </a:solidFill>
                <a:latin typeface="Calibri" pitchFamily="34" charset="0"/>
                <a:ea typeface="Calibri" pitchFamily="34" charset="-122"/>
                <a:cs typeface="Calibri" pitchFamily="34" charset="-120"/>
              </a:rPr>
              <a:t>How much revenue did we take in 2025, and from how many valid orders?</a:t>
            </a:r>
            <a:endParaRPr lang="en-US" sz="1350" dirty="0"/>
          </a:p>
        </p:txBody>
      </p:sp>
      <p:sp>
        <p:nvSpPr>
          <p:cNvPr id="9" name="Shape 7"/>
          <p:cNvSpPr/>
          <p:nvPr/>
        </p:nvSpPr>
        <p:spPr>
          <a:xfrm>
            <a:off x="548640" y="2414016"/>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Shape 8"/>
          <p:cNvSpPr/>
          <p:nvPr/>
        </p:nvSpPr>
        <p:spPr>
          <a:xfrm>
            <a:off x="777240" y="2569464"/>
            <a:ext cx="365760" cy="365760"/>
          </a:xfrm>
          <a:prstGeom prst="ellipse">
            <a:avLst/>
          </a:prstGeom>
          <a:solidFill>
            <a:srgbClr val="3E7CB1"/>
          </a:solidFill>
          <a:ln w="12700">
            <a:solidFill>
              <a:srgbClr val="3E7CB1"/>
            </a:solidFill>
            <a:prstDash val="solid"/>
          </a:ln>
        </p:spPr>
      </p:sp>
      <p:sp>
        <p:nvSpPr>
          <p:cNvPr id="11" name="Text 9"/>
          <p:cNvSpPr txBox="1"/>
          <p:nvPr/>
        </p:nvSpPr>
        <p:spPr>
          <a:xfrm>
            <a:off x="777240" y="25694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298448" y="2596896"/>
            <a:ext cx="10058400" cy="320040"/>
          </a:xfrm>
          <a:prstGeom prst="rect">
            <a:avLst/>
          </a:prstGeom>
          <a:noFill/>
          <a:ln/>
        </p:spPr>
        <p:txBody>
          <a:bodyPr wrap="square" lIns="0" tIns="0" rIns="0" bIns="0" rtlCol="0" anchor="ctr"/>
          <a:lstStyle/>
          <a:p>
            <a:pPr indent="0" marL="0">
              <a:buNone/>
            </a:pPr>
            <a:r>
              <a:rPr lang="en-US" sz="1350" dirty="0">
                <a:solidFill>
                  <a:srgbClr val="1F3A5F"/>
                </a:solidFill>
                <a:latin typeface="Calibri" pitchFamily="34" charset="0"/>
                <a:ea typeface="Calibri" pitchFamily="34" charset="-122"/>
                <a:cs typeface="Calibri" pitchFamily="34" charset="-120"/>
              </a:rPr>
              <a:t>Which city generates the most revenue — and is that just because it has more customers?</a:t>
            </a:r>
            <a:endParaRPr lang="en-US" sz="1350" dirty="0"/>
          </a:p>
        </p:txBody>
      </p:sp>
      <p:sp>
        <p:nvSpPr>
          <p:cNvPr id="13" name="Shape 11"/>
          <p:cNvSpPr/>
          <p:nvPr/>
        </p:nvSpPr>
        <p:spPr>
          <a:xfrm>
            <a:off x="548640" y="3200400"/>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Shape 12"/>
          <p:cNvSpPr/>
          <p:nvPr/>
        </p:nvSpPr>
        <p:spPr>
          <a:xfrm>
            <a:off x="777240" y="3355848"/>
            <a:ext cx="365760" cy="365760"/>
          </a:xfrm>
          <a:prstGeom prst="ellipse">
            <a:avLst/>
          </a:prstGeom>
          <a:solidFill>
            <a:srgbClr val="FFC145"/>
          </a:solidFill>
          <a:ln w="12700">
            <a:solidFill>
              <a:srgbClr val="FFC145"/>
            </a:solidFill>
            <a:prstDash val="solid"/>
          </a:ln>
        </p:spPr>
      </p:sp>
      <p:sp>
        <p:nvSpPr>
          <p:cNvPr id="15" name="Text 13"/>
          <p:cNvSpPr txBox="1"/>
          <p:nvPr/>
        </p:nvSpPr>
        <p:spPr>
          <a:xfrm>
            <a:off x="777240" y="3355848"/>
            <a:ext cx="365760" cy="365760"/>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298448" y="3383280"/>
            <a:ext cx="10058400" cy="320040"/>
          </a:xfrm>
          <a:prstGeom prst="rect">
            <a:avLst/>
          </a:prstGeom>
          <a:noFill/>
          <a:ln/>
        </p:spPr>
        <p:txBody>
          <a:bodyPr wrap="square" lIns="0" tIns="0" rIns="0" bIns="0" rtlCol="0" anchor="ctr"/>
          <a:lstStyle/>
          <a:p>
            <a:pPr indent="0" marL="0">
              <a:buNone/>
            </a:pPr>
            <a:r>
              <a:rPr lang="en-US" sz="1350" dirty="0">
                <a:solidFill>
                  <a:srgbClr val="1F3A5F"/>
                </a:solidFill>
                <a:latin typeface="Calibri" pitchFamily="34" charset="0"/>
                <a:ea typeface="Calibri" pitchFamily="34" charset="-122"/>
                <a:cs typeface="Calibri" pitchFamily="34" charset="-120"/>
              </a:rPr>
              <a:t>Which product category sells most by revenue, and which by units?</a:t>
            </a:r>
            <a:endParaRPr lang="en-US" sz="1350" dirty="0"/>
          </a:p>
        </p:txBody>
      </p:sp>
      <p:sp>
        <p:nvSpPr>
          <p:cNvPr id="17" name="Shape 15"/>
          <p:cNvSpPr/>
          <p:nvPr/>
        </p:nvSpPr>
        <p:spPr>
          <a:xfrm>
            <a:off x="548640" y="3986784"/>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4142232"/>
            <a:ext cx="365760" cy="365760"/>
          </a:xfrm>
          <a:prstGeom prst="ellipse">
            <a:avLst/>
          </a:prstGeom>
          <a:solidFill>
            <a:srgbClr val="2FA98C"/>
          </a:solidFill>
          <a:ln w="12700">
            <a:solidFill>
              <a:srgbClr val="2FA98C"/>
            </a:solidFill>
            <a:prstDash val="solid"/>
          </a:ln>
        </p:spPr>
      </p:sp>
      <p:sp>
        <p:nvSpPr>
          <p:cNvPr id="19" name="Text 17"/>
          <p:cNvSpPr txBox="1"/>
          <p:nvPr/>
        </p:nvSpPr>
        <p:spPr>
          <a:xfrm>
            <a:off x="777240" y="4142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298448" y="4169664"/>
            <a:ext cx="10058400" cy="320040"/>
          </a:xfrm>
          <a:prstGeom prst="rect">
            <a:avLst/>
          </a:prstGeom>
          <a:noFill/>
          <a:ln/>
        </p:spPr>
        <p:txBody>
          <a:bodyPr wrap="square" lIns="0" tIns="0" rIns="0" bIns="0" rtlCol="0" anchor="ctr"/>
          <a:lstStyle/>
          <a:p>
            <a:pPr indent="0" marL="0">
              <a:buNone/>
            </a:pPr>
            <a:r>
              <a:rPr lang="en-US" sz="1350" dirty="0">
                <a:solidFill>
                  <a:srgbClr val="1F3A5F"/>
                </a:solidFill>
                <a:latin typeface="Calibri" pitchFamily="34" charset="0"/>
                <a:ea typeface="Calibri" pitchFamily="34" charset="-122"/>
                <a:cs typeface="Calibri" pitchFamily="34" charset="-120"/>
              </a:rPr>
              <a:t>Do Corporate customers behave differently from Consumer ones?</a:t>
            </a:r>
            <a:endParaRPr lang="en-US" sz="1350" dirty="0"/>
          </a:p>
        </p:txBody>
      </p:sp>
      <p:sp>
        <p:nvSpPr>
          <p:cNvPr id="21" name="Shape 19"/>
          <p:cNvSpPr/>
          <p:nvPr/>
        </p:nvSpPr>
        <p:spPr>
          <a:xfrm>
            <a:off x="548640" y="4773168"/>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2" name="Shape 20"/>
          <p:cNvSpPr/>
          <p:nvPr/>
        </p:nvSpPr>
        <p:spPr>
          <a:xfrm>
            <a:off x="777240" y="4928616"/>
            <a:ext cx="365760" cy="365760"/>
          </a:xfrm>
          <a:prstGeom prst="ellipse">
            <a:avLst/>
          </a:prstGeom>
          <a:solidFill>
            <a:srgbClr val="E8674C"/>
          </a:solidFill>
          <a:ln w="12700">
            <a:solidFill>
              <a:srgbClr val="E8674C"/>
            </a:solidFill>
            <a:prstDash val="solid"/>
          </a:ln>
        </p:spPr>
      </p:sp>
      <p:sp>
        <p:nvSpPr>
          <p:cNvPr id="23" name="Text 21"/>
          <p:cNvSpPr txBox="1"/>
          <p:nvPr/>
        </p:nvSpPr>
        <p:spPr>
          <a:xfrm>
            <a:off x="777240" y="49286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298448" y="4956048"/>
            <a:ext cx="10058400" cy="320040"/>
          </a:xfrm>
          <a:prstGeom prst="rect">
            <a:avLst/>
          </a:prstGeom>
          <a:noFill/>
          <a:ln/>
        </p:spPr>
        <p:txBody>
          <a:bodyPr wrap="square" lIns="0" tIns="0" rIns="0" bIns="0" rtlCol="0" anchor="ctr"/>
          <a:lstStyle/>
          <a:p>
            <a:pPr indent="0" marL="0">
              <a:buNone/>
            </a:pPr>
            <a:r>
              <a:rPr lang="en-US" sz="1350" dirty="0">
                <a:solidFill>
                  <a:srgbClr val="1F3A5F"/>
                </a:solidFill>
                <a:latin typeface="Calibri" pitchFamily="34" charset="0"/>
                <a:ea typeface="Calibri" pitchFamily="34" charset="-122"/>
                <a:cs typeface="Calibri" pitchFamily="34" charset="-120"/>
              </a:rPr>
              <a:t>Are there any orders we should investigate before trusting these numbers?</a:t>
            </a:r>
            <a:endParaRPr lang="en-US" sz="1350" dirty="0"/>
          </a:p>
        </p:txBody>
      </p:sp>
      <p:sp>
        <p:nvSpPr>
          <p:cNvPr id="25" name="Shape 23"/>
          <p:cNvSpPr/>
          <p:nvPr/>
        </p:nvSpPr>
        <p:spPr>
          <a:xfrm>
            <a:off x="548640" y="5577840"/>
            <a:ext cx="11064240" cy="731520"/>
          </a:xfrm>
          <a:prstGeom prst="roundRect">
            <a:avLst>
              <a:gd name="adj" fmla="val 1125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5705856"/>
            <a:ext cx="10424160" cy="457200"/>
          </a:xfrm>
          <a:prstGeom prst="rect">
            <a:avLst/>
          </a:prstGeom>
          <a:noFill/>
          <a:ln/>
        </p:spPr>
        <p:txBody>
          <a:bodyPr wrap="square" lIns="0" tIns="0" rIns="0" bIns="0" rtlCol="0" anchor="ctr"/>
          <a:lstStyle/>
          <a:p>
            <a:pPr indent="0" marL="0">
              <a:buNone/>
            </a:pPr>
            <a:r>
              <a:rPr lang="en-US" sz="1300" i="1" dirty="0">
                <a:solidFill>
                  <a:srgbClr val="1C6F5C"/>
                </a:solidFill>
                <a:latin typeface="Calibri" pitchFamily="34" charset="0"/>
                <a:ea typeface="Calibri" pitchFamily="34" charset="-122"/>
                <a:cs typeface="Calibri" pitchFamily="34" charset="-120"/>
              </a:rPr>
              <a:t>Question 2 is the one that separates a report from an analysis. A total is not a comparison — revenue per customer may tell a completely different story.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1.3  ·  THE WALKTHROUGH</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Steps 1 to 3 — load, audit, clean</a:t>
            </a:r>
            <a:endParaRPr lang="en-US" sz="3200" dirty="0"/>
          </a:p>
        </p:txBody>
      </p:sp>
      <p:sp>
        <p:nvSpPr>
          <p:cNvPr id="5" name="Shape 3"/>
          <p:cNvSpPr/>
          <p:nvPr/>
        </p:nvSpPr>
        <p:spPr>
          <a:xfrm>
            <a:off x="548640" y="1572768"/>
            <a:ext cx="5760720" cy="4297680"/>
          </a:xfrm>
          <a:prstGeom prst="roundRect">
            <a:avLst>
              <a:gd name="adj" fmla="val 191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5257800" cy="3931920"/>
          </a:xfrm>
          <a:prstGeom prst="roundRect">
            <a:avLst>
              <a:gd name="adj" fmla="val 1628"/>
            </a:avLst>
          </a:prstGeom>
          <a:solidFill>
            <a:srgbClr val="1B2B45"/>
          </a:solidFill>
          <a:ln w="12700">
            <a:solidFill>
              <a:srgbClr val="1B2B45"/>
            </a:solidFill>
            <a:prstDash val="solid"/>
          </a:ln>
        </p:spPr>
      </p:sp>
      <p:sp>
        <p:nvSpPr>
          <p:cNvPr id="7" name="Text 5"/>
          <p:cNvSpPr txBox="1"/>
          <p:nvPr/>
        </p:nvSpPr>
        <p:spPr>
          <a:xfrm>
            <a:off x="969264" y="1892808"/>
            <a:ext cx="4928616" cy="371246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--- 1. LOAD &amp; LOOK</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orders = pd.read_csv("orders.csv")</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print(orders.shape)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print(orders.dtypes)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orders.head()</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--- 2. AUDIT  (before touching anything)</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orders.isna().sum()                 # what pandas sees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orders["unit_price"].describe()     # a min of -999?</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orders["category"].value_counts()   # odd entries?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orders.duplicated().sum()</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orders["order_id"].duplicated().sum()</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--- 3. CLEAN  (in this order)</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orders["category"] = (orders["category"]</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.str.strip().str.title())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orders = orders.replace(-999, np.nan)</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orders = orders.drop_duplicates()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orders["discount_pct"] = orders["discount_pct"].fillna(0)</a:t>
            </a:r>
            <a:endParaRPr lang="en-US" sz="900" dirty="0"/>
          </a:p>
        </p:txBody>
      </p:sp>
      <p:sp>
        <p:nvSpPr>
          <p:cNvPr id="8" name="Shape 6"/>
          <p:cNvSpPr/>
          <p:nvPr/>
        </p:nvSpPr>
        <p:spPr>
          <a:xfrm>
            <a:off x="6583680" y="1572768"/>
            <a:ext cx="5029200" cy="4297680"/>
          </a:xfrm>
          <a:prstGeom prst="roundRect">
            <a:avLst>
              <a:gd name="adj" fmla="val 191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What the audit will tell you</a:t>
            </a:r>
            <a:endParaRPr lang="en-US" sz="1450" dirty="0"/>
          </a:p>
        </p:txBody>
      </p:sp>
      <p:sp>
        <p:nvSpPr>
          <p:cNvPr id="10" name="Text 8"/>
          <p:cNvSpPr txBox="1"/>
          <p:nvPr/>
        </p:nvSpPr>
        <p:spPr>
          <a:xfrm>
            <a:off x="6949440" y="2084832"/>
            <a:ext cx="4389120" cy="210312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34 missing discounts — visible to isna()</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11 unit prices of -999 — NOT visible</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7 categories of “unknown” — NOT visible</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17 distinct categories, for 4 real ones</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2 exact duplicate rows</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3 repeated order_ids</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1 customer_id in orders that is in no customer record</a:t>
            </a:r>
            <a:endParaRPr lang="en-US" sz="1150" dirty="0"/>
          </a:p>
        </p:txBody>
      </p:sp>
      <p:sp>
        <p:nvSpPr>
          <p:cNvPr id="11" name="Text 9"/>
          <p:cNvSpPr txBox="1"/>
          <p:nvPr/>
        </p:nvSpPr>
        <p:spPr>
          <a:xfrm>
            <a:off x="6839712" y="4343400"/>
            <a:ext cx="4526280" cy="77724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Only the first of those seven is found by isna(). The rest need describe(), value_counts() and duplicated() — which is why step 2 exists as a step.</a:t>
            </a:r>
            <a:endParaRPr lang="en-US" sz="1200" dirty="0"/>
          </a:p>
        </p:txBody>
      </p:sp>
      <p:sp>
        <p:nvSpPr>
          <p:cNvPr id="12" name="Text 10"/>
          <p:cNvSpPr txBox="1"/>
          <p:nvPr/>
        </p:nvSpPr>
        <p:spPr>
          <a:xfrm>
            <a:off x="6839712" y="5120640"/>
            <a:ext cx="4526280" cy="685800"/>
          </a:xfrm>
          <a:prstGeom prst="rect">
            <a:avLst/>
          </a:prstGeom>
          <a:noFill/>
          <a:ln/>
        </p:spPr>
        <p:txBody>
          <a:bodyPr wrap="square" lIns="0" tIns="0" rIns="0" bIns="0" rtlCol="0" anchor="ctr"/>
          <a:lstStyle/>
          <a:p>
            <a:pPr indent="0" marL="0">
              <a:lnSpc>
                <a:spcPct val="112000"/>
              </a:lnSpc>
              <a:buNone/>
            </a:pPr>
            <a:r>
              <a:rPr lang="en-US" sz="1150" i="1" dirty="0">
                <a:solidFill>
                  <a:srgbClr val="8A5B00"/>
                </a:solidFill>
                <a:latin typeface="Calibri" pitchFamily="34" charset="0"/>
                <a:ea typeface="Calibri" pitchFamily="34" charset="-122"/>
                <a:cs typeface="Calibri" pitchFamily="34" charset="-120"/>
              </a:rPr>
              <a:t>Why fillna(0) for the discount? Because “no discount recorded” almost certainly means no discount was given — and here the business confirms it. State that assumption in your write-up.</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1.4  ·  THE WALKTHROUGH</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Steps 4 and 5 — combine, then explore</a:t>
            </a:r>
            <a:endParaRPr lang="en-US" sz="3200" dirty="0"/>
          </a:p>
        </p:txBody>
      </p:sp>
      <p:sp>
        <p:nvSpPr>
          <p:cNvPr id="5" name="Shape 3"/>
          <p:cNvSpPr/>
          <p:nvPr/>
        </p:nvSpPr>
        <p:spPr>
          <a:xfrm>
            <a:off x="548640" y="1572768"/>
            <a:ext cx="5760720" cy="4297680"/>
          </a:xfrm>
          <a:prstGeom prst="roundRect">
            <a:avLst>
              <a:gd name="adj" fmla="val 191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5257800" cy="3931920"/>
          </a:xfrm>
          <a:prstGeom prst="roundRect">
            <a:avLst>
              <a:gd name="adj" fmla="val 1628"/>
            </a:avLst>
          </a:prstGeom>
          <a:solidFill>
            <a:srgbClr val="1B2B45"/>
          </a:solidFill>
          <a:ln w="12700">
            <a:solidFill>
              <a:srgbClr val="1B2B45"/>
            </a:solidFill>
            <a:prstDash val="solid"/>
          </a:ln>
        </p:spPr>
      </p:sp>
      <p:sp>
        <p:nvSpPr>
          <p:cNvPr id="7" name="Text 5"/>
          <p:cNvSpPr txBox="1"/>
          <p:nvPr/>
        </p:nvSpPr>
        <p:spPr>
          <a:xfrm>
            <a:off x="969264" y="1892808"/>
            <a:ext cx="4928616" cy="371246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--- 4. COMBINE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cust = cust.drop_duplicates(subset="customer_id")</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before = len(orders)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df = orders.merge(cust, on="customer_id",</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how="left", validate="many_to_one")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assert len(df) == before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print("orders with no customer:",</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df["city"].isna().sum())</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--- 5. EXPLORE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df["revenue"] = (df["quantity"] * df["unit_price"]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 (1 - df["discount_pct"] / 100))</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by_city = df.groupby("city").agg(</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revenue   = ("revenue", "sum"),</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orders    = ("order_id", "size"),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customers = ("customer_id", "nunique"),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by_city["rev_per_customer"] = (by_city["revenue"]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 by_city["customers"])</a:t>
            </a:r>
            <a:endParaRPr lang="en-US" sz="900" dirty="0"/>
          </a:p>
        </p:txBody>
      </p:sp>
      <p:sp>
        <p:nvSpPr>
          <p:cNvPr id="8" name="Shape 6"/>
          <p:cNvSpPr/>
          <p:nvPr/>
        </p:nvSpPr>
        <p:spPr>
          <a:xfrm>
            <a:off x="6583680" y="1572768"/>
            <a:ext cx="5029200" cy="2103120"/>
          </a:xfrm>
          <a:prstGeom prst="roundRect">
            <a:avLst>
              <a:gd name="adj" fmla="val 391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  Deduplicate the LOOKUP first</a:t>
            </a:r>
            <a:endParaRPr lang="en-US" sz="1400" dirty="0"/>
          </a:p>
        </p:txBody>
      </p:sp>
      <p:sp>
        <p:nvSpPr>
          <p:cNvPr id="10" name="Text 8"/>
          <p:cNvSpPr txBox="1"/>
          <p:nvPr/>
        </p:nvSpPr>
        <p:spPr>
          <a:xfrm>
            <a:off x="6839712" y="2084832"/>
            <a:ext cx="4526280" cy="100584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customers.csv has 81 rows for 80 customers. Merging without removing that duplicate silently duplicates every order belonging to them — Day 18's row explosion, in a real file. The assert catches it.</a:t>
            </a:r>
            <a:endParaRPr lang="en-US" sz="1200" dirty="0"/>
          </a:p>
        </p:txBody>
      </p:sp>
      <p:sp>
        <p:nvSpPr>
          <p:cNvPr id="11" name="Shape 9"/>
          <p:cNvSpPr/>
          <p:nvPr/>
        </p:nvSpPr>
        <p:spPr>
          <a:xfrm>
            <a:off x="6839712" y="3154680"/>
            <a:ext cx="4526280" cy="384048"/>
          </a:xfrm>
          <a:prstGeom prst="roundRect">
            <a:avLst>
              <a:gd name="adj" fmla="val 16667"/>
            </a:avLst>
          </a:prstGeom>
          <a:solidFill>
            <a:srgbClr val="1B2B45"/>
          </a:solidFill>
          <a:ln w="12700">
            <a:solidFill>
              <a:srgbClr val="1B2B45"/>
            </a:solidFill>
            <a:prstDash val="solid"/>
          </a:ln>
        </p:spPr>
      </p:sp>
      <p:sp>
        <p:nvSpPr>
          <p:cNvPr id="12" name="Text 10"/>
          <p:cNvSpPr txBox="1"/>
          <p:nvPr/>
        </p:nvSpPr>
        <p:spPr>
          <a:xfrm>
            <a:off x="7004304" y="3264408"/>
            <a:ext cx="4197096" cy="164592"/>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validate="many_to_one"  would also raise</a:t>
            </a:r>
            <a:endParaRPr lang="en-US" sz="900" dirty="0"/>
          </a:p>
        </p:txBody>
      </p:sp>
      <p:sp>
        <p:nvSpPr>
          <p:cNvPr id="13" name="Shape 11"/>
          <p:cNvSpPr/>
          <p:nvPr/>
        </p:nvSpPr>
        <p:spPr>
          <a:xfrm>
            <a:off x="6583680" y="3840480"/>
            <a:ext cx="5029200" cy="2011680"/>
          </a:xfrm>
          <a:prstGeom prst="roundRect">
            <a:avLst>
              <a:gd name="adj" fmla="val 4091"/>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6839712" y="3986784"/>
            <a:ext cx="448056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Answering question 2 properly</a:t>
            </a:r>
            <a:endParaRPr lang="en-US" sz="1400" dirty="0"/>
          </a:p>
        </p:txBody>
      </p:sp>
      <p:sp>
        <p:nvSpPr>
          <p:cNvPr id="15" name="Text 13"/>
          <p:cNvSpPr txBox="1"/>
          <p:nvPr/>
        </p:nvSpPr>
        <p:spPr>
          <a:xfrm>
            <a:off x="6839712" y="4343400"/>
            <a:ext cx="4526280" cy="1280160"/>
          </a:xfrm>
          <a:prstGeom prst="rect">
            <a:avLst/>
          </a:prstGeom>
          <a:noFill/>
          <a:ln/>
        </p:spPr>
        <p:txBody>
          <a:bodyPr wrap="square" lIns="0" tIns="0" rIns="0" bIns="0" rtlCol="0" anchor="ctr"/>
          <a:lstStyle/>
          <a:p>
            <a:pPr indent="0" marL="0">
              <a:lnSpc>
                <a:spcPct val="115000"/>
              </a:lnSpc>
              <a:buNone/>
            </a:pPr>
            <a:r>
              <a:rPr lang="en-US" sz="1200" dirty="0">
                <a:solidFill>
                  <a:srgbClr val="1C6F5C"/>
                </a:solidFill>
                <a:latin typeface="Calibri" pitchFamily="34" charset="0"/>
                <a:ea typeface="Calibri" pitchFamily="34" charset="-122"/>
                <a:cs typeface="Calibri" pitchFamily="34" charset="-120"/>
              </a:rPr>
              <a:t>The city with the highest total revenue may simply have the most customers. Dividing by the customer count turns a total into a comparison — and the ranking can change completely. That one extra line is the difference between reporting and analysing.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1.5  ·  WRITING UP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Step 6 — the part most people skip</a:t>
            </a:r>
            <a:endParaRPr lang="en-US" sz="3200" dirty="0"/>
          </a:p>
        </p:txBody>
      </p:sp>
      <p:sp>
        <p:nvSpPr>
          <p:cNvPr id="5" name="Shape 3"/>
          <p:cNvSpPr/>
          <p:nvPr/>
        </p:nvSpPr>
        <p:spPr>
          <a:xfrm>
            <a:off x="548640" y="1572768"/>
            <a:ext cx="5760720" cy="2651760"/>
          </a:xfrm>
          <a:prstGeom prst="roundRect">
            <a:avLst>
              <a:gd name="adj" fmla="val 310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  Not a finding</a:t>
            </a:r>
            <a:endParaRPr lang="en-US" sz="1450" dirty="0"/>
          </a:p>
        </p:txBody>
      </p:sp>
      <p:sp>
        <p:nvSpPr>
          <p:cNvPr id="7" name="Shape 5"/>
          <p:cNvSpPr/>
          <p:nvPr/>
        </p:nvSpPr>
        <p:spPr>
          <a:xfrm>
            <a:off x="804672" y="2103120"/>
            <a:ext cx="5257800" cy="914400"/>
          </a:xfrm>
          <a:prstGeom prst="roundRect">
            <a:avLst>
              <a:gd name="adj" fmla="val 7000"/>
            </a:avLst>
          </a:prstGeom>
          <a:solidFill>
            <a:srgbClr val="1B2B45"/>
          </a:solidFill>
          <a:ln w="12700">
            <a:solidFill>
              <a:srgbClr val="1B2B45"/>
            </a:solidFill>
            <a:prstDash val="solid"/>
          </a:ln>
        </p:spPr>
      </p:sp>
      <p:sp>
        <p:nvSpPr>
          <p:cNvPr id="8" name="Text 6"/>
          <p:cNvSpPr txBox="1"/>
          <p:nvPr/>
        </p:nvSpPr>
        <p:spPr>
          <a:xfrm>
            <a:off x="969264" y="2212848"/>
            <a:ext cx="4928616" cy="69494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city</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Mumbai      2,841,330</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Pune        2,104,880</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Delhi       1,998,210</a:t>
            </a:r>
            <a:endParaRPr lang="en-US" sz="1000" dirty="0"/>
          </a:p>
        </p:txBody>
      </p:sp>
      <p:sp>
        <p:nvSpPr>
          <p:cNvPr id="9" name="Text 7"/>
          <p:cNvSpPr txBox="1"/>
          <p:nvPr/>
        </p:nvSpPr>
        <p:spPr>
          <a:xfrm>
            <a:off x="804672" y="3154680"/>
            <a:ext cx="5257800" cy="86868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A table is evidence. On its own it makes the reader do the work of deciding what it means — and they will usually decide wrong, or not bother.</a:t>
            </a:r>
            <a:endParaRPr lang="en-US" sz="1200" dirty="0"/>
          </a:p>
        </p:txBody>
      </p:sp>
      <p:sp>
        <p:nvSpPr>
          <p:cNvPr id="10" name="Shape 8"/>
          <p:cNvSpPr/>
          <p:nvPr/>
        </p:nvSpPr>
        <p:spPr>
          <a:xfrm>
            <a:off x="6583680" y="1572768"/>
            <a:ext cx="502920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A finding</a:t>
            </a:r>
            <a:endParaRPr lang="en-US" sz="1450" dirty="0"/>
          </a:p>
        </p:txBody>
      </p:sp>
      <p:sp>
        <p:nvSpPr>
          <p:cNvPr id="12" name="Text 10"/>
          <p:cNvSpPr txBox="1"/>
          <p:nvPr/>
        </p:nvSpPr>
        <p:spPr>
          <a:xfrm>
            <a:off x="6839712" y="2103120"/>
            <a:ext cx="4526280" cy="1554480"/>
          </a:xfrm>
          <a:prstGeom prst="rect">
            <a:avLst/>
          </a:prstGeom>
          <a:noFill/>
          <a:ln/>
        </p:spPr>
        <p:txBody>
          <a:bodyPr wrap="square" lIns="0" tIns="0" rIns="0" bIns="0" rtlCol="0" anchor="ctr"/>
          <a:lstStyle/>
          <a:p>
            <a:pPr indent="0" marL="0">
              <a:lnSpc>
                <a:spcPct val="120000"/>
              </a:lnSpc>
              <a:buNone/>
            </a:pPr>
            <a:r>
              <a:rPr lang="en-US" sz="1200" i="1" dirty="0">
                <a:solidFill>
                  <a:srgbClr val="2B3445"/>
                </a:solidFill>
                <a:latin typeface="Calibri" pitchFamily="34" charset="0"/>
                <a:ea typeface="Calibri" pitchFamily="34" charset="-122"/>
                <a:cs typeface="Calibri" pitchFamily="34" charset="-120"/>
              </a:rPr>
              <a:t>“Mumbai produced the most revenue overall, but it also has the most customers. Per customer, Delhi is ahead — so Mumbai's lead is a matter of size, not of performance. (Based on 418 valid orders; 5 were excluded as duplicates or unmatched.)”</a:t>
            </a:r>
            <a:endParaRPr lang="en-US" sz="1200" dirty="0"/>
          </a:p>
        </p:txBody>
      </p:sp>
      <p:sp>
        <p:nvSpPr>
          <p:cNvPr id="13" name="Text 11"/>
          <p:cNvSpPr txBox="1"/>
          <p:nvPr/>
        </p:nvSpPr>
        <p:spPr>
          <a:xfrm>
            <a:off x="6839712" y="3749040"/>
            <a:ext cx="4526280" cy="320040"/>
          </a:xfrm>
          <a:prstGeom prst="rect">
            <a:avLst/>
          </a:prstGeom>
          <a:noFill/>
          <a:ln/>
        </p:spPr>
        <p:txBody>
          <a:bodyPr wrap="square" lIns="0" tIns="0" rIns="0" bIns="0" rtlCol="0" anchor="ctr"/>
          <a:lstStyle/>
          <a:p>
            <a:pPr indent="0" marL="0">
              <a:buNone/>
            </a:pPr>
            <a:r>
              <a:rPr lang="en-US" sz="1150" b="1" dirty="0">
                <a:solidFill>
                  <a:srgbClr val="1C6F5C"/>
                </a:solidFill>
                <a:latin typeface="Calibri" pitchFamily="34" charset="0"/>
                <a:ea typeface="Calibri" pitchFamily="34" charset="-122"/>
                <a:cs typeface="Calibri" pitchFamily="34" charset="-120"/>
              </a:rPr>
              <a:t>A claim, a comparison, and the caveat.</a:t>
            </a:r>
            <a:endParaRPr lang="en-US" sz="1150" dirty="0"/>
          </a:p>
        </p:txBody>
      </p:sp>
      <p:sp>
        <p:nvSpPr>
          <p:cNvPr id="14" name="Shape 12"/>
          <p:cNvSpPr/>
          <p:nvPr/>
        </p:nvSpPr>
        <p:spPr>
          <a:xfrm>
            <a:off x="548640" y="4343400"/>
            <a:ext cx="11064240" cy="1508760"/>
          </a:xfrm>
          <a:prstGeom prst="roundRect">
            <a:avLst>
              <a:gd name="adj" fmla="val 545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5" name="Text 13"/>
          <p:cNvSpPr txBox="1"/>
          <p:nvPr/>
        </p:nvSpPr>
        <p:spPr>
          <a:xfrm>
            <a:off x="868680" y="448970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Every finding needs three things</a:t>
            </a:r>
            <a:endParaRPr lang="en-US" sz="1450" dirty="0"/>
          </a:p>
        </p:txBody>
      </p:sp>
      <p:sp>
        <p:nvSpPr>
          <p:cNvPr id="16" name="Text 14"/>
          <p:cNvSpPr txBox="1"/>
          <p:nvPr/>
        </p:nvSpPr>
        <p:spPr>
          <a:xfrm>
            <a:off x="868680" y="4828032"/>
            <a:ext cx="3291840" cy="27432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WHAT</a:t>
            </a:r>
            <a:endParaRPr lang="en-US" sz="1300" dirty="0"/>
          </a:p>
        </p:txBody>
      </p:sp>
      <p:sp>
        <p:nvSpPr>
          <p:cNvPr id="17" name="Text 15"/>
          <p:cNvSpPr txBox="1"/>
          <p:nvPr/>
        </p:nvSpPr>
        <p:spPr>
          <a:xfrm>
            <a:off x="868680" y="5102352"/>
            <a:ext cx="3337560" cy="54864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the number or the pattern</a:t>
            </a:r>
            <a:endParaRPr lang="en-US" sz="1200" dirty="0"/>
          </a:p>
        </p:txBody>
      </p:sp>
      <p:sp>
        <p:nvSpPr>
          <p:cNvPr id="18" name="Text 16"/>
          <p:cNvSpPr txBox="1"/>
          <p:nvPr/>
        </p:nvSpPr>
        <p:spPr>
          <a:xfrm>
            <a:off x="4389120" y="4828032"/>
            <a:ext cx="3291840" cy="27432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SO WHAT</a:t>
            </a:r>
            <a:endParaRPr lang="en-US" sz="1300" dirty="0"/>
          </a:p>
        </p:txBody>
      </p:sp>
      <p:sp>
        <p:nvSpPr>
          <p:cNvPr id="19" name="Text 17"/>
          <p:cNvSpPr txBox="1"/>
          <p:nvPr/>
        </p:nvSpPr>
        <p:spPr>
          <a:xfrm>
            <a:off x="4389120" y="5102352"/>
            <a:ext cx="3337560" cy="54864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why it matters, or what it contradicts</a:t>
            </a:r>
            <a:endParaRPr lang="en-US" sz="1200" dirty="0"/>
          </a:p>
        </p:txBody>
      </p:sp>
      <p:sp>
        <p:nvSpPr>
          <p:cNvPr id="20" name="Text 18"/>
          <p:cNvSpPr txBox="1"/>
          <p:nvPr/>
        </p:nvSpPr>
        <p:spPr>
          <a:xfrm>
            <a:off x="7909560" y="4828032"/>
            <a:ext cx="3291840" cy="27432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CAVEAT</a:t>
            </a:r>
            <a:endParaRPr lang="en-US" sz="1300" dirty="0"/>
          </a:p>
        </p:txBody>
      </p:sp>
      <p:sp>
        <p:nvSpPr>
          <p:cNvPr id="21" name="Text 19"/>
          <p:cNvSpPr txBox="1"/>
          <p:nvPr/>
        </p:nvSpPr>
        <p:spPr>
          <a:xfrm>
            <a:off x="7909560" y="5102352"/>
            <a:ext cx="3337560" cy="54864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what you cleaned, dropped or assumed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Project B — Flight Delays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Your turn  ·  the rest of the session</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data</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Five questions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What to hand in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THE DATA</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Project B — what you are given</a:t>
            </a:r>
            <a:endParaRPr lang="en-US" sz="3200" dirty="0"/>
          </a:p>
        </p:txBody>
      </p:sp>
      <p:sp>
        <p:nvSpPr>
          <p:cNvPr id="5" name="Shape 3"/>
          <p:cNvSpPr/>
          <p:nvPr/>
        </p:nvSpPr>
        <p:spPr>
          <a:xfrm>
            <a:off x="548640" y="1572768"/>
            <a:ext cx="5760720" cy="2651760"/>
          </a:xfrm>
          <a:prstGeom prst="roundRect">
            <a:avLst>
              <a:gd name="adj" fmla="val 31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flights.csv  —  511 rows</a:t>
            </a:r>
            <a:endParaRPr lang="en-US" sz="14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04672" y="2103120"/>
          <a:ext cx="5257800" cy="914400"/>
        </p:xfrm>
        <a:graphic>
          <a:graphicData uri="http://schemas.openxmlformats.org/drawingml/2006/table">
            <a:tbl>
              <a:tblPr/>
              <a:tblGrid>
                <a:gridCol w="2103120"/>
                <a:gridCol w="3154680"/>
              </a:tblGrid>
              <a:tr h="29260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flight_id</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unique per flight — in theory</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airline_code</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links to airlines.csv</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origin</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departure airport</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destination</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arrival airport</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distance_km</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route distance</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passengers</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number on board</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92608">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delay_min</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minutes late; 0 means on time</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8" name="Shape 5"/>
          <p:cNvSpPr/>
          <p:nvPr/>
        </p:nvSpPr>
        <p:spPr>
          <a:xfrm>
            <a:off x="6583680" y="1572768"/>
            <a:ext cx="5029200" cy="2651760"/>
          </a:xfrm>
          <a:prstGeom prst="roundRect">
            <a:avLst>
              <a:gd name="adj" fmla="val 3103"/>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6"/>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airlines.csv  —  6 rows</a:t>
            </a:r>
            <a:endParaRPr lang="en-US" sz="145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839712" y="2103120"/>
          <a:ext cx="4526280" cy="914400"/>
        </p:xfrm>
        <a:graphic>
          <a:graphicData uri="http://schemas.openxmlformats.org/drawingml/2006/table">
            <a:tbl>
              <a:tblPr/>
              <a:tblGrid>
                <a:gridCol w="1920240"/>
                <a:gridCol w="260604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10896">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airline_code</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the key</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10896">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airline_name</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full name</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10896">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founded</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year founded</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1" name="Text 7"/>
          <p:cNvSpPr txBox="1"/>
          <p:nvPr/>
        </p:nvSpPr>
        <p:spPr>
          <a:xfrm>
            <a:off x="6839712" y="3429000"/>
            <a:ext cx="4526280" cy="731520"/>
          </a:xfrm>
          <a:prstGeom prst="rect">
            <a:avLst/>
          </a:prstGeom>
          <a:noFill/>
          <a:ln/>
        </p:spPr>
        <p:txBody>
          <a:bodyPr wrap="square" lIns="0" tIns="0" rIns="0" bIns="0" rtlCol="0" anchor="ctr"/>
          <a:lstStyle/>
          <a:p>
            <a:pPr indent="0" marL="0">
              <a:lnSpc>
                <a:spcPct val="115000"/>
              </a:lnSpc>
              <a:buNone/>
            </a:pPr>
            <a:r>
              <a:rPr lang="en-US" sz="1200" b="1" dirty="0">
                <a:solidFill>
                  <a:srgbClr val="8A5B00"/>
                </a:solidFill>
                <a:latin typeface="Calibri" pitchFamily="34" charset="0"/>
                <a:ea typeface="Calibri" pitchFamily="34" charset="-122"/>
                <a:cs typeface="Calibri" pitchFamily="34" charset="-120"/>
              </a:rPr>
              <a:t>Six airlines listed. Check how many actually appear in flights.csv — and whether every code in flights.csv appears here.</a:t>
            </a:r>
            <a:endParaRPr lang="en-US" sz="1200" dirty="0"/>
          </a:p>
        </p:txBody>
      </p:sp>
      <p:sp>
        <p:nvSpPr>
          <p:cNvPr id="12" name="Shape 8"/>
          <p:cNvSpPr/>
          <p:nvPr/>
        </p:nvSpPr>
        <p:spPr>
          <a:xfrm>
            <a:off x="548640" y="4343400"/>
            <a:ext cx="11064240" cy="1508760"/>
          </a:xfrm>
          <a:prstGeom prst="roundRect">
            <a:avLst>
              <a:gd name="adj" fmla="val 5455"/>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9"/>
          <p:cNvSpPr txBox="1"/>
          <p:nvPr/>
        </p:nvSpPr>
        <p:spPr>
          <a:xfrm>
            <a:off x="868680" y="4489704"/>
            <a:ext cx="7315200" cy="274320"/>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  Three things to be careful about</a:t>
            </a:r>
            <a:endParaRPr lang="en-US" sz="1450" dirty="0"/>
          </a:p>
        </p:txBody>
      </p:sp>
      <p:sp>
        <p:nvSpPr>
          <p:cNvPr id="14" name="Text 10"/>
          <p:cNvSpPr txBox="1"/>
          <p:nvPr/>
        </p:nvSpPr>
        <p:spPr>
          <a:xfrm>
            <a:off x="868680" y="4800600"/>
            <a:ext cx="10424160" cy="91440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A delay of 0 is ON TIME, not missing — do not fill or drop it.   ·   A delay of -999 is a recording failure, not an early arrival.   ·   A passenger count of 0 is not a real flight with nobody aboard. Decide what each of those three means BEFORE you compute an average delay, because all three change it.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THE BRIEF</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Project B — the five questions</a:t>
            </a:r>
            <a:endParaRPr lang="en-US" sz="3200" dirty="0"/>
          </a:p>
        </p:txBody>
      </p:sp>
      <p:sp>
        <p:nvSpPr>
          <p:cNvPr id="5" name="Shape 3"/>
          <p:cNvSpPr/>
          <p:nvPr/>
        </p:nvSpPr>
        <p:spPr>
          <a:xfrm>
            <a:off x="548640" y="1627632"/>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83080"/>
            <a:ext cx="365760" cy="365760"/>
          </a:xfrm>
          <a:prstGeom prst="ellipse">
            <a:avLst/>
          </a:prstGeom>
          <a:solidFill>
            <a:srgbClr val="E8674C"/>
          </a:solidFill>
          <a:ln w="12700">
            <a:solidFill>
              <a:srgbClr val="E8674C"/>
            </a:solidFill>
            <a:prstDash val="solid"/>
          </a:ln>
        </p:spPr>
      </p:sp>
      <p:sp>
        <p:nvSpPr>
          <p:cNvPr id="7" name="Text 5"/>
          <p:cNvSpPr txBox="1"/>
          <p:nvPr/>
        </p:nvSpPr>
        <p:spPr>
          <a:xfrm>
            <a:off x="777240" y="17830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98448" y="1810512"/>
            <a:ext cx="10058400" cy="320040"/>
          </a:xfrm>
          <a:prstGeom prst="rect">
            <a:avLst/>
          </a:prstGeom>
          <a:noFill/>
          <a:ln/>
        </p:spPr>
        <p:txBody>
          <a:bodyPr wrap="square" lIns="0" tIns="0" rIns="0" bIns="0" rtlCol="0" anchor="ctr"/>
          <a:lstStyle/>
          <a:p>
            <a:pPr indent="0" marL="0">
              <a:buNone/>
            </a:pPr>
            <a:r>
              <a:rPr lang="en-US" sz="1350" dirty="0">
                <a:solidFill>
                  <a:srgbClr val="1F3A5F"/>
                </a:solidFill>
                <a:latin typeface="Calibri" pitchFamily="34" charset="0"/>
                <a:ea typeface="Calibri" pitchFamily="34" charset="-122"/>
                <a:cs typeface="Calibri" pitchFamily="34" charset="-120"/>
              </a:rPr>
              <a:t>How many flights are usable, and what did you exclude or repair?</a:t>
            </a:r>
            <a:endParaRPr lang="en-US" sz="1350" dirty="0"/>
          </a:p>
        </p:txBody>
      </p:sp>
      <p:sp>
        <p:nvSpPr>
          <p:cNvPr id="9" name="Shape 7"/>
          <p:cNvSpPr/>
          <p:nvPr/>
        </p:nvSpPr>
        <p:spPr>
          <a:xfrm>
            <a:off x="548640" y="2414016"/>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Shape 8"/>
          <p:cNvSpPr/>
          <p:nvPr/>
        </p:nvSpPr>
        <p:spPr>
          <a:xfrm>
            <a:off x="777240" y="2569464"/>
            <a:ext cx="365760" cy="365760"/>
          </a:xfrm>
          <a:prstGeom prst="ellipse">
            <a:avLst/>
          </a:prstGeom>
          <a:solidFill>
            <a:srgbClr val="3E7CB1"/>
          </a:solidFill>
          <a:ln w="12700">
            <a:solidFill>
              <a:srgbClr val="3E7CB1"/>
            </a:solidFill>
            <a:prstDash val="solid"/>
          </a:ln>
        </p:spPr>
      </p:sp>
      <p:sp>
        <p:nvSpPr>
          <p:cNvPr id="11" name="Text 9"/>
          <p:cNvSpPr txBox="1"/>
          <p:nvPr/>
        </p:nvSpPr>
        <p:spPr>
          <a:xfrm>
            <a:off x="777240" y="25694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298448" y="2596896"/>
            <a:ext cx="10058400" cy="320040"/>
          </a:xfrm>
          <a:prstGeom prst="rect">
            <a:avLst/>
          </a:prstGeom>
          <a:noFill/>
          <a:ln/>
        </p:spPr>
        <p:txBody>
          <a:bodyPr wrap="square" lIns="0" tIns="0" rIns="0" bIns="0" rtlCol="0" anchor="ctr"/>
          <a:lstStyle/>
          <a:p>
            <a:pPr indent="0" marL="0">
              <a:buNone/>
            </a:pPr>
            <a:r>
              <a:rPr lang="en-US" sz="1350" dirty="0">
                <a:solidFill>
                  <a:srgbClr val="1F3A5F"/>
                </a:solidFill>
                <a:latin typeface="Calibri" pitchFamily="34" charset="0"/>
                <a:ea typeface="Calibri" pitchFamily="34" charset="-122"/>
                <a:cs typeface="Calibri" pitchFamily="34" charset="-120"/>
              </a:rPr>
              <a:t>Which airline is most punctual? Use a measure you can defend.</a:t>
            </a:r>
            <a:endParaRPr lang="en-US" sz="1350" dirty="0"/>
          </a:p>
        </p:txBody>
      </p:sp>
      <p:sp>
        <p:nvSpPr>
          <p:cNvPr id="13" name="Shape 11"/>
          <p:cNvSpPr/>
          <p:nvPr/>
        </p:nvSpPr>
        <p:spPr>
          <a:xfrm>
            <a:off x="548640" y="3200400"/>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Shape 12"/>
          <p:cNvSpPr/>
          <p:nvPr/>
        </p:nvSpPr>
        <p:spPr>
          <a:xfrm>
            <a:off x="777240" y="3355848"/>
            <a:ext cx="365760" cy="365760"/>
          </a:xfrm>
          <a:prstGeom prst="ellipse">
            <a:avLst/>
          </a:prstGeom>
          <a:solidFill>
            <a:srgbClr val="FFC145"/>
          </a:solidFill>
          <a:ln w="12700">
            <a:solidFill>
              <a:srgbClr val="FFC145"/>
            </a:solidFill>
            <a:prstDash val="solid"/>
          </a:ln>
        </p:spPr>
      </p:sp>
      <p:sp>
        <p:nvSpPr>
          <p:cNvPr id="15" name="Text 13"/>
          <p:cNvSpPr txBox="1"/>
          <p:nvPr/>
        </p:nvSpPr>
        <p:spPr>
          <a:xfrm>
            <a:off x="777240" y="3355848"/>
            <a:ext cx="365760" cy="365760"/>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298448" y="3383280"/>
            <a:ext cx="10058400" cy="320040"/>
          </a:xfrm>
          <a:prstGeom prst="rect">
            <a:avLst/>
          </a:prstGeom>
          <a:noFill/>
          <a:ln/>
        </p:spPr>
        <p:txBody>
          <a:bodyPr wrap="square" lIns="0" tIns="0" rIns="0" bIns="0" rtlCol="0" anchor="ctr"/>
          <a:lstStyle/>
          <a:p>
            <a:pPr indent="0" marL="0">
              <a:buNone/>
            </a:pPr>
            <a:r>
              <a:rPr lang="en-US" sz="1350" dirty="0">
                <a:solidFill>
                  <a:srgbClr val="1F3A5F"/>
                </a:solidFill>
                <a:latin typeface="Calibri" pitchFamily="34" charset="0"/>
                <a:ea typeface="Calibri" pitchFamily="34" charset="-122"/>
                <a:cs typeface="Calibri" pitchFamily="34" charset="-120"/>
              </a:rPr>
              <a:t>Which route has the worst delays, and is that based on enough flights to mean anything?</a:t>
            </a:r>
            <a:endParaRPr lang="en-US" sz="1350" dirty="0"/>
          </a:p>
        </p:txBody>
      </p:sp>
      <p:sp>
        <p:nvSpPr>
          <p:cNvPr id="17" name="Shape 15"/>
          <p:cNvSpPr/>
          <p:nvPr/>
        </p:nvSpPr>
        <p:spPr>
          <a:xfrm>
            <a:off x="548640" y="3986784"/>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4142232"/>
            <a:ext cx="365760" cy="365760"/>
          </a:xfrm>
          <a:prstGeom prst="ellipse">
            <a:avLst/>
          </a:prstGeom>
          <a:solidFill>
            <a:srgbClr val="3E7CB1"/>
          </a:solidFill>
          <a:ln w="12700">
            <a:solidFill>
              <a:srgbClr val="3E7CB1"/>
            </a:solidFill>
            <a:prstDash val="solid"/>
          </a:ln>
        </p:spPr>
      </p:sp>
      <p:sp>
        <p:nvSpPr>
          <p:cNvPr id="19" name="Text 17"/>
          <p:cNvSpPr txBox="1"/>
          <p:nvPr/>
        </p:nvSpPr>
        <p:spPr>
          <a:xfrm>
            <a:off x="777240" y="4142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298448" y="4169664"/>
            <a:ext cx="10058400" cy="320040"/>
          </a:xfrm>
          <a:prstGeom prst="rect">
            <a:avLst/>
          </a:prstGeom>
          <a:noFill/>
          <a:ln/>
        </p:spPr>
        <p:txBody>
          <a:bodyPr wrap="square" lIns="0" tIns="0" rIns="0" bIns="0" rtlCol="0" anchor="ctr"/>
          <a:lstStyle/>
          <a:p>
            <a:pPr indent="0" marL="0">
              <a:buNone/>
            </a:pPr>
            <a:r>
              <a:rPr lang="en-US" sz="1350" dirty="0">
                <a:solidFill>
                  <a:srgbClr val="1F3A5F"/>
                </a:solidFill>
                <a:latin typeface="Calibri" pitchFamily="34" charset="0"/>
                <a:ea typeface="Calibri" pitchFamily="34" charset="-122"/>
                <a:cs typeface="Calibri" pitchFamily="34" charset="-120"/>
              </a:rPr>
              <a:t>Does a longer flight tend to be more delayed?</a:t>
            </a:r>
            <a:endParaRPr lang="en-US" sz="1350" dirty="0"/>
          </a:p>
        </p:txBody>
      </p:sp>
      <p:sp>
        <p:nvSpPr>
          <p:cNvPr id="21" name="Shape 19"/>
          <p:cNvSpPr/>
          <p:nvPr/>
        </p:nvSpPr>
        <p:spPr>
          <a:xfrm>
            <a:off x="548640" y="4773168"/>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2" name="Shape 20"/>
          <p:cNvSpPr/>
          <p:nvPr/>
        </p:nvSpPr>
        <p:spPr>
          <a:xfrm>
            <a:off x="777240" y="4928616"/>
            <a:ext cx="365760" cy="365760"/>
          </a:xfrm>
          <a:prstGeom prst="ellipse">
            <a:avLst/>
          </a:prstGeom>
          <a:solidFill>
            <a:srgbClr val="2FA98C"/>
          </a:solidFill>
          <a:ln w="12700">
            <a:solidFill>
              <a:srgbClr val="2FA98C"/>
            </a:solidFill>
            <a:prstDash val="solid"/>
          </a:ln>
        </p:spPr>
      </p:sp>
      <p:sp>
        <p:nvSpPr>
          <p:cNvPr id="23" name="Text 21"/>
          <p:cNvSpPr txBox="1"/>
          <p:nvPr/>
        </p:nvSpPr>
        <p:spPr>
          <a:xfrm>
            <a:off x="777240" y="49286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298448" y="4956048"/>
            <a:ext cx="10058400" cy="320040"/>
          </a:xfrm>
          <a:prstGeom prst="rect">
            <a:avLst/>
          </a:prstGeom>
          <a:noFill/>
          <a:ln/>
        </p:spPr>
        <p:txBody>
          <a:bodyPr wrap="square" lIns="0" tIns="0" rIns="0" bIns="0" rtlCol="0" anchor="ctr"/>
          <a:lstStyle/>
          <a:p>
            <a:pPr indent="0" marL="0">
              <a:buNone/>
            </a:pPr>
            <a:r>
              <a:rPr lang="en-US" sz="1350" dirty="0">
                <a:solidFill>
                  <a:srgbClr val="1F3A5F"/>
                </a:solidFill>
                <a:latin typeface="Calibri" pitchFamily="34" charset="0"/>
                <a:ea typeface="Calibri" pitchFamily="34" charset="-122"/>
                <a:cs typeface="Calibri" pitchFamily="34" charset="-120"/>
              </a:rPr>
              <a:t>Find the extreme delays. Are they errors, or are they real? Justify your answer.</a:t>
            </a:r>
            <a:endParaRPr lang="en-US" sz="1350" dirty="0"/>
          </a:p>
        </p:txBody>
      </p:sp>
      <p:sp>
        <p:nvSpPr>
          <p:cNvPr id="25" name="Shape 23"/>
          <p:cNvSpPr/>
          <p:nvPr/>
        </p:nvSpPr>
        <p:spPr>
          <a:xfrm>
            <a:off x="548640" y="5577840"/>
            <a:ext cx="11064240" cy="731520"/>
          </a:xfrm>
          <a:prstGeom prst="roundRect">
            <a:avLst>
              <a:gd name="adj" fmla="val 1125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5705856"/>
            <a:ext cx="10424160" cy="457200"/>
          </a:xfrm>
          <a:prstGeom prst="rect">
            <a:avLst/>
          </a:prstGeom>
          <a:noFill/>
          <a:ln/>
        </p:spPr>
        <p:txBody>
          <a:bodyPr wrap="square" lIns="0" tIns="0" rIns="0" bIns="0" rtlCol="0" anchor="ctr"/>
          <a:lstStyle/>
          <a:p>
            <a:pPr indent="0" marL="0">
              <a:buNone/>
            </a:pPr>
            <a:r>
              <a:rPr lang="en-US" sz="1300" i="1" dirty="0">
                <a:solidFill>
                  <a:srgbClr val="8A5B00"/>
                </a:solidFill>
                <a:latin typeface="Calibri" pitchFamily="34" charset="0"/>
                <a:ea typeface="Calibri" pitchFamily="34" charset="-122"/>
                <a:cs typeface="Calibri" pitchFamily="34" charset="-120"/>
              </a:rPr>
              <a:t>Question 3 has a trap in it. A route with one catastrophically delayed flight will top any “average delay” ranking — so report the count alongside, and say whether you trust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2.3  ·  SUBMISSION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What to hand in, and how it is marked</a:t>
            </a:r>
            <a:endParaRPr lang="en-US" sz="3200" dirty="0"/>
          </a:p>
        </p:txBody>
      </p:sp>
      <p:sp>
        <p:nvSpPr>
          <p:cNvPr id="5" name="Shape 3"/>
          <p:cNvSpPr/>
          <p:nvPr/>
        </p:nvSpPr>
        <p:spPr>
          <a:xfrm>
            <a:off x="548640" y="1572768"/>
            <a:ext cx="548640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Submit one notebook containing</a:t>
            </a:r>
            <a:endParaRPr lang="en-US" sz="1450" dirty="0"/>
          </a:p>
        </p:txBody>
      </p:sp>
      <p:sp>
        <p:nvSpPr>
          <p:cNvPr id="7" name="Text 5"/>
          <p:cNvSpPr txBox="1"/>
          <p:nvPr/>
        </p:nvSpPr>
        <p:spPr>
          <a:xfrm>
            <a:off x="914400" y="2084832"/>
            <a:ext cx="4754880" cy="20116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The six steps, as labelled sections</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An audit cell showing what you found wrong</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At least four charts, all labelled</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Five written findings — what, so what, caveat</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A short “what I cleaned and why” note</a:t>
            </a:r>
            <a:endParaRPr lang="en-US" sz="1200" dirty="0"/>
          </a:p>
        </p:txBody>
      </p:sp>
      <p:sp>
        <p:nvSpPr>
          <p:cNvPr id="8" name="Shape 6"/>
          <p:cNvSpPr/>
          <p:nvPr/>
        </p:nvSpPr>
        <p:spPr>
          <a:xfrm>
            <a:off x="6309360" y="1572768"/>
            <a:ext cx="5303520" cy="2651760"/>
          </a:xfrm>
          <a:prstGeom prst="roundRect">
            <a:avLst>
              <a:gd name="adj" fmla="val 31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Marking</a:t>
            </a:r>
            <a:endParaRPr lang="en-US" sz="14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65392" y="2103120"/>
          <a:ext cx="4800600" cy="914400"/>
        </p:xfrm>
        <a:graphic>
          <a:graphicData uri="http://schemas.openxmlformats.org/drawingml/2006/table">
            <a:tbl>
              <a:tblPr/>
              <a:tblGrid>
                <a:gridCol w="3566160"/>
                <a:gridCol w="123444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Area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Marks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29184">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Audit: did you find the problems?</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29184">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Cleaning: right choices, stated</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29184">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Analysis: correct and relevant</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29184">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Charts: readable and labelled</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29184">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Findings: written, with caveats</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1" name="Shape 8"/>
          <p:cNvSpPr/>
          <p:nvPr/>
        </p:nvSpPr>
        <p:spPr>
          <a:xfrm>
            <a:off x="548640" y="4343400"/>
            <a:ext cx="11064240" cy="1508760"/>
          </a:xfrm>
          <a:prstGeom prst="roundRect">
            <a:avLst>
              <a:gd name="adj" fmla="val 545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9"/>
          <p:cNvSpPr txBox="1"/>
          <p:nvPr/>
        </p:nvSpPr>
        <p:spPr>
          <a:xfrm>
            <a:off x="868680" y="448970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Half the marks are for the data work, not the answers</a:t>
            </a:r>
            <a:endParaRPr lang="en-US" sz="1450" dirty="0"/>
          </a:p>
        </p:txBody>
      </p:sp>
      <p:sp>
        <p:nvSpPr>
          <p:cNvPr id="13" name="Text 10"/>
          <p:cNvSpPr txBox="1"/>
          <p:nvPr/>
        </p:nvSpPr>
        <p:spPr>
          <a:xfrm>
            <a:off x="868680" y="4800600"/>
            <a:ext cx="10424160" cy="91440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That is deliberate, and it reflects real practice. A beautifully presented average computed over data you never checked is worth nothing. Two students can reach different numbers and both score well, provided each can say what they did and why — and both will beat a student who reports a single confident figure with no audit behind it.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SELF-REVIEW</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Before you submit — the eight checks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3840480"/>
                <a:gridCol w="3931920"/>
                <a:gridCol w="329184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Check</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One line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Did isna() miss anything?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sentinels are invisible to it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df.describe()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Is the text normalised?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17 “categories” for 4 real ones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value_counts()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Did you clean before deduplicating?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Day 19: the order changes the answer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Did the merge change the row count?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duplicated key multiplies rows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assert len(df) == before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Any keys that matched nothing?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an orphan id is a finding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indicator=True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Did you LOOK at the outliers?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they may be real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print the rows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Is every chart labelled?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unlabelled is unfinished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set_xlabel / set_title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Does each finding have a caveat?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what you cleaned changes the number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If you can answer all eight, your analysis is defensible — even where someone else made different choices.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TIMELINE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the two hours run</a:t>
            </a:r>
            <a:endParaRPr lang="en-US" sz="3200" dirty="0"/>
          </a:p>
        </p:txBody>
      </p:sp>
      <p:sp>
        <p:nvSpPr>
          <p:cNvPr id="5" name="Shape 3"/>
          <p:cNvSpPr/>
          <p:nvPr/>
        </p:nvSpPr>
        <p:spPr>
          <a:xfrm>
            <a:off x="548640" y="1691640"/>
            <a:ext cx="1106424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911096"/>
            <a:ext cx="914400" cy="457200"/>
          </a:xfrm>
          <a:prstGeom prst="roundRect">
            <a:avLst>
              <a:gd name="adj" fmla="val 12000"/>
            </a:avLst>
          </a:prstGeom>
          <a:solidFill>
            <a:srgbClr val="3E7CB1"/>
          </a:solidFill>
          <a:ln w="12700">
            <a:solidFill>
              <a:srgbClr val="333333"/>
            </a:solidFill>
            <a:prstDash val="solid"/>
          </a:ln>
        </p:spPr>
      </p:sp>
      <p:sp>
        <p:nvSpPr>
          <p:cNvPr id="7" name="Text 5"/>
          <p:cNvSpPr txBox="1"/>
          <p:nvPr/>
        </p:nvSpPr>
        <p:spPr>
          <a:xfrm>
            <a:off x="777240" y="1911096"/>
            <a:ext cx="9144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0:00</a:t>
            </a:r>
            <a:endParaRPr lang="en-US" sz="1200" dirty="0"/>
          </a:p>
        </p:txBody>
      </p:sp>
      <p:sp>
        <p:nvSpPr>
          <p:cNvPr id="8" name="Text 6"/>
          <p:cNvSpPr txBox="1"/>
          <p:nvPr/>
        </p:nvSpPr>
        <p:spPr>
          <a:xfrm>
            <a:off x="1874520" y="1984248"/>
            <a:ext cx="1097280" cy="320040"/>
          </a:xfrm>
          <a:prstGeom prst="rect">
            <a:avLst/>
          </a:prstGeom>
          <a:noFill/>
          <a:ln/>
        </p:spPr>
        <p:txBody>
          <a:bodyPr wrap="square" lIns="0" tIns="0" rIns="0" bIns="0" rtlCol="0" anchor="ctr"/>
          <a:lstStyle/>
          <a:p>
            <a:pPr indent="0" marL="0">
              <a:buNone/>
            </a:pPr>
            <a:r>
              <a:rPr lang="en-US" sz="1300" b="1" dirty="0">
                <a:solidFill>
                  <a:srgbClr val="6B7789"/>
                </a:solidFill>
                <a:latin typeface="Calibri" pitchFamily="34" charset="0"/>
                <a:ea typeface="Calibri" pitchFamily="34" charset="-122"/>
                <a:cs typeface="Calibri" pitchFamily="34" charset="-120"/>
              </a:rPr>
              <a:t>15 min</a:t>
            </a:r>
            <a:endParaRPr lang="en-US" sz="1300" dirty="0"/>
          </a:p>
        </p:txBody>
      </p:sp>
      <p:sp>
        <p:nvSpPr>
          <p:cNvPr id="9" name="Text 7"/>
          <p:cNvSpPr txBox="1"/>
          <p:nvPr/>
        </p:nvSpPr>
        <p:spPr>
          <a:xfrm>
            <a:off x="3108960" y="1965960"/>
            <a:ext cx="8229600" cy="365760"/>
          </a:xfrm>
          <a:prstGeom prst="rect">
            <a:avLst/>
          </a:prstGeom>
          <a:noFill/>
          <a:ln/>
        </p:spPr>
        <p:txBody>
          <a:bodyPr wrap="square" lIns="0" tIns="0" rIns="0" bIns="0" rtlCol="0" anchor="ctr"/>
          <a:lstStyle/>
          <a:p>
            <a:pPr indent="0" marL="0">
              <a:buNone/>
            </a:pPr>
            <a:r>
              <a:rPr lang="en-US" sz="1400" dirty="0">
                <a:solidFill>
                  <a:srgbClr val="1F3A5F"/>
                </a:solidFill>
                <a:latin typeface="Calibri" pitchFamily="34" charset="0"/>
                <a:ea typeface="Calibri" pitchFamily="34" charset="-122"/>
                <a:cs typeface="Calibri" pitchFamily="34" charset="-120"/>
              </a:rPr>
              <a:t>Brief, the workflow, and the two datasets</a:t>
            </a:r>
            <a:endParaRPr lang="en-US" sz="1400" dirty="0"/>
          </a:p>
        </p:txBody>
      </p:sp>
      <p:sp>
        <p:nvSpPr>
          <p:cNvPr id="10" name="Shape 8"/>
          <p:cNvSpPr/>
          <p:nvPr/>
        </p:nvSpPr>
        <p:spPr>
          <a:xfrm>
            <a:off x="548640" y="2715768"/>
            <a:ext cx="1106424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777240" y="2935224"/>
            <a:ext cx="914400" cy="457200"/>
          </a:xfrm>
          <a:prstGeom prst="roundRect">
            <a:avLst>
              <a:gd name="adj" fmla="val 12000"/>
            </a:avLst>
          </a:prstGeom>
          <a:solidFill>
            <a:srgbClr val="2FA98C"/>
          </a:solidFill>
          <a:ln w="12700">
            <a:solidFill>
              <a:srgbClr val="333333"/>
            </a:solidFill>
            <a:prstDash val="solid"/>
          </a:ln>
        </p:spPr>
      </p:sp>
      <p:sp>
        <p:nvSpPr>
          <p:cNvPr id="12" name="Text 10"/>
          <p:cNvSpPr txBox="1"/>
          <p:nvPr/>
        </p:nvSpPr>
        <p:spPr>
          <a:xfrm>
            <a:off x="777240" y="2935224"/>
            <a:ext cx="9144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0:15</a:t>
            </a:r>
            <a:endParaRPr lang="en-US" sz="1200" dirty="0"/>
          </a:p>
        </p:txBody>
      </p:sp>
      <p:sp>
        <p:nvSpPr>
          <p:cNvPr id="13" name="Text 11"/>
          <p:cNvSpPr txBox="1"/>
          <p:nvPr/>
        </p:nvSpPr>
        <p:spPr>
          <a:xfrm>
            <a:off x="1874520" y="3008376"/>
            <a:ext cx="1097280" cy="320040"/>
          </a:xfrm>
          <a:prstGeom prst="rect">
            <a:avLst/>
          </a:prstGeom>
          <a:noFill/>
          <a:ln/>
        </p:spPr>
        <p:txBody>
          <a:bodyPr wrap="square" lIns="0" tIns="0" rIns="0" bIns="0" rtlCol="0" anchor="ctr"/>
          <a:lstStyle/>
          <a:p>
            <a:pPr indent="0" marL="0">
              <a:buNone/>
            </a:pPr>
            <a:r>
              <a:rPr lang="en-US" sz="1300" b="1" dirty="0">
                <a:solidFill>
                  <a:srgbClr val="6B7789"/>
                </a:solidFill>
                <a:latin typeface="Calibri" pitchFamily="34" charset="0"/>
                <a:ea typeface="Calibri" pitchFamily="34" charset="-122"/>
                <a:cs typeface="Calibri" pitchFamily="34" charset="-120"/>
              </a:rPr>
              <a:t>45 min</a:t>
            </a:r>
            <a:endParaRPr lang="en-US" sz="1300" dirty="0"/>
          </a:p>
        </p:txBody>
      </p:sp>
      <p:sp>
        <p:nvSpPr>
          <p:cNvPr id="14" name="Text 12"/>
          <p:cNvSpPr txBox="1"/>
          <p:nvPr/>
        </p:nvSpPr>
        <p:spPr>
          <a:xfrm>
            <a:off x="3108960" y="2990088"/>
            <a:ext cx="8229600" cy="365760"/>
          </a:xfrm>
          <a:prstGeom prst="rect">
            <a:avLst/>
          </a:prstGeom>
          <a:noFill/>
          <a:ln/>
        </p:spPr>
        <p:txBody>
          <a:bodyPr wrap="square" lIns="0" tIns="0" rIns="0" bIns="0" rtlCol="0" anchor="ctr"/>
          <a:lstStyle/>
          <a:p>
            <a:pPr indent="0" marL="0">
              <a:buNone/>
            </a:pPr>
            <a:r>
              <a:rPr lang="en-US" sz="1400" dirty="0">
                <a:solidFill>
                  <a:srgbClr val="1F3A5F"/>
                </a:solidFill>
                <a:latin typeface="Calibri" pitchFamily="34" charset="0"/>
                <a:ea typeface="Calibri" pitchFamily="34" charset="-122"/>
                <a:cs typeface="Calibri" pitchFamily="34" charset="-120"/>
              </a:rPr>
              <a:t>Project A walkthrough — I drive, you follow</a:t>
            </a:r>
            <a:endParaRPr lang="en-US" sz="1400" dirty="0"/>
          </a:p>
        </p:txBody>
      </p:sp>
      <p:sp>
        <p:nvSpPr>
          <p:cNvPr id="15" name="Shape 13"/>
          <p:cNvSpPr/>
          <p:nvPr/>
        </p:nvSpPr>
        <p:spPr>
          <a:xfrm>
            <a:off x="548640" y="3739896"/>
            <a:ext cx="1106424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777240" y="3959352"/>
            <a:ext cx="914400" cy="457200"/>
          </a:xfrm>
          <a:prstGeom prst="roundRect">
            <a:avLst>
              <a:gd name="adj" fmla="val 12000"/>
            </a:avLst>
          </a:prstGeom>
          <a:solidFill>
            <a:srgbClr val="FFC145"/>
          </a:solidFill>
          <a:ln w="12700">
            <a:solidFill>
              <a:srgbClr val="333333"/>
            </a:solidFill>
            <a:prstDash val="solid"/>
          </a:ln>
        </p:spPr>
      </p:sp>
      <p:sp>
        <p:nvSpPr>
          <p:cNvPr id="17" name="Text 15"/>
          <p:cNvSpPr txBox="1"/>
          <p:nvPr/>
        </p:nvSpPr>
        <p:spPr>
          <a:xfrm>
            <a:off x="777240" y="3959352"/>
            <a:ext cx="914400" cy="457200"/>
          </a:xfrm>
          <a:prstGeom prst="rect">
            <a:avLst/>
          </a:prstGeom>
          <a:noFill/>
          <a:ln/>
        </p:spPr>
        <p:txBody>
          <a:bodyPr wrap="square" lIns="0" tIns="0" rIns="0" bIns="0" rtlCol="0" anchor="ctr"/>
          <a:lstStyle/>
          <a:p>
            <a:pPr algn="ctr" indent="0" marL="0">
              <a:buNone/>
            </a:pPr>
            <a:r>
              <a:rPr lang="en-US" sz="1200" b="1" dirty="0">
                <a:solidFill>
                  <a:srgbClr val="152238"/>
                </a:solidFill>
                <a:latin typeface="Courier New" pitchFamily="34" charset="0"/>
                <a:ea typeface="Courier New" pitchFamily="34" charset="-122"/>
                <a:cs typeface="Courier New" pitchFamily="34" charset="-120"/>
              </a:rPr>
              <a:t>1:00</a:t>
            </a:r>
            <a:endParaRPr lang="en-US" sz="1200" dirty="0"/>
          </a:p>
        </p:txBody>
      </p:sp>
      <p:sp>
        <p:nvSpPr>
          <p:cNvPr id="18" name="Text 16"/>
          <p:cNvSpPr txBox="1"/>
          <p:nvPr/>
        </p:nvSpPr>
        <p:spPr>
          <a:xfrm>
            <a:off x="1874520" y="4032504"/>
            <a:ext cx="1097280" cy="320040"/>
          </a:xfrm>
          <a:prstGeom prst="rect">
            <a:avLst/>
          </a:prstGeom>
          <a:noFill/>
          <a:ln/>
        </p:spPr>
        <p:txBody>
          <a:bodyPr wrap="square" lIns="0" tIns="0" rIns="0" bIns="0" rtlCol="0" anchor="ctr"/>
          <a:lstStyle/>
          <a:p>
            <a:pPr indent="0" marL="0">
              <a:buNone/>
            </a:pPr>
            <a:r>
              <a:rPr lang="en-US" sz="1300" b="1" dirty="0">
                <a:solidFill>
                  <a:srgbClr val="6B7789"/>
                </a:solidFill>
                <a:latin typeface="Calibri" pitchFamily="34" charset="0"/>
                <a:ea typeface="Calibri" pitchFamily="34" charset="-122"/>
                <a:cs typeface="Calibri" pitchFamily="34" charset="-120"/>
              </a:rPr>
              <a:t>50 min</a:t>
            </a:r>
            <a:endParaRPr lang="en-US" sz="1300" dirty="0"/>
          </a:p>
        </p:txBody>
      </p:sp>
      <p:sp>
        <p:nvSpPr>
          <p:cNvPr id="19" name="Text 17"/>
          <p:cNvSpPr txBox="1"/>
          <p:nvPr/>
        </p:nvSpPr>
        <p:spPr>
          <a:xfrm>
            <a:off x="3108960" y="4014216"/>
            <a:ext cx="8229600" cy="365760"/>
          </a:xfrm>
          <a:prstGeom prst="rect">
            <a:avLst/>
          </a:prstGeom>
          <a:noFill/>
          <a:ln/>
        </p:spPr>
        <p:txBody>
          <a:bodyPr wrap="square" lIns="0" tIns="0" rIns="0" bIns="0" rtlCol="0" anchor="ctr"/>
          <a:lstStyle/>
          <a:p>
            <a:pPr indent="0" marL="0">
              <a:buNone/>
            </a:pPr>
            <a:r>
              <a:rPr lang="en-US" sz="1400" dirty="0">
                <a:solidFill>
                  <a:srgbClr val="1F3A5F"/>
                </a:solidFill>
                <a:latin typeface="Calibri" pitchFamily="34" charset="0"/>
                <a:ea typeface="Calibri" pitchFamily="34" charset="-122"/>
                <a:cs typeface="Calibri" pitchFamily="34" charset="-120"/>
              </a:rPr>
              <a:t>Project B — you work, I walk around</a:t>
            </a:r>
            <a:endParaRPr lang="en-US" sz="1400" dirty="0"/>
          </a:p>
        </p:txBody>
      </p:sp>
      <p:sp>
        <p:nvSpPr>
          <p:cNvPr id="20" name="Shape 18"/>
          <p:cNvSpPr/>
          <p:nvPr/>
        </p:nvSpPr>
        <p:spPr>
          <a:xfrm>
            <a:off x="548640" y="4764024"/>
            <a:ext cx="1106424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77240" y="4983480"/>
            <a:ext cx="914400" cy="457200"/>
          </a:xfrm>
          <a:prstGeom prst="roundRect">
            <a:avLst>
              <a:gd name="adj" fmla="val 12000"/>
            </a:avLst>
          </a:prstGeom>
          <a:solidFill>
            <a:srgbClr val="E8674C"/>
          </a:solidFill>
          <a:ln w="12700">
            <a:solidFill>
              <a:srgbClr val="333333"/>
            </a:solidFill>
            <a:prstDash val="solid"/>
          </a:ln>
        </p:spPr>
      </p:sp>
      <p:sp>
        <p:nvSpPr>
          <p:cNvPr id="22" name="Text 20"/>
          <p:cNvSpPr txBox="1"/>
          <p:nvPr/>
        </p:nvSpPr>
        <p:spPr>
          <a:xfrm>
            <a:off x="777240" y="4983480"/>
            <a:ext cx="9144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1:50</a:t>
            </a:r>
            <a:endParaRPr lang="en-US" sz="1200" dirty="0"/>
          </a:p>
        </p:txBody>
      </p:sp>
      <p:sp>
        <p:nvSpPr>
          <p:cNvPr id="23" name="Text 21"/>
          <p:cNvSpPr txBox="1"/>
          <p:nvPr/>
        </p:nvSpPr>
        <p:spPr>
          <a:xfrm>
            <a:off x="1874520" y="5056632"/>
            <a:ext cx="1097280" cy="320040"/>
          </a:xfrm>
          <a:prstGeom prst="rect">
            <a:avLst/>
          </a:prstGeom>
          <a:noFill/>
          <a:ln/>
        </p:spPr>
        <p:txBody>
          <a:bodyPr wrap="square" lIns="0" tIns="0" rIns="0" bIns="0" rtlCol="0" anchor="ctr"/>
          <a:lstStyle/>
          <a:p>
            <a:pPr indent="0" marL="0">
              <a:buNone/>
            </a:pPr>
            <a:r>
              <a:rPr lang="en-US" sz="1300" b="1" dirty="0">
                <a:solidFill>
                  <a:srgbClr val="6B7789"/>
                </a:solidFill>
                <a:latin typeface="Calibri" pitchFamily="34" charset="0"/>
                <a:ea typeface="Calibri" pitchFamily="34" charset="-122"/>
                <a:cs typeface="Calibri" pitchFamily="34" charset="-120"/>
              </a:rPr>
              <a:t>10 min</a:t>
            </a:r>
            <a:endParaRPr lang="en-US" sz="1300" dirty="0"/>
          </a:p>
        </p:txBody>
      </p:sp>
      <p:sp>
        <p:nvSpPr>
          <p:cNvPr id="24" name="Text 22"/>
          <p:cNvSpPr txBox="1"/>
          <p:nvPr/>
        </p:nvSpPr>
        <p:spPr>
          <a:xfrm>
            <a:off x="3108960" y="5038344"/>
            <a:ext cx="8229600" cy="365760"/>
          </a:xfrm>
          <a:prstGeom prst="rect">
            <a:avLst/>
          </a:prstGeom>
          <a:noFill/>
          <a:ln/>
        </p:spPr>
        <p:txBody>
          <a:bodyPr wrap="square" lIns="0" tIns="0" rIns="0" bIns="0" rtlCol="0" anchor="ctr"/>
          <a:lstStyle/>
          <a:p>
            <a:pPr indent="0" marL="0">
              <a:buNone/>
            </a:pPr>
            <a:r>
              <a:rPr lang="en-US" sz="1400" dirty="0">
                <a:solidFill>
                  <a:srgbClr val="1F3A5F"/>
                </a:solidFill>
                <a:latin typeface="Calibri" pitchFamily="34" charset="0"/>
                <a:ea typeface="Calibri" pitchFamily="34" charset="-122"/>
                <a:cs typeface="Calibri" pitchFamily="34" charset="-120"/>
              </a:rPr>
              <a:t>Two volunteers show one finding each</a:t>
            </a:r>
            <a:endParaRPr lang="en-US" sz="1400" dirty="0"/>
          </a:p>
        </p:txBody>
      </p:sp>
      <p:sp>
        <p:nvSpPr>
          <p:cNvPr id="25" name="Shape 23"/>
          <p:cNvSpPr/>
          <p:nvPr/>
        </p:nvSpPr>
        <p:spPr>
          <a:xfrm>
            <a:off x="548640" y="5897880"/>
            <a:ext cx="11064240" cy="0"/>
          </a:xfrm>
          <a:prstGeom prst="roundRect">
            <a:avLst>
              <a:gd name="adj" fmla="val Infinity"/>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548640" y="5852160"/>
            <a:ext cx="11064240" cy="320040"/>
          </a:xfrm>
          <a:prstGeom prst="rect">
            <a:avLst/>
          </a:prstGeom>
          <a:noFill/>
          <a:ln/>
        </p:spPr>
        <p:txBody>
          <a:bodyPr wrap="square" lIns="0" tIns="0" rIns="0" bIns="0" rtlCol="0" anchor="ctr"/>
          <a:lstStyle/>
          <a:p>
            <a:pPr indent="0" marL="0">
              <a:buNone/>
            </a:pPr>
            <a:r>
              <a:rPr lang="en-US" sz="1250" i="1" dirty="0">
                <a:solidFill>
                  <a:srgbClr val="6B7789"/>
                </a:solidFill>
                <a:latin typeface="Calibri" pitchFamily="34" charset="0"/>
                <a:ea typeface="Calibri" pitchFamily="34" charset="-122"/>
                <a:cs typeface="Calibri" pitchFamily="34" charset="-120"/>
              </a:rPr>
              <a:t>If you finish Project B early, answer a sixth question of your own invention — that is what the capstone will ask you to do.</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82296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THE WHOLE SESSION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Six steps: load, audit, clean, combine, explore, write up.</a:t>
            </a:r>
            <a:endParaRPr lang="en-US" sz="100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Audit BEFORE cleaning. You cannot fix what you have not found.</a:t>
            </a:r>
            <a:endParaRPr lang="en-US" sz="100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isna() finds only some gaps — describe() and value_counts() find the rest.</a:t>
            </a:r>
            <a:endParaRPr lang="en-US" sz="100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Normalise text, THEN deduplicate. The order changes the answer.</a:t>
            </a:r>
            <a:endParaRPr lang="en-US" sz="100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Deduplicate the lookup table before you merge it.</a:t>
            </a:r>
            <a:endParaRPr lang="en-US" sz="100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assert len(after) == len(before) after every merge.</a:t>
            </a:r>
            <a:endParaRPr lang="en-US" sz="100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A derived column inherits every problem of its inputs.</a:t>
            </a:r>
            <a:endParaRPr lang="en-US" sz="100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A total is not a comparison — divide by the count.</a:t>
            </a:r>
            <a:endParaRPr lang="en-US" sz="100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LOOK at outliers before treating them. Some are the finding.</a:t>
            </a:r>
            <a:endParaRPr lang="en-US" sz="100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Report the count beside every average.</a:t>
            </a:r>
            <a:endParaRPr lang="en-US" sz="100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Every chart: both axes labelled, and a title.</a:t>
            </a:r>
            <a:endParaRPr lang="en-US" sz="100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Every finding: what, so what, and the caveat.</a:t>
            </a:r>
            <a:endParaRPr lang="en-US" sz="100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To hand in</a:t>
            </a:r>
            <a:endParaRPr lang="en-US" sz="1300" dirty="0"/>
          </a:p>
        </p:txBody>
      </p:sp>
      <p:sp>
        <p:nvSpPr>
          <p:cNvPr id="44" name="Text 42"/>
          <p:cNvSpPr txBox="1"/>
          <p:nvPr/>
        </p:nvSpPr>
        <p:spPr>
          <a:xfrm>
            <a:off x="868680" y="5632704"/>
            <a:ext cx="4892040" cy="658368"/>
          </a:xfrm>
          <a:prstGeom prst="rect">
            <a:avLst/>
          </a:prstGeom>
          <a:noFill/>
          <a:ln/>
        </p:spPr>
        <p:txBody>
          <a:bodyPr wrap="square" lIns="0" tIns="0" rIns="0" bIns="0" rtlCol="0" anchor="ctr"/>
          <a:lstStyle/>
          <a:p>
            <a:pPr indent="0" marL="0">
              <a:lnSpc>
                <a:spcPct val="110000"/>
              </a:lnSpc>
              <a:buNone/>
            </a:pPr>
            <a:r>
              <a:rPr lang="en-US" sz="1000" dirty="0">
                <a:solidFill>
                  <a:srgbClr val="AFC2DC"/>
                </a:solidFill>
                <a:latin typeface="Calibri" pitchFamily="34" charset="0"/>
                <a:ea typeface="Calibri" pitchFamily="34" charset="-122"/>
                <a:cs typeface="Calibri" pitchFamily="34" charset="-120"/>
              </a:rPr>
              <a:t>Project B as one notebook: the six steps as sections, an audit cell, at least four labelled charts, and five written findings with caveats. The eight-point checklist as your final cell.</a:t>
            </a:r>
            <a:endParaRPr lang="en-US" sz="100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  Module 1 assessment</a:t>
            </a:r>
            <a:endParaRPr lang="en-US" sz="1300" dirty="0"/>
          </a:p>
        </p:txBody>
      </p:sp>
      <p:sp>
        <p:nvSpPr>
          <p:cNvPr id="47" name="Text 45"/>
          <p:cNvSpPr txBox="1"/>
          <p:nvPr/>
        </p:nvSpPr>
        <p:spPr>
          <a:xfrm>
            <a:off x="6492240" y="5632704"/>
            <a:ext cx="4892040" cy="658368"/>
          </a:xfrm>
          <a:prstGeom prst="rect">
            <a:avLst/>
          </a:prstGeom>
          <a:noFill/>
          <a:ln/>
        </p:spPr>
        <p:txBody>
          <a:bodyPr wrap="square" lIns="0" tIns="0" rIns="0" bIns="0" rtlCol="0" anchor="ctr"/>
          <a:lstStyle/>
          <a:p>
            <a:pPr indent="0" marL="0">
              <a:lnSpc>
                <a:spcPct val="110000"/>
              </a:lnSpc>
              <a:buNone/>
            </a:pPr>
            <a:r>
              <a:rPr lang="en-US" sz="1050" dirty="0">
                <a:solidFill>
                  <a:srgbClr val="AFC2DC"/>
                </a:solidFill>
                <a:latin typeface="Calibri" pitchFamily="34" charset="0"/>
                <a:ea typeface="Calibri" pitchFamily="34" charset="-122"/>
                <a:cs typeface="Calibri" pitchFamily="34" charset="-120"/>
              </a:rPr>
              <a:t>Then Module 2: Statistics &amp; Probability. Everything you have just done by eye, you will learn to do with a test and a p-value.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21 - EDA Mini Project</dc:title>
  <dc:subject>PptxGenJS Presentation</dc:subject>
  <dc:creator>Data Science Program</dc:creator>
  <cp:lastModifiedBy>Data Science Program</cp:lastModifiedBy>
  <cp:revision>1</cp:revision>
  <dcterms:created xsi:type="dcterms:W3CDTF">2026-10-04T22:45:33Z</dcterms:created>
  <dcterms:modified xsi:type="dcterms:W3CDTF">2026-10-04T22:45:33Z</dcterms:modified>
</cp:coreProperties>
</file>