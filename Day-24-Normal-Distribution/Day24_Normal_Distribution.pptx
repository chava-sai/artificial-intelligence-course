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24. Yesterday the SD described data. Today it becomes a measuring stick - z-scores let you compare things measured on completely different scales, which is the step that makes the rest of Module 2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description-to-unit shift is the point of the session. Everything else today is machinery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section 4. Students leave this topic believing the empirical rule is universal, and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early that real data is often not normal. It prevents the over-application that section 4 then corrects.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infinite tails point is planted here and paid off in section 4 with the negative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Signposting the CLT now gives today's material a purpose beyond itself. Do not explain it yet - just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commute example works because everyone has an intuition for it. Ask the room for their own mean and 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two-exam example is the one students remember. Ask them which mark is better BEFORE revealing the z-scores - most say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Demystifying 1.96 now saves confusion later. Students treat it as arbitrary unless they see where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coincidental 2-sigma pass is the best part of this slide. It teaches them that one passing check proves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large-sample warning on Shapiro matters because students will apply it to big DataFrames and get a confusing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7 answers the question a sharp student will ask: can I use z-scores at all on skewed data? Yes, for ranking. No, for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on the salary data live. It is the direct answer to the coincidence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them check first is the habit that prevents the expensive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Tomorrow moves from measuring continuous quantities to COUNTING events, which is a different kind of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2  ·  STATISTICS &amp; PROBABILITY  ·  TOPIC 2.4</a:t>
            </a:r>
            <a:endParaRPr lang="en-US" sz="13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The Normal</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Distribution</a:t>
            </a:r>
            <a:endParaRPr lang="en-US" sz="4200" dirty="0"/>
          </a:p>
        </p:txBody>
      </p:sp>
      <p:sp>
        <p:nvSpPr>
          <p:cNvPr id="6" name="Text 4"/>
          <p:cNvSpPr txBox="1"/>
          <p:nvPr/>
        </p:nvSpPr>
        <p:spPr>
          <a:xfrm>
            <a:off x="841248" y="365760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24  —  when the standard deviation becomes a ruler</a:t>
            </a:r>
            <a:endParaRPr lang="en-US" sz="1800" dirty="0"/>
          </a:p>
        </p:txBody>
      </p:sp>
      <p:sp>
        <p:nvSpPr>
          <p:cNvPr id="7" name="Shape 5"/>
          <p:cNvSpPr/>
          <p:nvPr/>
        </p:nvSpPr>
        <p:spPr>
          <a:xfrm>
            <a:off x="822960" y="4480560"/>
            <a:ext cx="2468880" cy="1005840"/>
          </a:xfrm>
          <a:prstGeom prst="roundRect">
            <a:avLst>
              <a:gd name="adj" fmla="val 8182"/>
            </a:avLst>
          </a:prstGeom>
          <a:solidFill>
            <a:srgbClr val="1E3151"/>
          </a:solidFill>
          <a:ln w="12700">
            <a:solidFill>
              <a:srgbClr val="1E3151"/>
            </a:solidFill>
            <a:prstDash val="solid"/>
          </a:ln>
        </p:spPr>
      </p:sp>
      <p:sp>
        <p:nvSpPr>
          <p:cNvPr id="8" name="Text 6"/>
          <p:cNvSpPr txBox="1"/>
          <p:nvPr/>
        </p:nvSpPr>
        <p:spPr>
          <a:xfrm>
            <a:off x="1024128" y="4572000"/>
            <a:ext cx="2148840" cy="384048"/>
          </a:xfrm>
          <a:prstGeom prst="rect">
            <a:avLst/>
          </a:prstGeom>
          <a:noFill/>
          <a:ln/>
        </p:spPr>
        <p:txBody>
          <a:bodyPr wrap="square" lIns="0" tIns="0" rIns="0" bIns="0" rtlCol="0" anchor="ctr"/>
          <a:lstStyle/>
          <a:p>
            <a:pPr indent="0" marL="0">
              <a:buNone/>
            </a:pPr>
            <a:r>
              <a:rPr lang="en-US" sz="1900" b="1" dirty="0">
                <a:solidFill>
                  <a:srgbClr val="FFC145"/>
                </a:solidFill>
                <a:latin typeface="Cambria" pitchFamily="34" charset="0"/>
                <a:ea typeface="Cambria" pitchFamily="34" charset="-122"/>
                <a:cs typeface="Cambria" pitchFamily="34" charset="-120"/>
              </a:rPr>
              <a:t>68-95-99.7</a:t>
            </a:r>
            <a:endParaRPr lang="en-US" sz="1900" dirty="0"/>
          </a:p>
        </p:txBody>
      </p:sp>
      <p:sp>
        <p:nvSpPr>
          <p:cNvPr id="9" name="Text 7"/>
          <p:cNvSpPr txBox="1"/>
          <p:nvPr/>
        </p:nvSpPr>
        <p:spPr>
          <a:xfrm>
            <a:off x="10241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The rule worth memorising</a:t>
            </a:r>
            <a:endParaRPr lang="en-US" sz="1050" dirty="0"/>
          </a:p>
        </p:txBody>
      </p:sp>
      <p:sp>
        <p:nvSpPr>
          <p:cNvPr id="10" name="Shape 8"/>
          <p:cNvSpPr/>
          <p:nvPr/>
        </p:nvSpPr>
        <p:spPr>
          <a:xfrm>
            <a:off x="3566160" y="4480560"/>
            <a:ext cx="2468880" cy="1005840"/>
          </a:xfrm>
          <a:prstGeom prst="roundRect">
            <a:avLst>
              <a:gd name="adj" fmla="val 8182"/>
            </a:avLst>
          </a:prstGeom>
          <a:solidFill>
            <a:srgbClr val="1E3151"/>
          </a:solidFill>
          <a:ln w="12700">
            <a:solidFill>
              <a:srgbClr val="1E3151"/>
            </a:solidFill>
            <a:prstDash val="solid"/>
          </a:ln>
        </p:spPr>
      </p:sp>
      <p:sp>
        <p:nvSpPr>
          <p:cNvPr id="11" name="Text 9"/>
          <p:cNvSpPr txBox="1"/>
          <p:nvPr/>
        </p:nvSpPr>
        <p:spPr>
          <a:xfrm>
            <a:off x="3767328" y="4572000"/>
            <a:ext cx="2148840" cy="384048"/>
          </a:xfrm>
          <a:prstGeom prst="rect">
            <a:avLst/>
          </a:prstGeom>
          <a:noFill/>
          <a:ln/>
        </p:spPr>
        <p:txBody>
          <a:bodyPr wrap="square" lIns="0" tIns="0" rIns="0" bIns="0" rtlCol="0" anchor="ctr"/>
          <a:lstStyle/>
          <a:p>
            <a:pPr indent="0" marL="0">
              <a:buNone/>
            </a:pPr>
            <a:r>
              <a:rPr lang="en-US" sz="1900" b="1" dirty="0">
                <a:solidFill>
                  <a:srgbClr val="FFC145"/>
                </a:solidFill>
                <a:latin typeface="Cambria" pitchFamily="34" charset="0"/>
                <a:ea typeface="Cambria" pitchFamily="34" charset="-122"/>
                <a:cs typeface="Cambria" pitchFamily="34" charset="-120"/>
              </a:rPr>
              <a:t>1.96</a:t>
            </a:r>
            <a:endParaRPr lang="en-US" sz="1900" dirty="0"/>
          </a:p>
        </p:txBody>
      </p:sp>
      <p:sp>
        <p:nvSpPr>
          <p:cNvPr id="12" name="Text 10"/>
          <p:cNvSpPr txBox="1"/>
          <p:nvPr/>
        </p:nvSpPr>
        <p:spPr>
          <a:xfrm>
            <a:off x="37673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The number behind every CI</a:t>
            </a:r>
            <a:endParaRPr lang="en-US" sz="1050" dirty="0"/>
          </a:p>
        </p:txBody>
      </p:sp>
      <p:sp>
        <p:nvSpPr>
          <p:cNvPr id="13" name="Shape 11"/>
          <p:cNvSpPr/>
          <p:nvPr/>
        </p:nvSpPr>
        <p:spPr>
          <a:xfrm>
            <a:off x="6309360" y="4480560"/>
            <a:ext cx="2468880" cy="1005840"/>
          </a:xfrm>
          <a:prstGeom prst="roundRect">
            <a:avLst>
              <a:gd name="adj" fmla="val 8182"/>
            </a:avLst>
          </a:prstGeom>
          <a:solidFill>
            <a:srgbClr val="1E3151"/>
          </a:solidFill>
          <a:ln w="12700">
            <a:solidFill>
              <a:srgbClr val="1E3151"/>
            </a:solidFill>
            <a:prstDash val="solid"/>
          </a:ln>
        </p:spPr>
      </p:sp>
      <p:sp>
        <p:nvSpPr>
          <p:cNvPr id="14" name="Text 12"/>
          <p:cNvSpPr txBox="1"/>
          <p:nvPr/>
        </p:nvSpPr>
        <p:spPr>
          <a:xfrm>
            <a:off x="6510528" y="4572000"/>
            <a:ext cx="2148840" cy="384048"/>
          </a:xfrm>
          <a:prstGeom prst="rect">
            <a:avLst/>
          </a:prstGeom>
          <a:noFill/>
          <a:ln/>
        </p:spPr>
        <p:txBody>
          <a:bodyPr wrap="square" lIns="0" tIns="0" rIns="0" bIns="0" rtlCol="0" anchor="ctr"/>
          <a:lstStyle/>
          <a:p>
            <a:pPr indent="0" marL="0">
              <a:buNone/>
            </a:pPr>
            <a:r>
              <a:rPr lang="en-US" sz="1900" b="1" dirty="0">
                <a:solidFill>
                  <a:srgbClr val="FFC145"/>
                </a:solidFill>
                <a:latin typeface="Cambria" pitchFamily="34" charset="0"/>
                <a:ea typeface="Cambria" pitchFamily="34" charset="-122"/>
                <a:cs typeface="Cambria" pitchFamily="34" charset="-120"/>
              </a:rPr>
              <a:t>30 min</a:t>
            </a:r>
            <a:endParaRPr lang="en-US" sz="1900" dirty="0"/>
          </a:p>
        </p:txBody>
      </p:sp>
      <p:sp>
        <p:nvSpPr>
          <p:cNvPr id="15" name="Text 13"/>
          <p:cNvSpPr txBox="1"/>
          <p:nvPr/>
        </p:nvSpPr>
        <p:spPr>
          <a:xfrm>
            <a:off x="65105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Practice notebook</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4/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Yesterday the SD described. Today it measures.</a:t>
            </a:r>
            <a:endParaRPr lang="en-US" sz="3200" dirty="0"/>
          </a:p>
        </p:txBody>
      </p:sp>
      <p:sp>
        <p:nvSpPr>
          <p:cNvPr id="5" name="Shape 3"/>
          <p:cNvSpPr/>
          <p:nvPr/>
        </p:nvSpPr>
        <p:spPr>
          <a:xfrm>
            <a:off x="548640" y="1572768"/>
            <a:ext cx="11064240" cy="640080"/>
          </a:xfrm>
          <a:prstGeom prst="roundRect">
            <a:avLst>
              <a:gd name="adj" fmla="val 1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09928"/>
            <a:ext cx="365760" cy="365760"/>
          </a:xfrm>
          <a:prstGeom prst="ellipse">
            <a:avLst/>
          </a:prstGeom>
          <a:solidFill>
            <a:srgbClr val="3E7CB1"/>
          </a:solidFill>
          <a:ln w="12700">
            <a:solidFill>
              <a:srgbClr val="3E7CB1"/>
            </a:solidFill>
            <a:prstDash val="solid"/>
          </a:ln>
        </p:spPr>
      </p:sp>
      <p:sp>
        <p:nvSpPr>
          <p:cNvPr id="7" name="Text 5"/>
          <p:cNvSpPr txBox="1"/>
          <p:nvPr/>
        </p:nvSpPr>
        <p:spPr>
          <a:xfrm>
            <a:off x="777240" y="17099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37360"/>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does n − 1 correct for?</a:t>
            </a:r>
            <a:endParaRPr lang="en-US" sz="1300" dirty="0"/>
          </a:p>
        </p:txBody>
      </p:sp>
      <p:sp>
        <p:nvSpPr>
          <p:cNvPr id="9" name="Text 7"/>
          <p:cNvSpPr txBox="1"/>
          <p:nvPr/>
        </p:nvSpPr>
        <p:spPr>
          <a:xfrm>
            <a:off x="6217920" y="1737360"/>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The sample mean sits too close to its own data.</a:t>
            </a:r>
            <a:endParaRPr lang="en-US" sz="1250" dirty="0"/>
          </a:p>
        </p:txBody>
      </p:sp>
      <p:sp>
        <p:nvSpPr>
          <p:cNvPr id="10" name="Shape 8"/>
          <p:cNvSpPr/>
          <p:nvPr/>
        </p:nvSpPr>
        <p:spPr>
          <a:xfrm>
            <a:off x="548640" y="2322576"/>
            <a:ext cx="11064240" cy="640080"/>
          </a:xfrm>
          <a:prstGeom prst="roundRect">
            <a:avLst>
              <a:gd name="adj" fmla="val 1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459736"/>
            <a:ext cx="365760" cy="365760"/>
          </a:xfrm>
          <a:prstGeom prst="ellipse">
            <a:avLst/>
          </a:prstGeom>
          <a:solidFill>
            <a:srgbClr val="3E7CB1"/>
          </a:solidFill>
          <a:ln w="12700">
            <a:solidFill>
              <a:srgbClr val="3E7CB1"/>
            </a:solidFill>
            <a:prstDash val="solid"/>
          </a:ln>
        </p:spPr>
      </p:sp>
      <p:sp>
        <p:nvSpPr>
          <p:cNvPr id="12" name="Text 10"/>
          <p:cNvSpPr txBox="1"/>
          <p:nvPr/>
        </p:nvSpPr>
        <p:spPr>
          <a:xfrm>
            <a:off x="777240" y="24597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487168"/>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ddof for a whole population?</a:t>
            </a:r>
            <a:endParaRPr lang="en-US" sz="1300" dirty="0"/>
          </a:p>
        </p:txBody>
      </p:sp>
      <p:sp>
        <p:nvSpPr>
          <p:cNvPr id="14" name="Text 12"/>
          <p:cNvSpPr txBox="1"/>
          <p:nvPr/>
        </p:nvSpPr>
        <p:spPr>
          <a:xfrm>
            <a:off x="6217920" y="2487168"/>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ddof=0. Nothing is unseen.</a:t>
            </a:r>
            <a:endParaRPr lang="en-US" sz="1250" dirty="0"/>
          </a:p>
        </p:txBody>
      </p:sp>
      <p:sp>
        <p:nvSpPr>
          <p:cNvPr id="15" name="Shape 13"/>
          <p:cNvSpPr/>
          <p:nvPr/>
        </p:nvSpPr>
        <p:spPr>
          <a:xfrm>
            <a:off x="548640" y="3072384"/>
            <a:ext cx="11064240" cy="640080"/>
          </a:xfrm>
          <a:prstGeom prst="roundRect">
            <a:avLst>
              <a:gd name="adj" fmla="val 1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209544"/>
            <a:ext cx="365760" cy="365760"/>
          </a:xfrm>
          <a:prstGeom prst="ellipse">
            <a:avLst/>
          </a:prstGeom>
          <a:solidFill>
            <a:srgbClr val="3E7CB1"/>
          </a:solidFill>
          <a:ln w="12700">
            <a:solidFill>
              <a:srgbClr val="3E7CB1"/>
            </a:solidFill>
            <a:prstDash val="solid"/>
          </a:ln>
        </p:spPr>
      </p:sp>
      <p:sp>
        <p:nvSpPr>
          <p:cNvPr id="17" name="Text 15"/>
          <p:cNvSpPr txBox="1"/>
          <p:nvPr/>
        </p:nvSpPr>
        <p:spPr>
          <a:xfrm>
            <a:off x="777240" y="3209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236976"/>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Why quote the SD, not the variance?</a:t>
            </a:r>
            <a:endParaRPr lang="en-US" sz="1300" dirty="0"/>
          </a:p>
        </p:txBody>
      </p:sp>
      <p:sp>
        <p:nvSpPr>
          <p:cNvPr id="19" name="Text 17"/>
          <p:cNvSpPr txBox="1"/>
          <p:nvPr/>
        </p:nvSpPr>
        <p:spPr>
          <a:xfrm>
            <a:off x="6217920" y="3236976"/>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The variance is in squared units.</a:t>
            </a:r>
            <a:endParaRPr lang="en-US" sz="1250" dirty="0"/>
          </a:p>
        </p:txBody>
      </p:sp>
      <p:sp>
        <p:nvSpPr>
          <p:cNvPr id="20" name="Shape 18"/>
          <p:cNvSpPr/>
          <p:nvPr/>
        </p:nvSpPr>
        <p:spPr>
          <a:xfrm>
            <a:off x="548640" y="3822192"/>
            <a:ext cx="11064240" cy="640080"/>
          </a:xfrm>
          <a:prstGeom prst="roundRect">
            <a:avLst>
              <a:gd name="adj" fmla="val 1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3959352"/>
            <a:ext cx="365760" cy="365760"/>
          </a:xfrm>
          <a:prstGeom prst="ellipse">
            <a:avLst/>
          </a:prstGeom>
          <a:solidFill>
            <a:srgbClr val="3E7CB1"/>
          </a:solidFill>
          <a:ln w="12700">
            <a:solidFill>
              <a:srgbClr val="3E7CB1"/>
            </a:solidFill>
            <a:prstDash val="solid"/>
          </a:ln>
        </p:spPr>
      </p:sp>
      <p:sp>
        <p:nvSpPr>
          <p:cNvPr id="22" name="Text 20"/>
          <p:cNvSpPr txBox="1"/>
          <p:nvPr/>
        </p:nvSpPr>
        <p:spPr>
          <a:xfrm>
            <a:off x="777240" y="3959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3986784"/>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Skew near zero means bell-shaped?</a:t>
            </a:r>
            <a:endParaRPr lang="en-US" sz="1300" dirty="0"/>
          </a:p>
        </p:txBody>
      </p:sp>
      <p:sp>
        <p:nvSpPr>
          <p:cNvPr id="24" name="Text 22"/>
          <p:cNvSpPr txBox="1"/>
          <p:nvPr/>
        </p:nvSpPr>
        <p:spPr>
          <a:xfrm>
            <a:off x="6217920" y="3986784"/>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No — two humps also score zero.</a:t>
            </a:r>
            <a:endParaRPr lang="en-US" sz="1250" dirty="0"/>
          </a:p>
        </p:txBody>
      </p:sp>
      <p:sp>
        <p:nvSpPr>
          <p:cNvPr id="25" name="Shape 23"/>
          <p:cNvSpPr/>
          <p:nvPr/>
        </p:nvSpPr>
        <p:spPr>
          <a:xfrm>
            <a:off x="548640" y="4663440"/>
            <a:ext cx="11064240" cy="1188720"/>
          </a:xfrm>
          <a:prstGeom prst="roundRect">
            <a:avLst>
              <a:gd name="adj" fmla="val 692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0974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step we take today</a:t>
            </a:r>
            <a:endParaRPr lang="en-US" sz="1450" dirty="0"/>
          </a:p>
        </p:txBody>
      </p:sp>
      <p:sp>
        <p:nvSpPr>
          <p:cNvPr id="27" name="Text 25"/>
          <p:cNvSpPr txBox="1"/>
          <p:nvPr/>
        </p:nvSpPr>
        <p:spPr>
          <a:xfrm>
            <a:off x="868680" y="5120640"/>
            <a:ext cx="10424160" cy="658368"/>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Yesterday a standard deviation of 15 was a fact ABOUT your data. Today it becomes a UNIT you can measure with: “this value is 2 standard deviations above the mean” means the same thing whether you are measuring IQ, rainfall or revenue. That is what makes the rest of Module 2 possible — every test you meet from Day 25 onwards is built on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The bell curve</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What it is, and why it keeps appearing</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68 – 95 – 99.7</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rule, and what it is good for</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FFC145"/>
          </a:solidFill>
          <a:ln w="12700">
            <a:solidFill>
              <a:srgbClr val="FFC145"/>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Z-scores</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SD as a ruler — comparing unlike things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E8674C"/>
          </a:solidFill>
          <a:ln w="12700">
            <a:solidFill>
              <a:srgbClr val="E8674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 When it does NOT apply</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assumption that quietly breaks</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normality check you can trust</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4 is in red because assuming normality on data that is not normal is the most expensive mistake in this module.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Recognise</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Say what makes a distribution normal, and why it recurs</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Apply</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Use 68-95-99.7 to judge whether a value is unusual</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Standardise</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Turn any value into a z-score and compare unlike things</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Doubt</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Check normality before relying on it — and know what breaks</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73152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Why this one distribution gets its own session</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Not because real data is usually normal — it often is not. Because the AVERAGES of samples are, almost regardless of what the underlying data looks like. That is the Central Limit Theorem, it arrives on Day 27, and it is the reason every hypothesis test in this module works. Today builds the vocabulary for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Bell Curve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What it is, and why it recurs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Two numbers define it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Where it comes from</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it is not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SHAPE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numbers define the entire curve</a:t>
            </a:r>
            <a:endParaRPr lang="en-US" sz="3200" dirty="0"/>
          </a:p>
        </p:txBody>
      </p:sp>
      <p:sp>
        <p:nvSpPr>
          <p:cNvPr id="5" name="Shape 3"/>
          <p:cNvSpPr/>
          <p:nvPr/>
        </p:nvSpPr>
        <p:spPr>
          <a:xfrm>
            <a:off x="548640" y="1572768"/>
            <a:ext cx="6766560" cy="3017520"/>
          </a:xfrm>
          <a:prstGeom prst="roundRect">
            <a:avLst>
              <a:gd name="adj" fmla="val 27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914400" y="1920240"/>
            <a:ext cx="6035040" cy="2103120"/>
          </a:xfrm>
          <a:prstGeom prst="rect">
            <a:avLst/>
          </a:prstGeom>
          <a:solidFill>
            <a:srgbClr val="FFFFFF"/>
          </a:solidFill>
          <a:ln w="12700">
            <a:solidFill>
              <a:srgbClr val="D5DCE6"/>
            </a:solidFill>
            <a:prstDash val="solid"/>
          </a:ln>
        </p:spPr>
      </p:sp>
      <p:sp>
        <p:nvSpPr>
          <p:cNvPr id="7" name="Shape 5"/>
          <p:cNvSpPr/>
          <p:nvPr/>
        </p:nvSpPr>
        <p:spPr>
          <a:xfrm>
            <a:off x="914400" y="3967846"/>
            <a:ext cx="79096" cy="32004"/>
          </a:xfrm>
          <a:prstGeom prst="rect">
            <a:avLst/>
          </a:prstGeom>
          <a:solidFill>
            <a:srgbClr val="1F3A5F"/>
          </a:solidFill>
          <a:ln w="12700">
            <a:solidFill>
              <a:srgbClr val="333333"/>
            </a:solidFill>
            <a:prstDash val="solid"/>
          </a:ln>
        </p:spPr>
      </p:sp>
      <p:sp>
        <p:nvSpPr>
          <p:cNvPr id="8" name="Shape 6"/>
          <p:cNvSpPr/>
          <p:nvPr/>
        </p:nvSpPr>
        <p:spPr>
          <a:xfrm>
            <a:off x="989838" y="3967526"/>
            <a:ext cx="79096" cy="32004"/>
          </a:xfrm>
          <a:prstGeom prst="rect">
            <a:avLst/>
          </a:prstGeom>
          <a:solidFill>
            <a:srgbClr val="1F3A5F"/>
          </a:solidFill>
          <a:ln w="12700">
            <a:solidFill>
              <a:srgbClr val="333333"/>
            </a:solidFill>
            <a:prstDash val="solid"/>
          </a:ln>
        </p:spPr>
      </p:sp>
      <p:sp>
        <p:nvSpPr>
          <p:cNvPr id="9" name="Shape 7"/>
          <p:cNvSpPr/>
          <p:nvPr/>
        </p:nvSpPr>
        <p:spPr>
          <a:xfrm>
            <a:off x="1065276" y="3967064"/>
            <a:ext cx="79096" cy="32004"/>
          </a:xfrm>
          <a:prstGeom prst="rect">
            <a:avLst/>
          </a:prstGeom>
          <a:solidFill>
            <a:srgbClr val="1F3A5F"/>
          </a:solidFill>
          <a:ln w="12700">
            <a:solidFill>
              <a:srgbClr val="333333"/>
            </a:solidFill>
            <a:prstDash val="solid"/>
          </a:ln>
        </p:spPr>
      </p:sp>
      <p:sp>
        <p:nvSpPr>
          <p:cNvPr id="10" name="Shape 8"/>
          <p:cNvSpPr/>
          <p:nvPr/>
        </p:nvSpPr>
        <p:spPr>
          <a:xfrm>
            <a:off x="1140714" y="3966403"/>
            <a:ext cx="79096" cy="32004"/>
          </a:xfrm>
          <a:prstGeom prst="rect">
            <a:avLst/>
          </a:prstGeom>
          <a:solidFill>
            <a:srgbClr val="1F3A5F"/>
          </a:solidFill>
          <a:ln w="12700">
            <a:solidFill>
              <a:srgbClr val="333333"/>
            </a:solidFill>
            <a:prstDash val="solid"/>
          </a:ln>
        </p:spPr>
      </p:sp>
      <p:sp>
        <p:nvSpPr>
          <p:cNvPr id="11" name="Shape 9"/>
          <p:cNvSpPr/>
          <p:nvPr/>
        </p:nvSpPr>
        <p:spPr>
          <a:xfrm>
            <a:off x="1216152" y="3965468"/>
            <a:ext cx="79096" cy="32004"/>
          </a:xfrm>
          <a:prstGeom prst="rect">
            <a:avLst/>
          </a:prstGeom>
          <a:solidFill>
            <a:srgbClr val="1F3A5F"/>
          </a:solidFill>
          <a:ln w="12700">
            <a:solidFill>
              <a:srgbClr val="333333"/>
            </a:solidFill>
            <a:prstDash val="solid"/>
          </a:ln>
        </p:spPr>
      </p:sp>
      <p:sp>
        <p:nvSpPr>
          <p:cNvPr id="12" name="Shape 10"/>
          <p:cNvSpPr/>
          <p:nvPr/>
        </p:nvSpPr>
        <p:spPr>
          <a:xfrm>
            <a:off x="1291590" y="3964161"/>
            <a:ext cx="79096" cy="32004"/>
          </a:xfrm>
          <a:prstGeom prst="rect">
            <a:avLst/>
          </a:prstGeom>
          <a:solidFill>
            <a:srgbClr val="1F3A5F"/>
          </a:solidFill>
          <a:ln w="12700">
            <a:solidFill>
              <a:srgbClr val="333333"/>
            </a:solidFill>
            <a:prstDash val="solid"/>
          </a:ln>
        </p:spPr>
      </p:sp>
      <p:sp>
        <p:nvSpPr>
          <p:cNvPr id="13" name="Shape 11"/>
          <p:cNvSpPr/>
          <p:nvPr/>
        </p:nvSpPr>
        <p:spPr>
          <a:xfrm>
            <a:off x="1367028" y="3962352"/>
            <a:ext cx="79096" cy="32004"/>
          </a:xfrm>
          <a:prstGeom prst="rect">
            <a:avLst/>
          </a:prstGeom>
          <a:solidFill>
            <a:srgbClr val="1F3A5F"/>
          </a:solidFill>
          <a:ln w="12700">
            <a:solidFill>
              <a:srgbClr val="333333"/>
            </a:solidFill>
            <a:prstDash val="solid"/>
          </a:ln>
        </p:spPr>
      </p:sp>
      <p:sp>
        <p:nvSpPr>
          <p:cNvPr id="14" name="Shape 12"/>
          <p:cNvSpPr/>
          <p:nvPr/>
        </p:nvSpPr>
        <p:spPr>
          <a:xfrm>
            <a:off x="1442466" y="3959878"/>
            <a:ext cx="79096" cy="32004"/>
          </a:xfrm>
          <a:prstGeom prst="rect">
            <a:avLst/>
          </a:prstGeom>
          <a:solidFill>
            <a:srgbClr val="1F3A5F"/>
          </a:solidFill>
          <a:ln w="12700">
            <a:solidFill>
              <a:srgbClr val="333333"/>
            </a:solidFill>
            <a:prstDash val="solid"/>
          </a:ln>
        </p:spPr>
      </p:sp>
      <p:sp>
        <p:nvSpPr>
          <p:cNvPr id="15" name="Shape 13"/>
          <p:cNvSpPr/>
          <p:nvPr/>
        </p:nvSpPr>
        <p:spPr>
          <a:xfrm>
            <a:off x="1517904" y="3956530"/>
            <a:ext cx="79096" cy="32004"/>
          </a:xfrm>
          <a:prstGeom prst="rect">
            <a:avLst/>
          </a:prstGeom>
          <a:solidFill>
            <a:srgbClr val="1F3A5F"/>
          </a:solidFill>
          <a:ln w="12700">
            <a:solidFill>
              <a:srgbClr val="333333"/>
            </a:solidFill>
            <a:prstDash val="solid"/>
          </a:ln>
        </p:spPr>
      </p:sp>
      <p:sp>
        <p:nvSpPr>
          <p:cNvPr id="16" name="Shape 14"/>
          <p:cNvSpPr/>
          <p:nvPr/>
        </p:nvSpPr>
        <p:spPr>
          <a:xfrm>
            <a:off x="1593342" y="3952052"/>
            <a:ext cx="79096" cy="32004"/>
          </a:xfrm>
          <a:prstGeom prst="rect">
            <a:avLst/>
          </a:prstGeom>
          <a:solidFill>
            <a:srgbClr val="1F3A5F"/>
          </a:solidFill>
          <a:ln w="12700">
            <a:solidFill>
              <a:srgbClr val="333333"/>
            </a:solidFill>
            <a:prstDash val="solid"/>
          </a:ln>
        </p:spPr>
      </p:sp>
      <p:sp>
        <p:nvSpPr>
          <p:cNvPr id="17" name="Shape 15"/>
          <p:cNvSpPr/>
          <p:nvPr/>
        </p:nvSpPr>
        <p:spPr>
          <a:xfrm>
            <a:off x="1668780" y="3946129"/>
            <a:ext cx="79096" cy="32004"/>
          </a:xfrm>
          <a:prstGeom prst="rect">
            <a:avLst/>
          </a:prstGeom>
          <a:solidFill>
            <a:srgbClr val="1F3A5F"/>
          </a:solidFill>
          <a:ln w="12700">
            <a:solidFill>
              <a:srgbClr val="333333"/>
            </a:solidFill>
            <a:prstDash val="solid"/>
          </a:ln>
        </p:spPr>
      </p:sp>
      <p:sp>
        <p:nvSpPr>
          <p:cNvPr id="18" name="Shape 16"/>
          <p:cNvSpPr/>
          <p:nvPr/>
        </p:nvSpPr>
        <p:spPr>
          <a:xfrm>
            <a:off x="1744218" y="3938383"/>
            <a:ext cx="79096" cy="32004"/>
          </a:xfrm>
          <a:prstGeom prst="rect">
            <a:avLst/>
          </a:prstGeom>
          <a:solidFill>
            <a:srgbClr val="1F3A5F"/>
          </a:solidFill>
          <a:ln w="12700">
            <a:solidFill>
              <a:srgbClr val="333333"/>
            </a:solidFill>
            <a:prstDash val="solid"/>
          </a:ln>
        </p:spPr>
      </p:sp>
      <p:sp>
        <p:nvSpPr>
          <p:cNvPr id="19" name="Shape 17"/>
          <p:cNvSpPr/>
          <p:nvPr/>
        </p:nvSpPr>
        <p:spPr>
          <a:xfrm>
            <a:off x="1819656" y="3928367"/>
            <a:ext cx="79096" cy="32004"/>
          </a:xfrm>
          <a:prstGeom prst="rect">
            <a:avLst/>
          </a:prstGeom>
          <a:solidFill>
            <a:srgbClr val="1F3A5F"/>
          </a:solidFill>
          <a:ln w="12700">
            <a:solidFill>
              <a:srgbClr val="333333"/>
            </a:solidFill>
            <a:prstDash val="solid"/>
          </a:ln>
        </p:spPr>
      </p:sp>
      <p:sp>
        <p:nvSpPr>
          <p:cNvPr id="20" name="Shape 18"/>
          <p:cNvSpPr/>
          <p:nvPr/>
        </p:nvSpPr>
        <p:spPr>
          <a:xfrm>
            <a:off x="1895094" y="3915566"/>
            <a:ext cx="79096" cy="32004"/>
          </a:xfrm>
          <a:prstGeom prst="rect">
            <a:avLst/>
          </a:prstGeom>
          <a:solidFill>
            <a:srgbClr val="1F3A5F"/>
          </a:solidFill>
          <a:ln w="12700">
            <a:solidFill>
              <a:srgbClr val="333333"/>
            </a:solidFill>
            <a:prstDash val="solid"/>
          </a:ln>
        </p:spPr>
      </p:sp>
      <p:sp>
        <p:nvSpPr>
          <p:cNvPr id="21" name="Shape 19"/>
          <p:cNvSpPr/>
          <p:nvPr/>
        </p:nvSpPr>
        <p:spPr>
          <a:xfrm>
            <a:off x="1970532" y="3899393"/>
            <a:ext cx="79096" cy="32004"/>
          </a:xfrm>
          <a:prstGeom prst="rect">
            <a:avLst/>
          </a:prstGeom>
          <a:solidFill>
            <a:srgbClr val="1F3A5F"/>
          </a:solidFill>
          <a:ln w="12700">
            <a:solidFill>
              <a:srgbClr val="333333"/>
            </a:solidFill>
            <a:prstDash val="solid"/>
          </a:ln>
        </p:spPr>
      </p:sp>
      <p:sp>
        <p:nvSpPr>
          <p:cNvPr id="22" name="Shape 20"/>
          <p:cNvSpPr/>
          <p:nvPr/>
        </p:nvSpPr>
        <p:spPr>
          <a:xfrm>
            <a:off x="2045970" y="3879199"/>
            <a:ext cx="79096" cy="32004"/>
          </a:xfrm>
          <a:prstGeom prst="rect">
            <a:avLst/>
          </a:prstGeom>
          <a:solidFill>
            <a:srgbClr val="1F3A5F"/>
          </a:solidFill>
          <a:ln w="12700">
            <a:solidFill>
              <a:srgbClr val="333333"/>
            </a:solidFill>
            <a:prstDash val="solid"/>
          </a:ln>
        </p:spPr>
      </p:sp>
      <p:sp>
        <p:nvSpPr>
          <p:cNvPr id="23" name="Shape 21"/>
          <p:cNvSpPr/>
          <p:nvPr/>
        </p:nvSpPr>
        <p:spPr>
          <a:xfrm>
            <a:off x="2121408" y="3854281"/>
            <a:ext cx="79096" cy="32004"/>
          </a:xfrm>
          <a:prstGeom prst="rect">
            <a:avLst/>
          </a:prstGeom>
          <a:solidFill>
            <a:srgbClr val="1F3A5F"/>
          </a:solidFill>
          <a:ln w="12700">
            <a:solidFill>
              <a:srgbClr val="333333"/>
            </a:solidFill>
            <a:prstDash val="solid"/>
          </a:ln>
        </p:spPr>
      </p:sp>
      <p:sp>
        <p:nvSpPr>
          <p:cNvPr id="24" name="Shape 22"/>
          <p:cNvSpPr/>
          <p:nvPr/>
        </p:nvSpPr>
        <p:spPr>
          <a:xfrm>
            <a:off x="2196846" y="3823900"/>
            <a:ext cx="79096" cy="32004"/>
          </a:xfrm>
          <a:prstGeom prst="rect">
            <a:avLst/>
          </a:prstGeom>
          <a:solidFill>
            <a:srgbClr val="1F3A5F"/>
          </a:solidFill>
          <a:ln w="12700">
            <a:solidFill>
              <a:srgbClr val="333333"/>
            </a:solidFill>
            <a:prstDash val="solid"/>
          </a:ln>
        </p:spPr>
      </p:sp>
      <p:sp>
        <p:nvSpPr>
          <p:cNvPr id="25" name="Shape 23"/>
          <p:cNvSpPr/>
          <p:nvPr/>
        </p:nvSpPr>
        <p:spPr>
          <a:xfrm>
            <a:off x="2272284" y="3787305"/>
            <a:ext cx="79096" cy="32004"/>
          </a:xfrm>
          <a:prstGeom prst="rect">
            <a:avLst/>
          </a:prstGeom>
          <a:solidFill>
            <a:srgbClr val="1F3A5F"/>
          </a:solidFill>
          <a:ln w="12700">
            <a:solidFill>
              <a:srgbClr val="333333"/>
            </a:solidFill>
            <a:prstDash val="solid"/>
          </a:ln>
        </p:spPr>
      </p:sp>
      <p:sp>
        <p:nvSpPr>
          <p:cNvPr id="26" name="Shape 24"/>
          <p:cNvSpPr/>
          <p:nvPr/>
        </p:nvSpPr>
        <p:spPr>
          <a:xfrm>
            <a:off x="2347722" y="3743766"/>
            <a:ext cx="79096" cy="32004"/>
          </a:xfrm>
          <a:prstGeom prst="rect">
            <a:avLst/>
          </a:prstGeom>
          <a:solidFill>
            <a:srgbClr val="1F3A5F"/>
          </a:solidFill>
          <a:ln w="12700">
            <a:solidFill>
              <a:srgbClr val="333333"/>
            </a:solidFill>
            <a:prstDash val="solid"/>
          </a:ln>
        </p:spPr>
      </p:sp>
      <p:sp>
        <p:nvSpPr>
          <p:cNvPr id="27" name="Shape 25"/>
          <p:cNvSpPr/>
          <p:nvPr/>
        </p:nvSpPr>
        <p:spPr>
          <a:xfrm>
            <a:off x="2423160" y="3692608"/>
            <a:ext cx="79096" cy="32004"/>
          </a:xfrm>
          <a:prstGeom prst="rect">
            <a:avLst/>
          </a:prstGeom>
          <a:solidFill>
            <a:srgbClr val="1F3A5F"/>
          </a:solidFill>
          <a:ln w="12700">
            <a:solidFill>
              <a:srgbClr val="333333"/>
            </a:solidFill>
            <a:prstDash val="solid"/>
          </a:ln>
        </p:spPr>
      </p:sp>
      <p:sp>
        <p:nvSpPr>
          <p:cNvPr id="28" name="Shape 26"/>
          <p:cNvSpPr/>
          <p:nvPr/>
        </p:nvSpPr>
        <p:spPr>
          <a:xfrm>
            <a:off x="2498598" y="3633259"/>
            <a:ext cx="79096" cy="32004"/>
          </a:xfrm>
          <a:prstGeom prst="rect">
            <a:avLst/>
          </a:prstGeom>
          <a:solidFill>
            <a:srgbClr val="1F3A5F"/>
          </a:solidFill>
          <a:ln w="12700">
            <a:solidFill>
              <a:srgbClr val="333333"/>
            </a:solidFill>
            <a:prstDash val="solid"/>
          </a:ln>
        </p:spPr>
      </p:sp>
      <p:sp>
        <p:nvSpPr>
          <p:cNvPr id="29" name="Shape 27"/>
          <p:cNvSpPr/>
          <p:nvPr/>
        </p:nvSpPr>
        <p:spPr>
          <a:xfrm>
            <a:off x="2574036" y="3565300"/>
            <a:ext cx="79096" cy="32004"/>
          </a:xfrm>
          <a:prstGeom prst="rect">
            <a:avLst/>
          </a:prstGeom>
          <a:solidFill>
            <a:srgbClr val="1F3A5F"/>
          </a:solidFill>
          <a:ln w="12700">
            <a:solidFill>
              <a:srgbClr val="333333"/>
            </a:solidFill>
            <a:prstDash val="solid"/>
          </a:ln>
        </p:spPr>
      </p:sp>
      <p:sp>
        <p:nvSpPr>
          <p:cNvPr id="30" name="Shape 28"/>
          <p:cNvSpPr/>
          <p:nvPr/>
        </p:nvSpPr>
        <p:spPr>
          <a:xfrm>
            <a:off x="2649474" y="3488511"/>
            <a:ext cx="79096" cy="32004"/>
          </a:xfrm>
          <a:prstGeom prst="rect">
            <a:avLst/>
          </a:prstGeom>
          <a:solidFill>
            <a:srgbClr val="1F3A5F"/>
          </a:solidFill>
          <a:ln w="12700">
            <a:solidFill>
              <a:srgbClr val="333333"/>
            </a:solidFill>
            <a:prstDash val="solid"/>
          </a:ln>
        </p:spPr>
      </p:sp>
      <p:sp>
        <p:nvSpPr>
          <p:cNvPr id="31" name="Shape 29"/>
          <p:cNvSpPr/>
          <p:nvPr/>
        </p:nvSpPr>
        <p:spPr>
          <a:xfrm>
            <a:off x="2724912" y="3402928"/>
            <a:ext cx="79096" cy="32004"/>
          </a:xfrm>
          <a:prstGeom prst="rect">
            <a:avLst/>
          </a:prstGeom>
          <a:solidFill>
            <a:srgbClr val="1F3A5F"/>
          </a:solidFill>
          <a:ln w="12700">
            <a:solidFill>
              <a:srgbClr val="333333"/>
            </a:solidFill>
            <a:prstDash val="solid"/>
          </a:ln>
        </p:spPr>
      </p:sp>
      <p:sp>
        <p:nvSpPr>
          <p:cNvPr id="32" name="Shape 30"/>
          <p:cNvSpPr/>
          <p:nvPr/>
        </p:nvSpPr>
        <p:spPr>
          <a:xfrm>
            <a:off x="2800350" y="3308884"/>
            <a:ext cx="79096" cy="32004"/>
          </a:xfrm>
          <a:prstGeom prst="rect">
            <a:avLst/>
          </a:prstGeom>
          <a:solidFill>
            <a:srgbClr val="1F3A5F"/>
          </a:solidFill>
          <a:ln w="12700">
            <a:solidFill>
              <a:srgbClr val="333333"/>
            </a:solidFill>
            <a:prstDash val="solid"/>
          </a:ln>
        </p:spPr>
      </p:sp>
      <p:sp>
        <p:nvSpPr>
          <p:cNvPr id="33" name="Shape 31"/>
          <p:cNvSpPr/>
          <p:nvPr/>
        </p:nvSpPr>
        <p:spPr>
          <a:xfrm>
            <a:off x="2875788" y="3207051"/>
            <a:ext cx="79096" cy="32004"/>
          </a:xfrm>
          <a:prstGeom prst="rect">
            <a:avLst/>
          </a:prstGeom>
          <a:solidFill>
            <a:srgbClr val="1F3A5F"/>
          </a:solidFill>
          <a:ln w="12700">
            <a:solidFill>
              <a:srgbClr val="333333"/>
            </a:solidFill>
            <a:prstDash val="solid"/>
          </a:ln>
        </p:spPr>
      </p:sp>
      <p:sp>
        <p:nvSpPr>
          <p:cNvPr id="34" name="Shape 32"/>
          <p:cNvSpPr/>
          <p:nvPr/>
        </p:nvSpPr>
        <p:spPr>
          <a:xfrm>
            <a:off x="2951226" y="3098464"/>
            <a:ext cx="79096" cy="32004"/>
          </a:xfrm>
          <a:prstGeom prst="rect">
            <a:avLst/>
          </a:prstGeom>
          <a:solidFill>
            <a:srgbClr val="1F3A5F"/>
          </a:solidFill>
          <a:ln w="12700">
            <a:solidFill>
              <a:srgbClr val="333333"/>
            </a:solidFill>
            <a:prstDash val="solid"/>
          </a:ln>
        </p:spPr>
      </p:sp>
      <p:sp>
        <p:nvSpPr>
          <p:cNvPr id="35" name="Shape 33"/>
          <p:cNvSpPr/>
          <p:nvPr/>
        </p:nvSpPr>
        <p:spPr>
          <a:xfrm>
            <a:off x="3026664" y="2984534"/>
            <a:ext cx="79096" cy="32004"/>
          </a:xfrm>
          <a:prstGeom prst="rect">
            <a:avLst/>
          </a:prstGeom>
          <a:solidFill>
            <a:srgbClr val="1F3A5F"/>
          </a:solidFill>
          <a:ln w="12700">
            <a:solidFill>
              <a:srgbClr val="333333"/>
            </a:solidFill>
            <a:prstDash val="solid"/>
          </a:ln>
        </p:spPr>
      </p:sp>
      <p:sp>
        <p:nvSpPr>
          <p:cNvPr id="36" name="Shape 34"/>
          <p:cNvSpPr/>
          <p:nvPr/>
        </p:nvSpPr>
        <p:spPr>
          <a:xfrm>
            <a:off x="3102102" y="2867038"/>
            <a:ext cx="79096" cy="32004"/>
          </a:xfrm>
          <a:prstGeom prst="rect">
            <a:avLst/>
          </a:prstGeom>
          <a:solidFill>
            <a:srgbClr val="1F3A5F"/>
          </a:solidFill>
          <a:ln w="12700">
            <a:solidFill>
              <a:srgbClr val="333333"/>
            </a:solidFill>
            <a:prstDash val="solid"/>
          </a:ln>
        </p:spPr>
      </p:sp>
      <p:sp>
        <p:nvSpPr>
          <p:cNvPr id="37" name="Shape 35"/>
          <p:cNvSpPr/>
          <p:nvPr/>
        </p:nvSpPr>
        <p:spPr>
          <a:xfrm>
            <a:off x="3177540" y="2748091"/>
            <a:ext cx="79096" cy="32004"/>
          </a:xfrm>
          <a:prstGeom prst="rect">
            <a:avLst/>
          </a:prstGeom>
          <a:solidFill>
            <a:srgbClr val="1F3A5F"/>
          </a:solidFill>
          <a:ln w="12700">
            <a:solidFill>
              <a:srgbClr val="333333"/>
            </a:solidFill>
            <a:prstDash val="solid"/>
          </a:ln>
        </p:spPr>
      </p:sp>
      <p:sp>
        <p:nvSpPr>
          <p:cNvPr id="38" name="Shape 36"/>
          <p:cNvSpPr/>
          <p:nvPr/>
        </p:nvSpPr>
        <p:spPr>
          <a:xfrm>
            <a:off x="3252978" y="2630095"/>
            <a:ext cx="79096" cy="32004"/>
          </a:xfrm>
          <a:prstGeom prst="rect">
            <a:avLst/>
          </a:prstGeom>
          <a:solidFill>
            <a:srgbClr val="1F3A5F"/>
          </a:solidFill>
          <a:ln w="12700">
            <a:solidFill>
              <a:srgbClr val="333333"/>
            </a:solidFill>
            <a:prstDash val="solid"/>
          </a:ln>
        </p:spPr>
      </p:sp>
      <p:sp>
        <p:nvSpPr>
          <p:cNvPr id="39" name="Shape 37"/>
          <p:cNvSpPr/>
          <p:nvPr/>
        </p:nvSpPr>
        <p:spPr>
          <a:xfrm>
            <a:off x="3328416" y="2515666"/>
            <a:ext cx="79096" cy="32004"/>
          </a:xfrm>
          <a:prstGeom prst="rect">
            <a:avLst/>
          </a:prstGeom>
          <a:solidFill>
            <a:srgbClr val="1F3A5F"/>
          </a:solidFill>
          <a:ln w="12700">
            <a:solidFill>
              <a:srgbClr val="333333"/>
            </a:solidFill>
            <a:prstDash val="solid"/>
          </a:ln>
        </p:spPr>
      </p:sp>
      <p:sp>
        <p:nvSpPr>
          <p:cNvPr id="40" name="Shape 38"/>
          <p:cNvSpPr/>
          <p:nvPr/>
        </p:nvSpPr>
        <p:spPr>
          <a:xfrm>
            <a:off x="3403854" y="2407542"/>
            <a:ext cx="79096" cy="32004"/>
          </a:xfrm>
          <a:prstGeom prst="rect">
            <a:avLst/>
          </a:prstGeom>
          <a:solidFill>
            <a:srgbClr val="1F3A5F"/>
          </a:solidFill>
          <a:ln w="12700">
            <a:solidFill>
              <a:srgbClr val="333333"/>
            </a:solidFill>
            <a:prstDash val="solid"/>
          </a:ln>
        </p:spPr>
      </p:sp>
      <p:sp>
        <p:nvSpPr>
          <p:cNvPr id="41" name="Shape 39"/>
          <p:cNvSpPr/>
          <p:nvPr/>
        </p:nvSpPr>
        <p:spPr>
          <a:xfrm>
            <a:off x="3479292" y="2308483"/>
            <a:ext cx="79096" cy="32004"/>
          </a:xfrm>
          <a:prstGeom prst="rect">
            <a:avLst/>
          </a:prstGeom>
          <a:solidFill>
            <a:srgbClr val="1F3A5F"/>
          </a:solidFill>
          <a:ln w="12700">
            <a:solidFill>
              <a:srgbClr val="333333"/>
            </a:solidFill>
            <a:prstDash val="solid"/>
          </a:ln>
        </p:spPr>
      </p:sp>
      <p:sp>
        <p:nvSpPr>
          <p:cNvPr id="42" name="Shape 40"/>
          <p:cNvSpPr/>
          <p:nvPr/>
        </p:nvSpPr>
        <p:spPr>
          <a:xfrm>
            <a:off x="3554730" y="2221148"/>
            <a:ext cx="79096" cy="32004"/>
          </a:xfrm>
          <a:prstGeom prst="rect">
            <a:avLst/>
          </a:prstGeom>
          <a:solidFill>
            <a:srgbClr val="1F3A5F"/>
          </a:solidFill>
          <a:ln w="12700">
            <a:solidFill>
              <a:srgbClr val="333333"/>
            </a:solidFill>
            <a:prstDash val="solid"/>
          </a:ln>
        </p:spPr>
      </p:sp>
      <p:sp>
        <p:nvSpPr>
          <p:cNvPr id="43" name="Shape 41"/>
          <p:cNvSpPr/>
          <p:nvPr/>
        </p:nvSpPr>
        <p:spPr>
          <a:xfrm>
            <a:off x="3630168" y="2147983"/>
            <a:ext cx="79096" cy="32004"/>
          </a:xfrm>
          <a:prstGeom prst="rect">
            <a:avLst/>
          </a:prstGeom>
          <a:solidFill>
            <a:srgbClr val="1F3A5F"/>
          </a:solidFill>
          <a:ln w="12700">
            <a:solidFill>
              <a:srgbClr val="333333"/>
            </a:solidFill>
            <a:prstDash val="solid"/>
          </a:ln>
        </p:spPr>
      </p:sp>
      <p:sp>
        <p:nvSpPr>
          <p:cNvPr id="44" name="Shape 42"/>
          <p:cNvSpPr/>
          <p:nvPr/>
        </p:nvSpPr>
        <p:spPr>
          <a:xfrm>
            <a:off x="3705606" y="2091106"/>
            <a:ext cx="79096" cy="32004"/>
          </a:xfrm>
          <a:prstGeom prst="rect">
            <a:avLst/>
          </a:prstGeom>
          <a:solidFill>
            <a:srgbClr val="1F3A5F"/>
          </a:solidFill>
          <a:ln w="12700">
            <a:solidFill>
              <a:srgbClr val="333333"/>
            </a:solidFill>
            <a:prstDash val="solid"/>
          </a:ln>
        </p:spPr>
      </p:sp>
      <p:sp>
        <p:nvSpPr>
          <p:cNvPr id="45" name="Shape 43"/>
          <p:cNvSpPr/>
          <p:nvPr/>
        </p:nvSpPr>
        <p:spPr>
          <a:xfrm>
            <a:off x="3781044" y="2052204"/>
            <a:ext cx="79096" cy="32004"/>
          </a:xfrm>
          <a:prstGeom prst="rect">
            <a:avLst/>
          </a:prstGeom>
          <a:solidFill>
            <a:srgbClr val="1F3A5F"/>
          </a:solidFill>
          <a:ln w="12700">
            <a:solidFill>
              <a:srgbClr val="333333"/>
            </a:solidFill>
            <a:prstDash val="solid"/>
          </a:ln>
        </p:spPr>
      </p:sp>
      <p:sp>
        <p:nvSpPr>
          <p:cNvPr id="46" name="Shape 44"/>
          <p:cNvSpPr/>
          <p:nvPr/>
        </p:nvSpPr>
        <p:spPr>
          <a:xfrm>
            <a:off x="3856482" y="2032451"/>
            <a:ext cx="79096" cy="32004"/>
          </a:xfrm>
          <a:prstGeom prst="rect">
            <a:avLst/>
          </a:prstGeom>
          <a:solidFill>
            <a:srgbClr val="1F3A5F"/>
          </a:solidFill>
          <a:ln w="12700">
            <a:solidFill>
              <a:srgbClr val="333333"/>
            </a:solidFill>
            <a:prstDash val="solid"/>
          </a:ln>
        </p:spPr>
      </p:sp>
      <p:sp>
        <p:nvSpPr>
          <p:cNvPr id="47" name="Shape 45"/>
          <p:cNvSpPr/>
          <p:nvPr/>
        </p:nvSpPr>
        <p:spPr>
          <a:xfrm>
            <a:off x="3931920" y="2032451"/>
            <a:ext cx="79096" cy="32004"/>
          </a:xfrm>
          <a:prstGeom prst="rect">
            <a:avLst/>
          </a:prstGeom>
          <a:solidFill>
            <a:srgbClr val="1F3A5F"/>
          </a:solidFill>
          <a:ln w="12700">
            <a:solidFill>
              <a:srgbClr val="333333"/>
            </a:solidFill>
            <a:prstDash val="solid"/>
          </a:ln>
        </p:spPr>
      </p:sp>
      <p:sp>
        <p:nvSpPr>
          <p:cNvPr id="48" name="Shape 46"/>
          <p:cNvSpPr/>
          <p:nvPr/>
        </p:nvSpPr>
        <p:spPr>
          <a:xfrm>
            <a:off x="4007358" y="2052204"/>
            <a:ext cx="79096" cy="32004"/>
          </a:xfrm>
          <a:prstGeom prst="rect">
            <a:avLst/>
          </a:prstGeom>
          <a:solidFill>
            <a:srgbClr val="1F3A5F"/>
          </a:solidFill>
          <a:ln w="12700">
            <a:solidFill>
              <a:srgbClr val="333333"/>
            </a:solidFill>
            <a:prstDash val="solid"/>
          </a:ln>
        </p:spPr>
      </p:sp>
      <p:sp>
        <p:nvSpPr>
          <p:cNvPr id="49" name="Shape 47"/>
          <p:cNvSpPr/>
          <p:nvPr/>
        </p:nvSpPr>
        <p:spPr>
          <a:xfrm>
            <a:off x="4082796" y="2091106"/>
            <a:ext cx="79096" cy="32004"/>
          </a:xfrm>
          <a:prstGeom prst="rect">
            <a:avLst/>
          </a:prstGeom>
          <a:solidFill>
            <a:srgbClr val="1F3A5F"/>
          </a:solidFill>
          <a:ln w="12700">
            <a:solidFill>
              <a:srgbClr val="333333"/>
            </a:solidFill>
            <a:prstDash val="solid"/>
          </a:ln>
        </p:spPr>
      </p:sp>
      <p:sp>
        <p:nvSpPr>
          <p:cNvPr id="50" name="Shape 48"/>
          <p:cNvSpPr/>
          <p:nvPr/>
        </p:nvSpPr>
        <p:spPr>
          <a:xfrm>
            <a:off x="4158234" y="2147983"/>
            <a:ext cx="79096" cy="32004"/>
          </a:xfrm>
          <a:prstGeom prst="rect">
            <a:avLst/>
          </a:prstGeom>
          <a:solidFill>
            <a:srgbClr val="1F3A5F"/>
          </a:solidFill>
          <a:ln w="12700">
            <a:solidFill>
              <a:srgbClr val="333333"/>
            </a:solidFill>
            <a:prstDash val="solid"/>
          </a:ln>
        </p:spPr>
      </p:sp>
      <p:sp>
        <p:nvSpPr>
          <p:cNvPr id="51" name="Shape 49"/>
          <p:cNvSpPr/>
          <p:nvPr/>
        </p:nvSpPr>
        <p:spPr>
          <a:xfrm>
            <a:off x="4233672" y="2221148"/>
            <a:ext cx="79096" cy="32004"/>
          </a:xfrm>
          <a:prstGeom prst="rect">
            <a:avLst/>
          </a:prstGeom>
          <a:solidFill>
            <a:srgbClr val="1F3A5F"/>
          </a:solidFill>
          <a:ln w="12700">
            <a:solidFill>
              <a:srgbClr val="333333"/>
            </a:solidFill>
            <a:prstDash val="solid"/>
          </a:ln>
        </p:spPr>
      </p:sp>
      <p:sp>
        <p:nvSpPr>
          <p:cNvPr id="52" name="Shape 50"/>
          <p:cNvSpPr/>
          <p:nvPr/>
        </p:nvSpPr>
        <p:spPr>
          <a:xfrm>
            <a:off x="4309110" y="2308483"/>
            <a:ext cx="79096" cy="32004"/>
          </a:xfrm>
          <a:prstGeom prst="rect">
            <a:avLst/>
          </a:prstGeom>
          <a:solidFill>
            <a:srgbClr val="1F3A5F"/>
          </a:solidFill>
          <a:ln w="12700">
            <a:solidFill>
              <a:srgbClr val="333333"/>
            </a:solidFill>
            <a:prstDash val="solid"/>
          </a:ln>
        </p:spPr>
      </p:sp>
      <p:sp>
        <p:nvSpPr>
          <p:cNvPr id="53" name="Shape 51"/>
          <p:cNvSpPr/>
          <p:nvPr/>
        </p:nvSpPr>
        <p:spPr>
          <a:xfrm>
            <a:off x="4384548" y="2407542"/>
            <a:ext cx="79096" cy="32004"/>
          </a:xfrm>
          <a:prstGeom prst="rect">
            <a:avLst/>
          </a:prstGeom>
          <a:solidFill>
            <a:srgbClr val="1F3A5F"/>
          </a:solidFill>
          <a:ln w="12700">
            <a:solidFill>
              <a:srgbClr val="333333"/>
            </a:solidFill>
            <a:prstDash val="solid"/>
          </a:ln>
        </p:spPr>
      </p:sp>
      <p:sp>
        <p:nvSpPr>
          <p:cNvPr id="54" name="Shape 52"/>
          <p:cNvSpPr/>
          <p:nvPr/>
        </p:nvSpPr>
        <p:spPr>
          <a:xfrm>
            <a:off x="4459986" y="2515666"/>
            <a:ext cx="79096" cy="32004"/>
          </a:xfrm>
          <a:prstGeom prst="rect">
            <a:avLst/>
          </a:prstGeom>
          <a:solidFill>
            <a:srgbClr val="1F3A5F"/>
          </a:solidFill>
          <a:ln w="12700">
            <a:solidFill>
              <a:srgbClr val="333333"/>
            </a:solidFill>
            <a:prstDash val="solid"/>
          </a:ln>
        </p:spPr>
      </p:sp>
      <p:sp>
        <p:nvSpPr>
          <p:cNvPr id="55" name="Shape 53"/>
          <p:cNvSpPr/>
          <p:nvPr/>
        </p:nvSpPr>
        <p:spPr>
          <a:xfrm>
            <a:off x="4535424" y="2630095"/>
            <a:ext cx="79096" cy="32004"/>
          </a:xfrm>
          <a:prstGeom prst="rect">
            <a:avLst/>
          </a:prstGeom>
          <a:solidFill>
            <a:srgbClr val="1F3A5F"/>
          </a:solidFill>
          <a:ln w="12700">
            <a:solidFill>
              <a:srgbClr val="333333"/>
            </a:solidFill>
            <a:prstDash val="solid"/>
          </a:ln>
        </p:spPr>
      </p:sp>
      <p:sp>
        <p:nvSpPr>
          <p:cNvPr id="56" name="Shape 54"/>
          <p:cNvSpPr/>
          <p:nvPr/>
        </p:nvSpPr>
        <p:spPr>
          <a:xfrm>
            <a:off x="4610862" y="2748091"/>
            <a:ext cx="79096" cy="32004"/>
          </a:xfrm>
          <a:prstGeom prst="rect">
            <a:avLst/>
          </a:prstGeom>
          <a:solidFill>
            <a:srgbClr val="1F3A5F"/>
          </a:solidFill>
          <a:ln w="12700">
            <a:solidFill>
              <a:srgbClr val="333333"/>
            </a:solidFill>
            <a:prstDash val="solid"/>
          </a:ln>
        </p:spPr>
      </p:sp>
      <p:sp>
        <p:nvSpPr>
          <p:cNvPr id="57" name="Shape 55"/>
          <p:cNvSpPr/>
          <p:nvPr/>
        </p:nvSpPr>
        <p:spPr>
          <a:xfrm>
            <a:off x="4686300" y="2867038"/>
            <a:ext cx="79096" cy="32004"/>
          </a:xfrm>
          <a:prstGeom prst="rect">
            <a:avLst/>
          </a:prstGeom>
          <a:solidFill>
            <a:srgbClr val="1F3A5F"/>
          </a:solidFill>
          <a:ln w="12700">
            <a:solidFill>
              <a:srgbClr val="333333"/>
            </a:solidFill>
            <a:prstDash val="solid"/>
          </a:ln>
        </p:spPr>
      </p:sp>
      <p:sp>
        <p:nvSpPr>
          <p:cNvPr id="58" name="Shape 56"/>
          <p:cNvSpPr/>
          <p:nvPr/>
        </p:nvSpPr>
        <p:spPr>
          <a:xfrm>
            <a:off x="4761738" y="2984534"/>
            <a:ext cx="79096" cy="32004"/>
          </a:xfrm>
          <a:prstGeom prst="rect">
            <a:avLst/>
          </a:prstGeom>
          <a:solidFill>
            <a:srgbClr val="1F3A5F"/>
          </a:solidFill>
          <a:ln w="12700">
            <a:solidFill>
              <a:srgbClr val="333333"/>
            </a:solidFill>
            <a:prstDash val="solid"/>
          </a:ln>
        </p:spPr>
      </p:sp>
      <p:sp>
        <p:nvSpPr>
          <p:cNvPr id="59" name="Shape 57"/>
          <p:cNvSpPr/>
          <p:nvPr/>
        </p:nvSpPr>
        <p:spPr>
          <a:xfrm>
            <a:off x="4837176" y="3098464"/>
            <a:ext cx="79096" cy="32004"/>
          </a:xfrm>
          <a:prstGeom prst="rect">
            <a:avLst/>
          </a:prstGeom>
          <a:solidFill>
            <a:srgbClr val="1F3A5F"/>
          </a:solidFill>
          <a:ln w="12700">
            <a:solidFill>
              <a:srgbClr val="333333"/>
            </a:solidFill>
            <a:prstDash val="solid"/>
          </a:ln>
        </p:spPr>
      </p:sp>
      <p:sp>
        <p:nvSpPr>
          <p:cNvPr id="60" name="Shape 58"/>
          <p:cNvSpPr/>
          <p:nvPr/>
        </p:nvSpPr>
        <p:spPr>
          <a:xfrm>
            <a:off x="4912614" y="3207051"/>
            <a:ext cx="79096" cy="32004"/>
          </a:xfrm>
          <a:prstGeom prst="rect">
            <a:avLst/>
          </a:prstGeom>
          <a:solidFill>
            <a:srgbClr val="1F3A5F"/>
          </a:solidFill>
          <a:ln w="12700">
            <a:solidFill>
              <a:srgbClr val="333333"/>
            </a:solidFill>
            <a:prstDash val="solid"/>
          </a:ln>
        </p:spPr>
      </p:sp>
      <p:sp>
        <p:nvSpPr>
          <p:cNvPr id="61" name="Shape 59"/>
          <p:cNvSpPr/>
          <p:nvPr/>
        </p:nvSpPr>
        <p:spPr>
          <a:xfrm>
            <a:off x="4988052" y="3308884"/>
            <a:ext cx="79096" cy="32004"/>
          </a:xfrm>
          <a:prstGeom prst="rect">
            <a:avLst/>
          </a:prstGeom>
          <a:solidFill>
            <a:srgbClr val="1F3A5F"/>
          </a:solidFill>
          <a:ln w="12700">
            <a:solidFill>
              <a:srgbClr val="333333"/>
            </a:solidFill>
            <a:prstDash val="solid"/>
          </a:ln>
        </p:spPr>
      </p:sp>
      <p:sp>
        <p:nvSpPr>
          <p:cNvPr id="62" name="Shape 60"/>
          <p:cNvSpPr/>
          <p:nvPr/>
        </p:nvSpPr>
        <p:spPr>
          <a:xfrm>
            <a:off x="5063490" y="3402928"/>
            <a:ext cx="79096" cy="32004"/>
          </a:xfrm>
          <a:prstGeom prst="rect">
            <a:avLst/>
          </a:prstGeom>
          <a:solidFill>
            <a:srgbClr val="1F3A5F"/>
          </a:solidFill>
          <a:ln w="12700">
            <a:solidFill>
              <a:srgbClr val="333333"/>
            </a:solidFill>
            <a:prstDash val="solid"/>
          </a:ln>
        </p:spPr>
      </p:sp>
      <p:sp>
        <p:nvSpPr>
          <p:cNvPr id="63" name="Shape 61"/>
          <p:cNvSpPr/>
          <p:nvPr/>
        </p:nvSpPr>
        <p:spPr>
          <a:xfrm>
            <a:off x="5138928" y="3488511"/>
            <a:ext cx="79096" cy="32004"/>
          </a:xfrm>
          <a:prstGeom prst="rect">
            <a:avLst/>
          </a:prstGeom>
          <a:solidFill>
            <a:srgbClr val="1F3A5F"/>
          </a:solidFill>
          <a:ln w="12700">
            <a:solidFill>
              <a:srgbClr val="333333"/>
            </a:solidFill>
            <a:prstDash val="solid"/>
          </a:ln>
        </p:spPr>
      </p:sp>
      <p:sp>
        <p:nvSpPr>
          <p:cNvPr id="64" name="Shape 62"/>
          <p:cNvSpPr/>
          <p:nvPr/>
        </p:nvSpPr>
        <p:spPr>
          <a:xfrm>
            <a:off x="5214366" y="3565300"/>
            <a:ext cx="79096" cy="32004"/>
          </a:xfrm>
          <a:prstGeom prst="rect">
            <a:avLst/>
          </a:prstGeom>
          <a:solidFill>
            <a:srgbClr val="1F3A5F"/>
          </a:solidFill>
          <a:ln w="12700">
            <a:solidFill>
              <a:srgbClr val="333333"/>
            </a:solidFill>
            <a:prstDash val="solid"/>
          </a:ln>
        </p:spPr>
      </p:sp>
      <p:sp>
        <p:nvSpPr>
          <p:cNvPr id="65" name="Shape 63"/>
          <p:cNvSpPr/>
          <p:nvPr/>
        </p:nvSpPr>
        <p:spPr>
          <a:xfrm>
            <a:off x="5289804" y="3633259"/>
            <a:ext cx="79096" cy="32004"/>
          </a:xfrm>
          <a:prstGeom prst="rect">
            <a:avLst/>
          </a:prstGeom>
          <a:solidFill>
            <a:srgbClr val="1F3A5F"/>
          </a:solidFill>
          <a:ln w="12700">
            <a:solidFill>
              <a:srgbClr val="333333"/>
            </a:solidFill>
            <a:prstDash val="solid"/>
          </a:ln>
        </p:spPr>
      </p:sp>
      <p:sp>
        <p:nvSpPr>
          <p:cNvPr id="66" name="Shape 64"/>
          <p:cNvSpPr/>
          <p:nvPr/>
        </p:nvSpPr>
        <p:spPr>
          <a:xfrm>
            <a:off x="5365242" y="3692608"/>
            <a:ext cx="79096" cy="32004"/>
          </a:xfrm>
          <a:prstGeom prst="rect">
            <a:avLst/>
          </a:prstGeom>
          <a:solidFill>
            <a:srgbClr val="1F3A5F"/>
          </a:solidFill>
          <a:ln w="12700">
            <a:solidFill>
              <a:srgbClr val="333333"/>
            </a:solidFill>
            <a:prstDash val="solid"/>
          </a:ln>
        </p:spPr>
      </p:sp>
      <p:sp>
        <p:nvSpPr>
          <p:cNvPr id="67" name="Shape 65"/>
          <p:cNvSpPr/>
          <p:nvPr/>
        </p:nvSpPr>
        <p:spPr>
          <a:xfrm>
            <a:off x="5440680" y="3743766"/>
            <a:ext cx="79096" cy="32004"/>
          </a:xfrm>
          <a:prstGeom prst="rect">
            <a:avLst/>
          </a:prstGeom>
          <a:solidFill>
            <a:srgbClr val="1F3A5F"/>
          </a:solidFill>
          <a:ln w="12700">
            <a:solidFill>
              <a:srgbClr val="333333"/>
            </a:solidFill>
            <a:prstDash val="solid"/>
          </a:ln>
        </p:spPr>
      </p:sp>
      <p:sp>
        <p:nvSpPr>
          <p:cNvPr id="68" name="Shape 66"/>
          <p:cNvSpPr/>
          <p:nvPr/>
        </p:nvSpPr>
        <p:spPr>
          <a:xfrm>
            <a:off x="5516118" y="3787305"/>
            <a:ext cx="79096" cy="32004"/>
          </a:xfrm>
          <a:prstGeom prst="rect">
            <a:avLst/>
          </a:prstGeom>
          <a:solidFill>
            <a:srgbClr val="1F3A5F"/>
          </a:solidFill>
          <a:ln w="12700">
            <a:solidFill>
              <a:srgbClr val="333333"/>
            </a:solidFill>
            <a:prstDash val="solid"/>
          </a:ln>
        </p:spPr>
      </p:sp>
      <p:sp>
        <p:nvSpPr>
          <p:cNvPr id="69" name="Shape 67"/>
          <p:cNvSpPr/>
          <p:nvPr/>
        </p:nvSpPr>
        <p:spPr>
          <a:xfrm>
            <a:off x="5591556" y="3823900"/>
            <a:ext cx="79096" cy="32004"/>
          </a:xfrm>
          <a:prstGeom prst="rect">
            <a:avLst/>
          </a:prstGeom>
          <a:solidFill>
            <a:srgbClr val="1F3A5F"/>
          </a:solidFill>
          <a:ln w="12700">
            <a:solidFill>
              <a:srgbClr val="333333"/>
            </a:solidFill>
            <a:prstDash val="solid"/>
          </a:ln>
        </p:spPr>
      </p:sp>
      <p:sp>
        <p:nvSpPr>
          <p:cNvPr id="70" name="Shape 68"/>
          <p:cNvSpPr/>
          <p:nvPr/>
        </p:nvSpPr>
        <p:spPr>
          <a:xfrm>
            <a:off x="5666994" y="3854281"/>
            <a:ext cx="79096" cy="32004"/>
          </a:xfrm>
          <a:prstGeom prst="rect">
            <a:avLst/>
          </a:prstGeom>
          <a:solidFill>
            <a:srgbClr val="1F3A5F"/>
          </a:solidFill>
          <a:ln w="12700">
            <a:solidFill>
              <a:srgbClr val="333333"/>
            </a:solidFill>
            <a:prstDash val="solid"/>
          </a:ln>
        </p:spPr>
      </p:sp>
      <p:sp>
        <p:nvSpPr>
          <p:cNvPr id="71" name="Shape 69"/>
          <p:cNvSpPr/>
          <p:nvPr/>
        </p:nvSpPr>
        <p:spPr>
          <a:xfrm>
            <a:off x="5742432" y="3879199"/>
            <a:ext cx="79096" cy="32004"/>
          </a:xfrm>
          <a:prstGeom prst="rect">
            <a:avLst/>
          </a:prstGeom>
          <a:solidFill>
            <a:srgbClr val="1F3A5F"/>
          </a:solidFill>
          <a:ln w="12700">
            <a:solidFill>
              <a:srgbClr val="333333"/>
            </a:solidFill>
            <a:prstDash val="solid"/>
          </a:ln>
        </p:spPr>
      </p:sp>
      <p:sp>
        <p:nvSpPr>
          <p:cNvPr id="72" name="Shape 70"/>
          <p:cNvSpPr/>
          <p:nvPr/>
        </p:nvSpPr>
        <p:spPr>
          <a:xfrm>
            <a:off x="5817870" y="3899393"/>
            <a:ext cx="79096" cy="32004"/>
          </a:xfrm>
          <a:prstGeom prst="rect">
            <a:avLst/>
          </a:prstGeom>
          <a:solidFill>
            <a:srgbClr val="1F3A5F"/>
          </a:solidFill>
          <a:ln w="12700">
            <a:solidFill>
              <a:srgbClr val="333333"/>
            </a:solidFill>
            <a:prstDash val="solid"/>
          </a:ln>
        </p:spPr>
      </p:sp>
      <p:sp>
        <p:nvSpPr>
          <p:cNvPr id="73" name="Shape 71"/>
          <p:cNvSpPr/>
          <p:nvPr/>
        </p:nvSpPr>
        <p:spPr>
          <a:xfrm>
            <a:off x="5893308" y="3915566"/>
            <a:ext cx="79096" cy="32004"/>
          </a:xfrm>
          <a:prstGeom prst="rect">
            <a:avLst/>
          </a:prstGeom>
          <a:solidFill>
            <a:srgbClr val="1F3A5F"/>
          </a:solidFill>
          <a:ln w="12700">
            <a:solidFill>
              <a:srgbClr val="333333"/>
            </a:solidFill>
            <a:prstDash val="solid"/>
          </a:ln>
        </p:spPr>
      </p:sp>
      <p:sp>
        <p:nvSpPr>
          <p:cNvPr id="74" name="Shape 72"/>
          <p:cNvSpPr/>
          <p:nvPr/>
        </p:nvSpPr>
        <p:spPr>
          <a:xfrm>
            <a:off x="5968746" y="3928367"/>
            <a:ext cx="79096" cy="32004"/>
          </a:xfrm>
          <a:prstGeom prst="rect">
            <a:avLst/>
          </a:prstGeom>
          <a:solidFill>
            <a:srgbClr val="1F3A5F"/>
          </a:solidFill>
          <a:ln w="12700">
            <a:solidFill>
              <a:srgbClr val="333333"/>
            </a:solidFill>
            <a:prstDash val="solid"/>
          </a:ln>
        </p:spPr>
      </p:sp>
      <p:sp>
        <p:nvSpPr>
          <p:cNvPr id="75" name="Shape 73"/>
          <p:cNvSpPr/>
          <p:nvPr/>
        </p:nvSpPr>
        <p:spPr>
          <a:xfrm>
            <a:off x="6044184" y="3938383"/>
            <a:ext cx="79096" cy="32004"/>
          </a:xfrm>
          <a:prstGeom prst="rect">
            <a:avLst/>
          </a:prstGeom>
          <a:solidFill>
            <a:srgbClr val="1F3A5F"/>
          </a:solidFill>
          <a:ln w="12700">
            <a:solidFill>
              <a:srgbClr val="333333"/>
            </a:solidFill>
            <a:prstDash val="solid"/>
          </a:ln>
        </p:spPr>
      </p:sp>
      <p:sp>
        <p:nvSpPr>
          <p:cNvPr id="76" name="Shape 74"/>
          <p:cNvSpPr/>
          <p:nvPr/>
        </p:nvSpPr>
        <p:spPr>
          <a:xfrm>
            <a:off x="6119622" y="3946129"/>
            <a:ext cx="79096" cy="32004"/>
          </a:xfrm>
          <a:prstGeom prst="rect">
            <a:avLst/>
          </a:prstGeom>
          <a:solidFill>
            <a:srgbClr val="1F3A5F"/>
          </a:solidFill>
          <a:ln w="12700">
            <a:solidFill>
              <a:srgbClr val="333333"/>
            </a:solidFill>
            <a:prstDash val="solid"/>
          </a:ln>
        </p:spPr>
      </p:sp>
      <p:sp>
        <p:nvSpPr>
          <p:cNvPr id="77" name="Shape 75"/>
          <p:cNvSpPr/>
          <p:nvPr/>
        </p:nvSpPr>
        <p:spPr>
          <a:xfrm>
            <a:off x="6195060" y="3952052"/>
            <a:ext cx="79096" cy="32004"/>
          </a:xfrm>
          <a:prstGeom prst="rect">
            <a:avLst/>
          </a:prstGeom>
          <a:solidFill>
            <a:srgbClr val="1F3A5F"/>
          </a:solidFill>
          <a:ln w="12700">
            <a:solidFill>
              <a:srgbClr val="333333"/>
            </a:solidFill>
            <a:prstDash val="solid"/>
          </a:ln>
        </p:spPr>
      </p:sp>
      <p:sp>
        <p:nvSpPr>
          <p:cNvPr id="78" name="Shape 76"/>
          <p:cNvSpPr/>
          <p:nvPr/>
        </p:nvSpPr>
        <p:spPr>
          <a:xfrm>
            <a:off x="6270498" y="3956530"/>
            <a:ext cx="79096" cy="32004"/>
          </a:xfrm>
          <a:prstGeom prst="rect">
            <a:avLst/>
          </a:prstGeom>
          <a:solidFill>
            <a:srgbClr val="1F3A5F"/>
          </a:solidFill>
          <a:ln w="12700">
            <a:solidFill>
              <a:srgbClr val="333333"/>
            </a:solidFill>
            <a:prstDash val="solid"/>
          </a:ln>
        </p:spPr>
      </p:sp>
      <p:sp>
        <p:nvSpPr>
          <p:cNvPr id="79" name="Shape 77"/>
          <p:cNvSpPr/>
          <p:nvPr/>
        </p:nvSpPr>
        <p:spPr>
          <a:xfrm>
            <a:off x="6345936" y="3959878"/>
            <a:ext cx="79096" cy="32004"/>
          </a:xfrm>
          <a:prstGeom prst="rect">
            <a:avLst/>
          </a:prstGeom>
          <a:solidFill>
            <a:srgbClr val="1F3A5F"/>
          </a:solidFill>
          <a:ln w="12700">
            <a:solidFill>
              <a:srgbClr val="333333"/>
            </a:solidFill>
            <a:prstDash val="solid"/>
          </a:ln>
        </p:spPr>
      </p:sp>
      <p:sp>
        <p:nvSpPr>
          <p:cNvPr id="80" name="Shape 78"/>
          <p:cNvSpPr/>
          <p:nvPr/>
        </p:nvSpPr>
        <p:spPr>
          <a:xfrm>
            <a:off x="6421374" y="3962352"/>
            <a:ext cx="79096" cy="32004"/>
          </a:xfrm>
          <a:prstGeom prst="rect">
            <a:avLst/>
          </a:prstGeom>
          <a:solidFill>
            <a:srgbClr val="1F3A5F"/>
          </a:solidFill>
          <a:ln w="12700">
            <a:solidFill>
              <a:srgbClr val="333333"/>
            </a:solidFill>
            <a:prstDash val="solid"/>
          </a:ln>
        </p:spPr>
      </p:sp>
      <p:sp>
        <p:nvSpPr>
          <p:cNvPr id="81" name="Shape 79"/>
          <p:cNvSpPr/>
          <p:nvPr/>
        </p:nvSpPr>
        <p:spPr>
          <a:xfrm>
            <a:off x="6496812" y="3964161"/>
            <a:ext cx="79096" cy="32004"/>
          </a:xfrm>
          <a:prstGeom prst="rect">
            <a:avLst/>
          </a:prstGeom>
          <a:solidFill>
            <a:srgbClr val="1F3A5F"/>
          </a:solidFill>
          <a:ln w="12700">
            <a:solidFill>
              <a:srgbClr val="333333"/>
            </a:solidFill>
            <a:prstDash val="solid"/>
          </a:ln>
        </p:spPr>
      </p:sp>
      <p:sp>
        <p:nvSpPr>
          <p:cNvPr id="82" name="Shape 80"/>
          <p:cNvSpPr/>
          <p:nvPr/>
        </p:nvSpPr>
        <p:spPr>
          <a:xfrm>
            <a:off x="6572250" y="3965468"/>
            <a:ext cx="79096" cy="32004"/>
          </a:xfrm>
          <a:prstGeom prst="rect">
            <a:avLst/>
          </a:prstGeom>
          <a:solidFill>
            <a:srgbClr val="1F3A5F"/>
          </a:solidFill>
          <a:ln w="12700">
            <a:solidFill>
              <a:srgbClr val="333333"/>
            </a:solidFill>
            <a:prstDash val="solid"/>
          </a:ln>
        </p:spPr>
      </p:sp>
      <p:sp>
        <p:nvSpPr>
          <p:cNvPr id="83" name="Shape 81"/>
          <p:cNvSpPr/>
          <p:nvPr/>
        </p:nvSpPr>
        <p:spPr>
          <a:xfrm>
            <a:off x="6647688" y="3966403"/>
            <a:ext cx="79096" cy="32004"/>
          </a:xfrm>
          <a:prstGeom prst="rect">
            <a:avLst/>
          </a:prstGeom>
          <a:solidFill>
            <a:srgbClr val="1F3A5F"/>
          </a:solidFill>
          <a:ln w="12700">
            <a:solidFill>
              <a:srgbClr val="333333"/>
            </a:solidFill>
            <a:prstDash val="solid"/>
          </a:ln>
        </p:spPr>
      </p:sp>
      <p:sp>
        <p:nvSpPr>
          <p:cNvPr id="84" name="Shape 82"/>
          <p:cNvSpPr/>
          <p:nvPr/>
        </p:nvSpPr>
        <p:spPr>
          <a:xfrm>
            <a:off x="6723126" y="3967064"/>
            <a:ext cx="79096" cy="32004"/>
          </a:xfrm>
          <a:prstGeom prst="rect">
            <a:avLst/>
          </a:prstGeom>
          <a:solidFill>
            <a:srgbClr val="1F3A5F"/>
          </a:solidFill>
          <a:ln w="12700">
            <a:solidFill>
              <a:srgbClr val="333333"/>
            </a:solidFill>
            <a:prstDash val="solid"/>
          </a:ln>
        </p:spPr>
      </p:sp>
      <p:sp>
        <p:nvSpPr>
          <p:cNvPr id="85" name="Shape 83"/>
          <p:cNvSpPr/>
          <p:nvPr/>
        </p:nvSpPr>
        <p:spPr>
          <a:xfrm>
            <a:off x="6798564" y="3967526"/>
            <a:ext cx="79096" cy="32004"/>
          </a:xfrm>
          <a:prstGeom prst="rect">
            <a:avLst/>
          </a:prstGeom>
          <a:solidFill>
            <a:srgbClr val="1F3A5F"/>
          </a:solidFill>
          <a:ln w="12700">
            <a:solidFill>
              <a:srgbClr val="333333"/>
            </a:solidFill>
            <a:prstDash val="solid"/>
          </a:ln>
        </p:spPr>
      </p:sp>
      <p:sp>
        <p:nvSpPr>
          <p:cNvPr id="86" name="Shape 84"/>
          <p:cNvSpPr/>
          <p:nvPr/>
        </p:nvSpPr>
        <p:spPr>
          <a:xfrm>
            <a:off x="6874002" y="3967846"/>
            <a:ext cx="79096" cy="32004"/>
          </a:xfrm>
          <a:prstGeom prst="rect">
            <a:avLst/>
          </a:prstGeom>
          <a:solidFill>
            <a:srgbClr val="1F3A5F"/>
          </a:solidFill>
          <a:ln w="12700">
            <a:solidFill>
              <a:srgbClr val="333333"/>
            </a:solidFill>
            <a:prstDash val="solid"/>
          </a:ln>
        </p:spPr>
      </p:sp>
      <p:sp>
        <p:nvSpPr>
          <p:cNvPr id="87" name="Shape 85"/>
          <p:cNvSpPr/>
          <p:nvPr/>
        </p:nvSpPr>
        <p:spPr>
          <a:xfrm>
            <a:off x="3931920" y="1975104"/>
            <a:ext cx="0" cy="2048256"/>
          </a:xfrm>
          <a:prstGeom prst="line">
            <a:avLst/>
          </a:prstGeom>
          <a:noFill/>
          <a:ln w="25400">
            <a:solidFill>
              <a:srgbClr val="E8674C"/>
            </a:solidFill>
            <a:prstDash val="dash"/>
          </a:ln>
        </p:spPr>
      </p:sp>
      <p:sp>
        <p:nvSpPr>
          <p:cNvPr id="88" name="Text 86"/>
          <p:cNvSpPr txBox="1"/>
          <p:nvPr/>
        </p:nvSpPr>
        <p:spPr>
          <a:xfrm>
            <a:off x="3657600" y="4069080"/>
            <a:ext cx="548640" cy="219456"/>
          </a:xfrm>
          <a:prstGeom prst="rect">
            <a:avLst/>
          </a:prstGeom>
          <a:noFill/>
          <a:ln/>
        </p:spPr>
        <p:txBody>
          <a:bodyPr wrap="square" lIns="0" tIns="0" rIns="0" bIns="0" rtlCol="0" anchor="ctr"/>
          <a:lstStyle/>
          <a:p>
            <a:pPr algn="ctr" indent="0" marL="0">
              <a:buNone/>
            </a:pPr>
            <a:r>
              <a:rPr lang="en-US" sz="950" b="1" dirty="0">
                <a:solidFill>
                  <a:srgbClr val="E8674C"/>
                </a:solidFill>
                <a:latin typeface="Courier New" pitchFamily="34" charset="0"/>
                <a:ea typeface="Courier New" pitchFamily="34" charset="-122"/>
                <a:cs typeface="Courier New" pitchFamily="34" charset="-120"/>
              </a:rPr>
              <a:t>μ</a:t>
            </a:r>
            <a:endParaRPr lang="en-US" sz="950" dirty="0"/>
          </a:p>
        </p:txBody>
      </p:sp>
      <p:sp>
        <p:nvSpPr>
          <p:cNvPr id="89" name="Shape 87"/>
          <p:cNvSpPr/>
          <p:nvPr/>
        </p:nvSpPr>
        <p:spPr>
          <a:xfrm>
            <a:off x="3177540" y="3291840"/>
            <a:ext cx="0" cy="731520"/>
          </a:xfrm>
          <a:prstGeom prst="line">
            <a:avLst/>
          </a:prstGeom>
          <a:noFill/>
          <a:ln w="12700">
            <a:solidFill>
              <a:srgbClr val="9AA7B8"/>
            </a:solidFill>
            <a:prstDash val="dash"/>
          </a:ln>
        </p:spPr>
      </p:sp>
      <p:sp>
        <p:nvSpPr>
          <p:cNvPr id="90" name="Text 88"/>
          <p:cNvSpPr txBox="1"/>
          <p:nvPr/>
        </p:nvSpPr>
        <p:spPr>
          <a:xfrm>
            <a:off x="2903220" y="406908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−σ</a:t>
            </a:r>
            <a:endParaRPr lang="en-US" sz="950" dirty="0"/>
          </a:p>
        </p:txBody>
      </p:sp>
      <p:sp>
        <p:nvSpPr>
          <p:cNvPr id="91" name="Shape 89"/>
          <p:cNvSpPr/>
          <p:nvPr/>
        </p:nvSpPr>
        <p:spPr>
          <a:xfrm>
            <a:off x="4686300" y="3291840"/>
            <a:ext cx="0" cy="731520"/>
          </a:xfrm>
          <a:prstGeom prst="line">
            <a:avLst/>
          </a:prstGeom>
          <a:noFill/>
          <a:ln w="12700">
            <a:solidFill>
              <a:srgbClr val="9AA7B8"/>
            </a:solidFill>
            <a:prstDash val="dash"/>
          </a:ln>
        </p:spPr>
      </p:sp>
      <p:sp>
        <p:nvSpPr>
          <p:cNvPr id="92" name="Text 90"/>
          <p:cNvSpPr txBox="1"/>
          <p:nvPr/>
        </p:nvSpPr>
        <p:spPr>
          <a:xfrm>
            <a:off x="4411980" y="406908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+σ</a:t>
            </a:r>
            <a:endParaRPr lang="en-US" sz="950" dirty="0"/>
          </a:p>
        </p:txBody>
      </p:sp>
      <p:sp>
        <p:nvSpPr>
          <p:cNvPr id="93" name="Shape 91"/>
          <p:cNvSpPr/>
          <p:nvPr/>
        </p:nvSpPr>
        <p:spPr>
          <a:xfrm>
            <a:off x="2423160" y="3291840"/>
            <a:ext cx="0" cy="731520"/>
          </a:xfrm>
          <a:prstGeom prst="line">
            <a:avLst/>
          </a:prstGeom>
          <a:noFill/>
          <a:ln w="12700">
            <a:solidFill>
              <a:srgbClr val="9AA7B8"/>
            </a:solidFill>
            <a:prstDash val="dash"/>
          </a:ln>
        </p:spPr>
      </p:sp>
      <p:sp>
        <p:nvSpPr>
          <p:cNvPr id="94" name="Text 92"/>
          <p:cNvSpPr txBox="1"/>
          <p:nvPr/>
        </p:nvSpPr>
        <p:spPr>
          <a:xfrm>
            <a:off x="2148840" y="406908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−2σ</a:t>
            </a:r>
            <a:endParaRPr lang="en-US" sz="950" dirty="0"/>
          </a:p>
        </p:txBody>
      </p:sp>
      <p:sp>
        <p:nvSpPr>
          <p:cNvPr id="95" name="Shape 93"/>
          <p:cNvSpPr/>
          <p:nvPr/>
        </p:nvSpPr>
        <p:spPr>
          <a:xfrm>
            <a:off x="5440680" y="3291840"/>
            <a:ext cx="0" cy="731520"/>
          </a:xfrm>
          <a:prstGeom prst="line">
            <a:avLst/>
          </a:prstGeom>
          <a:noFill/>
          <a:ln w="12700">
            <a:solidFill>
              <a:srgbClr val="9AA7B8"/>
            </a:solidFill>
            <a:prstDash val="dash"/>
          </a:ln>
        </p:spPr>
      </p:sp>
      <p:sp>
        <p:nvSpPr>
          <p:cNvPr id="96" name="Text 94"/>
          <p:cNvSpPr txBox="1"/>
          <p:nvPr/>
        </p:nvSpPr>
        <p:spPr>
          <a:xfrm>
            <a:off x="5166360" y="406908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+2σ</a:t>
            </a:r>
            <a:endParaRPr lang="en-US" sz="950" dirty="0"/>
          </a:p>
        </p:txBody>
      </p:sp>
      <p:sp>
        <p:nvSpPr>
          <p:cNvPr id="97" name="Text 95"/>
          <p:cNvSpPr txBox="1"/>
          <p:nvPr/>
        </p:nvSpPr>
        <p:spPr>
          <a:xfrm>
            <a:off x="914400" y="4334256"/>
            <a:ext cx="6035040" cy="256032"/>
          </a:xfrm>
          <a:prstGeom prst="rect">
            <a:avLst/>
          </a:prstGeom>
          <a:noFill/>
          <a:ln/>
        </p:spPr>
        <p:txBody>
          <a:bodyPr wrap="square" lIns="0" tIns="0" rIns="0" bIns="0" rtlCol="0" anchor="ctr"/>
          <a:lstStyle/>
          <a:p>
            <a:pPr algn="ctr" indent="0" marL="0">
              <a:buNone/>
            </a:pPr>
            <a:r>
              <a:rPr lang="en-US" sz="1250" b="1" dirty="0">
                <a:solidFill>
                  <a:srgbClr val="1F3A5F"/>
                </a:solidFill>
                <a:latin typeface="Calibri" pitchFamily="34" charset="0"/>
                <a:ea typeface="Calibri" pitchFamily="34" charset="-122"/>
                <a:cs typeface="Calibri" pitchFamily="34" charset="-120"/>
              </a:rPr>
              <a:t>μ  sets WHERE it sits      σ  sets HOW WIDE it is</a:t>
            </a:r>
            <a:endParaRPr lang="en-US" sz="1250" dirty="0"/>
          </a:p>
        </p:txBody>
      </p:sp>
      <p:sp>
        <p:nvSpPr>
          <p:cNvPr id="98" name="Shape 96"/>
          <p:cNvSpPr/>
          <p:nvPr/>
        </p:nvSpPr>
        <p:spPr>
          <a:xfrm>
            <a:off x="7589520" y="1572768"/>
            <a:ext cx="4023360" cy="3017520"/>
          </a:xfrm>
          <a:prstGeom prst="roundRect">
            <a:avLst>
              <a:gd name="adj" fmla="val 272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9" name="Text 97"/>
          <p:cNvSpPr txBox="1"/>
          <p:nvPr/>
        </p:nvSpPr>
        <p:spPr>
          <a:xfrm>
            <a:off x="7845552" y="1719072"/>
            <a:ext cx="35661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Every normal curve is the same shape</a:t>
            </a:r>
            <a:endParaRPr lang="en-US" sz="1400" dirty="0"/>
          </a:p>
        </p:txBody>
      </p:sp>
      <p:sp>
        <p:nvSpPr>
          <p:cNvPr id="100" name="Text 98"/>
          <p:cNvSpPr txBox="1"/>
          <p:nvPr/>
        </p:nvSpPr>
        <p:spPr>
          <a:xfrm>
            <a:off x="7845552" y="2103120"/>
            <a:ext cx="3520440" cy="182880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Change μ and the curve slides left or right. Change σ and it gets wider or narrower. Nothing else about it can change.</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That is why ONE table of probabilities works for every normal distribution in existence — and why z-scores work at all.</a:t>
            </a:r>
            <a:endParaRPr lang="en-US" sz="1250" dirty="0"/>
          </a:p>
        </p:txBody>
      </p:sp>
      <p:sp>
        <p:nvSpPr>
          <p:cNvPr id="101" name="Shape 99"/>
          <p:cNvSpPr/>
          <p:nvPr/>
        </p:nvSpPr>
        <p:spPr>
          <a:xfrm>
            <a:off x="7845552" y="3931920"/>
            <a:ext cx="3520440" cy="502920"/>
          </a:xfrm>
          <a:prstGeom prst="roundRect">
            <a:avLst>
              <a:gd name="adj" fmla="val 12727"/>
            </a:avLst>
          </a:prstGeom>
          <a:solidFill>
            <a:srgbClr val="1B2B45"/>
          </a:solidFill>
          <a:ln w="12700">
            <a:solidFill>
              <a:srgbClr val="1B2B45"/>
            </a:solidFill>
            <a:prstDash val="solid"/>
          </a:ln>
        </p:spPr>
      </p:sp>
      <p:sp>
        <p:nvSpPr>
          <p:cNvPr id="102" name="Text 100"/>
          <p:cNvSpPr txBox="1"/>
          <p:nvPr/>
        </p:nvSpPr>
        <p:spPr>
          <a:xfrm>
            <a:off x="8010144" y="4041648"/>
            <a:ext cx="3191256" cy="2834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stats.norm(loc=μ, scale=σ)</a:t>
            </a:r>
            <a:endParaRPr lang="en-US" sz="1000" dirty="0"/>
          </a:p>
        </p:txBody>
      </p:sp>
      <p:sp>
        <p:nvSpPr>
          <p:cNvPr id="103" name="Shape 101"/>
          <p:cNvSpPr/>
          <p:nvPr/>
        </p:nvSpPr>
        <p:spPr>
          <a:xfrm>
            <a:off x="548640" y="4892040"/>
            <a:ext cx="11064240" cy="960120"/>
          </a:xfrm>
          <a:prstGeom prst="roundRect">
            <a:avLst>
              <a:gd name="adj" fmla="val 857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4" name="Text 102"/>
          <p:cNvSpPr txBox="1"/>
          <p:nvPr/>
        </p:nvSpPr>
        <p:spPr>
          <a:xfrm>
            <a:off x="868680" y="5074920"/>
            <a:ext cx="10424160" cy="658368"/>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Three properties worth naming:  </a:t>
            </a:r>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it is symmetric (so mean = median = mode), it has a single peak, and the tails go on forever without ever touching zero. That last one matters — a normal distribution always assigns SOME probability to any value, however absurd. Section 4 shows why that bites.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WHERE IT COMES FROM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this shape keeps turning up</a:t>
            </a:r>
            <a:endParaRPr lang="en-US" sz="3200" dirty="0"/>
          </a:p>
        </p:txBody>
      </p:sp>
      <p:sp>
        <p:nvSpPr>
          <p:cNvPr id="5" name="Shape 3"/>
          <p:cNvSpPr/>
          <p:nvPr/>
        </p:nvSpPr>
        <p:spPr>
          <a:xfrm>
            <a:off x="548640" y="1572768"/>
            <a:ext cx="5760720" cy="2514600"/>
          </a:xfrm>
          <a:prstGeom prst="roundRect">
            <a:avLst>
              <a:gd name="adj" fmla="val 327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Many small, independent effects adding up</a:t>
            </a:r>
            <a:endParaRPr lang="en-US" sz="1400" dirty="0"/>
          </a:p>
        </p:txBody>
      </p:sp>
      <p:sp>
        <p:nvSpPr>
          <p:cNvPr id="7" name="Text 5"/>
          <p:cNvSpPr txBox="1"/>
          <p:nvPr/>
        </p:nvSpPr>
        <p:spPr>
          <a:xfrm>
            <a:off x="804672" y="2103120"/>
            <a:ext cx="5257800" cy="182880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Height is genes plus nutrition plus sleep plus a hundred other things, each nudging you up or down a little. Measurement error is a dozen tiny imprecisions combining.</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Whenever an outcome is a SUM of many small independent contributions, the bell curve appears — almost regardless of what each contribution looks like on its own.</a:t>
            </a:r>
            <a:endParaRPr lang="en-US" sz="1250" dirty="0"/>
          </a:p>
        </p:txBody>
      </p:sp>
      <p:sp>
        <p:nvSpPr>
          <p:cNvPr id="8" name="Shape 6"/>
          <p:cNvSpPr/>
          <p:nvPr/>
        </p:nvSpPr>
        <p:spPr>
          <a:xfrm>
            <a:off x="6583680" y="1572768"/>
            <a:ext cx="5029200" cy="2514600"/>
          </a:xfrm>
          <a:prstGeom prst="roundRect">
            <a:avLst>
              <a:gd name="adj" fmla="val 327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And when it does NOT appear</a:t>
            </a:r>
            <a:endParaRPr lang="en-US" sz="1400" dirty="0"/>
          </a:p>
        </p:txBody>
      </p:sp>
      <p:sp>
        <p:nvSpPr>
          <p:cNvPr id="10" name="Text 8"/>
          <p:cNvSpPr txBox="1"/>
          <p:nvPr/>
        </p:nvSpPr>
        <p:spPr>
          <a:xfrm>
            <a:off x="6839712" y="2103120"/>
            <a:ext cx="4526280" cy="18288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When effects MULTIPLY rather than add, you get a long right tail instead — income, city populations, file sizes, word frequencies.</a:t>
            </a:r>
            <a:endParaRPr lang="en-US" sz="1250" dirty="0"/>
          </a:p>
          <a:p>
            <a:pPr indent="0" marL="0">
              <a:lnSpc>
                <a:spcPct val="120000"/>
              </a:lnSpc>
              <a:buNone/>
            </a:pPr>
            <a:endParaRPr lang="en-US" sz="1250" dirty="0"/>
          </a:p>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When there is a hard floor at zero and no ceiling, symmetry is impossible. Salaries cannot be negative; waiting times cannot be either.</a:t>
            </a:r>
            <a:endParaRPr lang="en-US" sz="1250" dirty="0"/>
          </a:p>
        </p:txBody>
      </p:sp>
      <p:sp>
        <p:nvSpPr>
          <p:cNvPr id="11" name="Shape 9"/>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352544"/>
            <a:ext cx="77724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real reason it matters — and it is not what you think</a:t>
            </a:r>
            <a:endParaRPr lang="en-US" sz="1450" dirty="0"/>
          </a:p>
        </p:txBody>
      </p:sp>
      <p:sp>
        <p:nvSpPr>
          <p:cNvPr id="13" name="Text 11"/>
          <p:cNvSpPr txBox="1"/>
          <p:nvPr/>
        </p:nvSpPr>
        <p:spPr>
          <a:xfrm>
            <a:off x="868680" y="4663440"/>
            <a:ext cx="10424160" cy="105156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The normal distribution is not important because data is usually normal. It often is not. It is important because the AVERAGES of repeated samples are normal almost regardless of the underlying shape — even for income, even for waiting times. That is the Central Limit Theorem, it lands on Day 27, and it is the engine under every test in the rest of this module. Today you are building the vocabulary you will need to state it.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68 – 95 – 99.7</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empirical rule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three bands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Using it in your head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exact figures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THE EMPIRICAL RULE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one rule worth memorising</a:t>
            </a:r>
            <a:endParaRPr lang="en-US" sz="3200" dirty="0"/>
          </a:p>
        </p:txBody>
      </p:sp>
      <p:sp>
        <p:nvSpPr>
          <p:cNvPr id="5" name="Shape 3"/>
          <p:cNvSpPr/>
          <p:nvPr/>
        </p:nvSpPr>
        <p:spPr>
          <a:xfrm>
            <a:off x="548640" y="1572768"/>
            <a:ext cx="6766560" cy="3200400"/>
          </a:xfrm>
          <a:prstGeom prst="roundRect">
            <a:avLst>
              <a:gd name="adj" fmla="val 2571"/>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914400" y="1965960"/>
            <a:ext cx="6035040" cy="2194560"/>
          </a:xfrm>
          <a:prstGeom prst="rect">
            <a:avLst/>
          </a:prstGeom>
          <a:solidFill>
            <a:srgbClr val="FFFFFF"/>
          </a:solidFill>
          <a:ln w="12700">
            <a:solidFill>
              <a:srgbClr val="D5DCE6"/>
            </a:solidFill>
            <a:prstDash val="solid"/>
          </a:ln>
        </p:spPr>
      </p:sp>
      <p:sp>
        <p:nvSpPr>
          <p:cNvPr id="7" name="Shape 5"/>
          <p:cNvSpPr/>
          <p:nvPr/>
        </p:nvSpPr>
        <p:spPr>
          <a:xfrm>
            <a:off x="1668780" y="2020824"/>
            <a:ext cx="4526280" cy="2084832"/>
          </a:xfrm>
          <a:prstGeom prst="rect">
            <a:avLst/>
          </a:prstGeom>
          <a:solidFill>
            <a:srgbClr val="E8674C">
              <a:alpha val="45000"/>
            </a:srgbClr>
          </a:solidFill>
          <a:ln w="12700">
            <a:solidFill>
              <a:srgbClr val="333333"/>
            </a:solidFill>
            <a:prstDash val="solid"/>
          </a:ln>
        </p:spPr>
      </p:sp>
      <p:sp>
        <p:nvSpPr>
          <p:cNvPr id="8" name="Shape 6"/>
          <p:cNvSpPr/>
          <p:nvPr/>
        </p:nvSpPr>
        <p:spPr>
          <a:xfrm>
            <a:off x="2423160" y="2020824"/>
            <a:ext cx="3017520" cy="2084832"/>
          </a:xfrm>
          <a:prstGeom prst="rect">
            <a:avLst/>
          </a:prstGeom>
          <a:solidFill>
            <a:srgbClr val="FFC145">
              <a:alpha val="45000"/>
            </a:srgbClr>
          </a:solidFill>
          <a:ln w="12700">
            <a:solidFill>
              <a:srgbClr val="333333"/>
            </a:solidFill>
            <a:prstDash val="solid"/>
          </a:ln>
        </p:spPr>
      </p:sp>
      <p:sp>
        <p:nvSpPr>
          <p:cNvPr id="9" name="Shape 7"/>
          <p:cNvSpPr/>
          <p:nvPr/>
        </p:nvSpPr>
        <p:spPr>
          <a:xfrm>
            <a:off x="3177540" y="2020824"/>
            <a:ext cx="1508760" cy="2084832"/>
          </a:xfrm>
          <a:prstGeom prst="rect">
            <a:avLst/>
          </a:prstGeom>
          <a:solidFill>
            <a:srgbClr val="2FA98C">
              <a:alpha val="45000"/>
            </a:srgbClr>
          </a:solidFill>
          <a:ln w="12700">
            <a:solidFill>
              <a:srgbClr val="333333"/>
            </a:solidFill>
            <a:prstDash val="solid"/>
          </a:ln>
        </p:spPr>
      </p:sp>
      <p:sp>
        <p:nvSpPr>
          <p:cNvPr id="10" name="Shape 8"/>
          <p:cNvSpPr/>
          <p:nvPr/>
        </p:nvSpPr>
        <p:spPr>
          <a:xfrm>
            <a:off x="914400" y="4104975"/>
            <a:ext cx="79096" cy="32004"/>
          </a:xfrm>
          <a:prstGeom prst="rect">
            <a:avLst/>
          </a:prstGeom>
          <a:solidFill>
            <a:srgbClr val="1F3A5F"/>
          </a:solidFill>
          <a:ln w="12700">
            <a:solidFill>
              <a:srgbClr val="333333"/>
            </a:solidFill>
            <a:prstDash val="solid"/>
          </a:ln>
        </p:spPr>
      </p:sp>
      <p:sp>
        <p:nvSpPr>
          <p:cNvPr id="11" name="Shape 9"/>
          <p:cNvSpPr/>
          <p:nvPr/>
        </p:nvSpPr>
        <p:spPr>
          <a:xfrm>
            <a:off x="989838" y="4104640"/>
            <a:ext cx="79096" cy="32004"/>
          </a:xfrm>
          <a:prstGeom prst="rect">
            <a:avLst/>
          </a:prstGeom>
          <a:solidFill>
            <a:srgbClr val="1F3A5F"/>
          </a:solidFill>
          <a:ln w="12700">
            <a:solidFill>
              <a:srgbClr val="333333"/>
            </a:solidFill>
            <a:prstDash val="solid"/>
          </a:ln>
        </p:spPr>
      </p:sp>
      <p:sp>
        <p:nvSpPr>
          <p:cNvPr id="12" name="Shape 10"/>
          <p:cNvSpPr/>
          <p:nvPr/>
        </p:nvSpPr>
        <p:spPr>
          <a:xfrm>
            <a:off x="1065276" y="4104156"/>
            <a:ext cx="79096" cy="32004"/>
          </a:xfrm>
          <a:prstGeom prst="rect">
            <a:avLst/>
          </a:prstGeom>
          <a:solidFill>
            <a:srgbClr val="1F3A5F"/>
          </a:solidFill>
          <a:ln w="12700">
            <a:solidFill>
              <a:srgbClr val="333333"/>
            </a:solidFill>
            <a:prstDash val="solid"/>
          </a:ln>
        </p:spPr>
      </p:sp>
      <p:sp>
        <p:nvSpPr>
          <p:cNvPr id="13" name="Shape 11"/>
          <p:cNvSpPr/>
          <p:nvPr/>
        </p:nvSpPr>
        <p:spPr>
          <a:xfrm>
            <a:off x="1140714" y="4103464"/>
            <a:ext cx="79096" cy="32004"/>
          </a:xfrm>
          <a:prstGeom prst="rect">
            <a:avLst/>
          </a:prstGeom>
          <a:solidFill>
            <a:srgbClr val="1F3A5F"/>
          </a:solidFill>
          <a:ln w="12700">
            <a:solidFill>
              <a:srgbClr val="333333"/>
            </a:solidFill>
            <a:prstDash val="solid"/>
          </a:ln>
        </p:spPr>
      </p:sp>
      <p:sp>
        <p:nvSpPr>
          <p:cNvPr id="14" name="Shape 12"/>
          <p:cNvSpPr/>
          <p:nvPr/>
        </p:nvSpPr>
        <p:spPr>
          <a:xfrm>
            <a:off x="1216152" y="4102485"/>
            <a:ext cx="79096" cy="32004"/>
          </a:xfrm>
          <a:prstGeom prst="rect">
            <a:avLst/>
          </a:prstGeom>
          <a:solidFill>
            <a:srgbClr val="1F3A5F"/>
          </a:solidFill>
          <a:ln w="12700">
            <a:solidFill>
              <a:srgbClr val="333333"/>
            </a:solidFill>
            <a:prstDash val="solid"/>
          </a:ln>
        </p:spPr>
      </p:sp>
      <p:sp>
        <p:nvSpPr>
          <p:cNvPr id="15" name="Shape 13"/>
          <p:cNvSpPr/>
          <p:nvPr/>
        </p:nvSpPr>
        <p:spPr>
          <a:xfrm>
            <a:off x="1291590" y="4101116"/>
            <a:ext cx="79096" cy="32004"/>
          </a:xfrm>
          <a:prstGeom prst="rect">
            <a:avLst/>
          </a:prstGeom>
          <a:solidFill>
            <a:srgbClr val="1F3A5F"/>
          </a:solidFill>
          <a:ln w="12700">
            <a:solidFill>
              <a:srgbClr val="333333"/>
            </a:solidFill>
            <a:prstDash val="solid"/>
          </a:ln>
        </p:spPr>
      </p:sp>
      <p:sp>
        <p:nvSpPr>
          <p:cNvPr id="16" name="Shape 14"/>
          <p:cNvSpPr/>
          <p:nvPr/>
        </p:nvSpPr>
        <p:spPr>
          <a:xfrm>
            <a:off x="1367028" y="4099222"/>
            <a:ext cx="79096" cy="32004"/>
          </a:xfrm>
          <a:prstGeom prst="rect">
            <a:avLst/>
          </a:prstGeom>
          <a:solidFill>
            <a:srgbClr val="1F3A5F"/>
          </a:solidFill>
          <a:ln w="12700">
            <a:solidFill>
              <a:srgbClr val="333333"/>
            </a:solidFill>
            <a:prstDash val="solid"/>
          </a:ln>
        </p:spPr>
      </p:sp>
      <p:sp>
        <p:nvSpPr>
          <p:cNvPr id="17" name="Shape 15"/>
          <p:cNvSpPr/>
          <p:nvPr/>
        </p:nvSpPr>
        <p:spPr>
          <a:xfrm>
            <a:off x="1442466" y="4096631"/>
            <a:ext cx="79096" cy="32004"/>
          </a:xfrm>
          <a:prstGeom prst="rect">
            <a:avLst/>
          </a:prstGeom>
          <a:solidFill>
            <a:srgbClr val="1F3A5F"/>
          </a:solidFill>
          <a:ln w="12700">
            <a:solidFill>
              <a:srgbClr val="333333"/>
            </a:solidFill>
            <a:prstDash val="solid"/>
          </a:ln>
        </p:spPr>
      </p:sp>
      <p:sp>
        <p:nvSpPr>
          <p:cNvPr id="18" name="Shape 16"/>
          <p:cNvSpPr/>
          <p:nvPr/>
        </p:nvSpPr>
        <p:spPr>
          <a:xfrm>
            <a:off x="1517904" y="4093126"/>
            <a:ext cx="79096" cy="32004"/>
          </a:xfrm>
          <a:prstGeom prst="rect">
            <a:avLst/>
          </a:prstGeom>
          <a:solidFill>
            <a:srgbClr val="1F3A5F"/>
          </a:solidFill>
          <a:ln w="12700">
            <a:solidFill>
              <a:srgbClr val="333333"/>
            </a:solidFill>
            <a:prstDash val="solid"/>
          </a:ln>
        </p:spPr>
      </p:sp>
      <p:sp>
        <p:nvSpPr>
          <p:cNvPr id="19" name="Shape 17"/>
          <p:cNvSpPr/>
          <p:nvPr/>
        </p:nvSpPr>
        <p:spPr>
          <a:xfrm>
            <a:off x="1593342" y="4088437"/>
            <a:ext cx="79096" cy="32004"/>
          </a:xfrm>
          <a:prstGeom prst="rect">
            <a:avLst/>
          </a:prstGeom>
          <a:solidFill>
            <a:srgbClr val="1F3A5F"/>
          </a:solidFill>
          <a:ln w="12700">
            <a:solidFill>
              <a:srgbClr val="333333"/>
            </a:solidFill>
            <a:prstDash val="solid"/>
          </a:ln>
        </p:spPr>
      </p:sp>
      <p:sp>
        <p:nvSpPr>
          <p:cNvPr id="20" name="Shape 18"/>
          <p:cNvSpPr/>
          <p:nvPr/>
        </p:nvSpPr>
        <p:spPr>
          <a:xfrm>
            <a:off x="1668780" y="4082234"/>
            <a:ext cx="79096" cy="32004"/>
          </a:xfrm>
          <a:prstGeom prst="rect">
            <a:avLst/>
          </a:prstGeom>
          <a:solidFill>
            <a:srgbClr val="1F3A5F"/>
          </a:solidFill>
          <a:ln w="12700">
            <a:solidFill>
              <a:srgbClr val="333333"/>
            </a:solidFill>
            <a:prstDash val="solid"/>
          </a:ln>
        </p:spPr>
      </p:sp>
      <p:sp>
        <p:nvSpPr>
          <p:cNvPr id="21" name="Shape 19"/>
          <p:cNvSpPr/>
          <p:nvPr/>
        </p:nvSpPr>
        <p:spPr>
          <a:xfrm>
            <a:off x="1744218" y="4074122"/>
            <a:ext cx="79096" cy="32004"/>
          </a:xfrm>
          <a:prstGeom prst="rect">
            <a:avLst/>
          </a:prstGeom>
          <a:solidFill>
            <a:srgbClr val="1F3A5F"/>
          </a:solidFill>
          <a:ln w="12700">
            <a:solidFill>
              <a:srgbClr val="333333"/>
            </a:solidFill>
            <a:prstDash val="solid"/>
          </a:ln>
        </p:spPr>
      </p:sp>
      <p:sp>
        <p:nvSpPr>
          <p:cNvPr id="22" name="Shape 20"/>
          <p:cNvSpPr/>
          <p:nvPr/>
        </p:nvSpPr>
        <p:spPr>
          <a:xfrm>
            <a:off x="1819656" y="4063634"/>
            <a:ext cx="79096" cy="32004"/>
          </a:xfrm>
          <a:prstGeom prst="rect">
            <a:avLst/>
          </a:prstGeom>
          <a:solidFill>
            <a:srgbClr val="1F3A5F"/>
          </a:solidFill>
          <a:ln w="12700">
            <a:solidFill>
              <a:srgbClr val="333333"/>
            </a:solidFill>
            <a:prstDash val="solid"/>
          </a:ln>
        </p:spPr>
      </p:sp>
      <p:sp>
        <p:nvSpPr>
          <p:cNvPr id="23" name="Shape 21"/>
          <p:cNvSpPr/>
          <p:nvPr/>
        </p:nvSpPr>
        <p:spPr>
          <a:xfrm>
            <a:off x="1895094" y="4050229"/>
            <a:ext cx="79096" cy="32004"/>
          </a:xfrm>
          <a:prstGeom prst="rect">
            <a:avLst/>
          </a:prstGeom>
          <a:solidFill>
            <a:srgbClr val="1F3A5F"/>
          </a:solidFill>
          <a:ln w="12700">
            <a:solidFill>
              <a:srgbClr val="333333"/>
            </a:solidFill>
            <a:prstDash val="solid"/>
          </a:ln>
        </p:spPr>
      </p:sp>
      <p:sp>
        <p:nvSpPr>
          <p:cNvPr id="24" name="Shape 22"/>
          <p:cNvSpPr/>
          <p:nvPr/>
        </p:nvSpPr>
        <p:spPr>
          <a:xfrm>
            <a:off x="1970532" y="4033293"/>
            <a:ext cx="79096" cy="32004"/>
          </a:xfrm>
          <a:prstGeom prst="rect">
            <a:avLst/>
          </a:prstGeom>
          <a:solidFill>
            <a:srgbClr val="1F3A5F"/>
          </a:solidFill>
          <a:ln w="12700">
            <a:solidFill>
              <a:srgbClr val="333333"/>
            </a:solidFill>
            <a:prstDash val="solid"/>
          </a:ln>
        </p:spPr>
      </p:sp>
      <p:sp>
        <p:nvSpPr>
          <p:cNvPr id="25" name="Shape 23"/>
          <p:cNvSpPr/>
          <p:nvPr/>
        </p:nvSpPr>
        <p:spPr>
          <a:xfrm>
            <a:off x="2045970" y="4012146"/>
            <a:ext cx="79096" cy="32004"/>
          </a:xfrm>
          <a:prstGeom prst="rect">
            <a:avLst/>
          </a:prstGeom>
          <a:solidFill>
            <a:srgbClr val="1F3A5F"/>
          </a:solidFill>
          <a:ln w="12700">
            <a:solidFill>
              <a:srgbClr val="333333"/>
            </a:solidFill>
            <a:prstDash val="solid"/>
          </a:ln>
        </p:spPr>
      </p:sp>
      <p:sp>
        <p:nvSpPr>
          <p:cNvPr id="26" name="Shape 24"/>
          <p:cNvSpPr/>
          <p:nvPr/>
        </p:nvSpPr>
        <p:spPr>
          <a:xfrm>
            <a:off x="2121408" y="3986053"/>
            <a:ext cx="79096" cy="32004"/>
          </a:xfrm>
          <a:prstGeom prst="rect">
            <a:avLst/>
          </a:prstGeom>
          <a:solidFill>
            <a:srgbClr val="1F3A5F"/>
          </a:solidFill>
          <a:ln w="12700">
            <a:solidFill>
              <a:srgbClr val="333333"/>
            </a:solidFill>
            <a:prstDash val="solid"/>
          </a:ln>
        </p:spPr>
      </p:sp>
      <p:sp>
        <p:nvSpPr>
          <p:cNvPr id="27" name="Shape 25"/>
          <p:cNvSpPr/>
          <p:nvPr/>
        </p:nvSpPr>
        <p:spPr>
          <a:xfrm>
            <a:off x="2196846" y="3954239"/>
            <a:ext cx="79096" cy="32004"/>
          </a:xfrm>
          <a:prstGeom prst="rect">
            <a:avLst/>
          </a:prstGeom>
          <a:solidFill>
            <a:srgbClr val="1F3A5F"/>
          </a:solidFill>
          <a:ln w="12700">
            <a:solidFill>
              <a:srgbClr val="333333"/>
            </a:solidFill>
            <a:prstDash val="solid"/>
          </a:ln>
        </p:spPr>
      </p:sp>
      <p:sp>
        <p:nvSpPr>
          <p:cNvPr id="28" name="Shape 26"/>
          <p:cNvSpPr/>
          <p:nvPr/>
        </p:nvSpPr>
        <p:spPr>
          <a:xfrm>
            <a:off x="2272284" y="3915918"/>
            <a:ext cx="79096" cy="32004"/>
          </a:xfrm>
          <a:prstGeom prst="rect">
            <a:avLst/>
          </a:prstGeom>
          <a:solidFill>
            <a:srgbClr val="1F3A5F"/>
          </a:solidFill>
          <a:ln w="12700">
            <a:solidFill>
              <a:srgbClr val="333333"/>
            </a:solidFill>
            <a:prstDash val="solid"/>
          </a:ln>
        </p:spPr>
      </p:sp>
      <p:sp>
        <p:nvSpPr>
          <p:cNvPr id="29" name="Shape 27"/>
          <p:cNvSpPr/>
          <p:nvPr/>
        </p:nvSpPr>
        <p:spPr>
          <a:xfrm>
            <a:off x="2347722" y="3870325"/>
            <a:ext cx="79096" cy="32004"/>
          </a:xfrm>
          <a:prstGeom prst="rect">
            <a:avLst/>
          </a:prstGeom>
          <a:solidFill>
            <a:srgbClr val="1F3A5F"/>
          </a:solidFill>
          <a:ln w="12700">
            <a:solidFill>
              <a:srgbClr val="333333"/>
            </a:solidFill>
            <a:prstDash val="solid"/>
          </a:ln>
        </p:spPr>
      </p:sp>
      <p:sp>
        <p:nvSpPr>
          <p:cNvPr id="30" name="Shape 28"/>
          <p:cNvSpPr/>
          <p:nvPr/>
        </p:nvSpPr>
        <p:spPr>
          <a:xfrm>
            <a:off x="2423160" y="3816754"/>
            <a:ext cx="79096" cy="32004"/>
          </a:xfrm>
          <a:prstGeom prst="rect">
            <a:avLst/>
          </a:prstGeom>
          <a:solidFill>
            <a:srgbClr val="1F3A5F"/>
          </a:solidFill>
          <a:ln w="12700">
            <a:solidFill>
              <a:srgbClr val="333333"/>
            </a:solidFill>
            <a:prstDash val="solid"/>
          </a:ln>
        </p:spPr>
      </p:sp>
      <p:sp>
        <p:nvSpPr>
          <p:cNvPr id="31" name="Shape 29"/>
          <p:cNvSpPr/>
          <p:nvPr/>
        </p:nvSpPr>
        <p:spPr>
          <a:xfrm>
            <a:off x="2498598" y="3754606"/>
            <a:ext cx="79096" cy="32004"/>
          </a:xfrm>
          <a:prstGeom prst="rect">
            <a:avLst/>
          </a:prstGeom>
          <a:solidFill>
            <a:srgbClr val="1F3A5F"/>
          </a:solidFill>
          <a:ln w="12700">
            <a:solidFill>
              <a:srgbClr val="333333"/>
            </a:solidFill>
            <a:prstDash val="solid"/>
          </a:ln>
        </p:spPr>
      </p:sp>
      <p:sp>
        <p:nvSpPr>
          <p:cNvPr id="32" name="Shape 30"/>
          <p:cNvSpPr/>
          <p:nvPr/>
        </p:nvSpPr>
        <p:spPr>
          <a:xfrm>
            <a:off x="2574036" y="3683441"/>
            <a:ext cx="79096" cy="32004"/>
          </a:xfrm>
          <a:prstGeom prst="rect">
            <a:avLst/>
          </a:prstGeom>
          <a:solidFill>
            <a:srgbClr val="1F3A5F"/>
          </a:solidFill>
          <a:ln w="12700">
            <a:solidFill>
              <a:srgbClr val="333333"/>
            </a:solidFill>
            <a:prstDash val="solid"/>
          </a:ln>
        </p:spPr>
      </p:sp>
      <p:sp>
        <p:nvSpPr>
          <p:cNvPr id="33" name="Shape 31"/>
          <p:cNvSpPr/>
          <p:nvPr/>
        </p:nvSpPr>
        <p:spPr>
          <a:xfrm>
            <a:off x="2649474" y="3603031"/>
            <a:ext cx="79096" cy="32004"/>
          </a:xfrm>
          <a:prstGeom prst="rect">
            <a:avLst/>
          </a:prstGeom>
          <a:solidFill>
            <a:srgbClr val="1F3A5F"/>
          </a:solidFill>
          <a:ln w="12700">
            <a:solidFill>
              <a:srgbClr val="333333"/>
            </a:solidFill>
            <a:prstDash val="solid"/>
          </a:ln>
        </p:spPr>
      </p:sp>
      <p:sp>
        <p:nvSpPr>
          <p:cNvPr id="34" name="Shape 32"/>
          <p:cNvSpPr/>
          <p:nvPr/>
        </p:nvSpPr>
        <p:spPr>
          <a:xfrm>
            <a:off x="2724912" y="3513410"/>
            <a:ext cx="79096" cy="32004"/>
          </a:xfrm>
          <a:prstGeom prst="rect">
            <a:avLst/>
          </a:prstGeom>
          <a:solidFill>
            <a:srgbClr val="1F3A5F"/>
          </a:solidFill>
          <a:ln w="12700">
            <a:solidFill>
              <a:srgbClr val="333333"/>
            </a:solidFill>
            <a:prstDash val="solid"/>
          </a:ln>
        </p:spPr>
      </p:sp>
      <p:sp>
        <p:nvSpPr>
          <p:cNvPr id="35" name="Shape 33"/>
          <p:cNvSpPr/>
          <p:nvPr/>
        </p:nvSpPr>
        <p:spPr>
          <a:xfrm>
            <a:off x="2800350" y="3414930"/>
            <a:ext cx="79096" cy="32004"/>
          </a:xfrm>
          <a:prstGeom prst="rect">
            <a:avLst/>
          </a:prstGeom>
          <a:solidFill>
            <a:srgbClr val="1F3A5F"/>
          </a:solidFill>
          <a:ln w="12700">
            <a:solidFill>
              <a:srgbClr val="333333"/>
            </a:solidFill>
            <a:prstDash val="solid"/>
          </a:ln>
        </p:spPr>
      </p:sp>
      <p:sp>
        <p:nvSpPr>
          <p:cNvPr id="36" name="Shape 34"/>
          <p:cNvSpPr/>
          <p:nvPr/>
        </p:nvSpPr>
        <p:spPr>
          <a:xfrm>
            <a:off x="2875788" y="3308293"/>
            <a:ext cx="79096" cy="32004"/>
          </a:xfrm>
          <a:prstGeom prst="rect">
            <a:avLst/>
          </a:prstGeom>
          <a:solidFill>
            <a:srgbClr val="1F3A5F"/>
          </a:solidFill>
          <a:ln w="12700">
            <a:solidFill>
              <a:srgbClr val="333333"/>
            </a:solidFill>
            <a:prstDash val="solid"/>
          </a:ln>
        </p:spPr>
      </p:sp>
      <p:sp>
        <p:nvSpPr>
          <p:cNvPr id="37" name="Shape 35"/>
          <p:cNvSpPr/>
          <p:nvPr/>
        </p:nvSpPr>
        <p:spPr>
          <a:xfrm>
            <a:off x="2951226" y="3194584"/>
            <a:ext cx="79096" cy="32004"/>
          </a:xfrm>
          <a:prstGeom prst="rect">
            <a:avLst/>
          </a:prstGeom>
          <a:solidFill>
            <a:srgbClr val="1F3A5F"/>
          </a:solidFill>
          <a:ln w="12700">
            <a:solidFill>
              <a:srgbClr val="333333"/>
            </a:solidFill>
            <a:prstDash val="solid"/>
          </a:ln>
        </p:spPr>
      </p:sp>
      <p:sp>
        <p:nvSpPr>
          <p:cNvPr id="38" name="Shape 36"/>
          <p:cNvSpPr/>
          <p:nvPr/>
        </p:nvSpPr>
        <p:spPr>
          <a:xfrm>
            <a:off x="3026664" y="3075280"/>
            <a:ext cx="79096" cy="32004"/>
          </a:xfrm>
          <a:prstGeom prst="rect">
            <a:avLst/>
          </a:prstGeom>
          <a:solidFill>
            <a:srgbClr val="1F3A5F"/>
          </a:solidFill>
          <a:ln w="12700">
            <a:solidFill>
              <a:srgbClr val="333333"/>
            </a:solidFill>
            <a:prstDash val="solid"/>
          </a:ln>
        </p:spPr>
      </p:sp>
      <p:sp>
        <p:nvSpPr>
          <p:cNvPr id="39" name="Shape 37"/>
          <p:cNvSpPr/>
          <p:nvPr/>
        </p:nvSpPr>
        <p:spPr>
          <a:xfrm>
            <a:off x="3102102" y="2952242"/>
            <a:ext cx="79096" cy="32004"/>
          </a:xfrm>
          <a:prstGeom prst="rect">
            <a:avLst/>
          </a:prstGeom>
          <a:solidFill>
            <a:srgbClr val="1F3A5F"/>
          </a:solidFill>
          <a:ln w="12700">
            <a:solidFill>
              <a:srgbClr val="333333"/>
            </a:solidFill>
            <a:prstDash val="solid"/>
          </a:ln>
        </p:spPr>
      </p:sp>
      <p:sp>
        <p:nvSpPr>
          <p:cNvPr id="40" name="Shape 38"/>
          <p:cNvSpPr/>
          <p:nvPr/>
        </p:nvSpPr>
        <p:spPr>
          <a:xfrm>
            <a:off x="3177540" y="2827685"/>
            <a:ext cx="79096" cy="32004"/>
          </a:xfrm>
          <a:prstGeom prst="rect">
            <a:avLst/>
          </a:prstGeom>
          <a:solidFill>
            <a:srgbClr val="1F3A5F"/>
          </a:solidFill>
          <a:ln w="12700">
            <a:solidFill>
              <a:srgbClr val="333333"/>
            </a:solidFill>
            <a:prstDash val="solid"/>
          </a:ln>
        </p:spPr>
      </p:sp>
      <p:sp>
        <p:nvSpPr>
          <p:cNvPr id="41" name="Shape 39"/>
          <p:cNvSpPr/>
          <p:nvPr/>
        </p:nvSpPr>
        <p:spPr>
          <a:xfrm>
            <a:off x="3252978" y="2704123"/>
            <a:ext cx="79096" cy="32004"/>
          </a:xfrm>
          <a:prstGeom prst="rect">
            <a:avLst/>
          </a:prstGeom>
          <a:solidFill>
            <a:srgbClr val="1F3A5F"/>
          </a:solidFill>
          <a:ln w="12700">
            <a:solidFill>
              <a:srgbClr val="333333"/>
            </a:solidFill>
            <a:prstDash val="solid"/>
          </a:ln>
        </p:spPr>
      </p:sp>
      <p:sp>
        <p:nvSpPr>
          <p:cNvPr id="42" name="Shape 40"/>
          <p:cNvSpPr/>
          <p:nvPr/>
        </p:nvSpPr>
        <p:spPr>
          <a:xfrm>
            <a:off x="3328416" y="2584296"/>
            <a:ext cx="79096" cy="32004"/>
          </a:xfrm>
          <a:prstGeom prst="rect">
            <a:avLst/>
          </a:prstGeom>
          <a:solidFill>
            <a:srgbClr val="1F3A5F"/>
          </a:solidFill>
          <a:ln w="12700">
            <a:solidFill>
              <a:srgbClr val="333333"/>
            </a:solidFill>
            <a:prstDash val="solid"/>
          </a:ln>
        </p:spPr>
      </p:sp>
      <p:sp>
        <p:nvSpPr>
          <p:cNvPr id="43" name="Shape 41"/>
          <p:cNvSpPr/>
          <p:nvPr/>
        </p:nvSpPr>
        <p:spPr>
          <a:xfrm>
            <a:off x="3403854" y="2471072"/>
            <a:ext cx="79096" cy="32004"/>
          </a:xfrm>
          <a:prstGeom prst="rect">
            <a:avLst/>
          </a:prstGeom>
          <a:solidFill>
            <a:srgbClr val="1F3A5F"/>
          </a:solidFill>
          <a:ln w="12700">
            <a:solidFill>
              <a:srgbClr val="333333"/>
            </a:solidFill>
            <a:prstDash val="solid"/>
          </a:ln>
        </p:spPr>
      </p:sp>
      <p:sp>
        <p:nvSpPr>
          <p:cNvPr id="44" name="Shape 42"/>
          <p:cNvSpPr/>
          <p:nvPr/>
        </p:nvSpPr>
        <p:spPr>
          <a:xfrm>
            <a:off x="3479292" y="2367340"/>
            <a:ext cx="79096" cy="32004"/>
          </a:xfrm>
          <a:prstGeom prst="rect">
            <a:avLst/>
          </a:prstGeom>
          <a:solidFill>
            <a:srgbClr val="1F3A5F"/>
          </a:solidFill>
          <a:ln w="12700">
            <a:solidFill>
              <a:srgbClr val="333333"/>
            </a:solidFill>
            <a:prstDash val="solid"/>
          </a:ln>
        </p:spPr>
      </p:sp>
      <p:sp>
        <p:nvSpPr>
          <p:cNvPr id="45" name="Shape 43"/>
          <p:cNvSpPr/>
          <p:nvPr/>
        </p:nvSpPr>
        <p:spPr>
          <a:xfrm>
            <a:off x="3554730" y="2275886"/>
            <a:ext cx="79096" cy="32004"/>
          </a:xfrm>
          <a:prstGeom prst="rect">
            <a:avLst/>
          </a:prstGeom>
          <a:solidFill>
            <a:srgbClr val="1F3A5F"/>
          </a:solidFill>
          <a:ln w="12700">
            <a:solidFill>
              <a:srgbClr val="333333"/>
            </a:solidFill>
            <a:prstDash val="solid"/>
          </a:ln>
        </p:spPr>
      </p:sp>
      <p:sp>
        <p:nvSpPr>
          <p:cNvPr id="46" name="Shape 44"/>
          <p:cNvSpPr/>
          <p:nvPr/>
        </p:nvSpPr>
        <p:spPr>
          <a:xfrm>
            <a:off x="3630168" y="2199269"/>
            <a:ext cx="79096" cy="32004"/>
          </a:xfrm>
          <a:prstGeom prst="rect">
            <a:avLst/>
          </a:prstGeom>
          <a:solidFill>
            <a:srgbClr val="1F3A5F"/>
          </a:solidFill>
          <a:ln w="12700">
            <a:solidFill>
              <a:srgbClr val="333333"/>
            </a:solidFill>
            <a:prstDash val="solid"/>
          </a:ln>
        </p:spPr>
      </p:sp>
      <p:sp>
        <p:nvSpPr>
          <p:cNvPr id="47" name="Shape 45"/>
          <p:cNvSpPr/>
          <p:nvPr/>
        </p:nvSpPr>
        <p:spPr>
          <a:xfrm>
            <a:off x="3705606" y="2139709"/>
            <a:ext cx="79096" cy="32004"/>
          </a:xfrm>
          <a:prstGeom prst="rect">
            <a:avLst/>
          </a:prstGeom>
          <a:solidFill>
            <a:srgbClr val="1F3A5F"/>
          </a:solidFill>
          <a:ln w="12700">
            <a:solidFill>
              <a:srgbClr val="333333"/>
            </a:solidFill>
            <a:prstDash val="solid"/>
          </a:ln>
        </p:spPr>
      </p:sp>
      <p:sp>
        <p:nvSpPr>
          <p:cNvPr id="48" name="Shape 46"/>
          <p:cNvSpPr/>
          <p:nvPr/>
        </p:nvSpPr>
        <p:spPr>
          <a:xfrm>
            <a:off x="3781044" y="2098972"/>
            <a:ext cx="79096" cy="32004"/>
          </a:xfrm>
          <a:prstGeom prst="rect">
            <a:avLst/>
          </a:prstGeom>
          <a:solidFill>
            <a:srgbClr val="1F3A5F"/>
          </a:solidFill>
          <a:ln w="12700">
            <a:solidFill>
              <a:srgbClr val="333333"/>
            </a:solidFill>
            <a:prstDash val="solid"/>
          </a:ln>
        </p:spPr>
      </p:sp>
      <p:sp>
        <p:nvSpPr>
          <p:cNvPr id="49" name="Shape 47"/>
          <p:cNvSpPr/>
          <p:nvPr/>
        </p:nvSpPr>
        <p:spPr>
          <a:xfrm>
            <a:off x="3856482" y="2078288"/>
            <a:ext cx="79096" cy="32004"/>
          </a:xfrm>
          <a:prstGeom prst="rect">
            <a:avLst/>
          </a:prstGeom>
          <a:solidFill>
            <a:srgbClr val="1F3A5F"/>
          </a:solidFill>
          <a:ln w="12700">
            <a:solidFill>
              <a:srgbClr val="333333"/>
            </a:solidFill>
            <a:prstDash val="solid"/>
          </a:ln>
        </p:spPr>
      </p:sp>
      <p:sp>
        <p:nvSpPr>
          <p:cNvPr id="50" name="Shape 48"/>
          <p:cNvSpPr/>
          <p:nvPr/>
        </p:nvSpPr>
        <p:spPr>
          <a:xfrm>
            <a:off x="3931920" y="2078288"/>
            <a:ext cx="79096" cy="32004"/>
          </a:xfrm>
          <a:prstGeom prst="rect">
            <a:avLst/>
          </a:prstGeom>
          <a:solidFill>
            <a:srgbClr val="1F3A5F"/>
          </a:solidFill>
          <a:ln w="12700">
            <a:solidFill>
              <a:srgbClr val="333333"/>
            </a:solidFill>
            <a:prstDash val="solid"/>
          </a:ln>
        </p:spPr>
      </p:sp>
      <p:sp>
        <p:nvSpPr>
          <p:cNvPr id="51" name="Shape 49"/>
          <p:cNvSpPr/>
          <p:nvPr/>
        </p:nvSpPr>
        <p:spPr>
          <a:xfrm>
            <a:off x="4007358" y="2098972"/>
            <a:ext cx="79096" cy="32004"/>
          </a:xfrm>
          <a:prstGeom prst="rect">
            <a:avLst/>
          </a:prstGeom>
          <a:solidFill>
            <a:srgbClr val="1F3A5F"/>
          </a:solidFill>
          <a:ln w="12700">
            <a:solidFill>
              <a:srgbClr val="333333"/>
            </a:solidFill>
            <a:prstDash val="solid"/>
          </a:ln>
        </p:spPr>
      </p:sp>
      <p:sp>
        <p:nvSpPr>
          <p:cNvPr id="52" name="Shape 50"/>
          <p:cNvSpPr/>
          <p:nvPr/>
        </p:nvSpPr>
        <p:spPr>
          <a:xfrm>
            <a:off x="4082796" y="2139709"/>
            <a:ext cx="79096" cy="32004"/>
          </a:xfrm>
          <a:prstGeom prst="rect">
            <a:avLst/>
          </a:prstGeom>
          <a:solidFill>
            <a:srgbClr val="1F3A5F"/>
          </a:solidFill>
          <a:ln w="12700">
            <a:solidFill>
              <a:srgbClr val="333333"/>
            </a:solidFill>
            <a:prstDash val="solid"/>
          </a:ln>
        </p:spPr>
      </p:sp>
      <p:sp>
        <p:nvSpPr>
          <p:cNvPr id="53" name="Shape 51"/>
          <p:cNvSpPr/>
          <p:nvPr/>
        </p:nvSpPr>
        <p:spPr>
          <a:xfrm>
            <a:off x="4158234" y="2199269"/>
            <a:ext cx="79096" cy="32004"/>
          </a:xfrm>
          <a:prstGeom prst="rect">
            <a:avLst/>
          </a:prstGeom>
          <a:solidFill>
            <a:srgbClr val="1F3A5F"/>
          </a:solidFill>
          <a:ln w="12700">
            <a:solidFill>
              <a:srgbClr val="333333"/>
            </a:solidFill>
            <a:prstDash val="solid"/>
          </a:ln>
        </p:spPr>
      </p:sp>
      <p:sp>
        <p:nvSpPr>
          <p:cNvPr id="54" name="Shape 52"/>
          <p:cNvSpPr/>
          <p:nvPr/>
        </p:nvSpPr>
        <p:spPr>
          <a:xfrm>
            <a:off x="4233672" y="2275886"/>
            <a:ext cx="79096" cy="32004"/>
          </a:xfrm>
          <a:prstGeom prst="rect">
            <a:avLst/>
          </a:prstGeom>
          <a:solidFill>
            <a:srgbClr val="1F3A5F"/>
          </a:solidFill>
          <a:ln w="12700">
            <a:solidFill>
              <a:srgbClr val="333333"/>
            </a:solidFill>
            <a:prstDash val="solid"/>
          </a:ln>
        </p:spPr>
      </p:sp>
      <p:sp>
        <p:nvSpPr>
          <p:cNvPr id="55" name="Shape 53"/>
          <p:cNvSpPr/>
          <p:nvPr/>
        </p:nvSpPr>
        <p:spPr>
          <a:xfrm>
            <a:off x="4309110" y="2367340"/>
            <a:ext cx="79096" cy="32004"/>
          </a:xfrm>
          <a:prstGeom prst="rect">
            <a:avLst/>
          </a:prstGeom>
          <a:solidFill>
            <a:srgbClr val="1F3A5F"/>
          </a:solidFill>
          <a:ln w="12700">
            <a:solidFill>
              <a:srgbClr val="333333"/>
            </a:solidFill>
            <a:prstDash val="solid"/>
          </a:ln>
        </p:spPr>
      </p:sp>
      <p:sp>
        <p:nvSpPr>
          <p:cNvPr id="56" name="Shape 54"/>
          <p:cNvSpPr/>
          <p:nvPr/>
        </p:nvSpPr>
        <p:spPr>
          <a:xfrm>
            <a:off x="4384548" y="2471072"/>
            <a:ext cx="79096" cy="32004"/>
          </a:xfrm>
          <a:prstGeom prst="rect">
            <a:avLst/>
          </a:prstGeom>
          <a:solidFill>
            <a:srgbClr val="1F3A5F"/>
          </a:solidFill>
          <a:ln w="12700">
            <a:solidFill>
              <a:srgbClr val="333333"/>
            </a:solidFill>
            <a:prstDash val="solid"/>
          </a:ln>
        </p:spPr>
      </p:sp>
      <p:sp>
        <p:nvSpPr>
          <p:cNvPr id="57" name="Shape 55"/>
          <p:cNvSpPr/>
          <p:nvPr/>
        </p:nvSpPr>
        <p:spPr>
          <a:xfrm>
            <a:off x="4459986" y="2584296"/>
            <a:ext cx="79096" cy="32004"/>
          </a:xfrm>
          <a:prstGeom prst="rect">
            <a:avLst/>
          </a:prstGeom>
          <a:solidFill>
            <a:srgbClr val="1F3A5F"/>
          </a:solidFill>
          <a:ln w="12700">
            <a:solidFill>
              <a:srgbClr val="333333"/>
            </a:solidFill>
            <a:prstDash val="solid"/>
          </a:ln>
        </p:spPr>
      </p:sp>
      <p:sp>
        <p:nvSpPr>
          <p:cNvPr id="58" name="Shape 56"/>
          <p:cNvSpPr/>
          <p:nvPr/>
        </p:nvSpPr>
        <p:spPr>
          <a:xfrm>
            <a:off x="4535424" y="2704123"/>
            <a:ext cx="79096" cy="32004"/>
          </a:xfrm>
          <a:prstGeom prst="rect">
            <a:avLst/>
          </a:prstGeom>
          <a:solidFill>
            <a:srgbClr val="1F3A5F"/>
          </a:solidFill>
          <a:ln w="12700">
            <a:solidFill>
              <a:srgbClr val="333333"/>
            </a:solidFill>
            <a:prstDash val="solid"/>
          </a:ln>
        </p:spPr>
      </p:sp>
      <p:sp>
        <p:nvSpPr>
          <p:cNvPr id="59" name="Shape 57"/>
          <p:cNvSpPr/>
          <p:nvPr/>
        </p:nvSpPr>
        <p:spPr>
          <a:xfrm>
            <a:off x="4610862" y="2827685"/>
            <a:ext cx="79096" cy="32004"/>
          </a:xfrm>
          <a:prstGeom prst="rect">
            <a:avLst/>
          </a:prstGeom>
          <a:solidFill>
            <a:srgbClr val="1F3A5F"/>
          </a:solidFill>
          <a:ln w="12700">
            <a:solidFill>
              <a:srgbClr val="333333"/>
            </a:solidFill>
            <a:prstDash val="solid"/>
          </a:ln>
        </p:spPr>
      </p:sp>
      <p:sp>
        <p:nvSpPr>
          <p:cNvPr id="60" name="Shape 58"/>
          <p:cNvSpPr/>
          <p:nvPr/>
        </p:nvSpPr>
        <p:spPr>
          <a:xfrm>
            <a:off x="4686300" y="2952242"/>
            <a:ext cx="79096" cy="32004"/>
          </a:xfrm>
          <a:prstGeom prst="rect">
            <a:avLst/>
          </a:prstGeom>
          <a:solidFill>
            <a:srgbClr val="1F3A5F"/>
          </a:solidFill>
          <a:ln w="12700">
            <a:solidFill>
              <a:srgbClr val="333333"/>
            </a:solidFill>
            <a:prstDash val="solid"/>
          </a:ln>
        </p:spPr>
      </p:sp>
      <p:sp>
        <p:nvSpPr>
          <p:cNvPr id="61" name="Shape 59"/>
          <p:cNvSpPr/>
          <p:nvPr/>
        </p:nvSpPr>
        <p:spPr>
          <a:xfrm>
            <a:off x="4761738" y="3075280"/>
            <a:ext cx="79096" cy="32004"/>
          </a:xfrm>
          <a:prstGeom prst="rect">
            <a:avLst/>
          </a:prstGeom>
          <a:solidFill>
            <a:srgbClr val="1F3A5F"/>
          </a:solidFill>
          <a:ln w="12700">
            <a:solidFill>
              <a:srgbClr val="333333"/>
            </a:solidFill>
            <a:prstDash val="solid"/>
          </a:ln>
        </p:spPr>
      </p:sp>
      <p:sp>
        <p:nvSpPr>
          <p:cNvPr id="62" name="Shape 60"/>
          <p:cNvSpPr/>
          <p:nvPr/>
        </p:nvSpPr>
        <p:spPr>
          <a:xfrm>
            <a:off x="4837176" y="3194584"/>
            <a:ext cx="79096" cy="32004"/>
          </a:xfrm>
          <a:prstGeom prst="rect">
            <a:avLst/>
          </a:prstGeom>
          <a:solidFill>
            <a:srgbClr val="1F3A5F"/>
          </a:solidFill>
          <a:ln w="12700">
            <a:solidFill>
              <a:srgbClr val="333333"/>
            </a:solidFill>
            <a:prstDash val="solid"/>
          </a:ln>
        </p:spPr>
      </p:sp>
      <p:sp>
        <p:nvSpPr>
          <p:cNvPr id="63" name="Shape 61"/>
          <p:cNvSpPr/>
          <p:nvPr/>
        </p:nvSpPr>
        <p:spPr>
          <a:xfrm>
            <a:off x="4912614" y="3308293"/>
            <a:ext cx="79096" cy="32004"/>
          </a:xfrm>
          <a:prstGeom prst="rect">
            <a:avLst/>
          </a:prstGeom>
          <a:solidFill>
            <a:srgbClr val="1F3A5F"/>
          </a:solidFill>
          <a:ln w="12700">
            <a:solidFill>
              <a:srgbClr val="333333"/>
            </a:solidFill>
            <a:prstDash val="solid"/>
          </a:ln>
        </p:spPr>
      </p:sp>
      <p:sp>
        <p:nvSpPr>
          <p:cNvPr id="64" name="Shape 62"/>
          <p:cNvSpPr/>
          <p:nvPr/>
        </p:nvSpPr>
        <p:spPr>
          <a:xfrm>
            <a:off x="4988052" y="3414930"/>
            <a:ext cx="79096" cy="32004"/>
          </a:xfrm>
          <a:prstGeom prst="rect">
            <a:avLst/>
          </a:prstGeom>
          <a:solidFill>
            <a:srgbClr val="1F3A5F"/>
          </a:solidFill>
          <a:ln w="12700">
            <a:solidFill>
              <a:srgbClr val="333333"/>
            </a:solidFill>
            <a:prstDash val="solid"/>
          </a:ln>
        </p:spPr>
      </p:sp>
      <p:sp>
        <p:nvSpPr>
          <p:cNvPr id="65" name="Shape 63"/>
          <p:cNvSpPr/>
          <p:nvPr/>
        </p:nvSpPr>
        <p:spPr>
          <a:xfrm>
            <a:off x="5063490" y="3513410"/>
            <a:ext cx="79096" cy="32004"/>
          </a:xfrm>
          <a:prstGeom prst="rect">
            <a:avLst/>
          </a:prstGeom>
          <a:solidFill>
            <a:srgbClr val="1F3A5F"/>
          </a:solidFill>
          <a:ln w="12700">
            <a:solidFill>
              <a:srgbClr val="333333"/>
            </a:solidFill>
            <a:prstDash val="solid"/>
          </a:ln>
        </p:spPr>
      </p:sp>
      <p:sp>
        <p:nvSpPr>
          <p:cNvPr id="66" name="Shape 64"/>
          <p:cNvSpPr/>
          <p:nvPr/>
        </p:nvSpPr>
        <p:spPr>
          <a:xfrm>
            <a:off x="5138928" y="3603031"/>
            <a:ext cx="79096" cy="32004"/>
          </a:xfrm>
          <a:prstGeom prst="rect">
            <a:avLst/>
          </a:prstGeom>
          <a:solidFill>
            <a:srgbClr val="1F3A5F"/>
          </a:solidFill>
          <a:ln w="12700">
            <a:solidFill>
              <a:srgbClr val="333333"/>
            </a:solidFill>
            <a:prstDash val="solid"/>
          </a:ln>
        </p:spPr>
      </p:sp>
      <p:sp>
        <p:nvSpPr>
          <p:cNvPr id="67" name="Shape 65"/>
          <p:cNvSpPr/>
          <p:nvPr/>
        </p:nvSpPr>
        <p:spPr>
          <a:xfrm>
            <a:off x="5214366" y="3683441"/>
            <a:ext cx="79096" cy="32004"/>
          </a:xfrm>
          <a:prstGeom prst="rect">
            <a:avLst/>
          </a:prstGeom>
          <a:solidFill>
            <a:srgbClr val="1F3A5F"/>
          </a:solidFill>
          <a:ln w="12700">
            <a:solidFill>
              <a:srgbClr val="333333"/>
            </a:solidFill>
            <a:prstDash val="solid"/>
          </a:ln>
        </p:spPr>
      </p:sp>
      <p:sp>
        <p:nvSpPr>
          <p:cNvPr id="68" name="Shape 66"/>
          <p:cNvSpPr/>
          <p:nvPr/>
        </p:nvSpPr>
        <p:spPr>
          <a:xfrm>
            <a:off x="5289804" y="3754606"/>
            <a:ext cx="79096" cy="32004"/>
          </a:xfrm>
          <a:prstGeom prst="rect">
            <a:avLst/>
          </a:prstGeom>
          <a:solidFill>
            <a:srgbClr val="1F3A5F"/>
          </a:solidFill>
          <a:ln w="12700">
            <a:solidFill>
              <a:srgbClr val="333333"/>
            </a:solidFill>
            <a:prstDash val="solid"/>
          </a:ln>
        </p:spPr>
      </p:sp>
      <p:sp>
        <p:nvSpPr>
          <p:cNvPr id="69" name="Shape 67"/>
          <p:cNvSpPr/>
          <p:nvPr/>
        </p:nvSpPr>
        <p:spPr>
          <a:xfrm>
            <a:off x="5365242" y="3816754"/>
            <a:ext cx="79096" cy="32004"/>
          </a:xfrm>
          <a:prstGeom prst="rect">
            <a:avLst/>
          </a:prstGeom>
          <a:solidFill>
            <a:srgbClr val="1F3A5F"/>
          </a:solidFill>
          <a:ln w="12700">
            <a:solidFill>
              <a:srgbClr val="333333"/>
            </a:solidFill>
            <a:prstDash val="solid"/>
          </a:ln>
        </p:spPr>
      </p:sp>
      <p:sp>
        <p:nvSpPr>
          <p:cNvPr id="70" name="Shape 68"/>
          <p:cNvSpPr/>
          <p:nvPr/>
        </p:nvSpPr>
        <p:spPr>
          <a:xfrm>
            <a:off x="5440680" y="3870325"/>
            <a:ext cx="79096" cy="32004"/>
          </a:xfrm>
          <a:prstGeom prst="rect">
            <a:avLst/>
          </a:prstGeom>
          <a:solidFill>
            <a:srgbClr val="1F3A5F"/>
          </a:solidFill>
          <a:ln w="12700">
            <a:solidFill>
              <a:srgbClr val="333333"/>
            </a:solidFill>
            <a:prstDash val="solid"/>
          </a:ln>
        </p:spPr>
      </p:sp>
      <p:sp>
        <p:nvSpPr>
          <p:cNvPr id="71" name="Shape 69"/>
          <p:cNvSpPr/>
          <p:nvPr/>
        </p:nvSpPr>
        <p:spPr>
          <a:xfrm>
            <a:off x="5516118" y="3915918"/>
            <a:ext cx="79096" cy="32004"/>
          </a:xfrm>
          <a:prstGeom prst="rect">
            <a:avLst/>
          </a:prstGeom>
          <a:solidFill>
            <a:srgbClr val="1F3A5F"/>
          </a:solidFill>
          <a:ln w="12700">
            <a:solidFill>
              <a:srgbClr val="333333"/>
            </a:solidFill>
            <a:prstDash val="solid"/>
          </a:ln>
        </p:spPr>
      </p:sp>
      <p:sp>
        <p:nvSpPr>
          <p:cNvPr id="72" name="Shape 70"/>
          <p:cNvSpPr/>
          <p:nvPr/>
        </p:nvSpPr>
        <p:spPr>
          <a:xfrm>
            <a:off x="5591556" y="3954239"/>
            <a:ext cx="79096" cy="32004"/>
          </a:xfrm>
          <a:prstGeom prst="rect">
            <a:avLst/>
          </a:prstGeom>
          <a:solidFill>
            <a:srgbClr val="1F3A5F"/>
          </a:solidFill>
          <a:ln w="12700">
            <a:solidFill>
              <a:srgbClr val="333333"/>
            </a:solidFill>
            <a:prstDash val="solid"/>
          </a:ln>
        </p:spPr>
      </p:sp>
      <p:sp>
        <p:nvSpPr>
          <p:cNvPr id="73" name="Shape 71"/>
          <p:cNvSpPr/>
          <p:nvPr/>
        </p:nvSpPr>
        <p:spPr>
          <a:xfrm>
            <a:off x="5666994" y="3986053"/>
            <a:ext cx="79096" cy="32004"/>
          </a:xfrm>
          <a:prstGeom prst="rect">
            <a:avLst/>
          </a:prstGeom>
          <a:solidFill>
            <a:srgbClr val="1F3A5F"/>
          </a:solidFill>
          <a:ln w="12700">
            <a:solidFill>
              <a:srgbClr val="333333"/>
            </a:solidFill>
            <a:prstDash val="solid"/>
          </a:ln>
        </p:spPr>
      </p:sp>
      <p:sp>
        <p:nvSpPr>
          <p:cNvPr id="74" name="Shape 72"/>
          <p:cNvSpPr/>
          <p:nvPr/>
        </p:nvSpPr>
        <p:spPr>
          <a:xfrm>
            <a:off x="5742432" y="4012146"/>
            <a:ext cx="79096" cy="32004"/>
          </a:xfrm>
          <a:prstGeom prst="rect">
            <a:avLst/>
          </a:prstGeom>
          <a:solidFill>
            <a:srgbClr val="1F3A5F"/>
          </a:solidFill>
          <a:ln w="12700">
            <a:solidFill>
              <a:srgbClr val="333333"/>
            </a:solidFill>
            <a:prstDash val="solid"/>
          </a:ln>
        </p:spPr>
      </p:sp>
      <p:sp>
        <p:nvSpPr>
          <p:cNvPr id="75" name="Shape 73"/>
          <p:cNvSpPr/>
          <p:nvPr/>
        </p:nvSpPr>
        <p:spPr>
          <a:xfrm>
            <a:off x="5817870" y="4033293"/>
            <a:ext cx="79096" cy="32004"/>
          </a:xfrm>
          <a:prstGeom prst="rect">
            <a:avLst/>
          </a:prstGeom>
          <a:solidFill>
            <a:srgbClr val="1F3A5F"/>
          </a:solidFill>
          <a:ln w="12700">
            <a:solidFill>
              <a:srgbClr val="333333"/>
            </a:solidFill>
            <a:prstDash val="solid"/>
          </a:ln>
        </p:spPr>
      </p:sp>
      <p:sp>
        <p:nvSpPr>
          <p:cNvPr id="76" name="Shape 74"/>
          <p:cNvSpPr/>
          <p:nvPr/>
        </p:nvSpPr>
        <p:spPr>
          <a:xfrm>
            <a:off x="5893308" y="4050229"/>
            <a:ext cx="79096" cy="32004"/>
          </a:xfrm>
          <a:prstGeom prst="rect">
            <a:avLst/>
          </a:prstGeom>
          <a:solidFill>
            <a:srgbClr val="1F3A5F"/>
          </a:solidFill>
          <a:ln w="12700">
            <a:solidFill>
              <a:srgbClr val="333333"/>
            </a:solidFill>
            <a:prstDash val="solid"/>
          </a:ln>
        </p:spPr>
      </p:sp>
      <p:sp>
        <p:nvSpPr>
          <p:cNvPr id="77" name="Shape 75"/>
          <p:cNvSpPr/>
          <p:nvPr/>
        </p:nvSpPr>
        <p:spPr>
          <a:xfrm>
            <a:off x="5968746" y="4063634"/>
            <a:ext cx="79096" cy="32004"/>
          </a:xfrm>
          <a:prstGeom prst="rect">
            <a:avLst/>
          </a:prstGeom>
          <a:solidFill>
            <a:srgbClr val="1F3A5F"/>
          </a:solidFill>
          <a:ln w="12700">
            <a:solidFill>
              <a:srgbClr val="333333"/>
            </a:solidFill>
            <a:prstDash val="solid"/>
          </a:ln>
        </p:spPr>
      </p:sp>
      <p:sp>
        <p:nvSpPr>
          <p:cNvPr id="78" name="Shape 76"/>
          <p:cNvSpPr/>
          <p:nvPr/>
        </p:nvSpPr>
        <p:spPr>
          <a:xfrm>
            <a:off x="6044184" y="4074122"/>
            <a:ext cx="79096" cy="32004"/>
          </a:xfrm>
          <a:prstGeom prst="rect">
            <a:avLst/>
          </a:prstGeom>
          <a:solidFill>
            <a:srgbClr val="1F3A5F"/>
          </a:solidFill>
          <a:ln w="12700">
            <a:solidFill>
              <a:srgbClr val="333333"/>
            </a:solidFill>
            <a:prstDash val="solid"/>
          </a:ln>
        </p:spPr>
      </p:sp>
      <p:sp>
        <p:nvSpPr>
          <p:cNvPr id="79" name="Shape 77"/>
          <p:cNvSpPr/>
          <p:nvPr/>
        </p:nvSpPr>
        <p:spPr>
          <a:xfrm>
            <a:off x="6119622" y="4082234"/>
            <a:ext cx="79096" cy="32004"/>
          </a:xfrm>
          <a:prstGeom prst="rect">
            <a:avLst/>
          </a:prstGeom>
          <a:solidFill>
            <a:srgbClr val="1F3A5F"/>
          </a:solidFill>
          <a:ln w="12700">
            <a:solidFill>
              <a:srgbClr val="333333"/>
            </a:solidFill>
            <a:prstDash val="solid"/>
          </a:ln>
        </p:spPr>
      </p:sp>
      <p:sp>
        <p:nvSpPr>
          <p:cNvPr id="80" name="Shape 78"/>
          <p:cNvSpPr/>
          <p:nvPr/>
        </p:nvSpPr>
        <p:spPr>
          <a:xfrm>
            <a:off x="6195060" y="4088437"/>
            <a:ext cx="79096" cy="32004"/>
          </a:xfrm>
          <a:prstGeom prst="rect">
            <a:avLst/>
          </a:prstGeom>
          <a:solidFill>
            <a:srgbClr val="1F3A5F"/>
          </a:solidFill>
          <a:ln w="12700">
            <a:solidFill>
              <a:srgbClr val="333333"/>
            </a:solidFill>
            <a:prstDash val="solid"/>
          </a:ln>
        </p:spPr>
      </p:sp>
      <p:sp>
        <p:nvSpPr>
          <p:cNvPr id="81" name="Shape 79"/>
          <p:cNvSpPr/>
          <p:nvPr/>
        </p:nvSpPr>
        <p:spPr>
          <a:xfrm>
            <a:off x="6270498" y="4093126"/>
            <a:ext cx="79096" cy="32004"/>
          </a:xfrm>
          <a:prstGeom prst="rect">
            <a:avLst/>
          </a:prstGeom>
          <a:solidFill>
            <a:srgbClr val="1F3A5F"/>
          </a:solidFill>
          <a:ln w="12700">
            <a:solidFill>
              <a:srgbClr val="333333"/>
            </a:solidFill>
            <a:prstDash val="solid"/>
          </a:ln>
        </p:spPr>
      </p:sp>
      <p:sp>
        <p:nvSpPr>
          <p:cNvPr id="82" name="Shape 80"/>
          <p:cNvSpPr/>
          <p:nvPr/>
        </p:nvSpPr>
        <p:spPr>
          <a:xfrm>
            <a:off x="6345936" y="4096631"/>
            <a:ext cx="79096" cy="32004"/>
          </a:xfrm>
          <a:prstGeom prst="rect">
            <a:avLst/>
          </a:prstGeom>
          <a:solidFill>
            <a:srgbClr val="1F3A5F"/>
          </a:solidFill>
          <a:ln w="12700">
            <a:solidFill>
              <a:srgbClr val="333333"/>
            </a:solidFill>
            <a:prstDash val="solid"/>
          </a:ln>
        </p:spPr>
      </p:sp>
      <p:sp>
        <p:nvSpPr>
          <p:cNvPr id="83" name="Shape 81"/>
          <p:cNvSpPr/>
          <p:nvPr/>
        </p:nvSpPr>
        <p:spPr>
          <a:xfrm>
            <a:off x="6421374" y="4099222"/>
            <a:ext cx="79096" cy="32004"/>
          </a:xfrm>
          <a:prstGeom prst="rect">
            <a:avLst/>
          </a:prstGeom>
          <a:solidFill>
            <a:srgbClr val="1F3A5F"/>
          </a:solidFill>
          <a:ln w="12700">
            <a:solidFill>
              <a:srgbClr val="333333"/>
            </a:solidFill>
            <a:prstDash val="solid"/>
          </a:ln>
        </p:spPr>
      </p:sp>
      <p:sp>
        <p:nvSpPr>
          <p:cNvPr id="84" name="Shape 82"/>
          <p:cNvSpPr/>
          <p:nvPr/>
        </p:nvSpPr>
        <p:spPr>
          <a:xfrm>
            <a:off x="6496812" y="4101116"/>
            <a:ext cx="79096" cy="32004"/>
          </a:xfrm>
          <a:prstGeom prst="rect">
            <a:avLst/>
          </a:prstGeom>
          <a:solidFill>
            <a:srgbClr val="1F3A5F"/>
          </a:solidFill>
          <a:ln w="12700">
            <a:solidFill>
              <a:srgbClr val="333333"/>
            </a:solidFill>
            <a:prstDash val="solid"/>
          </a:ln>
        </p:spPr>
      </p:sp>
      <p:sp>
        <p:nvSpPr>
          <p:cNvPr id="85" name="Shape 83"/>
          <p:cNvSpPr/>
          <p:nvPr/>
        </p:nvSpPr>
        <p:spPr>
          <a:xfrm>
            <a:off x="6572250" y="4102485"/>
            <a:ext cx="79096" cy="32004"/>
          </a:xfrm>
          <a:prstGeom prst="rect">
            <a:avLst/>
          </a:prstGeom>
          <a:solidFill>
            <a:srgbClr val="1F3A5F"/>
          </a:solidFill>
          <a:ln w="12700">
            <a:solidFill>
              <a:srgbClr val="333333"/>
            </a:solidFill>
            <a:prstDash val="solid"/>
          </a:ln>
        </p:spPr>
      </p:sp>
      <p:sp>
        <p:nvSpPr>
          <p:cNvPr id="86" name="Shape 84"/>
          <p:cNvSpPr/>
          <p:nvPr/>
        </p:nvSpPr>
        <p:spPr>
          <a:xfrm>
            <a:off x="6647688" y="4103464"/>
            <a:ext cx="79096" cy="32004"/>
          </a:xfrm>
          <a:prstGeom prst="rect">
            <a:avLst/>
          </a:prstGeom>
          <a:solidFill>
            <a:srgbClr val="1F3A5F"/>
          </a:solidFill>
          <a:ln w="12700">
            <a:solidFill>
              <a:srgbClr val="333333"/>
            </a:solidFill>
            <a:prstDash val="solid"/>
          </a:ln>
        </p:spPr>
      </p:sp>
      <p:sp>
        <p:nvSpPr>
          <p:cNvPr id="87" name="Shape 85"/>
          <p:cNvSpPr/>
          <p:nvPr/>
        </p:nvSpPr>
        <p:spPr>
          <a:xfrm>
            <a:off x="6723126" y="4104156"/>
            <a:ext cx="79096" cy="32004"/>
          </a:xfrm>
          <a:prstGeom prst="rect">
            <a:avLst/>
          </a:prstGeom>
          <a:solidFill>
            <a:srgbClr val="1F3A5F"/>
          </a:solidFill>
          <a:ln w="12700">
            <a:solidFill>
              <a:srgbClr val="333333"/>
            </a:solidFill>
            <a:prstDash val="solid"/>
          </a:ln>
        </p:spPr>
      </p:sp>
      <p:sp>
        <p:nvSpPr>
          <p:cNvPr id="88" name="Shape 86"/>
          <p:cNvSpPr/>
          <p:nvPr/>
        </p:nvSpPr>
        <p:spPr>
          <a:xfrm>
            <a:off x="6798564" y="4104640"/>
            <a:ext cx="79096" cy="32004"/>
          </a:xfrm>
          <a:prstGeom prst="rect">
            <a:avLst/>
          </a:prstGeom>
          <a:solidFill>
            <a:srgbClr val="1F3A5F"/>
          </a:solidFill>
          <a:ln w="12700">
            <a:solidFill>
              <a:srgbClr val="333333"/>
            </a:solidFill>
            <a:prstDash val="solid"/>
          </a:ln>
        </p:spPr>
      </p:sp>
      <p:sp>
        <p:nvSpPr>
          <p:cNvPr id="89" name="Shape 87"/>
          <p:cNvSpPr/>
          <p:nvPr/>
        </p:nvSpPr>
        <p:spPr>
          <a:xfrm>
            <a:off x="6874002" y="4104975"/>
            <a:ext cx="79096" cy="32004"/>
          </a:xfrm>
          <a:prstGeom prst="rect">
            <a:avLst/>
          </a:prstGeom>
          <a:solidFill>
            <a:srgbClr val="1F3A5F"/>
          </a:solidFill>
          <a:ln w="12700">
            <a:solidFill>
              <a:srgbClr val="333333"/>
            </a:solidFill>
            <a:prstDash val="solid"/>
          </a:ln>
        </p:spPr>
      </p:sp>
      <p:sp>
        <p:nvSpPr>
          <p:cNvPr id="90" name="Text 88"/>
          <p:cNvSpPr txBox="1"/>
          <p:nvPr/>
        </p:nvSpPr>
        <p:spPr>
          <a:xfrm>
            <a:off x="139446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−3σ</a:t>
            </a:r>
            <a:endParaRPr lang="en-US" sz="950" dirty="0"/>
          </a:p>
        </p:txBody>
      </p:sp>
      <p:sp>
        <p:nvSpPr>
          <p:cNvPr id="91" name="Text 89"/>
          <p:cNvSpPr txBox="1"/>
          <p:nvPr/>
        </p:nvSpPr>
        <p:spPr>
          <a:xfrm>
            <a:off x="214884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−2σ</a:t>
            </a:r>
            <a:endParaRPr lang="en-US" sz="950" dirty="0"/>
          </a:p>
        </p:txBody>
      </p:sp>
      <p:sp>
        <p:nvSpPr>
          <p:cNvPr id="92" name="Text 90"/>
          <p:cNvSpPr txBox="1"/>
          <p:nvPr/>
        </p:nvSpPr>
        <p:spPr>
          <a:xfrm>
            <a:off x="290322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−1σ</a:t>
            </a:r>
            <a:endParaRPr lang="en-US" sz="950" dirty="0"/>
          </a:p>
        </p:txBody>
      </p:sp>
      <p:sp>
        <p:nvSpPr>
          <p:cNvPr id="93" name="Text 91"/>
          <p:cNvSpPr txBox="1"/>
          <p:nvPr/>
        </p:nvSpPr>
        <p:spPr>
          <a:xfrm>
            <a:off x="365760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μ</a:t>
            </a:r>
            <a:endParaRPr lang="en-US" sz="950" dirty="0"/>
          </a:p>
        </p:txBody>
      </p:sp>
      <p:sp>
        <p:nvSpPr>
          <p:cNvPr id="94" name="Text 92"/>
          <p:cNvSpPr txBox="1"/>
          <p:nvPr/>
        </p:nvSpPr>
        <p:spPr>
          <a:xfrm>
            <a:off x="441198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+1σ</a:t>
            </a:r>
            <a:endParaRPr lang="en-US" sz="950" dirty="0"/>
          </a:p>
        </p:txBody>
      </p:sp>
      <p:sp>
        <p:nvSpPr>
          <p:cNvPr id="95" name="Text 93"/>
          <p:cNvSpPr txBox="1"/>
          <p:nvPr/>
        </p:nvSpPr>
        <p:spPr>
          <a:xfrm>
            <a:off x="516636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+2σ</a:t>
            </a:r>
            <a:endParaRPr lang="en-US" sz="950" dirty="0"/>
          </a:p>
        </p:txBody>
      </p:sp>
      <p:sp>
        <p:nvSpPr>
          <p:cNvPr id="96" name="Text 94"/>
          <p:cNvSpPr txBox="1"/>
          <p:nvPr/>
        </p:nvSpPr>
        <p:spPr>
          <a:xfrm>
            <a:off x="5920740" y="4206240"/>
            <a:ext cx="548640" cy="219456"/>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+3σ</a:t>
            </a:r>
            <a:endParaRPr lang="en-US" sz="950" dirty="0"/>
          </a:p>
        </p:txBody>
      </p:sp>
      <p:sp>
        <p:nvSpPr>
          <p:cNvPr id="97" name="Shape 95"/>
          <p:cNvSpPr/>
          <p:nvPr/>
        </p:nvSpPr>
        <p:spPr>
          <a:xfrm>
            <a:off x="1234440" y="4498848"/>
            <a:ext cx="237744" cy="237744"/>
          </a:xfrm>
          <a:prstGeom prst="roundRect">
            <a:avLst>
              <a:gd name="adj" fmla="val 15385"/>
            </a:avLst>
          </a:prstGeom>
          <a:solidFill>
            <a:srgbClr val="2FA98C"/>
          </a:solidFill>
          <a:ln w="12700">
            <a:solidFill>
              <a:srgbClr val="333333"/>
            </a:solidFill>
            <a:prstDash val="solid"/>
          </a:ln>
        </p:spPr>
      </p:sp>
      <p:sp>
        <p:nvSpPr>
          <p:cNvPr id="98" name="Text 96"/>
          <p:cNvSpPr txBox="1"/>
          <p:nvPr/>
        </p:nvSpPr>
        <p:spPr>
          <a:xfrm>
            <a:off x="1563624" y="4462272"/>
            <a:ext cx="7772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68%</a:t>
            </a:r>
            <a:endParaRPr lang="en-US" sz="1400" dirty="0"/>
          </a:p>
        </p:txBody>
      </p:sp>
      <p:sp>
        <p:nvSpPr>
          <p:cNvPr id="99" name="Text 97"/>
          <p:cNvSpPr txBox="1"/>
          <p:nvPr/>
        </p:nvSpPr>
        <p:spPr>
          <a:xfrm>
            <a:off x="2313432" y="4489704"/>
            <a:ext cx="9144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within 1σ</a:t>
            </a:r>
            <a:endParaRPr lang="en-US" sz="1150" dirty="0"/>
          </a:p>
        </p:txBody>
      </p:sp>
      <p:sp>
        <p:nvSpPr>
          <p:cNvPr id="100" name="Shape 98"/>
          <p:cNvSpPr/>
          <p:nvPr/>
        </p:nvSpPr>
        <p:spPr>
          <a:xfrm>
            <a:off x="3200400" y="4498848"/>
            <a:ext cx="237744" cy="237744"/>
          </a:xfrm>
          <a:prstGeom prst="roundRect">
            <a:avLst>
              <a:gd name="adj" fmla="val 15385"/>
            </a:avLst>
          </a:prstGeom>
          <a:solidFill>
            <a:srgbClr val="FFC145"/>
          </a:solidFill>
          <a:ln w="12700">
            <a:solidFill>
              <a:srgbClr val="333333"/>
            </a:solidFill>
            <a:prstDash val="solid"/>
          </a:ln>
        </p:spPr>
      </p:sp>
      <p:sp>
        <p:nvSpPr>
          <p:cNvPr id="101" name="Text 99"/>
          <p:cNvSpPr txBox="1"/>
          <p:nvPr/>
        </p:nvSpPr>
        <p:spPr>
          <a:xfrm>
            <a:off x="3529584" y="4462272"/>
            <a:ext cx="777240" cy="274320"/>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95%</a:t>
            </a:r>
            <a:endParaRPr lang="en-US" sz="1400" dirty="0"/>
          </a:p>
        </p:txBody>
      </p:sp>
      <p:sp>
        <p:nvSpPr>
          <p:cNvPr id="102" name="Text 100"/>
          <p:cNvSpPr txBox="1"/>
          <p:nvPr/>
        </p:nvSpPr>
        <p:spPr>
          <a:xfrm>
            <a:off x="4279392" y="4489704"/>
            <a:ext cx="9144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within 2σ</a:t>
            </a:r>
            <a:endParaRPr lang="en-US" sz="1150" dirty="0"/>
          </a:p>
        </p:txBody>
      </p:sp>
      <p:sp>
        <p:nvSpPr>
          <p:cNvPr id="103" name="Shape 101"/>
          <p:cNvSpPr/>
          <p:nvPr/>
        </p:nvSpPr>
        <p:spPr>
          <a:xfrm>
            <a:off x="5166360" y="4498848"/>
            <a:ext cx="237744" cy="237744"/>
          </a:xfrm>
          <a:prstGeom prst="roundRect">
            <a:avLst>
              <a:gd name="adj" fmla="val 15385"/>
            </a:avLst>
          </a:prstGeom>
          <a:solidFill>
            <a:srgbClr val="E8674C"/>
          </a:solidFill>
          <a:ln w="12700">
            <a:solidFill>
              <a:srgbClr val="333333"/>
            </a:solidFill>
            <a:prstDash val="solid"/>
          </a:ln>
        </p:spPr>
      </p:sp>
      <p:sp>
        <p:nvSpPr>
          <p:cNvPr id="104" name="Text 102"/>
          <p:cNvSpPr txBox="1"/>
          <p:nvPr/>
        </p:nvSpPr>
        <p:spPr>
          <a:xfrm>
            <a:off x="5495544" y="4462272"/>
            <a:ext cx="7772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99.7%</a:t>
            </a:r>
            <a:endParaRPr lang="en-US" sz="1400" dirty="0"/>
          </a:p>
        </p:txBody>
      </p:sp>
      <p:sp>
        <p:nvSpPr>
          <p:cNvPr id="105" name="Text 103"/>
          <p:cNvSpPr txBox="1"/>
          <p:nvPr/>
        </p:nvSpPr>
        <p:spPr>
          <a:xfrm>
            <a:off x="6245352" y="4489704"/>
            <a:ext cx="9144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within 3σ</a:t>
            </a:r>
            <a:endParaRPr lang="en-US" sz="1150" dirty="0"/>
          </a:p>
        </p:txBody>
      </p:sp>
      <p:sp>
        <p:nvSpPr>
          <p:cNvPr id="106" name="Shape 104"/>
          <p:cNvSpPr/>
          <p:nvPr/>
        </p:nvSpPr>
        <p:spPr>
          <a:xfrm>
            <a:off x="7589520" y="1572768"/>
            <a:ext cx="4023360" cy="3200400"/>
          </a:xfrm>
          <a:prstGeom prst="roundRect">
            <a:avLst>
              <a:gd name="adj" fmla="val 257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7" name="Text 105"/>
          <p:cNvSpPr txBox="1"/>
          <p:nvPr/>
        </p:nvSpPr>
        <p:spPr>
          <a:xfrm>
            <a:off x="7845552" y="1719072"/>
            <a:ext cx="35661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exact figures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845552" y="2103120"/>
          <a:ext cx="3520440" cy="914400"/>
        </p:xfrm>
        <a:graphic>
          <a:graphicData uri="http://schemas.openxmlformats.org/drawingml/2006/table">
            <a:tbl>
              <a:tblPr/>
              <a:tblGrid>
                <a:gridCol w="1005840"/>
                <a:gridCol w="1371600"/>
                <a:gridCol w="11430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Within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Exactly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Outside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1σ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68.27%</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1 in 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2σ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95.45%</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1 in 22</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3σ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99.73%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1 in 370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09" name="Text 106"/>
          <p:cNvSpPr txBox="1"/>
          <p:nvPr/>
        </p:nvSpPr>
        <p:spPr>
          <a:xfrm>
            <a:off x="7845552" y="3520440"/>
            <a:ext cx="3520440" cy="91440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“outside” column is the useful one. A 2σ event happens about once in 22 — unusual, not remarkable. A 3σ event is once in 370.</a:t>
            </a:r>
            <a:endParaRPr lang="en-US" sz="1200" dirty="0"/>
          </a:p>
        </p:txBody>
      </p:sp>
      <p:sp>
        <p:nvSpPr>
          <p:cNvPr id="110" name="Shape 107"/>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1" name="Text 108"/>
          <p:cNvSpPr txBox="1"/>
          <p:nvPr/>
        </p:nvSpPr>
        <p:spPr>
          <a:xfrm>
            <a:off x="868680" y="5120640"/>
            <a:ext cx="10424160" cy="594360"/>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Use it as a mental ruler.  </a:t>
            </a:r>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If the mean commute is 32 minutes with an SD of 6, then a 50-minute journey is 3σ out — roughly a once-in-370-days event. You can say that in a meeting without opening a laptop, and it is usually the only calculation anyone needs.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Z-scores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standard deviation as a ruler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formula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Comparing unlike things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cdf and ppf</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1.96</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STANDARDISING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One formula, and what it buys you</a:t>
            </a:r>
            <a:endParaRPr lang="en-US" sz="3200" dirty="0"/>
          </a:p>
        </p:txBody>
      </p:sp>
      <p:sp>
        <p:nvSpPr>
          <p:cNvPr id="5" name="Shape 3"/>
          <p:cNvSpPr/>
          <p:nvPr/>
        </p:nvSpPr>
        <p:spPr>
          <a:xfrm>
            <a:off x="548640" y="1572768"/>
            <a:ext cx="576072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formula</a:t>
            </a:r>
            <a:endParaRPr lang="en-US" sz="1450" dirty="0"/>
          </a:p>
        </p:txBody>
      </p:sp>
      <p:sp>
        <p:nvSpPr>
          <p:cNvPr id="7" name="Text 5"/>
          <p:cNvSpPr txBox="1"/>
          <p:nvPr/>
        </p:nvSpPr>
        <p:spPr>
          <a:xfrm>
            <a:off x="804672" y="2103120"/>
            <a:ext cx="5257800" cy="457200"/>
          </a:xfrm>
          <a:prstGeom prst="rect">
            <a:avLst/>
          </a:prstGeom>
          <a:noFill/>
          <a:ln/>
        </p:spPr>
        <p:txBody>
          <a:bodyPr wrap="square" lIns="0" tIns="0" rIns="0" bIns="0" rtlCol="0" anchor="ctr"/>
          <a:lstStyle/>
          <a:p>
            <a:pPr algn="ctr" indent="0" marL="0">
              <a:buNone/>
            </a:pPr>
            <a:r>
              <a:rPr lang="en-US" sz="2200" b="1" dirty="0">
                <a:solidFill>
                  <a:srgbClr val="1F3A5F"/>
                </a:solidFill>
                <a:latin typeface="Cambria" pitchFamily="34" charset="0"/>
                <a:ea typeface="Cambria" pitchFamily="34" charset="-122"/>
                <a:cs typeface="Cambria" pitchFamily="34" charset="-120"/>
              </a:rPr>
              <a:t>z  =  ( value − μ )  /  σ</a:t>
            </a:r>
            <a:endParaRPr lang="en-US" sz="2200" dirty="0"/>
          </a:p>
        </p:txBody>
      </p:sp>
      <p:sp>
        <p:nvSpPr>
          <p:cNvPr id="8" name="Text 6"/>
          <p:cNvSpPr txBox="1"/>
          <p:nvPr/>
        </p:nvSpPr>
        <p:spPr>
          <a:xfrm>
            <a:off x="804672" y="2633472"/>
            <a:ext cx="5257800" cy="365760"/>
          </a:xfrm>
          <a:prstGeom prst="rect">
            <a:avLst/>
          </a:prstGeom>
          <a:noFill/>
          <a:ln/>
        </p:spPr>
        <p:txBody>
          <a:bodyPr wrap="square" lIns="0" tIns="0" rIns="0" bIns="0" rtlCol="0" anchor="ctr"/>
          <a:lstStyle/>
          <a:p>
            <a:pPr algn="ctr" indent="0" marL="0">
              <a:buNone/>
            </a:pPr>
            <a:r>
              <a:rPr lang="en-US" sz="1250" i="1" dirty="0">
                <a:solidFill>
                  <a:srgbClr val="6B7789"/>
                </a:solidFill>
                <a:latin typeface="Calibri" pitchFamily="34" charset="0"/>
                <a:ea typeface="Calibri" pitchFamily="34" charset="-122"/>
                <a:cs typeface="Calibri" pitchFamily="34" charset="-120"/>
              </a:rPr>
              <a:t>“How many standard deviations above or below the mean is this?”</a:t>
            </a:r>
            <a:endParaRPr lang="en-US" sz="1250" dirty="0"/>
          </a:p>
        </p:txBody>
      </p:sp>
      <p:sp>
        <p:nvSpPr>
          <p:cNvPr id="9" name="Shape 7"/>
          <p:cNvSpPr/>
          <p:nvPr/>
        </p:nvSpPr>
        <p:spPr>
          <a:xfrm>
            <a:off x="804672" y="3090672"/>
            <a:ext cx="5257800" cy="640080"/>
          </a:xfrm>
          <a:prstGeom prst="roundRect">
            <a:avLst>
              <a:gd name="adj" fmla="val 10000"/>
            </a:avLst>
          </a:prstGeom>
          <a:solidFill>
            <a:srgbClr val="1B2B45"/>
          </a:solidFill>
          <a:ln w="12700">
            <a:solidFill>
              <a:srgbClr val="1B2B45"/>
            </a:solidFill>
            <a:prstDash val="solid"/>
          </a:ln>
        </p:spPr>
      </p:sp>
      <p:sp>
        <p:nvSpPr>
          <p:cNvPr id="10" name="Text 8"/>
          <p:cNvSpPr txBox="1"/>
          <p:nvPr/>
        </p:nvSpPr>
        <p:spPr>
          <a:xfrm>
            <a:off x="969264" y="3200400"/>
            <a:ext cx="4928616" cy="4206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z = (s - s.mean()) / s.std()</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the whole column at once — Day 13</a:t>
            </a:r>
            <a:endParaRPr lang="en-US" sz="1000" dirty="0"/>
          </a:p>
        </p:txBody>
      </p:sp>
      <p:sp>
        <p:nvSpPr>
          <p:cNvPr id="11" name="Shape 9"/>
          <p:cNvSpPr/>
          <p:nvPr/>
        </p:nvSpPr>
        <p:spPr>
          <a:xfrm>
            <a:off x="6583680" y="1572768"/>
            <a:ext cx="502920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What standardising does</a:t>
            </a:r>
            <a:endParaRPr lang="en-US" sz="1450" dirty="0"/>
          </a:p>
        </p:txBody>
      </p:sp>
      <p:sp>
        <p:nvSpPr>
          <p:cNvPr id="13" name="Shape 11"/>
          <p:cNvSpPr/>
          <p:nvPr/>
        </p:nvSpPr>
        <p:spPr>
          <a:xfrm>
            <a:off x="6839712" y="2103120"/>
            <a:ext cx="4526280" cy="960120"/>
          </a:xfrm>
          <a:prstGeom prst="roundRect">
            <a:avLst>
              <a:gd name="adj" fmla="val 6667"/>
            </a:avLst>
          </a:prstGeom>
          <a:solidFill>
            <a:srgbClr val="1B2B45"/>
          </a:solidFill>
          <a:ln w="12700">
            <a:solidFill>
              <a:srgbClr val="1B2B45"/>
            </a:solidFill>
            <a:prstDash val="solid"/>
          </a:ln>
        </p:spPr>
      </p:sp>
      <p:sp>
        <p:nvSpPr>
          <p:cNvPr id="14" name="Text 12"/>
          <p:cNvSpPr txBox="1"/>
          <p:nvPr/>
        </p:nvSpPr>
        <p:spPr>
          <a:xfrm>
            <a:off x="7004304" y="2212848"/>
            <a:ext cx="4197096" cy="7406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 mean 100.0  sd 15.00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b: mean   5.0  sd  0.20</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after z:  BOTH become mean 0, sd 1</a:t>
            </a:r>
            <a:endParaRPr lang="en-US" sz="950" dirty="0"/>
          </a:p>
        </p:txBody>
      </p:sp>
      <p:sp>
        <p:nvSpPr>
          <p:cNvPr id="15" name="Text 13"/>
          <p:cNvSpPr txBox="1"/>
          <p:nvPr/>
        </p:nvSpPr>
        <p:spPr>
          <a:xfrm>
            <a:off x="6839712" y="3200400"/>
            <a:ext cx="4526280" cy="548640"/>
          </a:xfrm>
          <a:prstGeom prst="rect">
            <a:avLst/>
          </a:prstGeom>
          <a:noFill/>
          <a:ln/>
        </p:spPr>
        <p:txBody>
          <a:bodyPr wrap="square" lIns="0" tIns="0" rIns="0" bIns="0" rtlCol="0" anchor="ctr"/>
          <a:lstStyle/>
          <a:p>
            <a:pPr indent="0" marL="0">
              <a:lnSpc>
                <a:spcPct val="115000"/>
              </a:lnSpc>
              <a:buNone/>
            </a:pPr>
            <a:r>
              <a:rPr lang="en-US" sz="1200" dirty="0">
                <a:solidFill>
                  <a:srgbClr val="1C6F5C"/>
                </a:solidFill>
                <a:latin typeface="Calibri" pitchFamily="34" charset="0"/>
                <a:ea typeface="Calibri" pitchFamily="34" charset="-122"/>
                <a:cs typeface="Calibri" pitchFamily="34" charset="-120"/>
              </a:rPr>
              <a:t>Any normal distribution becomes the SAME one. Different units, different scales, same ruler.</a:t>
            </a:r>
            <a:endParaRPr lang="en-US" sz="1200" dirty="0"/>
          </a:p>
        </p:txBody>
      </p:sp>
      <p:sp>
        <p:nvSpPr>
          <p:cNvPr id="16" name="Shape 14"/>
          <p:cNvSpPr/>
          <p:nvPr/>
        </p:nvSpPr>
        <p:spPr>
          <a:xfrm>
            <a:off x="548640" y="3977640"/>
            <a:ext cx="11064240" cy="1874520"/>
          </a:xfrm>
          <a:prstGeom prst="roundRect">
            <a:avLst>
              <a:gd name="adj" fmla="val 439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868680" y="4123944"/>
            <a:ext cx="82296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payoff: comparing things that cannot otherwise be compared</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68680" y="4462272"/>
          <a:ext cx="10515600" cy="914400"/>
        </p:xfrm>
        <a:graphic>
          <a:graphicData uri="http://schemas.openxmlformats.org/drawingml/2006/table">
            <a:tbl>
              <a:tblPr/>
              <a:tblGrid>
                <a:gridCol w="1371600"/>
                <a:gridCol w="1554480"/>
                <a:gridCol w="1645920"/>
                <a:gridCol w="1371600"/>
                <a:gridCol w="914400"/>
                <a:gridCol w="36576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Your mark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 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 SD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Maths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78</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better than ~84% of the class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Physics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better than ~98% of the class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9" name="Text 16"/>
          <p:cNvSpPr txBox="1"/>
          <p:nvPr/>
        </p:nvSpPr>
        <p:spPr>
          <a:xfrm>
            <a:off x="868680" y="5486400"/>
            <a:ext cx="10424160" cy="274320"/>
          </a:xfrm>
          <a:prstGeom prst="rect">
            <a:avLst/>
          </a:prstGeom>
          <a:noFill/>
          <a:ln/>
        </p:spPr>
        <p:txBody>
          <a:bodyPr wrap="square" lIns="0" tIns="0" rIns="0" bIns="0" rtlCol="0" anchor="ctr"/>
          <a:lstStyle/>
          <a:p>
            <a:pPr indent="0" marL="0">
              <a:buNone/>
            </a:pPr>
            <a:r>
              <a:rPr lang="en-US" sz="1250" b="1" dirty="0">
                <a:solidFill>
                  <a:srgbClr val="8A5B00"/>
                </a:solidFill>
                <a:latin typeface="Calibri" pitchFamily="34" charset="0"/>
                <a:ea typeface="Calibri" pitchFamily="34" charset="-122"/>
                <a:cs typeface="Calibri" pitchFamily="34" charset="-120"/>
              </a:rPr>
              <a:t>The lower raw mark is the better performance. Without z-scores you cannot see that at all.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cdf AND ppf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From a z-score to a probability, and back</a:t>
            </a:r>
            <a:endParaRPr lang="en-US" sz="3200" dirty="0"/>
          </a:p>
        </p:txBody>
      </p:sp>
      <p:sp>
        <p:nvSpPr>
          <p:cNvPr id="5" name="Shape 3"/>
          <p:cNvSpPr/>
          <p:nvPr/>
        </p:nvSpPr>
        <p:spPr>
          <a:xfrm>
            <a:off x="548640" y="1572768"/>
            <a:ext cx="57607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cdf  —  value in, probability out</a:t>
            </a:r>
            <a:endParaRPr lang="en-US" sz="1400" dirty="0"/>
          </a:p>
        </p:txBody>
      </p:sp>
      <p:sp>
        <p:nvSpPr>
          <p:cNvPr id="7" name="Shape 5"/>
          <p:cNvSpPr/>
          <p:nvPr/>
        </p:nvSpPr>
        <p:spPr>
          <a:xfrm>
            <a:off x="804672" y="2084832"/>
            <a:ext cx="5257800" cy="1600200"/>
          </a:xfrm>
          <a:prstGeom prst="roundRect">
            <a:avLst>
              <a:gd name="adj" fmla="val 4000"/>
            </a:avLst>
          </a:prstGeom>
          <a:solidFill>
            <a:srgbClr val="1B2B45"/>
          </a:solidFill>
          <a:ln w="12700">
            <a:solidFill>
              <a:srgbClr val="1B2B45"/>
            </a:solidFill>
            <a:prstDash val="solid"/>
          </a:ln>
        </p:spPr>
      </p:sp>
      <p:sp>
        <p:nvSpPr>
          <p:cNvPr id="8" name="Text 6"/>
          <p:cNvSpPr txBox="1"/>
          <p:nvPr/>
        </p:nvSpPr>
        <p:spPr>
          <a:xfrm>
            <a:off x="969264" y="2194560"/>
            <a:ext cx="492861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from scipy import stats</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IQ: mean 100, sd 15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stats.norm.cdf(130, 100, 15)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0.9772       97.72% score BELOW 130</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1 - stats.norm.cdf(130, 100, 15)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0.0228        2.28% score ABOVE</a:t>
            </a:r>
            <a:endParaRPr lang="en-US" sz="950" dirty="0"/>
          </a:p>
        </p:txBody>
      </p:sp>
      <p:sp>
        <p:nvSpPr>
          <p:cNvPr id="9" name="Text 7"/>
          <p:cNvSpPr txBox="1"/>
          <p:nvPr/>
        </p:nvSpPr>
        <p:spPr>
          <a:xfrm>
            <a:off x="804672" y="3749040"/>
            <a:ext cx="5257800" cy="27432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“What fraction is below this value?”</a:t>
            </a:r>
            <a:endParaRPr lang="en-US" sz="1200" dirty="0"/>
          </a:p>
        </p:txBody>
      </p:sp>
      <p:sp>
        <p:nvSpPr>
          <p:cNvPr id="10" name="Shape 8"/>
          <p:cNvSpPr/>
          <p:nvPr/>
        </p:nvSpPr>
        <p:spPr>
          <a:xfrm>
            <a:off x="6583680" y="1572768"/>
            <a:ext cx="50292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ppf  —  probability in, value out</a:t>
            </a:r>
            <a:endParaRPr lang="en-US" sz="1400" dirty="0"/>
          </a:p>
        </p:txBody>
      </p:sp>
      <p:sp>
        <p:nvSpPr>
          <p:cNvPr id="12" name="Shape 10"/>
          <p:cNvSpPr/>
          <p:nvPr/>
        </p:nvSpPr>
        <p:spPr>
          <a:xfrm>
            <a:off x="6839712" y="2084832"/>
            <a:ext cx="4526280" cy="1600200"/>
          </a:xfrm>
          <a:prstGeom prst="roundRect">
            <a:avLst>
              <a:gd name="adj" fmla="val 4000"/>
            </a:avLst>
          </a:prstGeom>
          <a:solidFill>
            <a:srgbClr val="1B2B45"/>
          </a:solidFill>
          <a:ln w="12700">
            <a:solidFill>
              <a:srgbClr val="1B2B45"/>
            </a:solidFill>
            <a:prstDash val="solid"/>
          </a:ln>
        </p:spPr>
      </p:sp>
      <p:sp>
        <p:nvSpPr>
          <p:cNvPr id="13" name="Text 11"/>
          <p:cNvSpPr txBox="1"/>
          <p:nvPr/>
        </p:nvSpPr>
        <p:spPr>
          <a:xfrm>
            <a:off x="7004304" y="2194560"/>
            <a:ext cx="419709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stats.norm.ppf(0.95, 100, 15)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124.67</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the 95th percentile</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stats.norm.ppf(0.99, 100, 15)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134.90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the top 1% starts here</a:t>
            </a:r>
            <a:endParaRPr lang="en-US" sz="950" dirty="0"/>
          </a:p>
        </p:txBody>
      </p:sp>
      <p:sp>
        <p:nvSpPr>
          <p:cNvPr id="14" name="Text 12"/>
          <p:cNvSpPr txBox="1"/>
          <p:nvPr/>
        </p:nvSpPr>
        <p:spPr>
          <a:xfrm>
            <a:off x="6839712" y="3749040"/>
            <a:ext cx="4526280" cy="411480"/>
          </a:xfrm>
          <a:prstGeom prst="rect">
            <a:avLst/>
          </a:prstGeom>
          <a:noFill/>
          <a:ln/>
        </p:spPr>
        <p:txBody>
          <a:bodyPr wrap="square" lIns="0" tIns="0" rIns="0" bIns="0" rtlCol="0" anchor="ctr"/>
          <a:lstStyle/>
          <a:p>
            <a:pPr indent="0" marL="0">
              <a:buNone/>
            </a:pPr>
            <a:r>
              <a:rPr lang="en-US" sz="1200" i="1" dirty="0">
                <a:solidFill>
                  <a:srgbClr val="1C6F5C"/>
                </a:solidFill>
                <a:latin typeface="Calibri" pitchFamily="34" charset="0"/>
                <a:ea typeface="Calibri" pitchFamily="34" charset="-122"/>
                <a:cs typeface="Calibri" pitchFamily="34" charset="-120"/>
              </a:rPr>
              <a:t>“What value sits at this percentile?”  ppf is the inverse of cdf.</a:t>
            </a:r>
            <a:endParaRPr lang="en-US" sz="1200" dirty="0"/>
          </a:p>
        </p:txBody>
      </p:sp>
      <p:sp>
        <p:nvSpPr>
          <p:cNvPr id="15" name="Shape 13"/>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489704"/>
            <a:ext cx="77724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number you will meet for the rest of this module</a:t>
            </a:r>
            <a:endParaRPr lang="en-US" sz="1450" dirty="0"/>
          </a:p>
        </p:txBody>
      </p:sp>
      <p:sp>
        <p:nvSpPr>
          <p:cNvPr id="17" name="Shape 15"/>
          <p:cNvSpPr/>
          <p:nvPr/>
        </p:nvSpPr>
        <p:spPr>
          <a:xfrm>
            <a:off x="868680" y="4800600"/>
            <a:ext cx="5212080" cy="685800"/>
          </a:xfrm>
          <a:prstGeom prst="roundRect">
            <a:avLst>
              <a:gd name="adj" fmla="val 9333"/>
            </a:avLst>
          </a:prstGeom>
          <a:solidFill>
            <a:srgbClr val="1B2B45"/>
          </a:solidFill>
          <a:ln w="12700">
            <a:solidFill>
              <a:srgbClr val="1B2B45"/>
            </a:solidFill>
            <a:prstDash val="solid"/>
          </a:ln>
        </p:spPr>
      </p:sp>
      <p:sp>
        <p:nvSpPr>
          <p:cNvPr id="18" name="Text 16"/>
          <p:cNvSpPr txBox="1"/>
          <p:nvPr/>
        </p:nvSpPr>
        <p:spPr>
          <a:xfrm>
            <a:off x="1033272" y="4910328"/>
            <a:ext cx="4882896" cy="4663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stats.norm.ppf(0.975)   -&gt;   1.9600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stats.norm.ppf(0.95)    -&gt;   1.6449</a:t>
            </a:r>
            <a:endParaRPr lang="en-US" sz="1050" dirty="0"/>
          </a:p>
        </p:txBody>
      </p:sp>
      <p:sp>
        <p:nvSpPr>
          <p:cNvPr id="19" name="Text 17"/>
          <p:cNvSpPr txBox="1"/>
          <p:nvPr/>
        </p:nvSpPr>
        <p:spPr>
          <a:xfrm>
            <a:off x="6400800" y="4782312"/>
            <a:ext cx="4983480" cy="91440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1.96 is the z-score with 2.5% of the curve beyond it on each side, leaving 95% in the middle. It is where “95% confidence interval” comes from, and you will see it in every formula from Day 29 onwards. It is not a magic number — it is just ppf(0.975).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 When It Does Not Apply</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assumption that quietly breaks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Skewed data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coincidence trap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How to check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THE LIMIT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Apply the rule to salaries and watch it fail</a:t>
            </a:r>
            <a:endParaRPr lang="en-US" sz="3200" dirty="0"/>
          </a:p>
        </p:txBody>
      </p:sp>
      <p:sp>
        <p:nvSpPr>
          <p:cNvPr id="5" name="Shape 3"/>
          <p:cNvSpPr/>
          <p:nvPr/>
        </p:nvSpPr>
        <p:spPr>
          <a:xfrm>
            <a:off x="548640" y="1572768"/>
            <a:ext cx="6766560" cy="2926080"/>
          </a:xfrm>
          <a:prstGeom prst="roundRect">
            <a:avLst>
              <a:gd name="adj" fmla="val 281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19072"/>
            <a:ext cx="6035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1,000 salaries, skew 4.29</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2084832"/>
          <a:ext cx="6080760" cy="914400"/>
        </p:xfrm>
        <a:graphic>
          <a:graphicData uri="http://schemas.openxmlformats.org/drawingml/2006/table">
            <a:tbl>
              <a:tblPr/>
              <a:tblGrid>
                <a:gridCol w="1828800"/>
                <a:gridCol w="1463040"/>
                <a:gridCol w="1371600"/>
                <a:gridCol w="141732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Normal says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Reality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within 1σ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68.3%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95.0%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badly wrong</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within 2σ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95.4%</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95.0%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right — by luck</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below the mean</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93.3%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badly wrong</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beyond +3σ</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33x too many</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95th percentile</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194,667</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78,502</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off by 116,000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8" name="Text 5"/>
          <p:cNvSpPr txBox="1"/>
          <p:nvPr/>
        </p:nvSpPr>
        <p:spPr>
          <a:xfrm>
            <a:off x="822960" y="4114800"/>
            <a:ext cx="6080760" cy="274320"/>
          </a:xfrm>
          <a:prstGeom prst="rect">
            <a:avLst/>
          </a:prstGeom>
          <a:noFill/>
          <a:ln/>
        </p:spPr>
        <p:txBody>
          <a:bodyPr wrap="square" lIns="0" tIns="0" rIns="0" bIns="0" rtlCol="0" anchor="ctr"/>
          <a:lstStyle/>
          <a:p>
            <a:pPr indent="0" marL="0">
              <a:buNone/>
            </a:pPr>
            <a:r>
              <a:rPr lang="en-US" sz="1250" b="1" dirty="0">
                <a:solidFill>
                  <a:srgbClr val="A63B24"/>
                </a:solidFill>
                <a:latin typeface="Calibri" pitchFamily="34" charset="0"/>
                <a:ea typeface="Calibri" pitchFamily="34" charset="-122"/>
                <a:cs typeface="Calibri" pitchFamily="34" charset="-120"/>
              </a:rPr>
              <a:t>mean − 2σ  =  −93,758  —  a negative salary</a:t>
            </a:r>
            <a:endParaRPr lang="en-US" sz="1250" dirty="0"/>
          </a:p>
        </p:txBody>
      </p:sp>
      <p:sp>
        <p:nvSpPr>
          <p:cNvPr id="9" name="Shape 6"/>
          <p:cNvSpPr/>
          <p:nvPr/>
        </p:nvSpPr>
        <p:spPr>
          <a:xfrm>
            <a:off x="7589520" y="1572768"/>
            <a:ext cx="4023360" cy="2926080"/>
          </a:xfrm>
          <a:prstGeom prst="roundRect">
            <a:avLst>
              <a:gd name="adj" fmla="val 281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845552" y="1719072"/>
            <a:ext cx="3566160" cy="301752"/>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  Look at row 2</a:t>
            </a:r>
            <a:endParaRPr lang="en-US" sz="1400" dirty="0"/>
          </a:p>
        </p:txBody>
      </p:sp>
      <p:sp>
        <p:nvSpPr>
          <p:cNvPr id="11" name="Text 8"/>
          <p:cNvSpPr txBox="1"/>
          <p:nvPr/>
        </p:nvSpPr>
        <p:spPr>
          <a:xfrm>
            <a:off x="7845552" y="2103120"/>
            <a:ext cx="3520440" cy="14630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The 2σ check PASSES — 95.0% against a predicted 95.5%. If that had been the only thing you tested, you would have concluded the data was normal and moved on.</a:t>
            </a:r>
            <a:endParaRPr lang="en-US" sz="1200" dirty="0"/>
          </a:p>
          <a:p>
            <a:pPr indent="0" marL="0">
              <a:lnSpc>
                <a:spcPct val="120000"/>
              </a:lnSpc>
              <a:buNone/>
            </a:pPr>
            <a:endParaRPr lang="en-US" sz="1200" dirty="0"/>
          </a:p>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It is a coincidence. Every other check fails badly.</a:t>
            </a:r>
            <a:endParaRPr lang="en-US" sz="1200" dirty="0"/>
          </a:p>
        </p:txBody>
      </p:sp>
      <p:sp>
        <p:nvSpPr>
          <p:cNvPr id="12" name="Text 9"/>
          <p:cNvSpPr txBox="1"/>
          <p:nvPr/>
        </p:nvSpPr>
        <p:spPr>
          <a:xfrm>
            <a:off x="7845552" y="3657600"/>
            <a:ext cx="3520440" cy="685800"/>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One passing check is not evidence. Look at the shape.</a:t>
            </a:r>
            <a:endParaRPr lang="en-US" sz="1250" dirty="0"/>
          </a:p>
        </p:txBody>
      </p:sp>
      <p:sp>
        <p:nvSpPr>
          <p:cNvPr id="13" name="Shape 10"/>
          <p:cNvSpPr/>
          <p:nvPr/>
        </p:nvSpPr>
        <p:spPr>
          <a:xfrm>
            <a:off x="548640" y="4663440"/>
            <a:ext cx="11064240" cy="1188720"/>
          </a:xfrm>
          <a:prstGeom prst="roundRect">
            <a:avLst>
              <a:gd name="adj" fmla="val 692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1"/>
          <p:cNvSpPr txBox="1"/>
          <p:nvPr/>
        </p:nvSpPr>
        <p:spPr>
          <a:xfrm>
            <a:off x="868680" y="4809744"/>
            <a:ext cx="73152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What this costs you in practice</a:t>
            </a:r>
            <a:endParaRPr lang="en-US" sz="1450" dirty="0"/>
          </a:p>
        </p:txBody>
      </p:sp>
      <p:sp>
        <p:nvSpPr>
          <p:cNvPr id="15" name="Text 12"/>
          <p:cNvSpPr txBox="1"/>
          <p:nvPr/>
        </p:nvSpPr>
        <p:spPr>
          <a:xfrm>
            <a:off x="868680" y="5120640"/>
            <a:ext cx="10424160" cy="658368"/>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If you set a “high earner” threshold at the normal 95th percentile you would pick 194,700 and catch almost nobody, when the real cut-off is 78,500. Every downstream decision — a budget, an alert threshold, a sample size — inherits the error. This is the mistake that costs money.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CHECKING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Three ways to check, in order of usefulness</a:t>
            </a:r>
            <a:endParaRPr lang="en-US" sz="3200" dirty="0"/>
          </a:p>
        </p:txBody>
      </p:sp>
      <p:sp>
        <p:nvSpPr>
          <p:cNvPr id="5" name="Shape 3"/>
          <p:cNvSpPr/>
          <p:nvPr/>
        </p:nvSpPr>
        <p:spPr>
          <a:xfrm>
            <a:off x="548640" y="1627632"/>
            <a:ext cx="11064240" cy="1234440"/>
          </a:xfrm>
          <a:prstGeom prst="roundRect">
            <a:avLst>
              <a:gd name="adj" fmla="val 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11680"/>
            <a:ext cx="457200" cy="457200"/>
          </a:xfrm>
          <a:prstGeom prst="ellipse">
            <a:avLst/>
          </a:prstGeom>
          <a:solidFill>
            <a:srgbClr val="2FA98C"/>
          </a:solidFill>
          <a:ln w="12700">
            <a:solidFill>
              <a:srgbClr val="2FA98C"/>
            </a:solidFill>
            <a:prstDash val="solid"/>
          </a:ln>
        </p:spPr>
      </p:sp>
      <p:sp>
        <p:nvSpPr>
          <p:cNvPr id="7" name="Text 5"/>
          <p:cNvSpPr txBox="1"/>
          <p:nvPr/>
        </p:nvSpPr>
        <p:spPr>
          <a:xfrm>
            <a:off x="804672" y="20116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28800"/>
            <a:ext cx="237744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Plot it</a:t>
            </a:r>
            <a:endParaRPr lang="en-US" sz="1500" dirty="0"/>
          </a:p>
        </p:txBody>
      </p:sp>
      <p:sp>
        <p:nvSpPr>
          <p:cNvPr id="9" name="Text 7"/>
          <p:cNvSpPr txBox="1"/>
          <p:nvPr/>
        </p:nvSpPr>
        <p:spPr>
          <a:xfrm>
            <a:off x="1417320" y="2194560"/>
            <a:ext cx="3291840" cy="365760"/>
          </a:xfrm>
          <a:prstGeom prst="rect">
            <a:avLst/>
          </a:prstGeom>
          <a:noFill/>
          <a:ln/>
        </p:spPr>
        <p:txBody>
          <a:bodyPr wrap="square" lIns="0" tIns="0" rIns="0" bIns="0" rtlCol="0" anchor="ctr"/>
          <a:lstStyle/>
          <a:p>
            <a:pPr indent="0" marL="0">
              <a:buNone/>
            </a:pPr>
            <a:r>
              <a:rPr lang="en-US" sz="1100" dirty="0">
                <a:solidFill>
                  <a:srgbClr val="3E7CB1"/>
                </a:solidFill>
                <a:latin typeface="Courier New" pitchFamily="34" charset="0"/>
                <a:ea typeface="Courier New" pitchFamily="34" charset="-122"/>
                <a:cs typeface="Courier New" pitchFamily="34" charset="-120"/>
              </a:rPr>
              <a:t>A histogram, and a Q-Q plot</a:t>
            </a:r>
            <a:endParaRPr lang="en-US" sz="1100" dirty="0"/>
          </a:p>
        </p:txBody>
      </p:sp>
      <p:sp>
        <p:nvSpPr>
          <p:cNvPr id="10" name="Text 8"/>
          <p:cNvSpPr txBox="1"/>
          <p:nvPr/>
        </p:nvSpPr>
        <p:spPr>
          <a:xfrm>
            <a:off x="4937760" y="1920240"/>
            <a:ext cx="6400800" cy="6400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By far the most informative. You see skew, humps and outliers at once.</a:t>
            </a:r>
            <a:endParaRPr lang="en-US" sz="1250" dirty="0"/>
          </a:p>
        </p:txBody>
      </p:sp>
      <p:sp>
        <p:nvSpPr>
          <p:cNvPr id="11" name="Shape 9"/>
          <p:cNvSpPr/>
          <p:nvPr/>
        </p:nvSpPr>
        <p:spPr>
          <a:xfrm>
            <a:off x="548640" y="2999232"/>
            <a:ext cx="11064240" cy="1234440"/>
          </a:xfrm>
          <a:prstGeom prst="roundRect">
            <a:avLst>
              <a:gd name="adj" fmla="val 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804672" y="3383280"/>
            <a:ext cx="457200" cy="457200"/>
          </a:xfrm>
          <a:prstGeom prst="ellipse">
            <a:avLst/>
          </a:prstGeom>
          <a:solidFill>
            <a:srgbClr val="3E7CB1"/>
          </a:solidFill>
          <a:ln w="12700">
            <a:solidFill>
              <a:srgbClr val="3E7CB1"/>
            </a:solidFill>
            <a:prstDash val="solid"/>
          </a:ln>
        </p:spPr>
      </p:sp>
      <p:sp>
        <p:nvSpPr>
          <p:cNvPr id="13" name="Text 11"/>
          <p:cNvSpPr txBox="1"/>
          <p:nvPr/>
        </p:nvSpPr>
        <p:spPr>
          <a:xfrm>
            <a:off x="804672" y="3383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17320" y="3200400"/>
            <a:ext cx="237744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Check skew</a:t>
            </a:r>
            <a:endParaRPr lang="en-US" sz="1500" dirty="0"/>
          </a:p>
        </p:txBody>
      </p:sp>
      <p:sp>
        <p:nvSpPr>
          <p:cNvPr id="15" name="Text 13"/>
          <p:cNvSpPr txBox="1"/>
          <p:nvPr/>
        </p:nvSpPr>
        <p:spPr>
          <a:xfrm>
            <a:off x="1417320" y="3566160"/>
            <a:ext cx="3291840" cy="365760"/>
          </a:xfrm>
          <a:prstGeom prst="rect">
            <a:avLst/>
          </a:prstGeom>
          <a:noFill/>
          <a:ln/>
        </p:spPr>
        <p:txBody>
          <a:bodyPr wrap="square" lIns="0" tIns="0" rIns="0" bIns="0" rtlCol="0" anchor="ctr"/>
          <a:lstStyle/>
          <a:p>
            <a:pPr indent="0" marL="0">
              <a:buNone/>
            </a:pPr>
            <a:r>
              <a:rPr lang="en-US" sz="1100" dirty="0">
                <a:solidFill>
                  <a:srgbClr val="3E7CB1"/>
                </a:solidFill>
                <a:latin typeface="Courier New" pitchFamily="34" charset="0"/>
                <a:ea typeface="Courier New" pitchFamily="34" charset="-122"/>
                <a:cs typeface="Courier New" pitchFamily="34" charset="-120"/>
              </a:rPr>
              <a:t>abs(s.skew()) &lt; 0.5</a:t>
            </a:r>
            <a:endParaRPr lang="en-US" sz="1100" dirty="0"/>
          </a:p>
        </p:txBody>
      </p:sp>
      <p:sp>
        <p:nvSpPr>
          <p:cNvPr id="16" name="Text 14"/>
          <p:cNvSpPr txBox="1"/>
          <p:nvPr/>
        </p:nvSpPr>
        <p:spPr>
          <a:xfrm>
            <a:off x="4937760" y="3291840"/>
            <a:ext cx="6400800" cy="6400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A quick numeric screen. Over 1 is definitely not normal.</a:t>
            </a:r>
            <a:endParaRPr lang="en-US" sz="1250" dirty="0"/>
          </a:p>
        </p:txBody>
      </p:sp>
      <p:sp>
        <p:nvSpPr>
          <p:cNvPr id="17" name="Shape 15"/>
          <p:cNvSpPr/>
          <p:nvPr/>
        </p:nvSpPr>
        <p:spPr>
          <a:xfrm>
            <a:off x="548640" y="4370832"/>
            <a:ext cx="11064240" cy="1234440"/>
          </a:xfrm>
          <a:prstGeom prst="roundRect">
            <a:avLst>
              <a:gd name="adj" fmla="val 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4754880"/>
            <a:ext cx="457200" cy="457200"/>
          </a:xfrm>
          <a:prstGeom prst="ellipse">
            <a:avLst/>
          </a:prstGeom>
          <a:solidFill>
            <a:srgbClr val="E8674C"/>
          </a:solidFill>
          <a:ln w="12700">
            <a:solidFill>
              <a:srgbClr val="E8674C"/>
            </a:solidFill>
            <a:prstDash val="solid"/>
          </a:ln>
        </p:spPr>
      </p:sp>
      <p:sp>
        <p:nvSpPr>
          <p:cNvPr id="19" name="Text 17"/>
          <p:cNvSpPr txBox="1"/>
          <p:nvPr/>
        </p:nvSpPr>
        <p:spPr>
          <a:xfrm>
            <a:off x="804672" y="4754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4572000"/>
            <a:ext cx="237744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formal test</a:t>
            </a:r>
            <a:endParaRPr lang="en-US" sz="1500" dirty="0"/>
          </a:p>
        </p:txBody>
      </p:sp>
      <p:sp>
        <p:nvSpPr>
          <p:cNvPr id="21" name="Text 19"/>
          <p:cNvSpPr txBox="1"/>
          <p:nvPr/>
        </p:nvSpPr>
        <p:spPr>
          <a:xfrm>
            <a:off x="1417320" y="4937760"/>
            <a:ext cx="3291840" cy="365760"/>
          </a:xfrm>
          <a:prstGeom prst="rect">
            <a:avLst/>
          </a:prstGeom>
          <a:noFill/>
          <a:ln/>
        </p:spPr>
        <p:txBody>
          <a:bodyPr wrap="square" lIns="0" tIns="0" rIns="0" bIns="0" rtlCol="0" anchor="ctr"/>
          <a:lstStyle/>
          <a:p>
            <a:pPr indent="0" marL="0">
              <a:buNone/>
            </a:pPr>
            <a:r>
              <a:rPr lang="en-US" sz="1100" dirty="0">
                <a:solidFill>
                  <a:srgbClr val="3E7CB1"/>
                </a:solidFill>
                <a:latin typeface="Courier New" pitchFamily="34" charset="0"/>
                <a:ea typeface="Courier New" pitchFamily="34" charset="-122"/>
                <a:cs typeface="Courier New" pitchFamily="34" charset="-120"/>
              </a:rPr>
              <a:t>stats.shapiro(s)</a:t>
            </a:r>
            <a:endParaRPr lang="en-US" sz="1100" dirty="0"/>
          </a:p>
        </p:txBody>
      </p:sp>
      <p:sp>
        <p:nvSpPr>
          <p:cNvPr id="22" name="Text 20"/>
          <p:cNvSpPr txBox="1"/>
          <p:nvPr/>
        </p:nvSpPr>
        <p:spPr>
          <a:xfrm>
            <a:off x="4937760" y="4663440"/>
            <a:ext cx="6400800" cy="6400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p &gt; 0.05 means “no evidence against normal” — which is NOT the same as normal.</a:t>
            </a:r>
            <a:endParaRPr lang="en-US" sz="1250" dirty="0"/>
          </a:p>
        </p:txBody>
      </p:sp>
      <p:sp>
        <p:nvSpPr>
          <p:cNvPr id="23" name="Shape 21"/>
          <p:cNvSpPr/>
          <p:nvPr/>
        </p:nvSpPr>
        <p:spPr>
          <a:xfrm>
            <a:off x="548640" y="5760720"/>
            <a:ext cx="11064240" cy="0"/>
          </a:xfrm>
          <a:prstGeom prst="roundRect">
            <a:avLst>
              <a:gd name="adj" fmla="val Infinity"/>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Text 22"/>
          <p:cNvSpPr txBox="1"/>
          <p:nvPr/>
        </p:nvSpPr>
        <p:spPr>
          <a:xfrm>
            <a:off x="548640" y="5779008"/>
            <a:ext cx="11064240" cy="365760"/>
          </a:xfrm>
          <a:prstGeom prst="rect">
            <a:avLst/>
          </a:prstGeom>
          <a:noFill/>
          <a:ln/>
        </p:spPr>
        <p:txBody>
          <a:bodyPr wrap="square" lIns="0" tIns="0" rIns="0" bIns="0" rtlCol="0" anchor="ctr"/>
          <a:lstStyle/>
          <a:p>
            <a:pPr indent="0" marL="0">
              <a:buNone/>
            </a:pPr>
            <a:r>
              <a:rPr lang="en-US" sz="1250" i="1" dirty="0">
                <a:solidFill>
                  <a:srgbClr val="A63B24"/>
                </a:solidFill>
                <a:latin typeface="Calibri" pitchFamily="34" charset="0"/>
                <a:ea typeface="Calibri" pitchFamily="34" charset="-122"/>
                <a:cs typeface="Calibri" pitchFamily="34" charset="-120"/>
              </a:rPr>
              <a:t>⚠  A Shapiro test on 50,000 rows will reject normality for a trivial, meaningless deviation. On large data, trust the plot, not the p-value.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normal-distribution mistakes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931920"/>
                <a:gridCol w="4114800"/>
                <a:gridCol w="30175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assumed normality without looking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every percentile is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plot it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tested ONE band and stopped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coincidental pass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check several, and the 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stats.norm.cdf(130)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forgot loc and scale — assumes μ=0, σ=1</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cdf(130, 100, 15)</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used the mean on skewed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is not the centre of anything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median and IQR — Day 23</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read p &gt; 0.05 as “it is normal”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means NO EVIDENCE AGAINST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say it that way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Shapiro on 50,000 rows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rejects trivial deviations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trust the plot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z-scores on non-normal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percentages do not hold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z still ranks, but does not give probabilities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treated 1.96 as magic</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is just ppf(0.975)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and 1.645 is ppf(0.95)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 7 is subtle and worth a moment: a z-score is still a valid ranking on any data. What it stops giving you is a PROBABILITY.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normality check you can trust</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from scipy import stats</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def normal_check(s, name="value"):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"""Several independent checks - never just one."""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s = s.dropna()</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m, sd = s.mean(), s.std()</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bands = {}</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for k in (1, 2, 3):</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obs = s.between(m - k*sd, m + k*sd).mean() * 100</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exp = (stats.norm.cdf(k) - stats.norm.cdf(-k)) * 100</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bands[f"within_{k}sd"] = (round(obs, 1), round(exp, 1))</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out = {</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"n":          len(s),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"skew":       round(s.skew(), 2),</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"kurtosis":   round(s.kurt(), 2),</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"below_mean": round((s &lt; m).mean() * 100, 1),   # normal: 50</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"pct95_real": round(s.quantile(.95), 1),</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"pct95_norm": round(m + 1.645 * sd, 1),</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**bands,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  the verdict uses SEVERAL signals, not one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bad = (abs(out["skew"]) &gt; 1</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or abs(out["below_mean"] - 50) &gt; 8</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or abs(bands["within_1sd"][0] - 68.3) &gt; 6)</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out["verdict"] = "NOT normal - do not use the rule" if bad else "close enough"</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return pd.Series(out)</a:t>
            </a:r>
            <a:endParaRPr lang="en-US" sz="750" dirty="0"/>
          </a:p>
        </p:txBody>
      </p:sp>
      <p:sp>
        <p:nvSpPr>
          <p:cNvPr id="8" name="Shape 6"/>
          <p:cNvSpPr/>
          <p:nvPr/>
        </p:nvSpPr>
        <p:spPr>
          <a:xfrm>
            <a:off x="7406640" y="157276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73352"/>
            <a:ext cx="118872" cy="292608"/>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609344"/>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Three bands, not one</a:t>
            </a:r>
            <a:endParaRPr lang="en-US" sz="1050" dirty="0"/>
          </a:p>
        </p:txBody>
      </p:sp>
      <p:sp>
        <p:nvSpPr>
          <p:cNvPr id="11" name="Text 9"/>
          <p:cNvSpPr txBox="1"/>
          <p:nvPr/>
        </p:nvSpPr>
        <p:spPr>
          <a:xfrm>
            <a:off x="7790688" y="182880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 single pass can be luck</a:t>
            </a:r>
            <a:endParaRPr lang="en-US" sz="950" dirty="0"/>
          </a:p>
        </p:txBody>
      </p:sp>
      <p:sp>
        <p:nvSpPr>
          <p:cNvPr id="12" name="Shape 10"/>
          <p:cNvSpPr/>
          <p:nvPr/>
        </p:nvSpPr>
        <p:spPr>
          <a:xfrm>
            <a:off x="7406640" y="214884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249424"/>
            <a:ext cx="118872" cy="292608"/>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185416"/>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below_mean</a:t>
            </a:r>
            <a:endParaRPr lang="en-US" sz="1050" dirty="0"/>
          </a:p>
        </p:txBody>
      </p:sp>
      <p:sp>
        <p:nvSpPr>
          <p:cNvPr id="15" name="Text 13"/>
          <p:cNvSpPr txBox="1"/>
          <p:nvPr/>
        </p:nvSpPr>
        <p:spPr>
          <a:xfrm>
            <a:off x="7790688" y="240487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asymmetry shows up here first</a:t>
            </a:r>
            <a:endParaRPr lang="en-US" sz="950" dirty="0"/>
          </a:p>
        </p:txBody>
      </p:sp>
      <p:sp>
        <p:nvSpPr>
          <p:cNvPr id="16" name="Shape 14"/>
          <p:cNvSpPr/>
          <p:nvPr/>
        </p:nvSpPr>
        <p:spPr>
          <a:xfrm>
            <a:off x="7406640" y="2724912"/>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825496"/>
            <a:ext cx="118872" cy="292608"/>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2761488"/>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Both 95th percentiles</a:t>
            </a:r>
            <a:endParaRPr lang="en-US" sz="1050" dirty="0"/>
          </a:p>
        </p:txBody>
      </p:sp>
      <p:sp>
        <p:nvSpPr>
          <p:cNvPr id="19" name="Text 17"/>
          <p:cNvSpPr txBox="1"/>
          <p:nvPr/>
        </p:nvSpPr>
        <p:spPr>
          <a:xfrm>
            <a:off x="7790688" y="2980944"/>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gap is the practical cost</a:t>
            </a:r>
            <a:endParaRPr lang="en-US" sz="950" dirty="0"/>
          </a:p>
        </p:txBody>
      </p:sp>
      <p:sp>
        <p:nvSpPr>
          <p:cNvPr id="20" name="Shape 18"/>
          <p:cNvSpPr/>
          <p:nvPr/>
        </p:nvSpPr>
        <p:spPr>
          <a:xfrm>
            <a:off x="7406640" y="3300984"/>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401568"/>
            <a:ext cx="118872" cy="292608"/>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790688" y="3337560"/>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skew AND kurtosis</a:t>
            </a:r>
            <a:endParaRPr lang="en-US" sz="1050" dirty="0"/>
          </a:p>
        </p:txBody>
      </p:sp>
      <p:sp>
        <p:nvSpPr>
          <p:cNvPr id="23" name="Text 21"/>
          <p:cNvSpPr txBox="1"/>
          <p:nvPr/>
        </p:nvSpPr>
        <p:spPr>
          <a:xfrm>
            <a:off x="7790688" y="3557016"/>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Day 23's shape numbers</a:t>
            </a:r>
            <a:endParaRPr lang="en-US" sz="950" dirty="0"/>
          </a:p>
        </p:txBody>
      </p:sp>
      <p:sp>
        <p:nvSpPr>
          <p:cNvPr id="24" name="Shape 22"/>
          <p:cNvSpPr/>
          <p:nvPr/>
        </p:nvSpPr>
        <p:spPr>
          <a:xfrm>
            <a:off x="7406640" y="3877056"/>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977640"/>
            <a:ext cx="118872" cy="292608"/>
          </a:xfrm>
          <a:prstGeom prst="roundRect">
            <a:avLst>
              <a:gd name="adj" fmla="val 38462"/>
            </a:avLst>
          </a:prstGeom>
          <a:solidFill>
            <a:srgbClr val="FFC145"/>
          </a:solidFill>
          <a:ln w="12700">
            <a:solidFill>
              <a:srgbClr val="333333"/>
            </a:solidFill>
            <a:prstDash val="solid"/>
          </a:ln>
        </p:spPr>
      </p:sp>
      <p:sp>
        <p:nvSpPr>
          <p:cNvPr id="26" name="Text 24"/>
          <p:cNvSpPr txBox="1"/>
          <p:nvPr/>
        </p:nvSpPr>
        <p:spPr>
          <a:xfrm>
            <a:off x="7790688" y="3913632"/>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Several signals</a:t>
            </a:r>
            <a:endParaRPr lang="en-US" sz="1050" dirty="0"/>
          </a:p>
        </p:txBody>
      </p:sp>
      <p:sp>
        <p:nvSpPr>
          <p:cNvPr id="27" name="Text 25"/>
          <p:cNvSpPr txBox="1"/>
          <p:nvPr/>
        </p:nvSpPr>
        <p:spPr>
          <a:xfrm>
            <a:off x="7790688" y="4133088"/>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any one of them can fire</a:t>
            </a:r>
            <a:endParaRPr lang="en-US" sz="950" dirty="0"/>
          </a:p>
        </p:txBody>
      </p:sp>
      <p:sp>
        <p:nvSpPr>
          <p:cNvPr id="28" name="Shape 26"/>
          <p:cNvSpPr/>
          <p:nvPr/>
        </p:nvSpPr>
        <p:spPr>
          <a:xfrm>
            <a:off x="7406640" y="445312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553712"/>
            <a:ext cx="118872" cy="292608"/>
          </a:xfrm>
          <a:prstGeom prst="roundRect">
            <a:avLst>
              <a:gd name="adj" fmla="val 38462"/>
            </a:avLst>
          </a:prstGeom>
          <a:solidFill>
            <a:srgbClr val="3E7CB1"/>
          </a:solidFill>
          <a:ln w="12700">
            <a:solidFill>
              <a:srgbClr val="333333"/>
            </a:solidFill>
            <a:prstDash val="solid"/>
          </a:ln>
        </p:spPr>
      </p:sp>
      <p:sp>
        <p:nvSpPr>
          <p:cNvPr id="30" name="Text 28"/>
          <p:cNvSpPr txBox="1"/>
          <p:nvPr/>
        </p:nvSpPr>
        <p:spPr>
          <a:xfrm>
            <a:off x="7790688" y="4489704"/>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No p-value</a:t>
            </a:r>
            <a:endParaRPr lang="en-US" sz="1050" dirty="0"/>
          </a:p>
        </p:txBody>
      </p:sp>
      <p:sp>
        <p:nvSpPr>
          <p:cNvPr id="31" name="Text 29"/>
          <p:cNvSpPr txBox="1"/>
          <p:nvPr/>
        </p:nvSpPr>
        <p:spPr>
          <a:xfrm>
            <a:off x="7790688" y="470916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it misleads on large n</a:t>
            </a:r>
            <a:endParaRPr lang="en-US" sz="950" dirty="0"/>
          </a:p>
        </p:txBody>
      </p:sp>
      <p:sp>
        <p:nvSpPr>
          <p:cNvPr id="32" name="Shape 30"/>
          <p:cNvSpPr/>
          <p:nvPr/>
        </p:nvSpPr>
        <p:spPr>
          <a:xfrm>
            <a:off x="7406640" y="502920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5129784"/>
            <a:ext cx="118872" cy="292608"/>
          </a:xfrm>
          <a:prstGeom prst="roundRect">
            <a:avLst>
              <a:gd name="adj" fmla="val 38462"/>
            </a:avLst>
          </a:prstGeom>
          <a:solidFill>
            <a:srgbClr val="3E7CB1"/>
          </a:solidFill>
          <a:ln w="12700">
            <a:solidFill>
              <a:srgbClr val="333333"/>
            </a:solidFill>
            <a:prstDash val="solid"/>
          </a:ln>
        </p:spPr>
      </p:sp>
      <p:sp>
        <p:nvSpPr>
          <p:cNvPr id="34" name="Text 32"/>
          <p:cNvSpPr txBox="1"/>
          <p:nvPr/>
        </p:nvSpPr>
        <p:spPr>
          <a:xfrm>
            <a:off x="7790688" y="5065776"/>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Still plot it</a:t>
            </a:r>
            <a:endParaRPr lang="en-US" sz="1050" dirty="0"/>
          </a:p>
        </p:txBody>
      </p:sp>
      <p:sp>
        <p:nvSpPr>
          <p:cNvPr id="35" name="Text 33"/>
          <p:cNvSpPr txBox="1"/>
          <p:nvPr/>
        </p:nvSpPr>
        <p:spPr>
          <a:xfrm>
            <a:off x="7790688" y="528523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no function replaces looking</a:t>
            </a:r>
            <a:endParaRPr lang="en-US" sz="950" dirty="0"/>
          </a:p>
        </p:txBody>
      </p:sp>
      <p:sp>
        <p:nvSpPr>
          <p:cNvPr id="36" name="Text 34"/>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The salary data passes the 2σ test and fails this one. That is the point of checking more than one thing.</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Bands, z-scores, cdf/ppf, 1.96</a:t>
            </a:r>
            <a:endParaRPr lang="en-US" sz="115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Missing loc/scale, p-value misreading</a:t>
            </a:r>
            <a:endParaRPr lang="en-US" sz="115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Standardise, compare, percentiles, check</a:t>
            </a:r>
            <a:endParaRPr lang="en-US" sz="115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Break the rule yourself, and a threshold</a:t>
            </a:r>
            <a:endParaRPr lang="en-US" sz="115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Day24_Practice_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Always pass loc and scale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Plot before you trust a rule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Raise a hand — I am walking around</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Before using the empirical rule on any column today, check that it applies. Most of them will not.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Two numbers define the whole curve: μ for where, σ for how wide.</a:t>
            </a:r>
            <a:endParaRPr lang="en-US" sz="100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68% within 1σ, 95% within 2σ, 99.7% within 3σ.</a:t>
            </a:r>
            <a:endParaRPr lang="en-US" sz="100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The useful form: outside 2σ is 1 in 22; outside 3σ is 1 in 370.</a:t>
            </a:r>
            <a:endParaRPr lang="en-US" sz="100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z = (value − μ) / σ — the SD becomes a unit of measurement.</a:t>
            </a:r>
            <a:endParaRPr lang="en-US" sz="100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Standardising turns ANY normal curve into the same one.</a:t>
            </a:r>
            <a:endParaRPr lang="en-US" sz="100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 lower raw mark can be the better performance. Only z shows it.</a:t>
            </a:r>
            <a:endParaRPr lang="en-US" sz="100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cdf: value in, probability out. ppf: probability in, value out.</a:t>
            </a:r>
            <a:endParaRPr lang="en-US" sz="100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1.96 is not magic — it is ppf(0.975), leaving 95% in the middle.</a:t>
            </a:r>
            <a:endParaRPr lang="en-US" sz="100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 Real data is often NOT normal. Income, delays, file sizes.</a:t>
            </a:r>
            <a:endParaRPr lang="en-US" sz="100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On the salary data the 2σ check passed by pure coincidence.</a:t>
            </a:r>
            <a:endParaRPr lang="en-US" sz="100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So test several things, and look at the shape. One pass proves nothing.</a:t>
            </a:r>
            <a:endParaRPr lang="en-US" sz="100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p &gt; 0.05 means no evidence AGAINST normal — not that it is normal.</a:t>
            </a:r>
            <a:endParaRPr lang="en-US" sz="100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Run normal_check on every numeric column of your Day 21 project data and say which are normal  ·  Find your own two-exam example and compute both z-scores  ·  Use ppf to find the mark that would put a student in the top 5%</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2.5</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Binomial &amp; Poisson: the distributions for counting things — how many clicks out of 1,000, how many failures this month. Discrete, not continuous.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24 - The Normal Distribution</dc:title>
  <dc:subject>PptxGenJS Presentation</dc:subject>
  <dc:creator>Data Science Program</dc:creator>
  <cp:lastModifiedBy>Data Science Program</cp:lastModifiedBy>
  <cp:revision>1</cp:revision>
  <dcterms:created xsi:type="dcterms:W3CDTF">2026-10-08T13:00:36Z</dcterms:created>
  <dcterms:modified xsi:type="dcterms:W3CDTF">2026-10-08T13:00:36Z</dcterms:modified>
</cp:coreProperties>
</file>