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26. The uniform looks like the easy session - a flat line, what is there to learn? Two things: the idea that probability is AREA, which breaks everyone's intuition once, and the fact that every random number your computer has ever produced started as a uniform.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three claims up early and promise to prove all three. The first two sound wrong and the third sounds like an exaggeration; by the end all three are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4 is deliberately unanswered. Students should leave Day 25 and 26 with a question they want answered, which is what makes Day 27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section 2 as the important one. Everything else today is either easy or a consequence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understate this slide. The discrete uniform really is trivial, and saying so buys credibility for the parts that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3.5 point is worth a beat. Students sometimes think a mean must be achievable; the dice example settles it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bridge from Day 25 to today. Do not rush it - the next slide only lands if this one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pushback on P(X=5)=0. The resolution is that 'probability zero' is not the same as 'impossible' for continuous variables. Say that explicitly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measurement-precision answer is the one that actually satisfies people. Give the 4.995-5.005 example concretely.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per kilo' analogy is the one that fixes this. A price per kilo of 300 is not a contradiction; you just have not bought a kilo.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cdf being a straight line is specific to the uniform - it is the only distribution where it is. Worth pointing out so students do not generalise.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first: if buses come every 15 minutes, how long do you wait on average? Many say 15. The answer being half the gap is a nice small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loc/scale trap is the single most common uniform bug in real code. Make them write uniform(a, b-a)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rounding-error example is the strongest one - it is uniform as a matter of arithmetic, not approximation.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a small p means 'too uneven to be chance'. A large p does not prove fairness, it just fails to find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appearance of the power idea in two days. Say that explicitly - it is one of the most useful habits in applied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sd is the quick tell: uniform on 0-1 has sd 0.2887, the beta has 0.227. But a histogram is faster than any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Benford is the best possible argument that 'uniform' is not the same as 'random'. It also makes the point that human intuition about randomness is reliably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claim to be tested rather than a fact to accept. The demonstration is more convincing than the assertion.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steep-means-likely explanation is the heart of it. Trace a finger up the steep middle of the curve and then the flat tail so they see the difference in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if you can. Seeing a bell curve appear from a flat histogram is the moment the session is remembered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secrets-module warning is genuinely important and students will meet it in real work. Mersenne Twister state can be recovered from 624 consecutive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set up in the warm-up. Three distributions, three routes to the same curve - that is the strongest possible setup for the CLT.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to photograph this one. It is the whole of Module 2's distribution work on a single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4 and 5 together are worth two minutes. Three libraries, three conventions, and the bug never raises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[0,1] interval on the board split into six bands, with 6 taking half of it. The code is obvious once the picture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'say what would change your mind' instruction is worth reading aloud. It is the habit the whole module is trying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Day 27 promise. Three sessions have now built the same unexplained observation; the payoff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D3050"/>
          </a:solidFill>
          <a:ln w="12700">
            <a:solidFill>
              <a:srgbClr val="333333"/>
            </a:solidFill>
            <a:prstDash val="solid"/>
          </a:ln>
        </p:spPr>
      </p:sp>
      <p:sp>
        <p:nvSpPr>
          <p:cNvPr id="3" name="Shape 1"/>
          <p:cNvSpPr/>
          <p:nvPr/>
        </p:nvSpPr>
        <p:spPr>
          <a:xfrm>
            <a:off x="10607040" y="4206240"/>
            <a:ext cx="3108960" cy="3108960"/>
          </a:xfrm>
          <a:prstGeom prst="ellipse">
            <a:avLst/>
          </a:prstGeom>
          <a:solidFill>
            <a:srgbClr val="1A2A46"/>
          </a:solidFill>
          <a:ln w="12700">
            <a:solidFill>
              <a:srgbClr val="333333"/>
            </a:solidFill>
            <a:prstDash val="solid"/>
          </a:ln>
        </p:spPr>
      </p:sp>
      <p:sp>
        <p:nvSpPr>
          <p:cNvPr id="4" name="Text 2"/>
          <p:cNvSpPr txBox="1"/>
          <p:nvPr/>
        </p:nvSpPr>
        <p:spPr>
          <a:xfrm>
            <a:off x="822960" y="1371600"/>
            <a:ext cx="8686800" cy="320040"/>
          </a:xfrm>
          <a:prstGeom prst="rect">
            <a:avLst/>
          </a:prstGeom>
          <a:noFill/>
          <a:ln/>
        </p:spPr>
        <p:txBody>
          <a:bodyPr wrap="square" lIns="0" tIns="0" rIns="0" bIns="0" rtlCol="0" anchor="ctr"/>
          <a:lstStyle/>
          <a:p>
            <a:pPr indent="0" marL="0">
              <a:buNone/>
            </a:pPr>
            <a:r>
              <a:rPr lang="en-US" sz="1300" b="1" spc="200" kern="0" dirty="0">
                <a:solidFill>
                  <a:srgbClr val="FFC145"/>
                </a:solidFill>
                <a:latin typeface="Calibri" pitchFamily="34" charset="0"/>
                <a:ea typeface="Calibri" pitchFamily="34" charset="-122"/>
                <a:cs typeface="Calibri" pitchFamily="34" charset="-120"/>
              </a:rPr>
              <a:t>MODULE 2  ·  STATISTICS &amp; PROBABILITY  ·  TOPIC 2.6</a:t>
            </a:r>
            <a:endParaRPr lang="en-US" sz="1300" dirty="0"/>
          </a:p>
        </p:txBody>
      </p:sp>
      <p:sp>
        <p:nvSpPr>
          <p:cNvPr id="5" name="Text 3"/>
          <p:cNvSpPr txBox="1"/>
          <p:nvPr/>
        </p:nvSpPr>
        <p:spPr>
          <a:xfrm>
            <a:off x="822960" y="1828800"/>
            <a:ext cx="841248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The Uniform</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Distribution</a:t>
            </a:r>
            <a:endParaRPr lang="en-US" sz="4200" dirty="0"/>
          </a:p>
        </p:txBody>
      </p:sp>
      <p:sp>
        <p:nvSpPr>
          <p:cNvPr id="6" name="Text 4"/>
          <p:cNvSpPr txBox="1"/>
          <p:nvPr/>
        </p:nvSpPr>
        <p:spPr>
          <a:xfrm>
            <a:off x="841248" y="3657600"/>
            <a:ext cx="8229600" cy="365760"/>
          </a:xfrm>
          <a:prstGeom prst="rect">
            <a:avLst/>
          </a:prstGeom>
          <a:noFill/>
          <a:ln/>
        </p:spPr>
        <p:txBody>
          <a:bodyPr wrap="square" lIns="0" tIns="0" rIns="0" bIns="0" rtlCol="0" anchor="ctr"/>
          <a:lstStyle/>
          <a:p>
            <a:pPr indent="0" marL="0">
              <a:buNone/>
            </a:pPr>
            <a:r>
              <a:rPr lang="en-US" sz="1600" i="1" dirty="0">
                <a:solidFill>
                  <a:srgbClr val="AFC2DC"/>
                </a:solidFill>
                <a:latin typeface="Calibri" pitchFamily="34" charset="0"/>
                <a:ea typeface="Calibri" pitchFamily="34" charset="-122"/>
                <a:cs typeface="Calibri" pitchFamily="34" charset="-120"/>
              </a:rPr>
              <a:t>Day 26  —  the simplest distribution, and the one everything else is built from</a:t>
            </a:r>
            <a:endParaRPr lang="en-US" sz="1600" dirty="0"/>
          </a:p>
        </p:txBody>
      </p:sp>
      <p:sp>
        <p:nvSpPr>
          <p:cNvPr id="7" name="Shape 5"/>
          <p:cNvSpPr/>
          <p:nvPr/>
        </p:nvSpPr>
        <p:spPr>
          <a:xfrm>
            <a:off x="822960" y="4480560"/>
            <a:ext cx="2468880" cy="1005840"/>
          </a:xfrm>
          <a:prstGeom prst="roundRect">
            <a:avLst>
              <a:gd name="adj" fmla="val 8182"/>
            </a:avLst>
          </a:prstGeom>
          <a:solidFill>
            <a:srgbClr val="1E3151"/>
          </a:solidFill>
          <a:ln w="12700">
            <a:solidFill>
              <a:srgbClr val="1E3151"/>
            </a:solidFill>
            <a:prstDash val="solid"/>
          </a:ln>
        </p:spPr>
      </p:sp>
      <p:sp>
        <p:nvSpPr>
          <p:cNvPr id="8" name="Text 6"/>
          <p:cNvSpPr txBox="1"/>
          <p:nvPr/>
        </p:nvSpPr>
        <p:spPr>
          <a:xfrm>
            <a:off x="1024128" y="4572000"/>
            <a:ext cx="214884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1024128" y="497433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Forms: discrete and continuous</a:t>
            </a:r>
            <a:endParaRPr lang="en-US" sz="1050" dirty="0"/>
          </a:p>
        </p:txBody>
      </p:sp>
      <p:sp>
        <p:nvSpPr>
          <p:cNvPr id="10" name="Shape 8"/>
          <p:cNvSpPr/>
          <p:nvPr/>
        </p:nvSpPr>
        <p:spPr>
          <a:xfrm>
            <a:off x="3566160" y="4480560"/>
            <a:ext cx="2468880" cy="1005840"/>
          </a:xfrm>
          <a:prstGeom prst="roundRect">
            <a:avLst>
              <a:gd name="adj" fmla="val 8182"/>
            </a:avLst>
          </a:prstGeom>
          <a:solidFill>
            <a:srgbClr val="1E3151"/>
          </a:solidFill>
          <a:ln w="12700">
            <a:solidFill>
              <a:srgbClr val="1E3151"/>
            </a:solidFill>
            <a:prstDash val="solid"/>
          </a:ln>
        </p:spPr>
      </p:sp>
      <p:sp>
        <p:nvSpPr>
          <p:cNvPr id="11" name="Text 9"/>
          <p:cNvSpPr txBox="1"/>
          <p:nvPr/>
        </p:nvSpPr>
        <p:spPr>
          <a:xfrm>
            <a:off x="3767328" y="4572000"/>
            <a:ext cx="214884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1</a:t>
            </a:r>
            <a:endParaRPr lang="en-US" sz="2200" dirty="0"/>
          </a:p>
        </p:txBody>
      </p:sp>
      <p:sp>
        <p:nvSpPr>
          <p:cNvPr id="12" name="Text 10"/>
          <p:cNvSpPr txBox="1"/>
          <p:nvPr/>
        </p:nvSpPr>
        <p:spPr>
          <a:xfrm>
            <a:off x="3767328" y="497433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Idea that changes everything: area</a:t>
            </a:r>
            <a:endParaRPr lang="en-US" sz="1050" dirty="0"/>
          </a:p>
        </p:txBody>
      </p:sp>
      <p:sp>
        <p:nvSpPr>
          <p:cNvPr id="13" name="Shape 11"/>
          <p:cNvSpPr/>
          <p:nvPr/>
        </p:nvSpPr>
        <p:spPr>
          <a:xfrm>
            <a:off x="6309360" y="4480560"/>
            <a:ext cx="2468880" cy="1005840"/>
          </a:xfrm>
          <a:prstGeom prst="roundRect">
            <a:avLst>
              <a:gd name="adj" fmla="val 8182"/>
            </a:avLst>
          </a:prstGeom>
          <a:solidFill>
            <a:srgbClr val="1E3151"/>
          </a:solidFill>
          <a:ln w="12700">
            <a:solidFill>
              <a:srgbClr val="1E3151"/>
            </a:solidFill>
            <a:prstDash val="solid"/>
          </a:ln>
        </p:spPr>
      </p:sp>
      <p:sp>
        <p:nvSpPr>
          <p:cNvPr id="14" name="Text 12"/>
          <p:cNvSpPr txBox="1"/>
          <p:nvPr/>
        </p:nvSpPr>
        <p:spPr>
          <a:xfrm>
            <a:off x="6510528" y="4572000"/>
            <a:ext cx="214884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0</a:t>
            </a:r>
            <a:endParaRPr lang="en-US" sz="2200" dirty="0"/>
          </a:p>
        </p:txBody>
      </p:sp>
      <p:sp>
        <p:nvSpPr>
          <p:cNvPr id="15" name="Text 13"/>
          <p:cNvSpPr txBox="1"/>
          <p:nvPr/>
        </p:nvSpPr>
        <p:spPr>
          <a:xfrm>
            <a:off x="6510528" y="497433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Random numbers that are not uniform</a:t>
            </a:r>
            <a:endParaRPr lang="en-US" sz="1050" dirty="0"/>
          </a:p>
        </p:txBody>
      </p:sp>
      <p:sp>
        <p:nvSpPr>
          <p:cNvPr id="16" name="Shape 14"/>
          <p:cNvSpPr/>
          <p:nvPr/>
        </p:nvSpPr>
        <p:spPr>
          <a:xfrm>
            <a:off x="9098280" y="1371600"/>
            <a:ext cx="2514600" cy="2514600"/>
          </a:xfrm>
          <a:prstGeom prst="roundRect">
            <a:avLst>
              <a:gd name="adj" fmla="val 3636"/>
            </a:avLst>
          </a:prstGeom>
          <a:solidFill>
            <a:srgbClr val="FFFFFF"/>
          </a:solidFill>
          <a:ln w="12700">
            <a:solidFill>
              <a:srgbClr val="333333"/>
            </a:solidFill>
            <a:prstDash val="solid"/>
          </a:ln>
          <a:effectLst>
            <a:outerShdw sx="100000" sy="100000" kx="0" ky="0" algn="bl" rotWithShape="0" blurRad="177800" dist="38100" dir="5400000">
              <a:srgbClr val="000000">
                <a:alpha val="35000"/>
              </a:srgbClr>
            </a:outerShdw>
          </a:effectLst>
        </p:spPr>
      </p:sp>
      <p:pic>
        <p:nvPicPr>
          <p:cNvPr id="17" name="Image 0" descr="/home/claude/day26/bu_logo.png">    </p:cNvPr>
          <p:cNvPicPr>
            <a:picLocks noChangeAspect="1"/>
          </p:cNvPicPr>
          <p:nvPr/>
        </p:nvPicPr>
        <p:blipFill>
          <a:blip r:embed="rId1"/>
          <a:stretch>
            <a:fillRect/>
          </a:stretch>
        </p:blipFill>
        <p:spPr>
          <a:xfrm>
            <a:off x="9400032" y="1737360"/>
            <a:ext cx="1911096" cy="1783080"/>
          </a:xfrm>
          <a:prstGeom prst="rect">
            <a:avLst/>
          </a:prstGeom>
        </p:spPr>
      </p:pic>
      <p:sp>
        <p:nvSpPr>
          <p:cNvPr id="18" name="Text 15"/>
          <p:cNvSpPr txBox="1"/>
          <p:nvPr/>
        </p:nvSpPr>
        <p:spPr>
          <a:xfrm>
            <a:off x="9098280" y="3977640"/>
            <a:ext cx="2514600" cy="274320"/>
          </a:xfrm>
          <a:prstGeom prst="rect">
            <a:avLst/>
          </a:prstGeom>
          <a:noFill/>
          <a:ln/>
        </p:spPr>
        <p:txBody>
          <a:bodyPr wrap="square" lIns="0" tIns="0" rIns="0" bIns="0" rtlCol="0" anchor="ctr"/>
          <a:lstStyle/>
          <a:p>
            <a:pPr algn="ctr" indent="0" marL="0">
              <a:buNone/>
            </a:pPr>
            <a:r>
              <a:rPr lang="en-US" sz="1200" b="1" dirty="0">
                <a:solidFill>
                  <a:srgbClr val="AFC2DC"/>
                </a:solidFill>
                <a:latin typeface="Calibri" pitchFamily="34" charset="0"/>
                <a:ea typeface="Calibri" pitchFamily="34" charset="-122"/>
                <a:cs typeface="Calibri" pitchFamily="34" charset="-120"/>
              </a:rPr>
              <a:t>Boston University</a:t>
            </a:r>
            <a:endParaRPr lang="en-US" sz="1200" dirty="0"/>
          </a:p>
        </p:txBody>
      </p:sp>
      <p:sp>
        <p:nvSpPr>
          <p:cNvPr id="19" name="Text 16"/>
          <p:cNvSpPr txBox="1"/>
          <p:nvPr/>
        </p:nvSpPr>
        <p:spPr>
          <a:xfrm>
            <a:off x="841248" y="580644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FC145"/>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WHY THIS SESSION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A flat line. What could there possibly be to learn?</a:t>
            </a:r>
            <a:endParaRPr lang="en-US" sz="3200" dirty="0"/>
          </a:p>
        </p:txBody>
      </p:sp>
      <p:sp>
        <p:nvSpPr>
          <p:cNvPr id="5" name="Shape 3"/>
          <p:cNvSpPr/>
          <p:nvPr/>
        </p:nvSpPr>
        <p:spPr>
          <a:xfrm>
            <a:off x="548640" y="1600200"/>
            <a:ext cx="5486400" cy="2148840"/>
          </a:xfrm>
          <a:prstGeom prst="roundRect">
            <a:avLst>
              <a:gd name="adj" fmla="val 383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22960" y="1764792"/>
            <a:ext cx="4937760" cy="292608"/>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What it looks like</a:t>
            </a:r>
            <a:endParaRPr lang="en-US" sz="1400" dirty="0"/>
          </a:p>
        </p:txBody>
      </p:sp>
      <p:sp>
        <p:nvSpPr>
          <p:cNvPr id="7" name="Text 5"/>
          <p:cNvSpPr txBox="1"/>
          <p:nvPr/>
        </p:nvSpPr>
        <p:spPr>
          <a:xfrm>
            <a:off x="822960" y="2148840"/>
            <a:ext cx="4983480" cy="1463040"/>
          </a:xfrm>
          <a:prstGeom prst="rect">
            <a:avLst/>
          </a:prstGeom>
          <a:noFill/>
          <a:ln/>
        </p:spPr>
        <p:txBody>
          <a:bodyPr wrap="square" lIns="0" tIns="0" rIns="0" bIns="0" rtlCol="0" anchor="ctr"/>
          <a:lstStyle/>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Every outcome equally likely. A fair die. A random number between 0 and 1.</a:t>
            </a:r>
            <a:endParaRPr lang="en-US" sz="1250" dirty="0"/>
          </a:p>
          <a:p>
            <a:pPr indent="0" marL="0">
              <a:lnSpc>
                <a:spcPct val="125000"/>
              </a:lnSpc>
              <a:buNone/>
            </a:pPr>
            <a:endParaRPr lang="en-US" sz="1250" dirty="0"/>
          </a:p>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No peak, no tail, no skew. It is the distribution you draw when you have nothing interesting to say.</a:t>
            </a:r>
            <a:endParaRPr lang="en-US" sz="1250" dirty="0"/>
          </a:p>
        </p:txBody>
      </p:sp>
      <p:sp>
        <p:nvSpPr>
          <p:cNvPr id="8" name="Shape 6"/>
          <p:cNvSpPr/>
          <p:nvPr/>
        </p:nvSpPr>
        <p:spPr>
          <a:xfrm>
            <a:off x="6309360" y="1600200"/>
            <a:ext cx="5303520" cy="2148840"/>
          </a:xfrm>
          <a:prstGeom prst="roundRect">
            <a:avLst>
              <a:gd name="adj" fmla="val 383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6565392" y="1764792"/>
            <a:ext cx="4754880" cy="292608"/>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What it is actually for</a:t>
            </a:r>
            <a:endParaRPr lang="en-US" sz="1400" dirty="0"/>
          </a:p>
        </p:txBody>
      </p:sp>
      <p:sp>
        <p:nvSpPr>
          <p:cNvPr id="10" name="Text 8"/>
          <p:cNvSpPr txBox="1"/>
          <p:nvPr/>
        </p:nvSpPr>
        <p:spPr>
          <a:xfrm>
            <a:off x="6675120" y="2148840"/>
            <a:ext cx="4572000" cy="15087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B3445"/>
                </a:solidFill>
                <a:latin typeface="Calibri" pitchFamily="34" charset="0"/>
                <a:ea typeface="Calibri" pitchFamily="34" charset="-122"/>
                <a:cs typeface="Calibri" pitchFamily="34" charset="-120"/>
              </a:rPr>
              <a:t>Where “probability = area” finally makes sense</a:t>
            </a:r>
            <a:endParaRPr lang="en-US" sz="1250" dirty="0"/>
          </a:p>
          <a:p>
            <a:pPr marL="342900" indent="-342900">
              <a:spcAft>
                <a:spcPts val="800"/>
              </a:spcAft>
              <a:buSzPct val="100000"/>
              <a:buChar char="•"/>
            </a:pPr>
            <a:r>
              <a:rPr lang="en-US" sz="1250" dirty="0">
                <a:solidFill>
                  <a:srgbClr val="2B3445"/>
                </a:solidFill>
                <a:latin typeface="Calibri" pitchFamily="34" charset="0"/>
                <a:ea typeface="Calibri" pitchFamily="34" charset="-122"/>
                <a:cs typeface="Calibri" pitchFamily="34" charset="-120"/>
              </a:rPr>
              <a:t>The honest model when you know only the bounds</a:t>
            </a:r>
            <a:endParaRPr lang="en-US" sz="1250" dirty="0"/>
          </a:p>
          <a:p>
            <a:pPr marL="342900" indent="-342900">
              <a:spcAft>
                <a:spcPts val="800"/>
              </a:spcAft>
              <a:buSzPct val="100000"/>
              <a:buChar char="•"/>
            </a:pPr>
            <a:r>
              <a:rPr lang="en-US" sz="1250" dirty="0">
                <a:solidFill>
                  <a:srgbClr val="2B3445"/>
                </a:solidFill>
                <a:latin typeface="Calibri" pitchFamily="34" charset="0"/>
                <a:ea typeface="Calibri" pitchFamily="34" charset="-122"/>
                <a:cs typeface="Calibri" pitchFamily="34" charset="-120"/>
              </a:rPr>
              <a:t>The raw material for every other distribution</a:t>
            </a:r>
            <a:endParaRPr lang="en-US" sz="1250" dirty="0"/>
          </a:p>
          <a:p>
            <a:pPr marL="342900" indent="-342900">
              <a:spcAft>
                <a:spcPts val="800"/>
              </a:spcAft>
              <a:buSzPct val="100000"/>
              <a:buChar char="•"/>
            </a:pPr>
            <a:r>
              <a:rPr lang="en-US" sz="1250" dirty="0">
                <a:solidFill>
                  <a:srgbClr val="2B3445"/>
                </a:solidFill>
                <a:latin typeface="Calibri" pitchFamily="34" charset="0"/>
                <a:ea typeface="Calibri" pitchFamily="34" charset="-122"/>
                <a:cs typeface="Calibri" pitchFamily="34" charset="-120"/>
              </a:rPr>
              <a:t>The thing people assume without checking</a:t>
            </a:r>
            <a:endParaRPr lang="en-US" sz="1250" dirty="0"/>
          </a:p>
        </p:txBody>
      </p:sp>
      <p:sp>
        <p:nvSpPr>
          <p:cNvPr id="11" name="Shape 9"/>
          <p:cNvSpPr/>
          <p:nvPr/>
        </p:nvSpPr>
        <p:spPr>
          <a:xfrm>
            <a:off x="548640" y="3886200"/>
            <a:ext cx="11064240" cy="1965960"/>
          </a:xfrm>
          <a:prstGeom prst="roundRect">
            <a:avLst>
              <a:gd name="adj" fmla="val 418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868680" y="4041648"/>
            <a:ext cx="8229600" cy="274320"/>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Three claims today, in order of how much they will surprise you</a:t>
            </a:r>
            <a:endParaRPr lang="en-US" sz="1450" dirty="0"/>
          </a:p>
        </p:txBody>
      </p:sp>
      <p:sp>
        <p:nvSpPr>
          <p:cNvPr id="13" name="Shape 11"/>
          <p:cNvSpPr/>
          <p:nvPr/>
        </p:nvSpPr>
        <p:spPr>
          <a:xfrm>
            <a:off x="914400" y="4425696"/>
            <a:ext cx="329184" cy="329184"/>
          </a:xfrm>
          <a:prstGeom prst="ellipse">
            <a:avLst/>
          </a:prstGeom>
          <a:solidFill>
            <a:srgbClr val="3E7CB1"/>
          </a:solidFill>
          <a:ln w="12700">
            <a:solidFill>
              <a:srgbClr val="3E7CB1"/>
            </a:solidFill>
            <a:prstDash val="solid"/>
          </a:ln>
        </p:spPr>
      </p:sp>
      <p:sp>
        <p:nvSpPr>
          <p:cNvPr id="14" name="Text 12"/>
          <p:cNvSpPr txBox="1"/>
          <p:nvPr/>
        </p:nvSpPr>
        <p:spPr>
          <a:xfrm>
            <a:off x="914400" y="44256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txBox="1"/>
          <p:nvPr/>
        </p:nvSpPr>
        <p:spPr>
          <a:xfrm>
            <a:off x="1389888" y="4407408"/>
            <a:ext cx="9875520" cy="365760"/>
          </a:xfrm>
          <a:prstGeom prst="rect">
            <a:avLst/>
          </a:prstGeom>
          <a:noFill/>
          <a:ln/>
        </p:spPr>
        <p:txBody>
          <a:bodyPr wrap="square" lIns="0" tIns="0" rIns="0" bIns="0" rtlCol="0" anchor="ctr"/>
          <a:lstStyle/>
          <a:p>
            <a:pPr indent="0" marL="0">
              <a:buNone/>
            </a:pPr>
            <a:r>
              <a:rPr lang="en-US" sz="1350" dirty="0">
                <a:solidFill>
                  <a:srgbClr val="2B3445"/>
                </a:solidFill>
                <a:latin typeface="Calibri" pitchFamily="34" charset="0"/>
                <a:ea typeface="Calibri" pitchFamily="34" charset="-122"/>
                <a:cs typeface="Calibri" pitchFamily="34" charset="-120"/>
              </a:rPr>
              <a:t>The probability of any exact value is ZERO</a:t>
            </a:r>
            <a:endParaRPr lang="en-US" sz="1350" dirty="0"/>
          </a:p>
        </p:txBody>
      </p:sp>
      <p:sp>
        <p:nvSpPr>
          <p:cNvPr id="16" name="Shape 14"/>
          <p:cNvSpPr/>
          <p:nvPr/>
        </p:nvSpPr>
        <p:spPr>
          <a:xfrm>
            <a:off x="914400" y="4873752"/>
            <a:ext cx="329184" cy="329184"/>
          </a:xfrm>
          <a:prstGeom prst="ellipse">
            <a:avLst/>
          </a:prstGeom>
          <a:solidFill>
            <a:srgbClr val="FFC145"/>
          </a:solidFill>
          <a:ln w="12700">
            <a:solidFill>
              <a:srgbClr val="FFC145"/>
            </a:solidFill>
            <a:prstDash val="solid"/>
          </a:ln>
        </p:spPr>
      </p:sp>
      <p:sp>
        <p:nvSpPr>
          <p:cNvPr id="17" name="Text 15"/>
          <p:cNvSpPr txBox="1"/>
          <p:nvPr/>
        </p:nvSpPr>
        <p:spPr>
          <a:xfrm>
            <a:off x="914400" y="487375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8" name="Text 16"/>
          <p:cNvSpPr txBox="1"/>
          <p:nvPr/>
        </p:nvSpPr>
        <p:spPr>
          <a:xfrm>
            <a:off x="1389888" y="4855464"/>
            <a:ext cx="9875520" cy="365760"/>
          </a:xfrm>
          <a:prstGeom prst="rect">
            <a:avLst/>
          </a:prstGeom>
          <a:noFill/>
          <a:ln/>
        </p:spPr>
        <p:txBody>
          <a:bodyPr wrap="square" lIns="0" tIns="0" rIns="0" bIns="0" rtlCol="0" anchor="ctr"/>
          <a:lstStyle/>
          <a:p>
            <a:pPr indent="0" marL="0">
              <a:buNone/>
            </a:pPr>
            <a:r>
              <a:rPr lang="en-US" sz="1350" dirty="0">
                <a:solidFill>
                  <a:srgbClr val="2B3445"/>
                </a:solidFill>
                <a:latin typeface="Calibri" pitchFamily="34" charset="0"/>
                <a:ea typeface="Calibri" pitchFamily="34" charset="-122"/>
                <a:cs typeface="Calibri" pitchFamily="34" charset="-120"/>
              </a:rPr>
              <a:t>The height of the curve can be bigger than 1</a:t>
            </a:r>
            <a:endParaRPr lang="en-US" sz="1350" dirty="0"/>
          </a:p>
        </p:txBody>
      </p:sp>
      <p:sp>
        <p:nvSpPr>
          <p:cNvPr id="19" name="Shape 17"/>
          <p:cNvSpPr/>
          <p:nvPr/>
        </p:nvSpPr>
        <p:spPr>
          <a:xfrm>
            <a:off x="914400" y="5321808"/>
            <a:ext cx="329184" cy="329184"/>
          </a:xfrm>
          <a:prstGeom prst="ellipse">
            <a:avLst/>
          </a:prstGeom>
          <a:solidFill>
            <a:srgbClr val="E8674C"/>
          </a:solidFill>
          <a:ln w="12700">
            <a:solidFill>
              <a:srgbClr val="E8674C"/>
            </a:solidFill>
            <a:prstDash val="solid"/>
          </a:ln>
        </p:spPr>
      </p:sp>
      <p:sp>
        <p:nvSpPr>
          <p:cNvPr id="20" name="Text 18"/>
          <p:cNvSpPr txBox="1"/>
          <p:nvPr/>
        </p:nvSpPr>
        <p:spPr>
          <a:xfrm>
            <a:off x="914400" y="53218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1389888" y="5303520"/>
            <a:ext cx="9875520" cy="365760"/>
          </a:xfrm>
          <a:prstGeom prst="rect">
            <a:avLst/>
          </a:prstGeom>
          <a:noFill/>
          <a:ln/>
        </p:spPr>
        <p:txBody>
          <a:bodyPr wrap="square" lIns="0" tIns="0" rIns="0" bIns="0" rtlCol="0" anchor="ctr"/>
          <a:lstStyle/>
          <a:p>
            <a:pPr indent="0" marL="0">
              <a:buNone/>
            </a:pPr>
            <a:r>
              <a:rPr lang="en-US" sz="1350" dirty="0">
                <a:solidFill>
                  <a:srgbClr val="2B3445"/>
                </a:solidFill>
                <a:latin typeface="Calibri" pitchFamily="34" charset="0"/>
                <a:ea typeface="Calibri" pitchFamily="34" charset="-122"/>
                <a:cs typeface="Calibri" pitchFamily="34" charset="-120"/>
              </a:rPr>
              <a:t>Every random number your computer makes begins here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WARM-UP  ·  5 MINUTES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Four questions from Day 25</a:t>
            </a:r>
            <a:endParaRPr lang="en-US" sz="3200" dirty="0"/>
          </a:p>
        </p:txBody>
      </p:sp>
      <p:sp>
        <p:nvSpPr>
          <p:cNvPr id="5" name="Shape 3"/>
          <p:cNvSpPr/>
          <p:nvPr/>
        </p:nvSpPr>
        <p:spPr>
          <a:xfrm>
            <a:off x="548640" y="1627632"/>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783080"/>
            <a:ext cx="365760" cy="365760"/>
          </a:xfrm>
          <a:prstGeom prst="ellipse">
            <a:avLst/>
          </a:prstGeom>
          <a:solidFill>
            <a:srgbClr val="3E7CB1"/>
          </a:solidFill>
          <a:ln w="12700">
            <a:solidFill>
              <a:srgbClr val="3E7CB1"/>
            </a:solidFill>
            <a:prstDash val="solid"/>
          </a:ln>
        </p:spPr>
      </p:sp>
      <p:sp>
        <p:nvSpPr>
          <p:cNvPr id="7" name="Text 5"/>
          <p:cNvSpPr txBox="1"/>
          <p:nvPr/>
        </p:nvSpPr>
        <p:spPr>
          <a:xfrm>
            <a:off x="777240" y="17830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98448" y="1792224"/>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“Out of” or “per” — what does it decide?</a:t>
            </a:r>
            <a:endParaRPr lang="en-US" sz="1300" dirty="0"/>
          </a:p>
        </p:txBody>
      </p:sp>
      <p:sp>
        <p:nvSpPr>
          <p:cNvPr id="9" name="Text 7"/>
          <p:cNvSpPr txBox="1"/>
          <p:nvPr/>
        </p:nvSpPr>
        <p:spPr>
          <a:xfrm>
            <a:off x="6217920" y="1792224"/>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Binomial if there is a countable n; Poisson if it is a rate.</a:t>
            </a:r>
            <a:endParaRPr lang="en-US" sz="1250" dirty="0"/>
          </a:p>
        </p:txBody>
      </p:sp>
      <p:sp>
        <p:nvSpPr>
          <p:cNvPr id="10" name="Shape 8"/>
          <p:cNvSpPr/>
          <p:nvPr/>
        </p:nvSpPr>
        <p:spPr>
          <a:xfrm>
            <a:off x="548640" y="2414016"/>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777240" y="2569464"/>
            <a:ext cx="365760" cy="365760"/>
          </a:xfrm>
          <a:prstGeom prst="ellipse">
            <a:avLst/>
          </a:prstGeom>
          <a:solidFill>
            <a:srgbClr val="3E7CB1"/>
          </a:solidFill>
          <a:ln w="12700">
            <a:solidFill>
              <a:srgbClr val="3E7CB1"/>
            </a:solidFill>
            <a:prstDash val="solid"/>
          </a:ln>
        </p:spPr>
      </p:sp>
      <p:sp>
        <p:nvSpPr>
          <p:cNvPr id="12" name="Text 10"/>
          <p:cNvSpPr txBox="1"/>
          <p:nvPr/>
        </p:nvSpPr>
        <p:spPr>
          <a:xfrm>
            <a:off x="777240" y="25694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298448" y="2578608"/>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“At least 3” — how do you write it?</a:t>
            </a:r>
            <a:endParaRPr lang="en-US" sz="1300" dirty="0"/>
          </a:p>
        </p:txBody>
      </p:sp>
      <p:sp>
        <p:nvSpPr>
          <p:cNvPr id="14" name="Text 12"/>
          <p:cNvSpPr txBox="1"/>
          <p:nvPr/>
        </p:nvSpPr>
        <p:spPr>
          <a:xfrm>
            <a:off x="6217920" y="2578608"/>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1 − cdf(2). Never 1 − cdf(3).</a:t>
            </a:r>
            <a:endParaRPr lang="en-US" sz="1250" dirty="0"/>
          </a:p>
        </p:txBody>
      </p:sp>
      <p:sp>
        <p:nvSpPr>
          <p:cNvPr id="15" name="Shape 13"/>
          <p:cNvSpPr/>
          <p:nvPr/>
        </p:nvSpPr>
        <p:spPr>
          <a:xfrm>
            <a:off x="548640" y="3200400"/>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777240" y="3355848"/>
            <a:ext cx="365760" cy="365760"/>
          </a:xfrm>
          <a:prstGeom prst="ellipse">
            <a:avLst/>
          </a:prstGeom>
          <a:solidFill>
            <a:srgbClr val="3E7CB1"/>
          </a:solidFill>
          <a:ln w="12700">
            <a:solidFill>
              <a:srgbClr val="3E7CB1"/>
            </a:solidFill>
            <a:prstDash val="solid"/>
          </a:ln>
        </p:spPr>
      </p:sp>
      <p:sp>
        <p:nvSpPr>
          <p:cNvPr id="17" name="Text 15"/>
          <p:cNvSpPr txBox="1"/>
          <p:nvPr/>
        </p:nvSpPr>
        <p:spPr>
          <a:xfrm>
            <a:off x="777240" y="3355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298448" y="3364992"/>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Poisson mean and variance?</a:t>
            </a:r>
            <a:endParaRPr lang="en-US" sz="1300" dirty="0"/>
          </a:p>
        </p:txBody>
      </p:sp>
      <p:sp>
        <p:nvSpPr>
          <p:cNvPr id="19" name="Text 17"/>
          <p:cNvSpPr txBox="1"/>
          <p:nvPr/>
        </p:nvSpPr>
        <p:spPr>
          <a:xfrm>
            <a:off x="6217920" y="3364992"/>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Both equal λ. If var ≫ mean, events are clustering.</a:t>
            </a:r>
            <a:endParaRPr lang="en-US" sz="1250" dirty="0"/>
          </a:p>
        </p:txBody>
      </p:sp>
      <p:sp>
        <p:nvSpPr>
          <p:cNvPr id="20" name="Shape 18"/>
          <p:cNvSpPr/>
          <p:nvPr/>
        </p:nvSpPr>
        <p:spPr>
          <a:xfrm>
            <a:off x="548640" y="3986784"/>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77240" y="4142232"/>
            <a:ext cx="365760" cy="365760"/>
          </a:xfrm>
          <a:prstGeom prst="ellipse">
            <a:avLst/>
          </a:prstGeom>
          <a:solidFill>
            <a:srgbClr val="3E7CB1"/>
          </a:solidFill>
          <a:ln w="12700">
            <a:solidFill>
              <a:srgbClr val="3E7CB1"/>
            </a:solidFill>
            <a:prstDash val="solid"/>
          </a:ln>
        </p:spPr>
      </p:sp>
      <p:sp>
        <p:nvSpPr>
          <p:cNvPr id="22" name="Text 20"/>
          <p:cNvSpPr txBox="1"/>
          <p:nvPr/>
        </p:nvSpPr>
        <p:spPr>
          <a:xfrm>
            <a:off x="777240" y="4142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298448" y="4151376"/>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Why did both distributions go bell-shaped?</a:t>
            </a:r>
            <a:endParaRPr lang="en-US" sz="1300" dirty="0"/>
          </a:p>
        </p:txBody>
      </p:sp>
      <p:sp>
        <p:nvSpPr>
          <p:cNvPr id="24" name="Text 22"/>
          <p:cNvSpPr txBox="1"/>
          <p:nvPr/>
        </p:nvSpPr>
        <p:spPr>
          <a:xfrm>
            <a:off x="6217920" y="4151376"/>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No answer yet — that is Day 27.</a:t>
            </a:r>
            <a:endParaRPr lang="en-US" sz="1250" dirty="0"/>
          </a:p>
        </p:txBody>
      </p:sp>
      <p:sp>
        <p:nvSpPr>
          <p:cNvPr id="25" name="Shape 23"/>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5120640"/>
            <a:ext cx="10424160" cy="548640"/>
          </a:xfrm>
          <a:prstGeom prst="rect">
            <a:avLst/>
          </a:prstGeom>
          <a:noFill/>
          <a:ln/>
        </p:spPr>
        <p:txBody>
          <a:bodyPr wrap="square" lIns="0" tIns="0" rIns="0" bIns="0" rtlCol="0" anchor="ctr"/>
          <a:lstStyle/>
          <a:p>
            <a:pPr indent="0" marL="0">
              <a:buNone/>
            </a:pPr>
            <a:r>
              <a:rPr lang="en-US" sz="1300" i="1" dirty="0">
                <a:solidFill>
                  <a:srgbClr val="8A5B00"/>
                </a:solidFill>
                <a:latin typeface="Calibri" pitchFamily="34" charset="0"/>
                <a:ea typeface="Calibri" pitchFamily="34" charset="-122"/>
                <a:cs typeface="Calibri" pitchFamily="34" charset="-120"/>
              </a:rPr>
              <a:t>Today is the last distribution before the idea that ties all of them together. Keep question 4 in mind — by the end of this session you will have watched it happen a third time.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SESSION PLAN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today's two hours are structured</a:t>
            </a:r>
            <a:endParaRPr lang="en-US" sz="3200" dirty="0"/>
          </a:p>
        </p:txBody>
      </p:sp>
      <p:sp>
        <p:nvSpPr>
          <p:cNvPr id="5" name="Shape 3"/>
          <p:cNvSpPr/>
          <p:nvPr/>
        </p:nvSpPr>
        <p:spPr>
          <a:xfrm>
            <a:off x="548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39112"/>
            <a:ext cx="420624" cy="420624"/>
          </a:xfrm>
          <a:prstGeom prst="ellipse">
            <a:avLst/>
          </a:prstGeom>
          <a:solidFill>
            <a:srgbClr val="3E7CB1"/>
          </a:solidFill>
          <a:ln w="12700">
            <a:solidFill>
              <a:srgbClr val="3E7CB1"/>
            </a:solidFill>
            <a:prstDash val="solid"/>
          </a:ln>
        </p:spPr>
      </p:sp>
      <p:sp>
        <p:nvSpPr>
          <p:cNvPr id="7" name="Text 5"/>
          <p:cNvSpPr txBox="1"/>
          <p:nvPr/>
        </p:nvSpPr>
        <p:spPr>
          <a:xfrm>
            <a:off x="804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Discrete uniform</a:t>
            </a:r>
            <a:endParaRPr lang="en-US" sz="1550" dirty="0"/>
          </a:p>
        </p:txBody>
      </p:sp>
      <p:sp>
        <p:nvSpPr>
          <p:cNvPr id="9" name="Text 7"/>
          <p:cNvSpPr txBox="1"/>
          <p:nvPr/>
        </p:nvSpPr>
        <p:spPr>
          <a:xfrm>
            <a:off x="1417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A die: 1/n, and the two formulas</a:t>
            </a:r>
            <a:endParaRPr lang="en-US" sz="1250" dirty="0"/>
          </a:p>
        </p:txBody>
      </p:sp>
      <p:sp>
        <p:nvSpPr>
          <p:cNvPr id="10" name="Text 8"/>
          <p:cNvSpPr txBox="1"/>
          <p:nvPr/>
        </p:nvSpPr>
        <p:spPr>
          <a:xfrm>
            <a:off x="4709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15 min</a:t>
            </a:r>
            <a:endParaRPr lang="en-US" sz="1300" dirty="0"/>
          </a:p>
        </p:txBody>
      </p:sp>
      <p:sp>
        <p:nvSpPr>
          <p:cNvPr id="11" name="Shape 9"/>
          <p:cNvSpPr/>
          <p:nvPr/>
        </p:nvSpPr>
        <p:spPr>
          <a:xfrm>
            <a:off x="6263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6519672" y="2039112"/>
            <a:ext cx="420624" cy="420624"/>
          </a:xfrm>
          <a:prstGeom prst="ellipse">
            <a:avLst/>
          </a:prstGeom>
          <a:solidFill>
            <a:srgbClr val="FFC145"/>
          </a:solidFill>
          <a:ln w="12700">
            <a:solidFill>
              <a:srgbClr val="FFC145"/>
            </a:solidFill>
            <a:prstDash val="solid"/>
          </a:ln>
        </p:spPr>
      </p:sp>
      <p:sp>
        <p:nvSpPr>
          <p:cNvPr id="13" name="Text 11"/>
          <p:cNvSpPr txBox="1"/>
          <p:nvPr/>
        </p:nvSpPr>
        <p:spPr>
          <a:xfrm>
            <a:off x="6519672" y="203911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32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Continuous uniform</a:t>
            </a:r>
            <a:endParaRPr lang="en-US" sz="1550" dirty="0"/>
          </a:p>
        </p:txBody>
      </p:sp>
      <p:sp>
        <p:nvSpPr>
          <p:cNvPr id="15" name="Text 13"/>
          <p:cNvSpPr txBox="1"/>
          <p:nvPr/>
        </p:nvSpPr>
        <p:spPr>
          <a:xfrm>
            <a:off x="7132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The rectangle, and why area is everything</a:t>
            </a:r>
            <a:endParaRPr lang="en-US" sz="1250" dirty="0"/>
          </a:p>
        </p:txBody>
      </p:sp>
      <p:sp>
        <p:nvSpPr>
          <p:cNvPr id="16" name="Text 14"/>
          <p:cNvSpPr txBox="1"/>
          <p:nvPr/>
        </p:nvSpPr>
        <p:spPr>
          <a:xfrm>
            <a:off x="10424160" y="187452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17" name="Shape 15"/>
          <p:cNvSpPr/>
          <p:nvPr/>
        </p:nvSpPr>
        <p:spPr>
          <a:xfrm>
            <a:off x="548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04672" y="3364992"/>
            <a:ext cx="420624" cy="420624"/>
          </a:xfrm>
          <a:prstGeom prst="ellipse">
            <a:avLst/>
          </a:prstGeom>
          <a:solidFill>
            <a:srgbClr val="E8674C"/>
          </a:solidFill>
          <a:ln w="12700">
            <a:solidFill>
              <a:srgbClr val="E8674C"/>
            </a:solidFill>
            <a:prstDash val="solid"/>
          </a:ln>
        </p:spPr>
      </p:sp>
      <p:sp>
        <p:nvSpPr>
          <p:cNvPr id="19" name="Text 17"/>
          <p:cNvSpPr txBox="1"/>
          <p:nvPr/>
        </p:nvSpPr>
        <p:spPr>
          <a:xfrm>
            <a:off x="804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Is it really uniform?</a:t>
            </a:r>
            <a:endParaRPr lang="en-US" sz="1550" dirty="0"/>
          </a:p>
        </p:txBody>
      </p:sp>
      <p:sp>
        <p:nvSpPr>
          <p:cNvPr id="21" name="Text 19"/>
          <p:cNvSpPr txBox="1"/>
          <p:nvPr/>
        </p:nvSpPr>
        <p:spPr>
          <a:xfrm>
            <a:off x="1417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Testing it, and two famous failures</a:t>
            </a:r>
            <a:endParaRPr lang="en-US" sz="1250" dirty="0"/>
          </a:p>
        </p:txBody>
      </p:sp>
      <p:sp>
        <p:nvSpPr>
          <p:cNvPr id="22" name="Text 20"/>
          <p:cNvSpPr txBox="1"/>
          <p:nvPr/>
        </p:nvSpPr>
        <p:spPr>
          <a:xfrm>
            <a:off x="4709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23" name="Shape 21"/>
          <p:cNvSpPr/>
          <p:nvPr/>
        </p:nvSpPr>
        <p:spPr>
          <a:xfrm>
            <a:off x="6263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6519672" y="3364992"/>
            <a:ext cx="420624" cy="420624"/>
          </a:xfrm>
          <a:prstGeom prst="ellipse">
            <a:avLst/>
          </a:prstGeom>
          <a:solidFill>
            <a:srgbClr val="2FA98C"/>
          </a:solidFill>
          <a:ln w="12700">
            <a:solidFill>
              <a:srgbClr val="2FA98C"/>
            </a:solidFill>
            <a:prstDash val="solid"/>
          </a:ln>
        </p:spPr>
      </p:sp>
      <p:sp>
        <p:nvSpPr>
          <p:cNvPr id="25" name="Text 23"/>
          <p:cNvSpPr txBox="1"/>
          <p:nvPr/>
        </p:nvSpPr>
        <p:spPr>
          <a:xfrm>
            <a:off x="6519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132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The foundation</a:t>
            </a:r>
            <a:endParaRPr lang="en-US" sz="1550" dirty="0"/>
          </a:p>
        </p:txBody>
      </p:sp>
      <p:sp>
        <p:nvSpPr>
          <p:cNvPr id="27" name="Text 25"/>
          <p:cNvSpPr txBox="1"/>
          <p:nvPr/>
        </p:nvSpPr>
        <p:spPr>
          <a:xfrm>
            <a:off x="7132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Every random number starts as U(0,1)</a:t>
            </a:r>
            <a:endParaRPr lang="en-US" sz="1250" dirty="0"/>
          </a:p>
        </p:txBody>
      </p:sp>
      <p:sp>
        <p:nvSpPr>
          <p:cNvPr id="28" name="Text 26"/>
          <p:cNvSpPr txBox="1"/>
          <p:nvPr/>
        </p:nvSpPr>
        <p:spPr>
          <a:xfrm>
            <a:off x="10424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29" name="Shape 27"/>
          <p:cNvSpPr/>
          <p:nvPr/>
        </p:nvSpPr>
        <p:spPr>
          <a:xfrm>
            <a:off x="548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Shape 28"/>
          <p:cNvSpPr/>
          <p:nvPr/>
        </p:nvSpPr>
        <p:spPr>
          <a:xfrm>
            <a:off x="804672" y="4690872"/>
            <a:ext cx="420624" cy="420624"/>
          </a:xfrm>
          <a:prstGeom prst="ellipse">
            <a:avLst/>
          </a:prstGeom>
          <a:solidFill>
            <a:srgbClr val="3E7CB1"/>
          </a:solidFill>
          <a:ln w="12700">
            <a:solidFill>
              <a:srgbClr val="3E7CB1"/>
            </a:solidFill>
            <a:prstDash val="solid"/>
          </a:ln>
        </p:spPr>
      </p:sp>
      <p:sp>
        <p:nvSpPr>
          <p:cNvPr id="31" name="Text 29"/>
          <p:cNvSpPr txBox="1"/>
          <p:nvPr/>
        </p:nvSpPr>
        <p:spPr>
          <a:xfrm>
            <a:off x="804672" y="4690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452628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Where it leads</a:t>
            </a:r>
            <a:endParaRPr lang="en-US" sz="1550" dirty="0"/>
          </a:p>
        </p:txBody>
      </p:sp>
      <p:sp>
        <p:nvSpPr>
          <p:cNvPr id="33" name="Text 31"/>
          <p:cNvSpPr txBox="1"/>
          <p:nvPr/>
        </p:nvSpPr>
        <p:spPr>
          <a:xfrm>
            <a:off x="1417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One uniform is flat; twelve are a bell</a:t>
            </a:r>
            <a:endParaRPr lang="en-US" sz="1250" dirty="0"/>
          </a:p>
        </p:txBody>
      </p:sp>
      <p:sp>
        <p:nvSpPr>
          <p:cNvPr id="34" name="Text 32"/>
          <p:cNvSpPr txBox="1"/>
          <p:nvPr/>
        </p:nvSpPr>
        <p:spPr>
          <a:xfrm>
            <a:off x="4709160" y="452628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min</a:t>
            </a:r>
            <a:endParaRPr lang="en-US" sz="1300" dirty="0"/>
          </a:p>
        </p:txBody>
      </p:sp>
      <p:sp>
        <p:nvSpPr>
          <p:cNvPr id="35" name="Shape 33"/>
          <p:cNvSpPr/>
          <p:nvPr/>
        </p:nvSpPr>
        <p:spPr>
          <a:xfrm>
            <a:off x="6263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Shape 34"/>
          <p:cNvSpPr/>
          <p:nvPr/>
        </p:nvSpPr>
        <p:spPr>
          <a:xfrm>
            <a:off x="6519672" y="4690872"/>
            <a:ext cx="420624" cy="420624"/>
          </a:xfrm>
          <a:prstGeom prst="ellipse">
            <a:avLst/>
          </a:prstGeom>
          <a:solidFill>
            <a:srgbClr val="FFC145"/>
          </a:solidFill>
          <a:ln w="12700">
            <a:solidFill>
              <a:srgbClr val="FFC145"/>
            </a:solidFill>
            <a:prstDash val="solid"/>
          </a:ln>
        </p:spPr>
      </p:sp>
      <p:sp>
        <p:nvSpPr>
          <p:cNvPr id="37" name="Text 35"/>
          <p:cNvSpPr txBox="1"/>
          <p:nvPr/>
        </p:nvSpPr>
        <p:spPr>
          <a:xfrm>
            <a:off x="6519672" y="469087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38" name="Text 36"/>
          <p:cNvSpPr txBox="1"/>
          <p:nvPr/>
        </p:nvSpPr>
        <p:spPr>
          <a:xfrm>
            <a:off x="7132320" y="452628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Practice notebook</a:t>
            </a:r>
            <a:endParaRPr lang="en-US" sz="1550" dirty="0"/>
          </a:p>
        </p:txBody>
      </p:sp>
      <p:sp>
        <p:nvSpPr>
          <p:cNvPr id="39" name="Text 37"/>
          <p:cNvSpPr txBox="1"/>
          <p:nvPr/>
        </p:nvSpPr>
        <p:spPr>
          <a:xfrm>
            <a:off x="7132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You code, I walk around</a:t>
            </a:r>
            <a:endParaRPr lang="en-US" sz="1250" dirty="0"/>
          </a:p>
        </p:txBody>
      </p:sp>
      <p:sp>
        <p:nvSpPr>
          <p:cNvPr id="40" name="Text 38"/>
          <p:cNvSpPr txBox="1"/>
          <p:nvPr/>
        </p:nvSpPr>
        <p:spPr>
          <a:xfrm>
            <a:off x="10424160" y="452628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41" name="Text 39"/>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Section 2 is the one to pay attention to. It contains the single idea that separates discrete from continuous probability, and it is the idea people most often carry a wrong version of for years.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Discrete Uniform</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A die, and the two formulas  ·  15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Every outcome 1/n</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Mean and variance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Where it genuinely applies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1.1  ·  A FAIR DIE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Start with the simplest thing in probability</a:t>
            </a:r>
            <a:endParaRPr lang="en-US" sz="3200" dirty="0"/>
          </a:p>
        </p:txBody>
      </p:sp>
      <p:pic>
        <p:nvPicPr>
          <p:cNvPr id="5" name="Image 0" descr="/home/claude/day26/fig/die.png">    </p:cNvPr>
          <p:cNvPicPr>
            <a:picLocks noChangeAspect="1"/>
          </p:cNvPicPr>
          <p:nvPr/>
        </p:nvPicPr>
        <p:blipFill>
          <a:blip r:embed="rId1"/>
          <a:stretch>
            <a:fillRect/>
          </a:stretch>
        </p:blipFill>
        <p:spPr>
          <a:xfrm>
            <a:off x="731520" y="1572768"/>
            <a:ext cx="6035040" cy="3171329"/>
          </a:xfrm>
          <a:prstGeom prst="rect">
            <a:avLst/>
          </a:prstGeom>
        </p:spPr>
      </p:pic>
      <p:sp>
        <p:nvSpPr>
          <p:cNvPr id="6" name="Shape 3"/>
          <p:cNvSpPr/>
          <p:nvPr/>
        </p:nvSpPr>
        <p:spPr>
          <a:xfrm>
            <a:off x="7040880" y="1572768"/>
            <a:ext cx="4572000" cy="3291840"/>
          </a:xfrm>
          <a:prstGeom prst="roundRect">
            <a:avLst>
              <a:gd name="adj" fmla="val 25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296912" y="1737360"/>
            <a:ext cx="411480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There is nothing to learn here yet</a:t>
            </a:r>
            <a:endParaRPr lang="en-US" sz="1350" dirty="0"/>
          </a:p>
        </p:txBody>
      </p:sp>
      <p:sp>
        <p:nvSpPr>
          <p:cNvPr id="8" name="Text 5"/>
          <p:cNvSpPr txBox="1"/>
          <p:nvPr/>
        </p:nvSpPr>
        <p:spPr>
          <a:xfrm>
            <a:off x="7296912" y="2103120"/>
            <a:ext cx="4114800" cy="1645920"/>
          </a:xfrm>
          <a:prstGeom prst="rect">
            <a:avLst/>
          </a:prstGeom>
          <a:noFill/>
          <a:ln/>
        </p:spPr>
        <p:txBody>
          <a:bodyPr wrap="square" lIns="0" tIns="0" rIns="0" bIns="0" rtlCol="0" anchor="ctr"/>
          <a:lstStyle/>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Six outcomes, each equally likely, so each has probability 1/6.</a:t>
            </a:r>
            <a:endParaRPr lang="en-US" sz="1250" dirty="0"/>
          </a:p>
          <a:p>
            <a:pPr indent="0" marL="0">
              <a:lnSpc>
                <a:spcPct val="125000"/>
              </a:lnSpc>
              <a:buNone/>
            </a:pPr>
            <a:endParaRPr lang="en-US" sz="1250" dirty="0"/>
          </a:p>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That is the whole discrete uniform distribution. It has one parameter — how many outcomes — and once you know it there is nothing left to compute.</a:t>
            </a:r>
            <a:endParaRPr lang="en-US" sz="1250" dirty="0"/>
          </a:p>
        </p:txBody>
      </p:sp>
      <p:sp>
        <p:nvSpPr>
          <p:cNvPr id="9" name="Shape 6"/>
          <p:cNvSpPr/>
          <p:nvPr/>
        </p:nvSpPr>
        <p:spPr>
          <a:xfrm>
            <a:off x="7296912" y="3749040"/>
            <a:ext cx="4114800" cy="960120"/>
          </a:xfrm>
          <a:prstGeom prst="roundRect">
            <a:avLst>
              <a:gd name="adj" fmla="val 6667"/>
            </a:avLst>
          </a:prstGeom>
          <a:solidFill>
            <a:srgbClr val="1B2B45"/>
          </a:solidFill>
          <a:ln w="12700">
            <a:solidFill>
              <a:srgbClr val="1B2B45"/>
            </a:solidFill>
            <a:prstDash val="solid"/>
          </a:ln>
        </p:spPr>
      </p:sp>
      <p:sp>
        <p:nvSpPr>
          <p:cNvPr id="10" name="Text 7"/>
          <p:cNvSpPr txBox="1"/>
          <p:nvPr/>
        </p:nvSpPr>
        <p:spPr>
          <a:xfrm>
            <a:off x="7461504" y="3858768"/>
            <a:ext cx="3785616" cy="74066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stats.randint(1, 7).pmf(3)</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-&gt;  0.16666666</a:t>
            </a:r>
            <a:endParaRPr lang="en-US" sz="1000" dirty="0"/>
          </a:p>
        </p:txBody>
      </p:sp>
      <p:sp>
        <p:nvSpPr>
          <p:cNvPr id="11" name="Shape 8"/>
          <p:cNvSpPr/>
          <p:nvPr/>
        </p:nvSpPr>
        <p:spPr>
          <a:xfrm>
            <a:off x="548640" y="5029200"/>
            <a:ext cx="11064240" cy="822960"/>
          </a:xfrm>
          <a:prstGeom prst="roundRect">
            <a:avLst>
              <a:gd name="adj" fmla="val 10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9"/>
          <p:cNvSpPr txBox="1"/>
          <p:nvPr/>
        </p:nvSpPr>
        <p:spPr>
          <a:xfrm>
            <a:off x="868680" y="5193792"/>
            <a:ext cx="10424160" cy="50292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Worth saying out loud: the bars are flat because nothing distinguishes the outcomes. The moment one face is heavier than the others, this stops being the right model — and section 3 is about how you would know.</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1.2  ·  THE FORMULAS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Mean and spread, for n equally likely values a … b</a:t>
            </a:r>
            <a:endParaRPr lang="en-US" sz="3200" dirty="0"/>
          </a:p>
        </p:txBody>
      </p:sp>
      <p:sp>
        <p:nvSpPr>
          <p:cNvPr id="5" name="Shape 3"/>
          <p:cNvSpPr/>
          <p:nvPr/>
        </p:nvSpPr>
        <p:spPr>
          <a:xfrm>
            <a:off x="548640" y="1600200"/>
            <a:ext cx="5486400" cy="2286000"/>
          </a:xfrm>
          <a:prstGeom prst="roundRect">
            <a:avLst>
              <a:gd name="adj" fmla="val 36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64792"/>
            <a:ext cx="49377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The mean is the obvious one</a:t>
            </a:r>
            <a:endParaRPr lang="en-US" sz="1400" dirty="0"/>
          </a:p>
        </p:txBody>
      </p:sp>
      <p:sp>
        <p:nvSpPr>
          <p:cNvPr id="7" name="Text 5"/>
          <p:cNvSpPr txBox="1"/>
          <p:nvPr/>
        </p:nvSpPr>
        <p:spPr>
          <a:xfrm>
            <a:off x="804672" y="2194560"/>
            <a:ext cx="4983480" cy="384048"/>
          </a:xfrm>
          <a:prstGeom prst="rect">
            <a:avLst/>
          </a:prstGeom>
          <a:noFill/>
          <a:ln/>
        </p:spPr>
        <p:txBody>
          <a:bodyPr wrap="square" lIns="0" tIns="0" rIns="0" bIns="0" rtlCol="0" anchor="ctr"/>
          <a:lstStyle/>
          <a:p>
            <a:pPr algn="ctr" indent="0" marL="0">
              <a:buNone/>
            </a:pPr>
            <a:r>
              <a:rPr lang="en-US" sz="2200" b="1" dirty="0">
                <a:solidFill>
                  <a:srgbClr val="3E7CB1"/>
                </a:solidFill>
                <a:latin typeface="Cambria" pitchFamily="34" charset="0"/>
                <a:ea typeface="Cambria" pitchFamily="34" charset="-122"/>
                <a:cs typeface="Cambria" pitchFamily="34" charset="-120"/>
              </a:rPr>
              <a:t>mean  =  (a + b) / 2</a:t>
            </a:r>
            <a:endParaRPr lang="en-US" sz="2200" dirty="0"/>
          </a:p>
        </p:txBody>
      </p:sp>
      <p:sp>
        <p:nvSpPr>
          <p:cNvPr id="8" name="Text 6"/>
          <p:cNvSpPr txBox="1"/>
          <p:nvPr/>
        </p:nvSpPr>
        <p:spPr>
          <a:xfrm>
            <a:off x="804672" y="2697480"/>
            <a:ext cx="4983480" cy="1005840"/>
          </a:xfrm>
          <a:prstGeom prst="rect">
            <a:avLst/>
          </a:prstGeom>
          <a:noFill/>
          <a:ln/>
        </p:spPr>
        <p:txBody>
          <a:bodyPr wrap="square" lIns="0" tIns="0" rIns="0" bIns="0" rtlCol="0" anchor="ctr"/>
          <a:lstStyle/>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Dead centre, because the distribution is symmetric about its middle. For a die: (1 + 6) / 2 = 3.5 — a value the die can never actually show.</a:t>
            </a:r>
            <a:endParaRPr lang="en-US" sz="1250" dirty="0"/>
          </a:p>
        </p:txBody>
      </p:sp>
      <p:sp>
        <p:nvSpPr>
          <p:cNvPr id="9" name="Shape 7"/>
          <p:cNvSpPr/>
          <p:nvPr/>
        </p:nvSpPr>
        <p:spPr>
          <a:xfrm>
            <a:off x="6309360" y="1600200"/>
            <a:ext cx="5303520" cy="2286000"/>
          </a:xfrm>
          <a:prstGeom prst="roundRect">
            <a:avLst>
              <a:gd name="adj" fmla="val 36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64792"/>
            <a:ext cx="475488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The variance is the one to look up</a:t>
            </a:r>
            <a:endParaRPr lang="en-US" sz="1400" dirty="0"/>
          </a:p>
        </p:txBody>
      </p:sp>
      <p:sp>
        <p:nvSpPr>
          <p:cNvPr id="11" name="Text 9"/>
          <p:cNvSpPr txBox="1"/>
          <p:nvPr/>
        </p:nvSpPr>
        <p:spPr>
          <a:xfrm>
            <a:off x="6565392" y="2194560"/>
            <a:ext cx="4800600" cy="384048"/>
          </a:xfrm>
          <a:prstGeom prst="rect">
            <a:avLst/>
          </a:prstGeom>
          <a:noFill/>
          <a:ln/>
        </p:spPr>
        <p:txBody>
          <a:bodyPr wrap="square" lIns="0" tIns="0" rIns="0" bIns="0" rtlCol="0" anchor="ctr"/>
          <a:lstStyle/>
          <a:p>
            <a:pPr algn="ctr" indent="0" marL="0">
              <a:buNone/>
            </a:pPr>
            <a:r>
              <a:rPr lang="en-US" sz="2200" b="1" dirty="0">
                <a:solidFill>
                  <a:srgbClr val="2FA98C"/>
                </a:solidFill>
                <a:latin typeface="Cambria" pitchFamily="34" charset="0"/>
                <a:ea typeface="Cambria" pitchFamily="34" charset="-122"/>
                <a:cs typeface="Cambria" pitchFamily="34" charset="-120"/>
              </a:rPr>
              <a:t>variance  =  (n² − 1) / 12</a:t>
            </a:r>
            <a:endParaRPr lang="en-US" sz="2200" dirty="0"/>
          </a:p>
        </p:txBody>
      </p:sp>
      <p:sp>
        <p:nvSpPr>
          <p:cNvPr id="12" name="Text 10"/>
          <p:cNvSpPr txBox="1"/>
          <p:nvPr/>
        </p:nvSpPr>
        <p:spPr>
          <a:xfrm>
            <a:off x="6565392" y="2697480"/>
            <a:ext cx="4800600" cy="1051560"/>
          </a:xfrm>
          <a:prstGeom prst="rect">
            <a:avLst/>
          </a:prstGeom>
          <a:noFill/>
          <a:ln/>
        </p:spPr>
        <p:txBody>
          <a:bodyPr wrap="square" lIns="0" tIns="0" rIns="0" bIns="0" rtlCol="0" anchor="ctr"/>
          <a:lstStyle/>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Nobody derives this in their head. For a die: (36 − 1) / 12 = 2.9167, so sd = 1.708.</a:t>
            </a:r>
            <a:endParaRPr lang="en-US" sz="1250" dirty="0"/>
          </a:p>
          <a:p>
            <a:pPr indent="0" marL="0">
              <a:lnSpc>
                <a:spcPct val="120000"/>
              </a:lnSpc>
              <a:buNone/>
            </a:pPr>
            <a:endParaRPr lang="en-US" sz="1250" dirty="0"/>
          </a:p>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The 12 will turn up again in ten minutes, and again on Day 27.</a:t>
            </a:r>
            <a:endParaRPr lang="en-US" sz="1250" dirty="0"/>
          </a:p>
        </p:txBody>
      </p:sp>
      <p:sp>
        <p:nvSpPr>
          <p:cNvPr id="13" name="Shape 11"/>
          <p:cNvSpPr/>
          <p:nvPr/>
        </p:nvSpPr>
        <p:spPr>
          <a:xfrm>
            <a:off x="548640" y="4069080"/>
            <a:ext cx="11064240" cy="1783080"/>
          </a:xfrm>
          <a:prstGeom prst="roundRect">
            <a:avLst>
              <a:gd name="adj" fmla="val 461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868680" y="4224528"/>
            <a:ext cx="82296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Check it against scipy rather than trusting either of us</a:t>
            </a:r>
            <a:endParaRPr lang="en-US" sz="1450" dirty="0"/>
          </a:p>
        </p:txBody>
      </p:sp>
      <p:sp>
        <p:nvSpPr>
          <p:cNvPr id="15" name="Shape 13"/>
          <p:cNvSpPr/>
          <p:nvPr/>
        </p:nvSpPr>
        <p:spPr>
          <a:xfrm>
            <a:off x="868680" y="4553712"/>
            <a:ext cx="5577840" cy="1097280"/>
          </a:xfrm>
          <a:prstGeom prst="roundRect">
            <a:avLst>
              <a:gd name="adj" fmla="val 5833"/>
            </a:avLst>
          </a:prstGeom>
          <a:solidFill>
            <a:srgbClr val="1B2B45"/>
          </a:solidFill>
          <a:ln w="12700">
            <a:solidFill>
              <a:srgbClr val="1B2B45"/>
            </a:solidFill>
            <a:prstDash val="solid"/>
          </a:ln>
        </p:spPr>
      </p:sp>
      <p:sp>
        <p:nvSpPr>
          <p:cNvPr id="16" name="Text 14"/>
          <p:cNvSpPr txBox="1"/>
          <p:nvPr/>
        </p:nvSpPr>
        <p:spPr>
          <a:xfrm>
            <a:off x="1033272" y="4663440"/>
            <a:ext cx="5248656" cy="87782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 = stats.randint(1, 7)       # a fair die</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d.mean()   -&gt;  3.5</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d.var()    -&gt;  2.9166666</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d.std()    -&gt;  1.7078251</a:t>
            </a:r>
            <a:endParaRPr lang="en-US" sz="1000" dirty="0"/>
          </a:p>
        </p:txBody>
      </p:sp>
      <p:sp>
        <p:nvSpPr>
          <p:cNvPr id="17" name="Text 15"/>
          <p:cNvSpPr txBox="1"/>
          <p:nvPr/>
        </p:nvSpPr>
        <p:spPr>
          <a:xfrm>
            <a:off x="6766560" y="4553712"/>
            <a:ext cx="4617720" cy="118872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A mean the outcome can never equal is not a mistake — it is the long-run average. Roll a die a thousand times and the running average heads for 3.5 without ever landing on it.</a:t>
            </a:r>
            <a:endParaRPr lang="en-US" sz="1200" dirty="0"/>
          </a:p>
          <a:p>
            <a:pPr indent="0" marL="0">
              <a:lnSpc>
                <a:spcPct val="120000"/>
              </a:lnSpc>
              <a:buNone/>
            </a:pPr>
            <a:endParaRPr lang="en-US" sz="1200" dirty="0"/>
          </a:p>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This is the same point as “2.4 children per family”.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2</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Continuous Uniform</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The rectangle, and why area is everything  ·  30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From bars to a rectangle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Probability is AREA</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Density is not probability</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cdf</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2.1  ·  THE BRIDGE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What happens when the outcomes get closer together</a:t>
            </a:r>
            <a:endParaRPr lang="en-US" sz="3200" dirty="0"/>
          </a:p>
        </p:txBody>
      </p:sp>
      <p:pic>
        <p:nvPicPr>
          <p:cNvPr id="5" name="Image 0" descr="/home/claude/day26/fig/bars_to_rect.png">    </p:cNvPr>
          <p:cNvPicPr>
            <a:picLocks noChangeAspect="1"/>
          </p:cNvPicPr>
          <p:nvPr/>
        </p:nvPicPr>
        <p:blipFill>
          <a:blip r:embed="rId1"/>
          <a:stretch>
            <a:fillRect/>
          </a:stretch>
        </p:blipFill>
        <p:spPr>
          <a:xfrm>
            <a:off x="731520" y="1600200"/>
            <a:ext cx="10698480" cy="2457161"/>
          </a:xfrm>
          <a:prstGeom prst="rect">
            <a:avLst/>
          </a:prstGeom>
        </p:spPr>
      </p:pic>
      <p:sp>
        <p:nvSpPr>
          <p:cNvPr id="6" name="Shape 3"/>
          <p:cNvSpPr/>
          <p:nvPr/>
        </p:nvSpPr>
        <p:spPr>
          <a:xfrm>
            <a:off x="548640" y="4206240"/>
            <a:ext cx="5486400" cy="1645920"/>
          </a:xfrm>
          <a:prstGeom prst="roundRect">
            <a:avLst>
              <a:gd name="adj" fmla="val 50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370832"/>
            <a:ext cx="49377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Watch the height collapse</a:t>
            </a:r>
            <a:endParaRPr lang="en-US" sz="1400" dirty="0"/>
          </a:p>
        </p:txBody>
      </p:sp>
      <p:sp>
        <p:nvSpPr>
          <p:cNvPr id="8" name="Text 5"/>
          <p:cNvSpPr txBox="1"/>
          <p:nvPr/>
        </p:nvSpPr>
        <p:spPr>
          <a:xfrm>
            <a:off x="804672" y="4718304"/>
            <a:ext cx="4983480" cy="1005840"/>
          </a:xfrm>
          <a:prstGeom prst="rect">
            <a:avLst/>
          </a:prstGeom>
          <a:noFill/>
          <a:ln/>
        </p:spPr>
        <p:txBody>
          <a:bodyPr wrap="square" lIns="0" tIns="0" rIns="0" bIns="0" rtlCol="0" anchor="ctr"/>
          <a:lstStyle/>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With 6 outcomes each bar is 1/6 tall. With 100, each is 1/100. Keep going and every individual probability goes to zero — but the total stays 1, because there are more of them.</a:t>
            </a:r>
            <a:endParaRPr lang="en-US" sz="1250" dirty="0"/>
          </a:p>
        </p:txBody>
      </p:sp>
      <p:sp>
        <p:nvSpPr>
          <p:cNvPr id="9" name="Shape 6"/>
          <p:cNvSpPr/>
          <p:nvPr/>
        </p:nvSpPr>
        <p:spPr>
          <a:xfrm>
            <a:off x="6309360" y="4206240"/>
            <a:ext cx="5303520" cy="1645920"/>
          </a:xfrm>
          <a:prstGeom prst="roundRect">
            <a:avLst>
              <a:gd name="adj" fmla="val 5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370832"/>
            <a:ext cx="475488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In the limit there are no bars at all</a:t>
            </a:r>
            <a:endParaRPr lang="en-US" sz="1400" dirty="0"/>
          </a:p>
        </p:txBody>
      </p:sp>
      <p:sp>
        <p:nvSpPr>
          <p:cNvPr id="11" name="Text 8"/>
          <p:cNvSpPr txBox="1"/>
          <p:nvPr/>
        </p:nvSpPr>
        <p:spPr>
          <a:xfrm>
            <a:off x="6565392" y="4718304"/>
            <a:ext cx="4800600" cy="1051560"/>
          </a:xfrm>
          <a:prstGeom prst="rect">
            <a:avLst/>
          </a:prstGeom>
          <a:noFill/>
          <a:ln/>
        </p:spPr>
        <p:txBody>
          <a:bodyPr wrap="square" lIns="0" tIns="0" rIns="0" bIns="0" rtlCol="0" anchor="ctr"/>
          <a:lstStyle/>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A value can be anything between 0 and 10 — 3, or 3.1, or 3.14159. There are infinitely many, so asking for the probability of one of them stops making sense.</a:t>
            </a:r>
            <a:endParaRPr lang="en-US" sz="1250" dirty="0"/>
          </a:p>
          <a:p>
            <a:pPr indent="0" marL="0">
              <a:lnSpc>
                <a:spcPct val="120000"/>
              </a:lnSpc>
              <a:buNone/>
            </a:pPr>
            <a:endParaRPr lang="en-US" sz="1250" dirty="0"/>
          </a:p>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Something has to replace it.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2.2  ·  THE KEY IDEA</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Probability becomes AREA, not height</a:t>
            </a:r>
            <a:endParaRPr lang="en-US" sz="3200" dirty="0"/>
          </a:p>
        </p:txBody>
      </p:sp>
      <p:pic>
        <p:nvPicPr>
          <p:cNvPr id="5" name="Image 0" descr="/home/claude/day26/fig/pdf_area.png">    </p:cNvPr>
          <p:cNvPicPr>
            <a:picLocks noChangeAspect="1"/>
          </p:cNvPicPr>
          <p:nvPr/>
        </p:nvPicPr>
        <p:blipFill>
          <a:blip r:embed="rId1"/>
          <a:stretch>
            <a:fillRect/>
          </a:stretch>
        </p:blipFill>
        <p:spPr>
          <a:xfrm>
            <a:off x="731520" y="1554480"/>
            <a:ext cx="10698480" cy="2855974"/>
          </a:xfrm>
          <a:prstGeom prst="rect">
            <a:avLst/>
          </a:prstGeom>
        </p:spPr>
      </p:pic>
      <p:sp>
        <p:nvSpPr>
          <p:cNvPr id="6" name="Shape 3"/>
          <p:cNvSpPr/>
          <p:nvPr/>
        </p:nvSpPr>
        <p:spPr>
          <a:xfrm>
            <a:off x="548640" y="4526280"/>
            <a:ext cx="5486400" cy="1325880"/>
          </a:xfrm>
          <a:prstGeom prst="roundRect">
            <a:avLst>
              <a:gd name="adj" fmla="val 6207"/>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663440"/>
            <a:ext cx="493776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A range has an answer</a:t>
            </a:r>
            <a:endParaRPr lang="en-US" sz="1350" dirty="0"/>
          </a:p>
        </p:txBody>
      </p:sp>
      <p:sp>
        <p:nvSpPr>
          <p:cNvPr id="8" name="Text 5"/>
          <p:cNvSpPr txBox="1"/>
          <p:nvPr/>
        </p:nvSpPr>
        <p:spPr>
          <a:xfrm>
            <a:off x="804672" y="4983480"/>
            <a:ext cx="4983480" cy="77724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The band from 3 to 7 is 4 wide and 0.1 tall, so its area is 0.4. That is the probability — 40% of values land in there.</a:t>
            </a:r>
            <a:endParaRPr lang="en-US" sz="1200" dirty="0"/>
          </a:p>
        </p:txBody>
      </p:sp>
      <p:sp>
        <p:nvSpPr>
          <p:cNvPr id="9" name="Shape 6"/>
          <p:cNvSpPr/>
          <p:nvPr/>
        </p:nvSpPr>
        <p:spPr>
          <a:xfrm>
            <a:off x="6309360" y="4526280"/>
            <a:ext cx="5303520" cy="1325880"/>
          </a:xfrm>
          <a:prstGeom prst="roundRect">
            <a:avLst>
              <a:gd name="adj" fmla="val 6207"/>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663440"/>
            <a:ext cx="4754880" cy="274320"/>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A single point does not</a:t>
            </a:r>
            <a:endParaRPr lang="en-US" sz="1350" dirty="0"/>
          </a:p>
        </p:txBody>
      </p:sp>
      <p:sp>
        <p:nvSpPr>
          <p:cNvPr id="11" name="Text 8"/>
          <p:cNvSpPr txBox="1"/>
          <p:nvPr/>
        </p:nvSpPr>
        <p:spPr>
          <a:xfrm>
            <a:off x="6565392" y="4983480"/>
            <a:ext cx="4800600" cy="77724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“Exactly 5” is a line. A line has zero width, so zero area, so probability exactly 0 — even though 5 is perfectly possible.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2.3  ·  THE OBJECTION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“Probability zero” does not mean “impossible”</a:t>
            </a:r>
            <a:endParaRPr lang="en-US" sz="3200" dirty="0"/>
          </a:p>
        </p:txBody>
      </p:sp>
      <p:sp>
        <p:nvSpPr>
          <p:cNvPr id="5" name="Shape 3"/>
          <p:cNvSpPr/>
          <p:nvPr/>
        </p:nvSpPr>
        <p:spPr>
          <a:xfrm>
            <a:off x="548640" y="1600200"/>
            <a:ext cx="5486400" cy="2560320"/>
          </a:xfrm>
          <a:prstGeom prst="roundRect">
            <a:avLst>
              <a:gd name="adj" fmla="val 3214"/>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64792"/>
            <a:ext cx="4937760" cy="301752"/>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The objection, which is a good one</a:t>
            </a:r>
            <a:endParaRPr lang="en-US" sz="1450" dirty="0"/>
          </a:p>
        </p:txBody>
      </p:sp>
      <p:sp>
        <p:nvSpPr>
          <p:cNvPr id="7" name="Text 5"/>
          <p:cNvSpPr txBox="1"/>
          <p:nvPr/>
        </p:nvSpPr>
        <p:spPr>
          <a:xfrm>
            <a:off x="804672" y="2148840"/>
            <a:ext cx="4983480" cy="1828800"/>
          </a:xfrm>
          <a:prstGeom prst="rect">
            <a:avLst/>
          </a:prstGeom>
          <a:noFill/>
          <a:ln/>
        </p:spPr>
        <p:txBody>
          <a:bodyPr wrap="square" lIns="0" tIns="0" rIns="0" bIns="0" rtlCol="0" anchor="ctr"/>
          <a:lstStyle/>
          <a:p>
            <a:pPr indent="0" marL="0">
              <a:lnSpc>
                <a:spcPct val="125000"/>
              </a:lnSpc>
              <a:buNone/>
            </a:pPr>
            <a:r>
              <a:rPr lang="en-US" sz="1250" dirty="0">
                <a:solidFill>
                  <a:srgbClr val="6B4A0B"/>
                </a:solidFill>
                <a:latin typeface="Calibri" pitchFamily="34" charset="0"/>
                <a:ea typeface="Calibri" pitchFamily="34" charset="-122"/>
                <a:cs typeface="Calibri" pitchFamily="34" charset="-120"/>
              </a:rPr>
              <a:t>“If P(X = 5) = 0 and P(X = 6) = 0 and so on for every value — then nothing can happen. But something does happen every time I draw a number. How?”</a:t>
            </a:r>
            <a:endParaRPr lang="en-US" sz="1250" dirty="0"/>
          </a:p>
          <a:p>
            <a:pPr indent="0" marL="0">
              <a:lnSpc>
                <a:spcPct val="125000"/>
              </a:lnSpc>
              <a:buNone/>
            </a:pPr>
            <a:endParaRPr lang="en-US" sz="1250" dirty="0"/>
          </a:p>
          <a:p>
            <a:pPr indent="0" marL="0">
              <a:lnSpc>
                <a:spcPct val="125000"/>
              </a:lnSpc>
              <a:buNone/>
            </a:pPr>
            <a:r>
              <a:rPr lang="en-US" sz="1250" dirty="0">
                <a:solidFill>
                  <a:srgbClr val="6B4A0B"/>
                </a:solidFill>
                <a:latin typeface="Calibri" pitchFamily="34" charset="0"/>
                <a:ea typeface="Calibri" pitchFamily="34" charset="-122"/>
                <a:cs typeface="Calibri" pitchFamily="34" charset="-120"/>
              </a:rPr>
              <a:t>This is worth taking seriously. It is the point where continuous probability stops matching everyday intuition.</a:t>
            </a:r>
            <a:endParaRPr lang="en-US" sz="1250" dirty="0"/>
          </a:p>
        </p:txBody>
      </p:sp>
      <p:sp>
        <p:nvSpPr>
          <p:cNvPr id="8" name="Shape 6"/>
          <p:cNvSpPr/>
          <p:nvPr/>
        </p:nvSpPr>
        <p:spPr>
          <a:xfrm>
            <a:off x="6309360" y="1600200"/>
            <a:ext cx="5303520" cy="2560320"/>
          </a:xfrm>
          <a:prstGeom prst="roundRect">
            <a:avLst>
              <a:gd name="adj" fmla="val 3214"/>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6565392" y="1764792"/>
            <a:ext cx="475488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The resolution</a:t>
            </a:r>
            <a:endParaRPr lang="en-US" sz="1450" dirty="0"/>
          </a:p>
        </p:txBody>
      </p:sp>
      <p:sp>
        <p:nvSpPr>
          <p:cNvPr id="10" name="Text 8"/>
          <p:cNvSpPr txBox="1"/>
          <p:nvPr/>
        </p:nvSpPr>
        <p:spPr>
          <a:xfrm>
            <a:off x="6565392" y="2148840"/>
            <a:ext cx="4800600" cy="1920240"/>
          </a:xfrm>
          <a:prstGeom prst="rect">
            <a:avLst/>
          </a:prstGeom>
          <a:noFill/>
          <a:ln/>
        </p:spPr>
        <p:txBody>
          <a:bodyPr wrap="square" lIns="0" tIns="0" rIns="0" bIns="0" rtlCol="0" anchor="ctr"/>
          <a:lstStyle/>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Something does happen — but you never observe it to infinite precision. Your measurement said 5, meaning somewhere in 4.995 to 5.005, and THAT has probability 0.001.</a:t>
            </a:r>
            <a:endParaRPr lang="en-US" sz="1250" dirty="0"/>
          </a:p>
          <a:p>
            <a:pPr indent="0" marL="0">
              <a:lnSpc>
                <a:spcPct val="125000"/>
              </a:lnSpc>
              <a:buNone/>
            </a:pPr>
            <a:endParaRPr lang="en-US" sz="1250" dirty="0"/>
          </a:p>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Every real observation is a range. “Exactly 5” is an idealisation that no instrument has ever reported.</a:t>
            </a:r>
            <a:endParaRPr lang="en-US" sz="1250" dirty="0"/>
          </a:p>
        </p:txBody>
      </p:sp>
      <p:sp>
        <p:nvSpPr>
          <p:cNvPr id="11" name="Shape 9"/>
          <p:cNvSpPr/>
          <p:nvPr/>
        </p:nvSpPr>
        <p:spPr>
          <a:xfrm>
            <a:off x="548640" y="4343400"/>
            <a:ext cx="11064240" cy="1508760"/>
          </a:xfrm>
          <a:prstGeom prst="roundRect">
            <a:avLst>
              <a:gd name="adj" fmla="val 545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868680" y="4498848"/>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The practical rule</a:t>
            </a:r>
            <a:endParaRPr lang="en-US" sz="1450" dirty="0"/>
          </a:p>
        </p:txBody>
      </p:sp>
      <p:sp>
        <p:nvSpPr>
          <p:cNvPr id="13" name="Text 11"/>
          <p:cNvSpPr txBox="1"/>
          <p:nvPr/>
        </p:nvSpPr>
        <p:spPr>
          <a:xfrm>
            <a:off x="868680" y="4828032"/>
            <a:ext cx="10424160" cy="91440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For discrete data, ask “what is the probability of exactly 3?” — it has a real answer. For continuous data, never ask that; ask about a range instead. If your code computes a probability for a continuous variable and gets exactly 0.0, check whether you asked for a point.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2.4  ·  DENSITY</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And the height can be bigger than 1</a:t>
            </a:r>
            <a:endParaRPr lang="en-US" sz="3200" dirty="0"/>
          </a:p>
        </p:txBody>
      </p:sp>
      <p:pic>
        <p:nvPicPr>
          <p:cNvPr id="5" name="Image 0" descr="/home/claude/day26/fig/density_gt1.png">    </p:cNvPr>
          <p:cNvPicPr>
            <a:picLocks noChangeAspect="1"/>
          </p:cNvPicPr>
          <p:nvPr/>
        </p:nvPicPr>
        <p:blipFill>
          <a:blip r:embed="rId1"/>
          <a:stretch>
            <a:fillRect/>
          </a:stretch>
        </p:blipFill>
        <p:spPr>
          <a:xfrm>
            <a:off x="731520" y="1572768"/>
            <a:ext cx="10698480" cy="2465088"/>
          </a:xfrm>
          <a:prstGeom prst="rect">
            <a:avLst/>
          </a:prstGeom>
        </p:spPr>
      </p:pic>
      <p:sp>
        <p:nvSpPr>
          <p:cNvPr id="6" name="Shape 3"/>
          <p:cNvSpPr/>
          <p:nvPr/>
        </p:nvSpPr>
        <p:spPr>
          <a:xfrm>
            <a:off x="548640" y="4206240"/>
            <a:ext cx="5486400" cy="1645920"/>
          </a:xfrm>
          <a:prstGeom prst="roundRect">
            <a:avLst>
              <a:gd name="adj" fmla="val 5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370832"/>
            <a:ext cx="4937760" cy="274320"/>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A probability can never exceed 1. A density can.</a:t>
            </a:r>
            <a:endParaRPr lang="en-US" sz="1350" dirty="0"/>
          </a:p>
        </p:txBody>
      </p:sp>
      <p:sp>
        <p:nvSpPr>
          <p:cNvPr id="8" name="Text 5"/>
          <p:cNvSpPr txBox="1"/>
          <p:nvPr/>
        </p:nvSpPr>
        <p:spPr>
          <a:xfrm>
            <a:off x="804672" y="4700016"/>
            <a:ext cx="4983480" cy="100584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Squeeze U(0,1) down to U(0,0.5) and the same amount of probability has to fit into half the width — so the height doubles to 2. Narrow it to U(0,0.1) and the height is 10.</a:t>
            </a:r>
            <a:endParaRPr lang="en-US" sz="1200" dirty="0"/>
          </a:p>
        </p:txBody>
      </p:sp>
      <p:sp>
        <p:nvSpPr>
          <p:cNvPr id="9" name="Shape 6"/>
          <p:cNvSpPr/>
          <p:nvPr/>
        </p:nvSpPr>
        <p:spPr>
          <a:xfrm>
            <a:off x="6309360" y="4206240"/>
            <a:ext cx="5303520" cy="1645920"/>
          </a:xfrm>
          <a:prstGeom prst="roundRect">
            <a:avLst>
              <a:gd name="adj" fmla="val 5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370832"/>
            <a:ext cx="475488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What the number actually means</a:t>
            </a:r>
            <a:endParaRPr lang="en-US" sz="1350" dirty="0"/>
          </a:p>
        </p:txBody>
      </p:sp>
      <p:sp>
        <p:nvSpPr>
          <p:cNvPr id="11" name="Text 8"/>
          <p:cNvSpPr txBox="1"/>
          <p:nvPr/>
        </p:nvSpPr>
        <p:spPr>
          <a:xfrm>
            <a:off x="6565392" y="4700016"/>
            <a:ext cx="4800600" cy="105156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A density is probability PER UNIT of x — like a speed, or a price per kilo. 10 per unit over a width of 0.1 gives 1. Nothing is broken.</a:t>
            </a:r>
            <a:endParaRPr lang="en-US" sz="1200" dirty="0"/>
          </a:p>
          <a:p>
            <a:pPr indent="0" marL="0">
              <a:lnSpc>
                <a:spcPct val="120000"/>
              </a:lnSpc>
              <a:buNone/>
            </a:pPr>
            <a:endParaRPr lang="en-US" sz="1200" dirty="0"/>
          </a:p>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So pdf() never returns a probability. Use cdf() for that.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2.5  ·  pdf AND cdf</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two curves, and which one answers questions</a:t>
            </a:r>
            <a:endParaRPr lang="en-US" sz="3200" dirty="0"/>
          </a:p>
        </p:txBody>
      </p:sp>
      <p:pic>
        <p:nvPicPr>
          <p:cNvPr id="5" name="Image 0" descr="/home/claude/day26/fig/pdf_cdf.png">    </p:cNvPr>
          <p:cNvPicPr>
            <a:picLocks noChangeAspect="1"/>
          </p:cNvPicPr>
          <p:nvPr/>
        </p:nvPicPr>
        <p:blipFill>
          <a:blip r:embed="rId1"/>
          <a:stretch>
            <a:fillRect/>
          </a:stretch>
        </p:blipFill>
        <p:spPr>
          <a:xfrm>
            <a:off x="731520" y="1554480"/>
            <a:ext cx="10698480" cy="2743904"/>
          </a:xfrm>
          <a:prstGeom prst="rect">
            <a:avLst/>
          </a:prstGeom>
        </p:spPr>
      </p:pic>
      <p:sp>
        <p:nvSpPr>
          <p:cNvPr id="6" name="Shape 3"/>
          <p:cNvSpPr/>
          <p:nvPr/>
        </p:nvSpPr>
        <p:spPr>
          <a:xfrm>
            <a:off x="548640" y="4434840"/>
            <a:ext cx="11064240" cy="1417320"/>
          </a:xfrm>
          <a:prstGeom prst="roundRect">
            <a:avLst>
              <a:gd name="adj" fmla="val 5806"/>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4553712"/>
          <a:ext cx="10515600" cy="914400"/>
        </p:xfrm>
        <a:graphic>
          <a:graphicData uri="http://schemas.openxmlformats.org/drawingml/2006/table">
            <a:tbl>
              <a:tblPr/>
              <a:tblGrid>
                <a:gridCol w="2743200"/>
                <a:gridCol w="5486400"/>
                <a:gridCol w="228600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The question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Answer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10896">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P(X &lt; 3)</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uniform.cdf(3, 0, 10)</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0.30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10896">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P(3 &lt; X &lt; 7)</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uniform.cdf(7,0,10) - uniform.cdf(3,0,10)</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0.40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10896">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P(X = exactly 5)</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b="1" dirty="0">
                          <a:solidFill>
                            <a:srgbClr val="1F3A5F"/>
                          </a:solidFill>
                          <a:latin typeface="Courier New" pitchFamily="34" charset="0"/>
                          <a:ea typeface="Courier New" pitchFamily="34" charset="-122"/>
                          <a:cs typeface="Courier New" pitchFamily="34" charset="-120"/>
                        </a:rPr>
                        <a:t>it is always 0 — do not ask</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0.00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2.6  ·  A FULL EXAMPLE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Worked through: how long will you wait for the bus?</a:t>
            </a:r>
            <a:endParaRPr lang="en-US" sz="3200" dirty="0"/>
          </a:p>
        </p:txBody>
      </p:sp>
      <p:pic>
        <p:nvPicPr>
          <p:cNvPr id="5" name="Image 0" descr="/home/claude/day26/fig/bus.png">    </p:cNvPr>
          <p:cNvPicPr>
            <a:picLocks noChangeAspect="1"/>
          </p:cNvPicPr>
          <p:nvPr/>
        </p:nvPicPr>
        <p:blipFill>
          <a:blip r:embed="rId1"/>
          <a:stretch>
            <a:fillRect/>
          </a:stretch>
        </p:blipFill>
        <p:spPr>
          <a:xfrm>
            <a:off x="731520" y="1572768"/>
            <a:ext cx="6766560" cy="3028899"/>
          </a:xfrm>
          <a:prstGeom prst="rect">
            <a:avLst/>
          </a:prstGeom>
        </p:spPr>
      </p:pic>
      <p:sp>
        <p:nvSpPr>
          <p:cNvPr id="6" name="Shape 3"/>
          <p:cNvSpPr/>
          <p:nvPr/>
        </p:nvSpPr>
        <p:spPr>
          <a:xfrm>
            <a:off x="7863840" y="1572768"/>
            <a:ext cx="3749040" cy="3200400"/>
          </a:xfrm>
          <a:prstGeom prst="roundRect">
            <a:avLst>
              <a:gd name="adj" fmla="val 2571"/>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119872" y="1737360"/>
            <a:ext cx="329184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Why this is uniform</a:t>
            </a:r>
            <a:endParaRPr lang="en-US" sz="1350" dirty="0"/>
          </a:p>
        </p:txBody>
      </p:sp>
      <p:sp>
        <p:nvSpPr>
          <p:cNvPr id="8" name="Text 5"/>
          <p:cNvSpPr txBox="1"/>
          <p:nvPr/>
        </p:nvSpPr>
        <p:spPr>
          <a:xfrm>
            <a:off x="8119872" y="2084832"/>
            <a:ext cx="3291840" cy="137160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Buses every 15 minutes. You turn up without checking the timetable, so your arrival is equally likely at any point in the gap.</a:t>
            </a:r>
            <a:endParaRPr lang="en-US" sz="1200" dirty="0"/>
          </a:p>
          <a:p>
            <a:pPr indent="0" marL="0">
              <a:lnSpc>
                <a:spcPct val="120000"/>
              </a:lnSpc>
              <a:buNone/>
            </a:pPr>
            <a:endParaRPr lang="en-US" sz="1200" dirty="0"/>
          </a:p>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That makes your wait U(0, 15).</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119872" y="3401568"/>
          <a:ext cx="3291840" cy="914400"/>
        </p:xfrm>
        <a:graphic>
          <a:graphicData uri="http://schemas.openxmlformats.org/drawingml/2006/table">
            <a:tbl>
              <a:tblPr/>
              <a:tblGrid>
                <a:gridCol w="2011680"/>
                <a:gridCol w="1280160"/>
              </a:tblGrid>
              <a:tr h="26517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Answer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265176">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mean wait</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7.5 min</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65176">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sd</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4.33 min</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65176">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P(wait &lt; 5)</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0.333</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65176">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P(wait &gt; 10)</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0.333</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10" name="Shape 6"/>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7"/>
          <p:cNvSpPr txBox="1"/>
          <p:nvPr/>
        </p:nvSpPr>
        <p:spPr>
          <a:xfrm>
            <a:off x="868680" y="5102352"/>
            <a:ext cx="10424160" cy="621792"/>
          </a:xfrm>
          <a:prstGeom prst="rect">
            <a:avLst/>
          </a:prstGeom>
          <a:noFill/>
          <a:ln/>
        </p:spPr>
        <p:txBody>
          <a:bodyPr wrap="square" lIns="0" tIns="0" rIns="0" bIns="0" rtlCol="0" anchor="ctr"/>
          <a:lstStyle/>
          <a:p>
            <a:pPr indent="0" marL="0">
              <a:lnSpc>
                <a:spcPct val="115000"/>
              </a:lnSpc>
              <a:buNone/>
            </a:pPr>
            <a:r>
              <a:rPr lang="en-US" sz="1250" b="1" dirty="0">
                <a:solidFill>
                  <a:srgbClr val="8A5B00"/>
                </a:solidFill>
                <a:latin typeface="Calibri" pitchFamily="34" charset="0"/>
                <a:ea typeface="Calibri" pitchFamily="34" charset="-122"/>
                <a:cs typeface="Calibri" pitchFamily="34" charset="-120"/>
              </a:rPr>
              <a:t>The useful version of this: a third of the time you wait under 5 minutes and a third of the time you wait over 10. Quoting “an average wait of 7.5 minutes” hides both. It is the same lesson as yesterday's call centre — an average describes the typical case and says nothing about the cases that annoy people.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2.7  ·  MEAN AND SPREAD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continuous formulas, and the 12 that keeps appearing</a:t>
            </a:r>
            <a:endParaRPr lang="en-US" sz="3200" dirty="0"/>
          </a:p>
        </p:txBody>
      </p:sp>
      <p:sp>
        <p:nvSpPr>
          <p:cNvPr id="5" name="Shape 3"/>
          <p:cNvSpPr/>
          <p:nvPr/>
        </p:nvSpPr>
        <p:spPr>
          <a:xfrm>
            <a:off x="548640" y="1600200"/>
            <a:ext cx="5486400" cy="2194560"/>
          </a:xfrm>
          <a:prstGeom prst="roundRect">
            <a:avLst>
              <a:gd name="adj" fmla="val 37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828800"/>
            <a:ext cx="4983480" cy="411480"/>
          </a:xfrm>
          <a:prstGeom prst="rect">
            <a:avLst/>
          </a:prstGeom>
          <a:noFill/>
          <a:ln/>
        </p:spPr>
        <p:txBody>
          <a:bodyPr wrap="square" lIns="0" tIns="0" rIns="0" bIns="0" rtlCol="0" anchor="ctr"/>
          <a:lstStyle/>
          <a:p>
            <a:pPr algn="ctr" indent="0" marL="0">
              <a:buNone/>
            </a:pPr>
            <a:r>
              <a:rPr lang="en-US" sz="2300" b="1" dirty="0">
                <a:solidFill>
                  <a:srgbClr val="3E7CB1"/>
                </a:solidFill>
                <a:latin typeface="Cambria" pitchFamily="34" charset="0"/>
                <a:ea typeface="Cambria" pitchFamily="34" charset="-122"/>
                <a:cs typeface="Cambria" pitchFamily="34" charset="-120"/>
              </a:rPr>
              <a:t>mean  =  (a + b) / 2</a:t>
            </a:r>
            <a:endParaRPr lang="en-US" sz="2300" dirty="0"/>
          </a:p>
        </p:txBody>
      </p:sp>
      <p:sp>
        <p:nvSpPr>
          <p:cNvPr id="7" name="Text 5"/>
          <p:cNvSpPr txBox="1"/>
          <p:nvPr/>
        </p:nvSpPr>
        <p:spPr>
          <a:xfrm>
            <a:off x="804672" y="2331720"/>
            <a:ext cx="4983480" cy="411480"/>
          </a:xfrm>
          <a:prstGeom prst="rect">
            <a:avLst/>
          </a:prstGeom>
          <a:noFill/>
          <a:ln/>
        </p:spPr>
        <p:txBody>
          <a:bodyPr wrap="square" lIns="0" tIns="0" rIns="0" bIns="0" rtlCol="0" anchor="ctr"/>
          <a:lstStyle/>
          <a:p>
            <a:pPr algn="ctr" indent="0" marL="0">
              <a:buNone/>
            </a:pPr>
            <a:r>
              <a:rPr lang="en-US" sz="2300" b="1" dirty="0">
                <a:solidFill>
                  <a:srgbClr val="2FA98C"/>
                </a:solidFill>
                <a:latin typeface="Cambria" pitchFamily="34" charset="0"/>
                <a:ea typeface="Cambria" pitchFamily="34" charset="-122"/>
                <a:cs typeface="Cambria" pitchFamily="34" charset="-120"/>
              </a:rPr>
              <a:t>variance  =  (b − a)² / 12</a:t>
            </a:r>
            <a:endParaRPr lang="en-US" sz="2300" dirty="0"/>
          </a:p>
        </p:txBody>
      </p:sp>
      <p:sp>
        <p:nvSpPr>
          <p:cNvPr id="8" name="Text 6"/>
          <p:cNvSpPr txBox="1"/>
          <p:nvPr/>
        </p:nvSpPr>
        <p:spPr>
          <a:xfrm>
            <a:off x="804672" y="2880360"/>
            <a:ext cx="4983480" cy="731520"/>
          </a:xfrm>
          <a:prstGeom prst="rect">
            <a:avLst/>
          </a:prstGeom>
          <a:noFill/>
          <a:ln/>
        </p:spPr>
        <p:txBody>
          <a:bodyPr wrap="square" lIns="0" tIns="0" rIns="0" bIns="0" rtlCol="0" anchor="ctr"/>
          <a:lstStyle/>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For the bus: mean (0+15)/2 = 7.5, variance 225/12 = 18.75, sd 4.33.</a:t>
            </a:r>
            <a:endParaRPr lang="en-US" sz="1250" dirty="0"/>
          </a:p>
        </p:txBody>
      </p:sp>
      <p:sp>
        <p:nvSpPr>
          <p:cNvPr id="9" name="Shape 7"/>
          <p:cNvSpPr/>
          <p:nvPr/>
        </p:nvSpPr>
        <p:spPr>
          <a:xfrm>
            <a:off x="6309360" y="1600200"/>
            <a:ext cx="5303520" cy="2194560"/>
          </a:xfrm>
          <a:prstGeom prst="roundRect">
            <a:avLst>
              <a:gd name="adj" fmla="val 375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64792"/>
            <a:ext cx="475488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Where the 12 comes from</a:t>
            </a:r>
            <a:endParaRPr lang="en-US" sz="1400" dirty="0"/>
          </a:p>
        </p:txBody>
      </p:sp>
      <p:sp>
        <p:nvSpPr>
          <p:cNvPr id="11" name="Text 9"/>
          <p:cNvSpPr txBox="1"/>
          <p:nvPr/>
        </p:nvSpPr>
        <p:spPr>
          <a:xfrm>
            <a:off x="6565392" y="2121408"/>
            <a:ext cx="4800600" cy="1600200"/>
          </a:xfrm>
          <a:prstGeom prst="rect">
            <a:avLst/>
          </a:prstGeom>
          <a:noFill/>
          <a:ln/>
        </p:spPr>
        <p:txBody>
          <a:bodyPr wrap="square" lIns="0" tIns="0" rIns="0" bIns="0" rtlCol="0" anchor="ctr"/>
          <a:lstStyle/>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It falls out of integrating x² across the rectangle. You will not need to do that — but do remember the consequence:</a:t>
            </a:r>
            <a:endParaRPr lang="en-US" sz="1250" dirty="0"/>
          </a:p>
          <a:p>
            <a:pPr indent="0" marL="0">
              <a:lnSpc>
                <a:spcPct val="120000"/>
              </a:lnSpc>
              <a:buNone/>
            </a:pPr>
            <a:endParaRPr lang="en-US" sz="1250" dirty="0"/>
          </a:p>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the sd of U(0,1) is 1/√12 = 0.2887, a number you will meet again the moment anyone adds uniforms together.</a:t>
            </a:r>
            <a:endParaRPr lang="en-US" sz="1250" dirty="0"/>
          </a:p>
        </p:txBody>
      </p:sp>
      <p:sp>
        <p:nvSpPr>
          <p:cNvPr id="12" name="Shape 10"/>
          <p:cNvSpPr/>
          <p:nvPr/>
        </p:nvSpPr>
        <p:spPr>
          <a:xfrm>
            <a:off x="548640" y="3977640"/>
            <a:ext cx="11064240" cy="1874520"/>
          </a:xfrm>
          <a:prstGeom prst="roundRect">
            <a:avLst>
              <a:gd name="adj" fmla="val 439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1"/>
          <p:cNvSpPr txBox="1"/>
          <p:nvPr/>
        </p:nvSpPr>
        <p:spPr>
          <a:xfrm>
            <a:off x="868680" y="4133088"/>
            <a:ext cx="82296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 The scipy trap that will catch you at least once</a:t>
            </a:r>
            <a:endParaRPr lang="en-US" sz="1450" dirty="0"/>
          </a:p>
        </p:txBody>
      </p:sp>
      <p:sp>
        <p:nvSpPr>
          <p:cNvPr id="14" name="Shape 12"/>
          <p:cNvSpPr/>
          <p:nvPr/>
        </p:nvSpPr>
        <p:spPr>
          <a:xfrm>
            <a:off x="868680" y="4480560"/>
            <a:ext cx="5760720" cy="1143000"/>
          </a:xfrm>
          <a:prstGeom prst="roundRect">
            <a:avLst>
              <a:gd name="adj" fmla="val 5600"/>
            </a:avLst>
          </a:prstGeom>
          <a:solidFill>
            <a:srgbClr val="1B2B45"/>
          </a:solidFill>
          <a:ln w="12700">
            <a:solidFill>
              <a:srgbClr val="1B2B45"/>
            </a:solidFill>
            <a:prstDash val="solid"/>
          </a:ln>
        </p:spPr>
      </p:sp>
      <p:sp>
        <p:nvSpPr>
          <p:cNvPr id="15" name="Text 13"/>
          <p:cNvSpPr txBox="1"/>
          <p:nvPr/>
        </p:nvSpPr>
        <p:spPr>
          <a:xfrm>
            <a:off x="1033272" y="4590288"/>
            <a:ext cx="5431536" cy="92354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stats.uniform(5, 10)   # you probably meant U(5, 10)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.ppf([0, 1])  -&gt;  [5., 15.]   # it is U(5, 15)</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stats.uniform(loc=5, scale=5)  -&gt;  U(5, 10)  # correct</a:t>
            </a:r>
            <a:endParaRPr lang="en-US" sz="950" dirty="0"/>
          </a:p>
        </p:txBody>
      </p:sp>
      <p:sp>
        <p:nvSpPr>
          <p:cNvPr id="16" name="Text 14"/>
          <p:cNvSpPr txBox="1"/>
          <p:nvPr/>
        </p:nvSpPr>
        <p:spPr>
          <a:xfrm>
            <a:off x="6949440" y="4480560"/>
            <a:ext cx="4434840" cy="1280160"/>
          </a:xfrm>
          <a:prstGeom prst="rect">
            <a:avLst/>
          </a:prstGeom>
          <a:noFill/>
          <a:ln/>
        </p:spPr>
        <p:txBody>
          <a:bodyPr wrap="square" lIns="0" tIns="0" rIns="0" bIns="0" rtlCol="0" anchor="ctr"/>
          <a:lstStyle/>
          <a:p>
            <a:pPr indent="0" marL="0">
              <a:lnSpc>
                <a:spcPct val="120000"/>
              </a:lnSpc>
              <a:buNone/>
            </a:pPr>
            <a:r>
              <a:rPr lang="en-US" sz="1150" dirty="0">
                <a:solidFill>
                  <a:srgbClr val="6B4A0B"/>
                </a:solidFill>
                <a:latin typeface="Calibri" pitchFamily="34" charset="0"/>
                <a:ea typeface="Calibri" pitchFamily="34" charset="-122"/>
                <a:cs typeface="Calibri" pitchFamily="34" charset="-120"/>
              </a:rPr>
              <a:t>scipy takes loc and SCALE, not the two endpoints. The scale is the WIDTH.</a:t>
            </a:r>
            <a:endParaRPr lang="en-US" sz="1150" dirty="0"/>
          </a:p>
          <a:p>
            <a:pPr indent="0" marL="0">
              <a:lnSpc>
                <a:spcPct val="120000"/>
              </a:lnSpc>
              <a:buNone/>
            </a:pPr>
            <a:endParaRPr lang="en-US" sz="1150" dirty="0"/>
          </a:p>
          <a:p>
            <a:pPr indent="0" marL="0">
              <a:lnSpc>
                <a:spcPct val="120000"/>
              </a:lnSpc>
              <a:buNone/>
            </a:pPr>
            <a:r>
              <a:rPr lang="en-US" sz="1150" dirty="0">
                <a:solidFill>
                  <a:srgbClr val="6B4A0B"/>
                </a:solidFill>
                <a:latin typeface="Calibri" pitchFamily="34" charset="0"/>
                <a:ea typeface="Calibri" pitchFamily="34" charset="-122"/>
                <a:cs typeface="Calibri" pitchFamily="34" charset="-120"/>
              </a:rPr>
              <a:t>So U(a, b) is uniform(a, b - a). Getting this wrong gives a distribution with the right lower bound and a silently wrong upper one — and a mean that is out by half the width.</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3</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Is It Really Uniform?</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Testing the assumption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When it is right</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Testing a die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How much data you need</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Two famous failures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3.1  ·  WHEN TO USE IT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Uniform is a real model, and also a lazy default</a:t>
            </a:r>
            <a:endParaRPr lang="en-US" sz="3200" dirty="0"/>
          </a:p>
        </p:txBody>
      </p:sp>
      <p:sp>
        <p:nvSpPr>
          <p:cNvPr id="5" name="Shape 3"/>
          <p:cNvSpPr/>
          <p:nvPr/>
        </p:nvSpPr>
        <p:spPr>
          <a:xfrm>
            <a:off x="548640" y="1572768"/>
            <a:ext cx="5486400" cy="3657600"/>
          </a:xfrm>
          <a:prstGeom prst="roundRect">
            <a:avLst>
              <a:gd name="adj" fmla="val 225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37360"/>
            <a:ext cx="49377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  Genuinely uniform</a:t>
            </a:r>
            <a:endParaRPr lang="en-US" sz="1500" dirty="0"/>
          </a:p>
        </p:txBody>
      </p:sp>
      <p:sp>
        <p:nvSpPr>
          <p:cNvPr id="7" name="Text 5"/>
          <p:cNvSpPr txBox="1"/>
          <p:nvPr/>
        </p:nvSpPr>
        <p:spPr>
          <a:xfrm>
            <a:off x="914400" y="2121408"/>
            <a:ext cx="4754880" cy="256032"/>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Rounding error</a:t>
            </a:r>
            <a:endParaRPr lang="en-US" sz="1250" dirty="0"/>
          </a:p>
        </p:txBody>
      </p:sp>
      <p:sp>
        <p:nvSpPr>
          <p:cNvPr id="8" name="Text 6"/>
          <p:cNvSpPr txBox="1"/>
          <p:nvPr/>
        </p:nvSpPr>
        <p:spPr>
          <a:xfrm>
            <a:off x="914400" y="2368296"/>
            <a:ext cx="4754880" cy="475488"/>
          </a:xfrm>
          <a:prstGeom prst="rect">
            <a:avLst/>
          </a:prstGeom>
          <a:noFill/>
          <a:ln/>
        </p:spPr>
        <p:txBody>
          <a:bodyPr wrap="square" lIns="0" tIns="0" rIns="0" bIns="0" rtlCol="0" anchor="ctr"/>
          <a:lstStyle/>
          <a:p>
            <a:pPr indent="0" marL="0">
              <a:lnSpc>
                <a:spcPct val="110000"/>
              </a:lnSpc>
              <a:buNone/>
            </a:pPr>
            <a:r>
              <a:rPr lang="en-US" sz="1050" dirty="0">
                <a:solidFill>
                  <a:srgbClr val="2B3445"/>
                </a:solidFill>
                <a:latin typeface="Calibri" pitchFamily="34" charset="0"/>
                <a:ea typeface="Calibri" pitchFamily="34" charset="-122"/>
                <a:cs typeface="Calibri" pitchFamily="34" charset="-120"/>
              </a:rPr>
              <a:t>Round to the nearest 0.1 and the error really is U(−0.05, 0.05). Provably, not approximately.</a:t>
            </a:r>
            <a:endParaRPr lang="en-US" sz="1050" dirty="0"/>
          </a:p>
        </p:txBody>
      </p:sp>
      <p:sp>
        <p:nvSpPr>
          <p:cNvPr id="9" name="Text 7"/>
          <p:cNvSpPr txBox="1"/>
          <p:nvPr/>
        </p:nvSpPr>
        <p:spPr>
          <a:xfrm>
            <a:off x="914400" y="2889504"/>
            <a:ext cx="4754880" cy="256032"/>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A fair mechanism</a:t>
            </a:r>
            <a:endParaRPr lang="en-US" sz="1250" dirty="0"/>
          </a:p>
        </p:txBody>
      </p:sp>
      <p:sp>
        <p:nvSpPr>
          <p:cNvPr id="10" name="Text 8"/>
          <p:cNvSpPr txBox="1"/>
          <p:nvPr/>
        </p:nvSpPr>
        <p:spPr>
          <a:xfrm>
            <a:off x="914400" y="3136392"/>
            <a:ext cx="4754880" cy="475488"/>
          </a:xfrm>
          <a:prstGeom prst="rect">
            <a:avLst/>
          </a:prstGeom>
          <a:noFill/>
          <a:ln/>
        </p:spPr>
        <p:txBody>
          <a:bodyPr wrap="square" lIns="0" tIns="0" rIns="0" bIns="0" rtlCol="0" anchor="ctr"/>
          <a:lstStyle/>
          <a:p>
            <a:pPr indent="0" marL="0">
              <a:lnSpc>
                <a:spcPct val="110000"/>
              </a:lnSpc>
              <a:buNone/>
            </a:pPr>
            <a:r>
              <a:rPr lang="en-US" sz="1050" dirty="0">
                <a:solidFill>
                  <a:srgbClr val="2B3445"/>
                </a:solidFill>
                <a:latin typeface="Calibri" pitchFamily="34" charset="0"/>
                <a:ea typeface="Calibri" pitchFamily="34" charset="-122"/>
                <a:cs typeface="Calibri" pitchFamily="34" charset="-120"/>
              </a:rPr>
              <a:t>A fair die, a well-shuffled deck, a lottery draw — designed to be uniform.</a:t>
            </a:r>
            <a:endParaRPr lang="en-US" sz="1050" dirty="0"/>
          </a:p>
        </p:txBody>
      </p:sp>
      <p:sp>
        <p:nvSpPr>
          <p:cNvPr id="11" name="Text 9"/>
          <p:cNvSpPr txBox="1"/>
          <p:nvPr/>
        </p:nvSpPr>
        <p:spPr>
          <a:xfrm>
            <a:off x="914400" y="3657600"/>
            <a:ext cx="4754880" cy="256032"/>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Arrival within a known gap</a:t>
            </a:r>
            <a:endParaRPr lang="en-US" sz="1250" dirty="0"/>
          </a:p>
        </p:txBody>
      </p:sp>
      <p:sp>
        <p:nvSpPr>
          <p:cNvPr id="12" name="Text 10"/>
          <p:cNvSpPr txBox="1"/>
          <p:nvPr/>
        </p:nvSpPr>
        <p:spPr>
          <a:xfrm>
            <a:off x="914400" y="3904488"/>
            <a:ext cx="4754880" cy="475488"/>
          </a:xfrm>
          <a:prstGeom prst="rect">
            <a:avLst/>
          </a:prstGeom>
          <a:noFill/>
          <a:ln/>
        </p:spPr>
        <p:txBody>
          <a:bodyPr wrap="square" lIns="0" tIns="0" rIns="0" bIns="0" rtlCol="0" anchor="ctr"/>
          <a:lstStyle/>
          <a:p>
            <a:pPr indent="0" marL="0">
              <a:lnSpc>
                <a:spcPct val="110000"/>
              </a:lnSpc>
              <a:buNone/>
            </a:pPr>
            <a:r>
              <a:rPr lang="en-US" sz="1050" dirty="0">
                <a:solidFill>
                  <a:srgbClr val="2B3445"/>
                </a:solidFill>
                <a:latin typeface="Calibri" pitchFamily="34" charset="0"/>
                <a:ea typeface="Calibri" pitchFamily="34" charset="-122"/>
                <a:cs typeface="Calibri" pitchFamily="34" charset="-120"/>
              </a:rPr>
              <a:t>You turn up without a timetable: your position in the gap is uniform.</a:t>
            </a:r>
            <a:endParaRPr lang="en-US" sz="1050" dirty="0"/>
          </a:p>
        </p:txBody>
      </p:sp>
      <p:sp>
        <p:nvSpPr>
          <p:cNvPr id="13" name="Text 11"/>
          <p:cNvSpPr txBox="1"/>
          <p:nvPr/>
        </p:nvSpPr>
        <p:spPr>
          <a:xfrm>
            <a:off x="914400" y="4425696"/>
            <a:ext cx="4754880" cy="256032"/>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“All I know is the bounds”</a:t>
            </a:r>
            <a:endParaRPr lang="en-US" sz="1250" dirty="0"/>
          </a:p>
        </p:txBody>
      </p:sp>
      <p:sp>
        <p:nvSpPr>
          <p:cNvPr id="14" name="Text 12"/>
          <p:cNvSpPr txBox="1"/>
          <p:nvPr/>
        </p:nvSpPr>
        <p:spPr>
          <a:xfrm>
            <a:off x="914400" y="4672584"/>
            <a:ext cx="4754880" cy="475488"/>
          </a:xfrm>
          <a:prstGeom prst="rect">
            <a:avLst/>
          </a:prstGeom>
          <a:noFill/>
          <a:ln/>
        </p:spPr>
        <p:txBody>
          <a:bodyPr wrap="square" lIns="0" tIns="0" rIns="0" bIns="0" rtlCol="0" anchor="ctr"/>
          <a:lstStyle/>
          <a:p>
            <a:pPr indent="0" marL="0">
              <a:lnSpc>
                <a:spcPct val="110000"/>
              </a:lnSpc>
              <a:buNone/>
            </a:pPr>
            <a:r>
              <a:rPr lang="en-US" sz="1050" dirty="0">
                <a:solidFill>
                  <a:srgbClr val="2B3445"/>
                </a:solidFill>
                <a:latin typeface="Calibri" pitchFamily="34" charset="0"/>
                <a:ea typeface="Calibri" pitchFamily="34" charset="-122"/>
                <a:cs typeface="Calibri" pitchFamily="34" charset="-120"/>
              </a:rPr>
              <a:t>The honest model when you know the range and nothing else.</a:t>
            </a:r>
            <a:endParaRPr lang="en-US" sz="1050" dirty="0"/>
          </a:p>
        </p:txBody>
      </p:sp>
      <p:sp>
        <p:nvSpPr>
          <p:cNvPr id="15" name="Shape 13"/>
          <p:cNvSpPr/>
          <p:nvPr/>
        </p:nvSpPr>
        <p:spPr>
          <a:xfrm>
            <a:off x="6309360" y="1572768"/>
            <a:ext cx="5303520" cy="3657600"/>
          </a:xfrm>
          <a:prstGeom prst="roundRect">
            <a:avLst>
              <a:gd name="adj" fmla="val 225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4"/>
          <p:cNvSpPr txBox="1"/>
          <p:nvPr/>
        </p:nvSpPr>
        <p:spPr>
          <a:xfrm>
            <a:off x="6565392" y="1737360"/>
            <a:ext cx="475488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  Assumed, and wrong</a:t>
            </a:r>
            <a:endParaRPr lang="en-US" sz="1500" dirty="0"/>
          </a:p>
        </p:txBody>
      </p:sp>
      <p:sp>
        <p:nvSpPr>
          <p:cNvPr id="17" name="Text 15"/>
          <p:cNvSpPr txBox="1"/>
          <p:nvPr/>
        </p:nvSpPr>
        <p:spPr>
          <a:xfrm>
            <a:off x="6675120" y="2121408"/>
            <a:ext cx="4572000" cy="256032"/>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Exam marks across 0–100</a:t>
            </a:r>
            <a:endParaRPr lang="en-US" sz="1250" dirty="0"/>
          </a:p>
        </p:txBody>
      </p:sp>
      <p:sp>
        <p:nvSpPr>
          <p:cNvPr id="18" name="Text 16"/>
          <p:cNvSpPr txBox="1"/>
          <p:nvPr/>
        </p:nvSpPr>
        <p:spPr>
          <a:xfrm>
            <a:off x="6675120" y="2368296"/>
            <a:ext cx="4572000" cy="475488"/>
          </a:xfrm>
          <a:prstGeom prst="rect">
            <a:avLst/>
          </a:prstGeom>
          <a:noFill/>
          <a:ln/>
        </p:spPr>
        <p:txBody>
          <a:bodyPr wrap="square" lIns="0" tIns="0" rIns="0" bIns="0" rtlCol="0" anchor="ctr"/>
          <a:lstStyle/>
          <a:p>
            <a:pPr indent="0" marL="0">
              <a:lnSpc>
                <a:spcPct val="110000"/>
              </a:lnSpc>
              <a:buNone/>
            </a:pPr>
            <a:r>
              <a:rPr lang="en-US" sz="1050" dirty="0">
                <a:solidFill>
                  <a:srgbClr val="6B4A0B"/>
                </a:solidFill>
                <a:latin typeface="Calibri" pitchFamily="34" charset="0"/>
                <a:ea typeface="Calibri" pitchFamily="34" charset="-122"/>
                <a:cs typeface="Calibri" pitchFamily="34" charset="-120"/>
              </a:rPr>
              <a:t>Marks cluster. The bounds are not the distribution.</a:t>
            </a:r>
            <a:endParaRPr lang="en-US" sz="1050" dirty="0"/>
          </a:p>
        </p:txBody>
      </p:sp>
      <p:sp>
        <p:nvSpPr>
          <p:cNvPr id="19" name="Text 17"/>
          <p:cNvSpPr txBox="1"/>
          <p:nvPr/>
        </p:nvSpPr>
        <p:spPr>
          <a:xfrm>
            <a:off x="6675120" y="2889504"/>
            <a:ext cx="4572000" cy="256032"/>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Birthdays across the year</a:t>
            </a:r>
            <a:endParaRPr lang="en-US" sz="1250" dirty="0"/>
          </a:p>
        </p:txBody>
      </p:sp>
      <p:sp>
        <p:nvSpPr>
          <p:cNvPr id="20" name="Text 18"/>
          <p:cNvSpPr txBox="1"/>
          <p:nvPr/>
        </p:nvSpPr>
        <p:spPr>
          <a:xfrm>
            <a:off x="6675120" y="3136392"/>
            <a:ext cx="4572000" cy="475488"/>
          </a:xfrm>
          <a:prstGeom prst="rect">
            <a:avLst/>
          </a:prstGeom>
          <a:noFill/>
          <a:ln/>
        </p:spPr>
        <p:txBody>
          <a:bodyPr wrap="square" lIns="0" tIns="0" rIns="0" bIns="0" rtlCol="0" anchor="ctr"/>
          <a:lstStyle/>
          <a:p>
            <a:pPr indent="0" marL="0">
              <a:lnSpc>
                <a:spcPct val="110000"/>
              </a:lnSpc>
              <a:buNone/>
            </a:pPr>
            <a:r>
              <a:rPr lang="en-US" sz="1050" dirty="0">
                <a:solidFill>
                  <a:srgbClr val="6B4A0B"/>
                </a:solidFill>
                <a:latin typeface="Calibri" pitchFamily="34" charset="0"/>
                <a:ea typeface="Calibri" pitchFamily="34" charset="-122"/>
                <a:cs typeface="Calibri" pitchFamily="34" charset="-120"/>
              </a:rPr>
              <a:t>September is busier than February, and not only because it is longer.</a:t>
            </a:r>
            <a:endParaRPr lang="en-US" sz="1050" dirty="0"/>
          </a:p>
        </p:txBody>
      </p:sp>
      <p:sp>
        <p:nvSpPr>
          <p:cNvPr id="21" name="Text 19"/>
          <p:cNvSpPr txBox="1"/>
          <p:nvPr/>
        </p:nvSpPr>
        <p:spPr>
          <a:xfrm>
            <a:off x="6675120" y="3657600"/>
            <a:ext cx="4572000" cy="256032"/>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Leading digits of real numbers</a:t>
            </a:r>
            <a:endParaRPr lang="en-US" sz="1250" dirty="0"/>
          </a:p>
        </p:txBody>
      </p:sp>
      <p:sp>
        <p:nvSpPr>
          <p:cNvPr id="22" name="Text 20"/>
          <p:cNvSpPr txBox="1"/>
          <p:nvPr/>
        </p:nvSpPr>
        <p:spPr>
          <a:xfrm>
            <a:off x="6675120" y="3904488"/>
            <a:ext cx="4572000" cy="475488"/>
          </a:xfrm>
          <a:prstGeom prst="rect">
            <a:avLst/>
          </a:prstGeom>
          <a:noFill/>
          <a:ln/>
        </p:spPr>
        <p:txBody>
          <a:bodyPr wrap="square" lIns="0" tIns="0" rIns="0" bIns="0" rtlCol="0" anchor="ctr"/>
          <a:lstStyle/>
          <a:p>
            <a:pPr indent="0" marL="0">
              <a:lnSpc>
                <a:spcPct val="110000"/>
              </a:lnSpc>
              <a:buNone/>
            </a:pPr>
            <a:r>
              <a:rPr lang="en-US" sz="1050" dirty="0">
                <a:solidFill>
                  <a:srgbClr val="6B4A0B"/>
                </a:solidFill>
                <a:latin typeface="Calibri" pitchFamily="34" charset="0"/>
                <a:ea typeface="Calibri" pitchFamily="34" charset="-122"/>
                <a:cs typeface="Calibri" pitchFamily="34" charset="-120"/>
              </a:rPr>
              <a:t>Nowhere near uniform — we look at this shortly.</a:t>
            </a:r>
            <a:endParaRPr lang="en-US" sz="1050" dirty="0"/>
          </a:p>
        </p:txBody>
      </p:sp>
      <p:sp>
        <p:nvSpPr>
          <p:cNvPr id="23" name="Text 21"/>
          <p:cNvSpPr txBox="1"/>
          <p:nvPr/>
        </p:nvSpPr>
        <p:spPr>
          <a:xfrm>
            <a:off x="6675120" y="4425696"/>
            <a:ext cx="4572000" cy="256032"/>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“Customers arrive uniformly”</a:t>
            </a:r>
            <a:endParaRPr lang="en-US" sz="1250" dirty="0"/>
          </a:p>
        </p:txBody>
      </p:sp>
      <p:sp>
        <p:nvSpPr>
          <p:cNvPr id="24" name="Text 22"/>
          <p:cNvSpPr txBox="1"/>
          <p:nvPr/>
        </p:nvSpPr>
        <p:spPr>
          <a:xfrm>
            <a:off x="6675120" y="4672584"/>
            <a:ext cx="4572000" cy="475488"/>
          </a:xfrm>
          <a:prstGeom prst="rect">
            <a:avLst/>
          </a:prstGeom>
          <a:noFill/>
          <a:ln/>
        </p:spPr>
        <p:txBody>
          <a:bodyPr wrap="square" lIns="0" tIns="0" rIns="0" bIns="0" rtlCol="0" anchor="ctr"/>
          <a:lstStyle/>
          <a:p>
            <a:pPr indent="0" marL="0">
              <a:lnSpc>
                <a:spcPct val="110000"/>
              </a:lnSpc>
              <a:buNone/>
            </a:pPr>
            <a:r>
              <a:rPr lang="en-US" sz="1050" dirty="0">
                <a:solidFill>
                  <a:srgbClr val="6B4A0B"/>
                </a:solidFill>
                <a:latin typeface="Calibri" pitchFamily="34" charset="0"/>
                <a:ea typeface="Calibri" pitchFamily="34" charset="-122"/>
                <a:cs typeface="Calibri" pitchFamily="34" charset="-120"/>
              </a:rPr>
              <a:t>Almost never. Lunchtime exists. Use Poisson with a varying rate.</a:t>
            </a:r>
            <a:endParaRPr lang="en-US" sz="1050" dirty="0"/>
          </a:p>
        </p:txBody>
      </p:sp>
      <p:sp>
        <p:nvSpPr>
          <p:cNvPr id="25" name="Shape 23"/>
          <p:cNvSpPr/>
          <p:nvPr/>
        </p:nvSpPr>
        <p:spPr>
          <a:xfrm>
            <a:off x="548640" y="5394960"/>
            <a:ext cx="11064240" cy="457200"/>
          </a:xfrm>
          <a:prstGeom prst="roundRect">
            <a:avLst>
              <a:gd name="adj" fmla="val 18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5486400"/>
            <a:ext cx="10424160" cy="320040"/>
          </a:xfrm>
          <a:prstGeom prst="rect">
            <a:avLst/>
          </a:prstGeom>
          <a:noFill/>
          <a:ln/>
        </p:spPr>
        <p:txBody>
          <a:bodyPr wrap="square" lIns="0" tIns="0" rIns="0" bIns="0" rtlCol="0" anchor="ctr"/>
          <a:lstStyle/>
          <a:p>
            <a:pPr indent="0" marL="0">
              <a:buNone/>
            </a:pPr>
            <a:r>
              <a:rPr lang="en-US" sz="1250" b="1" i="1" dirty="0">
                <a:solidFill>
                  <a:srgbClr val="8A5B00"/>
                </a:solidFill>
                <a:latin typeface="Calibri" pitchFamily="34" charset="0"/>
                <a:ea typeface="Calibri" pitchFamily="34" charset="-122"/>
                <a:cs typeface="Calibri" pitchFamily="34" charset="-120"/>
              </a:rPr>
              <a:t>The pattern: uniform is right when something MAKES it uniform. It is wrong whenever it was chosen because nobody looked.</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3.2  ·  TESTING IT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would you know if a die were loaded?</a:t>
            </a:r>
            <a:endParaRPr lang="en-US" sz="3200" dirty="0"/>
          </a:p>
        </p:txBody>
      </p:sp>
      <p:pic>
        <p:nvPicPr>
          <p:cNvPr id="5" name="Image 0" descr="/home/claude/day26/fig/die_test.png">    </p:cNvPr>
          <p:cNvPicPr>
            <a:picLocks noChangeAspect="1"/>
          </p:cNvPicPr>
          <p:nvPr/>
        </p:nvPicPr>
        <p:blipFill>
          <a:blip r:embed="rId1"/>
          <a:stretch>
            <a:fillRect/>
          </a:stretch>
        </p:blipFill>
        <p:spPr>
          <a:xfrm>
            <a:off x="1097280" y="1572768"/>
            <a:ext cx="9966960" cy="2889812"/>
          </a:xfrm>
          <a:prstGeom prst="rect">
            <a:avLst/>
          </a:prstGeom>
        </p:spPr>
      </p:pic>
      <p:sp>
        <p:nvSpPr>
          <p:cNvPr id="6" name="Shape 3"/>
          <p:cNvSpPr/>
          <p:nvPr/>
        </p:nvSpPr>
        <p:spPr>
          <a:xfrm>
            <a:off x="548640" y="4572000"/>
            <a:ext cx="5486400" cy="1280160"/>
          </a:xfrm>
          <a:prstGeom prst="roundRect">
            <a:avLst>
              <a:gd name="adj" fmla="val 6429"/>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700016"/>
            <a:ext cx="4937760" cy="2743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A fair die does not give 100 of each</a:t>
            </a:r>
            <a:endParaRPr lang="en-US" sz="1350" dirty="0"/>
          </a:p>
        </p:txBody>
      </p:sp>
      <p:sp>
        <p:nvSpPr>
          <p:cNvPr id="8" name="Text 5"/>
          <p:cNvSpPr txBox="1"/>
          <p:nvPr/>
        </p:nvSpPr>
        <p:spPr>
          <a:xfrm>
            <a:off x="804672" y="5010912"/>
            <a:ext cx="4983480" cy="73152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The fair die above ranged from 85 to 119. That spread is normal. So “the counts are uneven” is not evidence of anything.</a:t>
            </a:r>
            <a:endParaRPr lang="en-US" sz="1200" dirty="0"/>
          </a:p>
        </p:txBody>
      </p:sp>
      <p:sp>
        <p:nvSpPr>
          <p:cNvPr id="9" name="Shape 6"/>
          <p:cNvSpPr/>
          <p:nvPr/>
        </p:nvSpPr>
        <p:spPr>
          <a:xfrm>
            <a:off x="6309360" y="4572000"/>
            <a:ext cx="5303520" cy="1280160"/>
          </a:xfrm>
          <a:prstGeom prst="roundRect">
            <a:avLst>
              <a:gd name="adj" fmla="val 6429"/>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700016"/>
            <a:ext cx="475488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The chi-square test asks how far is too far</a:t>
            </a:r>
            <a:endParaRPr lang="en-US" sz="1350" dirty="0"/>
          </a:p>
        </p:txBody>
      </p:sp>
      <p:sp>
        <p:nvSpPr>
          <p:cNvPr id="11" name="Shape 8"/>
          <p:cNvSpPr/>
          <p:nvPr/>
        </p:nvSpPr>
        <p:spPr>
          <a:xfrm>
            <a:off x="6565392" y="4992624"/>
            <a:ext cx="4800600" cy="749808"/>
          </a:xfrm>
          <a:prstGeom prst="roundRect">
            <a:avLst>
              <a:gd name="adj" fmla="val 8537"/>
            </a:avLst>
          </a:prstGeom>
          <a:solidFill>
            <a:srgbClr val="1B2B45"/>
          </a:solidFill>
          <a:ln w="12700">
            <a:solidFill>
              <a:srgbClr val="1B2B45"/>
            </a:solidFill>
            <a:prstDash val="solid"/>
          </a:ln>
        </p:spPr>
      </p:sp>
      <p:sp>
        <p:nvSpPr>
          <p:cNvPr id="12" name="Text 9"/>
          <p:cNvSpPr txBox="1"/>
          <p:nvPr/>
        </p:nvSpPr>
        <p:spPr>
          <a:xfrm>
            <a:off x="6729984" y="5102352"/>
            <a:ext cx="4471416" cy="530352"/>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stats.chisquare(counts)</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fair   -&gt; p = 0.17   no evidence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loaded -&gt; p = 5e-14  not uniform</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3.3  ·  SAMPLE SIZE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many rolls before you could catch it?</a:t>
            </a:r>
            <a:endParaRPr lang="en-US" sz="3200" dirty="0"/>
          </a:p>
        </p:txBody>
      </p:sp>
      <p:pic>
        <p:nvPicPr>
          <p:cNvPr id="5" name="Image 0" descr="/home/claude/day26/fig/samplesize.png">    </p:cNvPr>
          <p:cNvPicPr>
            <a:picLocks noChangeAspect="1"/>
          </p:cNvPicPr>
          <p:nvPr/>
        </p:nvPicPr>
        <p:blipFill>
          <a:blip r:embed="rId1"/>
          <a:stretch>
            <a:fillRect/>
          </a:stretch>
        </p:blipFill>
        <p:spPr>
          <a:xfrm>
            <a:off x="822960" y="1600200"/>
            <a:ext cx="6309360" cy="3204998"/>
          </a:xfrm>
          <a:prstGeom prst="rect">
            <a:avLst/>
          </a:prstGeom>
        </p:spPr>
      </p:pic>
      <p:sp>
        <p:nvSpPr>
          <p:cNvPr id="6" name="Shape 3"/>
          <p:cNvSpPr/>
          <p:nvPr/>
        </p:nvSpPr>
        <p:spPr>
          <a:xfrm>
            <a:off x="7498080" y="1572768"/>
            <a:ext cx="4114800" cy="3291840"/>
          </a:xfrm>
          <a:prstGeom prst="roundRect">
            <a:avLst>
              <a:gd name="adj" fmla="val 25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754112" y="1737360"/>
            <a:ext cx="3657600" cy="274320"/>
          </a:xfrm>
          <a:prstGeom prst="rect">
            <a:avLst/>
          </a:prstGeom>
          <a:noFill/>
          <a:ln/>
        </p:spPr>
        <p:txBody>
          <a:bodyPr wrap="square" lIns="0" tIns="0" rIns="0" bIns="0" rtlCol="0" anchor="ctr"/>
          <a:lstStyle/>
          <a:p>
            <a:pPr indent="0" marL="0">
              <a:buNone/>
            </a:pPr>
            <a:r>
              <a:rPr lang="en-US" sz="1350" b="1" dirty="0">
                <a:solidFill>
                  <a:srgbClr val="8A5B00"/>
                </a:solidFill>
                <a:latin typeface="Calibri" pitchFamily="34" charset="0"/>
                <a:ea typeface="Calibri" pitchFamily="34" charset="-122"/>
                <a:cs typeface="Calibri" pitchFamily="34" charset="-120"/>
              </a:rPr>
              <a:t>A badly loaded die</a:t>
            </a:r>
            <a:endParaRPr lang="en-US" sz="1350" dirty="0"/>
          </a:p>
        </p:txBody>
      </p:sp>
      <p:sp>
        <p:nvSpPr>
          <p:cNvPr id="8" name="Text 5"/>
          <p:cNvSpPr txBox="1"/>
          <p:nvPr/>
        </p:nvSpPr>
        <p:spPr>
          <a:xfrm>
            <a:off x="7754112" y="2084832"/>
            <a:ext cx="3657600" cy="2377440"/>
          </a:xfrm>
          <a:prstGeom prst="rect">
            <a:avLst/>
          </a:prstGeom>
          <a:noFill/>
          <a:ln/>
        </p:spPr>
        <p:txBody>
          <a:bodyPr wrap="square" lIns="0" tIns="0" rIns="0" bIns="0" rtlCol="0" anchor="ctr"/>
          <a:lstStyle/>
          <a:p>
            <a:pPr indent="0" marL="0">
              <a:lnSpc>
                <a:spcPct val="125000"/>
              </a:lnSpc>
              <a:buNone/>
            </a:pPr>
            <a:r>
              <a:rPr lang="en-US" sz="1200" dirty="0">
                <a:solidFill>
                  <a:srgbClr val="6B4A0B"/>
                </a:solidFill>
                <a:latin typeface="Calibri" pitchFamily="34" charset="0"/>
                <a:ea typeface="Calibri" pitchFamily="34" charset="-122"/>
                <a:cs typeface="Calibri" pitchFamily="34" charset="-120"/>
              </a:rPr>
              <a:t>This die lands on 6 twice as often as it should — 28.6% instead of 16.7%. That is blatant cheating.</a:t>
            </a:r>
            <a:endParaRPr lang="en-US" sz="1200" dirty="0"/>
          </a:p>
          <a:p>
            <a:pPr indent="0" marL="0">
              <a:lnSpc>
                <a:spcPct val="125000"/>
              </a:lnSpc>
              <a:buNone/>
            </a:pPr>
            <a:endParaRPr lang="en-US" sz="1200" dirty="0"/>
          </a:p>
          <a:p>
            <a:pPr indent="0" marL="0">
              <a:lnSpc>
                <a:spcPct val="125000"/>
              </a:lnSpc>
              <a:buNone/>
            </a:pPr>
            <a:r>
              <a:rPr lang="en-US" sz="1200" dirty="0">
                <a:solidFill>
                  <a:srgbClr val="6B4A0B"/>
                </a:solidFill>
                <a:latin typeface="Calibri" pitchFamily="34" charset="0"/>
                <a:ea typeface="Calibri" pitchFamily="34" charset="-122"/>
                <a:cs typeface="Calibri" pitchFamily="34" charset="-120"/>
              </a:rPr>
              <a:t>With 60 rolls a chi-square test spots it only 40% of the time. You would miss it more often than you caught it.</a:t>
            </a:r>
            <a:endParaRPr lang="en-US" sz="1200" dirty="0"/>
          </a:p>
          <a:p>
            <a:pPr indent="0" marL="0">
              <a:lnSpc>
                <a:spcPct val="125000"/>
              </a:lnSpc>
              <a:buNone/>
            </a:pPr>
            <a:endParaRPr lang="en-US" sz="1200" dirty="0"/>
          </a:p>
          <a:p>
            <a:pPr indent="0" marL="0">
              <a:lnSpc>
                <a:spcPct val="125000"/>
              </a:lnSpc>
              <a:buNone/>
            </a:pPr>
            <a:r>
              <a:rPr lang="en-US" sz="1200" dirty="0">
                <a:solidFill>
                  <a:srgbClr val="6B4A0B"/>
                </a:solidFill>
                <a:latin typeface="Calibri" pitchFamily="34" charset="0"/>
                <a:ea typeface="Calibri" pitchFamily="34" charset="-122"/>
                <a:cs typeface="Calibri" pitchFamily="34" charset="-120"/>
              </a:rPr>
              <a:t>200 rolls: 91%.      300 rolls: 99%.</a:t>
            </a:r>
            <a:endParaRPr lang="en-US" sz="1200" dirty="0"/>
          </a:p>
        </p:txBody>
      </p:sp>
      <p:sp>
        <p:nvSpPr>
          <p:cNvPr id="9" name="Shape 6"/>
          <p:cNvSpPr/>
          <p:nvPr/>
        </p:nvSpPr>
        <p:spPr>
          <a:xfrm>
            <a:off x="548640" y="4983480"/>
            <a:ext cx="11064240" cy="868680"/>
          </a:xfrm>
          <a:prstGeom prst="roundRect">
            <a:avLst>
              <a:gd name="adj" fmla="val 9474"/>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868680" y="5157216"/>
            <a:ext cx="10424160" cy="548640"/>
          </a:xfrm>
          <a:prstGeom prst="rect">
            <a:avLst/>
          </a:prstGeom>
          <a:noFill/>
          <a:ln/>
        </p:spPr>
        <p:txBody>
          <a:bodyPr wrap="square" lIns="0" tIns="0" rIns="0" bIns="0" rtlCol="0" anchor="ctr"/>
          <a:lstStyle/>
          <a:p>
            <a:pPr indent="0" marL="0">
              <a:lnSpc>
                <a:spcPct val="115000"/>
              </a:lnSpc>
              <a:buNone/>
            </a:pPr>
            <a:r>
              <a:rPr lang="en-US" sz="1250" b="1" dirty="0">
                <a:solidFill>
                  <a:srgbClr val="A63B24"/>
                </a:solidFill>
                <a:latin typeface="Calibri" pitchFamily="34" charset="0"/>
                <a:ea typeface="Calibri" pitchFamily="34" charset="-122"/>
                <a:cs typeface="Calibri" pitchFamily="34" charset="-120"/>
              </a:rPr>
              <a:t>The lesson, which is the same one as yesterday's A/B test: “I tested it and found nothing” is only meaningful if you say how much data you had. With 60 rolls you would have missed this blatant cheat 6 times in 10 — so finding nothing told you almost nothing.</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3.4  ·  CONTINUOUS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Same range, same mean, and not uniform at all</a:t>
            </a:r>
            <a:endParaRPr lang="en-US" sz="3200" dirty="0"/>
          </a:p>
        </p:txBody>
      </p:sp>
      <p:pic>
        <p:nvPicPr>
          <p:cNvPr id="5" name="Image 0" descr="/home/claude/day26/fig/ks_trap.png">    </p:cNvPr>
          <p:cNvPicPr>
            <a:picLocks noChangeAspect="1"/>
          </p:cNvPicPr>
          <p:nvPr/>
        </p:nvPicPr>
        <p:blipFill>
          <a:blip r:embed="rId1"/>
          <a:stretch>
            <a:fillRect/>
          </a:stretch>
        </p:blipFill>
        <p:spPr>
          <a:xfrm>
            <a:off x="1097280" y="1572768"/>
            <a:ext cx="9966960" cy="2877298"/>
          </a:xfrm>
          <a:prstGeom prst="rect">
            <a:avLst/>
          </a:prstGeom>
        </p:spPr>
      </p:pic>
      <p:sp>
        <p:nvSpPr>
          <p:cNvPr id="6" name="Shape 3"/>
          <p:cNvSpPr/>
          <p:nvPr/>
        </p:nvSpPr>
        <p:spPr>
          <a:xfrm>
            <a:off x="548640" y="4572000"/>
            <a:ext cx="5486400" cy="1280160"/>
          </a:xfrm>
          <a:prstGeom prst="roundRect">
            <a:avLst>
              <a:gd name="adj" fmla="val 6429"/>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700016"/>
            <a:ext cx="4937760" cy="274320"/>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What does NOT prove uniformity</a:t>
            </a:r>
            <a:endParaRPr lang="en-US" sz="1350" dirty="0"/>
          </a:p>
        </p:txBody>
      </p:sp>
      <p:sp>
        <p:nvSpPr>
          <p:cNvPr id="8" name="Text 5"/>
          <p:cNvSpPr txBox="1"/>
          <p:nvPr/>
        </p:nvSpPr>
        <p:spPr>
          <a:xfrm>
            <a:off x="804672" y="5010912"/>
            <a:ext cx="4983480" cy="77724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Both samples run from 0 to 1. Both average about 0.51. Checking the bounds and the mean tells you nothing — the shape in between is the whole question.</a:t>
            </a:r>
            <a:endParaRPr lang="en-US" sz="1200" dirty="0"/>
          </a:p>
        </p:txBody>
      </p:sp>
      <p:sp>
        <p:nvSpPr>
          <p:cNvPr id="9" name="Shape 6"/>
          <p:cNvSpPr/>
          <p:nvPr/>
        </p:nvSpPr>
        <p:spPr>
          <a:xfrm>
            <a:off x="6309360" y="4572000"/>
            <a:ext cx="5303520" cy="1280160"/>
          </a:xfrm>
          <a:prstGeom prst="roundRect">
            <a:avLst>
              <a:gd name="adj" fmla="val 6429"/>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700016"/>
            <a:ext cx="475488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What does: the KS test, or just look</a:t>
            </a:r>
            <a:endParaRPr lang="en-US" sz="1350" dirty="0"/>
          </a:p>
        </p:txBody>
      </p:sp>
      <p:sp>
        <p:nvSpPr>
          <p:cNvPr id="11" name="Shape 8"/>
          <p:cNvSpPr/>
          <p:nvPr/>
        </p:nvSpPr>
        <p:spPr>
          <a:xfrm>
            <a:off x="6565392" y="4992624"/>
            <a:ext cx="4800600" cy="749808"/>
          </a:xfrm>
          <a:prstGeom prst="roundRect">
            <a:avLst>
              <a:gd name="adj" fmla="val 8537"/>
            </a:avLst>
          </a:prstGeom>
          <a:solidFill>
            <a:srgbClr val="1B2B45"/>
          </a:solidFill>
          <a:ln w="12700">
            <a:solidFill>
              <a:srgbClr val="1B2B45"/>
            </a:solidFill>
            <a:prstDash val="solid"/>
          </a:ln>
        </p:spPr>
      </p:sp>
      <p:sp>
        <p:nvSpPr>
          <p:cNvPr id="12" name="Text 9"/>
          <p:cNvSpPr txBox="1"/>
          <p:nvPr/>
        </p:nvSpPr>
        <p:spPr>
          <a:xfrm>
            <a:off x="6729984" y="5102352"/>
            <a:ext cx="4471416" cy="530352"/>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stats.kstest(data, 'uniform')</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really uniform -&gt; p = 0.31</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beta(2,2)      -&gt; p = 3e-21</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3.5  ·  BENFORD'S LAW</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most famous thing that is not uniform</a:t>
            </a:r>
            <a:endParaRPr lang="en-US" sz="3200" dirty="0"/>
          </a:p>
        </p:txBody>
      </p:sp>
      <p:pic>
        <p:nvPicPr>
          <p:cNvPr id="5" name="Image 0" descr="/home/claude/day26/fig/benford.png">    </p:cNvPr>
          <p:cNvPicPr>
            <a:picLocks noChangeAspect="1"/>
          </p:cNvPicPr>
          <p:nvPr/>
        </p:nvPicPr>
        <p:blipFill>
          <a:blip r:embed="rId1"/>
          <a:stretch>
            <a:fillRect/>
          </a:stretch>
        </p:blipFill>
        <p:spPr>
          <a:xfrm>
            <a:off x="731520" y="1572768"/>
            <a:ext cx="6766560" cy="2769775"/>
          </a:xfrm>
          <a:prstGeom prst="rect">
            <a:avLst/>
          </a:prstGeom>
        </p:spPr>
      </p:pic>
      <p:sp>
        <p:nvSpPr>
          <p:cNvPr id="6" name="Shape 3"/>
          <p:cNvSpPr/>
          <p:nvPr/>
        </p:nvSpPr>
        <p:spPr>
          <a:xfrm>
            <a:off x="7863840" y="1572768"/>
            <a:ext cx="3749040" cy="3200400"/>
          </a:xfrm>
          <a:prstGeom prst="roundRect">
            <a:avLst>
              <a:gd name="adj" fmla="val 2571"/>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119872" y="1737360"/>
            <a:ext cx="3291840" cy="2743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Why this happens</a:t>
            </a:r>
            <a:endParaRPr lang="en-US" sz="1350" dirty="0"/>
          </a:p>
        </p:txBody>
      </p:sp>
      <p:sp>
        <p:nvSpPr>
          <p:cNvPr id="8" name="Text 5"/>
          <p:cNvSpPr txBox="1"/>
          <p:nvPr/>
        </p:nvSpPr>
        <p:spPr>
          <a:xfrm>
            <a:off x="8119872" y="2084832"/>
            <a:ext cx="3291840" cy="2103120"/>
          </a:xfrm>
          <a:prstGeom prst="rect">
            <a:avLst/>
          </a:prstGeom>
          <a:noFill/>
          <a:ln/>
        </p:spPr>
        <p:txBody>
          <a:bodyPr wrap="square" lIns="0" tIns="0" rIns="0" bIns="0" rtlCol="0" anchor="ctr"/>
          <a:lstStyle/>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Real quantities — revenues, populations, river lengths — spread across orders of magnitude. Something growing from 100 to 200 doubles; from 900 to 1000 it rises 11%.</a:t>
            </a:r>
            <a:endParaRPr lang="en-US" sz="1150" dirty="0"/>
          </a:p>
          <a:p>
            <a:pPr indent="0" marL="0">
              <a:lnSpc>
                <a:spcPct val="120000"/>
              </a:lnSpc>
              <a:buNone/>
            </a:pPr>
            <a:endParaRPr lang="en-US" sz="1150" dirty="0"/>
          </a:p>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So a value spends far longer with a leading 1 than a leading 9.</a:t>
            </a:r>
            <a:endParaRPr lang="en-US" sz="1150" dirty="0"/>
          </a:p>
        </p:txBody>
      </p:sp>
      <p:sp>
        <p:nvSpPr>
          <p:cNvPr id="9" name="Text 6"/>
          <p:cNvSpPr txBox="1"/>
          <p:nvPr/>
        </p:nvSpPr>
        <p:spPr>
          <a:xfrm>
            <a:off x="8119872" y="4279392"/>
            <a:ext cx="3291840" cy="320040"/>
          </a:xfrm>
          <a:prstGeom prst="rect">
            <a:avLst/>
          </a:prstGeom>
          <a:noFill/>
          <a:ln/>
        </p:spPr>
        <p:txBody>
          <a:bodyPr wrap="square" lIns="0" tIns="0" rIns="0" bIns="0" rtlCol="0" anchor="ctr"/>
          <a:lstStyle/>
          <a:p>
            <a:pPr algn="ctr" indent="0" marL="0">
              <a:buNone/>
            </a:pPr>
            <a:r>
              <a:rPr lang="en-US" sz="1200" b="1" dirty="0">
                <a:solidFill>
                  <a:srgbClr val="3E7CB1"/>
                </a:solidFill>
                <a:latin typeface="Courier New" pitchFamily="34" charset="0"/>
                <a:ea typeface="Courier New" pitchFamily="34" charset="-122"/>
                <a:cs typeface="Courier New" pitchFamily="34" charset="-120"/>
              </a:rPr>
              <a:t>P(d) = log₁₀(1 + 1/d)</a:t>
            </a:r>
            <a:endParaRPr lang="en-US" sz="1200" dirty="0"/>
          </a:p>
        </p:txBody>
      </p:sp>
      <p:sp>
        <p:nvSpPr>
          <p:cNvPr id="10" name="Shape 7"/>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8"/>
          <p:cNvSpPr txBox="1"/>
          <p:nvPr/>
        </p:nvSpPr>
        <p:spPr>
          <a:xfrm>
            <a:off x="868680" y="5102352"/>
            <a:ext cx="10424160" cy="621792"/>
          </a:xfrm>
          <a:prstGeom prst="rect">
            <a:avLst/>
          </a:prstGeom>
          <a:noFill/>
          <a:ln/>
        </p:spPr>
        <p:txBody>
          <a:bodyPr wrap="square" lIns="0" tIns="0" rIns="0" bIns="0" rtlCol="0" anchor="ctr"/>
          <a:lstStyle/>
          <a:p>
            <a:pPr indent="0" marL="0">
              <a:lnSpc>
                <a:spcPct val="115000"/>
              </a:lnSpc>
              <a:buNone/>
            </a:pPr>
            <a:r>
              <a:rPr lang="en-US" sz="1250" b="1" dirty="0">
                <a:solidFill>
                  <a:srgbClr val="8A5B00"/>
                </a:solidFill>
                <a:latin typeface="Calibri" pitchFamily="34" charset="0"/>
                <a:ea typeface="Calibri" pitchFamily="34" charset="-122"/>
                <a:cs typeface="Calibri" pitchFamily="34" charset="-120"/>
              </a:rPr>
              <a:t>This is used to detect fraud. People inventing numbers spread their leading digits roughly evenly, because that is what “random” feels like. Real accounts do not. Auditors run this check on expense claims and tax returns — a dataset that is suspiciously uniform is the red flag.</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4</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Foundation</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Every random number starts here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What your computer actually makes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Inverse transform sampling</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Pseudorandom, not random</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4.1  ·  THE CLAIM</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Your computer can only make one distribution</a:t>
            </a:r>
            <a:endParaRPr lang="en-US" sz="3200" dirty="0"/>
          </a:p>
        </p:txBody>
      </p:sp>
      <p:sp>
        <p:nvSpPr>
          <p:cNvPr id="5" name="Shape 3"/>
          <p:cNvSpPr/>
          <p:nvPr/>
        </p:nvSpPr>
        <p:spPr>
          <a:xfrm>
            <a:off x="548640" y="1600200"/>
            <a:ext cx="5486400" cy="2651760"/>
          </a:xfrm>
          <a:prstGeom prst="roundRect">
            <a:avLst>
              <a:gd name="adj" fmla="val 3103"/>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64792"/>
            <a:ext cx="493776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Underneath, there is only this</a:t>
            </a:r>
            <a:endParaRPr lang="en-US" sz="1450" dirty="0"/>
          </a:p>
        </p:txBody>
      </p:sp>
      <p:sp>
        <p:nvSpPr>
          <p:cNvPr id="7" name="Shape 5"/>
          <p:cNvSpPr/>
          <p:nvPr/>
        </p:nvSpPr>
        <p:spPr>
          <a:xfrm>
            <a:off x="804672" y="2148840"/>
            <a:ext cx="4983480" cy="685800"/>
          </a:xfrm>
          <a:prstGeom prst="roundRect">
            <a:avLst>
              <a:gd name="adj" fmla="val 9333"/>
            </a:avLst>
          </a:prstGeom>
          <a:solidFill>
            <a:srgbClr val="1B2B45"/>
          </a:solidFill>
          <a:ln w="12700">
            <a:solidFill>
              <a:srgbClr val="1B2B45"/>
            </a:solidFill>
            <a:prstDash val="solid"/>
          </a:ln>
        </p:spPr>
      </p:sp>
      <p:sp>
        <p:nvSpPr>
          <p:cNvPr id="8" name="Text 6"/>
          <p:cNvSpPr txBox="1"/>
          <p:nvPr/>
        </p:nvSpPr>
        <p:spPr>
          <a:xfrm>
            <a:off x="969264" y="2258568"/>
            <a:ext cx="4654296" cy="46634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rng.random()</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-&gt;  0.7340815...     a U(0,1) number</a:t>
            </a:r>
            <a:endParaRPr lang="en-US" sz="1000" dirty="0"/>
          </a:p>
        </p:txBody>
      </p:sp>
      <p:sp>
        <p:nvSpPr>
          <p:cNvPr id="9" name="Text 7"/>
          <p:cNvSpPr txBox="1"/>
          <p:nvPr/>
        </p:nvSpPr>
        <p:spPr>
          <a:xfrm>
            <a:off x="804672" y="2971800"/>
            <a:ext cx="4983480" cy="1097280"/>
          </a:xfrm>
          <a:prstGeom prst="rect">
            <a:avLst/>
          </a:prstGeom>
          <a:noFill/>
          <a:ln/>
        </p:spPr>
        <p:txBody>
          <a:bodyPr wrap="square" lIns="0" tIns="0" rIns="0" bIns="0" rtlCol="0" anchor="ctr"/>
          <a:lstStyle/>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That is the only random thing the machine does. Every other distribution you have called this term — normal, binomial, Poisson — is a transformation applied to a stream of these.</a:t>
            </a:r>
            <a:endParaRPr lang="en-US" sz="1250" dirty="0"/>
          </a:p>
        </p:txBody>
      </p:sp>
      <p:sp>
        <p:nvSpPr>
          <p:cNvPr id="10" name="Shape 8"/>
          <p:cNvSpPr/>
          <p:nvPr/>
        </p:nvSpPr>
        <p:spPr>
          <a:xfrm>
            <a:off x="6309360" y="1600200"/>
            <a:ext cx="5303520" cy="2651760"/>
          </a:xfrm>
          <a:prstGeom prst="roundRect">
            <a:avLst>
              <a:gd name="adj" fmla="val 310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565392" y="1764792"/>
            <a:ext cx="475488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Which is a strong claim, so test it</a:t>
            </a:r>
            <a:endParaRPr lang="en-US" sz="1450" dirty="0"/>
          </a:p>
        </p:txBody>
      </p:sp>
      <p:sp>
        <p:nvSpPr>
          <p:cNvPr id="12" name="Text 10"/>
          <p:cNvSpPr txBox="1"/>
          <p:nvPr/>
        </p:nvSpPr>
        <p:spPr>
          <a:xfrm>
            <a:off x="6565392" y="2148840"/>
            <a:ext cx="4800600" cy="1920240"/>
          </a:xfrm>
          <a:prstGeom prst="rect">
            <a:avLst/>
          </a:prstGeom>
          <a:noFill/>
          <a:ln/>
        </p:spPr>
        <p:txBody>
          <a:bodyPr wrap="square" lIns="0" tIns="0" rIns="0" bIns="0" rtlCol="0" anchor="ctr"/>
          <a:lstStyle/>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If true, you should be able to build a normal distribution by hand from nothing but rng.random() — no rng.normal anywhere.</a:t>
            </a:r>
            <a:endParaRPr lang="en-US" sz="1250" dirty="0"/>
          </a:p>
          <a:p>
            <a:pPr indent="0" marL="0">
              <a:lnSpc>
                <a:spcPct val="125000"/>
              </a:lnSpc>
              <a:buNone/>
            </a:pPr>
            <a:endParaRPr lang="en-US" sz="1250" dirty="0"/>
          </a:p>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And you can. It takes one line, and it works for every distribution with a cdf you can invert.</a:t>
            </a:r>
            <a:endParaRPr lang="en-US" sz="1250" dirty="0"/>
          </a:p>
          <a:p>
            <a:pPr indent="0" marL="0">
              <a:lnSpc>
                <a:spcPct val="125000"/>
              </a:lnSpc>
              <a:buNone/>
            </a:pPr>
            <a:endParaRPr lang="en-US" sz="1250" dirty="0"/>
          </a:p>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That method is next.</a:t>
            </a:r>
            <a:endParaRPr lang="en-US" sz="1250" dirty="0"/>
          </a:p>
        </p:txBody>
      </p:sp>
      <p:sp>
        <p:nvSpPr>
          <p:cNvPr id="13" name="Shape 11"/>
          <p:cNvSpPr/>
          <p:nvPr/>
        </p:nvSpPr>
        <p:spPr>
          <a:xfrm>
            <a:off x="548640" y="4434840"/>
            <a:ext cx="11064240" cy="1417320"/>
          </a:xfrm>
          <a:prstGeom prst="roundRect">
            <a:avLst>
              <a:gd name="adj" fmla="val 5806"/>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868680" y="4590288"/>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Why you should care, beyond the trivia</a:t>
            </a:r>
            <a:endParaRPr lang="en-US" sz="1450" dirty="0"/>
          </a:p>
        </p:txBody>
      </p:sp>
      <p:sp>
        <p:nvSpPr>
          <p:cNvPr id="15" name="Text 13"/>
          <p:cNvSpPr txBox="1"/>
          <p:nvPr/>
        </p:nvSpPr>
        <p:spPr>
          <a:xfrm>
            <a:off x="868680" y="4919472"/>
            <a:ext cx="10424160" cy="82296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When you meet a distribution scipy does not implement — a custom one from a paper, or an empirical one you measured yourself — you will need to sample from it. This is how. It is also how every simulation and every bootstrap you write from here on actually works underneath.</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4.2  ·  INVERSE TRANSFORM</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Feed a uniform number into the inverse cdf</a:t>
            </a:r>
            <a:endParaRPr lang="en-US" sz="3200" dirty="0"/>
          </a:p>
        </p:txBody>
      </p:sp>
      <p:pic>
        <p:nvPicPr>
          <p:cNvPr id="5" name="Image 0" descr="/home/claude/day26/fig/inverse_transform.png">    </p:cNvPr>
          <p:cNvPicPr>
            <a:picLocks noChangeAspect="1"/>
          </p:cNvPicPr>
          <p:nvPr/>
        </p:nvPicPr>
        <p:blipFill>
          <a:blip r:embed="rId1"/>
          <a:stretch>
            <a:fillRect/>
          </a:stretch>
        </p:blipFill>
        <p:spPr>
          <a:xfrm>
            <a:off x="822960" y="1536192"/>
            <a:ext cx="5577840" cy="3919775"/>
          </a:xfrm>
          <a:prstGeom prst="rect">
            <a:avLst/>
          </a:prstGeom>
        </p:spPr>
      </p:pic>
      <p:sp>
        <p:nvSpPr>
          <p:cNvPr id="6" name="Shape 3"/>
          <p:cNvSpPr/>
          <p:nvPr/>
        </p:nvSpPr>
        <p:spPr>
          <a:xfrm>
            <a:off x="6858000" y="1572768"/>
            <a:ext cx="4754880" cy="2286000"/>
          </a:xfrm>
          <a:prstGeom prst="roundRect">
            <a:avLst>
              <a:gd name="adj" fmla="val 36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114032" y="1737360"/>
            <a:ext cx="429768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Read it from the left</a:t>
            </a:r>
            <a:endParaRPr lang="en-US" sz="1400" dirty="0"/>
          </a:p>
        </p:txBody>
      </p:sp>
      <p:sp>
        <p:nvSpPr>
          <p:cNvPr id="8" name="Text 5"/>
          <p:cNvSpPr txBox="1"/>
          <p:nvPr/>
        </p:nvSpPr>
        <p:spPr>
          <a:xfrm>
            <a:off x="7114032" y="2103120"/>
            <a:ext cx="4297680" cy="1645920"/>
          </a:xfrm>
          <a:prstGeom prst="rect">
            <a:avLst/>
          </a:prstGeom>
          <a:noFill/>
          <a:ln/>
        </p:spPr>
        <p:txBody>
          <a:bodyPr wrap="square" lIns="0" tIns="0" rIns="0" bIns="0" rtlCol="0" anchor="ctr"/>
          <a:lstStyle/>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Pick a number between 0 and 1 — that is the vertical axis. Go across to the cdf curve, then drop down. The value you land on is your sample.</a:t>
            </a:r>
            <a:endParaRPr lang="en-US" sz="1250" dirty="0"/>
          </a:p>
          <a:p>
            <a:pPr indent="0" marL="0">
              <a:lnSpc>
                <a:spcPct val="125000"/>
              </a:lnSpc>
              <a:buNone/>
            </a:pPr>
            <a:endParaRPr lang="en-US" sz="1250" dirty="0"/>
          </a:p>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u = 0.50 gives 0.00, the middle. u = 0.80 gives +0.84.</a:t>
            </a:r>
            <a:endParaRPr lang="en-US" sz="1250" dirty="0"/>
          </a:p>
        </p:txBody>
      </p:sp>
      <p:sp>
        <p:nvSpPr>
          <p:cNvPr id="9" name="Shape 6"/>
          <p:cNvSpPr/>
          <p:nvPr/>
        </p:nvSpPr>
        <p:spPr>
          <a:xfrm>
            <a:off x="6858000" y="3977640"/>
            <a:ext cx="4754880" cy="1874520"/>
          </a:xfrm>
          <a:prstGeom prst="roundRect">
            <a:avLst>
              <a:gd name="adj" fmla="val 439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7114032" y="4133088"/>
            <a:ext cx="429768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Why it works</a:t>
            </a:r>
            <a:endParaRPr lang="en-US" sz="1400" dirty="0"/>
          </a:p>
        </p:txBody>
      </p:sp>
      <p:sp>
        <p:nvSpPr>
          <p:cNvPr id="11" name="Text 8"/>
          <p:cNvSpPr txBox="1"/>
          <p:nvPr/>
        </p:nvSpPr>
        <p:spPr>
          <a:xfrm>
            <a:off x="7114032" y="4480560"/>
            <a:ext cx="4297680" cy="1280160"/>
          </a:xfrm>
          <a:prstGeom prst="rect">
            <a:avLst/>
          </a:prstGeom>
          <a:noFill/>
          <a:ln/>
        </p:spPr>
        <p:txBody>
          <a:bodyPr wrap="square" lIns="0" tIns="0" rIns="0" bIns="0" rtlCol="0" anchor="ctr"/>
          <a:lstStyle/>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Where the curve is STEEP, a small slice of the vertical axis maps to a narrow range of x — so values pile up there. Where it is FLAT, the same slice spreads across a wide range, so values are rare.</a:t>
            </a:r>
            <a:endParaRPr lang="en-US" sz="1150" dirty="0"/>
          </a:p>
          <a:p>
            <a:pPr indent="0" marL="0">
              <a:lnSpc>
                <a:spcPct val="120000"/>
              </a:lnSpc>
              <a:buNone/>
            </a:pPr>
            <a:endParaRPr lang="en-US" sz="1150" dirty="0"/>
          </a:p>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Steep means likely. That is exactly what a density is.</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4.3  ·  IT ACTUALLY WORKS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same uniform numbers, reshaped twice</a:t>
            </a:r>
            <a:endParaRPr lang="en-US" sz="3200" dirty="0"/>
          </a:p>
        </p:txBody>
      </p:sp>
      <p:pic>
        <p:nvPicPr>
          <p:cNvPr id="5" name="Image 0" descr="/home/claude/day26/fig/transform_result.png">    </p:cNvPr>
          <p:cNvPicPr>
            <a:picLocks noChangeAspect="1"/>
          </p:cNvPicPr>
          <p:nvPr/>
        </p:nvPicPr>
        <p:blipFill>
          <a:blip r:embed="rId1"/>
          <a:stretch>
            <a:fillRect/>
          </a:stretch>
        </p:blipFill>
        <p:spPr>
          <a:xfrm>
            <a:off x="731520" y="1572768"/>
            <a:ext cx="10698480" cy="2734785"/>
          </a:xfrm>
          <a:prstGeom prst="rect">
            <a:avLst/>
          </a:prstGeom>
        </p:spPr>
      </p:pic>
      <p:sp>
        <p:nvSpPr>
          <p:cNvPr id="6" name="Shape 3"/>
          <p:cNvSpPr/>
          <p:nvPr/>
        </p:nvSpPr>
        <p:spPr>
          <a:xfrm>
            <a:off x="548640" y="4480560"/>
            <a:ext cx="5486400" cy="1371600"/>
          </a:xfrm>
          <a:prstGeom prst="roundRect">
            <a:avLst>
              <a:gd name="adj" fmla="val 6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Shape 4"/>
          <p:cNvSpPr/>
          <p:nvPr/>
        </p:nvSpPr>
        <p:spPr>
          <a:xfrm>
            <a:off x="777240" y="4645152"/>
            <a:ext cx="5029200" cy="1051560"/>
          </a:xfrm>
          <a:prstGeom prst="roundRect">
            <a:avLst>
              <a:gd name="adj" fmla="val 6087"/>
            </a:avLst>
          </a:prstGeom>
          <a:solidFill>
            <a:srgbClr val="1B2B45"/>
          </a:solidFill>
          <a:ln w="12700">
            <a:solidFill>
              <a:srgbClr val="1B2B45"/>
            </a:solidFill>
            <a:prstDash val="solid"/>
          </a:ln>
        </p:spPr>
      </p:sp>
      <p:sp>
        <p:nvSpPr>
          <p:cNvPr id="8" name="Text 5"/>
          <p:cNvSpPr txBox="1"/>
          <p:nvPr/>
        </p:nvSpPr>
        <p:spPr>
          <a:xfrm>
            <a:off x="941832" y="4754880"/>
            <a:ext cx="4700016" cy="83210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u = rng.random(200_000)      # ONE source</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normal = stats.norm.ppf(u)</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expon  = -np.log(1 - u) / 0.5</a:t>
            </a:r>
            <a:endParaRPr lang="en-US" sz="1000" dirty="0"/>
          </a:p>
        </p:txBody>
      </p:sp>
      <p:sp>
        <p:nvSpPr>
          <p:cNvPr id="9" name="Shape 6"/>
          <p:cNvSpPr/>
          <p:nvPr/>
        </p:nvSpPr>
        <p:spPr>
          <a:xfrm>
            <a:off x="6309360" y="4480560"/>
            <a:ext cx="5303520" cy="1371600"/>
          </a:xfrm>
          <a:prstGeom prst="roundRect">
            <a:avLst>
              <a:gd name="adj" fmla="val 6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626864"/>
            <a:ext cx="4754880" cy="274320"/>
          </a:xfrm>
          <a:prstGeom prst="rect">
            <a:avLst/>
          </a:prstGeom>
          <a:noFill/>
          <a:ln/>
        </p:spPr>
        <p:txBody>
          <a:bodyPr wrap="square" lIns="0" tIns="0" rIns="0" bIns="0" rtlCol="0" anchor="ctr"/>
          <a:lstStyle/>
          <a:p>
            <a:pPr indent="0" marL="0">
              <a:buNone/>
            </a:pPr>
            <a:r>
              <a:rPr lang="en-US" sz="1350" b="1" dirty="0">
                <a:solidFill>
                  <a:srgbClr val="8A5B00"/>
                </a:solidFill>
                <a:latin typeface="Calibri" pitchFamily="34" charset="0"/>
                <a:ea typeface="Calibri" pitchFamily="34" charset="-122"/>
                <a:cs typeface="Calibri" pitchFamily="34" charset="-120"/>
              </a:rPr>
              <a:t>No rng.normal was called</a:t>
            </a:r>
            <a:endParaRPr lang="en-US" sz="1350" dirty="0"/>
          </a:p>
        </p:txBody>
      </p:sp>
      <p:sp>
        <p:nvSpPr>
          <p:cNvPr id="11" name="Text 8"/>
          <p:cNvSpPr txBox="1"/>
          <p:nvPr/>
        </p:nvSpPr>
        <p:spPr>
          <a:xfrm>
            <a:off x="6565392" y="4956048"/>
            <a:ext cx="4800600" cy="77724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The normal came out with mean −0.001 and sd 1.001. The exponential came out with mean 1.999 against a target of 2. Both built from a flat line.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4.4  ·  PSEUDORANDOM</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None of this is actually random</a:t>
            </a:r>
            <a:endParaRPr lang="en-US" sz="3200" dirty="0"/>
          </a:p>
        </p:txBody>
      </p:sp>
      <p:sp>
        <p:nvSpPr>
          <p:cNvPr id="5" name="Shape 3"/>
          <p:cNvSpPr/>
          <p:nvPr/>
        </p:nvSpPr>
        <p:spPr>
          <a:xfrm>
            <a:off x="548640" y="1600200"/>
            <a:ext cx="5486400" cy="2514600"/>
          </a:xfrm>
          <a:prstGeom prst="roundRect">
            <a:avLst>
              <a:gd name="adj" fmla="val 327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64792"/>
            <a:ext cx="4937760" cy="301752"/>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The same seed gives the same “random” numbers</a:t>
            </a:r>
            <a:endParaRPr lang="en-US" sz="1400" dirty="0"/>
          </a:p>
        </p:txBody>
      </p:sp>
      <p:sp>
        <p:nvSpPr>
          <p:cNvPr id="7" name="Shape 5"/>
          <p:cNvSpPr/>
          <p:nvPr/>
        </p:nvSpPr>
        <p:spPr>
          <a:xfrm>
            <a:off x="804672" y="2148840"/>
            <a:ext cx="4983480" cy="1051560"/>
          </a:xfrm>
          <a:prstGeom prst="roundRect">
            <a:avLst>
              <a:gd name="adj" fmla="val 6087"/>
            </a:avLst>
          </a:prstGeom>
          <a:solidFill>
            <a:srgbClr val="1B2B45"/>
          </a:solidFill>
          <a:ln w="12700">
            <a:solidFill>
              <a:srgbClr val="1B2B45"/>
            </a:solidFill>
            <a:prstDash val="solid"/>
          </a:ln>
        </p:spPr>
      </p:sp>
      <p:sp>
        <p:nvSpPr>
          <p:cNvPr id="8" name="Text 6"/>
          <p:cNvSpPr txBox="1"/>
          <p:nvPr/>
        </p:nvSpPr>
        <p:spPr>
          <a:xfrm>
            <a:off x="969264" y="2258568"/>
            <a:ext cx="4654296" cy="83210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np.random.default_rng(42).random(3)</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-&gt;  [0.7739, 0.4388, 0.8585]</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run it again. Same three numbers. Always.</a:t>
            </a:r>
            <a:endParaRPr lang="en-US" sz="1000" dirty="0"/>
          </a:p>
        </p:txBody>
      </p:sp>
      <p:sp>
        <p:nvSpPr>
          <p:cNvPr id="9" name="Text 7"/>
          <p:cNvSpPr txBox="1"/>
          <p:nvPr/>
        </p:nvSpPr>
        <p:spPr>
          <a:xfrm>
            <a:off x="804672" y="3291840"/>
            <a:ext cx="4983480" cy="73152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It is a deterministic formula that produces a sequence which PASSES the uniformity tests. Statistically uniform, not unpredictable.</a:t>
            </a:r>
            <a:endParaRPr lang="en-US" sz="1200" dirty="0"/>
          </a:p>
        </p:txBody>
      </p:sp>
      <p:sp>
        <p:nvSpPr>
          <p:cNvPr id="10" name="Shape 8"/>
          <p:cNvSpPr/>
          <p:nvPr/>
        </p:nvSpPr>
        <p:spPr>
          <a:xfrm>
            <a:off x="6309360" y="1600200"/>
            <a:ext cx="5303520" cy="2514600"/>
          </a:xfrm>
          <a:prstGeom prst="roundRect">
            <a:avLst>
              <a:gd name="adj" fmla="val 327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565392" y="1764792"/>
            <a:ext cx="475488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Which is a feature, not a bug</a:t>
            </a:r>
            <a:endParaRPr lang="en-US" sz="1400" dirty="0"/>
          </a:p>
        </p:txBody>
      </p:sp>
      <p:sp>
        <p:nvSpPr>
          <p:cNvPr id="12" name="Text 10"/>
          <p:cNvSpPr txBox="1"/>
          <p:nvPr/>
        </p:nvSpPr>
        <p:spPr>
          <a:xfrm>
            <a:off x="6675120" y="2148840"/>
            <a:ext cx="4572000" cy="18288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Your results reproduce — yours and everyone else's</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A failing test fails the same way twice</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A reviewer can rerun your notebook and get your numbers</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Every figure in this course is seeded for exactly this reason</a:t>
            </a:r>
            <a:endParaRPr lang="en-US" sz="1200" dirty="0"/>
          </a:p>
        </p:txBody>
      </p:sp>
      <p:sp>
        <p:nvSpPr>
          <p:cNvPr id="13" name="Shape 11"/>
          <p:cNvSpPr/>
          <p:nvPr/>
        </p:nvSpPr>
        <p:spPr>
          <a:xfrm>
            <a:off x="548640" y="4297680"/>
            <a:ext cx="11064240" cy="1554480"/>
          </a:xfrm>
          <a:prstGeom prst="roundRect">
            <a:avLst>
              <a:gd name="adj" fmla="val 5294"/>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868680" y="4453128"/>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The one place it matters that these are predictable</a:t>
            </a:r>
            <a:endParaRPr lang="en-US" sz="1450" dirty="0"/>
          </a:p>
        </p:txBody>
      </p:sp>
      <p:sp>
        <p:nvSpPr>
          <p:cNvPr id="15" name="Text 13"/>
          <p:cNvSpPr txBox="1"/>
          <p:nvPr/>
        </p:nvSpPr>
        <p:spPr>
          <a:xfrm>
            <a:off x="868680" y="4782312"/>
            <a:ext cx="10424160" cy="91440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Never use numpy.random or Python's random module for anything security-related — passwords, tokens, keys. Given enough output, the sequence can be worked backwards and every future value predicted. Use the secrets module instead. It is slower, and it is not reproducible, and both of those are the point.</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5</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Where It Leads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The last step before Day 27  ·  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One uniform is flat</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Twelve are a bell curve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5.1  ·  → NORMAL</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flattest distribution there is, added to itself</a:t>
            </a:r>
            <a:endParaRPr lang="en-US" sz="3200" dirty="0"/>
          </a:p>
        </p:txBody>
      </p:sp>
      <p:pic>
        <p:nvPicPr>
          <p:cNvPr id="5" name="Image 0" descr="/home/claude/day26/fig/sums.png">    </p:cNvPr>
          <p:cNvPicPr>
            <a:picLocks noChangeAspect="1"/>
          </p:cNvPicPr>
          <p:nvPr/>
        </p:nvPicPr>
        <p:blipFill>
          <a:blip r:embed="rId1"/>
          <a:stretch>
            <a:fillRect/>
          </a:stretch>
        </p:blipFill>
        <p:spPr>
          <a:xfrm>
            <a:off x="731520" y="1572768"/>
            <a:ext cx="10698480" cy="2558221"/>
          </a:xfrm>
          <a:prstGeom prst="rect">
            <a:avLst/>
          </a:prstGeom>
        </p:spPr>
      </p:pic>
      <p:sp>
        <p:nvSpPr>
          <p:cNvPr id="6" name="Shape 3"/>
          <p:cNvSpPr/>
          <p:nvPr/>
        </p:nvSpPr>
        <p:spPr>
          <a:xfrm>
            <a:off x="548640" y="4370832"/>
            <a:ext cx="11064240" cy="1572768"/>
          </a:xfrm>
          <a:prstGeom prst="roundRect">
            <a:avLst>
              <a:gd name="adj" fmla="val 523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4517136"/>
            <a:ext cx="731520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Nothing about a flat line suggests a bell curve</a:t>
            </a:r>
            <a:endParaRPr lang="en-US" sz="1400" dirty="0"/>
          </a:p>
        </p:txBody>
      </p:sp>
      <p:sp>
        <p:nvSpPr>
          <p:cNvPr id="8" name="Text 5"/>
          <p:cNvSpPr txBox="1"/>
          <p:nvPr/>
        </p:nvSpPr>
        <p:spPr>
          <a:xfrm>
            <a:off x="868680" y="4892040"/>
            <a:ext cx="10424160" cy="914400"/>
          </a:xfrm>
          <a:prstGeom prst="rect">
            <a:avLst/>
          </a:prstGeom>
          <a:noFill/>
          <a:ln/>
        </p:spPr>
        <p:txBody>
          <a:bodyPr wrap="square" lIns="0" tIns="0" rIns="0" bIns="0" rtlCol="0" anchor="ctr"/>
          <a:lstStyle/>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One uniform is flat. Two added together make a triangle — totals near the middle have many ways to happen and totals near the ends have few. Three start to curve. Twelve are indistinguishable from a normal curve.</a:t>
            </a:r>
            <a:endParaRPr lang="en-US" sz="1250" dirty="0"/>
          </a:p>
          <a:p>
            <a:pPr indent="0" marL="0">
              <a:lnSpc>
                <a:spcPct val="120000"/>
              </a:lnSpc>
              <a:buNone/>
            </a:pPr>
            <a:endParaRPr lang="en-US" sz="1250" dirty="0"/>
          </a:p>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That is the third time this has happened: the binomial did it as n grew, the Poisson did it as λ grew, and now the flattest distribution of all does it too. Day 27 explains why it is not a coincidence.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5.2  ·  REFERENCE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Module 2 so far — four distributions</a:t>
            </a:r>
            <a:endParaRPr lang="en-US" sz="3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920240"/>
                <a:gridCol w="2286000"/>
                <a:gridCol w="2286000"/>
                <a:gridCol w="2377440"/>
                <a:gridCol w="2194560"/>
              </a:tblGrid>
              <a:tr h="438912">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Binomial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Poisson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Uniform</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Day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24</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continuous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discrete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discrete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either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Answers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how big?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how many out of 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how many per interval?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equally likely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Parameters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μ, σ</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 p</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λ</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b</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Mean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μ</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 × p</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λ</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 b) / 2</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Variance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σ²</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np(1−p)</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λ</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(b − a)² / 12</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Shape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bell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peak at np</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right-skewed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flat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scipy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norm</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binom</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poisson</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uniform / randint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Text 3"/>
          <p:cNvSpPr txBox="1"/>
          <p:nvPr/>
        </p:nvSpPr>
        <p:spPr>
          <a:xfrm>
            <a:off x="548640" y="5760720"/>
            <a:ext cx="11064240" cy="365760"/>
          </a:xfrm>
          <a:prstGeom prst="rect">
            <a:avLst/>
          </a:prstGeom>
          <a:noFill/>
          <a:ln/>
        </p:spPr>
        <p:txBody>
          <a:bodyPr wrap="square" lIns="0" tIns="0" rIns="0" bIns="0" rtlCol="0" anchor="ctr"/>
          <a:lstStyle/>
          <a:p>
            <a:pPr indent="0" marL="0">
              <a:buNone/>
            </a:pPr>
            <a:r>
              <a:rPr lang="en-US" sz="1250" i="1" dirty="0">
                <a:solidFill>
                  <a:srgbClr val="6B7789"/>
                </a:solidFill>
                <a:latin typeface="Calibri" pitchFamily="34" charset="0"/>
                <a:ea typeface="Calibri" pitchFamily="34" charset="-122"/>
                <a:cs typeface="Calibri" pitchFamily="34" charset="-120"/>
              </a:rPr>
              <a:t>The continuous ones use pdf and cdf; the discrete ones use pmf and cdf. uniform takes loc and WIDTH, not the two endpoints.</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RECAP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Debug corner — eight uniform mistakes</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3931920"/>
                <a:gridCol w="3931920"/>
                <a:gridCol w="320040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did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goes wrong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uniform(5, 10) for U(5, 10)</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scipy takes loc and WIDTH: you got U(5, 15)</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uniform(5, 5), or uniform(a, b-a)</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read pdf() as a probability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it can exceed 1 and is not a probability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cdf for probabilities, pdf for density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asked P(X = 4.7) on continuous data</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always exactly 0, silently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ask about a range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randint(1, 6) for a six-sided die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high is EXCLUSIVE: you built a 5-sided die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randint(1, 7)</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random.randint vs np.integers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one includes the top, one does not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check which library you are in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assumed uniform without looking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same range and mean, wrong shape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histogram it, then chisquare or kstest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test found nothing, so it is fair’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60 rolls miss a blatant cheat 6 times in 10</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say how much data you had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used np.random for a token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sequence is predictable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secrets module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559552"/>
            <a:ext cx="11064240" cy="731520"/>
          </a:xfrm>
          <a:prstGeom prst="roundRect">
            <a:avLst>
              <a:gd name="adj" fmla="val 112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687568"/>
            <a:ext cx="10424160" cy="457200"/>
          </a:xfrm>
          <a:prstGeom prst="rect">
            <a:avLst/>
          </a:prstGeom>
          <a:noFill/>
          <a:ln/>
        </p:spPr>
        <p:txBody>
          <a:bodyPr wrap="square" lIns="0" tIns="0" rIns="0" bIns="0" rtlCol="0" anchor="ctr"/>
          <a:lstStyle/>
          <a:p>
            <a:pPr indent="0" marL="0">
              <a:buNone/>
            </a:pPr>
            <a:r>
              <a:rPr lang="en-US" sz="1300" i="1" dirty="0">
                <a:solidFill>
                  <a:srgbClr val="1F3A5F"/>
                </a:solidFill>
                <a:latin typeface="Calibri" pitchFamily="34" charset="0"/>
                <a:ea typeface="Calibri" pitchFamily="34" charset="-122"/>
                <a:cs typeface="Calibri" pitchFamily="34" charset="-120"/>
              </a:rPr>
              <a:t>Row 1 is the one that will silently change your answer. Row 4 is the one that will change it by exactly one sixth and look plausible.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6  ·  MINI BUILD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Putting it together — sample any distribution you like</a:t>
            </a:r>
            <a:endParaRPr lang="en-US" sz="3200" dirty="0"/>
          </a:p>
        </p:txBody>
      </p:sp>
      <p:sp>
        <p:nvSpPr>
          <p:cNvPr id="5" name="Shape 3"/>
          <p:cNvSpPr/>
          <p:nvPr/>
        </p:nvSpPr>
        <p:spPr>
          <a:xfrm>
            <a:off x="548640" y="1572768"/>
            <a:ext cx="6583680" cy="4343400"/>
          </a:xfrm>
          <a:prstGeom prst="roundRect">
            <a:avLst>
              <a:gd name="adj" fmla="val 189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6080760" cy="3931920"/>
          </a:xfrm>
          <a:prstGeom prst="roundRect">
            <a:avLst>
              <a:gd name="adj" fmla="val 1628"/>
            </a:avLst>
          </a:prstGeom>
          <a:solidFill>
            <a:srgbClr val="1B2B45"/>
          </a:solidFill>
          <a:ln w="12700">
            <a:solidFill>
              <a:srgbClr val="1B2B45"/>
            </a:solidFill>
            <a:prstDash val="solid"/>
          </a:ln>
        </p:spPr>
      </p:sp>
      <p:sp>
        <p:nvSpPr>
          <p:cNvPr id="7" name="Text 5"/>
          <p:cNvSpPr txBox="1"/>
          <p:nvPr/>
        </p:nvSpPr>
        <p:spPr>
          <a:xfrm>
            <a:off x="969264" y="1892808"/>
            <a:ext cx="5751576" cy="3712464"/>
          </a:xfrm>
          <a:prstGeom prst="rect">
            <a:avLst/>
          </a:prstGeom>
          <a:noFill/>
          <a:ln/>
        </p:spPr>
        <p:txBody>
          <a:bodyPr wrap="square" lIns="0" tIns="0" rIns="0" bIns="0" rtlCol="0" anchor="t"/>
          <a:lstStyle/>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import numpy as np</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GOAL: draw from a loaded die using ONLY rng.random()</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the die should land on 6 half the time</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rng   = np.random.default_rng(26)</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probs = np.array([.1, .1, .1, .1, .1, .5])</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--- 1. the cdf: cumulative probability of each face</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cum = np.cumsum(probs)</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print(cum)       # [.1 .2 .3 .4 .5 1.]</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--- 2. one uniform number per roll</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u = rng.random(200_000)</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--- 3. find which band each number landed in</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rolls = np.searchsorted(cum, u) + 1</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--- 4. did it work?</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freq = np.bincount(rolls, minlength=7)[1:] / len(rolls)</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print(freq.round(4))</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[0.1000 0.1006 0.0988 0.1010 0.0999 0.4996]</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no rng.choice, no rng.multinomial - just a flat line</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and a cumulative sum.</a:t>
            </a:r>
            <a:endParaRPr lang="en-US" sz="800" dirty="0"/>
          </a:p>
        </p:txBody>
      </p:sp>
      <p:sp>
        <p:nvSpPr>
          <p:cNvPr id="8" name="Shape 6"/>
          <p:cNvSpPr/>
          <p:nvPr/>
        </p:nvSpPr>
        <p:spPr>
          <a:xfrm>
            <a:off x="7406640" y="16916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7562088" y="1819656"/>
            <a:ext cx="118872" cy="329184"/>
          </a:xfrm>
          <a:prstGeom prst="roundRect">
            <a:avLst>
              <a:gd name="adj" fmla="val 38462"/>
            </a:avLst>
          </a:prstGeom>
          <a:solidFill>
            <a:srgbClr val="E8674C"/>
          </a:solidFill>
          <a:ln w="12700">
            <a:solidFill>
              <a:srgbClr val="333333"/>
            </a:solidFill>
            <a:prstDash val="solid"/>
          </a:ln>
        </p:spPr>
      </p:sp>
      <p:sp>
        <p:nvSpPr>
          <p:cNvPr id="10" name="Text 8"/>
          <p:cNvSpPr txBox="1"/>
          <p:nvPr/>
        </p:nvSpPr>
        <p:spPr>
          <a:xfrm>
            <a:off x="7790688" y="17465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This IS inverse transform</a:t>
            </a:r>
            <a:endParaRPr lang="en-US" sz="1050" dirty="0"/>
          </a:p>
        </p:txBody>
      </p:sp>
      <p:sp>
        <p:nvSpPr>
          <p:cNvPr id="11" name="Text 9"/>
          <p:cNvSpPr txBox="1"/>
          <p:nvPr/>
        </p:nvSpPr>
        <p:spPr>
          <a:xfrm>
            <a:off x="7790688" y="19933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searchsorted is the discrete ppf</a:t>
            </a:r>
            <a:endParaRPr lang="en-US" sz="950" dirty="0"/>
          </a:p>
        </p:txBody>
      </p:sp>
      <p:sp>
        <p:nvSpPr>
          <p:cNvPr id="12" name="Shape 10"/>
          <p:cNvSpPr/>
          <p:nvPr/>
        </p:nvSpPr>
        <p:spPr>
          <a:xfrm>
            <a:off x="7406640" y="23774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7562088" y="2505456"/>
            <a:ext cx="118872" cy="329184"/>
          </a:xfrm>
          <a:prstGeom prst="roundRect">
            <a:avLst>
              <a:gd name="adj" fmla="val 38462"/>
            </a:avLst>
          </a:prstGeom>
          <a:solidFill>
            <a:srgbClr val="E8674C"/>
          </a:solidFill>
          <a:ln w="12700">
            <a:solidFill>
              <a:srgbClr val="333333"/>
            </a:solidFill>
            <a:prstDash val="solid"/>
          </a:ln>
        </p:spPr>
      </p:sp>
      <p:sp>
        <p:nvSpPr>
          <p:cNvPr id="14" name="Text 12"/>
          <p:cNvSpPr txBox="1"/>
          <p:nvPr/>
        </p:nvSpPr>
        <p:spPr>
          <a:xfrm>
            <a:off x="7790688" y="24323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The band widths ARE the probabilities</a:t>
            </a:r>
            <a:endParaRPr lang="en-US" sz="1050" dirty="0"/>
          </a:p>
        </p:txBody>
      </p:sp>
      <p:sp>
        <p:nvSpPr>
          <p:cNvPr id="15" name="Text 13"/>
          <p:cNvSpPr txBox="1"/>
          <p:nvPr/>
        </p:nvSpPr>
        <p:spPr>
          <a:xfrm>
            <a:off x="7790688" y="26791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6 owns half the interval</a:t>
            </a:r>
            <a:endParaRPr lang="en-US" sz="950" dirty="0"/>
          </a:p>
        </p:txBody>
      </p:sp>
      <p:sp>
        <p:nvSpPr>
          <p:cNvPr id="16" name="Shape 14"/>
          <p:cNvSpPr/>
          <p:nvPr/>
        </p:nvSpPr>
        <p:spPr>
          <a:xfrm>
            <a:off x="7406640" y="30632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Shape 15"/>
          <p:cNvSpPr/>
          <p:nvPr/>
        </p:nvSpPr>
        <p:spPr>
          <a:xfrm>
            <a:off x="7562088" y="3191256"/>
            <a:ext cx="118872" cy="329184"/>
          </a:xfrm>
          <a:prstGeom prst="roundRect">
            <a:avLst>
              <a:gd name="adj" fmla="val 38462"/>
            </a:avLst>
          </a:prstGeom>
          <a:solidFill>
            <a:srgbClr val="FFC145"/>
          </a:solidFill>
          <a:ln w="12700">
            <a:solidFill>
              <a:srgbClr val="333333"/>
            </a:solidFill>
            <a:prstDash val="solid"/>
          </a:ln>
        </p:spPr>
      </p:sp>
      <p:sp>
        <p:nvSpPr>
          <p:cNvPr id="18" name="Text 16"/>
          <p:cNvSpPr txBox="1"/>
          <p:nvPr/>
        </p:nvSpPr>
        <p:spPr>
          <a:xfrm>
            <a:off x="7790688" y="31181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cumsum must end at 1.0</a:t>
            </a:r>
            <a:endParaRPr lang="en-US" sz="1050" dirty="0"/>
          </a:p>
        </p:txBody>
      </p:sp>
      <p:sp>
        <p:nvSpPr>
          <p:cNvPr id="19" name="Text 17"/>
          <p:cNvSpPr txBox="1"/>
          <p:nvPr/>
        </p:nvSpPr>
        <p:spPr>
          <a:xfrm>
            <a:off x="7790688" y="33649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otherwise some u lands nowhere</a:t>
            </a:r>
            <a:endParaRPr lang="en-US" sz="950" dirty="0"/>
          </a:p>
        </p:txBody>
      </p:sp>
      <p:sp>
        <p:nvSpPr>
          <p:cNvPr id="20" name="Shape 18"/>
          <p:cNvSpPr/>
          <p:nvPr/>
        </p:nvSpPr>
        <p:spPr>
          <a:xfrm>
            <a:off x="7406640" y="37490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562088" y="3877056"/>
            <a:ext cx="118872" cy="329184"/>
          </a:xfrm>
          <a:prstGeom prst="roundRect">
            <a:avLst>
              <a:gd name="adj" fmla="val 38462"/>
            </a:avLst>
          </a:prstGeom>
          <a:solidFill>
            <a:srgbClr val="FFC145"/>
          </a:solidFill>
          <a:ln w="12700">
            <a:solidFill>
              <a:srgbClr val="333333"/>
            </a:solidFill>
            <a:prstDash val="solid"/>
          </a:ln>
        </p:spPr>
      </p:sp>
      <p:sp>
        <p:nvSpPr>
          <p:cNvPr id="22" name="Text 20"/>
          <p:cNvSpPr txBox="1"/>
          <p:nvPr/>
        </p:nvSpPr>
        <p:spPr>
          <a:xfrm>
            <a:off x="7790688" y="38039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+1 because faces start at 1</a:t>
            </a:r>
            <a:endParaRPr lang="en-US" sz="1050" dirty="0"/>
          </a:p>
        </p:txBody>
      </p:sp>
      <p:sp>
        <p:nvSpPr>
          <p:cNvPr id="23" name="Text 21"/>
          <p:cNvSpPr txBox="1"/>
          <p:nvPr/>
        </p:nvSpPr>
        <p:spPr>
          <a:xfrm>
            <a:off x="7790688" y="40507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searchsorted returns 0-based</a:t>
            </a:r>
            <a:endParaRPr lang="en-US" sz="950" dirty="0"/>
          </a:p>
        </p:txBody>
      </p:sp>
      <p:sp>
        <p:nvSpPr>
          <p:cNvPr id="24" name="Shape 22"/>
          <p:cNvSpPr/>
          <p:nvPr/>
        </p:nvSpPr>
        <p:spPr>
          <a:xfrm>
            <a:off x="7406640" y="44348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Shape 23"/>
          <p:cNvSpPr/>
          <p:nvPr/>
        </p:nvSpPr>
        <p:spPr>
          <a:xfrm>
            <a:off x="7562088" y="4562856"/>
            <a:ext cx="118872" cy="329184"/>
          </a:xfrm>
          <a:prstGeom prst="roundRect">
            <a:avLst>
              <a:gd name="adj" fmla="val 38462"/>
            </a:avLst>
          </a:prstGeom>
          <a:solidFill>
            <a:srgbClr val="2FA98C"/>
          </a:solidFill>
          <a:ln w="12700">
            <a:solidFill>
              <a:srgbClr val="333333"/>
            </a:solidFill>
            <a:prstDash val="solid"/>
          </a:ln>
        </p:spPr>
      </p:sp>
      <p:sp>
        <p:nvSpPr>
          <p:cNvPr id="26" name="Text 24"/>
          <p:cNvSpPr txBox="1"/>
          <p:nvPr/>
        </p:nvSpPr>
        <p:spPr>
          <a:xfrm>
            <a:off x="7790688" y="44897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200,000 draws to see 4 decimals</a:t>
            </a:r>
            <a:endParaRPr lang="en-US" sz="1050" dirty="0"/>
          </a:p>
        </p:txBody>
      </p:sp>
      <p:sp>
        <p:nvSpPr>
          <p:cNvPr id="27" name="Text 25"/>
          <p:cNvSpPr txBox="1"/>
          <p:nvPr/>
        </p:nvSpPr>
        <p:spPr>
          <a:xfrm>
            <a:off x="7790688" y="47365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fewer and the check is meaningless</a:t>
            </a:r>
            <a:endParaRPr lang="en-US" sz="950" dirty="0"/>
          </a:p>
        </p:txBody>
      </p:sp>
      <p:sp>
        <p:nvSpPr>
          <p:cNvPr id="28" name="Shape 26"/>
          <p:cNvSpPr/>
          <p:nvPr/>
        </p:nvSpPr>
        <p:spPr>
          <a:xfrm>
            <a:off x="7406640" y="51206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Shape 27"/>
          <p:cNvSpPr/>
          <p:nvPr/>
        </p:nvSpPr>
        <p:spPr>
          <a:xfrm>
            <a:off x="7562088" y="5248656"/>
            <a:ext cx="118872" cy="329184"/>
          </a:xfrm>
          <a:prstGeom prst="roundRect">
            <a:avLst>
              <a:gd name="adj" fmla="val 38462"/>
            </a:avLst>
          </a:prstGeom>
          <a:solidFill>
            <a:srgbClr val="2FA98C"/>
          </a:solidFill>
          <a:ln w="12700">
            <a:solidFill>
              <a:srgbClr val="333333"/>
            </a:solidFill>
            <a:prstDash val="solid"/>
          </a:ln>
        </p:spPr>
      </p:sp>
      <p:sp>
        <p:nvSpPr>
          <p:cNvPr id="30" name="Text 28"/>
          <p:cNvSpPr txBox="1"/>
          <p:nvPr/>
        </p:nvSpPr>
        <p:spPr>
          <a:xfrm>
            <a:off x="7790688" y="51755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Works for ANY probabilities</a:t>
            </a:r>
            <a:endParaRPr lang="en-US" sz="1050" dirty="0"/>
          </a:p>
        </p:txBody>
      </p:sp>
      <p:sp>
        <p:nvSpPr>
          <p:cNvPr id="31" name="Text 29"/>
          <p:cNvSpPr txBox="1"/>
          <p:nvPr/>
        </p:nvSpPr>
        <p:spPr>
          <a:xfrm>
            <a:off x="7790688" y="54223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change the array, nothing else</a:t>
            </a:r>
            <a:endParaRPr lang="en-US" sz="950" dirty="0"/>
          </a:p>
        </p:txBody>
      </p:sp>
      <p:sp>
        <p:nvSpPr>
          <p:cNvPr id="32" name="Text 30"/>
          <p:cNvSpPr txBox="1"/>
          <p:nvPr/>
        </p:nvSpPr>
        <p:spPr>
          <a:xfrm>
            <a:off x="548640" y="5998464"/>
            <a:ext cx="6766560" cy="292608"/>
          </a:xfrm>
          <a:prstGeom prst="rect">
            <a:avLst/>
          </a:prstGeom>
          <a:noFill/>
          <a:ln/>
        </p:spPr>
        <p:txBody>
          <a:bodyPr wrap="square" lIns="0" tIns="0" rIns="0" bIns="0" rtlCol="0" anchor="ctr"/>
          <a:lstStyle/>
          <a:p>
            <a:pPr indent="0" marL="0">
              <a:buNone/>
            </a:pPr>
            <a:r>
              <a:rPr lang="en-US" sz="1150" i="1" dirty="0">
                <a:solidFill>
                  <a:srgbClr val="6B7789"/>
                </a:solidFill>
                <a:latin typeface="Calibri" pitchFamily="34" charset="0"/>
                <a:ea typeface="Calibri" pitchFamily="34" charset="-122"/>
                <a:cs typeface="Calibri" pitchFamily="34" charset="-120"/>
              </a:rPr>
              <a:t>This is roughly what rng.choice(p=...) does internally. Writing it once means it is no longer magic.</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OVER TO YOU</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Practice session — 30 minutes</a:t>
            </a:r>
            <a:endParaRPr lang="en-US" sz="3200" dirty="0"/>
          </a:p>
        </p:txBody>
      </p:sp>
      <p:sp>
        <p:nvSpPr>
          <p:cNvPr id="5" name="Shape 3"/>
          <p:cNvSpPr/>
          <p:nvPr/>
        </p:nvSpPr>
        <p:spPr>
          <a:xfrm>
            <a:off x="548640" y="16459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847088"/>
            <a:ext cx="420624" cy="420624"/>
          </a:xfrm>
          <a:prstGeom prst="ellipse">
            <a:avLst/>
          </a:prstGeom>
          <a:solidFill>
            <a:srgbClr val="3E7CB1"/>
          </a:solidFill>
          <a:ln w="12700">
            <a:solidFill>
              <a:srgbClr val="3E7CB1"/>
            </a:solidFill>
            <a:prstDash val="solid"/>
          </a:ln>
        </p:spPr>
      </p:sp>
      <p:sp>
        <p:nvSpPr>
          <p:cNvPr id="7" name="Text 5"/>
          <p:cNvSpPr txBox="1"/>
          <p:nvPr/>
        </p:nvSpPr>
        <p:spPr>
          <a:xfrm>
            <a:off x="777240" y="18470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txBox="1"/>
          <p:nvPr/>
        </p:nvSpPr>
        <p:spPr>
          <a:xfrm>
            <a:off x="1371600" y="17282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Predict the output</a:t>
            </a:r>
            <a:endParaRPr lang="en-US" sz="1500" dirty="0"/>
          </a:p>
        </p:txBody>
      </p:sp>
      <p:sp>
        <p:nvSpPr>
          <p:cNvPr id="9" name="Text 7"/>
          <p:cNvSpPr txBox="1"/>
          <p:nvPr/>
        </p:nvSpPr>
        <p:spPr>
          <a:xfrm>
            <a:off x="1371600" y="20665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pdf vs cdf, loc/scale, randint bounds</a:t>
            </a:r>
            <a:endParaRPr lang="en-US" sz="1150" dirty="0"/>
          </a:p>
        </p:txBody>
      </p:sp>
      <p:sp>
        <p:nvSpPr>
          <p:cNvPr id="10" name="Text 8"/>
          <p:cNvSpPr txBox="1"/>
          <p:nvPr/>
        </p:nvSpPr>
        <p:spPr>
          <a:xfrm>
            <a:off x="6583680" y="18653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8 questions</a:t>
            </a:r>
            <a:endParaRPr lang="en-US" sz="1300" dirty="0"/>
          </a:p>
        </p:txBody>
      </p:sp>
      <p:sp>
        <p:nvSpPr>
          <p:cNvPr id="11" name="Shape 9"/>
          <p:cNvSpPr/>
          <p:nvPr/>
        </p:nvSpPr>
        <p:spPr>
          <a:xfrm>
            <a:off x="548640" y="25603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777240" y="2761488"/>
            <a:ext cx="420624" cy="420624"/>
          </a:xfrm>
          <a:prstGeom prst="ellipse">
            <a:avLst/>
          </a:prstGeom>
          <a:solidFill>
            <a:srgbClr val="E8674C"/>
          </a:solidFill>
          <a:ln w="12700">
            <a:solidFill>
              <a:srgbClr val="E8674C"/>
            </a:solidFill>
            <a:prstDash val="solid"/>
          </a:ln>
        </p:spPr>
      </p:sp>
      <p:sp>
        <p:nvSpPr>
          <p:cNvPr id="13" name="Text 11"/>
          <p:cNvSpPr txBox="1"/>
          <p:nvPr/>
        </p:nvSpPr>
        <p:spPr>
          <a:xfrm>
            <a:off x="777240" y="2761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71600" y="26426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Spot &amp; fix the bug</a:t>
            </a:r>
            <a:endParaRPr lang="en-US" sz="1500" dirty="0"/>
          </a:p>
        </p:txBody>
      </p:sp>
      <p:sp>
        <p:nvSpPr>
          <p:cNvPr id="15" name="Text 13"/>
          <p:cNvSpPr txBox="1"/>
          <p:nvPr/>
        </p:nvSpPr>
        <p:spPr>
          <a:xfrm>
            <a:off x="1371600" y="29809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The width trap, a point probability, a bad test</a:t>
            </a:r>
            <a:endParaRPr lang="en-US" sz="1150" dirty="0"/>
          </a:p>
        </p:txBody>
      </p:sp>
      <p:sp>
        <p:nvSpPr>
          <p:cNvPr id="16" name="Text 14"/>
          <p:cNvSpPr txBox="1"/>
          <p:nvPr/>
        </p:nvSpPr>
        <p:spPr>
          <a:xfrm>
            <a:off x="6583680" y="27797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4 questions</a:t>
            </a:r>
            <a:endParaRPr lang="en-US" sz="1300" dirty="0"/>
          </a:p>
        </p:txBody>
      </p:sp>
      <p:sp>
        <p:nvSpPr>
          <p:cNvPr id="17" name="Shape 15"/>
          <p:cNvSpPr/>
          <p:nvPr/>
        </p:nvSpPr>
        <p:spPr>
          <a:xfrm>
            <a:off x="548640" y="34747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675888"/>
            <a:ext cx="420624" cy="420624"/>
          </a:xfrm>
          <a:prstGeom prst="ellipse">
            <a:avLst/>
          </a:prstGeom>
          <a:solidFill>
            <a:srgbClr val="2FA98C"/>
          </a:solidFill>
          <a:ln w="12700">
            <a:solidFill>
              <a:srgbClr val="2FA98C"/>
            </a:solidFill>
            <a:prstDash val="solid"/>
          </a:ln>
        </p:spPr>
      </p:sp>
      <p:sp>
        <p:nvSpPr>
          <p:cNvPr id="19" name="Text 17"/>
          <p:cNvSpPr txBox="1"/>
          <p:nvPr/>
        </p:nvSpPr>
        <p:spPr>
          <a:xfrm>
            <a:off x="777240" y="36758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371600" y="35570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Write the code</a:t>
            </a:r>
            <a:endParaRPr lang="en-US" sz="1500" dirty="0"/>
          </a:p>
        </p:txBody>
      </p:sp>
      <p:sp>
        <p:nvSpPr>
          <p:cNvPr id="21" name="Text 19"/>
          <p:cNvSpPr txBox="1"/>
          <p:nvPr/>
        </p:nvSpPr>
        <p:spPr>
          <a:xfrm>
            <a:off x="1371600" y="38953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Model it, test it, decide</a:t>
            </a:r>
            <a:endParaRPr lang="en-US" sz="1150" dirty="0"/>
          </a:p>
        </p:txBody>
      </p:sp>
      <p:sp>
        <p:nvSpPr>
          <p:cNvPr id="22" name="Text 20"/>
          <p:cNvSpPr txBox="1"/>
          <p:nvPr/>
        </p:nvSpPr>
        <p:spPr>
          <a:xfrm>
            <a:off x="6583680" y="36941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tasks</a:t>
            </a:r>
            <a:endParaRPr lang="en-US" sz="1300" dirty="0"/>
          </a:p>
        </p:txBody>
      </p:sp>
      <p:sp>
        <p:nvSpPr>
          <p:cNvPr id="23" name="Shape 21"/>
          <p:cNvSpPr/>
          <p:nvPr/>
        </p:nvSpPr>
        <p:spPr>
          <a:xfrm>
            <a:off x="548640" y="43891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777240" y="4590288"/>
            <a:ext cx="420624" cy="420624"/>
          </a:xfrm>
          <a:prstGeom prst="ellipse">
            <a:avLst/>
          </a:prstGeom>
          <a:solidFill>
            <a:srgbClr val="FFC145"/>
          </a:solidFill>
          <a:ln w="12700">
            <a:solidFill>
              <a:srgbClr val="FFC145"/>
            </a:solidFill>
            <a:prstDash val="solid"/>
          </a:ln>
        </p:spPr>
      </p:sp>
      <p:sp>
        <p:nvSpPr>
          <p:cNvPr id="25" name="Text 23"/>
          <p:cNvSpPr txBox="1"/>
          <p:nvPr/>
        </p:nvSpPr>
        <p:spPr>
          <a:xfrm>
            <a:off x="777240" y="4590288"/>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D</a:t>
            </a:r>
            <a:endParaRPr lang="en-US" sz="1300" dirty="0"/>
          </a:p>
        </p:txBody>
      </p:sp>
      <p:sp>
        <p:nvSpPr>
          <p:cNvPr id="26" name="Text 24"/>
          <p:cNvSpPr txBox="1"/>
          <p:nvPr/>
        </p:nvSpPr>
        <p:spPr>
          <a:xfrm>
            <a:off x="1371600" y="44714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Challenge</a:t>
            </a:r>
            <a:endParaRPr lang="en-US" sz="1500" dirty="0"/>
          </a:p>
        </p:txBody>
      </p:sp>
      <p:sp>
        <p:nvSpPr>
          <p:cNvPr id="27" name="Text 25"/>
          <p:cNvSpPr txBox="1"/>
          <p:nvPr/>
        </p:nvSpPr>
        <p:spPr>
          <a:xfrm>
            <a:off x="1371600" y="48097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Build a sampler, and audit a dataset</a:t>
            </a:r>
            <a:endParaRPr lang="en-US" sz="1150" dirty="0"/>
          </a:p>
        </p:txBody>
      </p:sp>
      <p:sp>
        <p:nvSpPr>
          <p:cNvPr id="28" name="Text 26"/>
          <p:cNvSpPr txBox="1"/>
          <p:nvPr/>
        </p:nvSpPr>
        <p:spPr>
          <a:xfrm>
            <a:off x="6583680" y="46085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 tasks</a:t>
            </a:r>
            <a:endParaRPr lang="en-US" sz="1300" dirty="0"/>
          </a:p>
        </p:txBody>
      </p:sp>
      <p:sp>
        <p:nvSpPr>
          <p:cNvPr id="29" name="Shape 27"/>
          <p:cNvSpPr/>
          <p:nvPr/>
        </p:nvSpPr>
        <p:spPr>
          <a:xfrm>
            <a:off x="8412480" y="1645920"/>
            <a:ext cx="3200400" cy="2907792"/>
          </a:xfrm>
          <a:prstGeom prst="roundRect">
            <a:avLst>
              <a:gd name="adj" fmla="val 283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0" y="1801368"/>
            <a:ext cx="274320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Your notebook</a:t>
            </a:r>
            <a:endParaRPr lang="en-US" sz="1500" dirty="0"/>
          </a:p>
        </p:txBody>
      </p:sp>
      <p:sp>
        <p:nvSpPr>
          <p:cNvPr id="31" name="Text 29"/>
          <p:cNvSpPr txBox="1"/>
          <p:nvPr/>
        </p:nvSpPr>
        <p:spPr>
          <a:xfrm>
            <a:off x="8686800" y="2167128"/>
            <a:ext cx="2743200" cy="594360"/>
          </a:xfrm>
          <a:prstGeom prst="rect">
            <a:avLst/>
          </a:prstGeom>
          <a:noFill/>
          <a:ln/>
        </p:spPr>
        <p:txBody>
          <a:bodyPr wrap="square" lIns="0" tIns="0" rIns="0" bIns="0" rtlCol="0" anchor="ctr"/>
          <a:lstStyle/>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Day26_Practice_</a:t>
            </a:r>
            <a:endParaRPr lang="en-US" sz="1250" dirty="0"/>
          </a:p>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Questions.ipynb</a:t>
            </a:r>
            <a:endParaRPr lang="en-US" sz="1250" dirty="0"/>
          </a:p>
        </p:txBody>
      </p:sp>
      <p:sp>
        <p:nvSpPr>
          <p:cNvPr id="32" name="Text 30"/>
          <p:cNvSpPr txBox="1"/>
          <p:nvPr/>
        </p:nvSpPr>
        <p:spPr>
          <a:xfrm>
            <a:off x="8796528" y="2880360"/>
            <a:ext cx="2651760" cy="1600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Is it continuous or discrete?</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Width or endpoint?</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Histogram before you test</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Solutions shared after class</a:t>
            </a:r>
            <a:endParaRPr lang="en-US" sz="1150" dirty="0"/>
          </a:p>
        </p:txBody>
      </p:sp>
      <p:sp>
        <p:nvSpPr>
          <p:cNvPr id="33" name="Shape 31"/>
          <p:cNvSpPr/>
          <p:nvPr/>
        </p:nvSpPr>
        <p:spPr>
          <a:xfrm>
            <a:off x="548640" y="5394960"/>
            <a:ext cx="11064240" cy="868680"/>
          </a:xfrm>
          <a:prstGeom prst="roundRect">
            <a:avLst>
              <a:gd name="adj" fmla="val 9474"/>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868680" y="5550408"/>
            <a:ext cx="10424160" cy="548640"/>
          </a:xfrm>
          <a:prstGeom prst="rect">
            <a:avLst/>
          </a:prstGeom>
          <a:noFill/>
          <a:ln/>
        </p:spPr>
        <p:txBody>
          <a:bodyPr wrap="square" lIns="0" tIns="0" rIns="0" bIns="0" rtlCol="0" anchor="ctr"/>
          <a:lstStyle/>
          <a:p>
            <a:pPr indent="0" marL="0">
              <a:buNone/>
            </a:pPr>
            <a:r>
              <a:rPr lang="en-US" sz="1400" b="1" i="1" dirty="0">
                <a:solidFill>
                  <a:srgbClr val="8A5B00"/>
                </a:solidFill>
                <a:latin typeface="Calibri" pitchFamily="34" charset="0"/>
                <a:ea typeface="Calibri" pitchFamily="34" charset="-122"/>
                <a:cs typeface="Calibri" pitchFamily="34" charset="-120"/>
              </a:rPr>
              <a:t>Part D asks you to audit a dataset for uniformity. There is no “right answer” printed anywhere — you have to decide, and say what would change your mind.</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9966960" y="4480560"/>
            <a:ext cx="3840480" cy="3840480"/>
          </a:xfrm>
          <a:prstGeom prst="ellipse">
            <a:avLst/>
          </a:prstGeom>
          <a:solidFill>
            <a:srgbClr val="1A2A46"/>
          </a:solidFill>
          <a:ln w="12700">
            <a:solidFill>
              <a:srgbClr val="333333"/>
            </a:solidFill>
            <a:prstDash val="solid"/>
          </a:ln>
        </p:spPr>
      </p:sp>
      <p:sp>
        <p:nvSpPr>
          <p:cNvPr id="4" name="Text 2"/>
          <p:cNvSpPr txBox="1"/>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TODAY IN TWELVE LINES</a:t>
            </a:r>
            <a:endParaRPr lang="en-US" sz="1200" dirty="0"/>
          </a:p>
        </p:txBody>
      </p:sp>
      <p:sp>
        <p:nvSpPr>
          <p:cNvPr id="5" name="Text 3"/>
          <p:cNvSpPr txBox="1"/>
          <p:nvPr/>
        </p:nvSpPr>
        <p:spPr>
          <a:xfrm>
            <a:off x="640080" y="749808"/>
            <a:ext cx="73152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Recap</a:t>
            </a:r>
            <a:endParaRPr lang="en-US" sz="3400" dirty="0"/>
          </a:p>
        </p:txBody>
      </p:sp>
      <p:sp>
        <p:nvSpPr>
          <p:cNvPr id="6" name="Shape 4"/>
          <p:cNvSpPr/>
          <p:nvPr/>
        </p:nvSpPr>
        <p:spPr>
          <a:xfrm>
            <a:off x="640080" y="1554480"/>
            <a:ext cx="329184" cy="329184"/>
          </a:xfrm>
          <a:prstGeom prst="ellipse">
            <a:avLst/>
          </a:prstGeom>
          <a:solidFill>
            <a:srgbClr val="FFC145"/>
          </a:solidFill>
          <a:ln w="12700">
            <a:solidFill>
              <a:srgbClr val="FFC145"/>
            </a:solidFill>
            <a:prstDash val="solid"/>
          </a:ln>
        </p:spPr>
      </p:sp>
      <p:sp>
        <p:nvSpPr>
          <p:cNvPr id="7" name="Text 5"/>
          <p:cNvSpPr txBox="1"/>
          <p:nvPr/>
        </p:nvSpPr>
        <p:spPr>
          <a:xfrm>
            <a:off x="640080" y="155448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15568" y="153619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Uniform means every outcome equally likely — no peak, no skew.</a:t>
            </a:r>
            <a:endParaRPr lang="en-US" sz="950" dirty="0"/>
          </a:p>
        </p:txBody>
      </p:sp>
      <p:sp>
        <p:nvSpPr>
          <p:cNvPr id="9" name="Shape 7"/>
          <p:cNvSpPr/>
          <p:nvPr/>
        </p:nvSpPr>
        <p:spPr>
          <a:xfrm>
            <a:off x="640080" y="2121408"/>
            <a:ext cx="329184" cy="329184"/>
          </a:xfrm>
          <a:prstGeom prst="ellipse">
            <a:avLst/>
          </a:prstGeom>
          <a:solidFill>
            <a:srgbClr val="FFC145"/>
          </a:solidFill>
          <a:ln w="12700">
            <a:solidFill>
              <a:srgbClr val="FFC145"/>
            </a:solidFill>
            <a:prstDash val="solid"/>
          </a:ln>
        </p:spPr>
      </p:sp>
      <p:sp>
        <p:nvSpPr>
          <p:cNvPr id="10" name="Text 8"/>
          <p:cNvSpPr txBox="1"/>
          <p:nvPr/>
        </p:nvSpPr>
        <p:spPr>
          <a:xfrm>
            <a:off x="640080" y="2121408"/>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103120"/>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Discrete: n outcomes, each 1/n. Mean (a+b)/2, variance (n²−1)/12.</a:t>
            </a:r>
            <a:endParaRPr lang="en-US" sz="950" dirty="0"/>
          </a:p>
        </p:txBody>
      </p:sp>
      <p:sp>
        <p:nvSpPr>
          <p:cNvPr id="12" name="Shape 10"/>
          <p:cNvSpPr/>
          <p:nvPr/>
        </p:nvSpPr>
        <p:spPr>
          <a:xfrm>
            <a:off x="640080" y="2688336"/>
            <a:ext cx="329184" cy="329184"/>
          </a:xfrm>
          <a:prstGeom prst="ellipse">
            <a:avLst/>
          </a:prstGeom>
          <a:solidFill>
            <a:srgbClr val="FFC145"/>
          </a:solidFill>
          <a:ln w="12700">
            <a:solidFill>
              <a:srgbClr val="FFC145"/>
            </a:solidFill>
            <a:prstDash val="solid"/>
          </a:ln>
        </p:spPr>
      </p:sp>
      <p:sp>
        <p:nvSpPr>
          <p:cNvPr id="13" name="Text 11"/>
          <p:cNvSpPr txBox="1"/>
          <p:nvPr/>
        </p:nvSpPr>
        <p:spPr>
          <a:xfrm>
            <a:off x="640080" y="2688336"/>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15568" y="2670048"/>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Continuous: a flat rectangle of height 1/(b−a) over a to b.</a:t>
            </a:r>
            <a:endParaRPr lang="en-US" sz="950" dirty="0"/>
          </a:p>
        </p:txBody>
      </p:sp>
      <p:sp>
        <p:nvSpPr>
          <p:cNvPr id="15" name="Shape 13"/>
          <p:cNvSpPr/>
          <p:nvPr/>
        </p:nvSpPr>
        <p:spPr>
          <a:xfrm>
            <a:off x="640080" y="3255264"/>
            <a:ext cx="329184" cy="329184"/>
          </a:xfrm>
          <a:prstGeom prst="ellipse">
            <a:avLst/>
          </a:prstGeom>
          <a:solidFill>
            <a:srgbClr val="FFC145"/>
          </a:solidFill>
          <a:ln w="12700">
            <a:solidFill>
              <a:srgbClr val="FFC145"/>
            </a:solidFill>
            <a:prstDash val="solid"/>
          </a:ln>
        </p:spPr>
      </p:sp>
      <p:sp>
        <p:nvSpPr>
          <p:cNvPr id="16" name="Text 14"/>
          <p:cNvSpPr txBox="1"/>
          <p:nvPr/>
        </p:nvSpPr>
        <p:spPr>
          <a:xfrm>
            <a:off x="640080" y="3255264"/>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236976"/>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Probability is AREA, not height. Width × height.</a:t>
            </a:r>
            <a:endParaRPr lang="en-US" sz="950" dirty="0"/>
          </a:p>
        </p:txBody>
      </p:sp>
      <p:sp>
        <p:nvSpPr>
          <p:cNvPr id="18" name="Shape 16"/>
          <p:cNvSpPr/>
          <p:nvPr/>
        </p:nvSpPr>
        <p:spPr>
          <a:xfrm>
            <a:off x="640080" y="3822192"/>
            <a:ext cx="329184" cy="329184"/>
          </a:xfrm>
          <a:prstGeom prst="ellipse">
            <a:avLst/>
          </a:prstGeom>
          <a:solidFill>
            <a:srgbClr val="FFC145"/>
          </a:solidFill>
          <a:ln w="12700">
            <a:solidFill>
              <a:srgbClr val="FFC145"/>
            </a:solidFill>
            <a:prstDash val="solid"/>
          </a:ln>
        </p:spPr>
      </p:sp>
      <p:sp>
        <p:nvSpPr>
          <p:cNvPr id="19" name="Text 17"/>
          <p:cNvSpPr txBox="1"/>
          <p:nvPr/>
        </p:nvSpPr>
        <p:spPr>
          <a:xfrm>
            <a:off x="640080" y="382219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15568" y="3803904"/>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So P(X = any exact value) = 0 — which is not the same as impossible.</a:t>
            </a:r>
            <a:endParaRPr lang="en-US" sz="950" dirty="0"/>
          </a:p>
        </p:txBody>
      </p:sp>
      <p:sp>
        <p:nvSpPr>
          <p:cNvPr id="21" name="Shape 19"/>
          <p:cNvSpPr/>
          <p:nvPr/>
        </p:nvSpPr>
        <p:spPr>
          <a:xfrm>
            <a:off x="640080" y="4389120"/>
            <a:ext cx="329184" cy="329184"/>
          </a:xfrm>
          <a:prstGeom prst="ellipse">
            <a:avLst/>
          </a:prstGeom>
          <a:solidFill>
            <a:srgbClr val="FFC145"/>
          </a:solidFill>
          <a:ln w="12700">
            <a:solidFill>
              <a:srgbClr val="FFC145"/>
            </a:solidFill>
            <a:prstDash val="solid"/>
          </a:ln>
        </p:spPr>
      </p:sp>
      <p:sp>
        <p:nvSpPr>
          <p:cNvPr id="22" name="Text 20"/>
          <p:cNvSpPr txBox="1"/>
          <p:nvPr/>
        </p:nvSpPr>
        <p:spPr>
          <a:xfrm>
            <a:off x="640080" y="438912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115568" y="437083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A density can exceed 1. U(0, 0.1) has height 10, and area 1.</a:t>
            </a:r>
            <a:endParaRPr lang="en-US" sz="950" dirty="0"/>
          </a:p>
        </p:txBody>
      </p:sp>
      <p:sp>
        <p:nvSpPr>
          <p:cNvPr id="24" name="Shape 22"/>
          <p:cNvSpPr/>
          <p:nvPr/>
        </p:nvSpPr>
        <p:spPr>
          <a:xfrm>
            <a:off x="6263640" y="1554480"/>
            <a:ext cx="329184" cy="329184"/>
          </a:xfrm>
          <a:prstGeom prst="ellipse">
            <a:avLst/>
          </a:prstGeom>
          <a:solidFill>
            <a:srgbClr val="3E7CB1"/>
          </a:solidFill>
          <a:ln w="12700">
            <a:solidFill>
              <a:srgbClr val="3E7CB1"/>
            </a:solidFill>
            <a:prstDash val="solid"/>
          </a:ln>
        </p:spPr>
      </p:sp>
      <p:sp>
        <p:nvSpPr>
          <p:cNvPr id="25" name="Text 23"/>
          <p:cNvSpPr txBox="1"/>
          <p:nvPr/>
        </p:nvSpPr>
        <p:spPr>
          <a:xfrm>
            <a:off x="6263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6739128" y="153619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Continuous mean (a+b)/2, variance (b−a)²/12. sd of U(0,1) is 0.2887.</a:t>
            </a:r>
            <a:endParaRPr lang="en-US" sz="950" dirty="0"/>
          </a:p>
        </p:txBody>
      </p:sp>
      <p:sp>
        <p:nvSpPr>
          <p:cNvPr id="27" name="Shape 25"/>
          <p:cNvSpPr/>
          <p:nvPr/>
        </p:nvSpPr>
        <p:spPr>
          <a:xfrm>
            <a:off x="6263640" y="2121408"/>
            <a:ext cx="329184" cy="329184"/>
          </a:xfrm>
          <a:prstGeom prst="ellipse">
            <a:avLst/>
          </a:prstGeom>
          <a:solidFill>
            <a:srgbClr val="3E7CB1"/>
          </a:solidFill>
          <a:ln w="12700">
            <a:solidFill>
              <a:srgbClr val="3E7CB1"/>
            </a:solidFill>
            <a:prstDash val="solid"/>
          </a:ln>
        </p:spPr>
      </p:sp>
      <p:sp>
        <p:nvSpPr>
          <p:cNvPr id="28" name="Text 26"/>
          <p:cNvSpPr txBox="1"/>
          <p:nvPr/>
        </p:nvSpPr>
        <p:spPr>
          <a:xfrm>
            <a:off x="6263640"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6739128" y="2103120"/>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scipy takes loc and WIDTH: U(a,b) is uniform(a, b−a).</a:t>
            </a:r>
            <a:endParaRPr lang="en-US" sz="950" dirty="0"/>
          </a:p>
        </p:txBody>
      </p:sp>
      <p:sp>
        <p:nvSpPr>
          <p:cNvPr id="30" name="Shape 28"/>
          <p:cNvSpPr/>
          <p:nvPr/>
        </p:nvSpPr>
        <p:spPr>
          <a:xfrm>
            <a:off x="6263640" y="2688336"/>
            <a:ext cx="329184" cy="329184"/>
          </a:xfrm>
          <a:prstGeom prst="ellipse">
            <a:avLst/>
          </a:prstGeom>
          <a:solidFill>
            <a:srgbClr val="3E7CB1"/>
          </a:solidFill>
          <a:ln w="12700">
            <a:solidFill>
              <a:srgbClr val="3E7CB1"/>
            </a:solidFill>
            <a:prstDash val="solid"/>
          </a:ln>
        </p:spPr>
      </p:sp>
      <p:sp>
        <p:nvSpPr>
          <p:cNvPr id="31" name="Text 29"/>
          <p:cNvSpPr txBox="1"/>
          <p:nvPr/>
        </p:nvSpPr>
        <p:spPr>
          <a:xfrm>
            <a:off x="62636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6739128" y="2670048"/>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Same range and same mean do NOT make it uniform. Look at the shape.</a:t>
            </a:r>
            <a:endParaRPr lang="en-US" sz="950" dirty="0"/>
          </a:p>
        </p:txBody>
      </p:sp>
      <p:sp>
        <p:nvSpPr>
          <p:cNvPr id="33" name="Shape 31"/>
          <p:cNvSpPr/>
          <p:nvPr/>
        </p:nvSpPr>
        <p:spPr>
          <a:xfrm>
            <a:off x="6263640" y="3255264"/>
            <a:ext cx="329184" cy="329184"/>
          </a:xfrm>
          <a:prstGeom prst="ellipse">
            <a:avLst/>
          </a:prstGeom>
          <a:solidFill>
            <a:srgbClr val="3E7CB1"/>
          </a:solidFill>
          <a:ln w="12700">
            <a:solidFill>
              <a:srgbClr val="3E7CB1"/>
            </a:solidFill>
            <a:prstDash val="solid"/>
          </a:ln>
        </p:spPr>
      </p:sp>
      <p:sp>
        <p:nvSpPr>
          <p:cNvPr id="34" name="Text 32"/>
          <p:cNvSpPr txBox="1"/>
          <p:nvPr/>
        </p:nvSpPr>
        <p:spPr>
          <a:xfrm>
            <a:off x="626364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txBox="1"/>
          <p:nvPr/>
        </p:nvSpPr>
        <p:spPr>
          <a:xfrm>
            <a:off x="6739128" y="3236976"/>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Test it: chisquare for discrete, kstest for continuous — and say your n.</a:t>
            </a:r>
            <a:endParaRPr lang="en-US" sz="950" dirty="0"/>
          </a:p>
        </p:txBody>
      </p:sp>
      <p:sp>
        <p:nvSpPr>
          <p:cNvPr id="36" name="Shape 34"/>
          <p:cNvSpPr/>
          <p:nvPr/>
        </p:nvSpPr>
        <p:spPr>
          <a:xfrm>
            <a:off x="6263640" y="3822192"/>
            <a:ext cx="329184" cy="329184"/>
          </a:xfrm>
          <a:prstGeom prst="ellipse">
            <a:avLst/>
          </a:prstGeom>
          <a:solidFill>
            <a:srgbClr val="3E7CB1"/>
          </a:solidFill>
          <a:ln w="12700">
            <a:solidFill>
              <a:srgbClr val="3E7CB1"/>
            </a:solidFill>
            <a:prstDash val="solid"/>
          </a:ln>
        </p:spPr>
      </p:sp>
      <p:sp>
        <p:nvSpPr>
          <p:cNvPr id="37" name="Text 35"/>
          <p:cNvSpPr txBox="1"/>
          <p:nvPr/>
        </p:nvSpPr>
        <p:spPr>
          <a:xfrm>
            <a:off x="626364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6739128" y="3803904"/>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Every random number starts as U(0,1); ppf reshapes it into anything.</a:t>
            </a:r>
            <a:endParaRPr lang="en-US" sz="950" dirty="0"/>
          </a:p>
        </p:txBody>
      </p:sp>
      <p:sp>
        <p:nvSpPr>
          <p:cNvPr id="39" name="Shape 37"/>
          <p:cNvSpPr/>
          <p:nvPr/>
        </p:nvSpPr>
        <p:spPr>
          <a:xfrm>
            <a:off x="6263640" y="4389120"/>
            <a:ext cx="329184" cy="329184"/>
          </a:xfrm>
          <a:prstGeom prst="ellipse">
            <a:avLst/>
          </a:prstGeom>
          <a:solidFill>
            <a:srgbClr val="3E7CB1"/>
          </a:solidFill>
          <a:ln w="12700">
            <a:solidFill>
              <a:srgbClr val="3E7CB1"/>
            </a:solidFill>
            <a:prstDash val="solid"/>
          </a:ln>
        </p:spPr>
      </p:sp>
      <p:sp>
        <p:nvSpPr>
          <p:cNvPr id="40" name="Text 38"/>
          <p:cNvSpPr txBox="1"/>
          <p:nvPr/>
        </p:nvSpPr>
        <p:spPr>
          <a:xfrm>
            <a:off x="626364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9"/>
          <p:cNvSpPr txBox="1"/>
          <p:nvPr/>
        </p:nvSpPr>
        <p:spPr>
          <a:xfrm>
            <a:off x="6739128" y="437083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One uniform is flat. Twelve added together are a bell curve.</a:t>
            </a:r>
            <a:endParaRPr lang="en-US" sz="950" dirty="0"/>
          </a:p>
        </p:txBody>
      </p:sp>
      <p:sp>
        <p:nvSpPr>
          <p:cNvPr id="42" name="Shape 40"/>
          <p:cNvSpPr/>
          <p:nvPr/>
        </p:nvSpPr>
        <p:spPr>
          <a:xfrm>
            <a:off x="640080" y="5230368"/>
            <a:ext cx="5349240" cy="1097280"/>
          </a:xfrm>
          <a:prstGeom prst="roundRect">
            <a:avLst>
              <a:gd name="adj" fmla="val 7500"/>
            </a:avLst>
          </a:prstGeom>
          <a:solidFill>
            <a:srgbClr val="1E3151"/>
          </a:solidFill>
          <a:ln w="12700">
            <a:solidFill>
              <a:srgbClr val="333333"/>
            </a:solidFill>
            <a:prstDash val="solid"/>
          </a:ln>
        </p:spPr>
      </p:sp>
      <p:sp>
        <p:nvSpPr>
          <p:cNvPr id="43" name="Text 41"/>
          <p:cNvSpPr txBox="1"/>
          <p:nvPr/>
        </p:nvSpPr>
        <p:spPr>
          <a:xfrm>
            <a:off x="86868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Homework</a:t>
            </a:r>
            <a:endParaRPr lang="en-US" sz="1300" dirty="0"/>
          </a:p>
        </p:txBody>
      </p:sp>
      <p:sp>
        <p:nvSpPr>
          <p:cNvPr id="44" name="Text 42"/>
          <p:cNvSpPr txBox="1"/>
          <p:nvPr/>
        </p:nvSpPr>
        <p:spPr>
          <a:xfrm>
            <a:off x="868680" y="5632704"/>
            <a:ext cx="4892040" cy="658368"/>
          </a:xfrm>
          <a:prstGeom prst="rect">
            <a:avLst/>
          </a:prstGeom>
          <a:noFill/>
          <a:ln/>
        </p:spPr>
        <p:txBody>
          <a:bodyPr wrap="square" lIns="0" tIns="0" rIns="0" bIns="0" rtlCol="0" anchor="ctr"/>
          <a:lstStyle/>
          <a:p>
            <a:pPr indent="0" marL="0">
              <a:lnSpc>
                <a:spcPct val="110000"/>
              </a:lnSpc>
              <a:buNone/>
            </a:pPr>
            <a:r>
              <a:rPr lang="en-US" sz="950" dirty="0">
                <a:solidFill>
                  <a:srgbClr val="AFC2DC"/>
                </a:solidFill>
                <a:latin typeface="Calibri" pitchFamily="34" charset="0"/>
                <a:ea typeface="Calibri" pitchFamily="34" charset="-122"/>
                <a:cs typeface="Calibri" pitchFamily="34" charset="-120"/>
              </a:rPr>
              <a:t>Build a sampler for a distribution scipy does not have, using only rng.random()  ·  Take any numeric column from your Day 21 project and test whether its leading digits follow Benford  ·  Find one place in your own code where you assumed uniform without checking</a:t>
            </a:r>
            <a:endParaRPr lang="en-US" sz="950" dirty="0"/>
          </a:p>
        </p:txBody>
      </p:sp>
      <p:sp>
        <p:nvSpPr>
          <p:cNvPr id="45" name="Shape 43"/>
          <p:cNvSpPr/>
          <p:nvPr/>
        </p:nvSpPr>
        <p:spPr>
          <a:xfrm>
            <a:off x="6263640" y="5230368"/>
            <a:ext cx="5349240" cy="1097280"/>
          </a:xfrm>
          <a:prstGeom prst="roundRect">
            <a:avLst>
              <a:gd name="adj" fmla="val 7500"/>
            </a:avLst>
          </a:prstGeom>
          <a:solidFill>
            <a:srgbClr val="1E3151"/>
          </a:solidFill>
          <a:ln w="12700">
            <a:solidFill>
              <a:srgbClr val="333333"/>
            </a:solidFill>
            <a:prstDash val="solid"/>
          </a:ln>
        </p:spPr>
      </p:sp>
      <p:sp>
        <p:nvSpPr>
          <p:cNvPr id="46" name="Text 44"/>
          <p:cNvSpPr txBox="1"/>
          <p:nvPr/>
        </p:nvSpPr>
        <p:spPr>
          <a:xfrm>
            <a:off x="649224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Next class  —  Topic 2.7</a:t>
            </a:r>
            <a:endParaRPr lang="en-US" sz="1300" dirty="0"/>
          </a:p>
        </p:txBody>
      </p:sp>
      <p:sp>
        <p:nvSpPr>
          <p:cNvPr id="47" name="Text 45"/>
          <p:cNvSpPr txBox="1"/>
          <p:nvPr/>
        </p:nvSpPr>
        <p:spPr>
          <a:xfrm>
            <a:off x="6492240" y="5632704"/>
            <a:ext cx="4892040" cy="658368"/>
          </a:xfrm>
          <a:prstGeom prst="rect">
            <a:avLst/>
          </a:prstGeom>
          <a:noFill/>
          <a:ln/>
        </p:spPr>
        <p:txBody>
          <a:bodyPr wrap="square" lIns="0" tIns="0" rIns="0" bIns="0" rtlCol="0" anchor="ctr"/>
          <a:lstStyle/>
          <a:p>
            <a:pPr indent="0" marL="0">
              <a:lnSpc>
                <a:spcPct val="110000"/>
              </a:lnSpc>
              <a:buNone/>
            </a:pPr>
            <a:r>
              <a:rPr lang="en-US" sz="1000" dirty="0">
                <a:solidFill>
                  <a:srgbClr val="AFC2DC"/>
                </a:solidFill>
                <a:latin typeface="Calibri" pitchFamily="34" charset="0"/>
                <a:ea typeface="Calibri" pitchFamily="34" charset="-122"/>
                <a:cs typeface="Calibri" pitchFamily="34" charset="-120"/>
              </a:rPr>
              <a:t>The Central Limit Theorem. Three times now a distribution has turned into a bell curve for no apparent reason. Next class is the one that explains it — and it is the result the whole of the rest of statistics rests 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26 - The Uniform Distribution</dc:title>
  <dc:subject>PptxGenJS Presentation</dc:subject>
  <dc:creator>Data Science Program</dc:creator>
  <cp:lastModifiedBy>Data Science Program</cp:lastModifiedBy>
  <cp:revision>1</cp:revision>
  <dcterms:created xsi:type="dcterms:W3CDTF">2026-10-12T12:48:46Z</dcterms:created>
  <dcterms:modified xsi:type="dcterms:W3CDTF">2026-10-12T12:48:46Z</dcterms:modified>
</cp:coreProperties>
</file>