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17. This is the session where pandas stops feeling fussy and starts feeling powerful. Almost every real analytical question is a groupby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with their own code from Day 15 is the strongest possible motivation. Show the four-line loop, then the one-liner,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 section 4. The dropna behaviour is the one that produces wrong numbers in real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'listen for the word per' heuristic is genuinely useful. Use it every time a question comes up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as you say it. The three little tables are the thing students need to picture; after that the syntax is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size/count distinction is subtle but shows up constantly once data has gaps. The 'if they disagree you have missing data' line is the useful takeaway.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named aggregation hard. It is clearer to read, avoids MultiIndex columns, and is what they will see in professional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assume the result is sorted by value and report the wrong 'top' group. Make the distinction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has used Excel pivot tables will find pivot_table familiar. Say that out loud - it converts anxiety into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agg-shrinks / transform-preserves contrast is the cleanest way to explain it. Show both shapes printed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this as the third instance of the same pattern helps it stick. Missing data never announces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8 catches people constantly: after a groupby the key is the index, so df['city'] raises KeyError until you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11's exceptions, used properly: an assert that fails loudly beats a report that is quietly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habit prevents the most common silent error in grouped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Tomorrow's merge is the other half of real data work - today reshaped one table, tomorrow combines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 1.16</a:t>
            </a:r>
            <a:endParaRPr lang="en-US" sz="1300" dirty="0"/>
          </a:p>
        </p:txBody>
      </p:sp>
      <p:sp>
        <p:nvSpPr>
          <p:cNvPr id="5" name="Text 3"/>
          <p:cNvSpPr txBox="1"/>
          <p:nvPr/>
        </p:nvSpPr>
        <p:spPr>
          <a:xfrm>
            <a:off x="822960" y="1874520"/>
            <a:ext cx="841248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GroupBy &amp;</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Aggregation</a:t>
            </a:r>
            <a:endParaRPr lang="en-US" sz="4200" dirty="0"/>
          </a:p>
        </p:txBody>
      </p:sp>
      <p:sp>
        <p:nvSpPr>
          <p:cNvPr id="6" name="Text 4"/>
          <p:cNvSpPr txBox="1"/>
          <p:nvPr/>
        </p:nvSpPr>
        <p:spPr>
          <a:xfrm>
            <a:off x="841248" y="370332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17  —  split, apply, combine</a:t>
            </a:r>
            <a:endParaRPr lang="en-US" sz="1800" dirty="0"/>
          </a:p>
        </p:txBody>
      </p:sp>
      <p:sp>
        <p:nvSpPr>
          <p:cNvPr id="7" name="Shape 5"/>
          <p:cNvSpPr/>
          <p:nvPr/>
        </p:nvSpPr>
        <p:spPr>
          <a:xfrm>
            <a:off x="822960" y="4526280"/>
            <a:ext cx="2468880" cy="960120"/>
          </a:xfrm>
          <a:prstGeom prst="roundRect">
            <a:avLst>
              <a:gd name="adj" fmla="val 8571"/>
            </a:avLst>
          </a:prstGeom>
          <a:solidFill>
            <a:srgbClr val="1E3151"/>
          </a:solidFill>
          <a:ln w="12700">
            <a:solidFill>
              <a:srgbClr val="1E3151"/>
            </a:solidFill>
            <a:prstDash val="solid"/>
          </a:ln>
        </p:spPr>
      </p:sp>
      <p:sp>
        <p:nvSpPr>
          <p:cNvPr id="8" name="Text 6"/>
          <p:cNvSpPr txBox="1"/>
          <p:nvPr/>
        </p:nvSpPr>
        <p:spPr>
          <a:xfrm>
            <a:off x="10241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9" name="Text 7"/>
          <p:cNvSpPr txBox="1"/>
          <p:nvPr/>
        </p:nvSpPr>
        <p:spPr>
          <a:xfrm>
            <a:off x="1024128" y="502920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Concepts + live code</a:t>
            </a:r>
            <a:endParaRPr lang="en-US" sz="1050" dirty="0"/>
          </a:p>
        </p:txBody>
      </p:sp>
      <p:sp>
        <p:nvSpPr>
          <p:cNvPr id="10" name="Shape 8"/>
          <p:cNvSpPr/>
          <p:nvPr/>
        </p:nvSpPr>
        <p:spPr>
          <a:xfrm>
            <a:off x="3566160" y="4526280"/>
            <a:ext cx="2468880" cy="960120"/>
          </a:xfrm>
          <a:prstGeom prst="roundRect">
            <a:avLst>
              <a:gd name="adj" fmla="val 8571"/>
            </a:avLst>
          </a:prstGeom>
          <a:solidFill>
            <a:srgbClr val="1E3151"/>
          </a:solidFill>
          <a:ln w="12700">
            <a:solidFill>
              <a:srgbClr val="1E3151"/>
            </a:solidFill>
            <a:prstDash val="solid"/>
          </a:ln>
        </p:spPr>
      </p:sp>
      <p:sp>
        <p:nvSpPr>
          <p:cNvPr id="11" name="Text 9"/>
          <p:cNvSpPr txBox="1"/>
          <p:nvPr/>
        </p:nvSpPr>
        <p:spPr>
          <a:xfrm>
            <a:off x="37673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2" name="Text 10"/>
          <p:cNvSpPr txBox="1"/>
          <p:nvPr/>
        </p:nvSpPr>
        <p:spPr>
          <a:xfrm>
            <a:off x="3767328" y="502920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Practice notebook</a:t>
            </a:r>
            <a:endParaRPr lang="en-US" sz="1050" dirty="0"/>
          </a:p>
        </p:txBody>
      </p:sp>
      <p:sp>
        <p:nvSpPr>
          <p:cNvPr id="13" name="Shape 11"/>
          <p:cNvSpPr/>
          <p:nvPr/>
        </p:nvSpPr>
        <p:spPr>
          <a:xfrm>
            <a:off x="6309360" y="4526280"/>
            <a:ext cx="2468880" cy="960120"/>
          </a:xfrm>
          <a:prstGeom prst="roundRect">
            <a:avLst>
              <a:gd name="adj" fmla="val 8571"/>
            </a:avLst>
          </a:prstGeom>
          <a:solidFill>
            <a:srgbClr val="1E3151"/>
          </a:solidFill>
          <a:ln w="12700">
            <a:solidFill>
              <a:srgbClr val="1E3151"/>
            </a:solidFill>
            <a:prstDash val="solid"/>
          </a:ln>
        </p:spPr>
      </p:sp>
      <p:sp>
        <p:nvSpPr>
          <p:cNvPr id="14" name="Text 12"/>
          <p:cNvSpPr txBox="1"/>
          <p:nvPr/>
        </p:nvSpPr>
        <p:spPr>
          <a:xfrm>
            <a:off x="65105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6510528" y="502920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Words: split, apply, combine</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17/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THE LOOP WE PROMISED TO REPLACE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Remember this, from Day 15's practice?</a:t>
            </a:r>
            <a:endParaRPr lang="en-US" sz="3200" dirty="0"/>
          </a:p>
        </p:txBody>
      </p:sp>
      <p:sp>
        <p:nvSpPr>
          <p:cNvPr id="5" name="Shape 3"/>
          <p:cNvSpPr/>
          <p:nvPr/>
        </p:nvSpPr>
        <p:spPr>
          <a:xfrm>
            <a:off x="548640" y="1572768"/>
            <a:ext cx="5760720" cy="2286000"/>
          </a:xfrm>
          <a:prstGeom prst="roundRect">
            <a:avLst>
              <a:gd name="adj" fmla="val 36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What you wrote two days ago</a:t>
            </a:r>
            <a:endParaRPr lang="en-US" sz="1450" dirty="0"/>
          </a:p>
        </p:txBody>
      </p:sp>
      <p:sp>
        <p:nvSpPr>
          <p:cNvPr id="7" name="Shape 5"/>
          <p:cNvSpPr/>
          <p:nvPr/>
        </p:nvSpPr>
        <p:spPr>
          <a:xfrm>
            <a:off x="804672" y="2103120"/>
            <a:ext cx="5257800" cy="1280160"/>
          </a:xfrm>
          <a:prstGeom prst="roundRect">
            <a:avLst>
              <a:gd name="adj" fmla="val 5000"/>
            </a:avLst>
          </a:prstGeom>
          <a:solidFill>
            <a:srgbClr val="1B2B45"/>
          </a:solidFill>
          <a:ln w="12700">
            <a:solidFill>
              <a:srgbClr val="1B2B45"/>
            </a:solidFill>
            <a:prstDash val="solid"/>
          </a:ln>
        </p:spPr>
      </p:sp>
      <p:sp>
        <p:nvSpPr>
          <p:cNvPr id="8" name="Text 6"/>
          <p:cNvSpPr txBox="1"/>
          <p:nvPr/>
        </p:nvSpPr>
        <p:spPr>
          <a:xfrm>
            <a:off x="969264" y="2212848"/>
            <a:ext cx="4928616" cy="106070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for city in df["city"].unique():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mask = df["city"] == city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print(city, df.loc[mask, "python"].mean())</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four lines, one loop, manual printing</a:t>
            </a:r>
            <a:endParaRPr lang="en-US" sz="1000" dirty="0"/>
          </a:p>
        </p:txBody>
      </p:sp>
      <p:sp>
        <p:nvSpPr>
          <p:cNvPr id="9" name="Text 7"/>
          <p:cNvSpPr txBox="1"/>
          <p:nvPr/>
        </p:nvSpPr>
        <p:spPr>
          <a:xfrm>
            <a:off x="804672" y="3456432"/>
            <a:ext cx="5257800" cy="274320"/>
          </a:xfrm>
          <a:prstGeom prst="rect">
            <a:avLst/>
          </a:prstGeom>
          <a:noFill/>
          <a:ln/>
        </p:spPr>
        <p:txBody>
          <a:bodyPr wrap="square" lIns="0" tIns="0" rIns="0" bIns="0" rtlCol="0" anchor="ctr"/>
          <a:lstStyle/>
          <a:p>
            <a:pPr indent="0" marL="0">
              <a:buNone/>
            </a:pPr>
            <a:r>
              <a:rPr lang="en-US" sz="1200" i="1" dirty="0">
                <a:solidFill>
                  <a:srgbClr val="6B4A0B"/>
                </a:solidFill>
                <a:latin typeface="Calibri" pitchFamily="34" charset="0"/>
                <a:ea typeface="Calibri" pitchFamily="34" charset="-122"/>
                <a:cs typeface="Calibri" pitchFamily="34" charset="-120"/>
              </a:rPr>
              <a:t>It worked. There is a much better way.</a:t>
            </a:r>
            <a:endParaRPr lang="en-US" sz="1200" dirty="0"/>
          </a:p>
        </p:txBody>
      </p:sp>
      <p:sp>
        <p:nvSpPr>
          <p:cNvPr id="10" name="Shape 8"/>
          <p:cNvSpPr/>
          <p:nvPr/>
        </p:nvSpPr>
        <p:spPr>
          <a:xfrm>
            <a:off x="6583680" y="1572768"/>
            <a:ext cx="502920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What you will write today</a:t>
            </a:r>
            <a:endParaRPr lang="en-US" sz="1450" dirty="0"/>
          </a:p>
        </p:txBody>
      </p:sp>
      <p:sp>
        <p:nvSpPr>
          <p:cNvPr id="12" name="Shape 10"/>
          <p:cNvSpPr/>
          <p:nvPr/>
        </p:nvSpPr>
        <p:spPr>
          <a:xfrm>
            <a:off x="6839712" y="2103120"/>
            <a:ext cx="4526280" cy="822960"/>
          </a:xfrm>
          <a:prstGeom prst="roundRect">
            <a:avLst>
              <a:gd name="adj" fmla="val 7778"/>
            </a:avLst>
          </a:prstGeom>
          <a:solidFill>
            <a:srgbClr val="1B2B45"/>
          </a:solidFill>
          <a:ln w="12700">
            <a:solidFill>
              <a:srgbClr val="1B2B45"/>
            </a:solidFill>
            <a:prstDash val="solid"/>
          </a:ln>
        </p:spPr>
      </p:sp>
      <p:sp>
        <p:nvSpPr>
          <p:cNvPr id="13" name="Text 11"/>
          <p:cNvSpPr txBox="1"/>
          <p:nvPr/>
        </p:nvSpPr>
        <p:spPr>
          <a:xfrm>
            <a:off x="7004304" y="2212848"/>
            <a:ext cx="4197096" cy="60350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df.groupby("city")["python"].mean()</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one line, and the result is a</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Series you can sort, filter or plot</a:t>
            </a:r>
            <a:endParaRPr lang="en-US" sz="950" dirty="0"/>
          </a:p>
        </p:txBody>
      </p:sp>
      <p:sp>
        <p:nvSpPr>
          <p:cNvPr id="14" name="Text 12"/>
          <p:cNvSpPr txBox="1"/>
          <p:nvPr/>
        </p:nvSpPr>
        <p:spPr>
          <a:xfrm>
            <a:off x="6839712" y="3017520"/>
            <a:ext cx="4526280" cy="685800"/>
          </a:xfrm>
          <a:prstGeom prst="rect">
            <a:avLst/>
          </a:prstGeom>
          <a:noFill/>
          <a:ln/>
        </p:spPr>
        <p:txBody>
          <a:bodyPr wrap="square" lIns="0" tIns="0" rIns="0" bIns="0" rtlCol="0" anchor="ctr"/>
          <a:lstStyle/>
          <a:p>
            <a:pPr indent="0" marL="0">
              <a:lnSpc>
                <a:spcPct val="115000"/>
              </a:lnSpc>
              <a:buNone/>
            </a:pPr>
            <a:r>
              <a:rPr lang="en-US" sz="1200" dirty="0">
                <a:solidFill>
                  <a:srgbClr val="1C6F5C"/>
                </a:solidFill>
                <a:latin typeface="Calibri" pitchFamily="34" charset="0"/>
                <a:ea typeface="Calibri" pitchFamily="34" charset="-122"/>
                <a:cs typeface="Calibri" pitchFamily="34" charset="-120"/>
              </a:rPr>
              <a:t>And it extends to two subjects, three statistics, or two grouping columns without getting any longer.</a:t>
            </a:r>
            <a:endParaRPr lang="en-US" sz="1200" dirty="0"/>
          </a:p>
        </p:txBody>
      </p:sp>
      <p:sp>
        <p:nvSpPr>
          <p:cNvPr id="15" name="Shape 13"/>
          <p:cNvSpPr/>
          <p:nvPr/>
        </p:nvSpPr>
        <p:spPr>
          <a:xfrm>
            <a:off x="548640" y="4023360"/>
            <a:ext cx="11064240" cy="1828800"/>
          </a:xfrm>
          <a:prstGeom prst="roundRect">
            <a:avLst>
              <a:gd name="adj" fmla="val 45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22960" y="4169664"/>
            <a:ext cx="6400800" cy="274320"/>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Three quick questions from Day 16 first</a:t>
            </a:r>
            <a:endParaRPr lang="en-US" sz="1400" dirty="0"/>
          </a:p>
        </p:txBody>
      </p:sp>
      <p:sp>
        <p:nvSpPr>
          <p:cNvPr id="17" name="Shape 15"/>
          <p:cNvSpPr/>
          <p:nvPr/>
        </p:nvSpPr>
        <p:spPr>
          <a:xfrm>
            <a:off x="868680" y="4526280"/>
            <a:ext cx="310896" cy="310896"/>
          </a:xfrm>
          <a:prstGeom prst="ellipse">
            <a:avLst/>
          </a:prstGeom>
          <a:solidFill>
            <a:srgbClr val="3E7CB1"/>
          </a:solidFill>
          <a:ln w="12700">
            <a:solidFill>
              <a:srgbClr val="3E7CB1"/>
            </a:solidFill>
            <a:prstDash val="solid"/>
          </a:ln>
        </p:spPr>
      </p:sp>
      <p:sp>
        <p:nvSpPr>
          <p:cNvPr id="18" name="Text 16"/>
          <p:cNvSpPr txBox="1"/>
          <p:nvPr/>
        </p:nvSpPr>
        <p:spPr>
          <a:xfrm>
            <a:off x="868680" y="45262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7"/>
          <p:cNvSpPr txBox="1"/>
          <p:nvPr/>
        </p:nvSpPr>
        <p:spPr>
          <a:xfrm>
            <a:off x="1325880" y="4544568"/>
            <a:ext cx="475488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loc or iloc for the 3rd row?</a:t>
            </a:r>
            <a:endParaRPr lang="en-US" sz="1250" dirty="0"/>
          </a:p>
        </p:txBody>
      </p:sp>
      <p:sp>
        <p:nvSpPr>
          <p:cNvPr id="20" name="Text 18"/>
          <p:cNvSpPr txBox="1"/>
          <p:nvPr/>
        </p:nvSpPr>
        <p:spPr>
          <a:xfrm>
            <a:off x="6217920" y="4544568"/>
            <a:ext cx="5120640" cy="274320"/>
          </a:xfrm>
          <a:prstGeom prst="rect">
            <a:avLst/>
          </a:prstGeom>
          <a:noFill/>
          <a:ln/>
        </p:spPr>
        <p:txBody>
          <a:bodyPr wrap="square" lIns="0" tIns="0" rIns="0" bIns="0" rtlCol="0" anchor="ctr"/>
          <a:lstStyle/>
          <a:p>
            <a:pPr indent="0" marL="0">
              <a:buNone/>
            </a:pPr>
            <a:r>
              <a:rPr lang="en-US" sz="1250" dirty="0">
                <a:solidFill>
                  <a:srgbClr val="2FA98C"/>
                </a:solidFill>
                <a:latin typeface="Calibri" pitchFamily="34" charset="0"/>
                <a:ea typeface="Calibri" pitchFamily="34" charset="-122"/>
                <a:cs typeface="Calibri" pitchFamily="34" charset="-120"/>
              </a:rPr>
              <a:t>→  iloc  —  you are counting.</a:t>
            </a:r>
            <a:endParaRPr lang="en-US" sz="1250" dirty="0"/>
          </a:p>
        </p:txBody>
      </p:sp>
      <p:sp>
        <p:nvSpPr>
          <p:cNvPr id="21" name="Shape 19"/>
          <p:cNvSpPr/>
          <p:nvPr/>
        </p:nvSpPr>
        <p:spPr>
          <a:xfrm>
            <a:off x="868680" y="4956048"/>
            <a:ext cx="310896" cy="310896"/>
          </a:xfrm>
          <a:prstGeom prst="ellipse">
            <a:avLst/>
          </a:prstGeom>
          <a:solidFill>
            <a:srgbClr val="3E7CB1"/>
          </a:solidFill>
          <a:ln w="12700">
            <a:solidFill>
              <a:srgbClr val="3E7CB1"/>
            </a:solidFill>
            <a:prstDash val="solid"/>
          </a:ln>
        </p:spPr>
      </p:sp>
      <p:sp>
        <p:nvSpPr>
          <p:cNvPr id="22" name="Text 20"/>
          <p:cNvSpPr txBox="1"/>
          <p:nvPr/>
        </p:nvSpPr>
        <p:spPr>
          <a:xfrm>
            <a:off x="868680" y="4956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1"/>
          <p:cNvSpPr txBox="1"/>
          <p:nvPr/>
        </p:nvSpPr>
        <p:spPr>
          <a:xfrm>
            <a:off x="1325880" y="4974336"/>
            <a:ext cx="475488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Why can loc[2] fail after a filter?</a:t>
            </a:r>
            <a:endParaRPr lang="en-US" sz="1250" dirty="0"/>
          </a:p>
        </p:txBody>
      </p:sp>
      <p:sp>
        <p:nvSpPr>
          <p:cNvPr id="24" name="Text 22"/>
          <p:cNvSpPr txBox="1"/>
          <p:nvPr/>
        </p:nvSpPr>
        <p:spPr>
          <a:xfrm>
            <a:off x="6217920" y="4974336"/>
            <a:ext cx="5120640" cy="274320"/>
          </a:xfrm>
          <a:prstGeom prst="rect">
            <a:avLst/>
          </a:prstGeom>
          <a:noFill/>
          <a:ln/>
        </p:spPr>
        <p:txBody>
          <a:bodyPr wrap="square" lIns="0" tIns="0" rIns="0" bIns="0" rtlCol="0" anchor="ctr"/>
          <a:lstStyle/>
          <a:p>
            <a:pPr indent="0" marL="0">
              <a:buNone/>
            </a:pPr>
            <a:r>
              <a:rPr lang="en-US" sz="1250" dirty="0">
                <a:solidFill>
                  <a:srgbClr val="2FA98C"/>
                </a:solidFill>
                <a:latin typeface="Calibri" pitchFamily="34" charset="0"/>
                <a:ea typeface="Calibri" pitchFamily="34" charset="-122"/>
                <a:cs typeface="Calibri" pitchFamily="34" charset="-120"/>
              </a:rPr>
              <a:t>→  Label 2 was removed; positions renumbered.</a:t>
            </a:r>
            <a:endParaRPr lang="en-US" sz="1250" dirty="0"/>
          </a:p>
        </p:txBody>
      </p:sp>
      <p:sp>
        <p:nvSpPr>
          <p:cNvPr id="25" name="Shape 23"/>
          <p:cNvSpPr/>
          <p:nvPr/>
        </p:nvSpPr>
        <p:spPr>
          <a:xfrm>
            <a:off x="868680" y="5385816"/>
            <a:ext cx="310896" cy="310896"/>
          </a:xfrm>
          <a:prstGeom prst="ellipse">
            <a:avLst/>
          </a:prstGeom>
          <a:solidFill>
            <a:srgbClr val="3E7CB1"/>
          </a:solidFill>
          <a:ln w="12700">
            <a:solidFill>
              <a:srgbClr val="3E7CB1"/>
            </a:solidFill>
            <a:prstDash val="solid"/>
          </a:ln>
        </p:spPr>
      </p:sp>
      <p:sp>
        <p:nvSpPr>
          <p:cNvPr id="26" name="Text 24"/>
          <p:cNvSpPr txBox="1"/>
          <p:nvPr/>
        </p:nvSpPr>
        <p:spPr>
          <a:xfrm>
            <a:off x="868680" y="5385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txBox="1"/>
          <p:nvPr/>
        </p:nvSpPr>
        <p:spPr>
          <a:xfrm>
            <a:off x="1325880" y="5404104"/>
            <a:ext cx="475488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Why does df[mask]["c"] = 5 do nothing?</a:t>
            </a:r>
            <a:endParaRPr lang="en-US" sz="1250" dirty="0"/>
          </a:p>
        </p:txBody>
      </p:sp>
      <p:sp>
        <p:nvSpPr>
          <p:cNvPr id="28" name="Text 26"/>
          <p:cNvSpPr txBox="1"/>
          <p:nvPr/>
        </p:nvSpPr>
        <p:spPr>
          <a:xfrm>
            <a:off x="6217920" y="5404104"/>
            <a:ext cx="5120640" cy="274320"/>
          </a:xfrm>
          <a:prstGeom prst="rect">
            <a:avLst/>
          </a:prstGeom>
          <a:noFill/>
          <a:ln/>
        </p:spPr>
        <p:txBody>
          <a:bodyPr wrap="square" lIns="0" tIns="0" rIns="0" bIns="0" rtlCol="0" anchor="ctr"/>
          <a:lstStyle/>
          <a:p>
            <a:pPr indent="0" marL="0">
              <a:buNone/>
            </a:pPr>
            <a:r>
              <a:rPr lang="en-US" sz="1250" dirty="0">
                <a:solidFill>
                  <a:srgbClr val="2FA98C"/>
                </a:solidFill>
                <a:latin typeface="Calibri" pitchFamily="34" charset="0"/>
                <a:ea typeface="Calibri" pitchFamily="34" charset="-122"/>
                <a:cs typeface="Calibri" pitchFamily="34" charset="-120"/>
              </a:rPr>
              <a:t>→  It writes to a copy. Use one .loc.</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Split, apply, combine</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The mental model behind every groupby</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Aggregating</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One function, many, and named results</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Grouping by two things</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MultiIndex, unstack, pivot_table</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E8674C"/>
          </a:solidFill>
          <a:ln w="12700">
            <a:solidFill>
              <a:srgbClr val="E8674C"/>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transform &amp; pitfalls</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Broadcasting back, and missing keys</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2FA98C"/>
          </a:solidFill>
          <a:ln w="12700">
            <a:solidFill>
              <a:srgbClr val="2FA98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Mini build</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 department report from raw rows</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 4 is marked red for one reason: groupby silently discards rows whose group key is missing.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Group</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Split a table by one or more columns and summarise each group</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Aggregate</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Apply several functions at once and name the results</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Reshape</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Move between long and wide with unstack and pivot_table</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Compare</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Put a group summary back beside every original row</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73152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Why this is the session that changes how you think</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Almost every real question about data is a grouped question. Sales per region. Average delay per airline. Churn rate per plan. Once you see “per” in a question, you are looking at a groupby — and the answer is usually one line. Learning to hear that word is worth more than memorising the syntax.</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Split, Apply, Combine</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The mental model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three steps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groupby returns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size vs count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MENTAL MODEL</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Split → apply → combine</a:t>
            </a:r>
            <a:endParaRPr lang="en-US" sz="3200" dirty="0"/>
          </a:p>
        </p:txBody>
      </p:sp>
      <p:sp>
        <p:nvSpPr>
          <p:cNvPr id="5" name="Shape 3"/>
          <p:cNvSpPr/>
          <p:nvPr/>
        </p:nvSpPr>
        <p:spPr>
          <a:xfrm>
            <a:off x="548640" y="1572768"/>
            <a:ext cx="11064240" cy="3200400"/>
          </a:xfrm>
          <a:prstGeom prst="roundRect">
            <a:avLst>
              <a:gd name="adj" fmla="val 2571"/>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22960" y="1737360"/>
            <a:ext cx="6400800" cy="274320"/>
          </a:xfrm>
          <a:prstGeom prst="rect">
            <a:avLst/>
          </a:prstGeom>
          <a:noFill/>
          <a:ln/>
        </p:spPr>
        <p:txBody>
          <a:bodyPr wrap="square" lIns="0" tIns="0" rIns="0" bIns="0" rtlCol="0" anchor="ctr"/>
          <a:lstStyle/>
          <a:p>
            <a:pPr indent="0" marL="0">
              <a:buNone/>
            </a:pPr>
            <a:r>
              <a:rPr lang="en-US" sz="1300" b="1" dirty="0">
                <a:solidFill>
                  <a:srgbClr val="1F3A5F"/>
                </a:solidFill>
                <a:latin typeface="Courier New" pitchFamily="34" charset="0"/>
                <a:ea typeface="Courier New" pitchFamily="34" charset="-122"/>
                <a:cs typeface="Courier New" pitchFamily="34" charset="-120"/>
              </a:rPr>
              <a:t>df.groupby("city")["python"].mean()</a:t>
            </a:r>
            <a:endParaRPr lang="en-US" sz="1300" dirty="0"/>
          </a:p>
        </p:txBody>
      </p:sp>
      <p:sp>
        <p:nvSpPr>
          <p:cNvPr id="7" name="Text 5"/>
          <p:cNvSpPr txBox="1"/>
          <p:nvPr/>
        </p:nvSpPr>
        <p:spPr>
          <a:xfrm>
            <a:off x="868680" y="2103120"/>
            <a:ext cx="1828800" cy="237744"/>
          </a:xfrm>
          <a:prstGeom prst="rect">
            <a:avLst/>
          </a:prstGeom>
          <a:noFill/>
          <a:ln/>
        </p:spPr>
        <p:txBody>
          <a:bodyPr wrap="square" lIns="0" tIns="0" rIns="0" bIns="0" rtlCol="0" anchor="ctr"/>
          <a:lstStyle/>
          <a:p>
            <a:pPr indent="0" marL="0">
              <a:buNone/>
            </a:pPr>
            <a:r>
              <a:rPr lang="en-US" sz="1100" b="1" dirty="0">
                <a:solidFill>
                  <a:srgbClr val="3E7CB1"/>
                </a:solidFill>
                <a:latin typeface="Calibri" pitchFamily="34" charset="0"/>
                <a:ea typeface="Calibri" pitchFamily="34" charset="-122"/>
                <a:cs typeface="Calibri" pitchFamily="34" charset="-120"/>
              </a:rPr>
              <a:t>1.  SPLIT</a:t>
            </a:r>
            <a:endParaRPr lang="en-US" sz="1100" dirty="0"/>
          </a:p>
        </p:txBody>
      </p:sp>
      <p:sp>
        <p:nvSpPr>
          <p:cNvPr id="8" name="Shape 6"/>
          <p:cNvSpPr/>
          <p:nvPr/>
        </p:nvSpPr>
        <p:spPr>
          <a:xfrm>
            <a:off x="868680" y="2331720"/>
            <a:ext cx="457200" cy="237744"/>
          </a:xfrm>
          <a:prstGeom prst="rect">
            <a:avLst/>
          </a:prstGeom>
          <a:solidFill>
            <a:srgbClr val="E6EAF1"/>
          </a:solidFill>
          <a:ln w="12700">
            <a:solidFill>
              <a:srgbClr val="333333"/>
            </a:solidFill>
            <a:prstDash val="solid"/>
          </a:ln>
        </p:spPr>
      </p:sp>
      <p:sp>
        <p:nvSpPr>
          <p:cNvPr id="9" name="Shape 7"/>
          <p:cNvSpPr/>
          <p:nvPr/>
        </p:nvSpPr>
        <p:spPr>
          <a:xfrm>
            <a:off x="1325880" y="2331720"/>
            <a:ext cx="850392" cy="237744"/>
          </a:xfrm>
          <a:prstGeom prst="rect">
            <a:avLst/>
          </a:prstGeom>
          <a:solidFill>
            <a:srgbClr val="3E7CB1"/>
          </a:solidFill>
          <a:ln w="12700">
            <a:solidFill>
              <a:srgbClr val="333333"/>
            </a:solidFill>
            <a:prstDash val="solid"/>
          </a:ln>
        </p:spPr>
      </p:sp>
      <p:sp>
        <p:nvSpPr>
          <p:cNvPr id="10" name="Text 8"/>
          <p:cNvSpPr txBox="1"/>
          <p:nvPr/>
        </p:nvSpPr>
        <p:spPr>
          <a:xfrm>
            <a:off x="1325880" y="2331720"/>
            <a:ext cx="8503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city</a:t>
            </a:r>
            <a:endParaRPr lang="en-US" sz="900" dirty="0"/>
          </a:p>
        </p:txBody>
      </p:sp>
      <p:sp>
        <p:nvSpPr>
          <p:cNvPr id="11" name="Shape 9"/>
          <p:cNvSpPr/>
          <p:nvPr/>
        </p:nvSpPr>
        <p:spPr>
          <a:xfrm>
            <a:off x="2194560" y="2331720"/>
            <a:ext cx="850392" cy="237744"/>
          </a:xfrm>
          <a:prstGeom prst="rect">
            <a:avLst/>
          </a:prstGeom>
          <a:solidFill>
            <a:srgbClr val="3E7CB1"/>
          </a:solidFill>
          <a:ln w="12700">
            <a:solidFill>
              <a:srgbClr val="333333"/>
            </a:solidFill>
            <a:prstDash val="solid"/>
          </a:ln>
        </p:spPr>
      </p:sp>
      <p:sp>
        <p:nvSpPr>
          <p:cNvPr id="12" name="Text 10"/>
          <p:cNvSpPr txBox="1"/>
          <p:nvPr/>
        </p:nvSpPr>
        <p:spPr>
          <a:xfrm>
            <a:off x="2194560" y="2331720"/>
            <a:ext cx="8503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py</a:t>
            </a:r>
            <a:endParaRPr lang="en-US" sz="900" dirty="0"/>
          </a:p>
        </p:txBody>
      </p:sp>
      <p:sp>
        <p:nvSpPr>
          <p:cNvPr id="13" name="Shape 11"/>
          <p:cNvSpPr/>
          <p:nvPr/>
        </p:nvSpPr>
        <p:spPr>
          <a:xfrm>
            <a:off x="868680" y="2587752"/>
            <a:ext cx="457200" cy="237744"/>
          </a:xfrm>
          <a:prstGeom prst="rect">
            <a:avLst/>
          </a:prstGeom>
          <a:solidFill>
            <a:srgbClr val="E6EAF1"/>
          </a:solidFill>
          <a:ln w="12700">
            <a:solidFill>
              <a:srgbClr val="333333"/>
            </a:solidFill>
            <a:prstDash val="solid"/>
          </a:ln>
        </p:spPr>
      </p:sp>
      <p:sp>
        <p:nvSpPr>
          <p:cNvPr id="14" name="Text 12"/>
          <p:cNvSpPr txBox="1"/>
          <p:nvPr/>
        </p:nvSpPr>
        <p:spPr>
          <a:xfrm>
            <a:off x="868680" y="2587752"/>
            <a:ext cx="457200" cy="237744"/>
          </a:xfrm>
          <a:prstGeom prst="rect">
            <a:avLst/>
          </a:prstGeom>
          <a:noFill/>
          <a:ln/>
        </p:spPr>
        <p:txBody>
          <a:bodyPr wrap="square" lIns="0" tIns="0" rIns="0" bIns="0" rtlCol="0" anchor="ctr"/>
          <a:lstStyle/>
          <a:p>
            <a:pPr algn="ctr" indent="0" marL="0">
              <a:buNone/>
            </a:pPr>
            <a:r>
              <a:rPr lang="en-US" sz="850" dirty="0">
                <a:solidFill>
                  <a:srgbClr val="6B7789"/>
                </a:solidFill>
                <a:latin typeface="Courier New" pitchFamily="34" charset="0"/>
                <a:ea typeface="Courier New" pitchFamily="34" charset="-122"/>
                <a:cs typeface="Courier New" pitchFamily="34" charset="-120"/>
              </a:rPr>
              <a:t>0</a:t>
            </a:r>
            <a:endParaRPr lang="en-US" sz="850" dirty="0"/>
          </a:p>
        </p:txBody>
      </p:sp>
      <p:sp>
        <p:nvSpPr>
          <p:cNvPr id="15" name="Shape 13"/>
          <p:cNvSpPr/>
          <p:nvPr/>
        </p:nvSpPr>
        <p:spPr>
          <a:xfrm>
            <a:off x="1325880" y="2587752"/>
            <a:ext cx="850392" cy="237744"/>
          </a:xfrm>
          <a:prstGeom prst="rect">
            <a:avLst/>
          </a:prstGeom>
          <a:solidFill>
            <a:srgbClr val="E7F0F8"/>
          </a:solidFill>
          <a:ln w="6350">
            <a:solidFill>
              <a:srgbClr val="E1E6EE"/>
            </a:solidFill>
            <a:prstDash val="solid"/>
          </a:ln>
        </p:spPr>
      </p:sp>
      <p:sp>
        <p:nvSpPr>
          <p:cNvPr id="16" name="Text 14"/>
          <p:cNvSpPr txBox="1"/>
          <p:nvPr/>
        </p:nvSpPr>
        <p:spPr>
          <a:xfrm>
            <a:off x="1325880" y="2587752"/>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Pune</a:t>
            </a:r>
            <a:endParaRPr lang="en-US" sz="900" dirty="0"/>
          </a:p>
        </p:txBody>
      </p:sp>
      <p:sp>
        <p:nvSpPr>
          <p:cNvPr id="17" name="Shape 15"/>
          <p:cNvSpPr/>
          <p:nvPr/>
        </p:nvSpPr>
        <p:spPr>
          <a:xfrm>
            <a:off x="2194560" y="2587752"/>
            <a:ext cx="850392" cy="237744"/>
          </a:xfrm>
          <a:prstGeom prst="rect">
            <a:avLst/>
          </a:prstGeom>
          <a:solidFill>
            <a:srgbClr val="E7F0F8"/>
          </a:solidFill>
          <a:ln w="6350">
            <a:solidFill>
              <a:srgbClr val="E1E6EE"/>
            </a:solidFill>
            <a:prstDash val="solid"/>
          </a:ln>
        </p:spPr>
      </p:sp>
      <p:sp>
        <p:nvSpPr>
          <p:cNvPr id="18" name="Text 16"/>
          <p:cNvSpPr txBox="1"/>
          <p:nvPr/>
        </p:nvSpPr>
        <p:spPr>
          <a:xfrm>
            <a:off x="2194560" y="2587752"/>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88</a:t>
            </a:r>
            <a:endParaRPr lang="en-US" sz="900" dirty="0"/>
          </a:p>
        </p:txBody>
      </p:sp>
      <p:sp>
        <p:nvSpPr>
          <p:cNvPr id="19" name="Shape 17"/>
          <p:cNvSpPr/>
          <p:nvPr/>
        </p:nvSpPr>
        <p:spPr>
          <a:xfrm>
            <a:off x="868680" y="2843784"/>
            <a:ext cx="457200" cy="237744"/>
          </a:xfrm>
          <a:prstGeom prst="rect">
            <a:avLst/>
          </a:prstGeom>
          <a:solidFill>
            <a:srgbClr val="E6EAF1"/>
          </a:solidFill>
          <a:ln w="12700">
            <a:solidFill>
              <a:srgbClr val="333333"/>
            </a:solidFill>
            <a:prstDash val="solid"/>
          </a:ln>
        </p:spPr>
      </p:sp>
      <p:sp>
        <p:nvSpPr>
          <p:cNvPr id="20" name="Text 18"/>
          <p:cNvSpPr txBox="1"/>
          <p:nvPr/>
        </p:nvSpPr>
        <p:spPr>
          <a:xfrm>
            <a:off x="868680" y="2843784"/>
            <a:ext cx="457200" cy="237744"/>
          </a:xfrm>
          <a:prstGeom prst="rect">
            <a:avLst/>
          </a:prstGeom>
          <a:noFill/>
          <a:ln/>
        </p:spPr>
        <p:txBody>
          <a:bodyPr wrap="square" lIns="0" tIns="0" rIns="0" bIns="0" rtlCol="0" anchor="ctr"/>
          <a:lstStyle/>
          <a:p>
            <a:pPr algn="ctr" indent="0" marL="0">
              <a:buNone/>
            </a:pPr>
            <a:r>
              <a:rPr lang="en-US" sz="850" dirty="0">
                <a:solidFill>
                  <a:srgbClr val="6B7789"/>
                </a:solidFill>
                <a:latin typeface="Courier New" pitchFamily="34" charset="0"/>
                <a:ea typeface="Courier New" pitchFamily="34" charset="-122"/>
                <a:cs typeface="Courier New" pitchFamily="34" charset="-120"/>
              </a:rPr>
              <a:t>3</a:t>
            </a:r>
            <a:endParaRPr lang="en-US" sz="850" dirty="0"/>
          </a:p>
        </p:txBody>
      </p:sp>
      <p:sp>
        <p:nvSpPr>
          <p:cNvPr id="21" name="Shape 19"/>
          <p:cNvSpPr/>
          <p:nvPr/>
        </p:nvSpPr>
        <p:spPr>
          <a:xfrm>
            <a:off x="1325880" y="2843784"/>
            <a:ext cx="850392" cy="237744"/>
          </a:xfrm>
          <a:prstGeom prst="rect">
            <a:avLst/>
          </a:prstGeom>
          <a:solidFill>
            <a:srgbClr val="E7F0F8"/>
          </a:solidFill>
          <a:ln w="6350">
            <a:solidFill>
              <a:srgbClr val="E1E6EE"/>
            </a:solidFill>
            <a:prstDash val="solid"/>
          </a:ln>
        </p:spPr>
      </p:sp>
      <p:sp>
        <p:nvSpPr>
          <p:cNvPr id="22" name="Text 20"/>
          <p:cNvSpPr txBox="1"/>
          <p:nvPr/>
        </p:nvSpPr>
        <p:spPr>
          <a:xfrm>
            <a:off x="1325880" y="2843784"/>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Pune</a:t>
            </a:r>
            <a:endParaRPr lang="en-US" sz="900" dirty="0"/>
          </a:p>
        </p:txBody>
      </p:sp>
      <p:sp>
        <p:nvSpPr>
          <p:cNvPr id="23" name="Shape 21"/>
          <p:cNvSpPr/>
          <p:nvPr/>
        </p:nvSpPr>
        <p:spPr>
          <a:xfrm>
            <a:off x="2194560" y="2843784"/>
            <a:ext cx="850392" cy="237744"/>
          </a:xfrm>
          <a:prstGeom prst="rect">
            <a:avLst/>
          </a:prstGeom>
          <a:solidFill>
            <a:srgbClr val="E7F0F8"/>
          </a:solidFill>
          <a:ln w="6350">
            <a:solidFill>
              <a:srgbClr val="E1E6EE"/>
            </a:solidFill>
            <a:prstDash val="solid"/>
          </a:ln>
        </p:spPr>
      </p:sp>
      <p:sp>
        <p:nvSpPr>
          <p:cNvPr id="24" name="Text 22"/>
          <p:cNvSpPr txBox="1"/>
          <p:nvPr/>
        </p:nvSpPr>
        <p:spPr>
          <a:xfrm>
            <a:off x="2194560" y="2843784"/>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67</a:t>
            </a:r>
            <a:endParaRPr lang="en-US" sz="900" dirty="0"/>
          </a:p>
        </p:txBody>
      </p:sp>
      <p:sp>
        <p:nvSpPr>
          <p:cNvPr id="25" name="Shape 23"/>
          <p:cNvSpPr/>
          <p:nvPr/>
        </p:nvSpPr>
        <p:spPr>
          <a:xfrm>
            <a:off x="868680" y="3154680"/>
            <a:ext cx="457200" cy="237744"/>
          </a:xfrm>
          <a:prstGeom prst="rect">
            <a:avLst/>
          </a:prstGeom>
          <a:solidFill>
            <a:srgbClr val="E6EAF1"/>
          </a:solidFill>
          <a:ln w="12700">
            <a:solidFill>
              <a:srgbClr val="333333"/>
            </a:solidFill>
            <a:prstDash val="solid"/>
          </a:ln>
        </p:spPr>
      </p:sp>
      <p:sp>
        <p:nvSpPr>
          <p:cNvPr id="26" name="Shape 24"/>
          <p:cNvSpPr/>
          <p:nvPr/>
        </p:nvSpPr>
        <p:spPr>
          <a:xfrm>
            <a:off x="1325880" y="3154680"/>
            <a:ext cx="850392" cy="237744"/>
          </a:xfrm>
          <a:prstGeom prst="rect">
            <a:avLst/>
          </a:prstGeom>
          <a:solidFill>
            <a:srgbClr val="FFC145"/>
          </a:solidFill>
          <a:ln w="12700">
            <a:solidFill>
              <a:srgbClr val="333333"/>
            </a:solidFill>
            <a:prstDash val="solid"/>
          </a:ln>
        </p:spPr>
      </p:sp>
      <p:sp>
        <p:nvSpPr>
          <p:cNvPr id="27" name="Text 25"/>
          <p:cNvSpPr txBox="1"/>
          <p:nvPr/>
        </p:nvSpPr>
        <p:spPr>
          <a:xfrm>
            <a:off x="1325880" y="3154680"/>
            <a:ext cx="8503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city</a:t>
            </a:r>
            <a:endParaRPr lang="en-US" sz="900" dirty="0"/>
          </a:p>
        </p:txBody>
      </p:sp>
      <p:sp>
        <p:nvSpPr>
          <p:cNvPr id="28" name="Shape 26"/>
          <p:cNvSpPr/>
          <p:nvPr/>
        </p:nvSpPr>
        <p:spPr>
          <a:xfrm>
            <a:off x="2194560" y="3154680"/>
            <a:ext cx="850392" cy="237744"/>
          </a:xfrm>
          <a:prstGeom prst="rect">
            <a:avLst/>
          </a:prstGeom>
          <a:solidFill>
            <a:srgbClr val="FFC145"/>
          </a:solidFill>
          <a:ln w="12700">
            <a:solidFill>
              <a:srgbClr val="333333"/>
            </a:solidFill>
            <a:prstDash val="solid"/>
          </a:ln>
        </p:spPr>
      </p:sp>
      <p:sp>
        <p:nvSpPr>
          <p:cNvPr id="29" name="Text 27"/>
          <p:cNvSpPr txBox="1"/>
          <p:nvPr/>
        </p:nvSpPr>
        <p:spPr>
          <a:xfrm>
            <a:off x="2194560" y="3154680"/>
            <a:ext cx="8503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py</a:t>
            </a:r>
            <a:endParaRPr lang="en-US" sz="900" dirty="0"/>
          </a:p>
        </p:txBody>
      </p:sp>
      <p:sp>
        <p:nvSpPr>
          <p:cNvPr id="30" name="Shape 28"/>
          <p:cNvSpPr/>
          <p:nvPr/>
        </p:nvSpPr>
        <p:spPr>
          <a:xfrm>
            <a:off x="868680" y="3410712"/>
            <a:ext cx="457200" cy="237744"/>
          </a:xfrm>
          <a:prstGeom prst="rect">
            <a:avLst/>
          </a:prstGeom>
          <a:solidFill>
            <a:srgbClr val="E6EAF1"/>
          </a:solidFill>
          <a:ln w="12700">
            <a:solidFill>
              <a:srgbClr val="333333"/>
            </a:solidFill>
            <a:prstDash val="solid"/>
          </a:ln>
        </p:spPr>
      </p:sp>
      <p:sp>
        <p:nvSpPr>
          <p:cNvPr id="31" name="Text 29"/>
          <p:cNvSpPr txBox="1"/>
          <p:nvPr/>
        </p:nvSpPr>
        <p:spPr>
          <a:xfrm>
            <a:off x="868680" y="3410712"/>
            <a:ext cx="457200" cy="237744"/>
          </a:xfrm>
          <a:prstGeom prst="rect">
            <a:avLst/>
          </a:prstGeom>
          <a:noFill/>
          <a:ln/>
        </p:spPr>
        <p:txBody>
          <a:bodyPr wrap="square" lIns="0" tIns="0" rIns="0" bIns="0" rtlCol="0" anchor="ctr"/>
          <a:lstStyle/>
          <a:p>
            <a:pPr algn="ctr" indent="0" marL="0">
              <a:buNone/>
            </a:pPr>
            <a:r>
              <a:rPr lang="en-US" sz="850" dirty="0">
                <a:solidFill>
                  <a:srgbClr val="6B7789"/>
                </a:solidFill>
                <a:latin typeface="Courier New" pitchFamily="34" charset="0"/>
                <a:ea typeface="Courier New" pitchFamily="34" charset="-122"/>
                <a:cs typeface="Courier New" pitchFamily="34" charset="-120"/>
              </a:rPr>
              <a:t>1</a:t>
            </a:r>
            <a:endParaRPr lang="en-US" sz="850" dirty="0"/>
          </a:p>
        </p:txBody>
      </p:sp>
      <p:sp>
        <p:nvSpPr>
          <p:cNvPr id="32" name="Shape 30"/>
          <p:cNvSpPr/>
          <p:nvPr/>
        </p:nvSpPr>
        <p:spPr>
          <a:xfrm>
            <a:off x="1325880" y="3410712"/>
            <a:ext cx="850392" cy="237744"/>
          </a:xfrm>
          <a:prstGeom prst="rect">
            <a:avLst/>
          </a:prstGeom>
          <a:solidFill>
            <a:srgbClr val="FFF1CF"/>
          </a:solidFill>
          <a:ln w="6350">
            <a:solidFill>
              <a:srgbClr val="E1E6EE"/>
            </a:solidFill>
            <a:prstDash val="solid"/>
          </a:ln>
        </p:spPr>
      </p:sp>
      <p:sp>
        <p:nvSpPr>
          <p:cNvPr id="33" name="Text 31"/>
          <p:cNvSpPr txBox="1"/>
          <p:nvPr/>
        </p:nvSpPr>
        <p:spPr>
          <a:xfrm>
            <a:off x="1325880" y="3410712"/>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Mumbai</a:t>
            </a:r>
            <a:endParaRPr lang="en-US" sz="900" dirty="0"/>
          </a:p>
        </p:txBody>
      </p:sp>
      <p:sp>
        <p:nvSpPr>
          <p:cNvPr id="34" name="Shape 32"/>
          <p:cNvSpPr/>
          <p:nvPr/>
        </p:nvSpPr>
        <p:spPr>
          <a:xfrm>
            <a:off x="2194560" y="3410712"/>
            <a:ext cx="850392" cy="237744"/>
          </a:xfrm>
          <a:prstGeom prst="rect">
            <a:avLst/>
          </a:prstGeom>
          <a:solidFill>
            <a:srgbClr val="FFF1CF"/>
          </a:solidFill>
          <a:ln w="6350">
            <a:solidFill>
              <a:srgbClr val="E1E6EE"/>
            </a:solidFill>
            <a:prstDash val="solid"/>
          </a:ln>
        </p:spPr>
      </p:sp>
      <p:sp>
        <p:nvSpPr>
          <p:cNvPr id="35" name="Text 33"/>
          <p:cNvSpPr txBox="1"/>
          <p:nvPr/>
        </p:nvSpPr>
        <p:spPr>
          <a:xfrm>
            <a:off x="2194560" y="3410712"/>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91</a:t>
            </a:r>
            <a:endParaRPr lang="en-US" sz="900" dirty="0"/>
          </a:p>
        </p:txBody>
      </p:sp>
      <p:sp>
        <p:nvSpPr>
          <p:cNvPr id="36" name="Shape 34"/>
          <p:cNvSpPr/>
          <p:nvPr/>
        </p:nvSpPr>
        <p:spPr>
          <a:xfrm>
            <a:off x="868680" y="3666744"/>
            <a:ext cx="457200" cy="237744"/>
          </a:xfrm>
          <a:prstGeom prst="rect">
            <a:avLst/>
          </a:prstGeom>
          <a:solidFill>
            <a:srgbClr val="E6EAF1"/>
          </a:solidFill>
          <a:ln w="12700">
            <a:solidFill>
              <a:srgbClr val="333333"/>
            </a:solidFill>
            <a:prstDash val="solid"/>
          </a:ln>
        </p:spPr>
      </p:sp>
      <p:sp>
        <p:nvSpPr>
          <p:cNvPr id="37" name="Text 35"/>
          <p:cNvSpPr txBox="1"/>
          <p:nvPr/>
        </p:nvSpPr>
        <p:spPr>
          <a:xfrm>
            <a:off x="868680" y="3666744"/>
            <a:ext cx="457200" cy="237744"/>
          </a:xfrm>
          <a:prstGeom prst="rect">
            <a:avLst/>
          </a:prstGeom>
          <a:noFill/>
          <a:ln/>
        </p:spPr>
        <p:txBody>
          <a:bodyPr wrap="square" lIns="0" tIns="0" rIns="0" bIns="0" rtlCol="0" anchor="ctr"/>
          <a:lstStyle/>
          <a:p>
            <a:pPr algn="ctr" indent="0" marL="0">
              <a:buNone/>
            </a:pPr>
            <a:r>
              <a:rPr lang="en-US" sz="850" dirty="0">
                <a:solidFill>
                  <a:srgbClr val="6B7789"/>
                </a:solidFill>
                <a:latin typeface="Courier New" pitchFamily="34" charset="0"/>
                <a:ea typeface="Courier New" pitchFamily="34" charset="-122"/>
                <a:cs typeface="Courier New" pitchFamily="34" charset="-120"/>
              </a:rPr>
              <a:t>5</a:t>
            </a:r>
            <a:endParaRPr lang="en-US" sz="850" dirty="0"/>
          </a:p>
        </p:txBody>
      </p:sp>
      <p:sp>
        <p:nvSpPr>
          <p:cNvPr id="38" name="Shape 36"/>
          <p:cNvSpPr/>
          <p:nvPr/>
        </p:nvSpPr>
        <p:spPr>
          <a:xfrm>
            <a:off x="1325880" y="3666744"/>
            <a:ext cx="850392" cy="237744"/>
          </a:xfrm>
          <a:prstGeom prst="rect">
            <a:avLst/>
          </a:prstGeom>
          <a:solidFill>
            <a:srgbClr val="FFF1CF"/>
          </a:solidFill>
          <a:ln w="6350">
            <a:solidFill>
              <a:srgbClr val="E1E6EE"/>
            </a:solidFill>
            <a:prstDash val="solid"/>
          </a:ln>
        </p:spPr>
      </p:sp>
      <p:sp>
        <p:nvSpPr>
          <p:cNvPr id="39" name="Text 37"/>
          <p:cNvSpPr txBox="1"/>
          <p:nvPr/>
        </p:nvSpPr>
        <p:spPr>
          <a:xfrm>
            <a:off x="1325880" y="3666744"/>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Mumbai</a:t>
            </a:r>
            <a:endParaRPr lang="en-US" sz="900" dirty="0"/>
          </a:p>
        </p:txBody>
      </p:sp>
      <p:sp>
        <p:nvSpPr>
          <p:cNvPr id="40" name="Shape 38"/>
          <p:cNvSpPr/>
          <p:nvPr/>
        </p:nvSpPr>
        <p:spPr>
          <a:xfrm>
            <a:off x="2194560" y="3666744"/>
            <a:ext cx="850392" cy="237744"/>
          </a:xfrm>
          <a:prstGeom prst="rect">
            <a:avLst/>
          </a:prstGeom>
          <a:solidFill>
            <a:srgbClr val="FFF1CF"/>
          </a:solidFill>
          <a:ln w="6350">
            <a:solidFill>
              <a:srgbClr val="E1E6EE"/>
            </a:solidFill>
            <a:prstDash val="solid"/>
          </a:ln>
        </p:spPr>
      </p:sp>
      <p:sp>
        <p:nvSpPr>
          <p:cNvPr id="41" name="Text 39"/>
          <p:cNvSpPr txBox="1"/>
          <p:nvPr/>
        </p:nvSpPr>
        <p:spPr>
          <a:xfrm>
            <a:off x="2194560" y="3666744"/>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58</a:t>
            </a:r>
            <a:endParaRPr lang="en-US" sz="900" dirty="0"/>
          </a:p>
        </p:txBody>
      </p:sp>
      <p:sp>
        <p:nvSpPr>
          <p:cNvPr id="42" name="Shape 40"/>
          <p:cNvSpPr/>
          <p:nvPr/>
        </p:nvSpPr>
        <p:spPr>
          <a:xfrm>
            <a:off x="868680" y="3977640"/>
            <a:ext cx="457200" cy="237744"/>
          </a:xfrm>
          <a:prstGeom prst="rect">
            <a:avLst/>
          </a:prstGeom>
          <a:solidFill>
            <a:srgbClr val="E6EAF1"/>
          </a:solidFill>
          <a:ln w="12700">
            <a:solidFill>
              <a:srgbClr val="333333"/>
            </a:solidFill>
            <a:prstDash val="solid"/>
          </a:ln>
        </p:spPr>
      </p:sp>
      <p:sp>
        <p:nvSpPr>
          <p:cNvPr id="43" name="Shape 41"/>
          <p:cNvSpPr/>
          <p:nvPr/>
        </p:nvSpPr>
        <p:spPr>
          <a:xfrm>
            <a:off x="1325880" y="3977640"/>
            <a:ext cx="850392" cy="237744"/>
          </a:xfrm>
          <a:prstGeom prst="rect">
            <a:avLst/>
          </a:prstGeom>
          <a:solidFill>
            <a:srgbClr val="2FA98C"/>
          </a:solidFill>
          <a:ln w="12700">
            <a:solidFill>
              <a:srgbClr val="333333"/>
            </a:solidFill>
            <a:prstDash val="solid"/>
          </a:ln>
        </p:spPr>
      </p:sp>
      <p:sp>
        <p:nvSpPr>
          <p:cNvPr id="44" name="Text 42"/>
          <p:cNvSpPr txBox="1"/>
          <p:nvPr/>
        </p:nvSpPr>
        <p:spPr>
          <a:xfrm>
            <a:off x="1325880" y="3977640"/>
            <a:ext cx="8503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city</a:t>
            </a:r>
            <a:endParaRPr lang="en-US" sz="900" dirty="0"/>
          </a:p>
        </p:txBody>
      </p:sp>
      <p:sp>
        <p:nvSpPr>
          <p:cNvPr id="45" name="Shape 43"/>
          <p:cNvSpPr/>
          <p:nvPr/>
        </p:nvSpPr>
        <p:spPr>
          <a:xfrm>
            <a:off x="2194560" y="3977640"/>
            <a:ext cx="850392" cy="237744"/>
          </a:xfrm>
          <a:prstGeom prst="rect">
            <a:avLst/>
          </a:prstGeom>
          <a:solidFill>
            <a:srgbClr val="2FA98C"/>
          </a:solidFill>
          <a:ln w="12700">
            <a:solidFill>
              <a:srgbClr val="333333"/>
            </a:solidFill>
            <a:prstDash val="solid"/>
          </a:ln>
        </p:spPr>
      </p:sp>
      <p:sp>
        <p:nvSpPr>
          <p:cNvPr id="46" name="Text 44"/>
          <p:cNvSpPr txBox="1"/>
          <p:nvPr/>
        </p:nvSpPr>
        <p:spPr>
          <a:xfrm>
            <a:off x="2194560" y="3977640"/>
            <a:ext cx="850392"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py</a:t>
            </a:r>
            <a:endParaRPr lang="en-US" sz="900" dirty="0"/>
          </a:p>
        </p:txBody>
      </p:sp>
      <p:sp>
        <p:nvSpPr>
          <p:cNvPr id="47" name="Shape 45"/>
          <p:cNvSpPr/>
          <p:nvPr/>
        </p:nvSpPr>
        <p:spPr>
          <a:xfrm>
            <a:off x="868680" y="4233672"/>
            <a:ext cx="457200" cy="237744"/>
          </a:xfrm>
          <a:prstGeom prst="rect">
            <a:avLst/>
          </a:prstGeom>
          <a:solidFill>
            <a:srgbClr val="E6EAF1"/>
          </a:solidFill>
          <a:ln w="12700">
            <a:solidFill>
              <a:srgbClr val="333333"/>
            </a:solidFill>
            <a:prstDash val="solid"/>
          </a:ln>
        </p:spPr>
      </p:sp>
      <p:sp>
        <p:nvSpPr>
          <p:cNvPr id="48" name="Text 46"/>
          <p:cNvSpPr txBox="1"/>
          <p:nvPr/>
        </p:nvSpPr>
        <p:spPr>
          <a:xfrm>
            <a:off x="868680" y="4233672"/>
            <a:ext cx="457200" cy="237744"/>
          </a:xfrm>
          <a:prstGeom prst="rect">
            <a:avLst/>
          </a:prstGeom>
          <a:noFill/>
          <a:ln/>
        </p:spPr>
        <p:txBody>
          <a:bodyPr wrap="square" lIns="0" tIns="0" rIns="0" bIns="0" rtlCol="0" anchor="ctr"/>
          <a:lstStyle/>
          <a:p>
            <a:pPr algn="ctr" indent="0" marL="0">
              <a:buNone/>
            </a:pPr>
            <a:r>
              <a:rPr lang="en-US" sz="850" dirty="0">
                <a:solidFill>
                  <a:srgbClr val="6B7789"/>
                </a:solidFill>
                <a:latin typeface="Courier New" pitchFamily="34" charset="0"/>
                <a:ea typeface="Courier New" pitchFamily="34" charset="-122"/>
                <a:cs typeface="Courier New" pitchFamily="34" charset="-120"/>
              </a:rPr>
              <a:t>2</a:t>
            </a:r>
            <a:endParaRPr lang="en-US" sz="850" dirty="0"/>
          </a:p>
        </p:txBody>
      </p:sp>
      <p:sp>
        <p:nvSpPr>
          <p:cNvPr id="49" name="Shape 47"/>
          <p:cNvSpPr/>
          <p:nvPr/>
        </p:nvSpPr>
        <p:spPr>
          <a:xfrm>
            <a:off x="1325880" y="4233672"/>
            <a:ext cx="850392" cy="237744"/>
          </a:xfrm>
          <a:prstGeom prst="rect">
            <a:avLst/>
          </a:prstGeom>
          <a:solidFill>
            <a:srgbClr val="E9F6F2"/>
          </a:solidFill>
          <a:ln w="6350">
            <a:solidFill>
              <a:srgbClr val="E1E6EE"/>
            </a:solidFill>
            <a:prstDash val="solid"/>
          </a:ln>
        </p:spPr>
      </p:sp>
      <p:sp>
        <p:nvSpPr>
          <p:cNvPr id="50" name="Text 48"/>
          <p:cNvSpPr txBox="1"/>
          <p:nvPr/>
        </p:nvSpPr>
        <p:spPr>
          <a:xfrm>
            <a:off x="1325880" y="4233672"/>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Delhi</a:t>
            </a:r>
            <a:endParaRPr lang="en-US" sz="900" dirty="0"/>
          </a:p>
        </p:txBody>
      </p:sp>
      <p:sp>
        <p:nvSpPr>
          <p:cNvPr id="51" name="Shape 49"/>
          <p:cNvSpPr/>
          <p:nvPr/>
        </p:nvSpPr>
        <p:spPr>
          <a:xfrm>
            <a:off x="2194560" y="4233672"/>
            <a:ext cx="850392" cy="237744"/>
          </a:xfrm>
          <a:prstGeom prst="rect">
            <a:avLst/>
          </a:prstGeom>
          <a:solidFill>
            <a:srgbClr val="E9F6F2"/>
          </a:solidFill>
          <a:ln w="6350">
            <a:solidFill>
              <a:srgbClr val="E1E6EE"/>
            </a:solidFill>
            <a:prstDash val="solid"/>
          </a:ln>
        </p:spPr>
      </p:sp>
      <p:sp>
        <p:nvSpPr>
          <p:cNvPr id="52" name="Text 50"/>
          <p:cNvSpPr txBox="1"/>
          <p:nvPr/>
        </p:nvSpPr>
        <p:spPr>
          <a:xfrm>
            <a:off x="2194560" y="4233672"/>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45</a:t>
            </a:r>
            <a:endParaRPr lang="en-US" sz="900" dirty="0"/>
          </a:p>
        </p:txBody>
      </p:sp>
      <p:sp>
        <p:nvSpPr>
          <p:cNvPr id="53" name="Shape 51"/>
          <p:cNvSpPr/>
          <p:nvPr/>
        </p:nvSpPr>
        <p:spPr>
          <a:xfrm>
            <a:off x="868680" y="4489704"/>
            <a:ext cx="457200" cy="237744"/>
          </a:xfrm>
          <a:prstGeom prst="rect">
            <a:avLst/>
          </a:prstGeom>
          <a:solidFill>
            <a:srgbClr val="E6EAF1"/>
          </a:solidFill>
          <a:ln w="12700">
            <a:solidFill>
              <a:srgbClr val="333333"/>
            </a:solidFill>
            <a:prstDash val="solid"/>
          </a:ln>
        </p:spPr>
      </p:sp>
      <p:sp>
        <p:nvSpPr>
          <p:cNvPr id="54" name="Text 52"/>
          <p:cNvSpPr txBox="1"/>
          <p:nvPr/>
        </p:nvSpPr>
        <p:spPr>
          <a:xfrm>
            <a:off x="868680" y="4489704"/>
            <a:ext cx="457200" cy="237744"/>
          </a:xfrm>
          <a:prstGeom prst="rect">
            <a:avLst/>
          </a:prstGeom>
          <a:noFill/>
          <a:ln/>
        </p:spPr>
        <p:txBody>
          <a:bodyPr wrap="square" lIns="0" tIns="0" rIns="0" bIns="0" rtlCol="0" anchor="ctr"/>
          <a:lstStyle/>
          <a:p>
            <a:pPr algn="ctr" indent="0" marL="0">
              <a:buNone/>
            </a:pPr>
            <a:r>
              <a:rPr lang="en-US" sz="850" dirty="0">
                <a:solidFill>
                  <a:srgbClr val="6B7789"/>
                </a:solidFill>
                <a:latin typeface="Courier New" pitchFamily="34" charset="0"/>
                <a:ea typeface="Courier New" pitchFamily="34" charset="-122"/>
                <a:cs typeface="Courier New" pitchFamily="34" charset="-120"/>
              </a:rPr>
              <a:t>4</a:t>
            </a:r>
            <a:endParaRPr lang="en-US" sz="850" dirty="0"/>
          </a:p>
        </p:txBody>
      </p:sp>
      <p:sp>
        <p:nvSpPr>
          <p:cNvPr id="55" name="Shape 53"/>
          <p:cNvSpPr/>
          <p:nvPr/>
        </p:nvSpPr>
        <p:spPr>
          <a:xfrm>
            <a:off x="1325880" y="4489704"/>
            <a:ext cx="850392" cy="237744"/>
          </a:xfrm>
          <a:prstGeom prst="rect">
            <a:avLst/>
          </a:prstGeom>
          <a:solidFill>
            <a:srgbClr val="E9F6F2"/>
          </a:solidFill>
          <a:ln w="6350">
            <a:solidFill>
              <a:srgbClr val="E1E6EE"/>
            </a:solidFill>
            <a:prstDash val="solid"/>
          </a:ln>
        </p:spPr>
      </p:sp>
      <p:sp>
        <p:nvSpPr>
          <p:cNvPr id="56" name="Text 54"/>
          <p:cNvSpPr txBox="1"/>
          <p:nvPr/>
        </p:nvSpPr>
        <p:spPr>
          <a:xfrm>
            <a:off x="1325880" y="4489704"/>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Delhi</a:t>
            </a:r>
            <a:endParaRPr lang="en-US" sz="900" dirty="0"/>
          </a:p>
        </p:txBody>
      </p:sp>
      <p:sp>
        <p:nvSpPr>
          <p:cNvPr id="57" name="Shape 55"/>
          <p:cNvSpPr/>
          <p:nvPr/>
        </p:nvSpPr>
        <p:spPr>
          <a:xfrm>
            <a:off x="2194560" y="4489704"/>
            <a:ext cx="850392" cy="237744"/>
          </a:xfrm>
          <a:prstGeom prst="rect">
            <a:avLst/>
          </a:prstGeom>
          <a:solidFill>
            <a:srgbClr val="E9F6F2"/>
          </a:solidFill>
          <a:ln w="6350">
            <a:solidFill>
              <a:srgbClr val="E1E6EE"/>
            </a:solidFill>
            <a:prstDash val="solid"/>
          </a:ln>
        </p:spPr>
      </p:sp>
      <p:sp>
        <p:nvSpPr>
          <p:cNvPr id="58" name="Text 56"/>
          <p:cNvSpPr txBox="1"/>
          <p:nvPr/>
        </p:nvSpPr>
        <p:spPr>
          <a:xfrm>
            <a:off x="2194560" y="4489704"/>
            <a:ext cx="850392" cy="237744"/>
          </a:xfrm>
          <a:prstGeom prst="rect">
            <a:avLst/>
          </a:prstGeom>
          <a:noFill/>
          <a:ln/>
        </p:spPr>
        <p:txBody>
          <a:bodyPr wrap="square" lIns="0" tIns="0" rIns="0" bIns="0" rtlCol="0" anchor="ctr"/>
          <a:lstStyle/>
          <a:p>
            <a:pPr algn="ctr" indent="0" marL="0">
              <a:buNone/>
            </a:pPr>
            <a:r>
              <a:rPr lang="en-US" sz="900" dirty="0">
                <a:solidFill>
                  <a:srgbClr val="1F3A5F"/>
                </a:solidFill>
                <a:latin typeface="Courier New" pitchFamily="34" charset="0"/>
                <a:ea typeface="Courier New" pitchFamily="34" charset="-122"/>
                <a:cs typeface="Courier New" pitchFamily="34" charset="-120"/>
              </a:rPr>
              <a:t>72</a:t>
            </a:r>
            <a:endParaRPr lang="en-US" sz="900" dirty="0"/>
          </a:p>
        </p:txBody>
      </p:sp>
      <p:sp>
        <p:nvSpPr>
          <p:cNvPr id="59" name="Shape 57"/>
          <p:cNvSpPr/>
          <p:nvPr/>
        </p:nvSpPr>
        <p:spPr>
          <a:xfrm>
            <a:off x="3017520" y="3429000"/>
            <a:ext cx="731520" cy="0"/>
          </a:xfrm>
          <a:prstGeom prst="line">
            <a:avLst/>
          </a:prstGeom>
          <a:noFill/>
          <a:ln w="25400">
            <a:solidFill>
              <a:srgbClr val="8FA0B6"/>
            </a:solidFill>
            <a:prstDash val="solid"/>
            <a:tailEnd type="triangle"/>
          </a:ln>
        </p:spPr>
      </p:sp>
      <p:sp>
        <p:nvSpPr>
          <p:cNvPr id="60" name="Text 58"/>
          <p:cNvSpPr txBox="1"/>
          <p:nvPr/>
        </p:nvSpPr>
        <p:spPr>
          <a:xfrm>
            <a:off x="3931920" y="2103120"/>
            <a:ext cx="1828800" cy="237744"/>
          </a:xfrm>
          <a:prstGeom prst="rect">
            <a:avLst/>
          </a:prstGeom>
          <a:noFill/>
          <a:ln/>
        </p:spPr>
        <p:txBody>
          <a:bodyPr wrap="square" lIns="0" tIns="0" rIns="0" bIns="0" rtlCol="0" anchor="ctr"/>
          <a:lstStyle/>
          <a:p>
            <a:pPr indent="0" marL="0">
              <a:buNone/>
            </a:pPr>
            <a:r>
              <a:rPr lang="en-US" sz="1100" b="1" dirty="0">
                <a:solidFill>
                  <a:srgbClr val="3E7CB1"/>
                </a:solidFill>
                <a:latin typeface="Calibri" pitchFamily="34" charset="0"/>
                <a:ea typeface="Calibri" pitchFamily="34" charset="-122"/>
                <a:cs typeface="Calibri" pitchFamily="34" charset="-120"/>
              </a:rPr>
              <a:t>2.  APPLY</a:t>
            </a:r>
            <a:endParaRPr lang="en-US" sz="1100" dirty="0"/>
          </a:p>
        </p:txBody>
      </p:sp>
      <p:sp>
        <p:nvSpPr>
          <p:cNvPr id="61" name="Text 59"/>
          <p:cNvSpPr txBox="1"/>
          <p:nvPr/>
        </p:nvSpPr>
        <p:spPr>
          <a:xfrm>
            <a:off x="3931920" y="2423160"/>
            <a:ext cx="1737360" cy="502920"/>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mean of each</a:t>
            </a:r>
            <a:endParaRPr lang="en-US" sz="1050" dirty="0"/>
          </a:p>
          <a:p>
            <a:pPr indent="0" marL="0">
              <a:buNone/>
            </a:pPr>
            <a:r>
              <a:rPr lang="en-US" sz="1050" dirty="0">
                <a:solidFill>
                  <a:srgbClr val="6B7789"/>
                </a:solidFill>
                <a:latin typeface="Calibri" pitchFamily="34" charset="0"/>
                <a:ea typeface="Calibri" pitchFamily="34" charset="-122"/>
                <a:cs typeface="Calibri" pitchFamily="34" charset="-120"/>
              </a:rPr>
              <a:t>little table</a:t>
            </a:r>
            <a:endParaRPr lang="en-US" sz="1050" dirty="0"/>
          </a:p>
        </p:txBody>
      </p:sp>
      <p:sp>
        <p:nvSpPr>
          <p:cNvPr id="62" name="Shape 60"/>
          <p:cNvSpPr/>
          <p:nvPr/>
        </p:nvSpPr>
        <p:spPr>
          <a:xfrm>
            <a:off x="3931920" y="3017520"/>
            <a:ext cx="1828800" cy="1005840"/>
          </a:xfrm>
          <a:prstGeom prst="roundRect">
            <a:avLst>
              <a:gd name="adj" fmla="val 6364"/>
            </a:avLst>
          </a:prstGeom>
          <a:solidFill>
            <a:srgbClr val="1B2B45"/>
          </a:solidFill>
          <a:ln w="12700">
            <a:solidFill>
              <a:srgbClr val="1B2B45"/>
            </a:solidFill>
            <a:prstDash val="solid"/>
          </a:ln>
        </p:spPr>
      </p:sp>
      <p:sp>
        <p:nvSpPr>
          <p:cNvPr id="63" name="Text 61"/>
          <p:cNvSpPr txBox="1"/>
          <p:nvPr/>
        </p:nvSpPr>
        <p:spPr>
          <a:xfrm>
            <a:off x="4096512" y="3127248"/>
            <a:ext cx="1499616" cy="7863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Pune   77.5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Mumbai 74.5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Delhi  58.5</a:t>
            </a:r>
            <a:endParaRPr lang="en-US" sz="1000" dirty="0"/>
          </a:p>
        </p:txBody>
      </p:sp>
      <p:sp>
        <p:nvSpPr>
          <p:cNvPr id="64" name="Shape 62"/>
          <p:cNvSpPr/>
          <p:nvPr/>
        </p:nvSpPr>
        <p:spPr>
          <a:xfrm>
            <a:off x="6035040" y="3429000"/>
            <a:ext cx="731520" cy="0"/>
          </a:xfrm>
          <a:prstGeom prst="line">
            <a:avLst/>
          </a:prstGeom>
          <a:noFill/>
          <a:ln w="25400">
            <a:solidFill>
              <a:srgbClr val="8FA0B6"/>
            </a:solidFill>
            <a:prstDash val="solid"/>
            <a:tailEnd type="triangle"/>
          </a:ln>
        </p:spPr>
      </p:sp>
      <p:sp>
        <p:nvSpPr>
          <p:cNvPr id="65" name="Text 63"/>
          <p:cNvSpPr txBox="1"/>
          <p:nvPr/>
        </p:nvSpPr>
        <p:spPr>
          <a:xfrm>
            <a:off x="6949440" y="2103120"/>
            <a:ext cx="2011680" cy="237744"/>
          </a:xfrm>
          <a:prstGeom prst="rect">
            <a:avLst/>
          </a:prstGeom>
          <a:noFill/>
          <a:ln/>
        </p:spPr>
        <p:txBody>
          <a:bodyPr wrap="square" lIns="0" tIns="0" rIns="0" bIns="0" rtlCol="0" anchor="ctr"/>
          <a:lstStyle/>
          <a:p>
            <a:pPr indent="0" marL="0">
              <a:buNone/>
            </a:pPr>
            <a:r>
              <a:rPr lang="en-US" sz="1100" b="1" dirty="0">
                <a:solidFill>
                  <a:srgbClr val="3E7CB1"/>
                </a:solidFill>
                <a:latin typeface="Calibri" pitchFamily="34" charset="0"/>
                <a:ea typeface="Calibri" pitchFamily="34" charset="-122"/>
                <a:cs typeface="Calibri" pitchFamily="34" charset="-120"/>
              </a:rPr>
              <a:t>3.  COMBINE</a:t>
            </a:r>
            <a:endParaRPr lang="en-US" sz="1100" dirty="0"/>
          </a:p>
        </p:txBody>
      </p:sp>
      <p:sp>
        <p:nvSpPr>
          <p:cNvPr id="66" name="Text 64"/>
          <p:cNvSpPr txBox="1"/>
          <p:nvPr/>
        </p:nvSpPr>
        <p:spPr>
          <a:xfrm>
            <a:off x="6949440" y="2395728"/>
            <a:ext cx="4206240" cy="457200"/>
          </a:xfrm>
          <a:prstGeom prst="rect">
            <a:avLst/>
          </a:prstGeom>
          <a:noFill/>
          <a:ln/>
        </p:spPr>
        <p:txBody>
          <a:bodyPr wrap="square" lIns="0" tIns="0" rIns="0" bIns="0" rtlCol="0" anchor="ctr"/>
          <a:lstStyle/>
          <a:p>
            <a:pPr indent="0" marL="0">
              <a:buNone/>
            </a:pPr>
            <a:r>
              <a:rPr lang="en-US" sz="1050" dirty="0">
                <a:solidFill>
                  <a:srgbClr val="6B7789"/>
                </a:solidFill>
                <a:latin typeface="Calibri" pitchFamily="34" charset="0"/>
                <a:ea typeface="Calibri" pitchFamily="34" charset="-122"/>
                <a:cs typeface="Calibri" pitchFamily="34" charset="-120"/>
              </a:rPr>
              <a:t>one row per group, the key becomes the index</a:t>
            </a:r>
            <a:endParaRPr lang="en-US" sz="1050" dirty="0"/>
          </a:p>
        </p:txBody>
      </p:sp>
      <p:sp>
        <p:nvSpPr>
          <p:cNvPr id="67" name="Shape 65"/>
          <p:cNvSpPr/>
          <p:nvPr/>
        </p:nvSpPr>
        <p:spPr>
          <a:xfrm>
            <a:off x="6949440" y="2926080"/>
            <a:ext cx="4206240" cy="1234440"/>
          </a:xfrm>
          <a:prstGeom prst="roundRect">
            <a:avLst>
              <a:gd name="adj" fmla="val 5185"/>
            </a:avLst>
          </a:prstGeom>
          <a:solidFill>
            <a:srgbClr val="1B2B45"/>
          </a:solidFill>
          <a:ln w="12700">
            <a:solidFill>
              <a:srgbClr val="1B2B45"/>
            </a:solidFill>
            <a:prstDash val="solid"/>
          </a:ln>
        </p:spPr>
      </p:sp>
      <p:sp>
        <p:nvSpPr>
          <p:cNvPr id="68" name="Text 66"/>
          <p:cNvSpPr txBox="1"/>
          <p:nvPr/>
        </p:nvSpPr>
        <p:spPr>
          <a:xfrm>
            <a:off x="7114032" y="3035808"/>
            <a:ext cx="3877056" cy="10149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city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Delhi     58.5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Mumbai    74.5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Pune      77.5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Name: python, dtype: float64</a:t>
            </a:r>
            <a:endParaRPr lang="en-US" sz="1000" dirty="0"/>
          </a:p>
        </p:txBody>
      </p:sp>
      <p:sp>
        <p:nvSpPr>
          <p:cNvPr id="69" name="Shape 67"/>
          <p:cNvSpPr/>
          <p:nvPr/>
        </p:nvSpPr>
        <p:spPr>
          <a:xfrm>
            <a:off x="548640" y="4892040"/>
            <a:ext cx="11064240" cy="960120"/>
          </a:xfrm>
          <a:prstGeom prst="roundRect">
            <a:avLst>
              <a:gd name="adj" fmla="val 8571"/>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0" name="Text 68"/>
          <p:cNvSpPr txBox="1"/>
          <p:nvPr/>
        </p:nvSpPr>
        <p:spPr>
          <a:xfrm>
            <a:off x="868680" y="5074920"/>
            <a:ext cx="10424160" cy="640080"/>
          </a:xfrm>
          <a:prstGeom prst="rect">
            <a:avLst/>
          </a:prstGeom>
          <a:noFill/>
          <a:ln/>
        </p:spPr>
        <p:txBody>
          <a:bodyPr wrap="square" lIns="0" tIns="0" rIns="0" bIns="0" rtlCol="0" anchor="ctr"/>
          <a:lstStyle/>
          <a:p>
            <a:pPr indent="0" marL="0">
              <a:lnSpc>
                <a:spcPct val="115000"/>
              </a:lnSpc>
              <a:buNone/>
            </a:pPr>
            <a:r>
              <a:rPr lang="en-US" sz="1250" b="1" dirty="0">
                <a:solidFill>
                  <a:srgbClr val="1C6F5C"/>
                </a:solidFill>
                <a:latin typeface="Calibri" pitchFamily="34" charset="0"/>
                <a:ea typeface="Calibri" pitchFamily="34" charset="-122"/>
                <a:cs typeface="Calibri" pitchFamily="34" charset="-120"/>
              </a:rPr>
              <a:t>You never see step 1.  </a:t>
            </a:r>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pandas splits, applies and recombines in one operation — you only write the grouping column and the function. Note the result is sorted by GROUP KEY, not by value, and the key has become the index.</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FIRST DETAILS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groupby gives you — and size vs count</a:t>
            </a:r>
            <a:endParaRPr lang="en-US" sz="3200" dirty="0"/>
          </a:p>
        </p:txBody>
      </p:sp>
      <p:sp>
        <p:nvSpPr>
          <p:cNvPr id="5" name="Shape 3"/>
          <p:cNvSpPr/>
          <p:nvPr/>
        </p:nvSpPr>
        <p:spPr>
          <a:xfrm>
            <a:off x="548640" y="1572768"/>
            <a:ext cx="5486400" cy="2377440"/>
          </a:xfrm>
          <a:prstGeom prst="roundRect">
            <a:avLst>
              <a:gd name="adj" fmla="val 34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The intermediate object is lazy</a:t>
            </a:r>
            <a:endParaRPr lang="en-US" sz="1450" dirty="0"/>
          </a:p>
        </p:txBody>
      </p:sp>
      <p:sp>
        <p:nvSpPr>
          <p:cNvPr id="7" name="Shape 5"/>
          <p:cNvSpPr/>
          <p:nvPr/>
        </p:nvSpPr>
        <p:spPr>
          <a:xfrm>
            <a:off x="804672" y="2103120"/>
            <a:ext cx="4983480" cy="1234440"/>
          </a:xfrm>
          <a:prstGeom prst="roundRect">
            <a:avLst>
              <a:gd name="adj" fmla="val 5185"/>
            </a:avLst>
          </a:prstGeom>
          <a:solidFill>
            <a:srgbClr val="1B2B45"/>
          </a:solidFill>
          <a:ln w="12700">
            <a:solidFill>
              <a:srgbClr val="1B2B45"/>
            </a:solidFill>
            <a:prstDash val="solid"/>
          </a:ln>
        </p:spPr>
      </p:sp>
      <p:sp>
        <p:nvSpPr>
          <p:cNvPr id="8" name="Text 6"/>
          <p:cNvSpPr txBox="1"/>
          <p:nvPr/>
        </p:nvSpPr>
        <p:spPr>
          <a:xfrm>
            <a:off x="969264" y="2212848"/>
            <a:ext cx="4654296" cy="10149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gb = df.groupby("city")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gb</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&lt;DataFrameGroupBy object&gt;</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gb.ngroups   -&gt;  3</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gb.groups    -&gt;  {"Delhi": [2, 4], ...}</a:t>
            </a:r>
            <a:endParaRPr lang="en-US" sz="1000" dirty="0"/>
          </a:p>
        </p:txBody>
      </p:sp>
      <p:sp>
        <p:nvSpPr>
          <p:cNvPr id="9" name="Text 7"/>
          <p:cNvSpPr txBox="1"/>
          <p:nvPr/>
        </p:nvSpPr>
        <p:spPr>
          <a:xfrm>
            <a:off x="804672" y="3429000"/>
            <a:ext cx="4983480" cy="457200"/>
          </a:xfrm>
          <a:prstGeom prst="rect">
            <a:avLst/>
          </a:prstGeom>
          <a:noFill/>
          <a:ln/>
        </p:spPr>
        <p:txBody>
          <a:bodyPr wrap="square" lIns="0" tIns="0" rIns="0" bIns="0" rtlCol="0" anchor="ctr"/>
          <a:lstStyle/>
          <a:p>
            <a:pPr indent="0" marL="0">
              <a:lnSpc>
                <a:spcPct val="112000"/>
              </a:lnSpc>
              <a:buNone/>
            </a:pPr>
            <a:r>
              <a:rPr lang="en-US" sz="1150" dirty="0">
                <a:solidFill>
                  <a:srgbClr val="2B3445"/>
                </a:solidFill>
                <a:latin typeface="Calibri" pitchFamily="34" charset="0"/>
                <a:ea typeface="Calibri" pitchFamily="34" charset="-122"/>
                <a:cs typeface="Calibri" pitchFamily="34" charset="-120"/>
              </a:rPr>
              <a:t>Nothing is computed until you ask for a statistic. Printing the groupby itself shows only an object.</a:t>
            </a:r>
            <a:endParaRPr lang="en-US" sz="1150" dirty="0"/>
          </a:p>
        </p:txBody>
      </p:sp>
      <p:sp>
        <p:nvSpPr>
          <p:cNvPr id="10" name="Shape 8"/>
          <p:cNvSpPr/>
          <p:nvPr/>
        </p:nvSpPr>
        <p:spPr>
          <a:xfrm>
            <a:off x="6309360" y="1572768"/>
            <a:ext cx="5303520" cy="2377440"/>
          </a:xfrm>
          <a:prstGeom prst="roundRect">
            <a:avLst>
              <a:gd name="adj" fmla="val 3462"/>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size() and count() are different</a:t>
            </a:r>
            <a:endParaRPr lang="en-US" sz="1450" dirty="0"/>
          </a:p>
        </p:txBody>
      </p:sp>
      <p:sp>
        <p:nvSpPr>
          <p:cNvPr id="12" name="Shape 10"/>
          <p:cNvSpPr/>
          <p:nvPr/>
        </p:nvSpPr>
        <p:spPr>
          <a:xfrm>
            <a:off x="6565392" y="2103120"/>
            <a:ext cx="4800600" cy="1417320"/>
          </a:xfrm>
          <a:prstGeom prst="roundRect">
            <a:avLst>
              <a:gd name="adj" fmla="val 4516"/>
            </a:avLst>
          </a:prstGeom>
          <a:solidFill>
            <a:srgbClr val="1B2B45"/>
          </a:solidFill>
          <a:ln w="12700">
            <a:solidFill>
              <a:srgbClr val="1B2B45"/>
            </a:solidFill>
            <a:prstDash val="solid"/>
          </a:ln>
        </p:spPr>
      </p:sp>
      <p:sp>
        <p:nvSpPr>
          <p:cNvPr id="13" name="Text 11"/>
          <p:cNvSpPr txBox="1"/>
          <p:nvPr/>
        </p:nvSpPr>
        <p:spPr>
          <a:xfrm>
            <a:off x="6729984" y="2212848"/>
            <a:ext cx="4471416" cy="11978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Amit's python mark is missing</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gb.size()            Delhi  2   ROWS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gb["python"].count() Delhi  1   VALUES</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size counts rows, including empty ones</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count counts non-missing values</a:t>
            </a:r>
            <a:endParaRPr lang="en-US" sz="950" dirty="0"/>
          </a:p>
        </p:txBody>
      </p:sp>
      <p:sp>
        <p:nvSpPr>
          <p:cNvPr id="14" name="Text 12"/>
          <p:cNvSpPr txBox="1"/>
          <p:nvPr/>
        </p:nvSpPr>
        <p:spPr>
          <a:xfrm>
            <a:off x="6565392" y="3611880"/>
            <a:ext cx="4800600" cy="274320"/>
          </a:xfrm>
          <a:prstGeom prst="rect">
            <a:avLst/>
          </a:prstGeom>
          <a:noFill/>
          <a:ln/>
        </p:spPr>
        <p:txBody>
          <a:bodyPr wrap="square" lIns="0" tIns="0" rIns="0" bIns="0" rtlCol="0" anchor="ctr"/>
          <a:lstStyle/>
          <a:p>
            <a:pPr indent="0" marL="0">
              <a:buNone/>
            </a:pPr>
            <a:r>
              <a:rPr lang="en-US" sz="1150" b="1" dirty="0">
                <a:solidFill>
                  <a:srgbClr val="6B4A0B"/>
                </a:solidFill>
                <a:latin typeface="Calibri" pitchFamily="34" charset="0"/>
                <a:ea typeface="Calibri" pitchFamily="34" charset="-122"/>
                <a:cs typeface="Calibri" pitchFamily="34" charset="-120"/>
              </a:rPr>
              <a:t>If the two disagree, you have missing data.</a:t>
            </a:r>
            <a:endParaRPr lang="en-US" sz="1150" dirty="0"/>
          </a:p>
        </p:txBody>
      </p:sp>
      <p:sp>
        <p:nvSpPr>
          <p:cNvPr id="15" name="Shape 13"/>
          <p:cNvSpPr/>
          <p:nvPr/>
        </p:nvSpPr>
        <p:spPr>
          <a:xfrm>
            <a:off x="548640" y="4114800"/>
            <a:ext cx="11064240" cy="1737360"/>
          </a:xfrm>
          <a:prstGeom prst="roundRect">
            <a:avLst>
              <a:gd name="adj" fmla="val 473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26110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Two ways to count, with different sorting</a:t>
            </a:r>
            <a:endParaRPr lang="en-US" sz="1450" dirty="0"/>
          </a:p>
        </p:txBody>
      </p:sp>
      <p:sp>
        <p:nvSpPr>
          <p:cNvPr id="17" name="Shape 15"/>
          <p:cNvSpPr/>
          <p:nvPr/>
        </p:nvSpPr>
        <p:spPr>
          <a:xfrm>
            <a:off x="868680" y="4572000"/>
            <a:ext cx="5212080" cy="868680"/>
          </a:xfrm>
          <a:prstGeom prst="roundRect">
            <a:avLst>
              <a:gd name="adj" fmla="val 7368"/>
            </a:avLst>
          </a:prstGeom>
          <a:solidFill>
            <a:srgbClr val="1B2B45"/>
          </a:solidFill>
          <a:ln w="12700">
            <a:solidFill>
              <a:srgbClr val="1B2B45"/>
            </a:solidFill>
            <a:prstDash val="solid"/>
          </a:ln>
        </p:spPr>
      </p:sp>
      <p:sp>
        <p:nvSpPr>
          <p:cNvPr id="18" name="Text 16"/>
          <p:cNvSpPr txBox="1"/>
          <p:nvPr/>
        </p:nvSpPr>
        <p:spPr>
          <a:xfrm>
            <a:off x="1033272" y="4681728"/>
            <a:ext cx="4882896" cy="64922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df["city"].value_counts()   sorted by COUNT</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df.groupby("city").size()   sorted by KEY</a:t>
            </a:r>
            <a:endParaRPr lang="en-US" sz="1050" dirty="0"/>
          </a:p>
        </p:txBody>
      </p:sp>
      <p:sp>
        <p:nvSpPr>
          <p:cNvPr id="19" name="Text 17"/>
          <p:cNvSpPr txBox="1"/>
          <p:nvPr/>
        </p:nvSpPr>
        <p:spPr>
          <a:xfrm>
            <a:off x="6400800" y="4553712"/>
            <a:ext cx="4983480" cy="109728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They give the same numbers in a different order. Use value_counts when you want to see the most common thing first; use groupby().size() when you are about to join the result to other grouped statistics and want a consistent order. Day 15's value_counts was a groupby all along.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Aggregating</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One function, or many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Several columns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agg with a list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agg with a dict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Named aggregation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agg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From one number to a whole summary table</a:t>
            </a:r>
            <a:endParaRPr lang="en-US" sz="3200" dirty="0"/>
          </a:p>
        </p:txBody>
      </p:sp>
      <p:sp>
        <p:nvSpPr>
          <p:cNvPr id="5" name="Shape 3"/>
          <p:cNvSpPr/>
          <p:nvPr/>
        </p:nvSpPr>
        <p:spPr>
          <a:xfrm>
            <a:off x="548640" y="1572768"/>
            <a:ext cx="5486400" cy="2286000"/>
          </a:xfrm>
          <a:prstGeom prst="roundRect">
            <a:avLst>
              <a:gd name="adj" fmla="val 36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Several columns at once</a:t>
            </a:r>
            <a:endParaRPr lang="en-US" sz="1400" dirty="0"/>
          </a:p>
        </p:txBody>
      </p:sp>
      <p:sp>
        <p:nvSpPr>
          <p:cNvPr id="7" name="Shape 5"/>
          <p:cNvSpPr/>
          <p:nvPr/>
        </p:nvSpPr>
        <p:spPr>
          <a:xfrm>
            <a:off x="804672" y="2084832"/>
            <a:ext cx="4983480" cy="868680"/>
          </a:xfrm>
          <a:prstGeom prst="roundRect">
            <a:avLst>
              <a:gd name="adj" fmla="val 7368"/>
            </a:avLst>
          </a:prstGeom>
          <a:solidFill>
            <a:srgbClr val="1B2B45"/>
          </a:solidFill>
          <a:ln w="12700">
            <a:solidFill>
              <a:srgbClr val="1B2B45"/>
            </a:solidFill>
            <a:prstDash val="solid"/>
          </a:ln>
        </p:spPr>
      </p:sp>
      <p:sp>
        <p:nvSpPr>
          <p:cNvPr id="8" name="Text 6"/>
          <p:cNvSpPr txBox="1"/>
          <p:nvPr/>
        </p:nvSpPr>
        <p:spPr>
          <a:xfrm>
            <a:off x="969264" y="2194560"/>
            <a:ext cx="4654296" cy="64922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df.groupby("city")[["python", "stats"]].mean()</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one row per city, one column per subject</a:t>
            </a:r>
            <a:endParaRPr lang="en-US" sz="950" dirty="0"/>
          </a:p>
        </p:txBody>
      </p:sp>
      <p:sp>
        <p:nvSpPr>
          <p:cNvPr id="9" name="Text 7"/>
          <p:cNvSpPr txBox="1"/>
          <p:nvPr/>
        </p:nvSpPr>
        <p:spPr>
          <a:xfrm>
            <a:off x="804672" y="3017520"/>
            <a:ext cx="4937760" cy="301752"/>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Several functions on one column</a:t>
            </a:r>
            <a:endParaRPr lang="en-US" sz="1400" dirty="0"/>
          </a:p>
        </p:txBody>
      </p:sp>
      <p:sp>
        <p:nvSpPr>
          <p:cNvPr id="10" name="Shape 8"/>
          <p:cNvSpPr/>
          <p:nvPr/>
        </p:nvSpPr>
        <p:spPr>
          <a:xfrm>
            <a:off x="804672" y="3364992"/>
            <a:ext cx="4983480" cy="457200"/>
          </a:xfrm>
          <a:prstGeom prst="roundRect">
            <a:avLst>
              <a:gd name="adj" fmla="val 14000"/>
            </a:avLst>
          </a:prstGeom>
          <a:solidFill>
            <a:srgbClr val="1B2B45"/>
          </a:solidFill>
          <a:ln w="12700">
            <a:solidFill>
              <a:srgbClr val="1B2B45"/>
            </a:solidFill>
            <a:prstDash val="solid"/>
          </a:ln>
        </p:spPr>
      </p:sp>
      <p:sp>
        <p:nvSpPr>
          <p:cNvPr id="11" name="Text 9"/>
          <p:cNvSpPr txBox="1"/>
          <p:nvPr/>
        </p:nvSpPr>
        <p:spPr>
          <a:xfrm>
            <a:off x="969264" y="3474720"/>
            <a:ext cx="4654296" cy="23774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df.groupby("city")["python"].agg(["mean", "max", "count"])</a:t>
            </a:r>
            <a:endParaRPr lang="en-US" sz="900" dirty="0"/>
          </a:p>
        </p:txBody>
      </p:sp>
      <p:sp>
        <p:nvSpPr>
          <p:cNvPr id="12" name="Shape 10"/>
          <p:cNvSpPr/>
          <p:nvPr/>
        </p:nvSpPr>
        <p:spPr>
          <a:xfrm>
            <a:off x="6309360" y="1572768"/>
            <a:ext cx="530352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A different function per column</a:t>
            </a:r>
            <a:endParaRPr lang="en-US" sz="1400" dirty="0"/>
          </a:p>
        </p:txBody>
      </p:sp>
      <p:sp>
        <p:nvSpPr>
          <p:cNvPr id="14" name="Shape 12"/>
          <p:cNvSpPr/>
          <p:nvPr/>
        </p:nvSpPr>
        <p:spPr>
          <a:xfrm>
            <a:off x="6565392" y="2084832"/>
            <a:ext cx="4800600" cy="868680"/>
          </a:xfrm>
          <a:prstGeom prst="roundRect">
            <a:avLst>
              <a:gd name="adj" fmla="val 7368"/>
            </a:avLst>
          </a:prstGeom>
          <a:solidFill>
            <a:srgbClr val="1B2B45"/>
          </a:solidFill>
          <a:ln w="12700">
            <a:solidFill>
              <a:srgbClr val="1B2B45"/>
            </a:solidFill>
            <a:prstDash val="solid"/>
          </a:ln>
        </p:spPr>
      </p:sp>
      <p:sp>
        <p:nvSpPr>
          <p:cNvPr id="15" name="Text 13"/>
          <p:cNvSpPr txBox="1"/>
          <p:nvPr/>
        </p:nvSpPr>
        <p:spPr>
          <a:xfrm>
            <a:off x="6729984" y="2194560"/>
            <a:ext cx="4471416" cy="64922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df.groupby("city").agg({</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"python": "mean",</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"stats":  "max"})</a:t>
            </a:r>
            <a:endParaRPr lang="en-US" sz="950" dirty="0"/>
          </a:p>
        </p:txBody>
      </p:sp>
      <p:sp>
        <p:nvSpPr>
          <p:cNvPr id="16" name="Text 14"/>
          <p:cNvSpPr txBox="1"/>
          <p:nvPr/>
        </p:nvSpPr>
        <p:spPr>
          <a:xfrm>
            <a:off x="6565392" y="3017520"/>
            <a:ext cx="4800600" cy="411480"/>
          </a:xfrm>
          <a:prstGeom prst="rect">
            <a:avLst/>
          </a:prstGeom>
          <a:noFill/>
          <a:ln/>
        </p:spPr>
        <p:txBody>
          <a:bodyPr wrap="square" lIns="0" tIns="0" rIns="0" bIns="0" rtlCol="0" anchor="ctr"/>
          <a:lstStyle/>
          <a:p>
            <a:pPr indent="0" marL="0">
              <a:buNone/>
            </a:pPr>
            <a:r>
              <a:rPr lang="en-US" sz="1150" dirty="0">
                <a:solidFill>
                  <a:srgbClr val="1C6F5C"/>
                </a:solidFill>
                <a:latin typeface="Calibri" pitchFamily="34" charset="0"/>
                <a:ea typeface="Calibri" pitchFamily="34" charset="-122"/>
                <a:cs typeface="Calibri" pitchFamily="34" charset="-120"/>
              </a:rPr>
              <a:t>Day 5's dictionary, telling pandas what to do with each column.</a:t>
            </a:r>
            <a:endParaRPr lang="en-US" sz="1150" dirty="0"/>
          </a:p>
        </p:txBody>
      </p:sp>
      <p:sp>
        <p:nvSpPr>
          <p:cNvPr id="17" name="Text 15"/>
          <p:cNvSpPr txBox="1"/>
          <p:nvPr/>
        </p:nvSpPr>
        <p:spPr>
          <a:xfrm>
            <a:off x="6565392" y="3401568"/>
            <a:ext cx="4800600" cy="411480"/>
          </a:xfrm>
          <a:prstGeom prst="rect">
            <a:avLst/>
          </a:prstGeom>
          <a:noFill/>
          <a:ln/>
        </p:spPr>
        <p:txBody>
          <a:bodyPr wrap="square" lIns="0" tIns="0" rIns="0" bIns="0" rtlCol="0" anchor="ctr"/>
          <a:lstStyle/>
          <a:p>
            <a:pPr indent="0" marL="0">
              <a:buNone/>
            </a:pPr>
            <a:r>
              <a:rPr lang="en-US" sz="1100" i="1" dirty="0">
                <a:solidFill>
                  <a:srgbClr val="6B7789"/>
                </a:solidFill>
                <a:latin typeface="Calibri" pitchFamily="34" charset="0"/>
                <a:ea typeface="Calibri" pitchFamily="34" charset="-122"/>
                <a:cs typeface="Calibri" pitchFamily="34" charset="-120"/>
              </a:rPr>
              <a:t>Any of mean, median, sum, min, max, std, count, size, first, last, nunique.</a:t>
            </a:r>
            <a:endParaRPr lang="en-US" sz="1100" dirty="0"/>
          </a:p>
        </p:txBody>
      </p:sp>
      <p:sp>
        <p:nvSpPr>
          <p:cNvPr id="18" name="Shape 16"/>
          <p:cNvSpPr/>
          <p:nvPr/>
        </p:nvSpPr>
        <p:spPr>
          <a:xfrm>
            <a:off x="548640" y="4023360"/>
            <a:ext cx="11064240" cy="1828800"/>
          </a:xfrm>
          <a:prstGeom prst="roundRect">
            <a:avLst>
              <a:gd name="adj" fmla="val 4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9" name="Text 17"/>
          <p:cNvSpPr txBox="1"/>
          <p:nvPr/>
        </p:nvSpPr>
        <p:spPr>
          <a:xfrm>
            <a:off x="868680" y="416966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Named aggregation — the version worth defaulting to</a:t>
            </a:r>
            <a:endParaRPr lang="en-US" sz="1450" dirty="0"/>
          </a:p>
        </p:txBody>
      </p:sp>
      <p:sp>
        <p:nvSpPr>
          <p:cNvPr id="20" name="Shape 18"/>
          <p:cNvSpPr/>
          <p:nvPr/>
        </p:nvSpPr>
        <p:spPr>
          <a:xfrm>
            <a:off x="868680" y="4480560"/>
            <a:ext cx="5760720" cy="1143000"/>
          </a:xfrm>
          <a:prstGeom prst="roundRect">
            <a:avLst>
              <a:gd name="adj" fmla="val 5600"/>
            </a:avLst>
          </a:prstGeom>
          <a:solidFill>
            <a:srgbClr val="1B2B45"/>
          </a:solidFill>
          <a:ln w="12700">
            <a:solidFill>
              <a:srgbClr val="1B2B45"/>
            </a:solidFill>
            <a:prstDash val="solid"/>
          </a:ln>
        </p:spPr>
      </p:sp>
      <p:sp>
        <p:nvSpPr>
          <p:cNvPr id="21" name="Text 19"/>
          <p:cNvSpPr txBox="1"/>
          <p:nvPr/>
        </p:nvSpPr>
        <p:spPr>
          <a:xfrm>
            <a:off x="1033272" y="4590288"/>
            <a:ext cx="5431536" cy="9235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df.groupby("city").agg(</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avg_python = ("python", "mean"),</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best_stats = ("stats",  "max"),</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n          = ("name",   "size"),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a:t>
            </a:r>
            <a:endParaRPr lang="en-US" sz="1000" dirty="0"/>
          </a:p>
        </p:txBody>
      </p:sp>
      <p:sp>
        <p:nvSpPr>
          <p:cNvPr id="22" name="Text 20"/>
          <p:cNvSpPr txBox="1"/>
          <p:nvPr/>
        </p:nvSpPr>
        <p:spPr>
          <a:xfrm>
            <a:off x="6949440" y="4462272"/>
            <a:ext cx="4434840" cy="118872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Each result gets the name YOU choose, so the output columns read like a report instead of mean, max, size. It also avoids the awkward two-level column headings that agg(["mean","max"]) produces on several columns at once.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as_index</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group key becomes the index — unless you say otherwise</a:t>
            </a:r>
            <a:endParaRPr lang="en-US" sz="3200" dirty="0"/>
          </a:p>
        </p:txBody>
      </p:sp>
      <p:sp>
        <p:nvSpPr>
          <p:cNvPr id="5" name="Shape 3"/>
          <p:cNvSpPr/>
          <p:nvPr/>
        </p:nvSpPr>
        <p:spPr>
          <a:xfrm>
            <a:off x="548640" y="1572768"/>
            <a:ext cx="5486400" cy="2468880"/>
          </a:xfrm>
          <a:prstGeom prst="roundRect">
            <a:avLst>
              <a:gd name="adj" fmla="val 333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Default: the key is the INDEX</a:t>
            </a:r>
            <a:endParaRPr lang="en-US" sz="1450" dirty="0"/>
          </a:p>
        </p:txBody>
      </p:sp>
      <p:sp>
        <p:nvSpPr>
          <p:cNvPr id="7" name="Shape 5"/>
          <p:cNvSpPr/>
          <p:nvPr/>
        </p:nvSpPr>
        <p:spPr>
          <a:xfrm>
            <a:off x="804672" y="2103120"/>
            <a:ext cx="4983480" cy="1417320"/>
          </a:xfrm>
          <a:prstGeom prst="roundRect">
            <a:avLst>
              <a:gd name="adj" fmla="val 4516"/>
            </a:avLst>
          </a:prstGeom>
          <a:solidFill>
            <a:srgbClr val="1B2B45"/>
          </a:solidFill>
          <a:ln w="12700">
            <a:solidFill>
              <a:srgbClr val="1B2B45"/>
            </a:solidFill>
            <a:prstDash val="solid"/>
          </a:ln>
        </p:spPr>
      </p:sp>
      <p:sp>
        <p:nvSpPr>
          <p:cNvPr id="8" name="Text 6"/>
          <p:cNvSpPr txBox="1"/>
          <p:nvPr/>
        </p:nvSpPr>
        <p:spPr>
          <a:xfrm>
            <a:off x="969264" y="2212848"/>
            <a:ext cx="4654296" cy="11978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df.groupby("city")["python"].mean()</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city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Delhi     58.5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Mumbai    74.5</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Pune      77.5</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"city" is the index, not a column</a:t>
            </a:r>
            <a:endParaRPr lang="en-US" sz="1000" dirty="0"/>
          </a:p>
        </p:txBody>
      </p:sp>
      <p:sp>
        <p:nvSpPr>
          <p:cNvPr id="9" name="Text 7"/>
          <p:cNvSpPr txBox="1"/>
          <p:nvPr/>
        </p:nvSpPr>
        <p:spPr>
          <a:xfrm>
            <a:off x="804672" y="3611880"/>
            <a:ext cx="4983480" cy="274320"/>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Good for  .loc["Pune"]  lookups and for plotting.</a:t>
            </a:r>
            <a:endParaRPr lang="en-US" sz="1150" dirty="0"/>
          </a:p>
        </p:txBody>
      </p:sp>
      <p:sp>
        <p:nvSpPr>
          <p:cNvPr id="10" name="Shape 8"/>
          <p:cNvSpPr/>
          <p:nvPr/>
        </p:nvSpPr>
        <p:spPr>
          <a:xfrm>
            <a:off x="6309360" y="1572768"/>
            <a:ext cx="5303520" cy="2468880"/>
          </a:xfrm>
          <a:prstGeom prst="roundRect">
            <a:avLst>
              <a:gd name="adj" fmla="val 333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Two ways to get a flat table</a:t>
            </a:r>
            <a:endParaRPr lang="en-US" sz="1450" dirty="0"/>
          </a:p>
        </p:txBody>
      </p:sp>
      <p:sp>
        <p:nvSpPr>
          <p:cNvPr id="12" name="Shape 10"/>
          <p:cNvSpPr/>
          <p:nvPr/>
        </p:nvSpPr>
        <p:spPr>
          <a:xfrm>
            <a:off x="6565392" y="2103120"/>
            <a:ext cx="4800600" cy="1417320"/>
          </a:xfrm>
          <a:prstGeom prst="roundRect">
            <a:avLst>
              <a:gd name="adj" fmla="val 4516"/>
            </a:avLst>
          </a:prstGeom>
          <a:solidFill>
            <a:srgbClr val="1B2B45"/>
          </a:solidFill>
          <a:ln w="12700">
            <a:solidFill>
              <a:srgbClr val="1B2B45"/>
            </a:solidFill>
            <a:prstDash val="solid"/>
          </a:ln>
        </p:spPr>
      </p:sp>
      <p:sp>
        <p:nvSpPr>
          <p:cNvPr id="13" name="Text 11"/>
          <p:cNvSpPr txBox="1"/>
          <p:nvPr/>
        </p:nvSpPr>
        <p:spPr>
          <a:xfrm>
            <a:off x="6729984" y="2212848"/>
            <a:ext cx="4471416" cy="11978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 as_index=False)\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["python"].mean()</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or, equivalently:</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df.groupby("city")["python"]\</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.mean().reset_index()</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columns: ['city', 'python']</a:t>
            </a:r>
            <a:endParaRPr lang="en-US" sz="950" dirty="0"/>
          </a:p>
        </p:txBody>
      </p:sp>
      <p:sp>
        <p:nvSpPr>
          <p:cNvPr id="14" name="Text 12"/>
          <p:cNvSpPr txBox="1"/>
          <p:nvPr/>
        </p:nvSpPr>
        <p:spPr>
          <a:xfrm>
            <a:off x="6565392" y="3611880"/>
            <a:ext cx="4800600" cy="365760"/>
          </a:xfrm>
          <a:prstGeom prst="rect">
            <a:avLst/>
          </a:prstGeom>
          <a:noFill/>
          <a:ln/>
        </p:spPr>
        <p:txBody>
          <a:bodyPr wrap="square" lIns="0" tIns="0" rIns="0" bIns="0" rtlCol="0" anchor="ctr"/>
          <a:lstStyle/>
          <a:p>
            <a:pPr indent="0" marL="0">
              <a:buNone/>
            </a:pPr>
            <a:r>
              <a:rPr lang="en-US" sz="1150" dirty="0">
                <a:solidFill>
                  <a:srgbClr val="1C6F5C"/>
                </a:solidFill>
                <a:latin typeface="Calibri" pitchFamily="34" charset="0"/>
                <a:ea typeface="Calibri" pitchFamily="34" charset="-122"/>
                <a:cs typeface="Calibri" pitchFamily="34" charset="-120"/>
              </a:rPr>
              <a:t>Use one of these when the result is going into another merge, or straight to a CSV.</a:t>
            </a:r>
            <a:endParaRPr lang="en-US" sz="1150" dirty="0"/>
          </a:p>
        </p:txBody>
      </p:sp>
      <p:sp>
        <p:nvSpPr>
          <p:cNvPr id="15" name="Shape 13"/>
          <p:cNvSpPr/>
          <p:nvPr/>
        </p:nvSpPr>
        <p:spPr>
          <a:xfrm>
            <a:off x="548640" y="4206240"/>
            <a:ext cx="11064240" cy="1645920"/>
          </a:xfrm>
          <a:prstGeom prst="roundRect">
            <a:avLst>
              <a:gd name="adj" fmla="val 5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22960" y="4352544"/>
            <a:ext cx="6400800" cy="27432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Sorting: by key, not by value</a:t>
            </a:r>
            <a:endParaRPr lang="en-US" sz="1450" dirty="0"/>
          </a:p>
        </p:txBody>
      </p:sp>
      <p:sp>
        <p:nvSpPr>
          <p:cNvPr id="17" name="Shape 15"/>
          <p:cNvSpPr/>
          <p:nvPr/>
        </p:nvSpPr>
        <p:spPr>
          <a:xfrm>
            <a:off x="822960" y="4663440"/>
            <a:ext cx="5212080" cy="960120"/>
          </a:xfrm>
          <a:prstGeom prst="roundRect">
            <a:avLst>
              <a:gd name="adj" fmla="val 6667"/>
            </a:avLst>
          </a:prstGeom>
          <a:solidFill>
            <a:srgbClr val="1B2B45"/>
          </a:solidFill>
          <a:ln w="12700">
            <a:solidFill>
              <a:srgbClr val="1B2B45"/>
            </a:solidFill>
            <a:prstDash val="solid"/>
          </a:ln>
        </p:spPr>
      </p:sp>
      <p:sp>
        <p:nvSpPr>
          <p:cNvPr id="18" name="Text 16"/>
          <p:cNvSpPr txBox="1"/>
          <p:nvPr/>
        </p:nvSpPr>
        <p:spPr>
          <a:xfrm>
            <a:off x="987552" y="4773168"/>
            <a:ext cx="4882896" cy="7406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alphabetical by default: Delhi, Mumbai, Pune</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df.groupby("city")["python"].mean()\</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.sort_values(ascending=False)     # by VALUE</a:t>
            </a:r>
            <a:endParaRPr lang="en-US" sz="1000" dirty="0"/>
          </a:p>
        </p:txBody>
      </p:sp>
      <p:sp>
        <p:nvSpPr>
          <p:cNvPr id="19" name="Text 17"/>
          <p:cNvSpPr txBox="1"/>
          <p:nvPr/>
        </p:nvSpPr>
        <p:spPr>
          <a:xfrm>
            <a:off x="6400800" y="4645152"/>
            <a:ext cx="4983480" cy="105156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groupby sorts by the group key so that repeated runs give a stable order. When you want the biggest group first, sort the RESULT — it is just a Series, so every Day 16 tool still applies. Passing sort=False keeps the order the keys first appeared in, and is slightly faster on large data.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Two Grouping Columns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MultiIndex, unstack, pivot_table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Grouping by two</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unstack</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pivot_table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MULTIINDEX</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Grouping by two columns</a:t>
            </a:r>
            <a:endParaRPr lang="en-US" sz="3200" dirty="0"/>
          </a:p>
        </p:txBody>
      </p:sp>
      <p:sp>
        <p:nvSpPr>
          <p:cNvPr id="5" name="Shape 3"/>
          <p:cNvSpPr/>
          <p:nvPr/>
        </p:nvSpPr>
        <p:spPr>
          <a:xfrm>
            <a:off x="548640" y="1572768"/>
            <a:ext cx="5760720" cy="2743200"/>
          </a:xfrm>
          <a:prstGeom prst="roundRect">
            <a:avLst>
              <a:gd name="adj" fmla="val 3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00" b="1" dirty="0">
                <a:solidFill>
                  <a:srgbClr val="1F3A5F"/>
                </a:solidFill>
                <a:latin typeface="Calibri" pitchFamily="34" charset="0"/>
                <a:ea typeface="Calibri" pitchFamily="34" charset="-122"/>
                <a:cs typeface="Calibri" pitchFamily="34" charset="-120"/>
              </a:rPr>
              <a:t>Long form — a row per combination</a:t>
            </a:r>
            <a:endParaRPr lang="en-US" sz="1400" dirty="0"/>
          </a:p>
        </p:txBody>
      </p:sp>
      <p:sp>
        <p:nvSpPr>
          <p:cNvPr id="7" name="Shape 5"/>
          <p:cNvSpPr/>
          <p:nvPr/>
        </p:nvSpPr>
        <p:spPr>
          <a:xfrm>
            <a:off x="804672" y="2084832"/>
            <a:ext cx="5257800" cy="2011680"/>
          </a:xfrm>
          <a:prstGeom prst="roundRect">
            <a:avLst>
              <a:gd name="adj" fmla="val 3182"/>
            </a:avLst>
          </a:prstGeom>
          <a:solidFill>
            <a:srgbClr val="1B2B45"/>
          </a:solidFill>
          <a:ln w="12700">
            <a:solidFill>
              <a:srgbClr val="1B2B45"/>
            </a:solidFill>
            <a:prstDash val="solid"/>
          </a:ln>
        </p:spPr>
      </p:sp>
      <p:sp>
        <p:nvSpPr>
          <p:cNvPr id="8" name="Text 6"/>
          <p:cNvSpPr txBox="1"/>
          <p:nvPr/>
        </p:nvSpPr>
        <p:spPr>
          <a:xfrm>
            <a:off x="969264" y="2194560"/>
            <a:ext cx="4928616" cy="179222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 "grade"])["python"].mean()</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city    grade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Delhi   B        72.0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C        45.0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Mumbai  A        91.0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B        58.0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Pune    A        88.0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B        67.0</a:t>
            </a:r>
            <a:endParaRPr lang="en-US" sz="950" dirty="0"/>
          </a:p>
        </p:txBody>
      </p:sp>
      <p:sp>
        <p:nvSpPr>
          <p:cNvPr id="9" name="Text 7"/>
          <p:cNvSpPr txBox="1"/>
          <p:nvPr/>
        </p:nvSpPr>
        <p:spPr>
          <a:xfrm>
            <a:off x="804672" y="4160520"/>
            <a:ext cx="5257800" cy="274320"/>
          </a:xfrm>
          <a:prstGeom prst="rect">
            <a:avLst/>
          </a:prstGeom>
          <a:noFill/>
          <a:ln/>
        </p:spPr>
        <p:txBody>
          <a:bodyPr wrap="square" lIns="0" tIns="0" rIns="0" bIns="0" rtlCol="0" anchor="ctr"/>
          <a:lstStyle/>
          <a:p>
            <a:pPr indent="0" marL="0">
              <a:buNone/>
            </a:pPr>
            <a:r>
              <a:rPr lang="en-US" sz="1100" i="1" dirty="0">
                <a:solidFill>
                  <a:srgbClr val="6B7789"/>
                </a:solidFill>
                <a:latin typeface="Calibri" pitchFamily="34" charset="0"/>
                <a:ea typeface="Calibri" pitchFamily="34" charset="-122"/>
                <a:cs typeface="Calibri" pitchFamily="34" charset="-120"/>
              </a:rPr>
              <a:t>The index now has TWO levels. The blanks mean “same as above”.</a:t>
            </a:r>
            <a:endParaRPr lang="en-US" sz="1100" dirty="0"/>
          </a:p>
        </p:txBody>
      </p:sp>
      <p:sp>
        <p:nvSpPr>
          <p:cNvPr id="10" name="Shape 8"/>
          <p:cNvSpPr/>
          <p:nvPr/>
        </p:nvSpPr>
        <p:spPr>
          <a:xfrm>
            <a:off x="6583680" y="1572768"/>
            <a:ext cx="502920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00" b="1" dirty="0">
                <a:solidFill>
                  <a:srgbClr val="1C6F5C"/>
                </a:solidFill>
                <a:latin typeface="Calibri" pitchFamily="34" charset="0"/>
                <a:ea typeface="Calibri" pitchFamily="34" charset="-122"/>
                <a:cs typeface="Calibri" pitchFamily="34" charset="-120"/>
              </a:rPr>
              <a:t>Wide form — unstack()</a:t>
            </a:r>
            <a:endParaRPr lang="en-US" sz="1400" dirty="0"/>
          </a:p>
        </p:txBody>
      </p:sp>
      <p:sp>
        <p:nvSpPr>
          <p:cNvPr id="12" name="Shape 10"/>
          <p:cNvSpPr/>
          <p:nvPr/>
        </p:nvSpPr>
        <p:spPr>
          <a:xfrm>
            <a:off x="6839712" y="2084832"/>
            <a:ext cx="4526280" cy="1600200"/>
          </a:xfrm>
          <a:prstGeom prst="roundRect">
            <a:avLst>
              <a:gd name="adj" fmla="val 4000"/>
            </a:avLst>
          </a:prstGeom>
          <a:solidFill>
            <a:srgbClr val="1B2B45"/>
          </a:solidFill>
          <a:ln w="12700">
            <a:solidFill>
              <a:srgbClr val="1B2B45"/>
            </a:solidFill>
            <a:prstDash val="solid"/>
          </a:ln>
        </p:spPr>
      </p:sp>
      <p:sp>
        <p:nvSpPr>
          <p:cNvPr id="13" name="Text 11"/>
          <p:cNvSpPr txBox="1"/>
          <p:nvPr/>
        </p:nvSpPr>
        <p:spPr>
          <a:xfrm>
            <a:off x="7004304" y="2194560"/>
            <a:ext cx="4197096" cy="13807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....unstack()</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grade      A     B     C</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city</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Delhi    NaN  72.0  45.0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Mumbai  91.0  58.0   NaN</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Pune    88.0  67.0   NaN</a:t>
            </a:r>
            <a:endParaRPr lang="en-US" sz="950" dirty="0"/>
          </a:p>
        </p:txBody>
      </p:sp>
      <p:sp>
        <p:nvSpPr>
          <p:cNvPr id="14" name="Text 12"/>
          <p:cNvSpPr txBox="1"/>
          <p:nvPr/>
        </p:nvSpPr>
        <p:spPr>
          <a:xfrm>
            <a:off x="6839712" y="3749040"/>
            <a:ext cx="4526280" cy="685800"/>
          </a:xfrm>
          <a:prstGeom prst="rect">
            <a:avLst/>
          </a:prstGeom>
          <a:noFill/>
          <a:ln/>
        </p:spPr>
        <p:txBody>
          <a:bodyPr wrap="square" lIns="0" tIns="0" rIns="0" bIns="0" rtlCol="0" anchor="ctr"/>
          <a:lstStyle/>
          <a:p>
            <a:pPr indent="0" marL="0">
              <a:lnSpc>
                <a:spcPct val="112000"/>
              </a:lnSpc>
              <a:buNone/>
            </a:pPr>
            <a:r>
              <a:rPr lang="en-US" sz="1150" dirty="0">
                <a:solidFill>
                  <a:srgbClr val="1C6F5C"/>
                </a:solidFill>
                <a:latin typeface="Calibri" pitchFamily="34" charset="0"/>
                <a:ea typeface="Calibri" pitchFamily="34" charset="-122"/>
                <a:cs typeface="Calibri" pitchFamily="34" charset="-120"/>
              </a:rPr>
              <a:t>unstack moves the LAST index level up into the columns. The NaNs are combinations that simply do not exist — no Delhi student got an A.</a:t>
            </a:r>
            <a:endParaRPr lang="en-US" sz="1150" dirty="0"/>
          </a:p>
        </p:txBody>
      </p:sp>
      <p:sp>
        <p:nvSpPr>
          <p:cNvPr id="15" name="Shape 13"/>
          <p:cNvSpPr/>
          <p:nvPr/>
        </p:nvSpPr>
        <p:spPr>
          <a:xfrm>
            <a:off x="548640" y="4480560"/>
            <a:ext cx="11064240" cy="1371600"/>
          </a:xfrm>
          <a:prstGeom prst="roundRect">
            <a:avLst>
              <a:gd name="adj" fmla="val 6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62686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pivot_table does the same thing in one step</a:t>
            </a:r>
            <a:endParaRPr lang="en-US" sz="1450" dirty="0"/>
          </a:p>
        </p:txBody>
      </p:sp>
      <p:sp>
        <p:nvSpPr>
          <p:cNvPr id="17" name="Shape 15"/>
          <p:cNvSpPr/>
          <p:nvPr/>
        </p:nvSpPr>
        <p:spPr>
          <a:xfrm>
            <a:off x="868680" y="4937760"/>
            <a:ext cx="5760720" cy="731520"/>
          </a:xfrm>
          <a:prstGeom prst="roundRect">
            <a:avLst>
              <a:gd name="adj" fmla="val 8750"/>
            </a:avLst>
          </a:prstGeom>
          <a:solidFill>
            <a:srgbClr val="1B2B45"/>
          </a:solidFill>
          <a:ln w="12700">
            <a:solidFill>
              <a:srgbClr val="1B2B45"/>
            </a:solidFill>
            <a:prstDash val="solid"/>
          </a:ln>
        </p:spPr>
      </p:sp>
      <p:sp>
        <p:nvSpPr>
          <p:cNvPr id="18" name="Text 16"/>
          <p:cNvSpPr txBox="1"/>
          <p:nvPr/>
        </p:nvSpPr>
        <p:spPr>
          <a:xfrm>
            <a:off x="1033272" y="5047488"/>
            <a:ext cx="5431536" cy="51206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df.pivot_table(index="city", columns="grade",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values="python", aggfunc="mean")</a:t>
            </a:r>
            <a:endParaRPr lang="en-US" sz="1000" dirty="0"/>
          </a:p>
        </p:txBody>
      </p:sp>
      <p:sp>
        <p:nvSpPr>
          <p:cNvPr id="19" name="Text 17"/>
          <p:cNvSpPr txBox="1"/>
          <p:nvPr/>
        </p:nvSpPr>
        <p:spPr>
          <a:xfrm>
            <a:off x="6949440" y="4919472"/>
            <a:ext cx="4434840" cy="77724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Identical result to groupby-then-unstack, written the way a spreadsheet user would think about it. Use whichever reads more clearly; pivot_table also takes fill_value=0 to replace those NaNs.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transform &amp; Pitfalls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Back to the original shape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transform</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Missing group keys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Common errors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transform</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transform — put the group answer beside every row</a:t>
            </a:r>
            <a:endParaRPr lang="en-US" sz="3200" dirty="0"/>
          </a:p>
        </p:txBody>
      </p:sp>
      <p:sp>
        <p:nvSpPr>
          <p:cNvPr id="5" name="Shape 3"/>
          <p:cNvSpPr/>
          <p:nvPr/>
        </p:nvSpPr>
        <p:spPr>
          <a:xfrm>
            <a:off x="548640" y="1572768"/>
            <a:ext cx="5760720" cy="2743200"/>
          </a:xfrm>
          <a:prstGeom prst="roundRect">
            <a:avLst>
              <a:gd name="adj" fmla="val 3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The problem agg cannot solve</a:t>
            </a:r>
            <a:endParaRPr lang="en-US" sz="1450" dirty="0"/>
          </a:p>
        </p:txBody>
      </p:sp>
      <p:sp>
        <p:nvSpPr>
          <p:cNvPr id="7" name="Text 5"/>
          <p:cNvSpPr txBox="1"/>
          <p:nvPr/>
        </p:nvSpPr>
        <p:spPr>
          <a:xfrm>
            <a:off x="804672" y="2084832"/>
            <a:ext cx="5257800" cy="292608"/>
          </a:xfrm>
          <a:prstGeom prst="rect">
            <a:avLst/>
          </a:prstGeom>
          <a:noFill/>
          <a:ln/>
        </p:spPr>
        <p:txBody>
          <a:bodyPr wrap="square" lIns="0" tIns="0" rIns="0" bIns="0" rtlCol="0" anchor="ctr"/>
          <a:lstStyle/>
          <a:p>
            <a:pPr indent="0" marL="0">
              <a:buNone/>
            </a:pPr>
            <a:r>
              <a:rPr lang="en-US" sz="1300" i="1" dirty="0">
                <a:solidFill>
                  <a:srgbClr val="6B4A0B"/>
                </a:solidFill>
                <a:latin typeface="Calibri" pitchFamily="34" charset="0"/>
                <a:ea typeface="Calibri" pitchFamily="34" charset="-122"/>
                <a:cs typeface="Calibri" pitchFamily="34" charset="-120"/>
              </a:rPr>
              <a:t>“Which students scored above their OWN city's average?”</a:t>
            </a:r>
            <a:endParaRPr lang="en-US" sz="1300" dirty="0"/>
          </a:p>
        </p:txBody>
      </p:sp>
      <p:sp>
        <p:nvSpPr>
          <p:cNvPr id="8" name="Shape 6"/>
          <p:cNvSpPr/>
          <p:nvPr/>
        </p:nvSpPr>
        <p:spPr>
          <a:xfrm>
            <a:off x="804672" y="2450592"/>
            <a:ext cx="5257800" cy="1051560"/>
          </a:xfrm>
          <a:prstGeom prst="roundRect">
            <a:avLst>
              <a:gd name="adj" fmla="val 6087"/>
            </a:avLst>
          </a:prstGeom>
          <a:solidFill>
            <a:srgbClr val="1B2B45"/>
          </a:solidFill>
          <a:ln w="12700">
            <a:solidFill>
              <a:srgbClr val="1B2B45"/>
            </a:solidFill>
            <a:prstDash val="solid"/>
          </a:ln>
        </p:spPr>
      </p:sp>
      <p:sp>
        <p:nvSpPr>
          <p:cNvPr id="9" name="Text 7"/>
          <p:cNvSpPr txBox="1"/>
          <p:nvPr/>
        </p:nvSpPr>
        <p:spPr>
          <a:xfrm>
            <a:off x="969264" y="2560320"/>
            <a:ext cx="4928616" cy="83210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avg = df.groupby("city")["python"].mean()</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3 rows. df has 6. They will not line up.</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agg SHRINKS the table - that is its job.</a:t>
            </a:r>
            <a:endParaRPr lang="en-US" sz="950" dirty="0"/>
          </a:p>
        </p:txBody>
      </p:sp>
      <p:sp>
        <p:nvSpPr>
          <p:cNvPr id="10" name="Text 8"/>
          <p:cNvSpPr txBox="1"/>
          <p:nvPr/>
        </p:nvSpPr>
        <p:spPr>
          <a:xfrm>
            <a:off x="804672" y="3611880"/>
            <a:ext cx="5257800" cy="274320"/>
          </a:xfrm>
          <a:prstGeom prst="rect">
            <a:avLst/>
          </a:prstGeom>
          <a:noFill/>
          <a:ln/>
        </p:spPr>
        <p:txBody>
          <a:bodyPr wrap="square" lIns="0" tIns="0" rIns="0" bIns="0" rtlCol="0" anchor="ctr"/>
          <a:lstStyle/>
          <a:p>
            <a:pPr indent="0" marL="0">
              <a:buNone/>
            </a:pPr>
            <a:r>
              <a:rPr lang="en-US" sz="1200" b="1" dirty="0">
                <a:solidFill>
                  <a:srgbClr val="A63B24"/>
                </a:solidFill>
                <a:latin typeface="Calibri" pitchFamily="34" charset="0"/>
                <a:ea typeface="Calibri" pitchFamily="34" charset="-122"/>
                <a:cs typeface="Calibri" pitchFamily="34" charset="-120"/>
              </a:rPr>
              <a:t>You need one value per ROW, not one per group.</a:t>
            </a:r>
            <a:endParaRPr lang="en-US" sz="1200" dirty="0"/>
          </a:p>
        </p:txBody>
      </p:sp>
      <p:sp>
        <p:nvSpPr>
          <p:cNvPr id="11" name="Shape 9"/>
          <p:cNvSpPr/>
          <p:nvPr/>
        </p:nvSpPr>
        <p:spPr>
          <a:xfrm>
            <a:off x="6583680" y="1572768"/>
            <a:ext cx="502920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transform keeps the shape</a:t>
            </a:r>
            <a:endParaRPr lang="en-US" sz="1450" dirty="0"/>
          </a:p>
        </p:txBody>
      </p:sp>
      <p:sp>
        <p:nvSpPr>
          <p:cNvPr id="13" name="Shape 11"/>
          <p:cNvSpPr/>
          <p:nvPr/>
        </p:nvSpPr>
        <p:spPr>
          <a:xfrm>
            <a:off x="6839712" y="2084832"/>
            <a:ext cx="4526280" cy="1783080"/>
          </a:xfrm>
          <a:prstGeom prst="roundRect">
            <a:avLst>
              <a:gd name="adj" fmla="val 3590"/>
            </a:avLst>
          </a:prstGeom>
          <a:solidFill>
            <a:srgbClr val="1B2B45"/>
          </a:solidFill>
          <a:ln w="12700">
            <a:solidFill>
              <a:srgbClr val="1B2B45"/>
            </a:solidFill>
            <a:prstDash val="solid"/>
          </a:ln>
        </p:spPr>
      </p:sp>
      <p:sp>
        <p:nvSpPr>
          <p:cNvPr id="14" name="Text 12"/>
          <p:cNvSpPr txBox="1"/>
          <p:nvPr/>
        </p:nvSpPr>
        <p:spPr>
          <a:xfrm>
            <a:off x="7004304" y="2194560"/>
            <a:ext cx="4197096" cy="1563624"/>
          </a:xfrm>
          <a:prstGeom prst="rect">
            <a:avLst/>
          </a:prstGeom>
          <a:noFill/>
          <a:ln/>
        </p:spPr>
        <p:txBody>
          <a:bodyPr wrap="square" lIns="0" tIns="0" rIns="0" bIns="0" rtlCol="0" anchor="t"/>
          <a:lstStyle/>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df["city_avg"] = (df.groupby("city")</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["python"]</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                   .transform("mean"))</a:t>
            </a:r>
            <a:endParaRPr lang="en-US" sz="900" dirty="0"/>
          </a:p>
          <a:p>
            <a:pPr indent="0" marL="0">
              <a:lnSpc>
                <a:spcPct val="112000"/>
              </a:lnSpc>
              <a:buNone/>
            </a:pP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name   city    python  city_avg</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Ravi   Pune        88      77.5</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Neha   Pune        67      77.5</a:t>
            </a:r>
            <a:endParaRPr lang="en-US" sz="900" dirty="0"/>
          </a:p>
          <a:p>
            <a:pPr indent="0" marL="0">
              <a:lnSpc>
                <a:spcPct val="112000"/>
              </a:lnSpc>
              <a:buNone/>
            </a:pPr>
            <a:r>
              <a:rPr lang="en-US" sz="900" dirty="0">
                <a:solidFill>
                  <a:srgbClr val="E7EEF8"/>
                </a:solidFill>
                <a:latin typeface="Courier New" pitchFamily="34" charset="0"/>
                <a:ea typeface="Courier New" pitchFamily="34" charset="-122"/>
                <a:cs typeface="Courier New" pitchFamily="34" charset="-120"/>
              </a:rPr>
              <a:t>Sara   Mumbai      91      74.5</a:t>
            </a:r>
            <a:endParaRPr lang="en-US" sz="900" dirty="0"/>
          </a:p>
        </p:txBody>
      </p:sp>
      <p:sp>
        <p:nvSpPr>
          <p:cNvPr id="15" name="Text 13"/>
          <p:cNvSpPr txBox="1"/>
          <p:nvPr/>
        </p:nvSpPr>
        <p:spPr>
          <a:xfrm>
            <a:off x="6839712" y="3950208"/>
            <a:ext cx="4526280" cy="365760"/>
          </a:xfrm>
          <a:prstGeom prst="rect">
            <a:avLst/>
          </a:prstGeom>
          <a:noFill/>
          <a:ln/>
        </p:spPr>
        <p:txBody>
          <a:bodyPr wrap="square" lIns="0" tIns="0" rIns="0" bIns="0" rtlCol="0" anchor="ctr"/>
          <a:lstStyle/>
          <a:p>
            <a:pPr indent="0" marL="0">
              <a:buNone/>
            </a:pPr>
            <a:r>
              <a:rPr lang="en-US" sz="1150" dirty="0">
                <a:solidFill>
                  <a:srgbClr val="1C6F5C"/>
                </a:solidFill>
                <a:latin typeface="Calibri" pitchFamily="34" charset="0"/>
                <a:ea typeface="Calibri" pitchFamily="34" charset="-122"/>
                <a:cs typeface="Calibri" pitchFamily="34" charset="-120"/>
              </a:rPr>
              <a:t>Six rows in, six rows out — the group's answer repeated for each of its members.</a:t>
            </a:r>
            <a:endParaRPr lang="en-US" sz="1150" dirty="0"/>
          </a:p>
        </p:txBody>
      </p:sp>
      <p:sp>
        <p:nvSpPr>
          <p:cNvPr id="16" name="Shape 14"/>
          <p:cNvSpPr/>
          <p:nvPr/>
        </p:nvSpPr>
        <p:spPr>
          <a:xfrm>
            <a:off x="548640" y="4480560"/>
            <a:ext cx="11064240" cy="1371600"/>
          </a:xfrm>
          <a:prstGeom prst="roundRect">
            <a:avLst>
              <a:gd name="adj" fmla="val 6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Text 15"/>
          <p:cNvSpPr txBox="1"/>
          <p:nvPr/>
        </p:nvSpPr>
        <p:spPr>
          <a:xfrm>
            <a:off x="822960" y="4626864"/>
            <a:ext cx="6400800" cy="27432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And now the question is one line</a:t>
            </a:r>
            <a:endParaRPr lang="en-US" sz="1450" dirty="0"/>
          </a:p>
        </p:txBody>
      </p:sp>
      <p:sp>
        <p:nvSpPr>
          <p:cNvPr id="18" name="Shape 16"/>
          <p:cNvSpPr/>
          <p:nvPr/>
        </p:nvSpPr>
        <p:spPr>
          <a:xfrm>
            <a:off x="822960" y="4937760"/>
            <a:ext cx="5760720" cy="502920"/>
          </a:xfrm>
          <a:prstGeom prst="roundRect">
            <a:avLst>
              <a:gd name="adj" fmla="val 12727"/>
            </a:avLst>
          </a:prstGeom>
          <a:solidFill>
            <a:srgbClr val="1B2B45"/>
          </a:solidFill>
          <a:ln w="12700">
            <a:solidFill>
              <a:srgbClr val="1B2B45"/>
            </a:solidFill>
            <a:prstDash val="solid"/>
          </a:ln>
        </p:spPr>
      </p:sp>
      <p:sp>
        <p:nvSpPr>
          <p:cNvPr id="19" name="Text 17"/>
          <p:cNvSpPr txBox="1"/>
          <p:nvPr/>
        </p:nvSpPr>
        <p:spPr>
          <a:xfrm>
            <a:off x="987552" y="5047488"/>
            <a:ext cx="5431536" cy="2834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df[df["python"] &gt; df["city_avg"]]["name"]</a:t>
            </a:r>
            <a:endParaRPr lang="en-US" sz="1050" dirty="0"/>
          </a:p>
        </p:txBody>
      </p:sp>
      <p:sp>
        <p:nvSpPr>
          <p:cNvPr id="20" name="Text 18"/>
          <p:cNvSpPr txBox="1"/>
          <p:nvPr/>
        </p:nvSpPr>
        <p:spPr>
          <a:xfrm>
            <a:off x="6949440" y="4919472"/>
            <a:ext cx="4434840" cy="77724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agg answers questions ABOUT groups. transform answers questions about rows that need to know something about their group. That is the whole distinction, and it is worth saying in those words.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dropna</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pitfall — rows with a missing group key disappear</a:t>
            </a:r>
            <a:endParaRPr lang="en-US" sz="3200" dirty="0"/>
          </a:p>
        </p:txBody>
      </p:sp>
      <p:sp>
        <p:nvSpPr>
          <p:cNvPr id="5" name="Shape 3"/>
          <p:cNvSpPr/>
          <p:nvPr/>
        </p:nvSpPr>
        <p:spPr>
          <a:xfrm>
            <a:off x="548640" y="1572768"/>
            <a:ext cx="5760720" cy="2743200"/>
          </a:xfrm>
          <a:prstGeom prst="roundRect">
            <a:avLst>
              <a:gd name="adj" fmla="val 3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Silently, and without warning</a:t>
            </a:r>
            <a:endParaRPr lang="en-US" sz="1500" dirty="0"/>
          </a:p>
        </p:txBody>
      </p:sp>
      <p:sp>
        <p:nvSpPr>
          <p:cNvPr id="7" name="Shape 5"/>
          <p:cNvSpPr/>
          <p:nvPr/>
        </p:nvSpPr>
        <p:spPr>
          <a:xfrm>
            <a:off x="804672" y="2084832"/>
            <a:ext cx="5257800" cy="1691640"/>
          </a:xfrm>
          <a:prstGeom prst="roundRect">
            <a:avLst>
              <a:gd name="adj" fmla="val 3784"/>
            </a:avLst>
          </a:prstGeom>
          <a:solidFill>
            <a:srgbClr val="1B2B45"/>
          </a:solidFill>
          <a:ln w="12700">
            <a:solidFill>
              <a:srgbClr val="1B2B45"/>
            </a:solidFill>
            <a:prstDash val="solid"/>
          </a:ln>
        </p:spPr>
      </p:sp>
      <p:sp>
        <p:nvSpPr>
          <p:cNvPr id="8" name="Text 6"/>
          <p:cNvSpPr txBox="1"/>
          <p:nvPr/>
        </p:nvSpPr>
        <p:spPr>
          <a:xfrm>
            <a:off x="969264" y="2194560"/>
            <a:ext cx="4928616" cy="14721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Ravi's city is missing</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df.groupby("city")["python"].count()</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Delhi   2</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Mumbai  2</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Pune    1      &lt;- was 2</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total 5, but the table has 6 rows</a:t>
            </a:r>
            <a:endParaRPr lang="en-US" sz="950" dirty="0"/>
          </a:p>
        </p:txBody>
      </p:sp>
      <p:sp>
        <p:nvSpPr>
          <p:cNvPr id="9" name="Text 7"/>
          <p:cNvSpPr txBox="1"/>
          <p:nvPr/>
        </p:nvSpPr>
        <p:spPr>
          <a:xfrm>
            <a:off x="804672" y="3840480"/>
            <a:ext cx="5257800" cy="274320"/>
          </a:xfrm>
          <a:prstGeom prst="rect">
            <a:avLst/>
          </a:prstGeom>
          <a:noFill/>
          <a:ln/>
        </p:spPr>
        <p:txBody>
          <a:bodyPr wrap="square" lIns="0" tIns="0" rIns="0" bIns="0" rtlCol="0" anchor="ctr"/>
          <a:lstStyle/>
          <a:p>
            <a:pPr indent="0" marL="0">
              <a:buNone/>
            </a:pPr>
            <a:r>
              <a:rPr lang="en-US" sz="1200" b="1" dirty="0">
                <a:solidFill>
                  <a:srgbClr val="A63B24"/>
                </a:solidFill>
                <a:latin typeface="Calibri" pitchFamily="34" charset="0"/>
                <a:ea typeface="Calibri" pitchFamily="34" charset="-122"/>
                <a:cs typeface="Calibri" pitchFamily="34" charset="-120"/>
              </a:rPr>
              <a:t>No error. No warning. The row is simply not in any group.</a:t>
            </a:r>
            <a:endParaRPr lang="en-US" sz="1200" dirty="0"/>
          </a:p>
        </p:txBody>
      </p:sp>
      <p:sp>
        <p:nvSpPr>
          <p:cNvPr id="10" name="Shape 8"/>
          <p:cNvSpPr/>
          <p:nvPr/>
        </p:nvSpPr>
        <p:spPr>
          <a:xfrm>
            <a:off x="6583680" y="1572768"/>
            <a:ext cx="502920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Two defences</a:t>
            </a:r>
            <a:endParaRPr lang="en-US" sz="1500" dirty="0"/>
          </a:p>
        </p:txBody>
      </p:sp>
      <p:sp>
        <p:nvSpPr>
          <p:cNvPr id="12" name="Shape 10"/>
          <p:cNvSpPr/>
          <p:nvPr/>
        </p:nvSpPr>
        <p:spPr>
          <a:xfrm>
            <a:off x="6839712" y="2084832"/>
            <a:ext cx="4526280" cy="1005840"/>
          </a:xfrm>
          <a:prstGeom prst="roundRect">
            <a:avLst>
              <a:gd name="adj" fmla="val 6364"/>
            </a:avLst>
          </a:prstGeom>
          <a:solidFill>
            <a:srgbClr val="1B2B45"/>
          </a:solidFill>
          <a:ln w="12700">
            <a:solidFill>
              <a:srgbClr val="1B2B45"/>
            </a:solidFill>
            <a:prstDash val="solid"/>
          </a:ln>
        </p:spPr>
      </p:sp>
      <p:sp>
        <p:nvSpPr>
          <p:cNvPr id="13" name="Text 11"/>
          <p:cNvSpPr txBox="1"/>
          <p:nvPr/>
        </p:nvSpPr>
        <p:spPr>
          <a:xfrm>
            <a:off x="7004304" y="2194560"/>
            <a:ext cx="4197096" cy="7863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df.groupby("city", dropna=False)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NaN     1     &lt;- now visible</a:t>
            </a:r>
            <a:endParaRPr lang="en-US" sz="950" dirty="0"/>
          </a:p>
        </p:txBody>
      </p:sp>
      <p:sp>
        <p:nvSpPr>
          <p:cNvPr id="14" name="Shape 12"/>
          <p:cNvSpPr/>
          <p:nvPr/>
        </p:nvSpPr>
        <p:spPr>
          <a:xfrm>
            <a:off x="6839712" y="3200400"/>
            <a:ext cx="4526280" cy="685800"/>
          </a:xfrm>
          <a:prstGeom prst="roundRect">
            <a:avLst>
              <a:gd name="adj" fmla="val 9333"/>
            </a:avLst>
          </a:prstGeom>
          <a:solidFill>
            <a:srgbClr val="1B2B45"/>
          </a:solidFill>
          <a:ln w="12700">
            <a:solidFill>
              <a:srgbClr val="1B2B45"/>
            </a:solidFill>
            <a:prstDash val="solid"/>
          </a:ln>
        </p:spPr>
      </p:sp>
      <p:sp>
        <p:nvSpPr>
          <p:cNvPr id="15" name="Text 13"/>
          <p:cNvSpPr txBox="1"/>
          <p:nvPr/>
        </p:nvSpPr>
        <p:spPr>
          <a:xfrm>
            <a:off x="7004304" y="3310128"/>
            <a:ext cx="4197096" cy="4663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or check the arithmetic:</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result.sum() == len(df)</a:t>
            </a:r>
            <a:endParaRPr lang="en-US" sz="950" dirty="0"/>
          </a:p>
        </p:txBody>
      </p:sp>
      <p:sp>
        <p:nvSpPr>
          <p:cNvPr id="16" name="Text 14"/>
          <p:cNvSpPr txBox="1"/>
          <p:nvPr/>
        </p:nvSpPr>
        <p:spPr>
          <a:xfrm>
            <a:off x="6839712" y="3977640"/>
            <a:ext cx="4526280" cy="365760"/>
          </a:xfrm>
          <a:prstGeom prst="rect">
            <a:avLst/>
          </a:prstGeom>
          <a:noFill/>
          <a:ln/>
        </p:spPr>
        <p:txBody>
          <a:bodyPr wrap="square" lIns="0" tIns="0" rIns="0" bIns="0" rtlCol="0" anchor="ctr"/>
          <a:lstStyle/>
          <a:p>
            <a:pPr indent="0" marL="0">
              <a:buNone/>
            </a:pPr>
            <a:r>
              <a:rPr lang="en-US" sz="1150" dirty="0">
                <a:solidFill>
                  <a:srgbClr val="1C6F5C"/>
                </a:solidFill>
                <a:latin typeface="Calibri" pitchFamily="34" charset="0"/>
                <a:ea typeface="Calibri" pitchFamily="34" charset="-122"/>
                <a:cs typeface="Calibri" pitchFamily="34" charset="-120"/>
              </a:rPr>
              <a:t>Comparing the grouped total against the row count is the cheapest audit there is.</a:t>
            </a:r>
            <a:endParaRPr lang="en-US" sz="1150" dirty="0"/>
          </a:p>
        </p:txBody>
      </p:sp>
      <p:sp>
        <p:nvSpPr>
          <p:cNvPr id="17" name="Shape 15"/>
          <p:cNvSpPr/>
          <p:nvPr/>
        </p:nvSpPr>
        <p:spPr>
          <a:xfrm>
            <a:off x="548640" y="4480560"/>
            <a:ext cx="11064240" cy="1371600"/>
          </a:xfrm>
          <a:prstGeom prst="roundRect">
            <a:avLst>
              <a:gd name="adj" fmla="val 6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Text 16"/>
          <p:cNvSpPr txBox="1"/>
          <p:nvPr/>
        </p:nvSpPr>
        <p:spPr>
          <a:xfrm>
            <a:off x="868680" y="4663440"/>
            <a:ext cx="10424160" cy="960120"/>
          </a:xfrm>
          <a:prstGeom prst="rect">
            <a:avLst/>
          </a:prstGeom>
          <a:noFill/>
          <a:ln/>
        </p:spPr>
        <p:txBody>
          <a:bodyPr wrap="square" lIns="0" tIns="0" rIns="0" bIns="0" rtlCol="0" anchor="ctr"/>
          <a:lstStyle/>
          <a:p>
            <a:pPr indent="0" marL="0">
              <a:lnSpc>
                <a:spcPct val="115000"/>
              </a:lnSpc>
              <a:buNone/>
            </a:pPr>
            <a:r>
              <a:rPr lang="en-US" sz="1250" b="1" dirty="0">
                <a:solidFill>
                  <a:srgbClr val="8A5B00"/>
                </a:solidFill>
                <a:latin typeface="Calibri" pitchFamily="34" charset="0"/>
                <a:ea typeface="Calibri" pitchFamily="34" charset="-122"/>
                <a:cs typeface="Calibri" pitchFamily="34" charset="-120"/>
              </a:rPr>
              <a:t>The third silent-missing-data trap of the week.  </a:t>
            </a:r>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Day 14: np.nansum of an all-missing column returns 0.0. Day 15: pandas skips nan in a mean without telling you. Today: a missing group key removes the row from the report entirely. The pattern is always the same — the number looks reasonable and nothing complains. Check your counts.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groupby bugs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114800"/>
                <a:gridCol w="3931920"/>
                <a:gridCol w="301752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df.groupby("city")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prints an object, not a table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add a statistic: .mean()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rows with a missing key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silently dropped from the result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dropna=False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size() and count() mixed up</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size counts rows, count counts values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pick the one you meant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assuming sorted by value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is sorted by group KEY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.sort_values()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agg after picking one column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cannot use a dict of columns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put agg before the selection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transform expecting a summary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it returns the ORIGINAL shape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.agg()</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groupby(...)["a","b"]</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KeyError — that is a tuple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[["a", "b"]]</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result["city"]  after groupby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city is the INDEX, not a 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reset_index()</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 2 is the one that quietly produces a wrong report. All eight are in today's practice notebook.</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a department report</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import pandas as pd</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staff = pd.read_csv("staff.csv")</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---- 0. audit BEFORE grouping</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print("rows:", len(staff))</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print("missing dept:", staff["dept"].isna().sum())</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---- 1. one summary row per department</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report = staff.groupby("dept", dropna=False).agg(</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headcount  = ("name",   "size"),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paid       = ("salary", "count"),     # non-missing</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avg_salary = ("salary", "mean"),</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top_salary = ("salary", "max"),</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).round(0)</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---- 2. the audit that catches dropped rows</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assert report["headcount"].sum() == len(staff)</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---- 3. sort by what matters, not by name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report = report.sort_values("avg_salary", ascending=False)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print(report)</a:t>
            </a:r>
            <a:endParaRPr lang="en-US" sz="800" dirty="0"/>
          </a:p>
          <a:p>
            <a:pPr indent="0" marL="0">
              <a:lnSpc>
                <a:spcPct val="112000"/>
              </a:lnSpc>
              <a:buNone/>
            </a:pP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  ---- 4. who beats their own department average?</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staff["dept_avg"] = staff.groupby("dept")["salary"].transform("mean")</a:t>
            </a:r>
            <a:endParaRPr lang="en-US" sz="800" dirty="0"/>
          </a:p>
          <a:p>
            <a:pPr indent="0" marL="0">
              <a:lnSpc>
                <a:spcPct val="112000"/>
              </a:lnSpc>
              <a:buNone/>
            </a:pPr>
            <a:r>
              <a:rPr lang="en-US" sz="800" dirty="0">
                <a:solidFill>
                  <a:srgbClr val="E7EEF8"/>
                </a:solidFill>
                <a:latin typeface="Courier New" pitchFamily="34" charset="0"/>
                <a:ea typeface="Courier New" pitchFamily="34" charset="-122"/>
                <a:cs typeface="Courier New" pitchFamily="34" charset="-120"/>
              </a:rPr>
              <a:t>print(staff[staff["salary"] &gt; staff["dept_avg"]]["name"].tolist())</a:t>
            </a:r>
            <a:endParaRPr lang="en-US" sz="800" dirty="0"/>
          </a:p>
        </p:txBody>
      </p:sp>
      <p:sp>
        <p:nvSpPr>
          <p:cNvPr id="8" name="Shape 6"/>
          <p:cNvSpPr/>
          <p:nvPr/>
        </p:nvSpPr>
        <p:spPr>
          <a:xfrm>
            <a:off x="7406640" y="157276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673352"/>
            <a:ext cx="118872" cy="292608"/>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790688" y="1609344"/>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Audit first</a:t>
            </a:r>
            <a:endParaRPr lang="en-US" sz="1100" dirty="0"/>
          </a:p>
        </p:txBody>
      </p:sp>
      <p:sp>
        <p:nvSpPr>
          <p:cNvPr id="11" name="Text 9"/>
          <p:cNvSpPr txBox="1"/>
          <p:nvPr/>
        </p:nvSpPr>
        <p:spPr>
          <a:xfrm>
            <a:off x="7790688" y="182880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count the rows before you group</a:t>
            </a:r>
            <a:endParaRPr lang="en-US" sz="950" dirty="0"/>
          </a:p>
        </p:txBody>
      </p:sp>
      <p:sp>
        <p:nvSpPr>
          <p:cNvPr id="12" name="Shape 10"/>
          <p:cNvSpPr/>
          <p:nvPr/>
        </p:nvSpPr>
        <p:spPr>
          <a:xfrm>
            <a:off x="7406640" y="214884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249424"/>
            <a:ext cx="118872" cy="292608"/>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185416"/>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dropna=False</a:t>
            </a:r>
            <a:endParaRPr lang="en-US" sz="1100" dirty="0"/>
          </a:p>
        </p:txBody>
      </p:sp>
      <p:sp>
        <p:nvSpPr>
          <p:cNvPr id="15" name="Text 13"/>
          <p:cNvSpPr txBox="1"/>
          <p:nvPr/>
        </p:nvSpPr>
        <p:spPr>
          <a:xfrm>
            <a:off x="7790688" y="240487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missing departments stay visible</a:t>
            </a:r>
            <a:endParaRPr lang="en-US" sz="950" dirty="0"/>
          </a:p>
        </p:txBody>
      </p:sp>
      <p:sp>
        <p:nvSpPr>
          <p:cNvPr id="16" name="Shape 14"/>
          <p:cNvSpPr/>
          <p:nvPr/>
        </p:nvSpPr>
        <p:spPr>
          <a:xfrm>
            <a:off x="7406640" y="2724912"/>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2825496"/>
            <a:ext cx="118872" cy="292608"/>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790688" y="2761488"/>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Named aggregation</a:t>
            </a:r>
            <a:endParaRPr lang="en-US" sz="1100" dirty="0"/>
          </a:p>
        </p:txBody>
      </p:sp>
      <p:sp>
        <p:nvSpPr>
          <p:cNvPr id="19" name="Text 17"/>
          <p:cNvSpPr txBox="1"/>
          <p:nvPr/>
        </p:nvSpPr>
        <p:spPr>
          <a:xfrm>
            <a:off x="7790688" y="2980944"/>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columns read like a report</a:t>
            </a:r>
            <a:endParaRPr lang="en-US" sz="950" dirty="0"/>
          </a:p>
        </p:txBody>
      </p:sp>
      <p:sp>
        <p:nvSpPr>
          <p:cNvPr id="20" name="Shape 18"/>
          <p:cNvSpPr/>
          <p:nvPr/>
        </p:nvSpPr>
        <p:spPr>
          <a:xfrm>
            <a:off x="7406640" y="3300984"/>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401568"/>
            <a:ext cx="118872" cy="292608"/>
          </a:xfrm>
          <a:prstGeom prst="roundRect">
            <a:avLst>
              <a:gd name="adj" fmla="val 38462"/>
            </a:avLst>
          </a:prstGeom>
          <a:solidFill>
            <a:srgbClr val="2FA98C"/>
          </a:solidFill>
          <a:ln w="12700">
            <a:solidFill>
              <a:srgbClr val="333333"/>
            </a:solidFill>
            <a:prstDash val="solid"/>
          </a:ln>
        </p:spPr>
      </p:sp>
      <p:sp>
        <p:nvSpPr>
          <p:cNvPr id="22" name="Text 20"/>
          <p:cNvSpPr txBox="1"/>
          <p:nvPr/>
        </p:nvSpPr>
        <p:spPr>
          <a:xfrm>
            <a:off x="7790688" y="3337560"/>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size AND count</a:t>
            </a:r>
            <a:endParaRPr lang="en-US" sz="1100" dirty="0"/>
          </a:p>
        </p:txBody>
      </p:sp>
      <p:sp>
        <p:nvSpPr>
          <p:cNvPr id="23" name="Text 21"/>
          <p:cNvSpPr txBox="1"/>
          <p:nvPr/>
        </p:nvSpPr>
        <p:spPr>
          <a:xfrm>
            <a:off x="7790688" y="3557016"/>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gap reveals missing salaries</a:t>
            </a:r>
            <a:endParaRPr lang="en-US" sz="950" dirty="0"/>
          </a:p>
        </p:txBody>
      </p:sp>
      <p:sp>
        <p:nvSpPr>
          <p:cNvPr id="24" name="Shape 22"/>
          <p:cNvSpPr/>
          <p:nvPr/>
        </p:nvSpPr>
        <p:spPr>
          <a:xfrm>
            <a:off x="7406640" y="3877056"/>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3977640"/>
            <a:ext cx="118872" cy="292608"/>
          </a:xfrm>
          <a:prstGeom prst="roundRect">
            <a:avLst>
              <a:gd name="adj" fmla="val 38462"/>
            </a:avLst>
          </a:prstGeom>
          <a:solidFill>
            <a:srgbClr val="FFC145"/>
          </a:solidFill>
          <a:ln w="12700">
            <a:solidFill>
              <a:srgbClr val="333333"/>
            </a:solidFill>
            <a:prstDash val="solid"/>
          </a:ln>
        </p:spPr>
      </p:sp>
      <p:sp>
        <p:nvSpPr>
          <p:cNvPr id="26" name="Text 24"/>
          <p:cNvSpPr txBox="1"/>
          <p:nvPr/>
        </p:nvSpPr>
        <p:spPr>
          <a:xfrm>
            <a:off x="7790688" y="3913632"/>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assert</a:t>
            </a:r>
            <a:endParaRPr lang="en-US" sz="1100" dirty="0"/>
          </a:p>
        </p:txBody>
      </p:sp>
      <p:sp>
        <p:nvSpPr>
          <p:cNvPr id="27" name="Text 25"/>
          <p:cNvSpPr txBox="1"/>
          <p:nvPr/>
        </p:nvSpPr>
        <p:spPr>
          <a:xfrm>
            <a:off x="7790688" y="4133088"/>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report must account for every row</a:t>
            </a:r>
            <a:endParaRPr lang="en-US" sz="950" dirty="0"/>
          </a:p>
        </p:txBody>
      </p:sp>
      <p:sp>
        <p:nvSpPr>
          <p:cNvPr id="28" name="Shape 26"/>
          <p:cNvSpPr/>
          <p:nvPr/>
        </p:nvSpPr>
        <p:spPr>
          <a:xfrm>
            <a:off x="7406640" y="445312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4553712"/>
            <a:ext cx="118872" cy="292608"/>
          </a:xfrm>
          <a:prstGeom prst="roundRect">
            <a:avLst>
              <a:gd name="adj" fmla="val 38462"/>
            </a:avLst>
          </a:prstGeom>
          <a:solidFill>
            <a:srgbClr val="3E7CB1"/>
          </a:solidFill>
          <a:ln w="12700">
            <a:solidFill>
              <a:srgbClr val="333333"/>
            </a:solidFill>
            <a:prstDash val="solid"/>
          </a:ln>
        </p:spPr>
      </p:sp>
      <p:sp>
        <p:nvSpPr>
          <p:cNvPr id="30" name="Text 28"/>
          <p:cNvSpPr txBox="1"/>
          <p:nvPr/>
        </p:nvSpPr>
        <p:spPr>
          <a:xfrm>
            <a:off x="7790688" y="4489704"/>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sort_values</a:t>
            </a:r>
            <a:endParaRPr lang="en-US" sz="1100" dirty="0"/>
          </a:p>
        </p:txBody>
      </p:sp>
      <p:sp>
        <p:nvSpPr>
          <p:cNvPr id="31" name="Text 29"/>
          <p:cNvSpPr txBox="1"/>
          <p:nvPr/>
        </p:nvSpPr>
        <p:spPr>
          <a:xfrm>
            <a:off x="7790688" y="470916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groupby sorts by key, not value</a:t>
            </a:r>
            <a:endParaRPr lang="en-US" sz="950" dirty="0"/>
          </a:p>
        </p:txBody>
      </p:sp>
      <p:sp>
        <p:nvSpPr>
          <p:cNvPr id="32" name="Shape 30"/>
          <p:cNvSpPr/>
          <p:nvPr/>
        </p:nvSpPr>
        <p:spPr>
          <a:xfrm>
            <a:off x="7406640" y="502920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3" name="Shape 31"/>
          <p:cNvSpPr/>
          <p:nvPr/>
        </p:nvSpPr>
        <p:spPr>
          <a:xfrm>
            <a:off x="7562088" y="5129784"/>
            <a:ext cx="118872" cy="292608"/>
          </a:xfrm>
          <a:prstGeom prst="roundRect">
            <a:avLst>
              <a:gd name="adj" fmla="val 38462"/>
            </a:avLst>
          </a:prstGeom>
          <a:solidFill>
            <a:srgbClr val="2FA98C"/>
          </a:solidFill>
          <a:ln w="12700">
            <a:solidFill>
              <a:srgbClr val="333333"/>
            </a:solidFill>
            <a:prstDash val="solid"/>
          </a:ln>
        </p:spPr>
      </p:sp>
      <p:sp>
        <p:nvSpPr>
          <p:cNvPr id="34" name="Text 32"/>
          <p:cNvSpPr txBox="1"/>
          <p:nvPr/>
        </p:nvSpPr>
        <p:spPr>
          <a:xfrm>
            <a:off x="7790688" y="5065776"/>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transform</a:t>
            </a:r>
            <a:endParaRPr lang="en-US" sz="1100" dirty="0"/>
          </a:p>
        </p:txBody>
      </p:sp>
      <p:sp>
        <p:nvSpPr>
          <p:cNvPr id="35" name="Text 33"/>
          <p:cNvSpPr txBox="1"/>
          <p:nvPr/>
        </p:nvSpPr>
        <p:spPr>
          <a:xfrm>
            <a:off x="7790688" y="528523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per-row question, per-group answer</a:t>
            </a:r>
            <a:endParaRPr lang="en-US" sz="950" dirty="0"/>
          </a:p>
        </p:txBody>
      </p:sp>
      <p:sp>
        <p:nvSpPr>
          <p:cNvPr id="36" name="Text 34"/>
          <p:cNvSpPr txBox="1"/>
          <p:nvPr/>
        </p:nvSpPr>
        <p:spPr>
          <a:xfrm>
            <a:off x="548640" y="5998464"/>
            <a:ext cx="6766560" cy="292608"/>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The assert is the part most people leave out. It turns a silent wrong answer into a loud failure.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48640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Shapes, sorting, size vs count, transform</a:t>
            </a:r>
            <a:endParaRPr lang="en-US" sz="1150" dirty="0"/>
          </a:p>
        </p:txBody>
      </p:sp>
      <p:sp>
        <p:nvSpPr>
          <p:cNvPr id="10" name="Text 8"/>
          <p:cNvSpPr txBox="1"/>
          <p:nvPr/>
        </p:nvSpPr>
        <p:spPr>
          <a:xfrm>
            <a:off x="6583680" y="1947672"/>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48640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Missing keys, index vs column, agg misuse</a:t>
            </a:r>
            <a:endParaRPr lang="en-US" sz="1150" dirty="0"/>
          </a:p>
        </p:txBody>
      </p:sp>
      <p:sp>
        <p:nvSpPr>
          <p:cNvPr id="16" name="Text 14"/>
          <p:cNvSpPr txBox="1"/>
          <p:nvPr/>
        </p:nvSpPr>
        <p:spPr>
          <a:xfrm>
            <a:off x="6583680" y="2971800"/>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48640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Group, aggregate, name, sort, pivot</a:t>
            </a:r>
            <a:endParaRPr lang="en-US" sz="1150" dirty="0"/>
          </a:p>
        </p:txBody>
      </p:sp>
      <p:sp>
        <p:nvSpPr>
          <p:cNvPr id="22" name="Text 20"/>
          <p:cNvSpPr txBox="1"/>
          <p:nvPr/>
        </p:nvSpPr>
        <p:spPr>
          <a:xfrm>
            <a:off x="6583680" y="3995928"/>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486400" cy="301752"/>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A full report, and above-group-average</a:t>
            </a:r>
            <a:endParaRPr lang="en-US" sz="1150" dirty="0"/>
          </a:p>
        </p:txBody>
      </p:sp>
      <p:sp>
        <p:nvSpPr>
          <p:cNvPr id="28" name="Text 26"/>
          <p:cNvSpPr txBox="1"/>
          <p:nvPr/>
        </p:nvSpPr>
        <p:spPr>
          <a:xfrm>
            <a:off x="6583680" y="502005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Day17_Practice_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Listen for the word “per”</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Check the grouped total = row count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Raise a hand — I am walking around</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After every groupby, check that the counts still add up to the number of rows you started with.</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groupby = split, apply, combine — you write one line.</a:t>
            </a:r>
            <a:endParaRPr lang="en-US" sz="10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Hear the word “per” in a question and reach for groupby.</a:t>
            </a:r>
            <a:endParaRPr lang="en-US" sz="10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The group key becomes the INDEX of the result.</a:t>
            </a:r>
            <a:endParaRPr lang="en-US" sz="10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Results are sorted by KEY, not by value. Sort them yourself.</a:t>
            </a:r>
            <a:endParaRPr lang="en-US" sz="10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size() counts rows; count() counts non-missing values.</a:t>
            </a:r>
            <a:endParaRPr lang="en-US" sz="10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If those two disagree, you have missing data.</a:t>
            </a:r>
            <a:endParaRPr lang="en-US" sz="10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agg(["mean","max"]) for many functions on one column.</a:t>
            </a:r>
            <a:endParaRPr lang="en-US" sz="10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agg({"a":"mean"}) for a different function per column.</a:t>
            </a:r>
            <a:endParaRPr lang="en-US" sz="10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Named aggregation gives your own column names — prefer it.</a:t>
            </a:r>
            <a:endParaRPr lang="en-US" sz="10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Two keys give a MultiIndex; unstack or pivot_table widens it.</a:t>
            </a:r>
            <a:endParaRPr lang="en-US" sz="10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agg SHRINKS the table; transform keeps the original shape.</a:t>
            </a:r>
            <a:endParaRPr lang="en-US" sz="10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 Rows with a missing group key vanish. Use dropna=False.</a:t>
            </a:r>
            <a:endParaRPr lang="en-US" sz="10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40080"/>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Rewrite Day 15's loop-over-cities as a single groupby  ·  Build a report with four named aggregations and an assert that the counts add up  ·  Use transform to find every row above its own group's average</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1.17</a:t>
            </a:r>
            <a:endParaRPr lang="en-US" sz="1300" dirty="0"/>
          </a:p>
        </p:txBody>
      </p:sp>
      <p:sp>
        <p:nvSpPr>
          <p:cNvPr id="47" name="Text 45"/>
          <p:cNvSpPr txBox="1"/>
          <p:nvPr/>
        </p:nvSpPr>
        <p:spPr>
          <a:xfrm>
            <a:off x="6492240" y="5632704"/>
            <a:ext cx="4892040" cy="640080"/>
          </a:xfrm>
          <a:prstGeom prst="rect">
            <a:avLst/>
          </a:prstGeom>
          <a:noFill/>
          <a:ln/>
        </p:spPr>
        <p:txBody>
          <a:bodyPr wrap="square" lIns="0" tIns="0" rIns="0" bIns="0" rtlCol="0" anchor="ctr"/>
          <a:lstStyle/>
          <a:p>
            <a:pPr indent="0" marL="0">
              <a:lnSpc>
                <a:spcPct val="110000"/>
              </a:lnSpc>
              <a:buNone/>
            </a:pPr>
            <a:r>
              <a:rPr lang="en-US" sz="1050" dirty="0">
                <a:solidFill>
                  <a:srgbClr val="AFC2DC"/>
                </a:solidFill>
                <a:latin typeface="Calibri" pitchFamily="34" charset="0"/>
                <a:ea typeface="Calibri" pitchFamily="34" charset="-122"/>
                <a:cs typeface="Calibri" pitchFamily="34" charset="-120"/>
              </a:rPr>
              <a:t>Merge, join &amp; concat:  combining two tables on a shared key — and what happens to the rows that do not match</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17 - GroupBy &amp; Aggregation</dc:title>
  <dc:subject>PptxGenJS Presentation</dc:subject>
  <dc:creator>Data Science Program</dc:creator>
  <cp:lastModifiedBy>Data Science Program</cp:lastModifiedBy>
  <cp:revision>1</cp:revision>
  <dcterms:created xsi:type="dcterms:W3CDTF">2026-09-24T12:53:36Z</dcterms:created>
  <dcterms:modified xsi:type="dcterms:W3CDTF">2026-09-24T12:53:36Z</dcterms:modified>
</cp:coreProperties>
</file>