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16. More pandas confusion lives here than anywhere else in the library. Go slowly, and make them say 'label' or 'position' out loud every time they choose between loc and iloc.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contrast: selecting columns was easy because columns have names. Rows have BOTH labels and positions, and that is the whole difficulty.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shorten sections 1 and 4. They are the ones students get wrong for weeks afterwards if rushed.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'they agree just often enough' point is the crucial one. On a fresh DataFrame loc and iloc give identical answers, so students never learn the difference until a filter breaks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trap out loud now and again in section 4. Students need to hear that the two agreeing is temporary.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'Ravi to Neha' framing is what makes loc's inclusivity feel natural rather than arbitrary. Use a string index in the demo to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third time the &amp; versus and rule has appeared - Day 12, Day 13, now here. By now it should be automatic.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Day 12 callback is worth spelling out. Students who understood views versus copies will find this familiar rather than arbitrary.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inclusive default on between catches people because range, slicing and arange all exclude the stop. Worth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valuable slide of the day. Run it live: filter, then show loc[2] failing while iloc[2] works. The KeyError on a row that is visibly on screen is what makes it stick.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oversell set_index. Many students set an index because it feels professional and then fight it. The identifier test is the right filter.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1 is the worst kind of bug: no error, no warning in older pandas, and the data is simply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filtering returns a COPY, so df is unchanged unless you assign back or use .loc. That is the reverse of the NumPy view behaviour and worth naming.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Making them verbalise the choice is genuinely effective. It takes two seconds and removes most of the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twelve lines aloud. Tomorrow's groupby replaces the loop-over-cities pattern they used in yesterday's practice - worth previewing that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238"/>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1D3050"/>
          </a:solidFill>
          <a:ln w="12700">
            <a:solidFill>
              <a:srgbClr val="333333"/>
            </a:solidFill>
            <a:prstDash val="solid"/>
          </a:ln>
        </p:spPr>
      </p:sp>
      <p:sp>
        <p:nvSpPr>
          <p:cNvPr id="3" name="Shape 1"/>
          <p:cNvSpPr/>
          <p:nvPr/>
        </p:nvSpPr>
        <p:spPr>
          <a:xfrm>
            <a:off x="10607040" y="4206240"/>
            <a:ext cx="3108960" cy="3108960"/>
          </a:xfrm>
          <a:prstGeom prst="ellipse">
            <a:avLst/>
          </a:prstGeom>
          <a:solidFill>
            <a:srgbClr val="1A2A46"/>
          </a:solidFill>
          <a:ln w="12700">
            <a:solidFill>
              <a:srgbClr val="333333"/>
            </a:solidFill>
            <a:prstDash val="solid"/>
          </a:ln>
        </p:spPr>
      </p:sp>
      <p:sp>
        <p:nvSpPr>
          <p:cNvPr id="4" name="Text 2"/>
          <p:cNvSpPr txBox="1"/>
          <p:nvPr/>
        </p:nvSpPr>
        <p:spPr>
          <a:xfrm>
            <a:off x="822960" y="1417320"/>
            <a:ext cx="8686800" cy="320040"/>
          </a:xfrm>
          <a:prstGeom prst="rect">
            <a:avLst/>
          </a:prstGeom>
          <a:noFill/>
          <a:ln/>
        </p:spPr>
        <p:txBody>
          <a:bodyPr wrap="square" lIns="0" tIns="0" rIns="0" bIns="0" rtlCol="0" anchor="ctr"/>
          <a:lstStyle/>
          <a:p>
            <a:pPr indent="0" marL="0">
              <a:buNone/>
            </a:pPr>
            <a:r>
              <a:rPr lang="en-US" sz="1300" b="1" spc="200" kern="0" dirty="0">
                <a:solidFill>
                  <a:srgbClr val="FFC145"/>
                </a:solidFill>
                <a:latin typeface="Calibri" pitchFamily="34" charset="0"/>
                <a:ea typeface="Calibri" pitchFamily="34" charset="-122"/>
                <a:cs typeface="Calibri" pitchFamily="34" charset="-120"/>
              </a:rPr>
              <a:t>PYTHON FOR DATA SCIENCE  ·  MODULE 1  ·  TOPIC 1.15</a:t>
            </a:r>
            <a:endParaRPr lang="en-US" sz="1300" dirty="0"/>
          </a:p>
        </p:txBody>
      </p:sp>
      <p:sp>
        <p:nvSpPr>
          <p:cNvPr id="5" name="Text 3"/>
          <p:cNvSpPr txBox="1"/>
          <p:nvPr/>
        </p:nvSpPr>
        <p:spPr>
          <a:xfrm>
            <a:off x="822960" y="1874520"/>
            <a:ext cx="8412480" cy="1737360"/>
          </a:xfrm>
          <a:prstGeom prst="rect">
            <a:avLst/>
          </a:prstGeom>
          <a:noFill/>
          <a:ln/>
        </p:spPr>
        <p:txBody>
          <a:bodyPr wrap="square" lIns="0" tIns="0" rIns="0" bIns="0" rtlCol="0" anchor="ctr"/>
          <a:lstStyle/>
          <a:p>
            <a:pPr indent="0" marL="0">
              <a:lnSpc>
                <a:spcPct val="105000"/>
              </a:lnSpc>
              <a:buNone/>
            </a:pPr>
            <a:r>
              <a:rPr lang="en-US" sz="3800" b="1" dirty="0">
                <a:solidFill>
                  <a:srgbClr val="FFFFFF"/>
                </a:solidFill>
                <a:latin typeface="Cambria" pitchFamily="34" charset="0"/>
                <a:ea typeface="Cambria" pitchFamily="34" charset="-122"/>
                <a:cs typeface="Cambria" pitchFamily="34" charset="-120"/>
              </a:rPr>
              <a:t>Filtering, Selection</a:t>
            </a:r>
            <a:endParaRPr lang="en-US" sz="3800" dirty="0"/>
          </a:p>
          <a:p>
            <a:pPr indent="0" marL="0">
              <a:lnSpc>
                <a:spcPct val="105000"/>
              </a:lnSpc>
              <a:buNone/>
            </a:pPr>
            <a:r>
              <a:rPr lang="en-US" sz="3800" b="1" dirty="0">
                <a:solidFill>
                  <a:srgbClr val="FFFFFF"/>
                </a:solidFill>
                <a:latin typeface="Cambria" pitchFamily="34" charset="0"/>
                <a:ea typeface="Cambria" pitchFamily="34" charset="-122"/>
                <a:cs typeface="Cambria" pitchFamily="34" charset="-120"/>
              </a:rPr>
              <a:t>&amp; Indexing</a:t>
            </a:r>
            <a:endParaRPr lang="en-US" sz="3800" dirty="0"/>
          </a:p>
        </p:txBody>
      </p:sp>
      <p:sp>
        <p:nvSpPr>
          <p:cNvPr id="6" name="Text 4"/>
          <p:cNvSpPr txBox="1"/>
          <p:nvPr/>
        </p:nvSpPr>
        <p:spPr>
          <a:xfrm>
            <a:off x="841248" y="3703320"/>
            <a:ext cx="8229600" cy="365760"/>
          </a:xfrm>
          <a:prstGeom prst="rect">
            <a:avLst/>
          </a:prstGeom>
          <a:noFill/>
          <a:ln/>
        </p:spPr>
        <p:txBody>
          <a:bodyPr wrap="square" lIns="0" tIns="0" rIns="0" bIns="0" rtlCol="0" anchor="ctr"/>
          <a:lstStyle/>
          <a:p>
            <a:pPr indent="0" marL="0">
              <a:buNone/>
            </a:pPr>
            <a:r>
              <a:rPr lang="en-US" sz="1800" i="1" dirty="0">
                <a:solidFill>
                  <a:srgbClr val="AFC2DC"/>
                </a:solidFill>
                <a:latin typeface="Calibri" pitchFamily="34" charset="0"/>
                <a:ea typeface="Calibri" pitchFamily="34" charset="-122"/>
                <a:cs typeface="Calibri" pitchFamily="34" charset="-120"/>
              </a:rPr>
              <a:t>Day 16  —  loc, iloc, and the trap between them</a:t>
            </a:r>
            <a:endParaRPr lang="en-US" sz="1800" dirty="0"/>
          </a:p>
        </p:txBody>
      </p:sp>
      <p:sp>
        <p:nvSpPr>
          <p:cNvPr id="7" name="Shape 5"/>
          <p:cNvSpPr/>
          <p:nvPr/>
        </p:nvSpPr>
        <p:spPr>
          <a:xfrm>
            <a:off x="822960" y="4526280"/>
            <a:ext cx="2468880" cy="960120"/>
          </a:xfrm>
          <a:prstGeom prst="roundRect">
            <a:avLst>
              <a:gd name="adj" fmla="val 8571"/>
            </a:avLst>
          </a:prstGeom>
          <a:solidFill>
            <a:srgbClr val="1E3151"/>
          </a:solidFill>
          <a:ln w="12700">
            <a:solidFill>
              <a:srgbClr val="1E3151"/>
            </a:solidFill>
            <a:prstDash val="solid"/>
          </a:ln>
        </p:spPr>
      </p:sp>
      <p:sp>
        <p:nvSpPr>
          <p:cNvPr id="8" name="Text 6"/>
          <p:cNvSpPr txBox="1"/>
          <p:nvPr/>
        </p:nvSpPr>
        <p:spPr>
          <a:xfrm>
            <a:off x="1024128" y="4626864"/>
            <a:ext cx="210312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90 min</a:t>
            </a:r>
            <a:endParaRPr lang="en-US" sz="2200" dirty="0"/>
          </a:p>
        </p:txBody>
      </p:sp>
      <p:sp>
        <p:nvSpPr>
          <p:cNvPr id="9" name="Text 7"/>
          <p:cNvSpPr txBox="1"/>
          <p:nvPr/>
        </p:nvSpPr>
        <p:spPr>
          <a:xfrm>
            <a:off x="1024128" y="5029200"/>
            <a:ext cx="2194560" cy="365760"/>
          </a:xfrm>
          <a:prstGeom prst="rect">
            <a:avLst/>
          </a:prstGeom>
          <a:noFill/>
          <a:ln/>
        </p:spPr>
        <p:txBody>
          <a:bodyPr wrap="square" lIns="0" tIns="0" rIns="0" bIns="0" rtlCol="0" anchor="ctr"/>
          <a:lstStyle/>
          <a:p>
            <a:pPr indent="0" marL="0">
              <a:buNone/>
            </a:pPr>
            <a:r>
              <a:rPr lang="en-US" sz="1050" dirty="0">
                <a:solidFill>
                  <a:srgbClr val="9DB2CE"/>
                </a:solidFill>
                <a:latin typeface="Calibri" pitchFamily="34" charset="0"/>
                <a:ea typeface="Calibri" pitchFamily="34" charset="-122"/>
                <a:cs typeface="Calibri" pitchFamily="34" charset="-120"/>
              </a:rPr>
              <a:t>Concepts + live code</a:t>
            </a:r>
            <a:endParaRPr lang="en-US" sz="1050" dirty="0"/>
          </a:p>
        </p:txBody>
      </p:sp>
      <p:sp>
        <p:nvSpPr>
          <p:cNvPr id="10" name="Shape 8"/>
          <p:cNvSpPr/>
          <p:nvPr/>
        </p:nvSpPr>
        <p:spPr>
          <a:xfrm>
            <a:off x="3566160" y="4526280"/>
            <a:ext cx="2468880" cy="960120"/>
          </a:xfrm>
          <a:prstGeom prst="roundRect">
            <a:avLst>
              <a:gd name="adj" fmla="val 8571"/>
            </a:avLst>
          </a:prstGeom>
          <a:solidFill>
            <a:srgbClr val="1E3151"/>
          </a:solidFill>
          <a:ln w="12700">
            <a:solidFill>
              <a:srgbClr val="1E3151"/>
            </a:solidFill>
            <a:prstDash val="solid"/>
          </a:ln>
        </p:spPr>
      </p:sp>
      <p:sp>
        <p:nvSpPr>
          <p:cNvPr id="11" name="Text 9"/>
          <p:cNvSpPr txBox="1"/>
          <p:nvPr/>
        </p:nvSpPr>
        <p:spPr>
          <a:xfrm>
            <a:off x="3767328" y="4626864"/>
            <a:ext cx="210312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30 min</a:t>
            </a:r>
            <a:endParaRPr lang="en-US" sz="2200" dirty="0"/>
          </a:p>
        </p:txBody>
      </p:sp>
      <p:sp>
        <p:nvSpPr>
          <p:cNvPr id="12" name="Text 10"/>
          <p:cNvSpPr txBox="1"/>
          <p:nvPr/>
        </p:nvSpPr>
        <p:spPr>
          <a:xfrm>
            <a:off x="3767328" y="5029200"/>
            <a:ext cx="2194560" cy="365760"/>
          </a:xfrm>
          <a:prstGeom prst="rect">
            <a:avLst/>
          </a:prstGeom>
          <a:noFill/>
          <a:ln/>
        </p:spPr>
        <p:txBody>
          <a:bodyPr wrap="square" lIns="0" tIns="0" rIns="0" bIns="0" rtlCol="0" anchor="ctr"/>
          <a:lstStyle/>
          <a:p>
            <a:pPr indent="0" marL="0">
              <a:buNone/>
            </a:pPr>
            <a:r>
              <a:rPr lang="en-US" sz="1050" dirty="0">
                <a:solidFill>
                  <a:srgbClr val="9DB2CE"/>
                </a:solidFill>
                <a:latin typeface="Calibri" pitchFamily="34" charset="0"/>
                <a:ea typeface="Calibri" pitchFamily="34" charset="-122"/>
                <a:cs typeface="Calibri" pitchFamily="34" charset="-120"/>
              </a:rPr>
              <a:t>Practice notebook</a:t>
            </a:r>
            <a:endParaRPr lang="en-US" sz="1050" dirty="0"/>
          </a:p>
        </p:txBody>
      </p:sp>
      <p:sp>
        <p:nvSpPr>
          <p:cNvPr id="13" name="Shape 11"/>
          <p:cNvSpPr/>
          <p:nvPr/>
        </p:nvSpPr>
        <p:spPr>
          <a:xfrm>
            <a:off x="6309360" y="4526280"/>
            <a:ext cx="2468880" cy="960120"/>
          </a:xfrm>
          <a:prstGeom prst="roundRect">
            <a:avLst>
              <a:gd name="adj" fmla="val 8571"/>
            </a:avLst>
          </a:prstGeom>
          <a:solidFill>
            <a:srgbClr val="1E3151"/>
          </a:solidFill>
          <a:ln w="12700">
            <a:solidFill>
              <a:srgbClr val="1E3151"/>
            </a:solidFill>
            <a:prstDash val="solid"/>
          </a:ln>
        </p:spPr>
      </p:sp>
      <p:sp>
        <p:nvSpPr>
          <p:cNvPr id="14" name="Text 12"/>
          <p:cNvSpPr txBox="1"/>
          <p:nvPr/>
        </p:nvSpPr>
        <p:spPr>
          <a:xfrm>
            <a:off x="6510528" y="4626864"/>
            <a:ext cx="210312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2</a:t>
            </a:r>
            <a:endParaRPr lang="en-US" sz="2200" dirty="0"/>
          </a:p>
        </p:txBody>
      </p:sp>
      <p:sp>
        <p:nvSpPr>
          <p:cNvPr id="15" name="Text 13"/>
          <p:cNvSpPr txBox="1"/>
          <p:nvPr/>
        </p:nvSpPr>
        <p:spPr>
          <a:xfrm>
            <a:off x="6510528" y="5029200"/>
            <a:ext cx="2194560" cy="365760"/>
          </a:xfrm>
          <a:prstGeom prst="rect">
            <a:avLst/>
          </a:prstGeom>
          <a:noFill/>
          <a:ln/>
        </p:spPr>
        <p:txBody>
          <a:bodyPr wrap="square" lIns="0" tIns="0" rIns="0" bIns="0" rtlCol="0" anchor="ctr"/>
          <a:lstStyle/>
          <a:p>
            <a:pPr indent="0" marL="0">
              <a:buNone/>
            </a:pPr>
            <a:r>
              <a:rPr lang="en-US" sz="1050" dirty="0">
                <a:solidFill>
                  <a:srgbClr val="9DB2CE"/>
                </a:solidFill>
                <a:latin typeface="Calibri" pitchFamily="34" charset="0"/>
                <a:ea typeface="Calibri" pitchFamily="34" charset="-122"/>
                <a:cs typeface="Calibri" pitchFamily="34" charset="-120"/>
              </a:rPr>
              <a:t>Words you must not mix up</a:t>
            </a:r>
            <a:endParaRPr lang="en-US" sz="1050" dirty="0"/>
          </a:p>
        </p:txBody>
      </p:sp>
      <p:sp>
        <p:nvSpPr>
          <p:cNvPr id="16" name="Shape 14"/>
          <p:cNvSpPr/>
          <p:nvPr/>
        </p:nvSpPr>
        <p:spPr>
          <a:xfrm>
            <a:off x="9098280" y="1371600"/>
            <a:ext cx="2514600" cy="2514600"/>
          </a:xfrm>
          <a:prstGeom prst="roundRect">
            <a:avLst>
              <a:gd name="adj" fmla="val 3636"/>
            </a:avLst>
          </a:prstGeom>
          <a:solidFill>
            <a:srgbClr val="FFFFFF"/>
          </a:solidFill>
          <a:ln w="12700">
            <a:solidFill>
              <a:srgbClr val="333333"/>
            </a:solidFill>
            <a:prstDash val="solid"/>
          </a:ln>
          <a:effectLst>
            <a:outerShdw sx="100000" sy="100000" kx="0" ky="0" algn="bl" rotWithShape="0" blurRad="177800" dist="38100" dir="5400000">
              <a:srgbClr val="000000">
                <a:alpha val="35000"/>
              </a:srgbClr>
            </a:outerShdw>
          </a:effectLst>
        </p:spPr>
      </p:sp>
      <p:pic>
        <p:nvPicPr>
          <p:cNvPr id="17" name="Image 0" descr="/home/claude/day16/bu_logo.png">    </p:cNvPr>
          <p:cNvPicPr>
            <a:picLocks noChangeAspect="1"/>
          </p:cNvPicPr>
          <p:nvPr/>
        </p:nvPicPr>
        <p:blipFill>
          <a:blip r:embed="rId1"/>
          <a:stretch>
            <a:fillRect/>
          </a:stretch>
        </p:blipFill>
        <p:spPr>
          <a:xfrm>
            <a:off x="9400032" y="1737360"/>
            <a:ext cx="1911096" cy="1783080"/>
          </a:xfrm>
          <a:prstGeom prst="rect">
            <a:avLst/>
          </a:prstGeom>
        </p:spPr>
      </p:pic>
      <p:sp>
        <p:nvSpPr>
          <p:cNvPr id="18" name="Text 15"/>
          <p:cNvSpPr txBox="1"/>
          <p:nvPr/>
        </p:nvSpPr>
        <p:spPr>
          <a:xfrm>
            <a:off x="9098280" y="3977640"/>
            <a:ext cx="2514600" cy="274320"/>
          </a:xfrm>
          <a:prstGeom prst="rect">
            <a:avLst/>
          </a:prstGeom>
          <a:noFill/>
          <a:ln/>
        </p:spPr>
        <p:txBody>
          <a:bodyPr wrap="square" lIns="0" tIns="0" rIns="0" bIns="0" rtlCol="0" anchor="ctr"/>
          <a:lstStyle/>
          <a:p>
            <a:pPr algn="ctr" indent="0" marL="0">
              <a:buNone/>
            </a:pPr>
            <a:r>
              <a:rPr lang="en-US" sz="1200" b="1" dirty="0">
                <a:solidFill>
                  <a:srgbClr val="AFC2DC"/>
                </a:solidFill>
                <a:latin typeface="Calibri" pitchFamily="34" charset="0"/>
                <a:ea typeface="Calibri" pitchFamily="34" charset="-122"/>
                <a:cs typeface="Calibri" pitchFamily="34" charset="-120"/>
              </a:rPr>
              <a:t>Boston University</a:t>
            </a:r>
            <a:endParaRPr lang="en-US" sz="1200" dirty="0"/>
          </a:p>
        </p:txBody>
      </p:sp>
      <p:sp>
        <p:nvSpPr>
          <p:cNvPr id="19" name="Text 16"/>
          <p:cNvSpPr txBox="1"/>
          <p:nvPr/>
        </p:nvSpPr>
        <p:spPr>
          <a:xfrm>
            <a:off x="841248" y="5806440"/>
            <a:ext cx="7315200" cy="292608"/>
          </a:xfrm>
          <a:prstGeom prst="rect">
            <a:avLst/>
          </a:prstGeom>
          <a:noFill/>
          <a:ln/>
        </p:spPr>
        <p:txBody>
          <a:bodyPr wrap="square" lIns="0" tIns="0" rIns="0" bIns="0" rtlCol="0" anchor="ctr"/>
          <a:lstStyle/>
          <a:p>
            <a:pPr indent="0" marL="0">
              <a:buNone/>
            </a:pPr>
            <a:r>
              <a:rPr lang="en-US" sz="1300" dirty="0">
                <a:solidFill>
                  <a:srgbClr val="8FA6C4"/>
                </a:solidFill>
                <a:latin typeface="Calibri" pitchFamily="34" charset="0"/>
                <a:ea typeface="Calibri" pitchFamily="34" charset="-122"/>
                <a:cs typeface="Calibri" pitchFamily="34" charset="-120"/>
              </a:rPr>
              <a:t>Prepared &amp; presented by  </a:t>
            </a:r>
            <a:pPr indent="0" marL="0">
              <a:buNone/>
            </a:pPr>
            <a:r>
              <a:rPr lang="en-US" sz="1300" b="1" dirty="0">
                <a:solidFill>
                  <a:srgbClr val="FFC145"/>
                </a:solidFill>
                <a:latin typeface="Calibri" pitchFamily="34" charset="0"/>
                <a:ea typeface="Calibri" pitchFamily="34" charset="-122"/>
                <a:cs typeface="Calibri" pitchFamily="34" charset="-120"/>
              </a:rPr>
              <a:t>Srinivasa Sai Chava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WARM-UP  ·  5 MINUTES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Before we start — five questions from Day 15</a:t>
            </a:r>
            <a:endParaRPr lang="en-US" sz="3200" dirty="0"/>
          </a:p>
        </p:txBody>
      </p:sp>
      <p:sp>
        <p:nvSpPr>
          <p:cNvPr id="5" name="Shape 3"/>
          <p:cNvSpPr/>
          <p:nvPr/>
        </p:nvSpPr>
        <p:spPr>
          <a:xfrm>
            <a:off x="548640" y="1572768"/>
            <a:ext cx="1106424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77240" y="1746504"/>
            <a:ext cx="384048" cy="384048"/>
          </a:xfrm>
          <a:prstGeom prst="ellipse">
            <a:avLst/>
          </a:prstGeom>
          <a:solidFill>
            <a:srgbClr val="3E7CB1"/>
          </a:solidFill>
          <a:ln w="12700">
            <a:solidFill>
              <a:srgbClr val="3E7CB1"/>
            </a:solidFill>
            <a:prstDash val="solid"/>
          </a:ln>
        </p:spPr>
      </p:sp>
      <p:sp>
        <p:nvSpPr>
          <p:cNvPr id="7" name="Text 5"/>
          <p:cNvSpPr txBox="1"/>
          <p:nvPr/>
        </p:nvSpPr>
        <p:spPr>
          <a:xfrm>
            <a:off x="777240" y="17465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325880" y="1773936"/>
            <a:ext cx="4937760" cy="329184"/>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df["col"] or df[["col"]] — which is which?</a:t>
            </a:r>
            <a:endParaRPr lang="en-US" sz="1300" dirty="0"/>
          </a:p>
        </p:txBody>
      </p:sp>
      <p:sp>
        <p:nvSpPr>
          <p:cNvPr id="9" name="Text 7"/>
          <p:cNvSpPr txBox="1"/>
          <p:nvPr/>
        </p:nvSpPr>
        <p:spPr>
          <a:xfrm>
            <a:off x="6309360" y="1773936"/>
            <a:ext cx="5120640" cy="329184"/>
          </a:xfrm>
          <a:prstGeom prst="rect">
            <a:avLst/>
          </a:prstGeom>
          <a:noFill/>
          <a:ln/>
        </p:spPr>
        <p:txBody>
          <a:bodyPr wrap="square" lIns="0" tIns="0" rIns="0" bIns="0" rtlCol="0" anchor="ctr"/>
          <a:lstStyle/>
          <a:p>
            <a:pPr indent="0" marL="0">
              <a:buNone/>
            </a:pPr>
            <a:r>
              <a:rPr lang="en-US" sz="1300" b="1" dirty="0">
                <a:solidFill>
                  <a:srgbClr val="2FA98C"/>
                </a:solidFill>
                <a:latin typeface="Calibri" pitchFamily="34" charset="0"/>
                <a:ea typeface="Calibri" pitchFamily="34" charset="-122"/>
                <a:cs typeface="Calibri" pitchFamily="34" charset="-120"/>
              </a:rPr>
              <a:t>→   </a:t>
            </a:r>
            <a:pPr indent="0" marL="0">
              <a:buNone/>
            </a:pPr>
            <a:r>
              <a:rPr lang="en-US" sz="1300" dirty="0">
                <a:solidFill>
                  <a:srgbClr val="2B3445"/>
                </a:solidFill>
                <a:latin typeface="Calibri" pitchFamily="34" charset="0"/>
                <a:ea typeface="Calibri" pitchFamily="34" charset="-122"/>
                <a:cs typeface="Calibri" pitchFamily="34" charset="-120"/>
              </a:rPr>
              <a:t>Series, then DataFrame.</a:t>
            </a:r>
            <a:endParaRPr lang="en-US" sz="1300" dirty="0"/>
          </a:p>
        </p:txBody>
      </p:sp>
      <p:sp>
        <p:nvSpPr>
          <p:cNvPr id="10" name="Shape 8"/>
          <p:cNvSpPr/>
          <p:nvPr/>
        </p:nvSpPr>
        <p:spPr>
          <a:xfrm>
            <a:off x="548640" y="2414016"/>
            <a:ext cx="1106424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Shape 9"/>
          <p:cNvSpPr/>
          <p:nvPr/>
        </p:nvSpPr>
        <p:spPr>
          <a:xfrm>
            <a:off x="777240" y="2587752"/>
            <a:ext cx="384048" cy="384048"/>
          </a:xfrm>
          <a:prstGeom prst="ellipse">
            <a:avLst/>
          </a:prstGeom>
          <a:solidFill>
            <a:srgbClr val="3E7CB1"/>
          </a:solidFill>
          <a:ln w="12700">
            <a:solidFill>
              <a:srgbClr val="3E7CB1"/>
            </a:solidFill>
            <a:prstDash val="solid"/>
          </a:ln>
        </p:spPr>
      </p:sp>
      <p:sp>
        <p:nvSpPr>
          <p:cNvPr id="12" name="Text 10"/>
          <p:cNvSpPr txBox="1"/>
          <p:nvPr/>
        </p:nvSpPr>
        <p:spPr>
          <a:xfrm>
            <a:off x="777240" y="25877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325880" y="2615184"/>
            <a:ext cx="4937760" cy="329184"/>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Why avoid df.count ?</a:t>
            </a:r>
            <a:endParaRPr lang="en-US" sz="1300" dirty="0"/>
          </a:p>
        </p:txBody>
      </p:sp>
      <p:sp>
        <p:nvSpPr>
          <p:cNvPr id="14" name="Text 12"/>
          <p:cNvSpPr txBox="1"/>
          <p:nvPr/>
        </p:nvSpPr>
        <p:spPr>
          <a:xfrm>
            <a:off x="6309360" y="2615184"/>
            <a:ext cx="5120640" cy="329184"/>
          </a:xfrm>
          <a:prstGeom prst="rect">
            <a:avLst/>
          </a:prstGeom>
          <a:noFill/>
          <a:ln/>
        </p:spPr>
        <p:txBody>
          <a:bodyPr wrap="square" lIns="0" tIns="0" rIns="0" bIns="0" rtlCol="0" anchor="ctr"/>
          <a:lstStyle/>
          <a:p>
            <a:pPr indent="0" marL="0">
              <a:buNone/>
            </a:pPr>
            <a:r>
              <a:rPr lang="en-US" sz="1300" b="1" dirty="0">
                <a:solidFill>
                  <a:srgbClr val="2FA98C"/>
                </a:solidFill>
                <a:latin typeface="Calibri" pitchFamily="34" charset="0"/>
                <a:ea typeface="Calibri" pitchFamily="34" charset="-122"/>
                <a:cs typeface="Calibri" pitchFamily="34" charset="-120"/>
              </a:rPr>
              <a:t>→   </a:t>
            </a:r>
            <a:pPr indent="0" marL="0">
              <a:buNone/>
            </a:pPr>
            <a:r>
              <a:rPr lang="en-US" sz="1300" dirty="0">
                <a:solidFill>
                  <a:srgbClr val="2B3445"/>
                </a:solidFill>
                <a:latin typeface="Calibri" pitchFamily="34" charset="0"/>
                <a:ea typeface="Calibri" pitchFamily="34" charset="-122"/>
                <a:cs typeface="Calibri" pitchFamily="34" charset="-120"/>
              </a:rPr>
              <a:t>It is a method, not your column.</a:t>
            </a:r>
            <a:endParaRPr lang="en-US" sz="1300" dirty="0"/>
          </a:p>
        </p:txBody>
      </p:sp>
      <p:sp>
        <p:nvSpPr>
          <p:cNvPr id="15" name="Shape 13"/>
          <p:cNvSpPr/>
          <p:nvPr/>
        </p:nvSpPr>
        <p:spPr>
          <a:xfrm>
            <a:off x="548640" y="3255264"/>
            <a:ext cx="1106424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Shape 14"/>
          <p:cNvSpPr/>
          <p:nvPr/>
        </p:nvSpPr>
        <p:spPr>
          <a:xfrm>
            <a:off x="777240" y="3429000"/>
            <a:ext cx="384048" cy="384048"/>
          </a:xfrm>
          <a:prstGeom prst="ellipse">
            <a:avLst/>
          </a:prstGeom>
          <a:solidFill>
            <a:srgbClr val="3E7CB1"/>
          </a:solidFill>
          <a:ln w="12700">
            <a:solidFill>
              <a:srgbClr val="3E7CB1"/>
            </a:solidFill>
            <a:prstDash val="solid"/>
          </a:ln>
        </p:spPr>
      </p:sp>
      <p:sp>
        <p:nvSpPr>
          <p:cNvPr id="17" name="Text 15"/>
          <p:cNvSpPr txBox="1"/>
          <p:nvPr/>
        </p:nvSpPr>
        <p:spPr>
          <a:xfrm>
            <a:off x="777240" y="3429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325880" y="3456432"/>
            <a:ext cx="4937760" cy="329184"/>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NumPy mean with a nan vs pandas?</a:t>
            </a:r>
            <a:endParaRPr lang="en-US" sz="1300" dirty="0"/>
          </a:p>
        </p:txBody>
      </p:sp>
      <p:sp>
        <p:nvSpPr>
          <p:cNvPr id="19" name="Text 17"/>
          <p:cNvSpPr txBox="1"/>
          <p:nvPr/>
        </p:nvSpPr>
        <p:spPr>
          <a:xfrm>
            <a:off x="6309360" y="3456432"/>
            <a:ext cx="5120640" cy="329184"/>
          </a:xfrm>
          <a:prstGeom prst="rect">
            <a:avLst/>
          </a:prstGeom>
          <a:noFill/>
          <a:ln/>
        </p:spPr>
        <p:txBody>
          <a:bodyPr wrap="square" lIns="0" tIns="0" rIns="0" bIns="0" rtlCol="0" anchor="ctr"/>
          <a:lstStyle/>
          <a:p>
            <a:pPr indent="0" marL="0">
              <a:buNone/>
            </a:pPr>
            <a:r>
              <a:rPr lang="en-US" sz="1300" b="1" dirty="0">
                <a:solidFill>
                  <a:srgbClr val="2FA98C"/>
                </a:solidFill>
                <a:latin typeface="Calibri" pitchFamily="34" charset="0"/>
                <a:ea typeface="Calibri" pitchFamily="34" charset="-122"/>
                <a:cs typeface="Calibri" pitchFamily="34" charset="-120"/>
              </a:rPr>
              <a:t>→   </a:t>
            </a:r>
            <a:pPr indent="0" marL="0">
              <a:buNone/>
            </a:pPr>
            <a:r>
              <a:rPr lang="en-US" sz="1300" dirty="0">
                <a:solidFill>
                  <a:srgbClr val="2B3445"/>
                </a:solidFill>
                <a:latin typeface="Calibri" pitchFamily="34" charset="0"/>
                <a:ea typeface="Calibri" pitchFamily="34" charset="-122"/>
                <a:cs typeface="Calibri" pitchFamily="34" charset="-120"/>
              </a:rPr>
              <a:t>nan  ·  pandas skips it silently.</a:t>
            </a:r>
            <a:endParaRPr lang="en-US" sz="1300" dirty="0"/>
          </a:p>
        </p:txBody>
      </p:sp>
      <p:sp>
        <p:nvSpPr>
          <p:cNvPr id="20" name="Shape 18"/>
          <p:cNvSpPr/>
          <p:nvPr/>
        </p:nvSpPr>
        <p:spPr>
          <a:xfrm>
            <a:off x="548640" y="4096512"/>
            <a:ext cx="1106424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777240" y="4270248"/>
            <a:ext cx="384048" cy="384048"/>
          </a:xfrm>
          <a:prstGeom prst="ellipse">
            <a:avLst/>
          </a:prstGeom>
          <a:solidFill>
            <a:srgbClr val="3E7CB1"/>
          </a:solidFill>
          <a:ln w="12700">
            <a:solidFill>
              <a:srgbClr val="3E7CB1"/>
            </a:solidFill>
            <a:prstDash val="solid"/>
          </a:ln>
        </p:spPr>
      </p:sp>
      <p:sp>
        <p:nvSpPr>
          <p:cNvPr id="22" name="Text 20"/>
          <p:cNvSpPr txBox="1"/>
          <p:nvPr/>
        </p:nvSpPr>
        <p:spPr>
          <a:xfrm>
            <a:off x="777240" y="4270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1325880" y="4297680"/>
            <a:ext cx="4937760" cy="329184"/>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Which ddof does pandas std use?</a:t>
            </a:r>
            <a:endParaRPr lang="en-US" sz="1300" dirty="0"/>
          </a:p>
        </p:txBody>
      </p:sp>
      <p:sp>
        <p:nvSpPr>
          <p:cNvPr id="24" name="Text 22"/>
          <p:cNvSpPr txBox="1"/>
          <p:nvPr/>
        </p:nvSpPr>
        <p:spPr>
          <a:xfrm>
            <a:off x="6309360" y="4297680"/>
            <a:ext cx="5120640" cy="329184"/>
          </a:xfrm>
          <a:prstGeom prst="rect">
            <a:avLst/>
          </a:prstGeom>
          <a:noFill/>
          <a:ln/>
        </p:spPr>
        <p:txBody>
          <a:bodyPr wrap="square" lIns="0" tIns="0" rIns="0" bIns="0" rtlCol="0" anchor="ctr"/>
          <a:lstStyle/>
          <a:p>
            <a:pPr indent="0" marL="0">
              <a:buNone/>
            </a:pPr>
            <a:r>
              <a:rPr lang="en-US" sz="1300" b="1" dirty="0">
                <a:solidFill>
                  <a:srgbClr val="2FA98C"/>
                </a:solidFill>
                <a:latin typeface="Calibri" pitchFamily="34" charset="0"/>
                <a:ea typeface="Calibri" pitchFamily="34" charset="-122"/>
                <a:cs typeface="Calibri" pitchFamily="34" charset="-120"/>
              </a:rPr>
              <a:t>→   </a:t>
            </a:r>
            <a:pPr indent="0" marL="0">
              <a:buNone/>
            </a:pPr>
            <a:r>
              <a:rPr lang="en-US" sz="1300" dirty="0">
                <a:solidFill>
                  <a:srgbClr val="2B3445"/>
                </a:solidFill>
                <a:latin typeface="Calibri" pitchFamily="34" charset="0"/>
                <a:ea typeface="Calibri" pitchFamily="34" charset="-122"/>
                <a:cs typeface="Calibri" pitchFamily="34" charset="-120"/>
              </a:rPr>
              <a:t>ddof=1. NumPy uses 0.</a:t>
            </a:r>
            <a:endParaRPr lang="en-US" sz="1300" dirty="0"/>
          </a:p>
        </p:txBody>
      </p:sp>
      <p:sp>
        <p:nvSpPr>
          <p:cNvPr id="25" name="Shape 23"/>
          <p:cNvSpPr/>
          <p:nvPr/>
        </p:nvSpPr>
        <p:spPr>
          <a:xfrm>
            <a:off x="548640" y="4937760"/>
            <a:ext cx="11064240" cy="731520"/>
          </a:xfrm>
          <a:prstGeom prst="roundRect">
            <a:avLst>
              <a:gd name="adj" fmla="val 1125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6" name="Shape 24"/>
          <p:cNvSpPr/>
          <p:nvPr/>
        </p:nvSpPr>
        <p:spPr>
          <a:xfrm>
            <a:off x="777240" y="5111496"/>
            <a:ext cx="384048" cy="384048"/>
          </a:xfrm>
          <a:prstGeom prst="ellipse">
            <a:avLst/>
          </a:prstGeom>
          <a:solidFill>
            <a:srgbClr val="3E7CB1"/>
          </a:solidFill>
          <a:ln w="12700">
            <a:solidFill>
              <a:srgbClr val="3E7CB1"/>
            </a:solidFill>
            <a:prstDash val="solid"/>
          </a:ln>
        </p:spPr>
      </p:sp>
      <p:sp>
        <p:nvSpPr>
          <p:cNvPr id="27" name="Text 25"/>
          <p:cNvSpPr txBox="1"/>
          <p:nvPr/>
        </p:nvSpPr>
        <p:spPr>
          <a:xfrm>
            <a:off x="777240" y="51114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txBox="1"/>
          <p:nvPr/>
        </p:nvSpPr>
        <p:spPr>
          <a:xfrm>
            <a:off x="1325880" y="5138928"/>
            <a:ext cx="4937760" cy="329184"/>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First three things on a new dataset?</a:t>
            </a:r>
            <a:endParaRPr lang="en-US" sz="1300" dirty="0"/>
          </a:p>
        </p:txBody>
      </p:sp>
      <p:sp>
        <p:nvSpPr>
          <p:cNvPr id="29" name="Text 27"/>
          <p:cNvSpPr txBox="1"/>
          <p:nvPr/>
        </p:nvSpPr>
        <p:spPr>
          <a:xfrm>
            <a:off x="6309360" y="5138928"/>
            <a:ext cx="5120640" cy="329184"/>
          </a:xfrm>
          <a:prstGeom prst="rect">
            <a:avLst/>
          </a:prstGeom>
          <a:noFill/>
          <a:ln/>
        </p:spPr>
        <p:txBody>
          <a:bodyPr wrap="square" lIns="0" tIns="0" rIns="0" bIns="0" rtlCol="0" anchor="ctr"/>
          <a:lstStyle/>
          <a:p>
            <a:pPr indent="0" marL="0">
              <a:buNone/>
            </a:pPr>
            <a:r>
              <a:rPr lang="en-US" sz="1300" b="1" dirty="0">
                <a:solidFill>
                  <a:srgbClr val="2FA98C"/>
                </a:solidFill>
                <a:latin typeface="Calibri" pitchFamily="34" charset="0"/>
                <a:ea typeface="Calibri" pitchFamily="34" charset="-122"/>
                <a:cs typeface="Calibri" pitchFamily="34" charset="-120"/>
              </a:rPr>
              <a:t>→   </a:t>
            </a:r>
            <a:pPr indent="0" marL="0">
              <a:buNone/>
            </a:pPr>
            <a:r>
              <a:rPr lang="en-US" sz="1300" dirty="0">
                <a:solidFill>
                  <a:srgbClr val="2B3445"/>
                </a:solidFill>
                <a:latin typeface="Calibri" pitchFamily="34" charset="0"/>
                <a:ea typeface="Calibri" pitchFamily="34" charset="-122"/>
                <a:cs typeface="Calibri" pitchFamily="34" charset="-120"/>
              </a:rPr>
              <a:t>head(), shape, info().</a:t>
            </a:r>
            <a:endParaRPr lang="en-US" sz="1300" dirty="0"/>
          </a:p>
        </p:txBody>
      </p:sp>
      <p:sp>
        <p:nvSpPr>
          <p:cNvPr id="30" name="Text 28"/>
          <p:cNvSpPr txBox="1"/>
          <p:nvPr/>
        </p:nvSpPr>
        <p:spPr>
          <a:xfrm>
            <a:off x="548640" y="5852160"/>
            <a:ext cx="11064240" cy="292608"/>
          </a:xfrm>
          <a:prstGeom prst="rect">
            <a:avLst/>
          </a:prstGeom>
          <a:noFill/>
          <a:ln/>
        </p:spPr>
        <p:txBody>
          <a:bodyPr wrap="square" lIns="0" tIns="0" rIns="0" bIns="0" rtlCol="0" anchor="ctr"/>
          <a:lstStyle/>
          <a:p>
            <a:pPr indent="0" marL="0">
              <a:buNone/>
            </a:pPr>
            <a:r>
              <a:rPr lang="en-US" sz="1300" i="1" dirty="0">
                <a:solidFill>
                  <a:srgbClr val="6B7789"/>
                </a:solidFill>
                <a:latin typeface="Calibri" pitchFamily="34" charset="0"/>
                <a:ea typeface="Calibri" pitchFamily="34" charset="-122"/>
                <a:cs typeface="Calibri" pitchFamily="34" charset="-120"/>
              </a:rPr>
              <a:t>Yesterday was about columns. Today is about ROWS — which is a great deal fussier.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SESSION PLAN</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How today's two hours are structured</a:t>
            </a:r>
            <a:endParaRPr lang="en-US" sz="3200" dirty="0"/>
          </a:p>
        </p:txBody>
      </p:sp>
      <p:sp>
        <p:nvSpPr>
          <p:cNvPr id="5" name="Shape 3"/>
          <p:cNvSpPr/>
          <p:nvPr/>
        </p:nvSpPr>
        <p:spPr>
          <a:xfrm>
            <a:off x="548640" y="169164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2039112"/>
            <a:ext cx="420624" cy="420624"/>
          </a:xfrm>
          <a:prstGeom prst="ellipse">
            <a:avLst/>
          </a:prstGeom>
          <a:solidFill>
            <a:srgbClr val="E8674C"/>
          </a:solidFill>
          <a:ln w="12700">
            <a:solidFill>
              <a:srgbClr val="E8674C"/>
            </a:solidFill>
            <a:prstDash val="solid"/>
          </a:ln>
        </p:spPr>
      </p:sp>
      <p:sp>
        <p:nvSpPr>
          <p:cNvPr id="7" name="Text 5"/>
          <p:cNvSpPr txBox="1"/>
          <p:nvPr/>
        </p:nvSpPr>
        <p:spPr>
          <a:xfrm>
            <a:off x="804672" y="20391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417320" y="187452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Label vs position</a:t>
            </a:r>
            <a:endParaRPr lang="en-US" sz="1550" dirty="0"/>
          </a:p>
        </p:txBody>
      </p:sp>
      <p:sp>
        <p:nvSpPr>
          <p:cNvPr id="9" name="Text 7"/>
          <p:cNvSpPr txBox="1"/>
          <p:nvPr/>
        </p:nvSpPr>
        <p:spPr>
          <a:xfrm>
            <a:off x="1417320" y="224028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loc and iloc, and the slicing difference</a:t>
            </a:r>
            <a:endParaRPr lang="en-US" sz="1250" dirty="0"/>
          </a:p>
        </p:txBody>
      </p:sp>
      <p:sp>
        <p:nvSpPr>
          <p:cNvPr id="10" name="Text 8"/>
          <p:cNvSpPr txBox="1"/>
          <p:nvPr/>
        </p:nvSpPr>
        <p:spPr>
          <a:xfrm>
            <a:off x="4709160" y="187452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25 min</a:t>
            </a:r>
            <a:endParaRPr lang="en-US" sz="1300" dirty="0"/>
          </a:p>
        </p:txBody>
      </p:sp>
      <p:sp>
        <p:nvSpPr>
          <p:cNvPr id="11" name="Shape 9"/>
          <p:cNvSpPr/>
          <p:nvPr/>
        </p:nvSpPr>
        <p:spPr>
          <a:xfrm>
            <a:off x="6263640" y="169164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6519672" y="2039112"/>
            <a:ext cx="420624" cy="420624"/>
          </a:xfrm>
          <a:prstGeom prst="ellipse">
            <a:avLst/>
          </a:prstGeom>
          <a:solidFill>
            <a:srgbClr val="3E7CB1"/>
          </a:solidFill>
          <a:ln w="12700">
            <a:solidFill>
              <a:srgbClr val="3E7CB1"/>
            </a:solidFill>
            <a:prstDash val="solid"/>
          </a:ln>
        </p:spPr>
      </p:sp>
      <p:sp>
        <p:nvSpPr>
          <p:cNvPr id="13" name="Text 11"/>
          <p:cNvSpPr txBox="1"/>
          <p:nvPr/>
        </p:nvSpPr>
        <p:spPr>
          <a:xfrm>
            <a:off x="6519672" y="20391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7132320" y="187452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Boolean filtering</a:t>
            </a:r>
            <a:endParaRPr lang="en-US" sz="1550" dirty="0"/>
          </a:p>
        </p:txBody>
      </p:sp>
      <p:sp>
        <p:nvSpPr>
          <p:cNvPr id="15" name="Text 13"/>
          <p:cNvSpPr txBox="1"/>
          <p:nvPr/>
        </p:nvSpPr>
        <p:spPr>
          <a:xfrm>
            <a:off x="7132320" y="224028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Masks on a DataFrame, &amp; | ~</a:t>
            </a:r>
            <a:endParaRPr lang="en-US" sz="1250" dirty="0"/>
          </a:p>
        </p:txBody>
      </p:sp>
      <p:sp>
        <p:nvSpPr>
          <p:cNvPr id="16" name="Text 14"/>
          <p:cNvSpPr txBox="1"/>
          <p:nvPr/>
        </p:nvSpPr>
        <p:spPr>
          <a:xfrm>
            <a:off x="10424160" y="187452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25 min</a:t>
            </a:r>
            <a:endParaRPr lang="en-US" sz="1300" dirty="0"/>
          </a:p>
        </p:txBody>
      </p:sp>
      <p:sp>
        <p:nvSpPr>
          <p:cNvPr id="17" name="Shape 15"/>
          <p:cNvSpPr/>
          <p:nvPr/>
        </p:nvSpPr>
        <p:spPr>
          <a:xfrm>
            <a:off x="548640" y="301752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804672" y="3364992"/>
            <a:ext cx="420624" cy="420624"/>
          </a:xfrm>
          <a:prstGeom prst="ellipse">
            <a:avLst/>
          </a:prstGeom>
          <a:solidFill>
            <a:srgbClr val="3E7CB1"/>
          </a:solidFill>
          <a:ln w="12700">
            <a:solidFill>
              <a:srgbClr val="3E7CB1"/>
            </a:solidFill>
            <a:prstDash val="solid"/>
          </a:ln>
        </p:spPr>
      </p:sp>
      <p:sp>
        <p:nvSpPr>
          <p:cNvPr id="19" name="Text 17"/>
          <p:cNvSpPr txBox="1"/>
          <p:nvPr/>
        </p:nvSpPr>
        <p:spPr>
          <a:xfrm>
            <a:off x="804672" y="33649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1417320" y="320040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Handy filters</a:t>
            </a:r>
            <a:endParaRPr lang="en-US" sz="1550" dirty="0"/>
          </a:p>
        </p:txBody>
      </p:sp>
      <p:sp>
        <p:nvSpPr>
          <p:cNvPr id="21" name="Text 19"/>
          <p:cNvSpPr txBox="1"/>
          <p:nvPr/>
        </p:nvSpPr>
        <p:spPr>
          <a:xfrm>
            <a:off x="1417320" y="356616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isin, between, query, sort_values</a:t>
            </a:r>
            <a:endParaRPr lang="en-US" sz="1250" dirty="0"/>
          </a:p>
        </p:txBody>
      </p:sp>
      <p:sp>
        <p:nvSpPr>
          <p:cNvPr id="22" name="Text 20"/>
          <p:cNvSpPr txBox="1"/>
          <p:nvPr/>
        </p:nvSpPr>
        <p:spPr>
          <a:xfrm>
            <a:off x="4709160" y="320040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15 min</a:t>
            </a:r>
            <a:endParaRPr lang="en-US" sz="1300" dirty="0"/>
          </a:p>
        </p:txBody>
      </p:sp>
      <p:sp>
        <p:nvSpPr>
          <p:cNvPr id="23" name="Shape 21"/>
          <p:cNvSpPr/>
          <p:nvPr/>
        </p:nvSpPr>
        <p:spPr>
          <a:xfrm>
            <a:off x="6263640" y="301752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Shape 22"/>
          <p:cNvSpPr/>
          <p:nvPr/>
        </p:nvSpPr>
        <p:spPr>
          <a:xfrm>
            <a:off x="6519672" y="3364992"/>
            <a:ext cx="420624" cy="420624"/>
          </a:xfrm>
          <a:prstGeom prst="ellipse">
            <a:avLst/>
          </a:prstGeom>
          <a:solidFill>
            <a:srgbClr val="E8674C"/>
          </a:solidFill>
          <a:ln w="12700">
            <a:solidFill>
              <a:srgbClr val="E8674C"/>
            </a:solidFill>
            <a:prstDash val="solid"/>
          </a:ln>
        </p:spPr>
      </p:sp>
      <p:sp>
        <p:nvSpPr>
          <p:cNvPr id="25" name="Text 23"/>
          <p:cNvSpPr txBox="1"/>
          <p:nvPr/>
        </p:nvSpPr>
        <p:spPr>
          <a:xfrm>
            <a:off x="6519672" y="33649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7132320" y="320040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Setting the index</a:t>
            </a:r>
            <a:endParaRPr lang="en-US" sz="1550" dirty="0"/>
          </a:p>
        </p:txBody>
      </p:sp>
      <p:sp>
        <p:nvSpPr>
          <p:cNvPr id="27" name="Text 25"/>
          <p:cNvSpPr txBox="1"/>
          <p:nvPr/>
        </p:nvSpPr>
        <p:spPr>
          <a:xfrm>
            <a:off x="7132320" y="356616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set_index, reset_index — and the trap</a:t>
            </a:r>
            <a:endParaRPr lang="en-US" sz="1250" dirty="0"/>
          </a:p>
        </p:txBody>
      </p:sp>
      <p:sp>
        <p:nvSpPr>
          <p:cNvPr id="28" name="Text 26"/>
          <p:cNvSpPr txBox="1"/>
          <p:nvPr/>
        </p:nvSpPr>
        <p:spPr>
          <a:xfrm>
            <a:off x="10424160" y="320040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15 min</a:t>
            </a:r>
            <a:endParaRPr lang="en-US" sz="1300" dirty="0"/>
          </a:p>
        </p:txBody>
      </p:sp>
      <p:sp>
        <p:nvSpPr>
          <p:cNvPr id="29" name="Shape 27"/>
          <p:cNvSpPr/>
          <p:nvPr/>
        </p:nvSpPr>
        <p:spPr>
          <a:xfrm>
            <a:off x="548640" y="434340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0" name="Shape 28"/>
          <p:cNvSpPr/>
          <p:nvPr/>
        </p:nvSpPr>
        <p:spPr>
          <a:xfrm>
            <a:off x="804672" y="4690872"/>
            <a:ext cx="420624" cy="420624"/>
          </a:xfrm>
          <a:prstGeom prst="ellipse">
            <a:avLst/>
          </a:prstGeom>
          <a:solidFill>
            <a:srgbClr val="2FA98C"/>
          </a:solidFill>
          <a:ln w="12700">
            <a:solidFill>
              <a:srgbClr val="2FA98C"/>
            </a:solidFill>
            <a:prstDash val="solid"/>
          </a:ln>
        </p:spPr>
      </p:sp>
      <p:sp>
        <p:nvSpPr>
          <p:cNvPr id="31" name="Text 29"/>
          <p:cNvSpPr txBox="1"/>
          <p:nvPr/>
        </p:nvSpPr>
        <p:spPr>
          <a:xfrm>
            <a:off x="804672" y="469087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2" name="Text 30"/>
          <p:cNvSpPr txBox="1"/>
          <p:nvPr/>
        </p:nvSpPr>
        <p:spPr>
          <a:xfrm>
            <a:off x="1417320" y="452628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Mini build</a:t>
            </a:r>
            <a:endParaRPr lang="en-US" sz="1550" dirty="0"/>
          </a:p>
        </p:txBody>
      </p:sp>
      <p:sp>
        <p:nvSpPr>
          <p:cNvPr id="33" name="Text 31"/>
          <p:cNvSpPr txBox="1"/>
          <p:nvPr/>
        </p:nvSpPr>
        <p:spPr>
          <a:xfrm>
            <a:off x="1417320" y="489204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Answer five questions about a dataset</a:t>
            </a:r>
            <a:endParaRPr lang="en-US" sz="1250" dirty="0"/>
          </a:p>
        </p:txBody>
      </p:sp>
      <p:sp>
        <p:nvSpPr>
          <p:cNvPr id="34" name="Text 32"/>
          <p:cNvSpPr txBox="1"/>
          <p:nvPr/>
        </p:nvSpPr>
        <p:spPr>
          <a:xfrm>
            <a:off x="4709160" y="452628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5 min</a:t>
            </a:r>
            <a:endParaRPr lang="en-US" sz="1300" dirty="0"/>
          </a:p>
        </p:txBody>
      </p:sp>
      <p:sp>
        <p:nvSpPr>
          <p:cNvPr id="35" name="Shape 33"/>
          <p:cNvSpPr/>
          <p:nvPr/>
        </p:nvSpPr>
        <p:spPr>
          <a:xfrm>
            <a:off x="6263640" y="434340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6" name="Shape 34"/>
          <p:cNvSpPr/>
          <p:nvPr/>
        </p:nvSpPr>
        <p:spPr>
          <a:xfrm>
            <a:off x="6519672" y="4690872"/>
            <a:ext cx="420624" cy="420624"/>
          </a:xfrm>
          <a:prstGeom prst="ellipse">
            <a:avLst/>
          </a:prstGeom>
          <a:solidFill>
            <a:srgbClr val="FFC145"/>
          </a:solidFill>
          <a:ln w="12700">
            <a:solidFill>
              <a:srgbClr val="FFC145"/>
            </a:solidFill>
            <a:prstDash val="solid"/>
          </a:ln>
        </p:spPr>
      </p:sp>
      <p:sp>
        <p:nvSpPr>
          <p:cNvPr id="37" name="Text 35"/>
          <p:cNvSpPr txBox="1"/>
          <p:nvPr/>
        </p:nvSpPr>
        <p:spPr>
          <a:xfrm>
            <a:off x="6519672" y="4690872"/>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6</a:t>
            </a:r>
            <a:endParaRPr lang="en-US" sz="1300" dirty="0"/>
          </a:p>
        </p:txBody>
      </p:sp>
      <p:sp>
        <p:nvSpPr>
          <p:cNvPr id="38" name="Text 36"/>
          <p:cNvSpPr txBox="1"/>
          <p:nvPr/>
        </p:nvSpPr>
        <p:spPr>
          <a:xfrm>
            <a:off x="7132320" y="4526280"/>
            <a:ext cx="329184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Practice notebook</a:t>
            </a:r>
            <a:endParaRPr lang="en-US" sz="1550" dirty="0"/>
          </a:p>
        </p:txBody>
      </p:sp>
      <p:sp>
        <p:nvSpPr>
          <p:cNvPr id="39" name="Text 37"/>
          <p:cNvSpPr txBox="1"/>
          <p:nvPr/>
        </p:nvSpPr>
        <p:spPr>
          <a:xfrm>
            <a:off x="7132320" y="489204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You code, I walk around</a:t>
            </a:r>
            <a:endParaRPr lang="en-US" sz="1250" dirty="0"/>
          </a:p>
        </p:txBody>
      </p:sp>
      <p:sp>
        <p:nvSpPr>
          <p:cNvPr id="40" name="Text 38"/>
          <p:cNvSpPr txBox="1"/>
          <p:nvPr/>
        </p:nvSpPr>
        <p:spPr>
          <a:xfrm>
            <a:off x="10424160" y="4526280"/>
            <a:ext cx="1097280" cy="320040"/>
          </a:xfrm>
          <a:prstGeom prst="rect">
            <a:avLst/>
          </a:prstGeom>
          <a:noFill/>
          <a:ln/>
        </p:spPr>
        <p:txBody>
          <a:bodyPr wrap="square" lIns="0" tIns="0" rIns="0" bIns="0" rtlCol="0" anchor="ctr"/>
          <a:lstStyle/>
          <a:p>
            <a:pPr algn="r" indent="0" marL="0">
              <a:buNone/>
            </a:pPr>
            <a:r>
              <a:rPr lang="en-US" sz="1300" b="1" dirty="0">
                <a:solidFill>
                  <a:srgbClr val="E8674C"/>
                </a:solidFill>
                <a:latin typeface="Calibri" pitchFamily="34" charset="0"/>
                <a:ea typeface="Calibri" pitchFamily="34" charset="-122"/>
                <a:cs typeface="Calibri" pitchFamily="34" charset="-120"/>
              </a:rPr>
              <a:t>30 min</a:t>
            </a:r>
            <a:endParaRPr lang="en-US" sz="1300" dirty="0"/>
          </a:p>
        </p:txBody>
      </p:sp>
      <p:sp>
        <p:nvSpPr>
          <p:cNvPr id="41" name="Text 39"/>
          <p:cNvSpPr txBox="1"/>
          <p:nvPr/>
        </p:nvSpPr>
        <p:spPr>
          <a:xfrm>
            <a:off x="548640" y="5806440"/>
            <a:ext cx="11064240" cy="320040"/>
          </a:xfrm>
          <a:prstGeom prst="rect">
            <a:avLst/>
          </a:prstGeom>
          <a:noFill/>
          <a:ln/>
        </p:spPr>
        <p:txBody>
          <a:bodyPr wrap="square" lIns="0" tIns="0" rIns="0" bIns="0" rtlCol="0" anchor="ctr"/>
          <a:lstStyle/>
          <a:p>
            <a:pPr indent="0" marL="0">
              <a:buNone/>
            </a:pPr>
            <a:r>
              <a:rPr lang="en-US" sz="1300" i="1" dirty="0">
                <a:solidFill>
                  <a:srgbClr val="6B7789"/>
                </a:solidFill>
                <a:latin typeface="Calibri" pitchFamily="34" charset="0"/>
                <a:ea typeface="Calibri" pitchFamily="34" charset="-122"/>
                <a:cs typeface="Calibri" pitchFamily="34" charset="-120"/>
              </a:rPr>
              <a:t>Sections 1 and 4 are marked in red because they cause the most confusion. They are also connected — the trap in 4 is caused by the distinction in 1.</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LEARNING OUTCOMES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By the end of today you will be able to</a:t>
            </a:r>
            <a:endParaRPr lang="en-US" sz="3200" dirty="0"/>
          </a:p>
        </p:txBody>
      </p:sp>
      <p:sp>
        <p:nvSpPr>
          <p:cNvPr id="5" name="Shape 3"/>
          <p:cNvSpPr/>
          <p:nvPr/>
        </p:nvSpPr>
        <p:spPr>
          <a:xfrm>
            <a:off x="548640"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2084832"/>
            <a:ext cx="438912" cy="438912"/>
          </a:xfrm>
          <a:prstGeom prst="ellipse">
            <a:avLst/>
          </a:prstGeom>
          <a:solidFill>
            <a:srgbClr val="FFC145"/>
          </a:solidFill>
          <a:ln w="12700">
            <a:solidFill>
              <a:srgbClr val="FFC145"/>
            </a:solidFill>
            <a:prstDash val="solid"/>
          </a:ln>
        </p:spPr>
      </p:sp>
      <p:sp>
        <p:nvSpPr>
          <p:cNvPr id="7" name="Text 5"/>
          <p:cNvSpPr txBox="1"/>
          <p:nvPr/>
        </p:nvSpPr>
        <p:spPr>
          <a:xfrm>
            <a:off x="804672"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804672"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Choose</a:t>
            </a:r>
            <a:endParaRPr lang="en-US" sz="1600" dirty="0"/>
          </a:p>
        </p:txBody>
      </p:sp>
      <p:sp>
        <p:nvSpPr>
          <p:cNvPr id="9" name="Text 7"/>
          <p:cNvSpPr txBox="1"/>
          <p:nvPr/>
        </p:nvSpPr>
        <p:spPr>
          <a:xfrm>
            <a:off x="804672"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Say instantly whether a task needs loc or iloc</a:t>
            </a:r>
            <a:endParaRPr lang="en-US" sz="1250" dirty="0"/>
          </a:p>
        </p:txBody>
      </p:sp>
      <p:sp>
        <p:nvSpPr>
          <p:cNvPr id="10" name="Shape 8"/>
          <p:cNvSpPr/>
          <p:nvPr/>
        </p:nvSpPr>
        <p:spPr>
          <a:xfrm>
            <a:off x="3410712"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Shape 9"/>
          <p:cNvSpPr/>
          <p:nvPr/>
        </p:nvSpPr>
        <p:spPr>
          <a:xfrm>
            <a:off x="3666744" y="2084832"/>
            <a:ext cx="438912" cy="438912"/>
          </a:xfrm>
          <a:prstGeom prst="ellipse">
            <a:avLst/>
          </a:prstGeom>
          <a:solidFill>
            <a:srgbClr val="FFC145"/>
          </a:solidFill>
          <a:ln w="12700">
            <a:solidFill>
              <a:srgbClr val="FFC145"/>
            </a:solidFill>
            <a:prstDash val="solid"/>
          </a:ln>
        </p:spPr>
      </p:sp>
      <p:sp>
        <p:nvSpPr>
          <p:cNvPr id="12" name="Text 10"/>
          <p:cNvSpPr txBox="1"/>
          <p:nvPr/>
        </p:nvSpPr>
        <p:spPr>
          <a:xfrm>
            <a:off x="3666744"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3666744"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Filter</a:t>
            </a:r>
            <a:endParaRPr lang="en-US" sz="1600" dirty="0"/>
          </a:p>
        </p:txBody>
      </p:sp>
      <p:sp>
        <p:nvSpPr>
          <p:cNvPr id="14" name="Text 12"/>
          <p:cNvSpPr txBox="1"/>
          <p:nvPr/>
        </p:nvSpPr>
        <p:spPr>
          <a:xfrm>
            <a:off x="3666744"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Select rows by condition, with several conditions combined</a:t>
            </a:r>
            <a:endParaRPr lang="en-US" sz="1250" dirty="0"/>
          </a:p>
        </p:txBody>
      </p:sp>
      <p:sp>
        <p:nvSpPr>
          <p:cNvPr id="15" name="Shape 13"/>
          <p:cNvSpPr/>
          <p:nvPr/>
        </p:nvSpPr>
        <p:spPr>
          <a:xfrm>
            <a:off x="6272784"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Shape 14"/>
          <p:cNvSpPr/>
          <p:nvPr/>
        </p:nvSpPr>
        <p:spPr>
          <a:xfrm>
            <a:off x="6528816" y="2084832"/>
            <a:ext cx="438912" cy="438912"/>
          </a:xfrm>
          <a:prstGeom prst="ellipse">
            <a:avLst/>
          </a:prstGeom>
          <a:solidFill>
            <a:srgbClr val="FFC145"/>
          </a:solidFill>
          <a:ln w="12700">
            <a:solidFill>
              <a:srgbClr val="FFC145"/>
            </a:solidFill>
            <a:prstDash val="solid"/>
          </a:ln>
        </p:spPr>
      </p:sp>
      <p:sp>
        <p:nvSpPr>
          <p:cNvPr id="17" name="Text 15"/>
          <p:cNvSpPr txBox="1"/>
          <p:nvPr/>
        </p:nvSpPr>
        <p:spPr>
          <a:xfrm>
            <a:off x="6528816"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6528816"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Assign</a:t>
            </a:r>
            <a:endParaRPr lang="en-US" sz="1600" dirty="0"/>
          </a:p>
        </p:txBody>
      </p:sp>
      <p:sp>
        <p:nvSpPr>
          <p:cNvPr id="19" name="Text 17"/>
          <p:cNvSpPr txBox="1"/>
          <p:nvPr/>
        </p:nvSpPr>
        <p:spPr>
          <a:xfrm>
            <a:off x="6528816"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Change values in place without silently losing the change</a:t>
            </a:r>
            <a:endParaRPr lang="en-US" sz="1250" dirty="0"/>
          </a:p>
        </p:txBody>
      </p:sp>
      <p:sp>
        <p:nvSpPr>
          <p:cNvPr id="20" name="Shape 18"/>
          <p:cNvSpPr/>
          <p:nvPr/>
        </p:nvSpPr>
        <p:spPr>
          <a:xfrm>
            <a:off x="9134856"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9390888" y="2084832"/>
            <a:ext cx="438912" cy="438912"/>
          </a:xfrm>
          <a:prstGeom prst="ellipse">
            <a:avLst/>
          </a:prstGeom>
          <a:solidFill>
            <a:srgbClr val="FFC145"/>
          </a:solidFill>
          <a:ln w="12700">
            <a:solidFill>
              <a:srgbClr val="FFC145"/>
            </a:solidFill>
            <a:prstDash val="solid"/>
          </a:ln>
        </p:spPr>
      </p:sp>
      <p:sp>
        <p:nvSpPr>
          <p:cNvPr id="22" name="Text 20"/>
          <p:cNvSpPr txBox="1"/>
          <p:nvPr/>
        </p:nvSpPr>
        <p:spPr>
          <a:xfrm>
            <a:off x="9390888"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9390888"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Re-index</a:t>
            </a:r>
            <a:endParaRPr lang="en-US" sz="1600" dirty="0"/>
          </a:p>
        </p:txBody>
      </p:sp>
      <p:sp>
        <p:nvSpPr>
          <p:cNvPr id="24" name="Text 22"/>
          <p:cNvSpPr txBox="1"/>
          <p:nvPr/>
        </p:nvSpPr>
        <p:spPr>
          <a:xfrm>
            <a:off x="9390888"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Set a meaningful index, and reset it when filtering breaks it</a:t>
            </a:r>
            <a:endParaRPr lang="en-US" sz="1250" dirty="0"/>
          </a:p>
        </p:txBody>
      </p:sp>
      <p:sp>
        <p:nvSpPr>
          <p:cNvPr id="25" name="Shape 23"/>
          <p:cNvSpPr/>
          <p:nvPr/>
        </p:nvSpPr>
        <p:spPr>
          <a:xfrm>
            <a:off x="548640" y="4709160"/>
            <a:ext cx="11064240" cy="1097280"/>
          </a:xfrm>
          <a:prstGeom prst="roundRect">
            <a:avLst>
              <a:gd name="adj" fmla="val 75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6" name="Text 24"/>
          <p:cNvSpPr txBox="1"/>
          <p:nvPr/>
        </p:nvSpPr>
        <p:spPr>
          <a:xfrm>
            <a:off x="868680" y="4864608"/>
            <a:ext cx="7315200" cy="292608"/>
          </a:xfrm>
          <a:prstGeom prst="rect">
            <a:avLst/>
          </a:prstGeom>
          <a:noFill/>
          <a:ln/>
        </p:spPr>
        <p:txBody>
          <a:bodyPr wrap="square" lIns="0" tIns="0" rIns="0" bIns="0" rtlCol="0" anchor="ctr"/>
          <a:lstStyle/>
          <a:p>
            <a:pPr indent="0" marL="0">
              <a:buNone/>
            </a:pPr>
            <a:r>
              <a:rPr lang="en-US" sz="1400" b="1" dirty="0">
                <a:solidFill>
                  <a:srgbClr val="8A5B00"/>
                </a:solidFill>
                <a:latin typeface="Calibri" pitchFamily="34" charset="0"/>
                <a:ea typeface="Calibri" pitchFamily="34" charset="-122"/>
                <a:cs typeface="Calibri" pitchFamily="34" charset="-120"/>
              </a:rPr>
              <a:t>One sentence to carry through the whole session</a:t>
            </a:r>
            <a:endParaRPr lang="en-US" sz="1400" dirty="0"/>
          </a:p>
        </p:txBody>
      </p:sp>
      <p:sp>
        <p:nvSpPr>
          <p:cNvPr id="27" name="Text 25"/>
          <p:cNvSpPr txBox="1"/>
          <p:nvPr/>
        </p:nvSpPr>
        <p:spPr>
          <a:xfrm>
            <a:off x="868680" y="5193792"/>
            <a:ext cx="10424160" cy="502920"/>
          </a:xfrm>
          <a:prstGeom prst="rect">
            <a:avLst/>
          </a:prstGeom>
          <a:noFill/>
          <a:ln/>
        </p:spPr>
        <p:txBody>
          <a:bodyPr wrap="square" lIns="0" tIns="0" rIns="0" bIns="0" rtlCol="0" anchor="ctr"/>
          <a:lstStyle/>
          <a:p>
            <a:pPr indent="0" marL="0">
              <a:buNone/>
            </a:pPr>
            <a:r>
              <a:rPr lang="en-US" sz="1300" dirty="0">
                <a:solidFill>
                  <a:srgbClr val="6B4A0B"/>
                </a:solidFill>
                <a:latin typeface="Calibri" pitchFamily="34" charset="0"/>
                <a:ea typeface="Calibri" pitchFamily="34" charset="-122"/>
                <a:cs typeface="Calibri" pitchFamily="34" charset="-120"/>
              </a:rPr>
              <a:t>loc speaks LABELS. iloc speaks POSITIONS. Every mistake today comes from asking one of them a question in the other's language — and because a DataFrame's labels often happen to BE 0, 1, 2, the two agree just often enough to lull you into not thinking about it.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1</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Label vs Position</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loc and iloc  ·  25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two questions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Rows and columns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slicing difference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1.1  ·  THE DISTINCTION</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loc speaks labels. iloc speaks positions.</a:t>
            </a:r>
            <a:endParaRPr lang="en-US" sz="3200" dirty="0"/>
          </a:p>
        </p:txBody>
      </p:sp>
      <p:sp>
        <p:nvSpPr>
          <p:cNvPr id="5" name="Shape 3"/>
          <p:cNvSpPr/>
          <p:nvPr/>
        </p:nvSpPr>
        <p:spPr>
          <a:xfrm>
            <a:off x="548640" y="1572768"/>
            <a:ext cx="6035040" cy="2743200"/>
          </a:xfrm>
          <a:prstGeom prst="roundRect">
            <a:avLst>
              <a:gd name="adj" fmla="val 3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68680" y="1874520"/>
            <a:ext cx="548640" cy="365760"/>
          </a:xfrm>
          <a:prstGeom prst="rect">
            <a:avLst/>
          </a:prstGeom>
          <a:solidFill>
            <a:srgbClr val="E6EAF1"/>
          </a:solidFill>
          <a:ln w="12700">
            <a:solidFill>
              <a:srgbClr val="333333"/>
            </a:solidFill>
            <a:prstDash val="solid"/>
          </a:ln>
        </p:spPr>
      </p:sp>
      <p:sp>
        <p:nvSpPr>
          <p:cNvPr id="7" name="Shape 5"/>
          <p:cNvSpPr/>
          <p:nvPr/>
        </p:nvSpPr>
        <p:spPr>
          <a:xfrm>
            <a:off x="1417320" y="1874520"/>
            <a:ext cx="1581912" cy="365760"/>
          </a:xfrm>
          <a:prstGeom prst="rect">
            <a:avLst/>
          </a:prstGeom>
          <a:solidFill>
            <a:srgbClr val="1F3A5F"/>
          </a:solidFill>
          <a:ln w="12700">
            <a:solidFill>
              <a:srgbClr val="333333"/>
            </a:solidFill>
            <a:prstDash val="solid"/>
          </a:ln>
        </p:spPr>
      </p:sp>
      <p:sp>
        <p:nvSpPr>
          <p:cNvPr id="8" name="Text 6"/>
          <p:cNvSpPr txBox="1"/>
          <p:nvPr/>
        </p:nvSpPr>
        <p:spPr>
          <a:xfrm>
            <a:off x="1417320" y="1874520"/>
            <a:ext cx="1581912"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name</a:t>
            </a:r>
            <a:endParaRPr lang="en-US" sz="950" dirty="0"/>
          </a:p>
        </p:txBody>
      </p:sp>
      <p:sp>
        <p:nvSpPr>
          <p:cNvPr id="9" name="Shape 7"/>
          <p:cNvSpPr/>
          <p:nvPr/>
        </p:nvSpPr>
        <p:spPr>
          <a:xfrm>
            <a:off x="3017520" y="1874520"/>
            <a:ext cx="1581912" cy="365760"/>
          </a:xfrm>
          <a:prstGeom prst="rect">
            <a:avLst/>
          </a:prstGeom>
          <a:solidFill>
            <a:srgbClr val="1F3A5F"/>
          </a:solidFill>
          <a:ln w="12700">
            <a:solidFill>
              <a:srgbClr val="333333"/>
            </a:solidFill>
            <a:prstDash val="solid"/>
          </a:ln>
        </p:spPr>
      </p:sp>
      <p:sp>
        <p:nvSpPr>
          <p:cNvPr id="10" name="Text 8"/>
          <p:cNvSpPr txBox="1"/>
          <p:nvPr/>
        </p:nvSpPr>
        <p:spPr>
          <a:xfrm>
            <a:off x="3017520" y="1874520"/>
            <a:ext cx="1581912"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city</a:t>
            </a:r>
            <a:endParaRPr lang="en-US" sz="950" dirty="0"/>
          </a:p>
        </p:txBody>
      </p:sp>
      <p:sp>
        <p:nvSpPr>
          <p:cNvPr id="11" name="Shape 9"/>
          <p:cNvSpPr/>
          <p:nvPr/>
        </p:nvSpPr>
        <p:spPr>
          <a:xfrm>
            <a:off x="4617720" y="1874520"/>
            <a:ext cx="1581912" cy="365760"/>
          </a:xfrm>
          <a:prstGeom prst="rect">
            <a:avLst/>
          </a:prstGeom>
          <a:solidFill>
            <a:srgbClr val="1F3A5F"/>
          </a:solidFill>
          <a:ln w="12700">
            <a:solidFill>
              <a:srgbClr val="333333"/>
            </a:solidFill>
            <a:prstDash val="solid"/>
          </a:ln>
        </p:spPr>
      </p:sp>
      <p:sp>
        <p:nvSpPr>
          <p:cNvPr id="12" name="Text 10"/>
          <p:cNvSpPr txBox="1"/>
          <p:nvPr/>
        </p:nvSpPr>
        <p:spPr>
          <a:xfrm>
            <a:off x="4617720" y="1874520"/>
            <a:ext cx="1581912" cy="365760"/>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python</a:t>
            </a:r>
            <a:endParaRPr lang="en-US" sz="950" dirty="0"/>
          </a:p>
        </p:txBody>
      </p:sp>
      <p:sp>
        <p:nvSpPr>
          <p:cNvPr id="13" name="Shape 11"/>
          <p:cNvSpPr/>
          <p:nvPr/>
        </p:nvSpPr>
        <p:spPr>
          <a:xfrm>
            <a:off x="868680" y="2267712"/>
            <a:ext cx="548640" cy="365760"/>
          </a:xfrm>
          <a:prstGeom prst="rect">
            <a:avLst/>
          </a:prstGeom>
          <a:solidFill>
            <a:srgbClr val="E6EAF1"/>
          </a:solidFill>
          <a:ln w="12700">
            <a:solidFill>
              <a:srgbClr val="333333"/>
            </a:solidFill>
            <a:prstDash val="solid"/>
          </a:ln>
        </p:spPr>
      </p:sp>
      <p:sp>
        <p:nvSpPr>
          <p:cNvPr id="14" name="Text 12"/>
          <p:cNvSpPr txBox="1"/>
          <p:nvPr/>
        </p:nvSpPr>
        <p:spPr>
          <a:xfrm>
            <a:off x="868680" y="2267712"/>
            <a:ext cx="548640" cy="365760"/>
          </a:xfrm>
          <a:prstGeom prst="rect">
            <a:avLst/>
          </a:prstGeom>
          <a:noFill/>
          <a:ln/>
        </p:spPr>
        <p:txBody>
          <a:bodyPr wrap="square" lIns="0" tIns="0" rIns="0" bIns="0" rtlCol="0" anchor="ctr"/>
          <a:lstStyle/>
          <a:p>
            <a:pPr algn="ctr" indent="0" marL="0">
              <a:buNone/>
            </a:pPr>
            <a:r>
              <a:rPr lang="en-US" sz="950" b="1" dirty="0">
                <a:solidFill>
                  <a:srgbClr val="6B7789"/>
                </a:solidFill>
                <a:latin typeface="Courier New" pitchFamily="34" charset="0"/>
                <a:ea typeface="Courier New" pitchFamily="34" charset="-122"/>
                <a:cs typeface="Courier New" pitchFamily="34" charset="-120"/>
              </a:rPr>
              <a:t>0</a:t>
            </a:r>
            <a:endParaRPr lang="en-US" sz="950" dirty="0"/>
          </a:p>
        </p:txBody>
      </p:sp>
      <p:sp>
        <p:nvSpPr>
          <p:cNvPr id="15" name="Shape 13"/>
          <p:cNvSpPr/>
          <p:nvPr/>
        </p:nvSpPr>
        <p:spPr>
          <a:xfrm>
            <a:off x="1417320" y="2267712"/>
            <a:ext cx="1581912" cy="365760"/>
          </a:xfrm>
          <a:prstGeom prst="rect">
            <a:avLst/>
          </a:prstGeom>
          <a:solidFill>
            <a:srgbClr val="FFFFFF"/>
          </a:solidFill>
          <a:ln w="6350">
            <a:solidFill>
              <a:srgbClr val="E1E6EE"/>
            </a:solidFill>
            <a:prstDash val="solid"/>
          </a:ln>
        </p:spPr>
      </p:sp>
      <p:sp>
        <p:nvSpPr>
          <p:cNvPr id="16" name="Text 14"/>
          <p:cNvSpPr txBox="1"/>
          <p:nvPr/>
        </p:nvSpPr>
        <p:spPr>
          <a:xfrm>
            <a:off x="1417320" y="2267712"/>
            <a:ext cx="1581912" cy="365760"/>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Ravi</a:t>
            </a:r>
            <a:endParaRPr lang="en-US" sz="950" dirty="0"/>
          </a:p>
        </p:txBody>
      </p:sp>
      <p:sp>
        <p:nvSpPr>
          <p:cNvPr id="17" name="Shape 15"/>
          <p:cNvSpPr/>
          <p:nvPr/>
        </p:nvSpPr>
        <p:spPr>
          <a:xfrm>
            <a:off x="3017520" y="2267712"/>
            <a:ext cx="1581912" cy="365760"/>
          </a:xfrm>
          <a:prstGeom prst="rect">
            <a:avLst/>
          </a:prstGeom>
          <a:solidFill>
            <a:srgbClr val="FFFFFF"/>
          </a:solidFill>
          <a:ln w="6350">
            <a:solidFill>
              <a:srgbClr val="E1E6EE"/>
            </a:solidFill>
            <a:prstDash val="solid"/>
          </a:ln>
        </p:spPr>
      </p:sp>
      <p:sp>
        <p:nvSpPr>
          <p:cNvPr id="18" name="Text 16"/>
          <p:cNvSpPr txBox="1"/>
          <p:nvPr/>
        </p:nvSpPr>
        <p:spPr>
          <a:xfrm>
            <a:off x="3017520" y="2267712"/>
            <a:ext cx="1581912" cy="365760"/>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Pune</a:t>
            </a:r>
            <a:endParaRPr lang="en-US" sz="950" dirty="0"/>
          </a:p>
        </p:txBody>
      </p:sp>
      <p:sp>
        <p:nvSpPr>
          <p:cNvPr id="19" name="Shape 17"/>
          <p:cNvSpPr/>
          <p:nvPr/>
        </p:nvSpPr>
        <p:spPr>
          <a:xfrm>
            <a:off x="4617720" y="2267712"/>
            <a:ext cx="1581912" cy="365760"/>
          </a:xfrm>
          <a:prstGeom prst="rect">
            <a:avLst/>
          </a:prstGeom>
          <a:solidFill>
            <a:srgbClr val="FFFFFF"/>
          </a:solidFill>
          <a:ln w="6350">
            <a:solidFill>
              <a:srgbClr val="E1E6EE"/>
            </a:solidFill>
            <a:prstDash val="solid"/>
          </a:ln>
        </p:spPr>
      </p:sp>
      <p:sp>
        <p:nvSpPr>
          <p:cNvPr id="20" name="Text 18"/>
          <p:cNvSpPr txBox="1"/>
          <p:nvPr/>
        </p:nvSpPr>
        <p:spPr>
          <a:xfrm>
            <a:off x="4617720" y="2267712"/>
            <a:ext cx="1581912" cy="365760"/>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88</a:t>
            </a:r>
            <a:endParaRPr lang="en-US" sz="950" dirty="0"/>
          </a:p>
        </p:txBody>
      </p:sp>
      <p:sp>
        <p:nvSpPr>
          <p:cNvPr id="21" name="Shape 19"/>
          <p:cNvSpPr/>
          <p:nvPr/>
        </p:nvSpPr>
        <p:spPr>
          <a:xfrm>
            <a:off x="868680" y="2660904"/>
            <a:ext cx="548640" cy="365760"/>
          </a:xfrm>
          <a:prstGeom prst="rect">
            <a:avLst/>
          </a:prstGeom>
          <a:solidFill>
            <a:srgbClr val="E6EAF1"/>
          </a:solidFill>
          <a:ln w="12700">
            <a:solidFill>
              <a:srgbClr val="333333"/>
            </a:solidFill>
            <a:prstDash val="solid"/>
          </a:ln>
        </p:spPr>
      </p:sp>
      <p:sp>
        <p:nvSpPr>
          <p:cNvPr id="22" name="Text 20"/>
          <p:cNvSpPr txBox="1"/>
          <p:nvPr/>
        </p:nvSpPr>
        <p:spPr>
          <a:xfrm>
            <a:off x="868680" y="2660904"/>
            <a:ext cx="548640" cy="365760"/>
          </a:xfrm>
          <a:prstGeom prst="rect">
            <a:avLst/>
          </a:prstGeom>
          <a:noFill/>
          <a:ln/>
        </p:spPr>
        <p:txBody>
          <a:bodyPr wrap="square" lIns="0" tIns="0" rIns="0" bIns="0" rtlCol="0" anchor="ctr"/>
          <a:lstStyle/>
          <a:p>
            <a:pPr algn="ctr" indent="0" marL="0">
              <a:buNone/>
            </a:pPr>
            <a:r>
              <a:rPr lang="en-US" sz="950" b="1" dirty="0">
                <a:solidFill>
                  <a:srgbClr val="6B7789"/>
                </a:solidFill>
                <a:latin typeface="Courier New" pitchFamily="34" charset="0"/>
                <a:ea typeface="Courier New" pitchFamily="34" charset="-122"/>
                <a:cs typeface="Courier New" pitchFamily="34" charset="-120"/>
              </a:rPr>
              <a:t>1</a:t>
            </a:r>
            <a:endParaRPr lang="en-US" sz="950" dirty="0"/>
          </a:p>
        </p:txBody>
      </p:sp>
      <p:sp>
        <p:nvSpPr>
          <p:cNvPr id="23" name="Shape 21"/>
          <p:cNvSpPr/>
          <p:nvPr/>
        </p:nvSpPr>
        <p:spPr>
          <a:xfrm>
            <a:off x="1417320" y="2660904"/>
            <a:ext cx="1581912" cy="365760"/>
          </a:xfrm>
          <a:prstGeom prst="rect">
            <a:avLst/>
          </a:prstGeom>
          <a:solidFill>
            <a:srgbClr val="FFFFFF"/>
          </a:solidFill>
          <a:ln w="6350">
            <a:solidFill>
              <a:srgbClr val="E1E6EE"/>
            </a:solidFill>
            <a:prstDash val="solid"/>
          </a:ln>
        </p:spPr>
      </p:sp>
      <p:sp>
        <p:nvSpPr>
          <p:cNvPr id="24" name="Text 22"/>
          <p:cNvSpPr txBox="1"/>
          <p:nvPr/>
        </p:nvSpPr>
        <p:spPr>
          <a:xfrm>
            <a:off x="1417320" y="2660904"/>
            <a:ext cx="1581912" cy="365760"/>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Sara</a:t>
            </a:r>
            <a:endParaRPr lang="en-US" sz="950" dirty="0"/>
          </a:p>
        </p:txBody>
      </p:sp>
      <p:sp>
        <p:nvSpPr>
          <p:cNvPr id="25" name="Shape 23"/>
          <p:cNvSpPr/>
          <p:nvPr/>
        </p:nvSpPr>
        <p:spPr>
          <a:xfrm>
            <a:off x="3017520" y="2660904"/>
            <a:ext cx="1581912" cy="365760"/>
          </a:xfrm>
          <a:prstGeom prst="rect">
            <a:avLst/>
          </a:prstGeom>
          <a:solidFill>
            <a:srgbClr val="FFFFFF"/>
          </a:solidFill>
          <a:ln w="6350">
            <a:solidFill>
              <a:srgbClr val="E1E6EE"/>
            </a:solidFill>
            <a:prstDash val="solid"/>
          </a:ln>
        </p:spPr>
      </p:sp>
      <p:sp>
        <p:nvSpPr>
          <p:cNvPr id="26" name="Text 24"/>
          <p:cNvSpPr txBox="1"/>
          <p:nvPr/>
        </p:nvSpPr>
        <p:spPr>
          <a:xfrm>
            <a:off x="3017520" y="2660904"/>
            <a:ext cx="1581912" cy="365760"/>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Mumbai</a:t>
            </a:r>
            <a:endParaRPr lang="en-US" sz="950" dirty="0"/>
          </a:p>
        </p:txBody>
      </p:sp>
      <p:sp>
        <p:nvSpPr>
          <p:cNvPr id="27" name="Shape 25"/>
          <p:cNvSpPr/>
          <p:nvPr/>
        </p:nvSpPr>
        <p:spPr>
          <a:xfrm>
            <a:off x="4617720" y="2660904"/>
            <a:ext cx="1581912" cy="365760"/>
          </a:xfrm>
          <a:prstGeom prst="rect">
            <a:avLst/>
          </a:prstGeom>
          <a:solidFill>
            <a:srgbClr val="FFFFFF"/>
          </a:solidFill>
          <a:ln w="6350">
            <a:solidFill>
              <a:srgbClr val="E1E6EE"/>
            </a:solidFill>
            <a:prstDash val="solid"/>
          </a:ln>
        </p:spPr>
      </p:sp>
      <p:sp>
        <p:nvSpPr>
          <p:cNvPr id="28" name="Text 26"/>
          <p:cNvSpPr txBox="1"/>
          <p:nvPr/>
        </p:nvSpPr>
        <p:spPr>
          <a:xfrm>
            <a:off x="4617720" y="2660904"/>
            <a:ext cx="1581912" cy="365760"/>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91</a:t>
            </a:r>
            <a:endParaRPr lang="en-US" sz="950" dirty="0"/>
          </a:p>
        </p:txBody>
      </p:sp>
      <p:sp>
        <p:nvSpPr>
          <p:cNvPr id="29" name="Shape 27"/>
          <p:cNvSpPr/>
          <p:nvPr/>
        </p:nvSpPr>
        <p:spPr>
          <a:xfrm>
            <a:off x="868680" y="3054096"/>
            <a:ext cx="548640" cy="365760"/>
          </a:xfrm>
          <a:prstGeom prst="rect">
            <a:avLst/>
          </a:prstGeom>
          <a:solidFill>
            <a:srgbClr val="E6EAF1"/>
          </a:solidFill>
          <a:ln w="12700">
            <a:solidFill>
              <a:srgbClr val="333333"/>
            </a:solidFill>
            <a:prstDash val="solid"/>
          </a:ln>
        </p:spPr>
      </p:sp>
      <p:sp>
        <p:nvSpPr>
          <p:cNvPr id="30" name="Text 28"/>
          <p:cNvSpPr txBox="1"/>
          <p:nvPr/>
        </p:nvSpPr>
        <p:spPr>
          <a:xfrm>
            <a:off x="868680" y="3054096"/>
            <a:ext cx="548640" cy="365760"/>
          </a:xfrm>
          <a:prstGeom prst="rect">
            <a:avLst/>
          </a:prstGeom>
          <a:noFill/>
          <a:ln/>
        </p:spPr>
        <p:txBody>
          <a:bodyPr wrap="square" lIns="0" tIns="0" rIns="0" bIns="0" rtlCol="0" anchor="ctr"/>
          <a:lstStyle/>
          <a:p>
            <a:pPr algn="ctr" indent="0" marL="0">
              <a:buNone/>
            </a:pPr>
            <a:r>
              <a:rPr lang="en-US" sz="950" b="1" dirty="0">
                <a:solidFill>
                  <a:srgbClr val="6B7789"/>
                </a:solidFill>
                <a:latin typeface="Courier New" pitchFamily="34" charset="0"/>
                <a:ea typeface="Courier New" pitchFamily="34" charset="-122"/>
                <a:cs typeface="Courier New" pitchFamily="34" charset="-120"/>
              </a:rPr>
              <a:t>2</a:t>
            </a:r>
            <a:endParaRPr lang="en-US" sz="950" dirty="0"/>
          </a:p>
        </p:txBody>
      </p:sp>
      <p:sp>
        <p:nvSpPr>
          <p:cNvPr id="31" name="Shape 29"/>
          <p:cNvSpPr/>
          <p:nvPr/>
        </p:nvSpPr>
        <p:spPr>
          <a:xfrm>
            <a:off x="1417320" y="3054096"/>
            <a:ext cx="1581912" cy="365760"/>
          </a:xfrm>
          <a:prstGeom prst="rect">
            <a:avLst/>
          </a:prstGeom>
          <a:solidFill>
            <a:srgbClr val="FFFFFF"/>
          </a:solidFill>
          <a:ln w="6350">
            <a:solidFill>
              <a:srgbClr val="E1E6EE"/>
            </a:solidFill>
            <a:prstDash val="solid"/>
          </a:ln>
        </p:spPr>
      </p:sp>
      <p:sp>
        <p:nvSpPr>
          <p:cNvPr id="32" name="Text 30"/>
          <p:cNvSpPr txBox="1"/>
          <p:nvPr/>
        </p:nvSpPr>
        <p:spPr>
          <a:xfrm>
            <a:off x="1417320" y="3054096"/>
            <a:ext cx="1581912" cy="365760"/>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Amit</a:t>
            </a:r>
            <a:endParaRPr lang="en-US" sz="950" dirty="0"/>
          </a:p>
        </p:txBody>
      </p:sp>
      <p:sp>
        <p:nvSpPr>
          <p:cNvPr id="33" name="Shape 31"/>
          <p:cNvSpPr/>
          <p:nvPr/>
        </p:nvSpPr>
        <p:spPr>
          <a:xfrm>
            <a:off x="3017520" y="3054096"/>
            <a:ext cx="1581912" cy="365760"/>
          </a:xfrm>
          <a:prstGeom prst="rect">
            <a:avLst/>
          </a:prstGeom>
          <a:solidFill>
            <a:srgbClr val="FFFFFF"/>
          </a:solidFill>
          <a:ln w="6350">
            <a:solidFill>
              <a:srgbClr val="E1E6EE"/>
            </a:solidFill>
            <a:prstDash val="solid"/>
          </a:ln>
        </p:spPr>
      </p:sp>
      <p:sp>
        <p:nvSpPr>
          <p:cNvPr id="34" name="Text 32"/>
          <p:cNvSpPr txBox="1"/>
          <p:nvPr/>
        </p:nvSpPr>
        <p:spPr>
          <a:xfrm>
            <a:off x="3017520" y="3054096"/>
            <a:ext cx="1581912" cy="365760"/>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Delhi</a:t>
            </a:r>
            <a:endParaRPr lang="en-US" sz="950" dirty="0"/>
          </a:p>
        </p:txBody>
      </p:sp>
      <p:sp>
        <p:nvSpPr>
          <p:cNvPr id="35" name="Shape 33"/>
          <p:cNvSpPr/>
          <p:nvPr/>
        </p:nvSpPr>
        <p:spPr>
          <a:xfrm>
            <a:off x="4617720" y="3054096"/>
            <a:ext cx="1581912" cy="365760"/>
          </a:xfrm>
          <a:prstGeom prst="rect">
            <a:avLst/>
          </a:prstGeom>
          <a:solidFill>
            <a:srgbClr val="FFFFFF"/>
          </a:solidFill>
          <a:ln w="6350">
            <a:solidFill>
              <a:srgbClr val="E1E6EE"/>
            </a:solidFill>
            <a:prstDash val="solid"/>
          </a:ln>
        </p:spPr>
      </p:sp>
      <p:sp>
        <p:nvSpPr>
          <p:cNvPr id="36" name="Text 34"/>
          <p:cNvSpPr txBox="1"/>
          <p:nvPr/>
        </p:nvSpPr>
        <p:spPr>
          <a:xfrm>
            <a:off x="4617720" y="3054096"/>
            <a:ext cx="1581912" cy="365760"/>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45</a:t>
            </a:r>
            <a:endParaRPr lang="en-US" sz="950" dirty="0"/>
          </a:p>
        </p:txBody>
      </p:sp>
      <p:sp>
        <p:nvSpPr>
          <p:cNvPr id="37" name="Shape 35"/>
          <p:cNvSpPr/>
          <p:nvPr/>
        </p:nvSpPr>
        <p:spPr>
          <a:xfrm>
            <a:off x="868680" y="3447288"/>
            <a:ext cx="548640" cy="365760"/>
          </a:xfrm>
          <a:prstGeom prst="rect">
            <a:avLst/>
          </a:prstGeom>
          <a:solidFill>
            <a:srgbClr val="E6EAF1"/>
          </a:solidFill>
          <a:ln w="12700">
            <a:solidFill>
              <a:srgbClr val="333333"/>
            </a:solidFill>
            <a:prstDash val="solid"/>
          </a:ln>
        </p:spPr>
      </p:sp>
      <p:sp>
        <p:nvSpPr>
          <p:cNvPr id="38" name="Text 36"/>
          <p:cNvSpPr txBox="1"/>
          <p:nvPr/>
        </p:nvSpPr>
        <p:spPr>
          <a:xfrm>
            <a:off x="868680" y="3447288"/>
            <a:ext cx="548640" cy="365760"/>
          </a:xfrm>
          <a:prstGeom prst="rect">
            <a:avLst/>
          </a:prstGeom>
          <a:noFill/>
          <a:ln/>
        </p:spPr>
        <p:txBody>
          <a:bodyPr wrap="square" lIns="0" tIns="0" rIns="0" bIns="0" rtlCol="0" anchor="ctr"/>
          <a:lstStyle/>
          <a:p>
            <a:pPr algn="ctr" indent="0" marL="0">
              <a:buNone/>
            </a:pPr>
            <a:r>
              <a:rPr lang="en-US" sz="950" b="1" dirty="0">
                <a:solidFill>
                  <a:srgbClr val="6B7789"/>
                </a:solidFill>
                <a:latin typeface="Courier New" pitchFamily="34" charset="0"/>
                <a:ea typeface="Courier New" pitchFamily="34" charset="-122"/>
                <a:cs typeface="Courier New" pitchFamily="34" charset="-120"/>
              </a:rPr>
              <a:t>3</a:t>
            </a:r>
            <a:endParaRPr lang="en-US" sz="950" dirty="0"/>
          </a:p>
        </p:txBody>
      </p:sp>
      <p:sp>
        <p:nvSpPr>
          <p:cNvPr id="39" name="Shape 37"/>
          <p:cNvSpPr/>
          <p:nvPr/>
        </p:nvSpPr>
        <p:spPr>
          <a:xfrm>
            <a:off x="1417320" y="3447288"/>
            <a:ext cx="1581912" cy="365760"/>
          </a:xfrm>
          <a:prstGeom prst="rect">
            <a:avLst/>
          </a:prstGeom>
          <a:solidFill>
            <a:srgbClr val="FFFFFF"/>
          </a:solidFill>
          <a:ln w="6350">
            <a:solidFill>
              <a:srgbClr val="E1E6EE"/>
            </a:solidFill>
            <a:prstDash val="solid"/>
          </a:ln>
        </p:spPr>
      </p:sp>
      <p:sp>
        <p:nvSpPr>
          <p:cNvPr id="40" name="Text 38"/>
          <p:cNvSpPr txBox="1"/>
          <p:nvPr/>
        </p:nvSpPr>
        <p:spPr>
          <a:xfrm>
            <a:off x="1417320" y="3447288"/>
            <a:ext cx="1581912" cy="365760"/>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Neha</a:t>
            </a:r>
            <a:endParaRPr lang="en-US" sz="950" dirty="0"/>
          </a:p>
        </p:txBody>
      </p:sp>
      <p:sp>
        <p:nvSpPr>
          <p:cNvPr id="41" name="Shape 39"/>
          <p:cNvSpPr/>
          <p:nvPr/>
        </p:nvSpPr>
        <p:spPr>
          <a:xfrm>
            <a:off x="3017520" y="3447288"/>
            <a:ext cx="1581912" cy="365760"/>
          </a:xfrm>
          <a:prstGeom prst="rect">
            <a:avLst/>
          </a:prstGeom>
          <a:solidFill>
            <a:srgbClr val="FFFFFF"/>
          </a:solidFill>
          <a:ln w="6350">
            <a:solidFill>
              <a:srgbClr val="E1E6EE"/>
            </a:solidFill>
            <a:prstDash val="solid"/>
          </a:ln>
        </p:spPr>
      </p:sp>
      <p:sp>
        <p:nvSpPr>
          <p:cNvPr id="42" name="Text 40"/>
          <p:cNvSpPr txBox="1"/>
          <p:nvPr/>
        </p:nvSpPr>
        <p:spPr>
          <a:xfrm>
            <a:off x="3017520" y="3447288"/>
            <a:ext cx="1581912" cy="365760"/>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Pune</a:t>
            </a:r>
            <a:endParaRPr lang="en-US" sz="950" dirty="0"/>
          </a:p>
        </p:txBody>
      </p:sp>
      <p:sp>
        <p:nvSpPr>
          <p:cNvPr id="43" name="Shape 41"/>
          <p:cNvSpPr/>
          <p:nvPr/>
        </p:nvSpPr>
        <p:spPr>
          <a:xfrm>
            <a:off x="4617720" y="3447288"/>
            <a:ext cx="1581912" cy="365760"/>
          </a:xfrm>
          <a:prstGeom prst="rect">
            <a:avLst/>
          </a:prstGeom>
          <a:solidFill>
            <a:srgbClr val="FFFFFF"/>
          </a:solidFill>
          <a:ln w="6350">
            <a:solidFill>
              <a:srgbClr val="E1E6EE"/>
            </a:solidFill>
            <a:prstDash val="solid"/>
          </a:ln>
        </p:spPr>
      </p:sp>
      <p:sp>
        <p:nvSpPr>
          <p:cNvPr id="44" name="Text 42"/>
          <p:cNvSpPr txBox="1"/>
          <p:nvPr/>
        </p:nvSpPr>
        <p:spPr>
          <a:xfrm>
            <a:off x="4617720" y="3447288"/>
            <a:ext cx="1581912" cy="365760"/>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67</a:t>
            </a:r>
            <a:endParaRPr lang="en-US" sz="950" dirty="0"/>
          </a:p>
        </p:txBody>
      </p:sp>
      <p:sp>
        <p:nvSpPr>
          <p:cNvPr id="45" name="Text 43"/>
          <p:cNvSpPr txBox="1"/>
          <p:nvPr/>
        </p:nvSpPr>
        <p:spPr>
          <a:xfrm>
            <a:off x="868680" y="3657600"/>
            <a:ext cx="5486400" cy="256032"/>
          </a:xfrm>
          <a:prstGeom prst="rect">
            <a:avLst/>
          </a:prstGeom>
          <a:noFill/>
          <a:ln/>
        </p:spPr>
        <p:txBody>
          <a:bodyPr wrap="square" lIns="0" tIns="0" rIns="0" bIns="0" rtlCol="0" anchor="ctr"/>
          <a:lstStyle/>
          <a:p>
            <a:pPr indent="0" marL="0">
              <a:buNone/>
            </a:pPr>
            <a:r>
              <a:rPr lang="en-US" sz="1050" b="1" dirty="0">
                <a:solidFill>
                  <a:srgbClr val="E8674C"/>
                </a:solidFill>
                <a:latin typeface="Calibri" pitchFamily="34" charset="0"/>
                <a:ea typeface="Calibri" pitchFamily="34" charset="-122"/>
                <a:cs typeface="Calibri" pitchFamily="34" charset="-120"/>
              </a:rPr>
              <a:t>labels  ↑    positions are 0,1,2,3 as well  —  they MATCH here</a:t>
            </a:r>
            <a:endParaRPr lang="en-US" sz="1050" dirty="0"/>
          </a:p>
        </p:txBody>
      </p:sp>
      <p:sp>
        <p:nvSpPr>
          <p:cNvPr id="46" name="Shape 44"/>
          <p:cNvSpPr/>
          <p:nvPr/>
        </p:nvSpPr>
        <p:spPr>
          <a:xfrm>
            <a:off x="868680" y="3931920"/>
            <a:ext cx="5486400" cy="365760"/>
          </a:xfrm>
          <a:prstGeom prst="roundRect">
            <a:avLst>
              <a:gd name="adj" fmla="val 17500"/>
            </a:avLst>
          </a:prstGeom>
          <a:solidFill>
            <a:srgbClr val="1B2B45"/>
          </a:solidFill>
          <a:ln w="12700">
            <a:solidFill>
              <a:srgbClr val="1B2B45"/>
            </a:solidFill>
            <a:prstDash val="solid"/>
          </a:ln>
        </p:spPr>
      </p:sp>
      <p:sp>
        <p:nvSpPr>
          <p:cNvPr id="47" name="Text 45"/>
          <p:cNvSpPr txBox="1"/>
          <p:nvPr/>
        </p:nvSpPr>
        <p:spPr>
          <a:xfrm>
            <a:off x="1033272" y="4041648"/>
            <a:ext cx="5157216" cy="14630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df.loc[1, "name"]   -&gt;  Sara      df.iloc[1, 0]  -&gt;  Sara</a:t>
            </a:r>
            <a:endParaRPr lang="en-US" sz="1000" dirty="0"/>
          </a:p>
        </p:txBody>
      </p:sp>
      <p:sp>
        <p:nvSpPr>
          <p:cNvPr id="48" name="Shape 46"/>
          <p:cNvSpPr/>
          <p:nvPr/>
        </p:nvSpPr>
        <p:spPr>
          <a:xfrm>
            <a:off x="6858000" y="1572768"/>
            <a:ext cx="4754880" cy="2743200"/>
          </a:xfrm>
          <a:prstGeom prst="roundRect">
            <a:avLst>
              <a:gd name="adj" fmla="val 30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49" name="Text 47"/>
          <p:cNvSpPr txBox="1"/>
          <p:nvPr/>
        </p:nvSpPr>
        <p:spPr>
          <a:xfrm>
            <a:off x="7114032" y="1719072"/>
            <a:ext cx="4297680" cy="301752"/>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Ask yourself one question</a:t>
            </a:r>
            <a:endParaRPr lang="en-US" sz="14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114032" y="2103120"/>
          <a:ext cx="4526280" cy="914400"/>
        </p:xfrm>
        <a:graphic>
          <a:graphicData uri="http://schemas.openxmlformats.org/drawingml/2006/table">
            <a:tbl>
              <a:tblPr/>
              <a:tblGrid>
                <a:gridCol w="1371600"/>
                <a:gridCol w="1554480"/>
                <a:gridCol w="1600200"/>
              </a:tblGrid>
              <a:tr h="310896">
                <a:tc>
                  <a:txBody>
                    <a:bodyPr/>
                    <a:lstStyle/>
                    <a:p>
                      <a:pPr indent="0" marL="0">
                        <a:buNone/>
                      </a:pP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loc</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iloc</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310896">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speaks</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LABELS</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POSITIONS</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10896">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row 2 means</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the row labelled 2</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the 3rd row</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10896">
                <a:tc>
                  <a:txBody>
                    <a:bodyPr/>
                    <a:lstStyle/>
                    <a:p>
                      <a:pPr indent="0" marL="0">
                        <a:buNone/>
                      </a:pPr>
                      <a:r>
                        <a:rPr lang="en-US" sz="1000" b="1" dirty="0">
                          <a:solidFill>
                            <a:srgbClr val="1F3A5F"/>
                          </a:solidFill>
                          <a:latin typeface="Courier New" pitchFamily="34" charset="0"/>
                          <a:ea typeface="Courier New" pitchFamily="34" charset="-122"/>
                          <a:cs typeface="Courier New" pitchFamily="34" charset="-120"/>
                        </a:rPr>
                        <a:t>[-1]</a:t>
                      </a:r>
                      <a:endParaRPr lang="en-US" sz="10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KeyError</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the last row</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10896">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columns by</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name</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number</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10896">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with a mask</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000" dirty="0">
                          <a:solidFill>
                            <a:srgbClr val="2B3445"/>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51" name="Text 48"/>
          <p:cNvSpPr txBox="1"/>
          <p:nvPr/>
        </p:nvSpPr>
        <p:spPr>
          <a:xfrm>
            <a:off x="7114032" y="3977640"/>
            <a:ext cx="4526280" cy="320040"/>
          </a:xfrm>
          <a:prstGeom prst="rect">
            <a:avLst/>
          </a:prstGeom>
          <a:noFill/>
          <a:ln/>
        </p:spPr>
        <p:txBody>
          <a:bodyPr wrap="square" lIns="0" tIns="0" rIns="0" bIns="0" rtlCol="0" anchor="ctr"/>
          <a:lstStyle/>
          <a:p>
            <a:pPr indent="0" marL="0">
              <a:buNone/>
            </a:pPr>
            <a:r>
              <a:rPr lang="en-US" sz="1100" i="1" dirty="0">
                <a:solidFill>
                  <a:srgbClr val="1C6F5C"/>
                </a:solidFill>
                <a:latin typeface="Calibri" pitchFamily="34" charset="0"/>
                <a:ea typeface="Calibri" pitchFamily="34" charset="-122"/>
                <a:cs typeface="Calibri" pitchFamily="34" charset="-120"/>
              </a:rPr>
              <a:t>If you are counting from the top, you want iloc. If you are naming something, you want loc.</a:t>
            </a:r>
            <a:endParaRPr lang="en-US" sz="1100" dirty="0"/>
          </a:p>
        </p:txBody>
      </p:sp>
      <p:sp>
        <p:nvSpPr>
          <p:cNvPr id="52" name="Shape 49"/>
          <p:cNvSpPr/>
          <p:nvPr/>
        </p:nvSpPr>
        <p:spPr>
          <a:xfrm>
            <a:off x="548640" y="4480560"/>
            <a:ext cx="11064240" cy="1371600"/>
          </a:xfrm>
          <a:prstGeom prst="roundRect">
            <a:avLst>
              <a:gd name="adj" fmla="val 600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53" name="Text 50"/>
          <p:cNvSpPr txBox="1"/>
          <p:nvPr/>
        </p:nvSpPr>
        <p:spPr>
          <a:xfrm>
            <a:off x="868680" y="4626864"/>
            <a:ext cx="7315200" cy="274320"/>
          </a:xfrm>
          <a:prstGeom prst="rect">
            <a:avLst/>
          </a:prstGeom>
          <a:noFill/>
          <a:ln/>
        </p:spPr>
        <p:txBody>
          <a:bodyPr wrap="square" lIns="0" tIns="0" rIns="0" bIns="0" rtlCol="0" anchor="ctr"/>
          <a:lstStyle/>
          <a:p>
            <a:pPr indent="0" marL="0">
              <a:buNone/>
            </a:pPr>
            <a:r>
              <a:rPr lang="en-US" sz="1450" b="1" dirty="0">
                <a:solidFill>
                  <a:srgbClr val="A63B24"/>
                </a:solidFill>
                <a:latin typeface="Calibri" pitchFamily="34" charset="0"/>
                <a:ea typeface="Calibri" pitchFamily="34" charset="-122"/>
                <a:cs typeface="Calibri" pitchFamily="34" charset="-120"/>
              </a:rPr>
              <a:t>⚠  They agree on a fresh DataFrame — which is the trap</a:t>
            </a:r>
            <a:endParaRPr lang="en-US" sz="1450" dirty="0"/>
          </a:p>
        </p:txBody>
      </p:sp>
      <p:sp>
        <p:nvSpPr>
          <p:cNvPr id="54" name="Text 51"/>
          <p:cNvSpPr txBox="1"/>
          <p:nvPr/>
        </p:nvSpPr>
        <p:spPr>
          <a:xfrm>
            <a:off x="868680" y="4937760"/>
            <a:ext cx="10424160" cy="777240"/>
          </a:xfrm>
          <a:prstGeom prst="rect">
            <a:avLst/>
          </a:prstGeom>
          <a:noFill/>
          <a:ln/>
        </p:spPr>
        <p:txBody>
          <a:bodyPr wrap="square" lIns="0" tIns="0" rIns="0" bIns="0" rtlCol="0" anchor="ctr"/>
          <a:lstStyle/>
          <a:p>
            <a:pPr indent="0" marL="0">
              <a:lnSpc>
                <a:spcPct val="115000"/>
              </a:lnSpc>
              <a:buNone/>
            </a:pPr>
            <a:r>
              <a:rPr lang="en-US" sz="1250" dirty="0">
                <a:solidFill>
                  <a:srgbClr val="6B4A0B"/>
                </a:solidFill>
                <a:latin typeface="Calibri" pitchFamily="34" charset="0"/>
                <a:ea typeface="Calibri" pitchFamily="34" charset="-122"/>
                <a:cs typeface="Calibri" pitchFamily="34" charset="-120"/>
              </a:rPr>
              <a:t>A DataFrame straight out of read_csv has labels 0, 1, 2, 3 — exactly the same as its positions. So loc and iloc return the same thing, and you can write either one without ever learning the difference. Then you filter the rows, the labels stop matching the positions, and half your code quietly breaks. Section 4 shows exactly that.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1.2  ·  SLICING</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slicing difference — one includes, one does not</a:t>
            </a:r>
            <a:endParaRPr lang="en-US" sz="3200" dirty="0"/>
          </a:p>
        </p:txBody>
      </p:sp>
      <p:sp>
        <p:nvSpPr>
          <p:cNvPr id="5" name="Shape 3"/>
          <p:cNvSpPr/>
          <p:nvPr/>
        </p:nvSpPr>
        <p:spPr>
          <a:xfrm>
            <a:off x="548640" y="1572768"/>
            <a:ext cx="5486400" cy="2651760"/>
          </a:xfrm>
          <a:prstGeom prst="roundRect">
            <a:avLst>
              <a:gd name="adj" fmla="val 310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937760" cy="301752"/>
          </a:xfrm>
          <a:prstGeom prst="rect">
            <a:avLst/>
          </a:prstGeom>
          <a:noFill/>
          <a:ln/>
        </p:spPr>
        <p:txBody>
          <a:bodyPr wrap="square" lIns="0" tIns="0" rIns="0" bIns="0" rtlCol="0" anchor="ctr"/>
          <a:lstStyle/>
          <a:p>
            <a:pPr indent="0" marL="0">
              <a:buNone/>
            </a:pPr>
            <a:r>
              <a:rPr lang="en-US" sz="1500" b="1" dirty="0">
                <a:solidFill>
                  <a:srgbClr val="1C6F5C"/>
                </a:solidFill>
                <a:latin typeface="Calibri" pitchFamily="34" charset="0"/>
                <a:ea typeface="Calibri" pitchFamily="34" charset="-122"/>
                <a:cs typeface="Calibri" pitchFamily="34" charset="-120"/>
              </a:rPr>
              <a:t>df.loc[1:3]  —  INCLUSIVE</a:t>
            </a:r>
            <a:endParaRPr lang="en-US" sz="1500" dirty="0"/>
          </a:p>
        </p:txBody>
      </p:sp>
      <p:sp>
        <p:nvSpPr>
          <p:cNvPr id="7" name="Shape 5"/>
          <p:cNvSpPr/>
          <p:nvPr/>
        </p:nvSpPr>
        <p:spPr>
          <a:xfrm>
            <a:off x="868680" y="2103120"/>
            <a:ext cx="548640" cy="329184"/>
          </a:xfrm>
          <a:prstGeom prst="rect">
            <a:avLst/>
          </a:prstGeom>
          <a:solidFill>
            <a:srgbClr val="E6EAF1"/>
          </a:solidFill>
          <a:ln w="12700">
            <a:solidFill>
              <a:srgbClr val="333333"/>
            </a:solidFill>
            <a:prstDash val="solid"/>
          </a:ln>
        </p:spPr>
      </p:sp>
      <p:sp>
        <p:nvSpPr>
          <p:cNvPr id="8" name="Shape 6"/>
          <p:cNvSpPr/>
          <p:nvPr/>
        </p:nvSpPr>
        <p:spPr>
          <a:xfrm>
            <a:off x="1417320" y="2103120"/>
            <a:ext cx="1673352" cy="329184"/>
          </a:xfrm>
          <a:prstGeom prst="rect">
            <a:avLst/>
          </a:prstGeom>
          <a:solidFill>
            <a:srgbClr val="1F3A5F"/>
          </a:solidFill>
          <a:ln w="12700">
            <a:solidFill>
              <a:srgbClr val="333333"/>
            </a:solidFill>
            <a:prstDash val="solid"/>
          </a:ln>
        </p:spPr>
      </p:sp>
      <p:sp>
        <p:nvSpPr>
          <p:cNvPr id="9" name="Text 7"/>
          <p:cNvSpPr txBox="1"/>
          <p:nvPr/>
        </p:nvSpPr>
        <p:spPr>
          <a:xfrm>
            <a:off x="1417320" y="2103120"/>
            <a:ext cx="1673352"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name</a:t>
            </a:r>
            <a:endParaRPr lang="en-US" sz="950" dirty="0"/>
          </a:p>
        </p:txBody>
      </p:sp>
      <p:sp>
        <p:nvSpPr>
          <p:cNvPr id="10" name="Shape 8"/>
          <p:cNvSpPr/>
          <p:nvPr/>
        </p:nvSpPr>
        <p:spPr>
          <a:xfrm>
            <a:off x="3108960" y="2103120"/>
            <a:ext cx="1673352" cy="329184"/>
          </a:xfrm>
          <a:prstGeom prst="rect">
            <a:avLst/>
          </a:prstGeom>
          <a:solidFill>
            <a:srgbClr val="1F3A5F"/>
          </a:solidFill>
          <a:ln w="12700">
            <a:solidFill>
              <a:srgbClr val="333333"/>
            </a:solidFill>
            <a:prstDash val="solid"/>
          </a:ln>
        </p:spPr>
      </p:sp>
      <p:sp>
        <p:nvSpPr>
          <p:cNvPr id="11" name="Text 9"/>
          <p:cNvSpPr txBox="1"/>
          <p:nvPr/>
        </p:nvSpPr>
        <p:spPr>
          <a:xfrm>
            <a:off x="3108960" y="2103120"/>
            <a:ext cx="1673352"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python</a:t>
            </a:r>
            <a:endParaRPr lang="en-US" sz="950" dirty="0"/>
          </a:p>
        </p:txBody>
      </p:sp>
      <p:sp>
        <p:nvSpPr>
          <p:cNvPr id="12" name="Shape 10"/>
          <p:cNvSpPr/>
          <p:nvPr/>
        </p:nvSpPr>
        <p:spPr>
          <a:xfrm>
            <a:off x="868680" y="2459736"/>
            <a:ext cx="548640" cy="329184"/>
          </a:xfrm>
          <a:prstGeom prst="rect">
            <a:avLst/>
          </a:prstGeom>
          <a:solidFill>
            <a:srgbClr val="E6EAF1"/>
          </a:solidFill>
          <a:ln w="12700">
            <a:solidFill>
              <a:srgbClr val="333333"/>
            </a:solidFill>
            <a:prstDash val="solid"/>
          </a:ln>
        </p:spPr>
      </p:sp>
      <p:sp>
        <p:nvSpPr>
          <p:cNvPr id="13" name="Text 11"/>
          <p:cNvSpPr txBox="1"/>
          <p:nvPr/>
        </p:nvSpPr>
        <p:spPr>
          <a:xfrm>
            <a:off x="868680" y="2459736"/>
            <a:ext cx="548640" cy="329184"/>
          </a:xfrm>
          <a:prstGeom prst="rect">
            <a:avLst/>
          </a:prstGeom>
          <a:noFill/>
          <a:ln/>
        </p:spPr>
        <p:txBody>
          <a:bodyPr wrap="square" lIns="0" tIns="0" rIns="0" bIns="0" rtlCol="0" anchor="ctr"/>
          <a:lstStyle/>
          <a:p>
            <a:pPr algn="ctr" indent="0" marL="0">
              <a:buNone/>
            </a:pPr>
            <a:r>
              <a:rPr lang="en-US" sz="950" b="1" dirty="0">
                <a:solidFill>
                  <a:srgbClr val="6B7789"/>
                </a:solidFill>
                <a:latin typeface="Courier New" pitchFamily="34" charset="0"/>
                <a:ea typeface="Courier New" pitchFamily="34" charset="-122"/>
                <a:cs typeface="Courier New" pitchFamily="34" charset="-120"/>
              </a:rPr>
              <a:t>0</a:t>
            </a:r>
            <a:endParaRPr lang="en-US" sz="950" dirty="0"/>
          </a:p>
        </p:txBody>
      </p:sp>
      <p:sp>
        <p:nvSpPr>
          <p:cNvPr id="14" name="Shape 12"/>
          <p:cNvSpPr/>
          <p:nvPr/>
        </p:nvSpPr>
        <p:spPr>
          <a:xfrm>
            <a:off x="1417320" y="2459736"/>
            <a:ext cx="1673352" cy="329184"/>
          </a:xfrm>
          <a:prstGeom prst="rect">
            <a:avLst/>
          </a:prstGeom>
          <a:solidFill>
            <a:srgbClr val="FFFFFF"/>
          </a:solidFill>
          <a:ln w="6350">
            <a:solidFill>
              <a:srgbClr val="E1E6EE"/>
            </a:solidFill>
            <a:prstDash val="solid"/>
          </a:ln>
        </p:spPr>
      </p:sp>
      <p:sp>
        <p:nvSpPr>
          <p:cNvPr id="15" name="Text 13"/>
          <p:cNvSpPr txBox="1"/>
          <p:nvPr/>
        </p:nvSpPr>
        <p:spPr>
          <a:xfrm>
            <a:off x="1417320" y="2459736"/>
            <a:ext cx="1673352" cy="329184"/>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Ravi</a:t>
            </a:r>
            <a:endParaRPr lang="en-US" sz="950" dirty="0"/>
          </a:p>
        </p:txBody>
      </p:sp>
      <p:sp>
        <p:nvSpPr>
          <p:cNvPr id="16" name="Shape 14"/>
          <p:cNvSpPr/>
          <p:nvPr/>
        </p:nvSpPr>
        <p:spPr>
          <a:xfrm>
            <a:off x="3108960" y="2459736"/>
            <a:ext cx="1673352" cy="329184"/>
          </a:xfrm>
          <a:prstGeom prst="rect">
            <a:avLst/>
          </a:prstGeom>
          <a:solidFill>
            <a:srgbClr val="FFFFFF"/>
          </a:solidFill>
          <a:ln w="6350">
            <a:solidFill>
              <a:srgbClr val="E1E6EE"/>
            </a:solidFill>
            <a:prstDash val="solid"/>
          </a:ln>
        </p:spPr>
      </p:sp>
      <p:sp>
        <p:nvSpPr>
          <p:cNvPr id="17" name="Text 15"/>
          <p:cNvSpPr txBox="1"/>
          <p:nvPr/>
        </p:nvSpPr>
        <p:spPr>
          <a:xfrm>
            <a:off x="3108960" y="2459736"/>
            <a:ext cx="1673352" cy="329184"/>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88</a:t>
            </a:r>
            <a:endParaRPr lang="en-US" sz="950" dirty="0"/>
          </a:p>
        </p:txBody>
      </p:sp>
      <p:sp>
        <p:nvSpPr>
          <p:cNvPr id="18" name="Shape 16"/>
          <p:cNvSpPr/>
          <p:nvPr/>
        </p:nvSpPr>
        <p:spPr>
          <a:xfrm>
            <a:off x="868680" y="2816352"/>
            <a:ext cx="548640" cy="329184"/>
          </a:xfrm>
          <a:prstGeom prst="rect">
            <a:avLst/>
          </a:prstGeom>
          <a:solidFill>
            <a:srgbClr val="E6EAF1"/>
          </a:solidFill>
          <a:ln w="12700">
            <a:solidFill>
              <a:srgbClr val="333333"/>
            </a:solidFill>
            <a:prstDash val="solid"/>
          </a:ln>
        </p:spPr>
      </p:sp>
      <p:sp>
        <p:nvSpPr>
          <p:cNvPr id="19" name="Text 17"/>
          <p:cNvSpPr txBox="1"/>
          <p:nvPr/>
        </p:nvSpPr>
        <p:spPr>
          <a:xfrm>
            <a:off x="868680" y="2816352"/>
            <a:ext cx="548640" cy="329184"/>
          </a:xfrm>
          <a:prstGeom prst="rect">
            <a:avLst/>
          </a:prstGeom>
          <a:noFill/>
          <a:ln/>
        </p:spPr>
        <p:txBody>
          <a:bodyPr wrap="square" lIns="0" tIns="0" rIns="0" bIns="0" rtlCol="0" anchor="ctr"/>
          <a:lstStyle/>
          <a:p>
            <a:pPr algn="ctr" indent="0" marL="0">
              <a:buNone/>
            </a:pPr>
            <a:r>
              <a:rPr lang="en-US" sz="950" b="1" dirty="0">
                <a:solidFill>
                  <a:srgbClr val="6B7789"/>
                </a:solidFill>
                <a:latin typeface="Courier New" pitchFamily="34" charset="0"/>
                <a:ea typeface="Courier New" pitchFamily="34" charset="-122"/>
                <a:cs typeface="Courier New" pitchFamily="34" charset="-120"/>
              </a:rPr>
              <a:t>1</a:t>
            </a:r>
            <a:endParaRPr lang="en-US" sz="950" dirty="0"/>
          </a:p>
        </p:txBody>
      </p:sp>
      <p:sp>
        <p:nvSpPr>
          <p:cNvPr id="20" name="Shape 18"/>
          <p:cNvSpPr/>
          <p:nvPr/>
        </p:nvSpPr>
        <p:spPr>
          <a:xfrm>
            <a:off x="1417320" y="2816352"/>
            <a:ext cx="1673352" cy="329184"/>
          </a:xfrm>
          <a:prstGeom prst="rect">
            <a:avLst/>
          </a:prstGeom>
          <a:solidFill>
            <a:srgbClr val="FFF1CF"/>
          </a:solidFill>
          <a:ln w="6350">
            <a:solidFill>
              <a:srgbClr val="E1E6EE"/>
            </a:solidFill>
            <a:prstDash val="solid"/>
          </a:ln>
        </p:spPr>
      </p:sp>
      <p:sp>
        <p:nvSpPr>
          <p:cNvPr id="21" name="Text 19"/>
          <p:cNvSpPr txBox="1"/>
          <p:nvPr/>
        </p:nvSpPr>
        <p:spPr>
          <a:xfrm>
            <a:off x="1417320" y="2816352"/>
            <a:ext cx="1673352" cy="329184"/>
          </a:xfrm>
          <a:prstGeom prst="rect">
            <a:avLst/>
          </a:prstGeom>
          <a:noFill/>
          <a:ln/>
        </p:spPr>
        <p:txBody>
          <a:bodyPr wrap="square" lIns="0" tIns="0" rIns="0" bIns="0" rtlCol="0" anchor="ctr"/>
          <a:lstStyle/>
          <a:p>
            <a:pPr algn="ctr" indent="0" marL="0">
              <a:buNone/>
            </a:pPr>
            <a:r>
              <a:rPr lang="en-US" sz="950" b="1" dirty="0">
                <a:solidFill>
                  <a:srgbClr val="8A5B00"/>
                </a:solidFill>
                <a:latin typeface="Courier New" pitchFamily="34" charset="0"/>
                <a:ea typeface="Courier New" pitchFamily="34" charset="-122"/>
                <a:cs typeface="Courier New" pitchFamily="34" charset="-120"/>
              </a:rPr>
              <a:t>Sara</a:t>
            </a:r>
            <a:endParaRPr lang="en-US" sz="950" dirty="0"/>
          </a:p>
        </p:txBody>
      </p:sp>
      <p:sp>
        <p:nvSpPr>
          <p:cNvPr id="22" name="Shape 20"/>
          <p:cNvSpPr/>
          <p:nvPr/>
        </p:nvSpPr>
        <p:spPr>
          <a:xfrm>
            <a:off x="3108960" y="2816352"/>
            <a:ext cx="1673352" cy="329184"/>
          </a:xfrm>
          <a:prstGeom prst="rect">
            <a:avLst/>
          </a:prstGeom>
          <a:solidFill>
            <a:srgbClr val="FFF1CF"/>
          </a:solidFill>
          <a:ln w="6350">
            <a:solidFill>
              <a:srgbClr val="E1E6EE"/>
            </a:solidFill>
            <a:prstDash val="solid"/>
          </a:ln>
        </p:spPr>
      </p:sp>
      <p:sp>
        <p:nvSpPr>
          <p:cNvPr id="23" name="Text 21"/>
          <p:cNvSpPr txBox="1"/>
          <p:nvPr/>
        </p:nvSpPr>
        <p:spPr>
          <a:xfrm>
            <a:off x="3108960" y="2816352"/>
            <a:ext cx="1673352" cy="329184"/>
          </a:xfrm>
          <a:prstGeom prst="rect">
            <a:avLst/>
          </a:prstGeom>
          <a:noFill/>
          <a:ln/>
        </p:spPr>
        <p:txBody>
          <a:bodyPr wrap="square" lIns="0" tIns="0" rIns="0" bIns="0" rtlCol="0" anchor="ctr"/>
          <a:lstStyle/>
          <a:p>
            <a:pPr algn="ctr" indent="0" marL="0">
              <a:buNone/>
            </a:pPr>
            <a:r>
              <a:rPr lang="en-US" sz="950" b="1" dirty="0">
                <a:solidFill>
                  <a:srgbClr val="8A5B00"/>
                </a:solidFill>
                <a:latin typeface="Courier New" pitchFamily="34" charset="0"/>
                <a:ea typeface="Courier New" pitchFamily="34" charset="-122"/>
                <a:cs typeface="Courier New" pitchFamily="34" charset="-120"/>
              </a:rPr>
              <a:t>91</a:t>
            </a:r>
            <a:endParaRPr lang="en-US" sz="950" dirty="0"/>
          </a:p>
        </p:txBody>
      </p:sp>
      <p:sp>
        <p:nvSpPr>
          <p:cNvPr id="24" name="Shape 22"/>
          <p:cNvSpPr/>
          <p:nvPr/>
        </p:nvSpPr>
        <p:spPr>
          <a:xfrm>
            <a:off x="868680" y="3172968"/>
            <a:ext cx="548640" cy="329184"/>
          </a:xfrm>
          <a:prstGeom prst="rect">
            <a:avLst/>
          </a:prstGeom>
          <a:solidFill>
            <a:srgbClr val="E6EAF1"/>
          </a:solidFill>
          <a:ln w="12700">
            <a:solidFill>
              <a:srgbClr val="333333"/>
            </a:solidFill>
            <a:prstDash val="solid"/>
          </a:ln>
        </p:spPr>
      </p:sp>
      <p:sp>
        <p:nvSpPr>
          <p:cNvPr id="25" name="Text 23"/>
          <p:cNvSpPr txBox="1"/>
          <p:nvPr/>
        </p:nvSpPr>
        <p:spPr>
          <a:xfrm>
            <a:off x="868680" y="3172968"/>
            <a:ext cx="548640" cy="329184"/>
          </a:xfrm>
          <a:prstGeom prst="rect">
            <a:avLst/>
          </a:prstGeom>
          <a:noFill/>
          <a:ln/>
        </p:spPr>
        <p:txBody>
          <a:bodyPr wrap="square" lIns="0" tIns="0" rIns="0" bIns="0" rtlCol="0" anchor="ctr"/>
          <a:lstStyle/>
          <a:p>
            <a:pPr algn="ctr" indent="0" marL="0">
              <a:buNone/>
            </a:pPr>
            <a:r>
              <a:rPr lang="en-US" sz="950" b="1" dirty="0">
                <a:solidFill>
                  <a:srgbClr val="6B7789"/>
                </a:solidFill>
                <a:latin typeface="Courier New" pitchFamily="34" charset="0"/>
                <a:ea typeface="Courier New" pitchFamily="34" charset="-122"/>
                <a:cs typeface="Courier New" pitchFamily="34" charset="-120"/>
              </a:rPr>
              <a:t>2</a:t>
            </a:r>
            <a:endParaRPr lang="en-US" sz="950" dirty="0"/>
          </a:p>
        </p:txBody>
      </p:sp>
      <p:sp>
        <p:nvSpPr>
          <p:cNvPr id="26" name="Shape 24"/>
          <p:cNvSpPr/>
          <p:nvPr/>
        </p:nvSpPr>
        <p:spPr>
          <a:xfrm>
            <a:off x="1417320" y="3172968"/>
            <a:ext cx="1673352" cy="329184"/>
          </a:xfrm>
          <a:prstGeom prst="rect">
            <a:avLst/>
          </a:prstGeom>
          <a:solidFill>
            <a:srgbClr val="FFF1CF"/>
          </a:solidFill>
          <a:ln w="6350">
            <a:solidFill>
              <a:srgbClr val="E1E6EE"/>
            </a:solidFill>
            <a:prstDash val="solid"/>
          </a:ln>
        </p:spPr>
      </p:sp>
      <p:sp>
        <p:nvSpPr>
          <p:cNvPr id="27" name="Text 25"/>
          <p:cNvSpPr txBox="1"/>
          <p:nvPr/>
        </p:nvSpPr>
        <p:spPr>
          <a:xfrm>
            <a:off x="1417320" y="3172968"/>
            <a:ext cx="1673352" cy="329184"/>
          </a:xfrm>
          <a:prstGeom prst="rect">
            <a:avLst/>
          </a:prstGeom>
          <a:noFill/>
          <a:ln/>
        </p:spPr>
        <p:txBody>
          <a:bodyPr wrap="square" lIns="0" tIns="0" rIns="0" bIns="0" rtlCol="0" anchor="ctr"/>
          <a:lstStyle/>
          <a:p>
            <a:pPr algn="ctr" indent="0" marL="0">
              <a:buNone/>
            </a:pPr>
            <a:r>
              <a:rPr lang="en-US" sz="950" b="1" dirty="0">
                <a:solidFill>
                  <a:srgbClr val="8A5B00"/>
                </a:solidFill>
                <a:latin typeface="Courier New" pitchFamily="34" charset="0"/>
                <a:ea typeface="Courier New" pitchFamily="34" charset="-122"/>
                <a:cs typeface="Courier New" pitchFamily="34" charset="-120"/>
              </a:rPr>
              <a:t>Amit</a:t>
            </a:r>
            <a:endParaRPr lang="en-US" sz="950" dirty="0"/>
          </a:p>
        </p:txBody>
      </p:sp>
      <p:sp>
        <p:nvSpPr>
          <p:cNvPr id="28" name="Shape 26"/>
          <p:cNvSpPr/>
          <p:nvPr/>
        </p:nvSpPr>
        <p:spPr>
          <a:xfrm>
            <a:off x="3108960" y="3172968"/>
            <a:ext cx="1673352" cy="329184"/>
          </a:xfrm>
          <a:prstGeom prst="rect">
            <a:avLst/>
          </a:prstGeom>
          <a:solidFill>
            <a:srgbClr val="FFF1CF"/>
          </a:solidFill>
          <a:ln w="6350">
            <a:solidFill>
              <a:srgbClr val="E1E6EE"/>
            </a:solidFill>
            <a:prstDash val="solid"/>
          </a:ln>
        </p:spPr>
      </p:sp>
      <p:sp>
        <p:nvSpPr>
          <p:cNvPr id="29" name="Text 27"/>
          <p:cNvSpPr txBox="1"/>
          <p:nvPr/>
        </p:nvSpPr>
        <p:spPr>
          <a:xfrm>
            <a:off x="3108960" y="3172968"/>
            <a:ext cx="1673352" cy="329184"/>
          </a:xfrm>
          <a:prstGeom prst="rect">
            <a:avLst/>
          </a:prstGeom>
          <a:noFill/>
          <a:ln/>
        </p:spPr>
        <p:txBody>
          <a:bodyPr wrap="square" lIns="0" tIns="0" rIns="0" bIns="0" rtlCol="0" anchor="ctr"/>
          <a:lstStyle/>
          <a:p>
            <a:pPr algn="ctr" indent="0" marL="0">
              <a:buNone/>
            </a:pPr>
            <a:r>
              <a:rPr lang="en-US" sz="950" b="1" dirty="0">
                <a:solidFill>
                  <a:srgbClr val="8A5B00"/>
                </a:solidFill>
                <a:latin typeface="Courier New" pitchFamily="34" charset="0"/>
                <a:ea typeface="Courier New" pitchFamily="34" charset="-122"/>
                <a:cs typeface="Courier New" pitchFamily="34" charset="-120"/>
              </a:rPr>
              <a:t>45</a:t>
            </a:r>
            <a:endParaRPr lang="en-US" sz="950" dirty="0"/>
          </a:p>
        </p:txBody>
      </p:sp>
      <p:sp>
        <p:nvSpPr>
          <p:cNvPr id="30" name="Shape 28"/>
          <p:cNvSpPr/>
          <p:nvPr/>
        </p:nvSpPr>
        <p:spPr>
          <a:xfrm>
            <a:off x="868680" y="3529584"/>
            <a:ext cx="548640" cy="329184"/>
          </a:xfrm>
          <a:prstGeom prst="rect">
            <a:avLst/>
          </a:prstGeom>
          <a:solidFill>
            <a:srgbClr val="E6EAF1"/>
          </a:solidFill>
          <a:ln w="12700">
            <a:solidFill>
              <a:srgbClr val="333333"/>
            </a:solidFill>
            <a:prstDash val="solid"/>
          </a:ln>
        </p:spPr>
      </p:sp>
      <p:sp>
        <p:nvSpPr>
          <p:cNvPr id="31" name="Text 29"/>
          <p:cNvSpPr txBox="1"/>
          <p:nvPr/>
        </p:nvSpPr>
        <p:spPr>
          <a:xfrm>
            <a:off x="868680" y="3529584"/>
            <a:ext cx="548640" cy="329184"/>
          </a:xfrm>
          <a:prstGeom prst="rect">
            <a:avLst/>
          </a:prstGeom>
          <a:noFill/>
          <a:ln/>
        </p:spPr>
        <p:txBody>
          <a:bodyPr wrap="square" lIns="0" tIns="0" rIns="0" bIns="0" rtlCol="0" anchor="ctr"/>
          <a:lstStyle/>
          <a:p>
            <a:pPr algn="ctr" indent="0" marL="0">
              <a:buNone/>
            </a:pPr>
            <a:r>
              <a:rPr lang="en-US" sz="950" b="1" dirty="0">
                <a:solidFill>
                  <a:srgbClr val="6B7789"/>
                </a:solidFill>
                <a:latin typeface="Courier New" pitchFamily="34" charset="0"/>
                <a:ea typeface="Courier New" pitchFamily="34" charset="-122"/>
                <a:cs typeface="Courier New" pitchFamily="34" charset="-120"/>
              </a:rPr>
              <a:t>3</a:t>
            </a:r>
            <a:endParaRPr lang="en-US" sz="950" dirty="0"/>
          </a:p>
        </p:txBody>
      </p:sp>
      <p:sp>
        <p:nvSpPr>
          <p:cNvPr id="32" name="Shape 30"/>
          <p:cNvSpPr/>
          <p:nvPr/>
        </p:nvSpPr>
        <p:spPr>
          <a:xfrm>
            <a:off x="1417320" y="3529584"/>
            <a:ext cx="1673352" cy="329184"/>
          </a:xfrm>
          <a:prstGeom prst="rect">
            <a:avLst/>
          </a:prstGeom>
          <a:solidFill>
            <a:srgbClr val="FFF1CF"/>
          </a:solidFill>
          <a:ln w="6350">
            <a:solidFill>
              <a:srgbClr val="E1E6EE"/>
            </a:solidFill>
            <a:prstDash val="solid"/>
          </a:ln>
        </p:spPr>
      </p:sp>
      <p:sp>
        <p:nvSpPr>
          <p:cNvPr id="33" name="Text 31"/>
          <p:cNvSpPr txBox="1"/>
          <p:nvPr/>
        </p:nvSpPr>
        <p:spPr>
          <a:xfrm>
            <a:off x="1417320" y="3529584"/>
            <a:ext cx="1673352" cy="329184"/>
          </a:xfrm>
          <a:prstGeom prst="rect">
            <a:avLst/>
          </a:prstGeom>
          <a:noFill/>
          <a:ln/>
        </p:spPr>
        <p:txBody>
          <a:bodyPr wrap="square" lIns="0" tIns="0" rIns="0" bIns="0" rtlCol="0" anchor="ctr"/>
          <a:lstStyle/>
          <a:p>
            <a:pPr algn="ctr" indent="0" marL="0">
              <a:buNone/>
            </a:pPr>
            <a:r>
              <a:rPr lang="en-US" sz="950" b="1" dirty="0">
                <a:solidFill>
                  <a:srgbClr val="8A5B00"/>
                </a:solidFill>
                <a:latin typeface="Courier New" pitchFamily="34" charset="0"/>
                <a:ea typeface="Courier New" pitchFamily="34" charset="-122"/>
                <a:cs typeface="Courier New" pitchFamily="34" charset="-120"/>
              </a:rPr>
              <a:t>Neha</a:t>
            </a:r>
            <a:endParaRPr lang="en-US" sz="950" dirty="0"/>
          </a:p>
        </p:txBody>
      </p:sp>
      <p:sp>
        <p:nvSpPr>
          <p:cNvPr id="34" name="Shape 32"/>
          <p:cNvSpPr/>
          <p:nvPr/>
        </p:nvSpPr>
        <p:spPr>
          <a:xfrm>
            <a:off x="3108960" y="3529584"/>
            <a:ext cx="1673352" cy="329184"/>
          </a:xfrm>
          <a:prstGeom prst="rect">
            <a:avLst/>
          </a:prstGeom>
          <a:solidFill>
            <a:srgbClr val="FFF1CF"/>
          </a:solidFill>
          <a:ln w="6350">
            <a:solidFill>
              <a:srgbClr val="E1E6EE"/>
            </a:solidFill>
            <a:prstDash val="solid"/>
          </a:ln>
        </p:spPr>
      </p:sp>
      <p:sp>
        <p:nvSpPr>
          <p:cNvPr id="35" name="Text 33"/>
          <p:cNvSpPr txBox="1"/>
          <p:nvPr/>
        </p:nvSpPr>
        <p:spPr>
          <a:xfrm>
            <a:off x="3108960" y="3529584"/>
            <a:ext cx="1673352" cy="329184"/>
          </a:xfrm>
          <a:prstGeom prst="rect">
            <a:avLst/>
          </a:prstGeom>
          <a:noFill/>
          <a:ln/>
        </p:spPr>
        <p:txBody>
          <a:bodyPr wrap="square" lIns="0" tIns="0" rIns="0" bIns="0" rtlCol="0" anchor="ctr"/>
          <a:lstStyle/>
          <a:p>
            <a:pPr algn="ctr" indent="0" marL="0">
              <a:buNone/>
            </a:pPr>
            <a:r>
              <a:rPr lang="en-US" sz="950" b="1" dirty="0">
                <a:solidFill>
                  <a:srgbClr val="8A5B00"/>
                </a:solidFill>
                <a:latin typeface="Courier New" pitchFamily="34" charset="0"/>
                <a:ea typeface="Courier New" pitchFamily="34" charset="-122"/>
                <a:cs typeface="Courier New" pitchFamily="34" charset="-120"/>
              </a:rPr>
              <a:t>67</a:t>
            </a:r>
            <a:endParaRPr lang="en-US" sz="950" dirty="0"/>
          </a:p>
        </p:txBody>
      </p:sp>
      <p:sp>
        <p:nvSpPr>
          <p:cNvPr id="36" name="Text 34"/>
          <p:cNvSpPr txBox="1"/>
          <p:nvPr/>
        </p:nvSpPr>
        <p:spPr>
          <a:xfrm>
            <a:off x="868680" y="3794760"/>
            <a:ext cx="4572000" cy="256032"/>
          </a:xfrm>
          <a:prstGeom prst="rect">
            <a:avLst/>
          </a:prstGeom>
          <a:noFill/>
          <a:ln/>
        </p:spPr>
        <p:txBody>
          <a:bodyPr wrap="square" lIns="0" tIns="0" rIns="0" bIns="0" rtlCol="0" anchor="ctr"/>
          <a:lstStyle/>
          <a:p>
            <a:pPr indent="0" marL="0">
              <a:buNone/>
            </a:pPr>
            <a:r>
              <a:rPr lang="en-US" sz="1150" b="1" dirty="0">
                <a:solidFill>
                  <a:srgbClr val="1C6F5C"/>
                </a:solidFill>
                <a:latin typeface="Calibri" pitchFamily="34" charset="0"/>
                <a:ea typeface="Calibri" pitchFamily="34" charset="-122"/>
                <a:cs typeface="Calibri" pitchFamily="34" charset="-120"/>
              </a:rPr>
              <a:t>three rows: 1, 2 AND 3</a:t>
            </a:r>
            <a:endParaRPr lang="en-US" sz="1150" dirty="0"/>
          </a:p>
        </p:txBody>
      </p:sp>
      <p:sp>
        <p:nvSpPr>
          <p:cNvPr id="37" name="Shape 35"/>
          <p:cNvSpPr/>
          <p:nvPr/>
        </p:nvSpPr>
        <p:spPr>
          <a:xfrm>
            <a:off x="6309360" y="1572768"/>
            <a:ext cx="5303520" cy="2651760"/>
          </a:xfrm>
          <a:prstGeom prst="roundRect">
            <a:avLst>
              <a:gd name="adj" fmla="val 3103"/>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8" name="Text 36"/>
          <p:cNvSpPr txBox="1"/>
          <p:nvPr/>
        </p:nvSpPr>
        <p:spPr>
          <a:xfrm>
            <a:off x="6565392" y="1719072"/>
            <a:ext cx="4754880" cy="301752"/>
          </a:xfrm>
          <a:prstGeom prst="rect">
            <a:avLst/>
          </a:prstGeom>
          <a:noFill/>
          <a:ln/>
        </p:spPr>
        <p:txBody>
          <a:bodyPr wrap="square" lIns="0" tIns="0" rIns="0" bIns="0" rtlCol="0" anchor="ctr"/>
          <a:lstStyle/>
          <a:p>
            <a:pPr indent="0" marL="0">
              <a:buNone/>
            </a:pPr>
            <a:r>
              <a:rPr lang="en-US" sz="1500" b="1" dirty="0">
                <a:solidFill>
                  <a:srgbClr val="A63B24"/>
                </a:solidFill>
                <a:latin typeface="Calibri" pitchFamily="34" charset="0"/>
                <a:ea typeface="Calibri" pitchFamily="34" charset="-122"/>
                <a:cs typeface="Calibri" pitchFamily="34" charset="-120"/>
              </a:rPr>
              <a:t>df.iloc[1:3]  —  EXCLUSIVE</a:t>
            </a:r>
            <a:endParaRPr lang="en-US" sz="1500" dirty="0"/>
          </a:p>
        </p:txBody>
      </p:sp>
      <p:sp>
        <p:nvSpPr>
          <p:cNvPr id="39" name="Shape 37"/>
          <p:cNvSpPr/>
          <p:nvPr/>
        </p:nvSpPr>
        <p:spPr>
          <a:xfrm>
            <a:off x="6629400" y="2103120"/>
            <a:ext cx="548640" cy="329184"/>
          </a:xfrm>
          <a:prstGeom prst="rect">
            <a:avLst/>
          </a:prstGeom>
          <a:solidFill>
            <a:srgbClr val="E6EAF1"/>
          </a:solidFill>
          <a:ln w="12700">
            <a:solidFill>
              <a:srgbClr val="333333"/>
            </a:solidFill>
            <a:prstDash val="solid"/>
          </a:ln>
        </p:spPr>
      </p:sp>
      <p:sp>
        <p:nvSpPr>
          <p:cNvPr id="40" name="Shape 38"/>
          <p:cNvSpPr/>
          <p:nvPr/>
        </p:nvSpPr>
        <p:spPr>
          <a:xfrm>
            <a:off x="7178040" y="2103120"/>
            <a:ext cx="1581912" cy="329184"/>
          </a:xfrm>
          <a:prstGeom prst="rect">
            <a:avLst/>
          </a:prstGeom>
          <a:solidFill>
            <a:srgbClr val="1F3A5F"/>
          </a:solidFill>
          <a:ln w="12700">
            <a:solidFill>
              <a:srgbClr val="333333"/>
            </a:solidFill>
            <a:prstDash val="solid"/>
          </a:ln>
        </p:spPr>
      </p:sp>
      <p:sp>
        <p:nvSpPr>
          <p:cNvPr id="41" name="Text 39"/>
          <p:cNvSpPr txBox="1"/>
          <p:nvPr/>
        </p:nvSpPr>
        <p:spPr>
          <a:xfrm>
            <a:off x="7178040" y="2103120"/>
            <a:ext cx="1581912"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name</a:t>
            </a:r>
            <a:endParaRPr lang="en-US" sz="950" dirty="0"/>
          </a:p>
        </p:txBody>
      </p:sp>
      <p:sp>
        <p:nvSpPr>
          <p:cNvPr id="42" name="Shape 40"/>
          <p:cNvSpPr/>
          <p:nvPr/>
        </p:nvSpPr>
        <p:spPr>
          <a:xfrm>
            <a:off x="8778240" y="2103120"/>
            <a:ext cx="1581912" cy="329184"/>
          </a:xfrm>
          <a:prstGeom prst="rect">
            <a:avLst/>
          </a:prstGeom>
          <a:solidFill>
            <a:srgbClr val="1F3A5F"/>
          </a:solidFill>
          <a:ln w="12700">
            <a:solidFill>
              <a:srgbClr val="333333"/>
            </a:solidFill>
            <a:prstDash val="solid"/>
          </a:ln>
        </p:spPr>
      </p:sp>
      <p:sp>
        <p:nvSpPr>
          <p:cNvPr id="43" name="Text 41"/>
          <p:cNvSpPr txBox="1"/>
          <p:nvPr/>
        </p:nvSpPr>
        <p:spPr>
          <a:xfrm>
            <a:off x="8778240" y="2103120"/>
            <a:ext cx="1581912"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python</a:t>
            </a:r>
            <a:endParaRPr lang="en-US" sz="950" dirty="0"/>
          </a:p>
        </p:txBody>
      </p:sp>
      <p:sp>
        <p:nvSpPr>
          <p:cNvPr id="44" name="Shape 42"/>
          <p:cNvSpPr/>
          <p:nvPr/>
        </p:nvSpPr>
        <p:spPr>
          <a:xfrm>
            <a:off x="6629400" y="2459736"/>
            <a:ext cx="548640" cy="329184"/>
          </a:xfrm>
          <a:prstGeom prst="rect">
            <a:avLst/>
          </a:prstGeom>
          <a:solidFill>
            <a:srgbClr val="E6EAF1"/>
          </a:solidFill>
          <a:ln w="12700">
            <a:solidFill>
              <a:srgbClr val="333333"/>
            </a:solidFill>
            <a:prstDash val="solid"/>
          </a:ln>
        </p:spPr>
      </p:sp>
      <p:sp>
        <p:nvSpPr>
          <p:cNvPr id="45" name="Text 43"/>
          <p:cNvSpPr txBox="1"/>
          <p:nvPr/>
        </p:nvSpPr>
        <p:spPr>
          <a:xfrm>
            <a:off x="6629400" y="2459736"/>
            <a:ext cx="548640" cy="329184"/>
          </a:xfrm>
          <a:prstGeom prst="rect">
            <a:avLst/>
          </a:prstGeom>
          <a:noFill/>
          <a:ln/>
        </p:spPr>
        <p:txBody>
          <a:bodyPr wrap="square" lIns="0" tIns="0" rIns="0" bIns="0" rtlCol="0" anchor="ctr"/>
          <a:lstStyle/>
          <a:p>
            <a:pPr algn="ctr" indent="0" marL="0">
              <a:buNone/>
            </a:pPr>
            <a:r>
              <a:rPr lang="en-US" sz="950" b="1" dirty="0">
                <a:solidFill>
                  <a:srgbClr val="6B7789"/>
                </a:solidFill>
                <a:latin typeface="Courier New" pitchFamily="34" charset="0"/>
                <a:ea typeface="Courier New" pitchFamily="34" charset="-122"/>
                <a:cs typeface="Courier New" pitchFamily="34" charset="-120"/>
              </a:rPr>
              <a:t>0</a:t>
            </a:r>
            <a:endParaRPr lang="en-US" sz="950" dirty="0"/>
          </a:p>
        </p:txBody>
      </p:sp>
      <p:sp>
        <p:nvSpPr>
          <p:cNvPr id="46" name="Shape 44"/>
          <p:cNvSpPr/>
          <p:nvPr/>
        </p:nvSpPr>
        <p:spPr>
          <a:xfrm>
            <a:off x="7178040" y="2459736"/>
            <a:ext cx="1581912" cy="329184"/>
          </a:xfrm>
          <a:prstGeom prst="rect">
            <a:avLst/>
          </a:prstGeom>
          <a:solidFill>
            <a:srgbClr val="FFFFFF"/>
          </a:solidFill>
          <a:ln w="6350">
            <a:solidFill>
              <a:srgbClr val="E1E6EE"/>
            </a:solidFill>
            <a:prstDash val="solid"/>
          </a:ln>
        </p:spPr>
      </p:sp>
      <p:sp>
        <p:nvSpPr>
          <p:cNvPr id="47" name="Text 45"/>
          <p:cNvSpPr txBox="1"/>
          <p:nvPr/>
        </p:nvSpPr>
        <p:spPr>
          <a:xfrm>
            <a:off x="7178040" y="2459736"/>
            <a:ext cx="1581912" cy="329184"/>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Ravi</a:t>
            </a:r>
            <a:endParaRPr lang="en-US" sz="950" dirty="0"/>
          </a:p>
        </p:txBody>
      </p:sp>
      <p:sp>
        <p:nvSpPr>
          <p:cNvPr id="48" name="Shape 46"/>
          <p:cNvSpPr/>
          <p:nvPr/>
        </p:nvSpPr>
        <p:spPr>
          <a:xfrm>
            <a:off x="8778240" y="2459736"/>
            <a:ext cx="1581912" cy="329184"/>
          </a:xfrm>
          <a:prstGeom prst="rect">
            <a:avLst/>
          </a:prstGeom>
          <a:solidFill>
            <a:srgbClr val="FFFFFF"/>
          </a:solidFill>
          <a:ln w="6350">
            <a:solidFill>
              <a:srgbClr val="E1E6EE"/>
            </a:solidFill>
            <a:prstDash val="solid"/>
          </a:ln>
        </p:spPr>
      </p:sp>
      <p:sp>
        <p:nvSpPr>
          <p:cNvPr id="49" name="Text 47"/>
          <p:cNvSpPr txBox="1"/>
          <p:nvPr/>
        </p:nvSpPr>
        <p:spPr>
          <a:xfrm>
            <a:off x="8778240" y="2459736"/>
            <a:ext cx="1581912" cy="329184"/>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88</a:t>
            </a:r>
            <a:endParaRPr lang="en-US" sz="950" dirty="0"/>
          </a:p>
        </p:txBody>
      </p:sp>
      <p:sp>
        <p:nvSpPr>
          <p:cNvPr id="50" name="Shape 48"/>
          <p:cNvSpPr/>
          <p:nvPr/>
        </p:nvSpPr>
        <p:spPr>
          <a:xfrm>
            <a:off x="6629400" y="2816352"/>
            <a:ext cx="548640" cy="329184"/>
          </a:xfrm>
          <a:prstGeom prst="rect">
            <a:avLst/>
          </a:prstGeom>
          <a:solidFill>
            <a:srgbClr val="E6EAF1"/>
          </a:solidFill>
          <a:ln w="12700">
            <a:solidFill>
              <a:srgbClr val="333333"/>
            </a:solidFill>
            <a:prstDash val="solid"/>
          </a:ln>
        </p:spPr>
      </p:sp>
      <p:sp>
        <p:nvSpPr>
          <p:cNvPr id="51" name="Text 49"/>
          <p:cNvSpPr txBox="1"/>
          <p:nvPr/>
        </p:nvSpPr>
        <p:spPr>
          <a:xfrm>
            <a:off x="6629400" y="2816352"/>
            <a:ext cx="548640" cy="329184"/>
          </a:xfrm>
          <a:prstGeom prst="rect">
            <a:avLst/>
          </a:prstGeom>
          <a:noFill/>
          <a:ln/>
        </p:spPr>
        <p:txBody>
          <a:bodyPr wrap="square" lIns="0" tIns="0" rIns="0" bIns="0" rtlCol="0" anchor="ctr"/>
          <a:lstStyle/>
          <a:p>
            <a:pPr algn="ctr" indent="0" marL="0">
              <a:buNone/>
            </a:pPr>
            <a:r>
              <a:rPr lang="en-US" sz="950" b="1" dirty="0">
                <a:solidFill>
                  <a:srgbClr val="6B7789"/>
                </a:solidFill>
                <a:latin typeface="Courier New" pitchFamily="34" charset="0"/>
                <a:ea typeface="Courier New" pitchFamily="34" charset="-122"/>
                <a:cs typeface="Courier New" pitchFamily="34" charset="-120"/>
              </a:rPr>
              <a:t>1</a:t>
            </a:r>
            <a:endParaRPr lang="en-US" sz="950" dirty="0"/>
          </a:p>
        </p:txBody>
      </p:sp>
      <p:sp>
        <p:nvSpPr>
          <p:cNvPr id="52" name="Shape 50"/>
          <p:cNvSpPr/>
          <p:nvPr/>
        </p:nvSpPr>
        <p:spPr>
          <a:xfrm>
            <a:off x="7178040" y="2816352"/>
            <a:ext cx="1581912" cy="329184"/>
          </a:xfrm>
          <a:prstGeom prst="rect">
            <a:avLst/>
          </a:prstGeom>
          <a:solidFill>
            <a:srgbClr val="FFF1CF"/>
          </a:solidFill>
          <a:ln w="6350">
            <a:solidFill>
              <a:srgbClr val="E1E6EE"/>
            </a:solidFill>
            <a:prstDash val="solid"/>
          </a:ln>
        </p:spPr>
      </p:sp>
      <p:sp>
        <p:nvSpPr>
          <p:cNvPr id="53" name="Text 51"/>
          <p:cNvSpPr txBox="1"/>
          <p:nvPr/>
        </p:nvSpPr>
        <p:spPr>
          <a:xfrm>
            <a:off x="7178040" y="2816352"/>
            <a:ext cx="1581912" cy="329184"/>
          </a:xfrm>
          <a:prstGeom prst="rect">
            <a:avLst/>
          </a:prstGeom>
          <a:noFill/>
          <a:ln/>
        </p:spPr>
        <p:txBody>
          <a:bodyPr wrap="square" lIns="0" tIns="0" rIns="0" bIns="0" rtlCol="0" anchor="ctr"/>
          <a:lstStyle/>
          <a:p>
            <a:pPr algn="ctr" indent="0" marL="0">
              <a:buNone/>
            </a:pPr>
            <a:r>
              <a:rPr lang="en-US" sz="950" b="1" dirty="0">
                <a:solidFill>
                  <a:srgbClr val="8A5B00"/>
                </a:solidFill>
                <a:latin typeface="Courier New" pitchFamily="34" charset="0"/>
                <a:ea typeface="Courier New" pitchFamily="34" charset="-122"/>
                <a:cs typeface="Courier New" pitchFamily="34" charset="-120"/>
              </a:rPr>
              <a:t>Sara</a:t>
            </a:r>
            <a:endParaRPr lang="en-US" sz="950" dirty="0"/>
          </a:p>
        </p:txBody>
      </p:sp>
      <p:sp>
        <p:nvSpPr>
          <p:cNvPr id="54" name="Shape 52"/>
          <p:cNvSpPr/>
          <p:nvPr/>
        </p:nvSpPr>
        <p:spPr>
          <a:xfrm>
            <a:off x="8778240" y="2816352"/>
            <a:ext cx="1581912" cy="329184"/>
          </a:xfrm>
          <a:prstGeom prst="rect">
            <a:avLst/>
          </a:prstGeom>
          <a:solidFill>
            <a:srgbClr val="FFF1CF"/>
          </a:solidFill>
          <a:ln w="6350">
            <a:solidFill>
              <a:srgbClr val="E1E6EE"/>
            </a:solidFill>
            <a:prstDash val="solid"/>
          </a:ln>
        </p:spPr>
      </p:sp>
      <p:sp>
        <p:nvSpPr>
          <p:cNvPr id="55" name="Text 53"/>
          <p:cNvSpPr txBox="1"/>
          <p:nvPr/>
        </p:nvSpPr>
        <p:spPr>
          <a:xfrm>
            <a:off x="8778240" y="2816352"/>
            <a:ext cx="1581912" cy="329184"/>
          </a:xfrm>
          <a:prstGeom prst="rect">
            <a:avLst/>
          </a:prstGeom>
          <a:noFill/>
          <a:ln/>
        </p:spPr>
        <p:txBody>
          <a:bodyPr wrap="square" lIns="0" tIns="0" rIns="0" bIns="0" rtlCol="0" anchor="ctr"/>
          <a:lstStyle/>
          <a:p>
            <a:pPr algn="ctr" indent="0" marL="0">
              <a:buNone/>
            </a:pPr>
            <a:r>
              <a:rPr lang="en-US" sz="950" b="1" dirty="0">
                <a:solidFill>
                  <a:srgbClr val="8A5B00"/>
                </a:solidFill>
                <a:latin typeface="Courier New" pitchFamily="34" charset="0"/>
                <a:ea typeface="Courier New" pitchFamily="34" charset="-122"/>
                <a:cs typeface="Courier New" pitchFamily="34" charset="-120"/>
              </a:rPr>
              <a:t>91</a:t>
            </a:r>
            <a:endParaRPr lang="en-US" sz="950" dirty="0"/>
          </a:p>
        </p:txBody>
      </p:sp>
      <p:sp>
        <p:nvSpPr>
          <p:cNvPr id="56" name="Shape 54"/>
          <p:cNvSpPr/>
          <p:nvPr/>
        </p:nvSpPr>
        <p:spPr>
          <a:xfrm>
            <a:off x="6629400" y="3172968"/>
            <a:ext cx="548640" cy="329184"/>
          </a:xfrm>
          <a:prstGeom prst="rect">
            <a:avLst/>
          </a:prstGeom>
          <a:solidFill>
            <a:srgbClr val="E6EAF1"/>
          </a:solidFill>
          <a:ln w="12700">
            <a:solidFill>
              <a:srgbClr val="333333"/>
            </a:solidFill>
            <a:prstDash val="solid"/>
          </a:ln>
        </p:spPr>
      </p:sp>
      <p:sp>
        <p:nvSpPr>
          <p:cNvPr id="57" name="Text 55"/>
          <p:cNvSpPr txBox="1"/>
          <p:nvPr/>
        </p:nvSpPr>
        <p:spPr>
          <a:xfrm>
            <a:off x="6629400" y="3172968"/>
            <a:ext cx="548640" cy="329184"/>
          </a:xfrm>
          <a:prstGeom prst="rect">
            <a:avLst/>
          </a:prstGeom>
          <a:noFill/>
          <a:ln/>
        </p:spPr>
        <p:txBody>
          <a:bodyPr wrap="square" lIns="0" tIns="0" rIns="0" bIns="0" rtlCol="0" anchor="ctr"/>
          <a:lstStyle/>
          <a:p>
            <a:pPr algn="ctr" indent="0" marL="0">
              <a:buNone/>
            </a:pPr>
            <a:r>
              <a:rPr lang="en-US" sz="950" b="1" dirty="0">
                <a:solidFill>
                  <a:srgbClr val="6B7789"/>
                </a:solidFill>
                <a:latin typeface="Courier New" pitchFamily="34" charset="0"/>
                <a:ea typeface="Courier New" pitchFamily="34" charset="-122"/>
                <a:cs typeface="Courier New" pitchFamily="34" charset="-120"/>
              </a:rPr>
              <a:t>2</a:t>
            </a:r>
            <a:endParaRPr lang="en-US" sz="950" dirty="0"/>
          </a:p>
        </p:txBody>
      </p:sp>
      <p:sp>
        <p:nvSpPr>
          <p:cNvPr id="58" name="Shape 56"/>
          <p:cNvSpPr/>
          <p:nvPr/>
        </p:nvSpPr>
        <p:spPr>
          <a:xfrm>
            <a:off x="7178040" y="3172968"/>
            <a:ext cx="1581912" cy="329184"/>
          </a:xfrm>
          <a:prstGeom prst="rect">
            <a:avLst/>
          </a:prstGeom>
          <a:solidFill>
            <a:srgbClr val="FFF1CF"/>
          </a:solidFill>
          <a:ln w="6350">
            <a:solidFill>
              <a:srgbClr val="E1E6EE"/>
            </a:solidFill>
            <a:prstDash val="solid"/>
          </a:ln>
        </p:spPr>
      </p:sp>
      <p:sp>
        <p:nvSpPr>
          <p:cNvPr id="59" name="Text 57"/>
          <p:cNvSpPr txBox="1"/>
          <p:nvPr/>
        </p:nvSpPr>
        <p:spPr>
          <a:xfrm>
            <a:off x="7178040" y="3172968"/>
            <a:ext cx="1581912" cy="329184"/>
          </a:xfrm>
          <a:prstGeom prst="rect">
            <a:avLst/>
          </a:prstGeom>
          <a:noFill/>
          <a:ln/>
        </p:spPr>
        <p:txBody>
          <a:bodyPr wrap="square" lIns="0" tIns="0" rIns="0" bIns="0" rtlCol="0" anchor="ctr"/>
          <a:lstStyle/>
          <a:p>
            <a:pPr algn="ctr" indent="0" marL="0">
              <a:buNone/>
            </a:pPr>
            <a:r>
              <a:rPr lang="en-US" sz="950" b="1" dirty="0">
                <a:solidFill>
                  <a:srgbClr val="8A5B00"/>
                </a:solidFill>
                <a:latin typeface="Courier New" pitchFamily="34" charset="0"/>
                <a:ea typeface="Courier New" pitchFamily="34" charset="-122"/>
                <a:cs typeface="Courier New" pitchFamily="34" charset="-120"/>
              </a:rPr>
              <a:t>Amit</a:t>
            </a:r>
            <a:endParaRPr lang="en-US" sz="950" dirty="0"/>
          </a:p>
        </p:txBody>
      </p:sp>
      <p:sp>
        <p:nvSpPr>
          <p:cNvPr id="60" name="Shape 58"/>
          <p:cNvSpPr/>
          <p:nvPr/>
        </p:nvSpPr>
        <p:spPr>
          <a:xfrm>
            <a:off x="8778240" y="3172968"/>
            <a:ext cx="1581912" cy="329184"/>
          </a:xfrm>
          <a:prstGeom prst="rect">
            <a:avLst/>
          </a:prstGeom>
          <a:solidFill>
            <a:srgbClr val="FFF1CF"/>
          </a:solidFill>
          <a:ln w="6350">
            <a:solidFill>
              <a:srgbClr val="E1E6EE"/>
            </a:solidFill>
            <a:prstDash val="solid"/>
          </a:ln>
        </p:spPr>
      </p:sp>
      <p:sp>
        <p:nvSpPr>
          <p:cNvPr id="61" name="Text 59"/>
          <p:cNvSpPr txBox="1"/>
          <p:nvPr/>
        </p:nvSpPr>
        <p:spPr>
          <a:xfrm>
            <a:off x="8778240" y="3172968"/>
            <a:ext cx="1581912" cy="329184"/>
          </a:xfrm>
          <a:prstGeom prst="rect">
            <a:avLst/>
          </a:prstGeom>
          <a:noFill/>
          <a:ln/>
        </p:spPr>
        <p:txBody>
          <a:bodyPr wrap="square" lIns="0" tIns="0" rIns="0" bIns="0" rtlCol="0" anchor="ctr"/>
          <a:lstStyle/>
          <a:p>
            <a:pPr algn="ctr" indent="0" marL="0">
              <a:buNone/>
            </a:pPr>
            <a:r>
              <a:rPr lang="en-US" sz="950" b="1" dirty="0">
                <a:solidFill>
                  <a:srgbClr val="8A5B00"/>
                </a:solidFill>
                <a:latin typeface="Courier New" pitchFamily="34" charset="0"/>
                <a:ea typeface="Courier New" pitchFamily="34" charset="-122"/>
                <a:cs typeface="Courier New" pitchFamily="34" charset="-120"/>
              </a:rPr>
              <a:t>45</a:t>
            </a:r>
            <a:endParaRPr lang="en-US" sz="950" dirty="0"/>
          </a:p>
        </p:txBody>
      </p:sp>
      <p:sp>
        <p:nvSpPr>
          <p:cNvPr id="62" name="Shape 60"/>
          <p:cNvSpPr/>
          <p:nvPr/>
        </p:nvSpPr>
        <p:spPr>
          <a:xfrm>
            <a:off x="6629400" y="3529584"/>
            <a:ext cx="548640" cy="329184"/>
          </a:xfrm>
          <a:prstGeom prst="rect">
            <a:avLst/>
          </a:prstGeom>
          <a:solidFill>
            <a:srgbClr val="E6EAF1"/>
          </a:solidFill>
          <a:ln w="12700">
            <a:solidFill>
              <a:srgbClr val="333333"/>
            </a:solidFill>
            <a:prstDash val="solid"/>
          </a:ln>
        </p:spPr>
      </p:sp>
      <p:sp>
        <p:nvSpPr>
          <p:cNvPr id="63" name="Text 61"/>
          <p:cNvSpPr txBox="1"/>
          <p:nvPr/>
        </p:nvSpPr>
        <p:spPr>
          <a:xfrm>
            <a:off x="6629400" y="3529584"/>
            <a:ext cx="548640" cy="329184"/>
          </a:xfrm>
          <a:prstGeom prst="rect">
            <a:avLst/>
          </a:prstGeom>
          <a:noFill/>
          <a:ln/>
        </p:spPr>
        <p:txBody>
          <a:bodyPr wrap="square" lIns="0" tIns="0" rIns="0" bIns="0" rtlCol="0" anchor="ctr"/>
          <a:lstStyle/>
          <a:p>
            <a:pPr algn="ctr" indent="0" marL="0">
              <a:buNone/>
            </a:pPr>
            <a:r>
              <a:rPr lang="en-US" sz="950" b="1" dirty="0">
                <a:solidFill>
                  <a:srgbClr val="6B7789"/>
                </a:solidFill>
                <a:latin typeface="Courier New" pitchFamily="34" charset="0"/>
                <a:ea typeface="Courier New" pitchFamily="34" charset="-122"/>
                <a:cs typeface="Courier New" pitchFamily="34" charset="-120"/>
              </a:rPr>
              <a:t>3</a:t>
            </a:r>
            <a:endParaRPr lang="en-US" sz="950" dirty="0"/>
          </a:p>
        </p:txBody>
      </p:sp>
      <p:sp>
        <p:nvSpPr>
          <p:cNvPr id="64" name="Shape 62"/>
          <p:cNvSpPr/>
          <p:nvPr/>
        </p:nvSpPr>
        <p:spPr>
          <a:xfrm>
            <a:off x="7178040" y="3529584"/>
            <a:ext cx="1581912" cy="329184"/>
          </a:xfrm>
          <a:prstGeom prst="rect">
            <a:avLst/>
          </a:prstGeom>
          <a:solidFill>
            <a:srgbClr val="FFFFFF"/>
          </a:solidFill>
          <a:ln w="6350">
            <a:solidFill>
              <a:srgbClr val="E1E6EE"/>
            </a:solidFill>
            <a:prstDash val="solid"/>
          </a:ln>
        </p:spPr>
      </p:sp>
      <p:sp>
        <p:nvSpPr>
          <p:cNvPr id="65" name="Text 63"/>
          <p:cNvSpPr txBox="1"/>
          <p:nvPr/>
        </p:nvSpPr>
        <p:spPr>
          <a:xfrm>
            <a:off x="7178040" y="3529584"/>
            <a:ext cx="1581912" cy="329184"/>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Neha</a:t>
            </a:r>
            <a:endParaRPr lang="en-US" sz="950" dirty="0"/>
          </a:p>
        </p:txBody>
      </p:sp>
      <p:sp>
        <p:nvSpPr>
          <p:cNvPr id="66" name="Shape 64"/>
          <p:cNvSpPr/>
          <p:nvPr/>
        </p:nvSpPr>
        <p:spPr>
          <a:xfrm>
            <a:off x="8778240" y="3529584"/>
            <a:ext cx="1581912" cy="329184"/>
          </a:xfrm>
          <a:prstGeom prst="rect">
            <a:avLst/>
          </a:prstGeom>
          <a:solidFill>
            <a:srgbClr val="FFFFFF"/>
          </a:solidFill>
          <a:ln w="6350">
            <a:solidFill>
              <a:srgbClr val="E1E6EE"/>
            </a:solidFill>
            <a:prstDash val="solid"/>
          </a:ln>
        </p:spPr>
      </p:sp>
      <p:sp>
        <p:nvSpPr>
          <p:cNvPr id="67" name="Text 65"/>
          <p:cNvSpPr txBox="1"/>
          <p:nvPr/>
        </p:nvSpPr>
        <p:spPr>
          <a:xfrm>
            <a:off x="8778240" y="3529584"/>
            <a:ext cx="1581912" cy="329184"/>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67</a:t>
            </a:r>
            <a:endParaRPr lang="en-US" sz="950" dirty="0"/>
          </a:p>
        </p:txBody>
      </p:sp>
      <p:sp>
        <p:nvSpPr>
          <p:cNvPr id="68" name="Text 66"/>
          <p:cNvSpPr txBox="1"/>
          <p:nvPr/>
        </p:nvSpPr>
        <p:spPr>
          <a:xfrm>
            <a:off x="6629400" y="3794760"/>
            <a:ext cx="4572000" cy="256032"/>
          </a:xfrm>
          <a:prstGeom prst="rect">
            <a:avLst/>
          </a:prstGeom>
          <a:noFill/>
          <a:ln/>
        </p:spPr>
        <p:txBody>
          <a:bodyPr wrap="square" lIns="0" tIns="0" rIns="0" bIns="0" rtlCol="0" anchor="ctr"/>
          <a:lstStyle/>
          <a:p>
            <a:pPr indent="0" marL="0">
              <a:buNone/>
            </a:pPr>
            <a:r>
              <a:rPr lang="en-US" sz="1150" b="1" dirty="0">
                <a:solidFill>
                  <a:srgbClr val="A63B24"/>
                </a:solidFill>
                <a:latin typeface="Calibri" pitchFamily="34" charset="0"/>
                <a:ea typeface="Calibri" pitchFamily="34" charset="-122"/>
                <a:cs typeface="Calibri" pitchFamily="34" charset="-120"/>
              </a:rPr>
              <a:t>two rows: 1 and 2 only</a:t>
            </a:r>
            <a:endParaRPr lang="en-US" sz="1150" dirty="0"/>
          </a:p>
        </p:txBody>
      </p:sp>
      <p:sp>
        <p:nvSpPr>
          <p:cNvPr id="69" name="Shape 67"/>
          <p:cNvSpPr/>
          <p:nvPr/>
        </p:nvSpPr>
        <p:spPr>
          <a:xfrm>
            <a:off x="548640" y="4389120"/>
            <a:ext cx="11064240" cy="1463040"/>
          </a:xfrm>
          <a:prstGeom prst="roundRect">
            <a:avLst>
              <a:gd name="adj" fmla="val 5625"/>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0" name="Text 68"/>
          <p:cNvSpPr txBox="1"/>
          <p:nvPr/>
        </p:nvSpPr>
        <p:spPr>
          <a:xfrm>
            <a:off x="868680" y="4535424"/>
            <a:ext cx="73152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Why the inconsistency is not really an inconsistency</a:t>
            </a:r>
            <a:endParaRPr lang="en-US" sz="1450" dirty="0"/>
          </a:p>
        </p:txBody>
      </p:sp>
      <p:sp>
        <p:nvSpPr>
          <p:cNvPr id="71" name="Text 69"/>
          <p:cNvSpPr txBox="1"/>
          <p:nvPr/>
        </p:nvSpPr>
        <p:spPr>
          <a:xfrm>
            <a:off x="868680" y="4846320"/>
            <a:ext cx="10424160" cy="868680"/>
          </a:xfrm>
          <a:prstGeom prst="rect">
            <a:avLst/>
          </a:prstGeom>
          <a:noFill/>
          <a:ln/>
        </p:spPr>
        <p:txBody>
          <a:bodyPr wrap="square" lIns="0" tIns="0" rIns="0" bIns="0" rtlCol="0" anchor="ctr"/>
          <a:lstStyle/>
          <a:p>
            <a:pPr indent="0" marL="0">
              <a:lnSpc>
                <a:spcPct val="115000"/>
              </a:lnSpc>
              <a:buNone/>
            </a:pPr>
            <a:r>
              <a:rPr lang="en-US" sz="1250" dirty="0">
                <a:solidFill>
                  <a:srgbClr val="6B4A0B"/>
                </a:solidFill>
                <a:latin typeface="Calibri" pitchFamily="34" charset="0"/>
                <a:ea typeface="Calibri" pitchFamily="34" charset="-122"/>
                <a:cs typeface="Calibri" pitchFamily="34" charset="-120"/>
              </a:rPr>
              <a:t>iloc slices by position, so it follows Python's rule from Day 4 — the stop is excluded, exactly like a list or range(). loc slices by label, and with labels there is no “next one” to stop before: if you ask for “Ravi to Neha” you clearly mean Neha included. Once you think of loc as naming a first and last row rather than counting, the behaviour is the obvious one.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2</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Boolean Filtering</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Selecting rows by condition  ·  25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mask</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Combining conditions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loc for assignment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2.1  ·  BOOLEAN FILTERING</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Filtering rows — Day 12's mask, on a table</a:t>
            </a:r>
            <a:endParaRPr lang="en-US" sz="3200" dirty="0"/>
          </a:p>
        </p:txBody>
      </p:sp>
      <p:sp>
        <p:nvSpPr>
          <p:cNvPr id="5" name="Shape 3"/>
          <p:cNvSpPr/>
          <p:nvPr/>
        </p:nvSpPr>
        <p:spPr>
          <a:xfrm>
            <a:off x="548640" y="1572768"/>
            <a:ext cx="11064240" cy="2286000"/>
          </a:xfrm>
          <a:prstGeom prst="roundRect">
            <a:avLst>
              <a:gd name="adj" fmla="val 36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22960" y="1783080"/>
            <a:ext cx="5120640" cy="1234440"/>
          </a:xfrm>
          <a:prstGeom prst="roundRect">
            <a:avLst>
              <a:gd name="adj" fmla="val 5185"/>
            </a:avLst>
          </a:prstGeom>
          <a:solidFill>
            <a:srgbClr val="1B2B45"/>
          </a:solidFill>
          <a:ln w="12700">
            <a:solidFill>
              <a:srgbClr val="1B2B45"/>
            </a:solidFill>
            <a:prstDash val="solid"/>
          </a:ln>
        </p:spPr>
      </p:sp>
      <p:sp>
        <p:nvSpPr>
          <p:cNvPr id="7" name="Text 5"/>
          <p:cNvSpPr txBox="1"/>
          <p:nvPr/>
        </p:nvSpPr>
        <p:spPr>
          <a:xfrm>
            <a:off x="987552" y="1892808"/>
            <a:ext cx="4791456" cy="101498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mask = df["python"] &gt; 70</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0     True</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1     True</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2    False</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3    False</a:t>
            </a:r>
            <a:endParaRPr lang="en-US" sz="1050" dirty="0"/>
          </a:p>
        </p:txBody>
      </p:sp>
      <p:sp>
        <p:nvSpPr>
          <p:cNvPr id="8" name="Shape 6"/>
          <p:cNvSpPr/>
          <p:nvPr/>
        </p:nvSpPr>
        <p:spPr>
          <a:xfrm>
            <a:off x="6217920" y="1783080"/>
            <a:ext cx="5120640" cy="1234440"/>
          </a:xfrm>
          <a:prstGeom prst="roundRect">
            <a:avLst>
              <a:gd name="adj" fmla="val 5185"/>
            </a:avLst>
          </a:prstGeom>
          <a:solidFill>
            <a:srgbClr val="1B2B45"/>
          </a:solidFill>
          <a:ln w="12700">
            <a:solidFill>
              <a:srgbClr val="1B2B45"/>
            </a:solidFill>
            <a:prstDash val="solid"/>
          </a:ln>
        </p:spPr>
      </p:sp>
      <p:sp>
        <p:nvSpPr>
          <p:cNvPr id="9" name="Text 7"/>
          <p:cNvSpPr txBox="1"/>
          <p:nvPr/>
        </p:nvSpPr>
        <p:spPr>
          <a:xfrm>
            <a:off x="6382512" y="1892808"/>
            <a:ext cx="4791456" cy="101498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df[mask]            # or, in one line:</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df[df["python"] &gt; 70]</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name    city  python</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0   Ravi    Pune      88</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1   Sara  Mumbai      91</a:t>
            </a:r>
            <a:endParaRPr lang="en-US" sz="1050" dirty="0"/>
          </a:p>
        </p:txBody>
      </p:sp>
      <p:sp>
        <p:nvSpPr>
          <p:cNvPr id="10" name="Text 8"/>
          <p:cNvSpPr txBox="1"/>
          <p:nvPr/>
        </p:nvSpPr>
        <p:spPr>
          <a:xfrm>
            <a:off x="822960" y="3154680"/>
            <a:ext cx="10515600" cy="59436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A mask is a boolean Series with the same index. Passing it to df keeps only the rows where it is True — exactly Day 12's array masking, with labels attached.</a:t>
            </a:r>
            <a:endParaRPr lang="en-US" sz="1250" dirty="0"/>
          </a:p>
        </p:txBody>
      </p:sp>
      <p:sp>
        <p:nvSpPr>
          <p:cNvPr id="11" name="Shape 9"/>
          <p:cNvSpPr/>
          <p:nvPr/>
        </p:nvSpPr>
        <p:spPr>
          <a:xfrm>
            <a:off x="548640" y="3977640"/>
            <a:ext cx="5486400" cy="1874520"/>
          </a:xfrm>
          <a:prstGeom prst="roundRect">
            <a:avLst>
              <a:gd name="adj" fmla="val 439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Text 10"/>
          <p:cNvSpPr txBox="1"/>
          <p:nvPr/>
        </p:nvSpPr>
        <p:spPr>
          <a:xfrm>
            <a:off x="804672" y="4123944"/>
            <a:ext cx="4937760" cy="301752"/>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Combining conditions</a:t>
            </a:r>
            <a:endParaRPr lang="en-US" sz="1450" dirty="0"/>
          </a:p>
        </p:txBody>
      </p:sp>
      <p:sp>
        <p:nvSpPr>
          <p:cNvPr id="13" name="Shape 11"/>
          <p:cNvSpPr/>
          <p:nvPr/>
        </p:nvSpPr>
        <p:spPr>
          <a:xfrm>
            <a:off x="804672" y="4480560"/>
            <a:ext cx="4983480" cy="1188720"/>
          </a:xfrm>
          <a:prstGeom prst="roundRect">
            <a:avLst>
              <a:gd name="adj" fmla="val 5385"/>
            </a:avLst>
          </a:prstGeom>
          <a:solidFill>
            <a:srgbClr val="1B2B45"/>
          </a:solidFill>
          <a:ln w="12700">
            <a:solidFill>
              <a:srgbClr val="1B2B45"/>
            </a:solidFill>
            <a:prstDash val="solid"/>
          </a:ln>
        </p:spPr>
      </p:sp>
      <p:sp>
        <p:nvSpPr>
          <p:cNvPr id="14" name="Text 12"/>
          <p:cNvSpPr txBox="1"/>
          <p:nvPr/>
        </p:nvSpPr>
        <p:spPr>
          <a:xfrm>
            <a:off x="969264" y="4590288"/>
            <a:ext cx="4654296" cy="96926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df[(df["python"] &gt; 70) &amp; (df["stats"] &gt; 70)]</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df[(df["city"] == "Pune") | (df["python"] &gt; 85)]</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df[~(df["city"] == "Pune")]</a:t>
            </a:r>
            <a:endParaRPr lang="en-US" sz="950" dirty="0"/>
          </a:p>
          <a:p>
            <a:pPr indent="0" marL="0">
              <a:lnSpc>
                <a:spcPct val="112000"/>
              </a:lnSpc>
              <a:buNone/>
            </a:pP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&amp;  and     |  or     ~  not</a:t>
            </a:r>
            <a:endParaRPr lang="en-US" sz="950" dirty="0"/>
          </a:p>
        </p:txBody>
      </p:sp>
      <p:sp>
        <p:nvSpPr>
          <p:cNvPr id="15" name="Shape 13"/>
          <p:cNvSpPr/>
          <p:nvPr/>
        </p:nvSpPr>
        <p:spPr>
          <a:xfrm>
            <a:off x="6309360" y="3977640"/>
            <a:ext cx="5303520" cy="1874520"/>
          </a:xfrm>
          <a:prstGeom prst="roundRect">
            <a:avLst>
              <a:gd name="adj" fmla="val 439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Text 14"/>
          <p:cNvSpPr txBox="1"/>
          <p:nvPr/>
        </p:nvSpPr>
        <p:spPr>
          <a:xfrm>
            <a:off x="6565392" y="4123944"/>
            <a:ext cx="4754880" cy="301752"/>
          </a:xfrm>
          <a:prstGeom prst="rect">
            <a:avLst/>
          </a:prstGeom>
          <a:noFill/>
          <a:ln/>
        </p:spPr>
        <p:txBody>
          <a:bodyPr wrap="square" lIns="0" tIns="0" rIns="0" bIns="0" rtlCol="0" anchor="ctr"/>
          <a:lstStyle/>
          <a:p>
            <a:pPr indent="0" marL="0">
              <a:buNone/>
            </a:pPr>
            <a:r>
              <a:rPr lang="en-US" sz="1450" b="1" dirty="0">
                <a:solidFill>
                  <a:srgbClr val="A63B24"/>
                </a:solidFill>
                <a:latin typeface="Calibri" pitchFamily="34" charset="0"/>
                <a:ea typeface="Calibri" pitchFamily="34" charset="-122"/>
                <a:cs typeface="Calibri" pitchFamily="34" charset="-120"/>
              </a:rPr>
              <a:t>⚠  Exactly the Day 13 rules</a:t>
            </a:r>
            <a:endParaRPr lang="en-US" sz="1450" dirty="0"/>
          </a:p>
        </p:txBody>
      </p:sp>
      <p:sp>
        <p:nvSpPr>
          <p:cNvPr id="17" name="Shape 15"/>
          <p:cNvSpPr/>
          <p:nvPr/>
        </p:nvSpPr>
        <p:spPr>
          <a:xfrm>
            <a:off x="6565392" y="4480560"/>
            <a:ext cx="4800600" cy="777240"/>
          </a:xfrm>
          <a:prstGeom prst="roundRect">
            <a:avLst>
              <a:gd name="adj" fmla="val 8235"/>
            </a:avLst>
          </a:prstGeom>
          <a:solidFill>
            <a:srgbClr val="1B2B45"/>
          </a:solidFill>
          <a:ln w="12700">
            <a:solidFill>
              <a:srgbClr val="1B2B45"/>
            </a:solidFill>
            <a:prstDash val="solid"/>
          </a:ln>
        </p:spPr>
      </p:sp>
      <p:sp>
        <p:nvSpPr>
          <p:cNvPr id="18" name="Text 16"/>
          <p:cNvSpPr txBox="1"/>
          <p:nvPr/>
        </p:nvSpPr>
        <p:spPr>
          <a:xfrm>
            <a:off x="6729984" y="4590288"/>
            <a:ext cx="4471416" cy="55778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and ...    -&gt;  ValueError: truth value</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of a Series is ambiguous</a:t>
            </a:r>
            <a:endParaRPr lang="en-US" sz="950" dirty="0"/>
          </a:p>
        </p:txBody>
      </p:sp>
      <p:sp>
        <p:nvSpPr>
          <p:cNvPr id="19" name="Text 17"/>
          <p:cNvSpPr txBox="1"/>
          <p:nvPr/>
        </p:nvSpPr>
        <p:spPr>
          <a:xfrm>
            <a:off x="6565392" y="5349240"/>
            <a:ext cx="4800600" cy="457200"/>
          </a:xfrm>
          <a:prstGeom prst="rect">
            <a:avLst/>
          </a:prstGeom>
          <a:noFill/>
          <a:ln/>
        </p:spPr>
        <p:txBody>
          <a:bodyPr wrap="square" lIns="0" tIns="0" rIns="0" bIns="0" rtlCol="0" anchor="ctr"/>
          <a:lstStyle/>
          <a:p>
            <a:pPr indent="0" marL="0">
              <a:lnSpc>
                <a:spcPct val="112000"/>
              </a:lnSpc>
              <a:buNone/>
            </a:pPr>
            <a:r>
              <a:rPr lang="en-US" sz="1150" dirty="0">
                <a:solidFill>
                  <a:srgbClr val="6B4A0B"/>
                </a:solidFill>
                <a:latin typeface="Calibri" pitchFamily="34" charset="0"/>
                <a:ea typeface="Calibri" pitchFamily="34" charset="-122"/>
                <a:cs typeface="Calibri" pitchFamily="34" charset="-120"/>
              </a:rPr>
              <a:t>Use &amp; and |, never and / or. And bracket every condition — &amp; binds tighter than the comparisons, so leaving them off changes the meaning.</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2.2  ·  ASSIGNMENT</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Changing values — and the assignment that vanishes</a:t>
            </a:r>
            <a:endParaRPr lang="en-US" sz="3200" dirty="0"/>
          </a:p>
        </p:txBody>
      </p:sp>
      <p:sp>
        <p:nvSpPr>
          <p:cNvPr id="5" name="Shape 3"/>
          <p:cNvSpPr/>
          <p:nvPr/>
        </p:nvSpPr>
        <p:spPr>
          <a:xfrm>
            <a:off x="548640" y="1572768"/>
            <a:ext cx="5760720" cy="2651760"/>
          </a:xfrm>
          <a:prstGeom prst="roundRect">
            <a:avLst>
              <a:gd name="adj" fmla="val 3103"/>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5212080" cy="301752"/>
          </a:xfrm>
          <a:prstGeom prst="rect">
            <a:avLst/>
          </a:prstGeom>
          <a:noFill/>
          <a:ln/>
        </p:spPr>
        <p:txBody>
          <a:bodyPr wrap="square" lIns="0" tIns="0" rIns="0" bIns="0" rtlCol="0" anchor="ctr"/>
          <a:lstStyle/>
          <a:p>
            <a:pPr indent="0" marL="0">
              <a:buNone/>
            </a:pPr>
            <a:r>
              <a:rPr lang="en-US" sz="1500" b="1" dirty="0">
                <a:solidFill>
                  <a:srgbClr val="A63B24"/>
                </a:solidFill>
                <a:latin typeface="Calibri" pitchFamily="34" charset="0"/>
                <a:ea typeface="Calibri" pitchFamily="34" charset="-122"/>
                <a:cs typeface="Calibri" pitchFamily="34" charset="-120"/>
              </a:rPr>
              <a:t>⚠  This does NOT work</a:t>
            </a:r>
            <a:endParaRPr lang="en-US" sz="1500" dirty="0"/>
          </a:p>
        </p:txBody>
      </p:sp>
      <p:sp>
        <p:nvSpPr>
          <p:cNvPr id="7" name="Shape 5"/>
          <p:cNvSpPr/>
          <p:nvPr/>
        </p:nvSpPr>
        <p:spPr>
          <a:xfrm>
            <a:off x="804672" y="2103120"/>
            <a:ext cx="5257800" cy="1371600"/>
          </a:xfrm>
          <a:prstGeom prst="roundRect">
            <a:avLst>
              <a:gd name="adj" fmla="val 4667"/>
            </a:avLst>
          </a:prstGeom>
          <a:solidFill>
            <a:srgbClr val="1B2B45"/>
          </a:solidFill>
          <a:ln w="12700">
            <a:solidFill>
              <a:srgbClr val="1B2B45"/>
            </a:solidFill>
            <a:prstDash val="solid"/>
          </a:ln>
        </p:spPr>
      </p:sp>
      <p:sp>
        <p:nvSpPr>
          <p:cNvPr id="8" name="Text 6"/>
          <p:cNvSpPr txBox="1"/>
          <p:nvPr/>
        </p:nvSpPr>
        <p:spPr>
          <a:xfrm>
            <a:off x="969264" y="2212848"/>
            <a:ext cx="4928616" cy="115214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df[df["python"] &lt; 50]["python"] = 50</a:t>
            </a:r>
            <a:endParaRPr lang="en-US" sz="1000" dirty="0"/>
          </a:p>
          <a:p>
            <a:pPr indent="0" marL="0">
              <a:lnSpc>
                <a:spcPct val="112000"/>
              </a:lnSpc>
              <a:buNone/>
            </a:pP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df.loc[2, "python"]   -&gt;  45</a:t>
            </a:r>
            <a:endParaRPr lang="en-US" sz="1000" dirty="0"/>
          </a:p>
          <a:p>
            <a:pPr indent="0" marL="0">
              <a:lnSpc>
                <a:spcPct val="112000"/>
              </a:lnSpc>
              <a:buNone/>
            </a:pP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still 45. Nothing changed.</a:t>
            </a:r>
            <a:endParaRPr lang="en-US" sz="1000" dirty="0"/>
          </a:p>
        </p:txBody>
      </p:sp>
      <p:sp>
        <p:nvSpPr>
          <p:cNvPr id="9" name="Text 7"/>
          <p:cNvSpPr txBox="1"/>
          <p:nvPr/>
        </p:nvSpPr>
        <p:spPr>
          <a:xfrm>
            <a:off x="804672" y="3566160"/>
            <a:ext cx="5257800" cy="548640"/>
          </a:xfrm>
          <a:prstGeom prst="rect">
            <a:avLst/>
          </a:prstGeom>
          <a:noFill/>
          <a:ln/>
        </p:spPr>
        <p:txBody>
          <a:bodyPr wrap="square" lIns="0" tIns="0" rIns="0" bIns="0" rtlCol="0" anchor="ctr"/>
          <a:lstStyle/>
          <a:p>
            <a:pPr indent="0" marL="0">
              <a:lnSpc>
                <a:spcPct val="112000"/>
              </a:lnSpc>
              <a:buNone/>
            </a:pPr>
            <a:r>
              <a:rPr lang="en-US" sz="1150" dirty="0">
                <a:solidFill>
                  <a:srgbClr val="6B4A0B"/>
                </a:solidFill>
                <a:latin typeface="Calibri" pitchFamily="34" charset="0"/>
                <a:ea typeface="Calibri" pitchFamily="34" charset="-122"/>
                <a:cs typeface="Calibri" pitchFamily="34" charset="-120"/>
              </a:rPr>
              <a:t>Two brackets in a row means pandas built a temporary copy, wrote 50 into the copy, and threw the copy away. Modern pandas warns; older versions sometimes worked and sometimes did not.</a:t>
            </a:r>
            <a:endParaRPr lang="en-US" sz="1150" dirty="0"/>
          </a:p>
        </p:txBody>
      </p:sp>
      <p:sp>
        <p:nvSpPr>
          <p:cNvPr id="10" name="Shape 8"/>
          <p:cNvSpPr/>
          <p:nvPr/>
        </p:nvSpPr>
        <p:spPr>
          <a:xfrm>
            <a:off x="6583680" y="1572768"/>
            <a:ext cx="5029200" cy="2651760"/>
          </a:xfrm>
          <a:prstGeom prst="roundRect">
            <a:avLst>
              <a:gd name="adj" fmla="val 310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Text 9"/>
          <p:cNvSpPr txBox="1"/>
          <p:nvPr/>
        </p:nvSpPr>
        <p:spPr>
          <a:xfrm>
            <a:off x="6839712" y="1719072"/>
            <a:ext cx="4480560" cy="301752"/>
          </a:xfrm>
          <a:prstGeom prst="rect">
            <a:avLst/>
          </a:prstGeom>
          <a:noFill/>
          <a:ln/>
        </p:spPr>
        <p:txBody>
          <a:bodyPr wrap="square" lIns="0" tIns="0" rIns="0" bIns="0" rtlCol="0" anchor="ctr"/>
          <a:lstStyle/>
          <a:p>
            <a:pPr indent="0" marL="0">
              <a:buNone/>
            </a:pPr>
            <a:r>
              <a:rPr lang="en-US" sz="1500" b="1" dirty="0">
                <a:solidFill>
                  <a:srgbClr val="1C6F5C"/>
                </a:solidFill>
                <a:latin typeface="Calibri" pitchFamily="34" charset="0"/>
                <a:ea typeface="Calibri" pitchFamily="34" charset="-122"/>
                <a:cs typeface="Calibri" pitchFamily="34" charset="-120"/>
              </a:rPr>
              <a:t>This does — one set of brackets</a:t>
            </a:r>
            <a:endParaRPr lang="en-US" sz="1500" dirty="0"/>
          </a:p>
        </p:txBody>
      </p:sp>
      <p:sp>
        <p:nvSpPr>
          <p:cNvPr id="12" name="Shape 10"/>
          <p:cNvSpPr/>
          <p:nvPr/>
        </p:nvSpPr>
        <p:spPr>
          <a:xfrm>
            <a:off x="6839712" y="2103120"/>
            <a:ext cx="4526280" cy="1371600"/>
          </a:xfrm>
          <a:prstGeom prst="roundRect">
            <a:avLst>
              <a:gd name="adj" fmla="val 4667"/>
            </a:avLst>
          </a:prstGeom>
          <a:solidFill>
            <a:srgbClr val="1B2B45"/>
          </a:solidFill>
          <a:ln w="12700">
            <a:solidFill>
              <a:srgbClr val="1B2B45"/>
            </a:solidFill>
            <a:prstDash val="solid"/>
          </a:ln>
        </p:spPr>
      </p:sp>
      <p:sp>
        <p:nvSpPr>
          <p:cNvPr id="13" name="Text 11"/>
          <p:cNvSpPr txBox="1"/>
          <p:nvPr/>
        </p:nvSpPr>
        <p:spPr>
          <a:xfrm>
            <a:off x="7004304" y="2212848"/>
            <a:ext cx="4197096" cy="115214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df.loc[df["python"] &lt; 50,</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"python"] = 50</a:t>
            </a:r>
            <a:endParaRPr lang="en-US" sz="1000" dirty="0"/>
          </a:p>
          <a:p>
            <a:pPr indent="0" marL="0">
              <a:lnSpc>
                <a:spcPct val="112000"/>
              </a:lnSpc>
              <a:buNone/>
            </a:pP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df.loc[2, "python"]   -&gt;  50</a:t>
            </a:r>
            <a:endParaRPr lang="en-US" sz="1000" dirty="0"/>
          </a:p>
          <a:p>
            <a:pPr indent="0" marL="0">
              <a:lnSpc>
                <a:spcPct val="112000"/>
              </a:lnSpc>
              <a:buNone/>
            </a:pP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changed, as intended.</a:t>
            </a:r>
            <a:endParaRPr lang="en-US" sz="1000" dirty="0"/>
          </a:p>
        </p:txBody>
      </p:sp>
      <p:sp>
        <p:nvSpPr>
          <p:cNvPr id="14" name="Text 12"/>
          <p:cNvSpPr txBox="1"/>
          <p:nvPr/>
        </p:nvSpPr>
        <p:spPr>
          <a:xfrm>
            <a:off x="6839712" y="3566160"/>
            <a:ext cx="4526280" cy="548640"/>
          </a:xfrm>
          <a:prstGeom prst="rect">
            <a:avLst/>
          </a:prstGeom>
          <a:noFill/>
          <a:ln/>
        </p:spPr>
        <p:txBody>
          <a:bodyPr wrap="square" lIns="0" tIns="0" rIns="0" bIns="0" rtlCol="0" anchor="ctr"/>
          <a:lstStyle/>
          <a:p>
            <a:pPr indent="0" marL="0">
              <a:lnSpc>
                <a:spcPct val="112000"/>
              </a:lnSpc>
              <a:buNone/>
            </a:pPr>
            <a:r>
              <a:rPr lang="en-US" sz="1150" dirty="0">
                <a:solidFill>
                  <a:srgbClr val="1C6F5C"/>
                </a:solidFill>
                <a:latin typeface="Calibri" pitchFamily="34" charset="0"/>
                <a:ea typeface="Calibri" pitchFamily="34" charset="-122"/>
                <a:cs typeface="Calibri" pitchFamily="34" charset="-120"/>
              </a:rPr>
              <a:t>loc takes the rows AND the column in one operation, so pandas knows you are addressing the original.</a:t>
            </a:r>
            <a:endParaRPr lang="en-US" sz="1150" dirty="0"/>
          </a:p>
        </p:txBody>
      </p:sp>
      <p:sp>
        <p:nvSpPr>
          <p:cNvPr id="15" name="Shape 13"/>
          <p:cNvSpPr/>
          <p:nvPr/>
        </p:nvSpPr>
        <p:spPr>
          <a:xfrm>
            <a:off x="548640" y="4389120"/>
            <a:ext cx="11064240" cy="1463040"/>
          </a:xfrm>
          <a:prstGeom prst="roundRect">
            <a:avLst>
              <a:gd name="adj" fmla="val 5625"/>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Text 14"/>
          <p:cNvSpPr txBox="1"/>
          <p:nvPr/>
        </p:nvSpPr>
        <p:spPr>
          <a:xfrm>
            <a:off x="868680" y="4535424"/>
            <a:ext cx="73152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The rule, and where you have met it before</a:t>
            </a:r>
            <a:endParaRPr lang="en-US" sz="1450" dirty="0"/>
          </a:p>
        </p:txBody>
      </p:sp>
      <p:sp>
        <p:nvSpPr>
          <p:cNvPr id="17" name="Text 15"/>
          <p:cNvSpPr txBox="1"/>
          <p:nvPr/>
        </p:nvSpPr>
        <p:spPr>
          <a:xfrm>
            <a:off x="868680" y="4846320"/>
            <a:ext cx="10424160" cy="868680"/>
          </a:xfrm>
          <a:prstGeom prst="rect">
            <a:avLst/>
          </a:prstGeom>
          <a:noFill/>
          <a:ln/>
        </p:spPr>
        <p:txBody>
          <a:bodyPr wrap="square" lIns="0" tIns="0" rIns="0" bIns="0" rtlCol="0" anchor="ctr"/>
          <a:lstStyle/>
          <a:p>
            <a:pPr indent="0" marL="0">
              <a:lnSpc>
                <a:spcPct val="115000"/>
              </a:lnSpc>
              <a:buNone/>
            </a:pPr>
            <a:r>
              <a:rPr lang="en-US" sz="1250" dirty="0">
                <a:solidFill>
                  <a:srgbClr val="6B4A0B"/>
                </a:solidFill>
                <a:latin typeface="Calibri" pitchFamily="34" charset="0"/>
                <a:ea typeface="Calibri" pitchFamily="34" charset="-122"/>
                <a:cs typeface="Calibri" pitchFamily="34" charset="-120"/>
              </a:rPr>
              <a:t>To change data, use ONE  .loc[rows, column]  — never two square brackets in a row. This is the copy-versus-view question from Day 12 in a new costume: there, a NumPy slice was a view and surprised you by changing the original; here, a filtered DataFrame is a copy and surprises you by NOT changing it. Same underlying question, opposite symptom.</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3</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Handy Filters</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Shorter ways to say common things  ·  15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isin</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between</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query</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sort_values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3.1  ·  CONVENIENCES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Four shortcuts worth knowing</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657600"/>
                <a:gridCol w="3749040"/>
                <a:gridCol w="3657600"/>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Instead of</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Write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Note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47548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(c=="Pune") | (c=="Delhi")</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c.isin(["Pune", "Delhi"])</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scales to any number of values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7548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(p&gt;=60) &amp; (p&lt;=90)</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p.between(60, 90)</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INCLUSIVE at both ends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7548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df[(df.a&gt;1) &amp; (df.b&lt;2)]</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df.query("a &gt; 1 and b &lt; 2")</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here  and  is allowed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7548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sorting by hand</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df.sort_values("python")</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add ascending=False to reverse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6" name="Shape 3"/>
          <p:cNvSpPr/>
          <p:nvPr/>
        </p:nvSpPr>
        <p:spPr>
          <a:xfrm>
            <a:off x="548640" y="3840480"/>
            <a:ext cx="5486400" cy="2011680"/>
          </a:xfrm>
          <a:prstGeom prst="roundRect">
            <a:avLst>
              <a:gd name="adj" fmla="val 4091"/>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3986784"/>
            <a:ext cx="4937760" cy="301752"/>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Top and bottom, quickly</a:t>
            </a:r>
            <a:endParaRPr lang="en-US" sz="1450" dirty="0"/>
          </a:p>
        </p:txBody>
      </p:sp>
      <p:sp>
        <p:nvSpPr>
          <p:cNvPr id="8" name="Shape 5"/>
          <p:cNvSpPr/>
          <p:nvPr/>
        </p:nvSpPr>
        <p:spPr>
          <a:xfrm>
            <a:off x="804672" y="4343400"/>
            <a:ext cx="4983480" cy="1005840"/>
          </a:xfrm>
          <a:prstGeom prst="roundRect">
            <a:avLst>
              <a:gd name="adj" fmla="val 6364"/>
            </a:avLst>
          </a:prstGeom>
          <a:solidFill>
            <a:srgbClr val="1B2B45"/>
          </a:solidFill>
          <a:ln w="12700">
            <a:solidFill>
              <a:srgbClr val="1B2B45"/>
            </a:solidFill>
            <a:prstDash val="solid"/>
          </a:ln>
        </p:spPr>
      </p:sp>
      <p:sp>
        <p:nvSpPr>
          <p:cNvPr id="9" name="Text 6"/>
          <p:cNvSpPr txBox="1"/>
          <p:nvPr/>
        </p:nvSpPr>
        <p:spPr>
          <a:xfrm>
            <a:off x="969264" y="4453128"/>
            <a:ext cx="4654296" cy="78638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df.nlargest(3, "python")</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df.nsmallest(3, "python")</a:t>
            </a:r>
            <a:endParaRPr lang="en-US" sz="1000" dirty="0"/>
          </a:p>
          <a:p>
            <a:pPr indent="0" marL="0">
              <a:lnSpc>
                <a:spcPct val="112000"/>
              </a:lnSpc>
              <a:buNone/>
            </a:pP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sort_values(...).head(3), in one call</a:t>
            </a:r>
            <a:endParaRPr lang="en-US" sz="1000" dirty="0"/>
          </a:p>
        </p:txBody>
      </p:sp>
      <p:sp>
        <p:nvSpPr>
          <p:cNvPr id="10" name="Text 7"/>
          <p:cNvSpPr txBox="1"/>
          <p:nvPr/>
        </p:nvSpPr>
        <p:spPr>
          <a:xfrm>
            <a:off x="804672" y="5440680"/>
            <a:ext cx="4983480" cy="274320"/>
          </a:xfrm>
          <a:prstGeom prst="rect">
            <a:avLst/>
          </a:prstGeom>
          <a:noFill/>
          <a:ln/>
        </p:spPr>
        <p:txBody>
          <a:bodyPr wrap="square" lIns="0" tIns="0" rIns="0" bIns="0" rtlCol="0" anchor="ctr"/>
          <a:lstStyle/>
          <a:p>
            <a:pPr indent="0" marL="0">
              <a:buNone/>
            </a:pPr>
            <a:r>
              <a:rPr lang="en-US" sz="1100" i="1" dirty="0">
                <a:solidFill>
                  <a:srgbClr val="1C6F5C"/>
                </a:solidFill>
                <a:latin typeface="Calibri" pitchFamily="34" charset="0"/>
                <a:ea typeface="Calibri" pitchFamily="34" charset="-122"/>
                <a:cs typeface="Calibri" pitchFamily="34" charset="-120"/>
              </a:rPr>
              <a:t>Both keep the whole row, not just the column you sorted on.</a:t>
            </a:r>
            <a:endParaRPr lang="en-US" sz="1100" dirty="0"/>
          </a:p>
        </p:txBody>
      </p:sp>
      <p:sp>
        <p:nvSpPr>
          <p:cNvPr id="11" name="Shape 8"/>
          <p:cNvSpPr/>
          <p:nvPr/>
        </p:nvSpPr>
        <p:spPr>
          <a:xfrm>
            <a:off x="6309360" y="3840480"/>
            <a:ext cx="5303520" cy="2011680"/>
          </a:xfrm>
          <a:prstGeom prst="roundRect">
            <a:avLst>
              <a:gd name="adj" fmla="val 4091"/>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Text 9"/>
          <p:cNvSpPr txBox="1"/>
          <p:nvPr/>
        </p:nvSpPr>
        <p:spPr>
          <a:xfrm>
            <a:off x="6565392" y="3986784"/>
            <a:ext cx="4754880" cy="301752"/>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  between includes both ends</a:t>
            </a:r>
            <a:endParaRPr lang="en-US" sz="1450" dirty="0"/>
          </a:p>
        </p:txBody>
      </p:sp>
      <p:sp>
        <p:nvSpPr>
          <p:cNvPr id="13" name="Shape 10"/>
          <p:cNvSpPr/>
          <p:nvPr/>
        </p:nvSpPr>
        <p:spPr>
          <a:xfrm>
            <a:off x="6565392" y="4343400"/>
            <a:ext cx="4800600" cy="685800"/>
          </a:xfrm>
          <a:prstGeom prst="roundRect">
            <a:avLst>
              <a:gd name="adj" fmla="val 9333"/>
            </a:avLst>
          </a:prstGeom>
          <a:solidFill>
            <a:srgbClr val="1B2B45"/>
          </a:solidFill>
          <a:ln w="12700">
            <a:solidFill>
              <a:srgbClr val="1B2B45"/>
            </a:solidFill>
            <a:prstDash val="solid"/>
          </a:ln>
        </p:spPr>
      </p:sp>
      <p:sp>
        <p:nvSpPr>
          <p:cNvPr id="14" name="Text 11"/>
          <p:cNvSpPr txBox="1"/>
          <p:nvPr/>
        </p:nvSpPr>
        <p:spPr>
          <a:xfrm>
            <a:off x="6729984" y="4453128"/>
            <a:ext cx="4471416" cy="46634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p.between(60, 90)   keeps 60 and 90</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p.between(60, 90, inclusive="left")</a:t>
            </a:r>
            <a:endParaRPr lang="en-US" sz="1000" dirty="0"/>
          </a:p>
        </p:txBody>
      </p:sp>
      <p:sp>
        <p:nvSpPr>
          <p:cNvPr id="15" name="Text 12"/>
          <p:cNvSpPr txBox="1"/>
          <p:nvPr/>
        </p:nvSpPr>
        <p:spPr>
          <a:xfrm>
            <a:off x="6565392" y="5120640"/>
            <a:ext cx="4800600" cy="640080"/>
          </a:xfrm>
          <a:prstGeom prst="rect">
            <a:avLst/>
          </a:prstGeom>
          <a:noFill/>
          <a:ln/>
        </p:spPr>
        <p:txBody>
          <a:bodyPr wrap="square" lIns="0" tIns="0" rIns="0" bIns="0" rtlCol="0" anchor="ctr"/>
          <a:lstStyle/>
          <a:p>
            <a:pPr indent="0" marL="0">
              <a:lnSpc>
                <a:spcPct val="112000"/>
              </a:lnSpc>
              <a:buNone/>
            </a:pPr>
            <a:r>
              <a:rPr lang="en-US" sz="1150" dirty="0">
                <a:solidFill>
                  <a:srgbClr val="6B4A0B"/>
                </a:solidFill>
                <a:latin typeface="Calibri" pitchFamily="34" charset="0"/>
                <a:ea typeface="Calibri" pitchFamily="34" charset="-122"/>
                <a:cs typeface="Calibri" pitchFamily="34" charset="-120"/>
              </a:rPr>
              <a:t>Unlike almost every other range in Python, both endpoints are kept by default. If a boundary value matters — a pass mark, an age limit — check which side you meant before you report the number.</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4</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Setting the Index</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And the trap it creates  ·  15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set_index</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filtered-index trap</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reset_index</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4.1  ·  THE ONE TO REMEMBER</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trap — filtering breaks the label/position match</a:t>
            </a:r>
            <a:endParaRPr lang="en-US" sz="3200" dirty="0"/>
          </a:p>
        </p:txBody>
      </p:sp>
      <p:sp>
        <p:nvSpPr>
          <p:cNvPr id="5" name="Shape 3"/>
          <p:cNvSpPr/>
          <p:nvPr/>
        </p:nvSpPr>
        <p:spPr>
          <a:xfrm>
            <a:off x="548640" y="1572768"/>
            <a:ext cx="5760720" cy="2788920"/>
          </a:xfrm>
          <a:prstGeom prst="roundRect">
            <a:avLst>
              <a:gd name="adj" fmla="val 2951"/>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5212080" cy="301752"/>
          </a:xfrm>
          <a:prstGeom prst="rect">
            <a:avLst/>
          </a:prstGeom>
          <a:noFill/>
          <a:ln/>
        </p:spPr>
        <p:txBody>
          <a:bodyPr wrap="square" lIns="0" tIns="0" rIns="0" bIns="0" rtlCol="0" anchor="ctr"/>
          <a:lstStyle/>
          <a:p>
            <a:pPr indent="0" marL="0">
              <a:buNone/>
            </a:pPr>
            <a:r>
              <a:rPr lang="en-US" sz="1450" b="1" dirty="0">
                <a:solidFill>
                  <a:srgbClr val="A63B24"/>
                </a:solidFill>
                <a:latin typeface="Calibri" pitchFamily="34" charset="0"/>
                <a:ea typeface="Calibri" pitchFamily="34" charset="-122"/>
                <a:cs typeface="Calibri" pitchFamily="34" charset="-120"/>
              </a:rPr>
              <a:t>After a filter, labels have GAPS</a:t>
            </a:r>
            <a:endParaRPr lang="en-US" sz="1450" dirty="0"/>
          </a:p>
        </p:txBody>
      </p:sp>
      <p:sp>
        <p:nvSpPr>
          <p:cNvPr id="7" name="Shape 5"/>
          <p:cNvSpPr/>
          <p:nvPr/>
        </p:nvSpPr>
        <p:spPr>
          <a:xfrm>
            <a:off x="804672" y="2084832"/>
            <a:ext cx="5257800" cy="502920"/>
          </a:xfrm>
          <a:prstGeom prst="roundRect">
            <a:avLst>
              <a:gd name="adj" fmla="val 12727"/>
            </a:avLst>
          </a:prstGeom>
          <a:solidFill>
            <a:srgbClr val="1B2B45"/>
          </a:solidFill>
          <a:ln w="12700">
            <a:solidFill>
              <a:srgbClr val="1B2B45"/>
            </a:solidFill>
            <a:prstDash val="solid"/>
          </a:ln>
        </p:spPr>
      </p:sp>
      <p:sp>
        <p:nvSpPr>
          <p:cNvPr id="8" name="Text 6"/>
          <p:cNvSpPr txBox="1"/>
          <p:nvPr/>
        </p:nvSpPr>
        <p:spPr>
          <a:xfrm>
            <a:off x="969264" y="2194560"/>
            <a:ext cx="4928616" cy="28346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top = df[df["python"] &gt; 70]</a:t>
            </a:r>
            <a:endParaRPr lang="en-US" sz="1050" dirty="0"/>
          </a:p>
        </p:txBody>
      </p:sp>
      <p:sp>
        <p:nvSpPr>
          <p:cNvPr id="9" name="Shape 7"/>
          <p:cNvSpPr/>
          <p:nvPr/>
        </p:nvSpPr>
        <p:spPr>
          <a:xfrm>
            <a:off x="1051560" y="2615184"/>
            <a:ext cx="548640" cy="301752"/>
          </a:xfrm>
          <a:prstGeom prst="rect">
            <a:avLst/>
          </a:prstGeom>
          <a:solidFill>
            <a:srgbClr val="E6EAF1"/>
          </a:solidFill>
          <a:ln w="12700">
            <a:solidFill>
              <a:srgbClr val="333333"/>
            </a:solidFill>
            <a:prstDash val="solid"/>
          </a:ln>
        </p:spPr>
      </p:sp>
      <p:sp>
        <p:nvSpPr>
          <p:cNvPr id="10" name="Shape 8"/>
          <p:cNvSpPr/>
          <p:nvPr/>
        </p:nvSpPr>
        <p:spPr>
          <a:xfrm>
            <a:off x="1600200" y="2615184"/>
            <a:ext cx="1719072" cy="301752"/>
          </a:xfrm>
          <a:prstGeom prst="rect">
            <a:avLst/>
          </a:prstGeom>
          <a:solidFill>
            <a:srgbClr val="1F3A5F"/>
          </a:solidFill>
          <a:ln w="12700">
            <a:solidFill>
              <a:srgbClr val="333333"/>
            </a:solidFill>
            <a:prstDash val="solid"/>
          </a:ln>
        </p:spPr>
      </p:sp>
      <p:sp>
        <p:nvSpPr>
          <p:cNvPr id="11" name="Text 9"/>
          <p:cNvSpPr txBox="1"/>
          <p:nvPr/>
        </p:nvSpPr>
        <p:spPr>
          <a:xfrm>
            <a:off x="1600200" y="2615184"/>
            <a:ext cx="1719072" cy="301752"/>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name</a:t>
            </a:r>
            <a:endParaRPr lang="en-US" sz="950" dirty="0"/>
          </a:p>
        </p:txBody>
      </p:sp>
      <p:sp>
        <p:nvSpPr>
          <p:cNvPr id="12" name="Shape 10"/>
          <p:cNvSpPr/>
          <p:nvPr/>
        </p:nvSpPr>
        <p:spPr>
          <a:xfrm>
            <a:off x="3337560" y="2615184"/>
            <a:ext cx="1719072" cy="301752"/>
          </a:xfrm>
          <a:prstGeom prst="rect">
            <a:avLst/>
          </a:prstGeom>
          <a:solidFill>
            <a:srgbClr val="1F3A5F"/>
          </a:solidFill>
          <a:ln w="12700">
            <a:solidFill>
              <a:srgbClr val="333333"/>
            </a:solidFill>
            <a:prstDash val="solid"/>
          </a:ln>
        </p:spPr>
      </p:sp>
      <p:sp>
        <p:nvSpPr>
          <p:cNvPr id="13" name="Text 11"/>
          <p:cNvSpPr txBox="1"/>
          <p:nvPr/>
        </p:nvSpPr>
        <p:spPr>
          <a:xfrm>
            <a:off x="3337560" y="2615184"/>
            <a:ext cx="1719072" cy="301752"/>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python</a:t>
            </a:r>
            <a:endParaRPr lang="en-US" sz="950" dirty="0"/>
          </a:p>
        </p:txBody>
      </p:sp>
      <p:sp>
        <p:nvSpPr>
          <p:cNvPr id="14" name="Shape 12"/>
          <p:cNvSpPr/>
          <p:nvPr/>
        </p:nvSpPr>
        <p:spPr>
          <a:xfrm>
            <a:off x="1051560" y="2944368"/>
            <a:ext cx="548640" cy="301752"/>
          </a:xfrm>
          <a:prstGeom prst="rect">
            <a:avLst/>
          </a:prstGeom>
          <a:solidFill>
            <a:srgbClr val="FBE3DC"/>
          </a:solidFill>
          <a:ln w="12700">
            <a:solidFill>
              <a:srgbClr val="333333"/>
            </a:solidFill>
            <a:prstDash val="solid"/>
          </a:ln>
        </p:spPr>
      </p:sp>
      <p:sp>
        <p:nvSpPr>
          <p:cNvPr id="15" name="Text 13"/>
          <p:cNvSpPr txBox="1"/>
          <p:nvPr/>
        </p:nvSpPr>
        <p:spPr>
          <a:xfrm>
            <a:off x="1051560" y="2944368"/>
            <a:ext cx="548640" cy="301752"/>
          </a:xfrm>
          <a:prstGeom prst="rect">
            <a:avLst/>
          </a:prstGeom>
          <a:noFill/>
          <a:ln/>
        </p:spPr>
        <p:txBody>
          <a:bodyPr wrap="square" lIns="0" tIns="0" rIns="0" bIns="0" rtlCol="0" anchor="ctr"/>
          <a:lstStyle/>
          <a:p>
            <a:pPr algn="ctr" indent="0" marL="0">
              <a:buNone/>
            </a:pPr>
            <a:r>
              <a:rPr lang="en-US" sz="950" b="1" dirty="0">
                <a:solidFill>
                  <a:srgbClr val="6B7789"/>
                </a:solidFill>
                <a:latin typeface="Courier New" pitchFamily="34" charset="0"/>
                <a:ea typeface="Courier New" pitchFamily="34" charset="-122"/>
                <a:cs typeface="Courier New" pitchFamily="34" charset="-120"/>
              </a:rPr>
              <a:t>0</a:t>
            </a:r>
            <a:endParaRPr lang="en-US" sz="950" dirty="0"/>
          </a:p>
        </p:txBody>
      </p:sp>
      <p:sp>
        <p:nvSpPr>
          <p:cNvPr id="16" name="Shape 14"/>
          <p:cNvSpPr/>
          <p:nvPr/>
        </p:nvSpPr>
        <p:spPr>
          <a:xfrm>
            <a:off x="1600200" y="2944368"/>
            <a:ext cx="1719072" cy="301752"/>
          </a:xfrm>
          <a:prstGeom prst="rect">
            <a:avLst/>
          </a:prstGeom>
          <a:solidFill>
            <a:srgbClr val="FFFFFF"/>
          </a:solidFill>
          <a:ln w="6350">
            <a:solidFill>
              <a:srgbClr val="E1E6EE"/>
            </a:solidFill>
            <a:prstDash val="solid"/>
          </a:ln>
        </p:spPr>
      </p:sp>
      <p:sp>
        <p:nvSpPr>
          <p:cNvPr id="17" name="Text 15"/>
          <p:cNvSpPr txBox="1"/>
          <p:nvPr/>
        </p:nvSpPr>
        <p:spPr>
          <a:xfrm>
            <a:off x="1600200" y="2944368"/>
            <a:ext cx="1719072" cy="301752"/>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Ravi</a:t>
            </a:r>
            <a:endParaRPr lang="en-US" sz="950" dirty="0"/>
          </a:p>
        </p:txBody>
      </p:sp>
      <p:sp>
        <p:nvSpPr>
          <p:cNvPr id="18" name="Shape 16"/>
          <p:cNvSpPr/>
          <p:nvPr/>
        </p:nvSpPr>
        <p:spPr>
          <a:xfrm>
            <a:off x="3337560" y="2944368"/>
            <a:ext cx="1719072" cy="301752"/>
          </a:xfrm>
          <a:prstGeom prst="rect">
            <a:avLst/>
          </a:prstGeom>
          <a:solidFill>
            <a:srgbClr val="FFFFFF"/>
          </a:solidFill>
          <a:ln w="6350">
            <a:solidFill>
              <a:srgbClr val="E1E6EE"/>
            </a:solidFill>
            <a:prstDash val="solid"/>
          </a:ln>
        </p:spPr>
      </p:sp>
      <p:sp>
        <p:nvSpPr>
          <p:cNvPr id="19" name="Text 17"/>
          <p:cNvSpPr txBox="1"/>
          <p:nvPr/>
        </p:nvSpPr>
        <p:spPr>
          <a:xfrm>
            <a:off x="3337560" y="2944368"/>
            <a:ext cx="1719072" cy="301752"/>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88</a:t>
            </a:r>
            <a:endParaRPr lang="en-US" sz="950" dirty="0"/>
          </a:p>
        </p:txBody>
      </p:sp>
      <p:sp>
        <p:nvSpPr>
          <p:cNvPr id="20" name="Shape 18"/>
          <p:cNvSpPr/>
          <p:nvPr/>
        </p:nvSpPr>
        <p:spPr>
          <a:xfrm>
            <a:off x="1051560" y="3273552"/>
            <a:ext cx="548640" cy="301752"/>
          </a:xfrm>
          <a:prstGeom prst="rect">
            <a:avLst/>
          </a:prstGeom>
          <a:solidFill>
            <a:srgbClr val="FBE3DC"/>
          </a:solidFill>
          <a:ln w="12700">
            <a:solidFill>
              <a:srgbClr val="333333"/>
            </a:solidFill>
            <a:prstDash val="solid"/>
          </a:ln>
        </p:spPr>
      </p:sp>
      <p:sp>
        <p:nvSpPr>
          <p:cNvPr id="21" name="Text 19"/>
          <p:cNvSpPr txBox="1"/>
          <p:nvPr/>
        </p:nvSpPr>
        <p:spPr>
          <a:xfrm>
            <a:off x="1051560" y="3273552"/>
            <a:ext cx="548640" cy="301752"/>
          </a:xfrm>
          <a:prstGeom prst="rect">
            <a:avLst/>
          </a:prstGeom>
          <a:noFill/>
          <a:ln/>
        </p:spPr>
        <p:txBody>
          <a:bodyPr wrap="square" lIns="0" tIns="0" rIns="0" bIns="0" rtlCol="0" anchor="ctr"/>
          <a:lstStyle/>
          <a:p>
            <a:pPr algn="ctr" indent="0" marL="0">
              <a:buNone/>
            </a:pPr>
            <a:r>
              <a:rPr lang="en-US" sz="950" b="1" dirty="0">
                <a:solidFill>
                  <a:srgbClr val="6B7789"/>
                </a:solidFill>
                <a:latin typeface="Courier New" pitchFamily="34" charset="0"/>
                <a:ea typeface="Courier New" pitchFamily="34" charset="-122"/>
                <a:cs typeface="Courier New" pitchFamily="34" charset="-120"/>
              </a:rPr>
              <a:t>1</a:t>
            </a:r>
            <a:endParaRPr lang="en-US" sz="950" dirty="0"/>
          </a:p>
        </p:txBody>
      </p:sp>
      <p:sp>
        <p:nvSpPr>
          <p:cNvPr id="22" name="Shape 20"/>
          <p:cNvSpPr/>
          <p:nvPr/>
        </p:nvSpPr>
        <p:spPr>
          <a:xfrm>
            <a:off x="1600200" y="3273552"/>
            <a:ext cx="1719072" cy="301752"/>
          </a:xfrm>
          <a:prstGeom prst="rect">
            <a:avLst/>
          </a:prstGeom>
          <a:solidFill>
            <a:srgbClr val="FFFFFF"/>
          </a:solidFill>
          <a:ln w="6350">
            <a:solidFill>
              <a:srgbClr val="E1E6EE"/>
            </a:solidFill>
            <a:prstDash val="solid"/>
          </a:ln>
        </p:spPr>
      </p:sp>
      <p:sp>
        <p:nvSpPr>
          <p:cNvPr id="23" name="Text 21"/>
          <p:cNvSpPr txBox="1"/>
          <p:nvPr/>
        </p:nvSpPr>
        <p:spPr>
          <a:xfrm>
            <a:off x="1600200" y="3273552"/>
            <a:ext cx="1719072" cy="301752"/>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Sara</a:t>
            </a:r>
            <a:endParaRPr lang="en-US" sz="950" dirty="0"/>
          </a:p>
        </p:txBody>
      </p:sp>
      <p:sp>
        <p:nvSpPr>
          <p:cNvPr id="24" name="Shape 22"/>
          <p:cNvSpPr/>
          <p:nvPr/>
        </p:nvSpPr>
        <p:spPr>
          <a:xfrm>
            <a:off x="3337560" y="3273552"/>
            <a:ext cx="1719072" cy="301752"/>
          </a:xfrm>
          <a:prstGeom prst="rect">
            <a:avLst/>
          </a:prstGeom>
          <a:solidFill>
            <a:srgbClr val="FFFFFF"/>
          </a:solidFill>
          <a:ln w="6350">
            <a:solidFill>
              <a:srgbClr val="E1E6EE"/>
            </a:solidFill>
            <a:prstDash val="solid"/>
          </a:ln>
        </p:spPr>
      </p:sp>
      <p:sp>
        <p:nvSpPr>
          <p:cNvPr id="25" name="Text 23"/>
          <p:cNvSpPr txBox="1"/>
          <p:nvPr/>
        </p:nvSpPr>
        <p:spPr>
          <a:xfrm>
            <a:off x="3337560" y="3273552"/>
            <a:ext cx="1719072" cy="301752"/>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91</a:t>
            </a:r>
            <a:endParaRPr lang="en-US" sz="950" dirty="0"/>
          </a:p>
        </p:txBody>
      </p:sp>
      <p:sp>
        <p:nvSpPr>
          <p:cNvPr id="26" name="Shape 24"/>
          <p:cNvSpPr/>
          <p:nvPr/>
        </p:nvSpPr>
        <p:spPr>
          <a:xfrm>
            <a:off x="1051560" y="3602736"/>
            <a:ext cx="548640" cy="301752"/>
          </a:xfrm>
          <a:prstGeom prst="rect">
            <a:avLst/>
          </a:prstGeom>
          <a:solidFill>
            <a:srgbClr val="FBE3DC"/>
          </a:solidFill>
          <a:ln w="12700">
            <a:solidFill>
              <a:srgbClr val="333333"/>
            </a:solidFill>
            <a:prstDash val="solid"/>
          </a:ln>
        </p:spPr>
      </p:sp>
      <p:sp>
        <p:nvSpPr>
          <p:cNvPr id="27" name="Text 25"/>
          <p:cNvSpPr txBox="1"/>
          <p:nvPr/>
        </p:nvSpPr>
        <p:spPr>
          <a:xfrm>
            <a:off x="1051560" y="3602736"/>
            <a:ext cx="548640" cy="301752"/>
          </a:xfrm>
          <a:prstGeom prst="rect">
            <a:avLst/>
          </a:prstGeom>
          <a:noFill/>
          <a:ln/>
        </p:spPr>
        <p:txBody>
          <a:bodyPr wrap="square" lIns="0" tIns="0" rIns="0" bIns="0" rtlCol="0" anchor="ctr"/>
          <a:lstStyle/>
          <a:p>
            <a:pPr algn="ctr" indent="0" marL="0">
              <a:buNone/>
            </a:pPr>
            <a:r>
              <a:rPr lang="en-US" sz="950" b="1" dirty="0">
                <a:solidFill>
                  <a:srgbClr val="6B7789"/>
                </a:solidFill>
                <a:latin typeface="Courier New" pitchFamily="34" charset="0"/>
                <a:ea typeface="Courier New" pitchFamily="34" charset="-122"/>
                <a:cs typeface="Courier New" pitchFamily="34" charset="-120"/>
              </a:rPr>
              <a:t>4</a:t>
            </a:r>
            <a:endParaRPr lang="en-US" sz="950" dirty="0"/>
          </a:p>
        </p:txBody>
      </p:sp>
      <p:sp>
        <p:nvSpPr>
          <p:cNvPr id="28" name="Shape 26"/>
          <p:cNvSpPr/>
          <p:nvPr/>
        </p:nvSpPr>
        <p:spPr>
          <a:xfrm>
            <a:off x="1600200" y="3602736"/>
            <a:ext cx="1719072" cy="301752"/>
          </a:xfrm>
          <a:prstGeom prst="rect">
            <a:avLst/>
          </a:prstGeom>
          <a:solidFill>
            <a:srgbClr val="FFFFFF"/>
          </a:solidFill>
          <a:ln w="6350">
            <a:solidFill>
              <a:srgbClr val="E1E6EE"/>
            </a:solidFill>
            <a:prstDash val="solid"/>
          </a:ln>
        </p:spPr>
      </p:sp>
      <p:sp>
        <p:nvSpPr>
          <p:cNvPr id="29" name="Text 27"/>
          <p:cNvSpPr txBox="1"/>
          <p:nvPr/>
        </p:nvSpPr>
        <p:spPr>
          <a:xfrm>
            <a:off x="1600200" y="3602736"/>
            <a:ext cx="1719072" cy="301752"/>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Kiran</a:t>
            </a:r>
            <a:endParaRPr lang="en-US" sz="950" dirty="0"/>
          </a:p>
        </p:txBody>
      </p:sp>
      <p:sp>
        <p:nvSpPr>
          <p:cNvPr id="30" name="Shape 28"/>
          <p:cNvSpPr/>
          <p:nvPr/>
        </p:nvSpPr>
        <p:spPr>
          <a:xfrm>
            <a:off x="3337560" y="3602736"/>
            <a:ext cx="1719072" cy="301752"/>
          </a:xfrm>
          <a:prstGeom prst="rect">
            <a:avLst/>
          </a:prstGeom>
          <a:solidFill>
            <a:srgbClr val="FFFFFF"/>
          </a:solidFill>
          <a:ln w="6350">
            <a:solidFill>
              <a:srgbClr val="E1E6EE"/>
            </a:solidFill>
            <a:prstDash val="solid"/>
          </a:ln>
        </p:spPr>
      </p:sp>
      <p:sp>
        <p:nvSpPr>
          <p:cNvPr id="31" name="Text 29"/>
          <p:cNvSpPr txBox="1"/>
          <p:nvPr/>
        </p:nvSpPr>
        <p:spPr>
          <a:xfrm>
            <a:off x="3337560" y="3602736"/>
            <a:ext cx="1719072" cy="301752"/>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72</a:t>
            </a:r>
            <a:endParaRPr lang="en-US" sz="950" dirty="0"/>
          </a:p>
        </p:txBody>
      </p:sp>
      <p:sp>
        <p:nvSpPr>
          <p:cNvPr id="32" name="Text 30"/>
          <p:cNvSpPr txBox="1"/>
          <p:nvPr/>
        </p:nvSpPr>
        <p:spPr>
          <a:xfrm>
            <a:off x="1051560" y="3977640"/>
            <a:ext cx="4572000" cy="274320"/>
          </a:xfrm>
          <a:prstGeom prst="rect">
            <a:avLst/>
          </a:prstGeom>
          <a:noFill/>
          <a:ln/>
        </p:spPr>
        <p:txBody>
          <a:bodyPr wrap="square" lIns="0" tIns="0" rIns="0" bIns="0" rtlCol="0" anchor="ctr"/>
          <a:lstStyle/>
          <a:p>
            <a:pPr indent="0" marL="0">
              <a:buNone/>
            </a:pPr>
            <a:r>
              <a:rPr lang="en-US" sz="1150" b="1" dirty="0">
                <a:solidFill>
                  <a:srgbClr val="A63B24"/>
                </a:solidFill>
                <a:latin typeface="Calibri" pitchFamily="34" charset="0"/>
                <a:ea typeface="Calibri" pitchFamily="34" charset="-122"/>
                <a:cs typeface="Calibri" pitchFamily="34" charset="-120"/>
              </a:rPr>
              <a:t>labels 0, 1, 4  —  positions 0, 1, 2</a:t>
            </a:r>
            <a:endParaRPr lang="en-US" sz="1150" dirty="0"/>
          </a:p>
        </p:txBody>
      </p:sp>
      <p:sp>
        <p:nvSpPr>
          <p:cNvPr id="33" name="Shape 31"/>
          <p:cNvSpPr/>
          <p:nvPr/>
        </p:nvSpPr>
        <p:spPr>
          <a:xfrm>
            <a:off x="6583680" y="1572768"/>
            <a:ext cx="5029200" cy="2788920"/>
          </a:xfrm>
          <a:prstGeom prst="roundRect">
            <a:avLst>
              <a:gd name="adj" fmla="val 2951"/>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4" name="Text 32"/>
          <p:cNvSpPr txBox="1"/>
          <p:nvPr/>
        </p:nvSpPr>
        <p:spPr>
          <a:xfrm>
            <a:off x="6839712" y="1719072"/>
            <a:ext cx="4480560" cy="301752"/>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Now they disagree</a:t>
            </a:r>
            <a:endParaRPr lang="en-US" sz="1450" dirty="0"/>
          </a:p>
        </p:txBody>
      </p:sp>
      <p:sp>
        <p:nvSpPr>
          <p:cNvPr id="35" name="Shape 33"/>
          <p:cNvSpPr/>
          <p:nvPr/>
        </p:nvSpPr>
        <p:spPr>
          <a:xfrm>
            <a:off x="6839712" y="2084832"/>
            <a:ext cx="4526280" cy="2011680"/>
          </a:xfrm>
          <a:prstGeom prst="roundRect">
            <a:avLst>
              <a:gd name="adj" fmla="val 3182"/>
            </a:avLst>
          </a:prstGeom>
          <a:solidFill>
            <a:srgbClr val="1B2B45"/>
          </a:solidFill>
          <a:ln w="12700">
            <a:solidFill>
              <a:srgbClr val="1B2B45"/>
            </a:solidFill>
            <a:prstDash val="solid"/>
          </a:ln>
        </p:spPr>
      </p:sp>
      <p:sp>
        <p:nvSpPr>
          <p:cNvPr id="36" name="Text 34"/>
          <p:cNvSpPr txBox="1"/>
          <p:nvPr/>
        </p:nvSpPr>
        <p:spPr>
          <a:xfrm>
            <a:off x="7004304" y="2194560"/>
            <a:ext cx="4197096" cy="179222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top.iloc[2]["name"]   -&gt;  Kiran</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the 3rd row</a:t>
            </a:r>
            <a:endParaRPr lang="en-US" sz="950" dirty="0"/>
          </a:p>
          <a:p>
            <a:pPr indent="0" marL="0">
              <a:lnSpc>
                <a:spcPct val="112000"/>
              </a:lnSpc>
              <a:buNone/>
            </a:pP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top.loc[2]</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-&gt;  KeyError: 2</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label 2 was Amit - filtered out!</a:t>
            </a:r>
            <a:endParaRPr lang="en-US" sz="950" dirty="0"/>
          </a:p>
          <a:p>
            <a:pPr indent="0" marL="0">
              <a:lnSpc>
                <a:spcPct val="112000"/>
              </a:lnSpc>
              <a:buNone/>
            </a:pP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top.loc[4]["name"]    -&gt;  Kiran</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label 4 still exists</a:t>
            </a:r>
            <a:endParaRPr lang="en-US" sz="950" dirty="0"/>
          </a:p>
        </p:txBody>
      </p:sp>
      <p:sp>
        <p:nvSpPr>
          <p:cNvPr id="37" name="Shape 35"/>
          <p:cNvSpPr/>
          <p:nvPr/>
        </p:nvSpPr>
        <p:spPr>
          <a:xfrm>
            <a:off x="548640" y="4526280"/>
            <a:ext cx="11064240" cy="1325880"/>
          </a:xfrm>
          <a:prstGeom prst="roundRect">
            <a:avLst>
              <a:gd name="adj" fmla="val 6207"/>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8" name="Text 36"/>
          <p:cNvSpPr txBox="1"/>
          <p:nvPr/>
        </p:nvSpPr>
        <p:spPr>
          <a:xfrm>
            <a:off x="868680" y="4672584"/>
            <a:ext cx="7772400" cy="274320"/>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The fix: reset_index when the old labels no longer mean anything</a:t>
            </a:r>
            <a:endParaRPr lang="en-US" sz="1450" dirty="0"/>
          </a:p>
        </p:txBody>
      </p:sp>
      <p:sp>
        <p:nvSpPr>
          <p:cNvPr id="39" name="Shape 37"/>
          <p:cNvSpPr/>
          <p:nvPr/>
        </p:nvSpPr>
        <p:spPr>
          <a:xfrm>
            <a:off x="868680" y="4983480"/>
            <a:ext cx="5212080" cy="502920"/>
          </a:xfrm>
          <a:prstGeom prst="roundRect">
            <a:avLst>
              <a:gd name="adj" fmla="val 12727"/>
            </a:avLst>
          </a:prstGeom>
          <a:solidFill>
            <a:srgbClr val="1B2B45"/>
          </a:solidFill>
          <a:ln w="12700">
            <a:solidFill>
              <a:srgbClr val="1B2B45"/>
            </a:solidFill>
            <a:prstDash val="solid"/>
          </a:ln>
        </p:spPr>
      </p:sp>
      <p:sp>
        <p:nvSpPr>
          <p:cNvPr id="40" name="Text 38"/>
          <p:cNvSpPr txBox="1"/>
          <p:nvPr/>
        </p:nvSpPr>
        <p:spPr>
          <a:xfrm>
            <a:off x="1033272" y="5093208"/>
            <a:ext cx="4882896" cy="28346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top = top.reset_index(drop=True)    -&gt;  0, 1, 2</a:t>
            </a:r>
            <a:endParaRPr lang="en-US" sz="1050" dirty="0"/>
          </a:p>
        </p:txBody>
      </p:sp>
      <p:sp>
        <p:nvSpPr>
          <p:cNvPr id="41" name="Text 39"/>
          <p:cNvSpPr txBox="1"/>
          <p:nvPr/>
        </p:nvSpPr>
        <p:spPr>
          <a:xfrm>
            <a:off x="6400800" y="4965192"/>
            <a:ext cx="4983480" cy="731520"/>
          </a:xfrm>
          <a:prstGeom prst="rect">
            <a:avLst/>
          </a:prstGeom>
          <a:noFill/>
          <a:ln/>
        </p:spPr>
        <p:txBody>
          <a:bodyPr wrap="square" lIns="0" tIns="0" rIns="0" bIns="0" rtlCol="0" anchor="ctr"/>
          <a:lstStyle/>
          <a:p>
            <a:pPr indent="0" marL="0">
              <a:lnSpc>
                <a:spcPct val="115000"/>
              </a:lnSpc>
              <a:buNone/>
            </a:pPr>
            <a:r>
              <a:rPr lang="en-US" sz="1200" dirty="0">
                <a:solidFill>
                  <a:srgbClr val="6B4A0B"/>
                </a:solidFill>
                <a:latin typeface="Calibri" pitchFamily="34" charset="0"/>
                <a:ea typeface="Calibri" pitchFamily="34" charset="-122"/>
                <a:cs typeface="Calibri" pitchFamily="34" charset="-120"/>
              </a:rPr>
              <a:t>Without drop=True the old labels are kept as a new column called index. Use drop=True whenever the old numbering was meaningless — which, after a filter, it usually is.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4.2  ·  set_index</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Giving the rows meaningful names</a:t>
            </a:r>
            <a:endParaRPr lang="en-US" sz="3200" dirty="0"/>
          </a:p>
        </p:txBody>
      </p:sp>
      <p:sp>
        <p:nvSpPr>
          <p:cNvPr id="5" name="Shape 3"/>
          <p:cNvSpPr/>
          <p:nvPr/>
        </p:nvSpPr>
        <p:spPr>
          <a:xfrm>
            <a:off x="548640" y="1572768"/>
            <a:ext cx="5760720" cy="2651760"/>
          </a:xfrm>
          <a:prstGeom prst="roundRect">
            <a:avLst>
              <a:gd name="adj" fmla="val 310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1783080"/>
            <a:ext cx="5257800" cy="502920"/>
          </a:xfrm>
          <a:prstGeom prst="roundRect">
            <a:avLst>
              <a:gd name="adj" fmla="val 12727"/>
            </a:avLst>
          </a:prstGeom>
          <a:solidFill>
            <a:srgbClr val="1B2B45"/>
          </a:solidFill>
          <a:ln w="12700">
            <a:solidFill>
              <a:srgbClr val="1B2B45"/>
            </a:solidFill>
            <a:prstDash val="solid"/>
          </a:ln>
        </p:spPr>
      </p:sp>
      <p:sp>
        <p:nvSpPr>
          <p:cNvPr id="7" name="Text 5"/>
          <p:cNvSpPr txBox="1"/>
          <p:nvPr/>
        </p:nvSpPr>
        <p:spPr>
          <a:xfrm>
            <a:off x="969264" y="1892808"/>
            <a:ext cx="4928616" cy="28346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df = df.set_index("name")</a:t>
            </a:r>
            <a:endParaRPr lang="en-US" sz="1050" dirty="0"/>
          </a:p>
        </p:txBody>
      </p:sp>
      <p:sp>
        <p:nvSpPr>
          <p:cNvPr id="8" name="Shape 6"/>
          <p:cNvSpPr/>
          <p:nvPr/>
        </p:nvSpPr>
        <p:spPr>
          <a:xfrm>
            <a:off x="914400" y="2395728"/>
            <a:ext cx="548640" cy="347472"/>
          </a:xfrm>
          <a:prstGeom prst="rect">
            <a:avLst/>
          </a:prstGeom>
          <a:solidFill>
            <a:srgbClr val="E6EAF1"/>
          </a:solidFill>
          <a:ln w="12700">
            <a:solidFill>
              <a:srgbClr val="333333"/>
            </a:solidFill>
            <a:prstDash val="solid"/>
          </a:ln>
        </p:spPr>
      </p:sp>
      <p:sp>
        <p:nvSpPr>
          <p:cNvPr id="9" name="Shape 7"/>
          <p:cNvSpPr/>
          <p:nvPr/>
        </p:nvSpPr>
        <p:spPr>
          <a:xfrm>
            <a:off x="1463040" y="2395728"/>
            <a:ext cx="1444752" cy="347472"/>
          </a:xfrm>
          <a:prstGeom prst="rect">
            <a:avLst/>
          </a:prstGeom>
          <a:solidFill>
            <a:srgbClr val="1F3A5F"/>
          </a:solidFill>
          <a:ln w="12700">
            <a:solidFill>
              <a:srgbClr val="333333"/>
            </a:solidFill>
            <a:prstDash val="solid"/>
          </a:ln>
        </p:spPr>
      </p:sp>
      <p:sp>
        <p:nvSpPr>
          <p:cNvPr id="10" name="Text 8"/>
          <p:cNvSpPr txBox="1"/>
          <p:nvPr/>
        </p:nvSpPr>
        <p:spPr>
          <a:xfrm>
            <a:off x="1463040" y="2395728"/>
            <a:ext cx="1444752"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city</a:t>
            </a:r>
            <a:endParaRPr lang="en-US" sz="950" dirty="0"/>
          </a:p>
        </p:txBody>
      </p:sp>
      <p:sp>
        <p:nvSpPr>
          <p:cNvPr id="11" name="Shape 9"/>
          <p:cNvSpPr/>
          <p:nvPr/>
        </p:nvSpPr>
        <p:spPr>
          <a:xfrm>
            <a:off x="2926080" y="2395728"/>
            <a:ext cx="1444752" cy="347472"/>
          </a:xfrm>
          <a:prstGeom prst="rect">
            <a:avLst/>
          </a:prstGeom>
          <a:solidFill>
            <a:srgbClr val="1F3A5F"/>
          </a:solidFill>
          <a:ln w="12700">
            <a:solidFill>
              <a:srgbClr val="333333"/>
            </a:solidFill>
            <a:prstDash val="solid"/>
          </a:ln>
        </p:spPr>
      </p:sp>
      <p:sp>
        <p:nvSpPr>
          <p:cNvPr id="12" name="Text 10"/>
          <p:cNvSpPr txBox="1"/>
          <p:nvPr/>
        </p:nvSpPr>
        <p:spPr>
          <a:xfrm>
            <a:off x="2926080" y="2395728"/>
            <a:ext cx="1444752"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python</a:t>
            </a:r>
            <a:endParaRPr lang="en-US" sz="950" dirty="0"/>
          </a:p>
        </p:txBody>
      </p:sp>
      <p:sp>
        <p:nvSpPr>
          <p:cNvPr id="13" name="Shape 11"/>
          <p:cNvSpPr/>
          <p:nvPr/>
        </p:nvSpPr>
        <p:spPr>
          <a:xfrm>
            <a:off x="4389120" y="2395728"/>
            <a:ext cx="1444752" cy="347472"/>
          </a:xfrm>
          <a:prstGeom prst="rect">
            <a:avLst/>
          </a:prstGeom>
          <a:solidFill>
            <a:srgbClr val="1F3A5F"/>
          </a:solidFill>
          <a:ln w="12700">
            <a:solidFill>
              <a:srgbClr val="333333"/>
            </a:solidFill>
            <a:prstDash val="solid"/>
          </a:ln>
        </p:spPr>
      </p:sp>
      <p:sp>
        <p:nvSpPr>
          <p:cNvPr id="14" name="Text 12"/>
          <p:cNvSpPr txBox="1"/>
          <p:nvPr/>
        </p:nvSpPr>
        <p:spPr>
          <a:xfrm>
            <a:off x="4389120" y="2395728"/>
            <a:ext cx="1444752"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stats</a:t>
            </a:r>
            <a:endParaRPr lang="en-US" sz="950" dirty="0"/>
          </a:p>
        </p:txBody>
      </p:sp>
      <p:sp>
        <p:nvSpPr>
          <p:cNvPr id="15" name="Shape 13"/>
          <p:cNvSpPr/>
          <p:nvPr/>
        </p:nvSpPr>
        <p:spPr>
          <a:xfrm>
            <a:off x="914400" y="2770632"/>
            <a:ext cx="548640" cy="347472"/>
          </a:xfrm>
          <a:prstGeom prst="rect">
            <a:avLst/>
          </a:prstGeom>
          <a:solidFill>
            <a:srgbClr val="E9F6F2"/>
          </a:solidFill>
          <a:ln w="12700">
            <a:solidFill>
              <a:srgbClr val="333333"/>
            </a:solidFill>
            <a:prstDash val="solid"/>
          </a:ln>
        </p:spPr>
      </p:sp>
      <p:sp>
        <p:nvSpPr>
          <p:cNvPr id="16" name="Text 14"/>
          <p:cNvSpPr txBox="1"/>
          <p:nvPr/>
        </p:nvSpPr>
        <p:spPr>
          <a:xfrm>
            <a:off x="914400" y="2770632"/>
            <a:ext cx="548640" cy="347472"/>
          </a:xfrm>
          <a:prstGeom prst="rect">
            <a:avLst/>
          </a:prstGeom>
          <a:noFill/>
          <a:ln/>
        </p:spPr>
        <p:txBody>
          <a:bodyPr wrap="square" lIns="0" tIns="0" rIns="0" bIns="0" rtlCol="0" anchor="ctr"/>
          <a:lstStyle/>
          <a:p>
            <a:pPr algn="ctr" indent="0" marL="0">
              <a:buNone/>
            </a:pPr>
            <a:r>
              <a:rPr lang="en-US" sz="950" b="1" dirty="0">
                <a:solidFill>
                  <a:srgbClr val="6B7789"/>
                </a:solidFill>
                <a:latin typeface="Courier New" pitchFamily="34" charset="0"/>
                <a:ea typeface="Courier New" pitchFamily="34" charset="-122"/>
                <a:cs typeface="Courier New" pitchFamily="34" charset="-120"/>
              </a:rPr>
              <a:t>Ravi</a:t>
            </a:r>
            <a:endParaRPr lang="en-US" sz="950" dirty="0"/>
          </a:p>
        </p:txBody>
      </p:sp>
      <p:sp>
        <p:nvSpPr>
          <p:cNvPr id="17" name="Shape 15"/>
          <p:cNvSpPr/>
          <p:nvPr/>
        </p:nvSpPr>
        <p:spPr>
          <a:xfrm>
            <a:off x="1463040" y="2770632"/>
            <a:ext cx="1444752" cy="347472"/>
          </a:xfrm>
          <a:prstGeom prst="rect">
            <a:avLst/>
          </a:prstGeom>
          <a:solidFill>
            <a:srgbClr val="FFFFFF"/>
          </a:solidFill>
          <a:ln w="6350">
            <a:solidFill>
              <a:srgbClr val="E1E6EE"/>
            </a:solidFill>
            <a:prstDash val="solid"/>
          </a:ln>
        </p:spPr>
      </p:sp>
      <p:sp>
        <p:nvSpPr>
          <p:cNvPr id="18" name="Text 16"/>
          <p:cNvSpPr txBox="1"/>
          <p:nvPr/>
        </p:nvSpPr>
        <p:spPr>
          <a:xfrm>
            <a:off x="1463040" y="2770632"/>
            <a:ext cx="1444752" cy="347472"/>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Pune</a:t>
            </a:r>
            <a:endParaRPr lang="en-US" sz="950" dirty="0"/>
          </a:p>
        </p:txBody>
      </p:sp>
      <p:sp>
        <p:nvSpPr>
          <p:cNvPr id="19" name="Shape 17"/>
          <p:cNvSpPr/>
          <p:nvPr/>
        </p:nvSpPr>
        <p:spPr>
          <a:xfrm>
            <a:off x="2926080" y="2770632"/>
            <a:ext cx="1444752" cy="347472"/>
          </a:xfrm>
          <a:prstGeom prst="rect">
            <a:avLst/>
          </a:prstGeom>
          <a:solidFill>
            <a:srgbClr val="FFFFFF"/>
          </a:solidFill>
          <a:ln w="6350">
            <a:solidFill>
              <a:srgbClr val="E1E6EE"/>
            </a:solidFill>
            <a:prstDash val="solid"/>
          </a:ln>
        </p:spPr>
      </p:sp>
      <p:sp>
        <p:nvSpPr>
          <p:cNvPr id="20" name="Text 18"/>
          <p:cNvSpPr txBox="1"/>
          <p:nvPr/>
        </p:nvSpPr>
        <p:spPr>
          <a:xfrm>
            <a:off x="2926080" y="2770632"/>
            <a:ext cx="1444752" cy="347472"/>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88</a:t>
            </a:r>
            <a:endParaRPr lang="en-US" sz="950" dirty="0"/>
          </a:p>
        </p:txBody>
      </p:sp>
      <p:sp>
        <p:nvSpPr>
          <p:cNvPr id="21" name="Shape 19"/>
          <p:cNvSpPr/>
          <p:nvPr/>
        </p:nvSpPr>
        <p:spPr>
          <a:xfrm>
            <a:off x="4389120" y="2770632"/>
            <a:ext cx="1444752" cy="347472"/>
          </a:xfrm>
          <a:prstGeom prst="rect">
            <a:avLst/>
          </a:prstGeom>
          <a:solidFill>
            <a:srgbClr val="FFFFFF"/>
          </a:solidFill>
          <a:ln w="6350">
            <a:solidFill>
              <a:srgbClr val="E1E6EE"/>
            </a:solidFill>
            <a:prstDash val="solid"/>
          </a:ln>
        </p:spPr>
      </p:sp>
      <p:sp>
        <p:nvSpPr>
          <p:cNvPr id="22" name="Text 20"/>
          <p:cNvSpPr txBox="1"/>
          <p:nvPr/>
        </p:nvSpPr>
        <p:spPr>
          <a:xfrm>
            <a:off x="4389120" y="2770632"/>
            <a:ext cx="1444752" cy="347472"/>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71</a:t>
            </a:r>
            <a:endParaRPr lang="en-US" sz="950" dirty="0"/>
          </a:p>
        </p:txBody>
      </p:sp>
      <p:sp>
        <p:nvSpPr>
          <p:cNvPr id="23" name="Shape 21"/>
          <p:cNvSpPr/>
          <p:nvPr/>
        </p:nvSpPr>
        <p:spPr>
          <a:xfrm>
            <a:off x="914400" y="3145536"/>
            <a:ext cx="548640" cy="347472"/>
          </a:xfrm>
          <a:prstGeom prst="rect">
            <a:avLst/>
          </a:prstGeom>
          <a:solidFill>
            <a:srgbClr val="E9F6F2"/>
          </a:solidFill>
          <a:ln w="12700">
            <a:solidFill>
              <a:srgbClr val="333333"/>
            </a:solidFill>
            <a:prstDash val="solid"/>
          </a:ln>
        </p:spPr>
      </p:sp>
      <p:sp>
        <p:nvSpPr>
          <p:cNvPr id="24" name="Text 22"/>
          <p:cNvSpPr txBox="1"/>
          <p:nvPr/>
        </p:nvSpPr>
        <p:spPr>
          <a:xfrm>
            <a:off x="914400" y="3145536"/>
            <a:ext cx="548640" cy="347472"/>
          </a:xfrm>
          <a:prstGeom prst="rect">
            <a:avLst/>
          </a:prstGeom>
          <a:noFill/>
          <a:ln/>
        </p:spPr>
        <p:txBody>
          <a:bodyPr wrap="square" lIns="0" tIns="0" rIns="0" bIns="0" rtlCol="0" anchor="ctr"/>
          <a:lstStyle/>
          <a:p>
            <a:pPr algn="ctr" indent="0" marL="0">
              <a:buNone/>
            </a:pPr>
            <a:r>
              <a:rPr lang="en-US" sz="950" b="1" dirty="0">
                <a:solidFill>
                  <a:srgbClr val="6B7789"/>
                </a:solidFill>
                <a:latin typeface="Courier New" pitchFamily="34" charset="0"/>
                <a:ea typeface="Courier New" pitchFamily="34" charset="-122"/>
                <a:cs typeface="Courier New" pitchFamily="34" charset="-120"/>
              </a:rPr>
              <a:t>Sara</a:t>
            </a:r>
            <a:endParaRPr lang="en-US" sz="950" dirty="0"/>
          </a:p>
        </p:txBody>
      </p:sp>
      <p:sp>
        <p:nvSpPr>
          <p:cNvPr id="25" name="Shape 23"/>
          <p:cNvSpPr/>
          <p:nvPr/>
        </p:nvSpPr>
        <p:spPr>
          <a:xfrm>
            <a:off x="1463040" y="3145536"/>
            <a:ext cx="1444752" cy="347472"/>
          </a:xfrm>
          <a:prstGeom prst="rect">
            <a:avLst/>
          </a:prstGeom>
          <a:solidFill>
            <a:srgbClr val="FFFFFF"/>
          </a:solidFill>
          <a:ln w="6350">
            <a:solidFill>
              <a:srgbClr val="E1E6EE"/>
            </a:solidFill>
            <a:prstDash val="solid"/>
          </a:ln>
        </p:spPr>
      </p:sp>
      <p:sp>
        <p:nvSpPr>
          <p:cNvPr id="26" name="Text 24"/>
          <p:cNvSpPr txBox="1"/>
          <p:nvPr/>
        </p:nvSpPr>
        <p:spPr>
          <a:xfrm>
            <a:off x="1463040" y="3145536"/>
            <a:ext cx="1444752" cy="347472"/>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Mumbai</a:t>
            </a:r>
            <a:endParaRPr lang="en-US" sz="950" dirty="0"/>
          </a:p>
        </p:txBody>
      </p:sp>
      <p:sp>
        <p:nvSpPr>
          <p:cNvPr id="27" name="Shape 25"/>
          <p:cNvSpPr/>
          <p:nvPr/>
        </p:nvSpPr>
        <p:spPr>
          <a:xfrm>
            <a:off x="2926080" y="3145536"/>
            <a:ext cx="1444752" cy="347472"/>
          </a:xfrm>
          <a:prstGeom prst="rect">
            <a:avLst/>
          </a:prstGeom>
          <a:solidFill>
            <a:srgbClr val="FFFFFF"/>
          </a:solidFill>
          <a:ln w="6350">
            <a:solidFill>
              <a:srgbClr val="E1E6EE"/>
            </a:solidFill>
            <a:prstDash val="solid"/>
          </a:ln>
        </p:spPr>
      </p:sp>
      <p:sp>
        <p:nvSpPr>
          <p:cNvPr id="28" name="Text 26"/>
          <p:cNvSpPr txBox="1"/>
          <p:nvPr/>
        </p:nvSpPr>
        <p:spPr>
          <a:xfrm>
            <a:off x="2926080" y="3145536"/>
            <a:ext cx="1444752" cy="347472"/>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91</a:t>
            </a:r>
            <a:endParaRPr lang="en-US" sz="950" dirty="0"/>
          </a:p>
        </p:txBody>
      </p:sp>
      <p:sp>
        <p:nvSpPr>
          <p:cNvPr id="29" name="Shape 27"/>
          <p:cNvSpPr/>
          <p:nvPr/>
        </p:nvSpPr>
        <p:spPr>
          <a:xfrm>
            <a:off x="4389120" y="3145536"/>
            <a:ext cx="1444752" cy="347472"/>
          </a:xfrm>
          <a:prstGeom prst="rect">
            <a:avLst/>
          </a:prstGeom>
          <a:solidFill>
            <a:srgbClr val="FFFFFF"/>
          </a:solidFill>
          <a:ln w="6350">
            <a:solidFill>
              <a:srgbClr val="E1E6EE"/>
            </a:solidFill>
            <a:prstDash val="solid"/>
          </a:ln>
        </p:spPr>
      </p:sp>
      <p:sp>
        <p:nvSpPr>
          <p:cNvPr id="30" name="Text 28"/>
          <p:cNvSpPr txBox="1"/>
          <p:nvPr/>
        </p:nvSpPr>
        <p:spPr>
          <a:xfrm>
            <a:off x="4389120" y="3145536"/>
            <a:ext cx="1444752" cy="347472"/>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84</a:t>
            </a:r>
            <a:endParaRPr lang="en-US" sz="950" dirty="0"/>
          </a:p>
        </p:txBody>
      </p:sp>
      <p:sp>
        <p:nvSpPr>
          <p:cNvPr id="31" name="Shape 29"/>
          <p:cNvSpPr/>
          <p:nvPr/>
        </p:nvSpPr>
        <p:spPr>
          <a:xfrm>
            <a:off x="914400" y="3520440"/>
            <a:ext cx="548640" cy="347472"/>
          </a:xfrm>
          <a:prstGeom prst="rect">
            <a:avLst/>
          </a:prstGeom>
          <a:solidFill>
            <a:srgbClr val="E9F6F2"/>
          </a:solidFill>
          <a:ln w="12700">
            <a:solidFill>
              <a:srgbClr val="333333"/>
            </a:solidFill>
            <a:prstDash val="solid"/>
          </a:ln>
        </p:spPr>
      </p:sp>
      <p:sp>
        <p:nvSpPr>
          <p:cNvPr id="32" name="Text 30"/>
          <p:cNvSpPr txBox="1"/>
          <p:nvPr/>
        </p:nvSpPr>
        <p:spPr>
          <a:xfrm>
            <a:off x="914400" y="3520440"/>
            <a:ext cx="548640" cy="347472"/>
          </a:xfrm>
          <a:prstGeom prst="rect">
            <a:avLst/>
          </a:prstGeom>
          <a:noFill/>
          <a:ln/>
        </p:spPr>
        <p:txBody>
          <a:bodyPr wrap="square" lIns="0" tIns="0" rIns="0" bIns="0" rtlCol="0" anchor="ctr"/>
          <a:lstStyle/>
          <a:p>
            <a:pPr algn="ctr" indent="0" marL="0">
              <a:buNone/>
            </a:pPr>
            <a:r>
              <a:rPr lang="en-US" sz="950" b="1" dirty="0">
                <a:solidFill>
                  <a:srgbClr val="6B7789"/>
                </a:solidFill>
                <a:latin typeface="Courier New" pitchFamily="34" charset="0"/>
                <a:ea typeface="Courier New" pitchFamily="34" charset="-122"/>
                <a:cs typeface="Courier New" pitchFamily="34" charset="-120"/>
              </a:rPr>
              <a:t>Amit</a:t>
            </a:r>
            <a:endParaRPr lang="en-US" sz="950" dirty="0"/>
          </a:p>
        </p:txBody>
      </p:sp>
      <p:sp>
        <p:nvSpPr>
          <p:cNvPr id="33" name="Shape 31"/>
          <p:cNvSpPr/>
          <p:nvPr/>
        </p:nvSpPr>
        <p:spPr>
          <a:xfrm>
            <a:off x="1463040" y="3520440"/>
            <a:ext cx="1444752" cy="347472"/>
          </a:xfrm>
          <a:prstGeom prst="rect">
            <a:avLst/>
          </a:prstGeom>
          <a:solidFill>
            <a:srgbClr val="FFFFFF"/>
          </a:solidFill>
          <a:ln w="6350">
            <a:solidFill>
              <a:srgbClr val="E1E6EE"/>
            </a:solidFill>
            <a:prstDash val="solid"/>
          </a:ln>
        </p:spPr>
      </p:sp>
      <p:sp>
        <p:nvSpPr>
          <p:cNvPr id="34" name="Text 32"/>
          <p:cNvSpPr txBox="1"/>
          <p:nvPr/>
        </p:nvSpPr>
        <p:spPr>
          <a:xfrm>
            <a:off x="1463040" y="3520440"/>
            <a:ext cx="1444752" cy="347472"/>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Delhi</a:t>
            </a:r>
            <a:endParaRPr lang="en-US" sz="950" dirty="0"/>
          </a:p>
        </p:txBody>
      </p:sp>
      <p:sp>
        <p:nvSpPr>
          <p:cNvPr id="35" name="Shape 33"/>
          <p:cNvSpPr/>
          <p:nvPr/>
        </p:nvSpPr>
        <p:spPr>
          <a:xfrm>
            <a:off x="2926080" y="3520440"/>
            <a:ext cx="1444752" cy="347472"/>
          </a:xfrm>
          <a:prstGeom prst="rect">
            <a:avLst/>
          </a:prstGeom>
          <a:solidFill>
            <a:srgbClr val="FFFFFF"/>
          </a:solidFill>
          <a:ln w="6350">
            <a:solidFill>
              <a:srgbClr val="E1E6EE"/>
            </a:solidFill>
            <a:prstDash val="solid"/>
          </a:ln>
        </p:spPr>
      </p:sp>
      <p:sp>
        <p:nvSpPr>
          <p:cNvPr id="36" name="Text 34"/>
          <p:cNvSpPr txBox="1"/>
          <p:nvPr/>
        </p:nvSpPr>
        <p:spPr>
          <a:xfrm>
            <a:off x="2926080" y="3520440"/>
            <a:ext cx="1444752" cy="347472"/>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45</a:t>
            </a:r>
            <a:endParaRPr lang="en-US" sz="950" dirty="0"/>
          </a:p>
        </p:txBody>
      </p:sp>
      <p:sp>
        <p:nvSpPr>
          <p:cNvPr id="37" name="Shape 35"/>
          <p:cNvSpPr/>
          <p:nvPr/>
        </p:nvSpPr>
        <p:spPr>
          <a:xfrm>
            <a:off x="4389120" y="3520440"/>
            <a:ext cx="1444752" cy="347472"/>
          </a:xfrm>
          <a:prstGeom prst="rect">
            <a:avLst/>
          </a:prstGeom>
          <a:solidFill>
            <a:srgbClr val="FFFFFF"/>
          </a:solidFill>
          <a:ln w="6350">
            <a:solidFill>
              <a:srgbClr val="E1E6EE"/>
            </a:solidFill>
            <a:prstDash val="solid"/>
          </a:ln>
        </p:spPr>
      </p:sp>
      <p:sp>
        <p:nvSpPr>
          <p:cNvPr id="38" name="Text 36"/>
          <p:cNvSpPr txBox="1"/>
          <p:nvPr/>
        </p:nvSpPr>
        <p:spPr>
          <a:xfrm>
            <a:off x="4389120" y="3520440"/>
            <a:ext cx="1444752" cy="347472"/>
          </a:xfrm>
          <a:prstGeom prst="rect">
            <a:avLst/>
          </a:prstGeom>
          <a:noFill/>
          <a:ln/>
        </p:spPr>
        <p:txBody>
          <a:bodyPr wrap="square" lIns="0" tIns="0" rIns="0" bIns="0" rtlCol="0" anchor="ctr"/>
          <a:lstStyle/>
          <a:p>
            <a:pPr algn="ctr" indent="0" marL="0">
              <a:buNone/>
            </a:pPr>
            <a:r>
              <a:rPr lang="en-US" sz="950" dirty="0">
                <a:solidFill>
                  <a:srgbClr val="1F3A5F"/>
                </a:solidFill>
                <a:latin typeface="Courier New" pitchFamily="34" charset="0"/>
                <a:ea typeface="Courier New" pitchFamily="34" charset="-122"/>
                <a:cs typeface="Courier New" pitchFamily="34" charset="-120"/>
              </a:rPr>
              <a:t>38</a:t>
            </a:r>
            <a:endParaRPr lang="en-US" sz="950" dirty="0"/>
          </a:p>
        </p:txBody>
      </p:sp>
      <p:sp>
        <p:nvSpPr>
          <p:cNvPr id="39" name="Text 37"/>
          <p:cNvSpPr txBox="1"/>
          <p:nvPr/>
        </p:nvSpPr>
        <p:spPr>
          <a:xfrm>
            <a:off x="914400" y="3840480"/>
            <a:ext cx="4754880" cy="256032"/>
          </a:xfrm>
          <a:prstGeom prst="rect">
            <a:avLst/>
          </a:prstGeom>
          <a:noFill/>
          <a:ln/>
        </p:spPr>
        <p:txBody>
          <a:bodyPr wrap="square" lIns="0" tIns="0" rIns="0" bIns="0" rtlCol="0" anchor="ctr"/>
          <a:lstStyle/>
          <a:p>
            <a:pPr indent="0" marL="0">
              <a:buNone/>
            </a:pPr>
            <a:r>
              <a:rPr lang="en-US" sz="1100" i="1" dirty="0">
                <a:solidFill>
                  <a:srgbClr val="6B7789"/>
                </a:solidFill>
                <a:latin typeface="Calibri" pitchFamily="34" charset="0"/>
                <a:ea typeface="Calibri" pitchFamily="34" charset="-122"/>
                <a:cs typeface="Calibri" pitchFamily="34" charset="-120"/>
              </a:rPr>
              <a:t>name is now the INDEX, not a column</a:t>
            </a:r>
            <a:endParaRPr lang="en-US" sz="1100" dirty="0"/>
          </a:p>
        </p:txBody>
      </p:sp>
      <p:sp>
        <p:nvSpPr>
          <p:cNvPr id="40" name="Shape 38"/>
          <p:cNvSpPr/>
          <p:nvPr/>
        </p:nvSpPr>
        <p:spPr>
          <a:xfrm>
            <a:off x="6583680" y="1572768"/>
            <a:ext cx="5029200" cy="2651760"/>
          </a:xfrm>
          <a:prstGeom prst="roundRect">
            <a:avLst>
              <a:gd name="adj" fmla="val 310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41" name="Text 39"/>
          <p:cNvSpPr txBox="1"/>
          <p:nvPr/>
        </p:nvSpPr>
        <p:spPr>
          <a:xfrm>
            <a:off x="6839712" y="1719072"/>
            <a:ext cx="4480560" cy="301752"/>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Now loc reads beautifully</a:t>
            </a:r>
            <a:endParaRPr lang="en-US" sz="1450" dirty="0"/>
          </a:p>
        </p:txBody>
      </p:sp>
      <p:sp>
        <p:nvSpPr>
          <p:cNvPr id="42" name="Shape 40"/>
          <p:cNvSpPr/>
          <p:nvPr/>
        </p:nvSpPr>
        <p:spPr>
          <a:xfrm>
            <a:off x="6839712" y="2084832"/>
            <a:ext cx="4526280" cy="1600200"/>
          </a:xfrm>
          <a:prstGeom prst="roundRect">
            <a:avLst>
              <a:gd name="adj" fmla="val 4000"/>
            </a:avLst>
          </a:prstGeom>
          <a:solidFill>
            <a:srgbClr val="1B2B45"/>
          </a:solidFill>
          <a:ln w="12700">
            <a:solidFill>
              <a:srgbClr val="1B2B45"/>
            </a:solidFill>
            <a:prstDash val="solid"/>
          </a:ln>
        </p:spPr>
      </p:sp>
      <p:sp>
        <p:nvSpPr>
          <p:cNvPr id="43" name="Text 41"/>
          <p:cNvSpPr txBox="1"/>
          <p:nvPr/>
        </p:nvSpPr>
        <p:spPr>
          <a:xfrm>
            <a:off x="7004304" y="2194560"/>
            <a:ext cx="4197096" cy="138074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df.loc["Sara"]</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df.loc["Sara", "python"]   -&gt;  91</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df.loc["Ravi":"Amit"]      three rows</a:t>
            </a:r>
            <a:endParaRPr lang="en-US" sz="950" dirty="0"/>
          </a:p>
          <a:p>
            <a:pPr indent="0" marL="0">
              <a:lnSpc>
                <a:spcPct val="112000"/>
              </a:lnSpc>
              <a:buNone/>
            </a:pP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df.iloc[0]                 still Ravi</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iloc NEVER changes - always positions</a:t>
            </a:r>
            <a:endParaRPr lang="en-US" sz="950" dirty="0"/>
          </a:p>
        </p:txBody>
      </p:sp>
      <p:sp>
        <p:nvSpPr>
          <p:cNvPr id="44" name="Text 42"/>
          <p:cNvSpPr txBox="1"/>
          <p:nvPr/>
        </p:nvSpPr>
        <p:spPr>
          <a:xfrm>
            <a:off x="6839712" y="3767328"/>
            <a:ext cx="4526280" cy="411480"/>
          </a:xfrm>
          <a:prstGeom prst="rect">
            <a:avLst/>
          </a:prstGeom>
          <a:noFill/>
          <a:ln/>
        </p:spPr>
        <p:txBody>
          <a:bodyPr wrap="square" lIns="0" tIns="0" rIns="0" bIns="0" rtlCol="0" anchor="ctr"/>
          <a:lstStyle/>
          <a:p>
            <a:pPr indent="0" marL="0">
              <a:buNone/>
            </a:pPr>
            <a:r>
              <a:rPr lang="en-US" sz="1100" i="1" dirty="0">
                <a:solidFill>
                  <a:srgbClr val="1C6F5C"/>
                </a:solidFill>
                <a:latin typeface="Calibri" pitchFamily="34" charset="0"/>
                <a:ea typeface="Calibri" pitchFamily="34" charset="-122"/>
                <a:cs typeface="Calibri" pitchFamily="34" charset="-120"/>
              </a:rPr>
              <a:t>This is where loc's inclusive slicing feels obviously right: Ravi to Amit means Amit included.</a:t>
            </a:r>
            <a:endParaRPr lang="en-US" sz="1100" dirty="0"/>
          </a:p>
        </p:txBody>
      </p:sp>
      <p:sp>
        <p:nvSpPr>
          <p:cNvPr id="45" name="Shape 43"/>
          <p:cNvSpPr/>
          <p:nvPr/>
        </p:nvSpPr>
        <p:spPr>
          <a:xfrm>
            <a:off x="548640" y="4389120"/>
            <a:ext cx="11064240" cy="1463040"/>
          </a:xfrm>
          <a:prstGeom prst="roundRect">
            <a:avLst>
              <a:gd name="adj" fmla="val 5625"/>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46" name="Text 44"/>
          <p:cNvSpPr txBox="1"/>
          <p:nvPr/>
        </p:nvSpPr>
        <p:spPr>
          <a:xfrm>
            <a:off x="868680" y="4535424"/>
            <a:ext cx="73152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When to set an index — and when not to bother</a:t>
            </a:r>
            <a:endParaRPr lang="en-US" sz="1450" dirty="0"/>
          </a:p>
        </p:txBody>
      </p:sp>
      <p:sp>
        <p:nvSpPr>
          <p:cNvPr id="47" name="Text 45"/>
          <p:cNvSpPr txBox="1"/>
          <p:nvPr/>
        </p:nvSpPr>
        <p:spPr>
          <a:xfrm>
            <a:off x="868680" y="4846320"/>
            <a:ext cx="10424160" cy="868680"/>
          </a:xfrm>
          <a:prstGeom prst="rect">
            <a:avLst/>
          </a:prstGeom>
          <a:noFill/>
          <a:ln/>
        </p:spPr>
        <p:txBody>
          <a:bodyPr wrap="square" lIns="0" tIns="0" rIns="0" bIns="0" rtlCol="0" anchor="ctr"/>
          <a:lstStyle/>
          <a:p>
            <a:pPr indent="0" marL="0">
              <a:lnSpc>
                <a:spcPct val="115000"/>
              </a:lnSpc>
              <a:buNone/>
            </a:pPr>
            <a:r>
              <a:rPr lang="en-US" sz="1250" dirty="0">
                <a:solidFill>
                  <a:srgbClr val="6B4A0B"/>
                </a:solidFill>
                <a:latin typeface="Calibri" pitchFamily="34" charset="0"/>
                <a:ea typeface="Calibri" pitchFamily="34" charset="-122"/>
                <a:cs typeface="Calibri" pitchFamily="34" charset="-120"/>
              </a:rPr>
              <a:t>Set one when the rows have a natural identifier you will look things up by: a student ID, a product code, a date. Leave the default 0, 1, 2 when they do not — a made-up index adds nothing. Dates are the case where it pays off most, and Module 4's time series work assumes it.</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RECAP</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Debug corner — eight selection bugs</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914400"/>
        </p:xfrm>
        <a:graphic>
          <a:graphicData uri="http://schemas.openxmlformats.org/drawingml/2006/table">
            <a:tbl>
              <a:tblPr/>
              <a:tblGrid>
                <a:gridCol w="4206240"/>
                <a:gridCol w="3840480"/>
                <a:gridCol w="3017520"/>
              </a:tblGrid>
              <a:tr h="4297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You wrote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happens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Fix</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df[mask]["col"] = 5</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silently does nothing</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df.loc[mask, "col"] = 5</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top.loc[2]  after filtering</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KeyError — label 2 was removed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top.iloc[2]</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df.loc[-1]</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KeyError — there is no label -1</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df.iloc[-1]</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df.loc[1:3]  expecting 2 rows</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gives 3 — loc includes the stop</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df.iloc[1:3]</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df[cond1 and cond2]</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ValueError: truth value ambiguous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df[cond1 &amp; cond2]</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df[df.a&gt;1 &amp; df.b&lt;2]</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wrong rows — &amp; binds tighter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bracket each condition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p.between(60, 90)  as 61-89</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both ends are INCLUDED</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inclusive="neither"</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reset_index()  without drop</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old labels become a column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reset_index(drop=True)</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6" name="Shape 3"/>
          <p:cNvSpPr/>
          <p:nvPr/>
        </p:nvSpPr>
        <p:spPr>
          <a:xfrm>
            <a:off x="548640" y="5559552"/>
            <a:ext cx="11064240" cy="731520"/>
          </a:xfrm>
          <a:prstGeom prst="roundRect">
            <a:avLst>
              <a:gd name="adj" fmla="val 1125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68680" y="5687568"/>
            <a:ext cx="10424160" cy="457200"/>
          </a:xfrm>
          <a:prstGeom prst="rect">
            <a:avLst/>
          </a:prstGeom>
          <a:noFill/>
          <a:ln/>
        </p:spPr>
        <p:txBody>
          <a:bodyPr wrap="square" lIns="0" tIns="0" rIns="0" bIns="0" rtlCol="0" anchor="ctr"/>
          <a:lstStyle/>
          <a:p>
            <a:pPr indent="0" marL="0">
              <a:buNone/>
            </a:pPr>
            <a:r>
              <a:rPr lang="en-US" sz="1300" i="1" dirty="0">
                <a:solidFill>
                  <a:srgbClr val="1F3A5F"/>
                </a:solidFill>
                <a:latin typeface="Calibri" pitchFamily="34" charset="0"/>
                <a:ea typeface="Calibri" pitchFamily="34" charset="-122"/>
                <a:cs typeface="Calibri" pitchFamily="34" charset="-120"/>
              </a:rPr>
              <a:t>Rows 1 and 2 are the two that cost real time. All eight are in today's practice notebook.</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5  ·  MINI BUILD</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Putting it together — five questions, five filters</a:t>
            </a:r>
            <a:endParaRPr lang="en-US" sz="3200" dirty="0"/>
          </a:p>
        </p:txBody>
      </p:sp>
      <p:sp>
        <p:nvSpPr>
          <p:cNvPr id="5" name="Shape 3"/>
          <p:cNvSpPr/>
          <p:nvPr/>
        </p:nvSpPr>
        <p:spPr>
          <a:xfrm>
            <a:off x="548640" y="1572768"/>
            <a:ext cx="6583680" cy="4343400"/>
          </a:xfrm>
          <a:prstGeom prst="roundRect">
            <a:avLst>
              <a:gd name="adj" fmla="val 1895"/>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1783080"/>
            <a:ext cx="6080760" cy="3931920"/>
          </a:xfrm>
          <a:prstGeom prst="roundRect">
            <a:avLst>
              <a:gd name="adj" fmla="val 1628"/>
            </a:avLst>
          </a:prstGeom>
          <a:solidFill>
            <a:srgbClr val="1B2B45"/>
          </a:solidFill>
          <a:ln w="12700">
            <a:solidFill>
              <a:srgbClr val="1B2B45"/>
            </a:solidFill>
            <a:prstDash val="solid"/>
          </a:ln>
        </p:spPr>
      </p:sp>
      <p:sp>
        <p:nvSpPr>
          <p:cNvPr id="7" name="Text 5"/>
          <p:cNvSpPr txBox="1"/>
          <p:nvPr/>
        </p:nvSpPr>
        <p:spPr>
          <a:xfrm>
            <a:off x="969264" y="1892808"/>
            <a:ext cx="5751576" cy="3712464"/>
          </a:xfrm>
          <a:prstGeom prst="rect">
            <a:avLst/>
          </a:prstGeom>
          <a:noFill/>
          <a:ln/>
        </p:spPr>
        <p:txBody>
          <a:bodyPr wrap="square" lIns="0" tIns="0" rIns="0" bIns="0" rtlCol="0" anchor="t"/>
          <a:lstStyle/>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import pandas as pd</a:t>
            </a:r>
            <a:endParaRPr lang="en-US" sz="850" dirty="0"/>
          </a:p>
          <a:p>
            <a:pPr indent="0" marL="0">
              <a:lnSpc>
                <a:spcPct val="112000"/>
              </a:lnSpc>
              <a:buNone/>
            </a:pP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df = pd.read_csv("class.csv")</a:t>
            </a:r>
            <a:endParaRPr lang="en-US" sz="850" dirty="0"/>
          </a:p>
          <a:p>
            <a:pPr indent="0" marL="0">
              <a:lnSpc>
                <a:spcPct val="112000"/>
              </a:lnSpc>
              <a:buNone/>
            </a:pP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  1. Who scored above 70 in python?</a:t>
            </a: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top = df[df["python"] &gt; 70]</a:t>
            </a:r>
            <a:endParaRPr lang="en-US" sz="850" dirty="0"/>
          </a:p>
          <a:p>
            <a:pPr indent="0" marL="0">
              <a:lnSpc>
                <a:spcPct val="112000"/>
              </a:lnSpc>
              <a:buNone/>
            </a:pP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  2. Who is strong in BOTH subjects?</a:t>
            </a: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both = df[(df["python"] &gt; 70) &amp; (df["stats"] &gt; 70)]</a:t>
            </a:r>
            <a:endParaRPr lang="en-US" sz="850" dirty="0"/>
          </a:p>
          <a:p>
            <a:pPr indent="0" marL="0">
              <a:lnSpc>
                <a:spcPct val="112000"/>
              </a:lnSpc>
              <a:buNone/>
            </a:pP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  3. Who is from Pune or Delhi?</a:t>
            </a: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local = df[df["city"].isin(["Pune", "Delhi"])]</a:t>
            </a:r>
            <a:endParaRPr lang="en-US" sz="850" dirty="0"/>
          </a:p>
          <a:p>
            <a:pPr indent="0" marL="0">
              <a:lnSpc>
                <a:spcPct val="112000"/>
              </a:lnSpc>
              <a:buNone/>
            </a:pP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  4. The three highest python marks, whole rows kept</a:t>
            </a: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best = df.nlargest(3, "python")</a:t>
            </a:r>
            <a:endParaRPr lang="en-US" sz="850" dirty="0"/>
          </a:p>
          <a:p>
            <a:pPr indent="0" marL="0">
              <a:lnSpc>
                <a:spcPct val="112000"/>
              </a:lnSpc>
              <a:buNone/>
            </a:pP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  5. Give everyone below 50 a resit mark of 50</a:t>
            </a: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df.loc[df["python"] &lt; 50, "python"] = 50      # ONE loc</a:t>
            </a:r>
            <a:endParaRPr lang="en-US" sz="850" dirty="0"/>
          </a:p>
          <a:p>
            <a:pPr indent="0" marL="0">
              <a:lnSpc>
                <a:spcPct val="112000"/>
              </a:lnSpc>
              <a:buNone/>
            </a:pP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  Tidy the filtered result before reporting it</a:t>
            </a: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top = top.reset_index(drop=True)</a:t>
            </a:r>
            <a:endParaRPr lang="en-US" sz="850" dirty="0"/>
          </a:p>
          <a:p>
            <a:pPr indent="0" marL="0">
              <a:lnSpc>
                <a:spcPct val="112000"/>
              </a:lnSpc>
              <a:buNone/>
            </a:pPr>
            <a:r>
              <a:rPr lang="en-US" sz="850" dirty="0">
                <a:solidFill>
                  <a:srgbClr val="E7EEF8"/>
                </a:solidFill>
                <a:latin typeface="Courier New" pitchFamily="34" charset="0"/>
                <a:ea typeface="Courier New" pitchFamily="34" charset="-122"/>
                <a:cs typeface="Courier New" pitchFamily="34" charset="-120"/>
              </a:rPr>
              <a:t>print(top[["name", "python"]])</a:t>
            </a:r>
            <a:endParaRPr lang="en-US" sz="850" dirty="0"/>
          </a:p>
        </p:txBody>
      </p:sp>
      <p:sp>
        <p:nvSpPr>
          <p:cNvPr id="8" name="Shape 6"/>
          <p:cNvSpPr/>
          <p:nvPr/>
        </p:nvSpPr>
        <p:spPr>
          <a:xfrm>
            <a:off x="7406640" y="1572768"/>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Shape 7"/>
          <p:cNvSpPr/>
          <p:nvPr/>
        </p:nvSpPr>
        <p:spPr>
          <a:xfrm>
            <a:off x="7562088" y="1673352"/>
            <a:ext cx="118872" cy="292608"/>
          </a:xfrm>
          <a:prstGeom prst="roundRect">
            <a:avLst>
              <a:gd name="adj" fmla="val 38462"/>
            </a:avLst>
          </a:prstGeom>
          <a:solidFill>
            <a:srgbClr val="3E7CB1"/>
          </a:solidFill>
          <a:ln w="12700">
            <a:solidFill>
              <a:srgbClr val="333333"/>
            </a:solidFill>
            <a:prstDash val="solid"/>
          </a:ln>
        </p:spPr>
      </p:sp>
      <p:sp>
        <p:nvSpPr>
          <p:cNvPr id="10" name="Text 8"/>
          <p:cNvSpPr txBox="1"/>
          <p:nvPr/>
        </p:nvSpPr>
        <p:spPr>
          <a:xfrm>
            <a:off x="7790688" y="1609344"/>
            <a:ext cx="2834640" cy="237744"/>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A mask is a Series</a:t>
            </a:r>
            <a:endParaRPr lang="en-US" sz="1100" dirty="0"/>
          </a:p>
        </p:txBody>
      </p:sp>
      <p:sp>
        <p:nvSpPr>
          <p:cNvPr id="11" name="Text 9"/>
          <p:cNvSpPr txBox="1"/>
          <p:nvPr/>
        </p:nvSpPr>
        <p:spPr>
          <a:xfrm>
            <a:off x="7790688" y="1828800"/>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Day 12, with labels attached</a:t>
            </a:r>
            <a:endParaRPr lang="en-US" sz="950" dirty="0"/>
          </a:p>
        </p:txBody>
      </p:sp>
      <p:sp>
        <p:nvSpPr>
          <p:cNvPr id="12" name="Shape 10"/>
          <p:cNvSpPr/>
          <p:nvPr/>
        </p:nvSpPr>
        <p:spPr>
          <a:xfrm>
            <a:off x="7406640" y="2148840"/>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Shape 11"/>
          <p:cNvSpPr/>
          <p:nvPr/>
        </p:nvSpPr>
        <p:spPr>
          <a:xfrm>
            <a:off x="7562088" y="2249424"/>
            <a:ext cx="118872" cy="292608"/>
          </a:xfrm>
          <a:prstGeom prst="roundRect">
            <a:avLst>
              <a:gd name="adj" fmla="val 38462"/>
            </a:avLst>
          </a:prstGeom>
          <a:solidFill>
            <a:srgbClr val="E8674C"/>
          </a:solidFill>
          <a:ln w="12700">
            <a:solidFill>
              <a:srgbClr val="333333"/>
            </a:solidFill>
            <a:prstDash val="solid"/>
          </a:ln>
        </p:spPr>
      </p:sp>
      <p:sp>
        <p:nvSpPr>
          <p:cNvPr id="14" name="Text 12"/>
          <p:cNvSpPr txBox="1"/>
          <p:nvPr/>
        </p:nvSpPr>
        <p:spPr>
          <a:xfrm>
            <a:off x="7790688" y="2185416"/>
            <a:ext cx="2834640" cy="237744"/>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&amp; not and</a:t>
            </a:r>
            <a:endParaRPr lang="en-US" sz="1100" dirty="0"/>
          </a:p>
        </p:txBody>
      </p:sp>
      <p:sp>
        <p:nvSpPr>
          <p:cNvPr id="15" name="Text 13"/>
          <p:cNvSpPr txBox="1"/>
          <p:nvPr/>
        </p:nvSpPr>
        <p:spPr>
          <a:xfrm>
            <a:off x="7790688" y="2404872"/>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third appearance of this rule</a:t>
            </a:r>
            <a:endParaRPr lang="en-US" sz="950" dirty="0"/>
          </a:p>
        </p:txBody>
      </p:sp>
      <p:sp>
        <p:nvSpPr>
          <p:cNvPr id="16" name="Shape 14"/>
          <p:cNvSpPr/>
          <p:nvPr/>
        </p:nvSpPr>
        <p:spPr>
          <a:xfrm>
            <a:off x="7406640" y="2724912"/>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7" name="Shape 15"/>
          <p:cNvSpPr/>
          <p:nvPr/>
        </p:nvSpPr>
        <p:spPr>
          <a:xfrm>
            <a:off x="7562088" y="2825496"/>
            <a:ext cx="118872" cy="292608"/>
          </a:xfrm>
          <a:prstGeom prst="roundRect">
            <a:avLst>
              <a:gd name="adj" fmla="val 38462"/>
            </a:avLst>
          </a:prstGeom>
          <a:solidFill>
            <a:srgbClr val="2FA98C"/>
          </a:solidFill>
          <a:ln w="12700">
            <a:solidFill>
              <a:srgbClr val="333333"/>
            </a:solidFill>
            <a:prstDash val="solid"/>
          </a:ln>
        </p:spPr>
      </p:sp>
      <p:sp>
        <p:nvSpPr>
          <p:cNvPr id="18" name="Text 16"/>
          <p:cNvSpPr txBox="1"/>
          <p:nvPr/>
        </p:nvSpPr>
        <p:spPr>
          <a:xfrm>
            <a:off x="7790688" y="2761488"/>
            <a:ext cx="2834640" cy="237744"/>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isin</a:t>
            </a:r>
            <a:endParaRPr lang="en-US" sz="1100" dirty="0"/>
          </a:p>
        </p:txBody>
      </p:sp>
      <p:sp>
        <p:nvSpPr>
          <p:cNvPr id="19" name="Text 17"/>
          <p:cNvSpPr txBox="1"/>
          <p:nvPr/>
        </p:nvSpPr>
        <p:spPr>
          <a:xfrm>
            <a:off x="7790688" y="2980944"/>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clearer than a chain of ==</a:t>
            </a:r>
            <a:endParaRPr lang="en-US" sz="950" dirty="0"/>
          </a:p>
        </p:txBody>
      </p:sp>
      <p:sp>
        <p:nvSpPr>
          <p:cNvPr id="20" name="Shape 18"/>
          <p:cNvSpPr/>
          <p:nvPr/>
        </p:nvSpPr>
        <p:spPr>
          <a:xfrm>
            <a:off x="7406640" y="3300984"/>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7562088" y="3401568"/>
            <a:ext cx="118872" cy="292608"/>
          </a:xfrm>
          <a:prstGeom prst="roundRect">
            <a:avLst>
              <a:gd name="adj" fmla="val 38462"/>
            </a:avLst>
          </a:prstGeom>
          <a:solidFill>
            <a:srgbClr val="2FA98C"/>
          </a:solidFill>
          <a:ln w="12700">
            <a:solidFill>
              <a:srgbClr val="333333"/>
            </a:solidFill>
            <a:prstDash val="solid"/>
          </a:ln>
        </p:spPr>
      </p:sp>
      <p:sp>
        <p:nvSpPr>
          <p:cNvPr id="22" name="Text 20"/>
          <p:cNvSpPr txBox="1"/>
          <p:nvPr/>
        </p:nvSpPr>
        <p:spPr>
          <a:xfrm>
            <a:off x="7790688" y="3337560"/>
            <a:ext cx="2834640" cy="237744"/>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nlargest</a:t>
            </a:r>
            <a:endParaRPr lang="en-US" sz="1100" dirty="0"/>
          </a:p>
        </p:txBody>
      </p:sp>
      <p:sp>
        <p:nvSpPr>
          <p:cNvPr id="23" name="Text 21"/>
          <p:cNvSpPr txBox="1"/>
          <p:nvPr/>
        </p:nvSpPr>
        <p:spPr>
          <a:xfrm>
            <a:off x="7790688" y="3557016"/>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keeps the WHOLE row</a:t>
            </a:r>
            <a:endParaRPr lang="en-US" sz="950" dirty="0"/>
          </a:p>
        </p:txBody>
      </p:sp>
      <p:sp>
        <p:nvSpPr>
          <p:cNvPr id="24" name="Shape 22"/>
          <p:cNvSpPr/>
          <p:nvPr/>
        </p:nvSpPr>
        <p:spPr>
          <a:xfrm>
            <a:off x="7406640" y="3877056"/>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5" name="Shape 23"/>
          <p:cNvSpPr/>
          <p:nvPr/>
        </p:nvSpPr>
        <p:spPr>
          <a:xfrm>
            <a:off x="7562088" y="3977640"/>
            <a:ext cx="118872" cy="292608"/>
          </a:xfrm>
          <a:prstGeom prst="roundRect">
            <a:avLst>
              <a:gd name="adj" fmla="val 38462"/>
            </a:avLst>
          </a:prstGeom>
          <a:solidFill>
            <a:srgbClr val="FFC145"/>
          </a:solidFill>
          <a:ln w="12700">
            <a:solidFill>
              <a:srgbClr val="333333"/>
            </a:solidFill>
            <a:prstDash val="solid"/>
          </a:ln>
        </p:spPr>
      </p:sp>
      <p:sp>
        <p:nvSpPr>
          <p:cNvPr id="26" name="Text 24"/>
          <p:cNvSpPr txBox="1"/>
          <p:nvPr/>
        </p:nvSpPr>
        <p:spPr>
          <a:xfrm>
            <a:off x="7790688" y="3913632"/>
            <a:ext cx="2834640" cy="237744"/>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One .loc to assign</a:t>
            </a:r>
            <a:endParaRPr lang="en-US" sz="1100" dirty="0"/>
          </a:p>
        </p:txBody>
      </p:sp>
      <p:sp>
        <p:nvSpPr>
          <p:cNvPr id="27" name="Text 25"/>
          <p:cNvSpPr txBox="1"/>
          <p:nvPr/>
        </p:nvSpPr>
        <p:spPr>
          <a:xfrm>
            <a:off x="7790688" y="4133088"/>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two brackets would vanish</a:t>
            </a:r>
            <a:endParaRPr lang="en-US" sz="950" dirty="0"/>
          </a:p>
        </p:txBody>
      </p:sp>
      <p:sp>
        <p:nvSpPr>
          <p:cNvPr id="28" name="Shape 26"/>
          <p:cNvSpPr/>
          <p:nvPr/>
        </p:nvSpPr>
        <p:spPr>
          <a:xfrm>
            <a:off x="7406640" y="4453128"/>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9" name="Shape 27"/>
          <p:cNvSpPr/>
          <p:nvPr/>
        </p:nvSpPr>
        <p:spPr>
          <a:xfrm>
            <a:off x="7562088" y="4553712"/>
            <a:ext cx="118872" cy="292608"/>
          </a:xfrm>
          <a:prstGeom prst="roundRect">
            <a:avLst>
              <a:gd name="adj" fmla="val 38462"/>
            </a:avLst>
          </a:prstGeom>
          <a:solidFill>
            <a:srgbClr val="FFC145"/>
          </a:solidFill>
          <a:ln w="12700">
            <a:solidFill>
              <a:srgbClr val="333333"/>
            </a:solidFill>
            <a:prstDash val="solid"/>
          </a:ln>
        </p:spPr>
      </p:sp>
      <p:sp>
        <p:nvSpPr>
          <p:cNvPr id="30" name="Text 28"/>
          <p:cNvSpPr txBox="1"/>
          <p:nvPr/>
        </p:nvSpPr>
        <p:spPr>
          <a:xfrm>
            <a:off x="7790688" y="4489704"/>
            <a:ext cx="2834640" cy="237744"/>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reset_index(drop=True)</a:t>
            </a:r>
            <a:endParaRPr lang="en-US" sz="1100" dirty="0"/>
          </a:p>
        </p:txBody>
      </p:sp>
      <p:sp>
        <p:nvSpPr>
          <p:cNvPr id="31" name="Text 29"/>
          <p:cNvSpPr txBox="1"/>
          <p:nvPr/>
        </p:nvSpPr>
        <p:spPr>
          <a:xfrm>
            <a:off x="7790688" y="4709160"/>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labels match positions again</a:t>
            </a:r>
            <a:endParaRPr lang="en-US" sz="950" dirty="0"/>
          </a:p>
        </p:txBody>
      </p:sp>
      <p:sp>
        <p:nvSpPr>
          <p:cNvPr id="32" name="Shape 30"/>
          <p:cNvSpPr/>
          <p:nvPr/>
        </p:nvSpPr>
        <p:spPr>
          <a:xfrm>
            <a:off x="7406640" y="5029200"/>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3" name="Shape 31"/>
          <p:cNvSpPr/>
          <p:nvPr/>
        </p:nvSpPr>
        <p:spPr>
          <a:xfrm>
            <a:off x="7562088" y="5129784"/>
            <a:ext cx="118872" cy="292608"/>
          </a:xfrm>
          <a:prstGeom prst="roundRect">
            <a:avLst>
              <a:gd name="adj" fmla="val 38462"/>
            </a:avLst>
          </a:prstGeom>
          <a:solidFill>
            <a:srgbClr val="3E7CB1"/>
          </a:solidFill>
          <a:ln w="12700">
            <a:solidFill>
              <a:srgbClr val="333333"/>
            </a:solidFill>
            <a:prstDash val="solid"/>
          </a:ln>
        </p:spPr>
      </p:sp>
      <p:sp>
        <p:nvSpPr>
          <p:cNvPr id="34" name="Text 32"/>
          <p:cNvSpPr txBox="1"/>
          <p:nvPr/>
        </p:nvSpPr>
        <p:spPr>
          <a:xfrm>
            <a:off x="7790688" y="5065776"/>
            <a:ext cx="2834640" cy="237744"/>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Original untouched</a:t>
            </a:r>
            <a:endParaRPr lang="en-US" sz="1100" dirty="0"/>
          </a:p>
        </p:txBody>
      </p:sp>
      <p:sp>
        <p:nvSpPr>
          <p:cNvPr id="35" name="Text 33"/>
          <p:cNvSpPr txBox="1"/>
          <p:nvPr/>
        </p:nvSpPr>
        <p:spPr>
          <a:xfrm>
            <a:off x="7790688" y="5285232"/>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top is a copy, df still has 5 rows</a:t>
            </a:r>
            <a:endParaRPr lang="en-US" sz="950" dirty="0"/>
          </a:p>
        </p:txBody>
      </p:sp>
      <p:sp>
        <p:nvSpPr>
          <p:cNvPr id="36" name="Text 34"/>
          <p:cNvSpPr txBox="1"/>
          <p:nvPr/>
        </p:nvSpPr>
        <p:spPr>
          <a:xfrm>
            <a:off x="548640" y="5998464"/>
            <a:ext cx="6766560" cy="292608"/>
          </a:xfrm>
          <a:prstGeom prst="rect">
            <a:avLst/>
          </a:prstGeom>
          <a:noFill/>
          <a:ln/>
        </p:spPr>
        <p:txBody>
          <a:bodyPr wrap="square" lIns="0" tIns="0" rIns="0" bIns="0" rtlCol="0" anchor="ctr"/>
          <a:lstStyle/>
          <a:p>
            <a:pPr indent="0" marL="0">
              <a:buNone/>
            </a:pPr>
            <a:r>
              <a:rPr lang="en-US" sz="1150" i="1" dirty="0">
                <a:solidFill>
                  <a:srgbClr val="6B7789"/>
                </a:solidFill>
                <a:latin typeface="Calibri" pitchFamily="34" charset="0"/>
                <a:ea typeface="Calibri" pitchFamily="34" charset="-122"/>
                <a:cs typeface="Calibri" pitchFamily="34" charset="-120"/>
              </a:rPr>
              <a:t>Every question is one line. The skill is choosing the right filter, not writing clever code.</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OVER TO YOU</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Practice session — 30 minutes</a:t>
            </a:r>
            <a:endParaRPr lang="en-US" sz="3200" dirty="0"/>
          </a:p>
        </p:txBody>
      </p:sp>
      <p:sp>
        <p:nvSpPr>
          <p:cNvPr id="5" name="Shape 3"/>
          <p:cNvSpPr/>
          <p:nvPr/>
        </p:nvSpPr>
        <p:spPr>
          <a:xfrm>
            <a:off x="548640" y="1691640"/>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77240" y="1938528"/>
            <a:ext cx="420624" cy="420624"/>
          </a:xfrm>
          <a:prstGeom prst="ellipse">
            <a:avLst/>
          </a:prstGeom>
          <a:solidFill>
            <a:srgbClr val="3E7CB1"/>
          </a:solidFill>
          <a:ln w="12700">
            <a:solidFill>
              <a:srgbClr val="3E7CB1"/>
            </a:solidFill>
            <a:prstDash val="solid"/>
          </a:ln>
        </p:spPr>
      </p:sp>
      <p:sp>
        <p:nvSpPr>
          <p:cNvPr id="7" name="Text 5"/>
          <p:cNvSpPr txBox="1"/>
          <p:nvPr/>
        </p:nvSpPr>
        <p:spPr>
          <a:xfrm>
            <a:off x="777240" y="193852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8" name="Text 6"/>
          <p:cNvSpPr txBox="1"/>
          <p:nvPr/>
        </p:nvSpPr>
        <p:spPr>
          <a:xfrm>
            <a:off x="1371600" y="1801368"/>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Predict the output</a:t>
            </a:r>
            <a:endParaRPr lang="en-US" sz="1500" dirty="0"/>
          </a:p>
        </p:txBody>
      </p:sp>
      <p:sp>
        <p:nvSpPr>
          <p:cNvPr id="9" name="Text 7"/>
          <p:cNvSpPr txBox="1"/>
          <p:nvPr/>
        </p:nvSpPr>
        <p:spPr>
          <a:xfrm>
            <a:off x="1371600" y="2148840"/>
            <a:ext cx="5486400" cy="301752"/>
          </a:xfrm>
          <a:prstGeom prst="rect">
            <a:avLst/>
          </a:prstGeom>
          <a:noFill/>
          <a:ln/>
        </p:spPr>
        <p:txBody>
          <a:bodyPr wrap="square" lIns="0" tIns="0" rIns="0" bIns="0" rtlCol="0" anchor="ctr"/>
          <a:lstStyle/>
          <a:p>
            <a:pPr indent="0" marL="0">
              <a:buNone/>
            </a:pPr>
            <a:r>
              <a:rPr lang="en-US" sz="1200" dirty="0">
                <a:solidFill>
                  <a:srgbClr val="6B7789"/>
                </a:solidFill>
                <a:latin typeface="Calibri" pitchFamily="34" charset="0"/>
                <a:ea typeface="Calibri" pitchFamily="34" charset="-122"/>
                <a:cs typeface="Calibri" pitchFamily="34" charset="-120"/>
              </a:rPr>
              <a:t>loc vs iloc, slicing, filtered labels</a:t>
            </a:r>
            <a:endParaRPr lang="en-US" sz="1200" dirty="0"/>
          </a:p>
        </p:txBody>
      </p:sp>
      <p:sp>
        <p:nvSpPr>
          <p:cNvPr id="10" name="Text 8"/>
          <p:cNvSpPr txBox="1"/>
          <p:nvPr/>
        </p:nvSpPr>
        <p:spPr>
          <a:xfrm>
            <a:off x="6583680" y="1947672"/>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8 questions</a:t>
            </a:r>
            <a:endParaRPr lang="en-US" sz="1300" dirty="0"/>
          </a:p>
        </p:txBody>
      </p:sp>
      <p:sp>
        <p:nvSpPr>
          <p:cNvPr id="11" name="Shape 9"/>
          <p:cNvSpPr/>
          <p:nvPr/>
        </p:nvSpPr>
        <p:spPr>
          <a:xfrm>
            <a:off x="548640" y="2715768"/>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777240" y="2962656"/>
            <a:ext cx="420624" cy="420624"/>
          </a:xfrm>
          <a:prstGeom prst="ellipse">
            <a:avLst/>
          </a:prstGeom>
          <a:solidFill>
            <a:srgbClr val="E8674C"/>
          </a:solidFill>
          <a:ln w="12700">
            <a:solidFill>
              <a:srgbClr val="E8674C"/>
            </a:solidFill>
            <a:prstDash val="solid"/>
          </a:ln>
        </p:spPr>
      </p:sp>
      <p:sp>
        <p:nvSpPr>
          <p:cNvPr id="13" name="Text 11"/>
          <p:cNvSpPr txBox="1"/>
          <p:nvPr/>
        </p:nvSpPr>
        <p:spPr>
          <a:xfrm>
            <a:off x="777240" y="29626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4" name="Text 12"/>
          <p:cNvSpPr txBox="1"/>
          <p:nvPr/>
        </p:nvSpPr>
        <p:spPr>
          <a:xfrm>
            <a:off x="1371600" y="2825496"/>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Spot &amp; fix the bug</a:t>
            </a:r>
            <a:endParaRPr lang="en-US" sz="1500" dirty="0"/>
          </a:p>
        </p:txBody>
      </p:sp>
      <p:sp>
        <p:nvSpPr>
          <p:cNvPr id="15" name="Text 13"/>
          <p:cNvSpPr txBox="1"/>
          <p:nvPr/>
        </p:nvSpPr>
        <p:spPr>
          <a:xfrm>
            <a:off x="1371600" y="3172968"/>
            <a:ext cx="5486400" cy="301752"/>
          </a:xfrm>
          <a:prstGeom prst="rect">
            <a:avLst/>
          </a:prstGeom>
          <a:noFill/>
          <a:ln/>
        </p:spPr>
        <p:txBody>
          <a:bodyPr wrap="square" lIns="0" tIns="0" rIns="0" bIns="0" rtlCol="0" anchor="ctr"/>
          <a:lstStyle/>
          <a:p>
            <a:pPr indent="0" marL="0">
              <a:buNone/>
            </a:pPr>
            <a:r>
              <a:rPr lang="en-US" sz="1200" dirty="0">
                <a:solidFill>
                  <a:srgbClr val="6B7789"/>
                </a:solidFill>
                <a:latin typeface="Calibri" pitchFamily="34" charset="0"/>
                <a:ea typeface="Calibri" pitchFamily="34" charset="-122"/>
                <a:cs typeface="Calibri" pitchFamily="34" charset="-120"/>
              </a:rPr>
              <a:t>Chained assignment, loc after filter</a:t>
            </a:r>
            <a:endParaRPr lang="en-US" sz="1200" dirty="0"/>
          </a:p>
        </p:txBody>
      </p:sp>
      <p:sp>
        <p:nvSpPr>
          <p:cNvPr id="16" name="Text 14"/>
          <p:cNvSpPr txBox="1"/>
          <p:nvPr/>
        </p:nvSpPr>
        <p:spPr>
          <a:xfrm>
            <a:off x="6583680" y="2971800"/>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4 questions</a:t>
            </a:r>
            <a:endParaRPr lang="en-US" sz="1300" dirty="0"/>
          </a:p>
        </p:txBody>
      </p:sp>
      <p:sp>
        <p:nvSpPr>
          <p:cNvPr id="17" name="Shape 15"/>
          <p:cNvSpPr/>
          <p:nvPr/>
        </p:nvSpPr>
        <p:spPr>
          <a:xfrm>
            <a:off x="548640" y="3739896"/>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777240" y="3986784"/>
            <a:ext cx="420624" cy="420624"/>
          </a:xfrm>
          <a:prstGeom prst="ellipse">
            <a:avLst/>
          </a:prstGeom>
          <a:solidFill>
            <a:srgbClr val="2FA98C"/>
          </a:solidFill>
          <a:ln w="12700">
            <a:solidFill>
              <a:srgbClr val="2FA98C"/>
            </a:solidFill>
            <a:prstDash val="solid"/>
          </a:ln>
        </p:spPr>
      </p:sp>
      <p:sp>
        <p:nvSpPr>
          <p:cNvPr id="19" name="Text 17"/>
          <p:cNvSpPr txBox="1"/>
          <p:nvPr/>
        </p:nvSpPr>
        <p:spPr>
          <a:xfrm>
            <a:off x="777240" y="39867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8"/>
          <p:cNvSpPr txBox="1"/>
          <p:nvPr/>
        </p:nvSpPr>
        <p:spPr>
          <a:xfrm>
            <a:off x="1371600" y="3849624"/>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Write the code</a:t>
            </a:r>
            <a:endParaRPr lang="en-US" sz="1500" dirty="0"/>
          </a:p>
        </p:txBody>
      </p:sp>
      <p:sp>
        <p:nvSpPr>
          <p:cNvPr id="21" name="Text 19"/>
          <p:cNvSpPr txBox="1"/>
          <p:nvPr/>
        </p:nvSpPr>
        <p:spPr>
          <a:xfrm>
            <a:off x="1371600" y="4197096"/>
            <a:ext cx="5486400" cy="301752"/>
          </a:xfrm>
          <a:prstGeom prst="rect">
            <a:avLst/>
          </a:prstGeom>
          <a:noFill/>
          <a:ln/>
        </p:spPr>
        <p:txBody>
          <a:bodyPr wrap="square" lIns="0" tIns="0" rIns="0" bIns="0" rtlCol="0" anchor="ctr"/>
          <a:lstStyle/>
          <a:p>
            <a:pPr indent="0" marL="0">
              <a:buNone/>
            </a:pPr>
            <a:r>
              <a:rPr lang="en-US" sz="1200" dirty="0">
                <a:solidFill>
                  <a:srgbClr val="6B7789"/>
                </a:solidFill>
                <a:latin typeface="Calibri" pitchFamily="34" charset="0"/>
                <a:ea typeface="Calibri" pitchFamily="34" charset="-122"/>
                <a:cs typeface="Calibri" pitchFamily="34" charset="-120"/>
              </a:rPr>
              <a:t>Filter, combine, assign, sort, re-index</a:t>
            </a:r>
            <a:endParaRPr lang="en-US" sz="1200" dirty="0"/>
          </a:p>
        </p:txBody>
      </p:sp>
      <p:sp>
        <p:nvSpPr>
          <p:cNvPr id="22" name="Text 20"/>
          <p:cNvSpPr txBox="1"/>
          <p:nvPr/>
        </p:nvSpPr>
        <p:spPr>
          <a:xfrm>
            <a:off x="6583680" y="3995928"/>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5 tasks</a:t>
            </a:r>
            <a:endParaRPr lang="en-US" sz="1300" dirty="0"/>
          </a:p>
        </p:txBody>
      </p:sp>
      <p:sp>
        <p:nvSpPr>
          <p:cNvPr id="23" name="Shape 21"/>
          <p:cNvSpPr/>
          <p:nvPr/>
        </p:nvSpPr>
        <p:spPr>
          <a:xfrm>
            <a:off x="548640" y="4764024"/>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Shape 22"/>
          <p:cNvSpPr/>
          <p:nvPr/>
        </p:nvSpPr>
        <p:spPr>
          <a:xfrm>
            <a:off x="777240" y="5010912"/>
            <a:ext cx="420624" cy="420624"/>
          </a:xfrm>
          <a:prstGeom prst="ellipse">
            <a:avLst/>
          </a:prstGeom>
          <a:solidFill>
            <a:srgbClr val="FFC145"/>
          </a:solidFill>
          <a:ln w="12700">
            <a:solidFill>
              <a:srgbClr val="FFC145"/>
            </a:solidFill>
            <a:prstDash val="solid"/>
          </a:ln>
        </p:spPr>
      </p:sp>
      <p:sp>
        <p:nvSpPr>
          <p:cNvPr id="25" name="Text 23"/>
          <p:cNvSpPr txBox="1"/>
          <p:nvPr/>
        </p:nvSpPr>
        <p:spPr>
          <a:xfrm>
            <a:off x="777240" y="5010912"/>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D</a:t>
            </a:r>
            <a:endParaRPr lang="en-US" sz="1300" dirty="0"/>
          </a:p>
        </p:txBody>
      </p:sp>
      <p:sp>
        <p:nvSpPr>
          <p:cNvPr id="26" name="Text 24"/>
          <p:cNvSpPr txBox="1"/>
          <p:nvPr/>
        </p:nvSpPr>
        <p:spPr>
          <a:xfrm>
            <a:off x="1371600" y="4873752"/>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Challenge</a:t>
            </a:r>
            <a:endParaRPr lang="en-US" sz="1500" dirty="0"/>
          </a:p>
        </p:txBody>
      </p:sp>
      <p:sp>
        <p:nvSpPr>
          <p:cNvPr id="27" name="Text 25"/>
          <p:cNvSpPr txBox="1"/>
          <p:nvPr/>
        </p:nvSpPr>
        <p:spPr>
          <a:xfrm>
            <a:off x="1371600" y="5221224"/>
            <a:ext cx="5486400" cy="301752"/>
          </a:xfrm>
          <a:prstGeom prst="rect">
            <a:avLst/>
          </a:prstGeom>
          <a:noFill/>
          <a:ln/>
        </p:spPr>
        <p:txBody>
          <a:bodyPr wrap="square" lIns="0" tIns="0" rIns="0" bIns="0" rtlCol="0" anchor="ctr"/>
          <a:lstStyle/>
          <a:p>
            <a:pPr indent="0" marL="0">
              <a:buNone/>
            </a:pPr>
            <a:r>
              <a:rPr lang="en-US" sz="1200" dirty="0">
                <a:solidFill>
                  <a:srgbClr val="6B7789"/>
                </a:solidFill>
                <a:latin typeface="Calibri" pitchFamily="34" charset="0"/>
                <a:ea typeface="Calibri" pitchFamily="34" charset="-122"/>
                <a:cs typeface="Calibri" pitchFamily="34" charset="-120"/>
              </a:rPr>
              <a:t>A multi-condition report, a lookup table</a:t>
            </a:r>
            <a:endParaRPr lang="en-US" sz="1200" dirty="0"/>
          </a:p>
        </p:txBody>
      </p:sp>
      <p:sp>
        <p:nvSpPr>
          <p:cNvPr id="28" name="Text 26"/>
          <p:cNvSpPr txBox="1"/>
          <p:nvPr/>
        </p:nvSpPr>
        <p:spPr>
          <a:xfrm>
            <a:off x="6583680" y="5020056"/>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 tasks</a:t>
            </a:r>
            <a:endParaRPr lang="en-US" sz="1300" dirty="0"/>
          </a:p>
        </p:txBody>
      </p:sp>
      <p:sp>
        <p:nvSpPr>
          <p:cNvPr id="29" name="Shape 27"/>
          <p:cNvSpPr/>
          <p:nvPr/>
        </p:nvSpPr>
        <p:spPr>
          <a:xfrm>
            <a:off x="8412480" y="1691640"/>
            <a:ext cx="3200400" cy="2971800"/>
          </a:xfrm>
          <a:prstGeom prst="roundRect">
            <a:avLst>
              <a:gd name="adj" fmla="val 2769"/>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0" name="Text 28"/>
          <p:cNvSpPr txBox="1"/>
          <p:nvPr/>
        </p:nvSpPr>
        <p:spPr>
          <a:xfrm>
            <a:off x="8686800" y="1847088"/>
            <a:ext cx="274320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Your notebook</a:t>
            </a:r>
            <a:endParaRPr lang="en-US" sz="1500" dirty="0"/>
          </a:p>
        </p:txBody>
      </p:sp>
      <p:sp>
        <p:nvSpPr>
          <p:cNvPr id="31" name="Text 29"/>
          <p:cNvSpPr txBox="1"/>
          <p:nvPr/>
        </p:nvSpPr>
        <p:spPr>
          <a:xfrm>
            <a:off x="8686800" y="2212848"/>
            <a:ext cx="2743200" cy="594360"/>
          </a:xfrm>
          <a:prstGeom prst="rect">
            <a:avLst/>
          </a:prstGeom>
          <a:noFill/>
          <a:ln/>
        </p:spPr>
        <p:txBody>
          <a:bodyPr wrap="square" lIns="0" tIns="0" rIns="0" bIns="0" rtlCol="0" anchor="ctr"/>
          <a:lstStyle/>
          <a:p>
            <a:pPr indent="0" marL="0">
              <a:lnSpc>
                <a:spcPct val="115000"/>
              </a:lnSpc>
              <a:buNone/>
            </a:pPr>
            <a:r>
              <a:rPr lang="en-US" sz="1250" b="1" dirty="0">
                <a:solidFill>
                  <a:srgbClr val="3E7CB1"/>
                </a:solidFill>
                <a:latin typeface="Courier New" pitchFamily="34" charset="0"/>
                <a:ea typeface="Courier New" pitchFamily="34" charset="-122"/>
                <a:cs typeface="Courier New" pitchFamily="34" charset="-120"/>
              </a:rPr>
              <a:t>Day16_Practice_</a:t>
            </a:r>
            <a:endParaRPr lang="en-US" sz="1250" dirty="0"/>
          </a:p>
          <a:p>
            <a:pPr indent="0" marL="0">
              <a:lnSpc>
                <a:spcPct val="115000"/>
              </a:lnSpc>
              <a:buNone/>
            </a:pPr>
            <a:r>
              <a:rPr lang="en-US" sz="1250" b="1" dirty="0">
                <a:solidFill>
                  <a:srgbClr val="3E7CB1"/>
                </a:solidFill>
                <a:latin typeface="Courier New" pitchFamily="34" charset="0"/>
                <a:ea typeface="Courier New" pitchFamily="34" charset="-122"/>
                <a:cs typeface="Courier New" pitchFamily="34" charset="-120"/>
              </a:rPr>
              <a:t>Questions.ipynb</a:t>
            </a:r>
            <a:endParaRPr lang="en-US" sz="1250" dirty="0"/>
          </a:p>
        </p:txBody>
      </p:sp>
      <p:sp>
        <p:nvSpPr>
          <p:cNvPr id="32" name="Text 30"/>
          <p:cNvSpPr txBox="1"/>
          <p:nvPr/>
        </p:nvSpPr>
        <p:spPr>
          <a:xfrm>
            <a:off x="8796528" y="2926080"/>
            <a:ext cx="2651760" cy="160020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Say “label” or “position” first</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Print .index after filtering</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Raise a hand — I am walking around</a:t>
            </a:r>
            <a:endParaRPr lang="en-US" sz="1150" dirty="0"/>
          </a:p>
          <a:p>
            <a:pPr marL="342900" indent="-342900">
              <a:spcAft>
                <a:spcPts val="800"/>
              </a:spcAft>
              <a:buSzPct val="100000"/>
              <a:buChar char="•"/>
            </a:pPr>
            <a:r>
              <a:rPr lang="en-US" sz="1150" dirty="0">
                <a:solidFill>
                  <a:srgbClr val="2B3445"/>
                </a:solidFill>
                <a:latin typeface="Calibri" pitchFamily="34" charset="0"/>
                <a:ea typeface="Calibri" pitchFamily="34" charset="-122"/>
                <a:cs typeface="Calibri" pitchFamily="34" charset="-120"/>
              </a:rPr>
              <a:t>Solutions shared after class</a:t>
            </a:r>
            <a:endParaRPr lang="en-US" sz="1150" dirty="0"/>
          </a:p>
        </p:txBody>
      </p:sp>
      <p:sp>
        <p:nvSpPr>
          <p:cNvPr id="33" name="Shape 31"/>
          <p:cNvSpPr/>
          <p:nvPr/>
        </p:nvSpPr>
        <p:spPr>
          <a:xfrm>
            <a:off x="548640" y="4937760"/>
            <a:ext cx="11064240" cy="914400"/>
          </a:xfrm>
          <a:prstGeom prst="roundRect">
            <a:avLst>
              <a:gd name="adj" fmla="val 9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4" name="Text 32"/>
          <p:cNvSpPr txBox="1"/>
          <p:nvPr/>
        </p:nvSpPr>
        <p:spPr>
          <a:xfrm>
            <a:off x="868680" y="5120640"/>
            <a:ext cx="10424160" cy="457200"/>
          </a:xfrm>
          <a:prstGeom prst="rect">
            <a:avLst/>
          </a:prstGeom>
          <a:noFill/>
          <a:ln/>
        </p:spPr>
        <p:txBody>
          <a:bodyPr wrap="square" lIns="0" tIns="0" rIns="0" bIns="0" rtlCol="0" anchor="ctr"/>
          <a:lstStyle/>
          <a:p>
            <a:pPr indent="0" marL="0">
              <a:buNone/>
            </a:pPr>
            <a:r>
              <a:rPr lang="en-US" sz="1400" b="1" i="1" dirty="0">
                <a:solidFill>
                  <a:srgbClr val="8A5B00"/>
                </a:solidFill>
                <a:latin typeface="Calibri" pitchFamily="34" charset="0"/>
                <a:ea typeface="Calibri" pitchFamily="34" charset="-122"/>
                <a:cs typeface="Calibri" pitchFamily="34" charset="-120"/>
              </a:rPr>
              <a:t>Before writing loc or iloc, say out loud which one you mean: am I naming this row, or counting to it?</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9966960" y="4480560"/>
            <a:ext cx="3840480" cy="3840480"/>
          </a:xfrm>
          <a:prstGeom prst="ellipse">
            <a:avLst/>
          </a:prstGeom>
          <a:solidFill>
            <a:srgbClr val="1A2A46"/>
          </a:solidFill>
          <a:ln w="12700">
            <a:solidFill>
              <a:srgbClr val="333333"/>
            </a:solidFill>
            <a:prstDash val="solid"/>
          </a:ln>
        </p:spPr>
      </p:sp>
      <p:sp>
        <p:nvSpPr>
          <p:cNvPr id="4" name="Text 2"/>
          <p:cNvSpPr txBox="1"/>
          <p:nvPr/>
        </p:nvSpPr>
        <p:spPr>
          <a:xfrm>
            <a:off x="640080" y="457200"/>
            <a:ext cx="7315200" cy="274320"/>
          </a:xfrm>
          <a:prstGeom prst="rect">
            <a:avLst/>
          </a:prstGeom>
          <a:noFill/>
          <a:ln/>
        </p:spPr>
        <p:txBody>
          <a:bodyPr wrap="square" lIns="0" tIns="0" rIns="0" bIns="0" rtlCol="0" anchor="ctr"/>
          <a:lstStyle/>
          <a:p>
            <a:pPr indent="0" marL="0">
              <a:buNone/>
            </a:pPr>
            <a:r>
              <a:rPr lang="en-US" sz="1200" b="1" spc="200" kern="0" dirty="0">
                <a:solidFill>
                  <a:srgbClr val="FFC145"/>
                </a:solidFill>
                <a:latin typeface="Calibri" pitchFamily="34" charset="0"/>
                <a:ea typeface="Calibri" pitchFamily="34" charset="-122"/>
                <a:cs typeface="Calibri" pitchFamily="34" charset="-120"/>
              </a:rPr>
              <a:t>TODAY IN TWELVE LINES</a:t>
            </a:r>
            <a:endParaRPr lang="en-US" sz="1200" dirty="0"/>
          </a:p>
        </p:txBody>
      </p:sp>
      <p:sp>
        <p:nvSpPr>
          <p:cNvPr id="5" name="Text 3"/>
          <p:cNvSpPr txBox="1"/>
          <p:nvPr/>
        </p:nvSpPr>
        <p:spPr>
          <a:xfrm>
            <a:off x="640080" y="749808"/>
            <a:ext cx="7315200" cy="5943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Recap</a:t>
            </a:r>
            <a:endParaRPr lang="en-US" sz="3400" dirty="0"/>
          </a:p>
        </p:txBody>
      </p:sp>
      <p:sp>
        <p:nvSpPr>
          <p:cNvPr id="6" name="Shape 4"/>
          <p:cNvSpPr/>
          <p:nvPr/>
        </p:nvSpPr>
        <p:spPr>
          <a:xfrm>
            <a:off x="640080" y="1554480"/>
            <a:ext cx="329184" cy="329184"/>
          </a:xfrm>
          <a:prstGeom prst="ellipse">
            <a:avLst/>
          </a:prstGeom>
          <a:solidFill>
            <a:srgbClr val="FFC145"/>
          </a:solidFill>
          <a:ln w="12700">
            <a:solidFill>
              <a:srgbClr val="FFC145"/>
            </a:solidFill>
            <a:prstDash val="solid"/>
          </a:ln>
        </p:spPr>
      </p:sp>
      <p:sp>
        <p:nvSpPr>
          <p:cNvPr id="7" name="Text 5"/>
          <p:cNvSpPr txBox="1"/>
          <p:nvPr/>
        </p:nvSpPr>
        <p:spPr>
          <a:xfrm>
            <a:off x="640080" y="1554480"/>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115568" y="1536192"/>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loc speaks LABELS. iloc speaks POSITIONS.</a:t>
            </a:r>
            <a:endParaRPr lang="en-US" sz="1050" dirty="0"/>
          </a:p>
        </p:txBody>
      </p:sp>
      <p:sp>
        <p:nvSpPr>
          <p:cNvPr id="9" name="Shape 7"/>
          <p:cNvSpPr/>
          <p:nvPr/>
        </p:nvSpPr>
        <p:spPr>
          <a:xfrm>
            <a:off x="640080" y="2121408"/>
            <a:ext cx="329184" cy="329184"/>
          </a:xfrm>
          <a:prstGeom prst="ellipse">
            <a:avLst/>
          </a:prstGeom>
          <a:solidFill>
            <a:srgbClr val="FFC145"/>
          </a:solidFill>
          <a:ln w="12700">
            <a:solidFill>
              <a:srgbClr val="FFC145"/>
            </a:solidFill>
            <a:prstDash val="solid"/>
          </a:ln>
        </p:spPr>
      </p:sp>
      <p:sp>
        <p:nvSpPr>
          <p:cNvPr id="10" name="Text 8"/>
          <p:cNvSpPr txBox="1"/>
          <p:nvPr/>
        </p:nvSpPr>
        <p:spPr>
          <a:xfrm>
            <a:off x="640080" y="2121408"/>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115568" y="2103120"/>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On a fresh DataFrame they agree — that is the trap.</a:t>
            </a:r>
            <a:endParaRPr lang="en-US" sz="1050" dirty="0"/>
          </a:p>
        </p:txBody>
      </p:sp>
      <p:sp>
        <p:nvSpPr>
          <p:cNvPr id="12" name="Shape 10"/>
          <p:cNvSpPr/>
          <p:nvPr/>
        </p:nvSpPr>
        <p:spPr>
          <a:xfrm>
            <a:off x="640080" y="2688336"/>
            <a:ext cx="329184" cy="329184"/>
          </a:xfrm>
          <a:prstGeom prst="ellipse">
            <a:avLst/>
          </a:prstGeom>
          <a:solidFill>
            <a:srgbClr val="FFC145"/>
          </a:solidFill>
          <a:ln w="12700">
            <a:solidFill>
              <a:srgbClr val="FFC145"/>
            </a:solidFill>
            <a:prstDash val="solid"/>
          </a:ln>
        </p:spPr>
      </p:sp>
      <p:sp>
        <p:nvSpPr>
          <p:cNvPr id="13" name="Text 11"/>
          <p:cNvSpPr txBox="1"/>
          <p:nvPr/>
        </p:nvSpPr>
        <p:spPr>
          <a:xfrm>
            <a:off x="640080" y="2688336"/>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115568" y="2670048"/>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loc slicing INCLUDES the stop; iloc excludes it.</a:t>
            </a:r>
            <a:endParaRPr lang="en-US" sz="1050" dirty="0"/>
          </a:p>
        </p:txBody>
      </p:sp>
      <p:sp>
        <p:nvSpPr>
          <p:cNvPr id="15" name="Shape 13"/>
          <p:cNvSpPr/>
          <p:nvPr/>
        </p:nvSpPr>
        <p:spPr>
          <a:xfrm>
            <a:off x="640080" y="3255264"/>
            <a:ext cx="329184" cy="329184"/>
          </a:xfrm>
          <a:prstGeom prst="ellipse">
            <a:avLst/>
          </a:prstGeom>
          <a:solidFill>
            <a:srgbClr val="FFC145"/>
          </a:solidFill>
          <a:ln w="12700">
            <a:solidFill>
              <a:srgbClr val="FFC145"/>
            </a:solidFill>
            <a:prstDash val="solid"/>
          </a:ln>
        </p:spPr>
      </p:sp>
      <p:sp>
        <p:nvSpPr>
          <p:cNvPr id="16" name="Text 14"/>
          <p:cNvSpPr txBox="1"/>
          <p:nvPr/>
        </p:nvSpPr>
        <p:spPr>
          <a:xfrm>
            <a:off x="640080" y="3255264"/>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115568" y="3236976"/>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df.loc[-1] is a KeyError; df.iloc[-1] is the last row.</a:t>
            </a:r>
            <a:endParaRPr lang="en-US" sz="1050" dirty="0"/>
          </a:p>
        </p:txBody>
      </p:sp>
      <p:sp>
        <p:nvSpPr>
          <p:cNvPr id="18" name="Shape 16"/>
          <p:cNvSpPr/>
          <p:nvPr/>
        </p:nvSpPr>
        <p:spPr>
          <a:xfrm>
            <a:off x="640080" y="3822192"/>
            <a:ext cx="329184" cy="329184"/>
          </a:xfrm>
          <a:prstGeom prst="ellipse">
            <a:avLst/>
          </a:prstGeom>
          <a:solidFill>
            <a:srgbClr val="FFC145"/>
          </a:solidFill>
          <a:ln w="12700">
            <a:solidFill>
              <a:srgbClr val="FFC145"/>
            </a:solidFill>
            <a:prstDash val="solid"/>
          </a:ln>
        </p:spPr>
      </p:sp>
      <p:sp>
        <p:nvSpPr>
          <p:cNvPr id="19" name="Text 17"/>
          <p:cNvSpPr txBox="1"/>
          <p:nvPr/>
        </p:nvSpPr>
        <p:spPr>
          <a:xfrm>
            <a:off x="640080" y="3822192"/>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5</a:t>
            </a:r>
            <a:endParaRPr lang="en-US" sz="1300" dirty="0"/>
          </a:p>
        </p:txBody>
      </p:sp>
      <p:sp>
        <p:nvSpPr>
          <p:cNvPr id="20" name="Text 18"/>
          <p:cNvSpPr txBox="1"/>
          <p:nvPr/>
        </p:nvSpPr>
        <p:spPr>
          <a:xfrm>
            <a:off x="1115568" y="3803904"/>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A mask is a boolean Series: df[df["col"] &gt; 70].</a:t>
            </a:r>
            <a:endParaRPr lang="en-US" sz="1050" dirty="0"/>
          </a:p>
        </p:txBody>
      </p:sp>
      <p:sp>
        <p:nvSpPr>
          <p:cNvPr id="21" name="Shape 19"/>
          <p:cNvSpPr/>
          <p:nvPr/>
        </p:nvSpPr>
        <p:spPr>
          <a:xfrm>
            <a:off x="640080" y="4389120"/>
            <a:ext cx="329184" cy="329184"/>
          </a:xfrm>
          <a:prstGeom prst="ellipse">
            <a:avLst/>
          </a:prstGeom>
          <a:solidFill>
            <a:srgbClr val="FFC145"/>
          </a:solidFill>
          <a:ln w="12700">
            <a:solidFill>
              <a:srgbClr val="FFC145"/>
            </a:solidFill>
            <a:prstDash val="solid"/>
          </a:ln>
        </p:spPr>
      </p:sp>
      <p:sp>
        <p:nvSpPr>
          <p:cNvPr id="22" name="Text 20"/>
          <p:cNvSpPr txBox="1"/>
          <p:nvPr/>
        </p:nvSpPr>
        <p:spPr>
          <a:xfrm>
            <a:off x="640080" y="4389120"/>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6</a:t>
            </a:r>
            <a:endParaRPr lang="en-US" sz="1300" dirty="0"/>
          </a:p>
        </p:txBody>
      </p:sp>
      <p:sp>
        <p:nvSpPr>
          <p:cNvPr id="23" name="Text 21"/>
          <p:cNvSpPr txBox="1"/>
          <p:nvPr/>
        </p:nvSpPr>
        <p:spPr>
          <a:xfrm>
            <a:off x="1115568" y="4370832"/>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Use &amp; | ~ and bracket every condition. Never and / or.</a:t>
            </a:r>
            <a:endParaRPr lang="en-US" sz="1050" dirty="0"/>
          </a:p>
        </p:txBody>
      </p:sp>
      <p:sp>
        <p:nvSpPr>
          <p:cNvPr id="24" name="Shape 22"/>
          <p:cNvSpPr/>
          <p:nvPr/>
        </p:nvSpPr>
        <p:spPr>
          <a:xfrm>
            <a:off x="6263640" y="1554480"/>
            <a:ext cx="329184" cy="329184"/>
          </a:xfrm>
          <a:prstGeom prst="ellipse">
            <a:avLst/>
          </a:prstGeom>
          <a:solidFill>
            <a:srgbClr val="3E7CB1"/>
          </a:solidFill>
          <a:ln w="12700">
            <a:solidFill>
              <a:srgbClr val="3E7CB1"/>
            </a:solidFill>
            <a:prstDash val="solid"/>
          </a:ln>
        </p:spPr>
      </p:sp>
      <p:sp>
        <p:nvSpPr>
          <p:cNvPr id="25" name="Text 23"/>
          <p:cNvSpPr txBox="1"/>
          <p:nvPr/>
        </p:nvSpPr>
        <p:spPr>
          <a:xfrm>
            <a:off x="6263640" y="15544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6" name="Text 24"/>
          <p:cNvSpPr txBox="1"/>
          <p:nvPr/>
        </p:nvSpPr>
        <p:spPr>
          <a:xfrm>
            <a:off x="6739128" y="1536192"/>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To ASSIGN, use one df.loc[rows, col] = value.</a:t>
            </a:r>
            <a:endParaRPr lang="en-US" sz="1050" dirty="0"/>
          </a:p>
        </p:txBody>
      </p:sp>
      <p:sp>
        <p:nvSpPr>
          <p:cNvPr id="27" name="Shape 25"/>
          <p:cNvSpPr/>
          <p:nvPr/>
        </p:nvSpPr>
        <p:spPr>
          <a:xfrm>
            <a:off x="6263640" y="2121408"/>
            <a:ext cx="329184" cy="329184"/>
          </a:xfrm>
          <a:prstGeom prst="ellipse">
            <a:avLst/>
          </a:prstGeom>
          <a:solidFill>
            <a:srgbClr val="3E7CB1"/>
          </a:solidFill>
          <a:ln w="12700">
            <a:solidFill>
              <a:srgbClr val="3E7CB1"/>
            </a:solidFill>
            <a:prstDash val="solid"/>
          </a:ln>
        </p:spPr>
      </p:sp>
      <p:sp>
        <p:nvSpPr>
          <p:cNvPr id="28" name="Text 26"/>
          <p:cNvSpPr txBox="1"/>
          <p:nvPr/>
        </p:nvSpPr>
        <p:spPr>
          <a:xfrm>
            <a:off x="6263640" y="212140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29" name="Text 27"/>
          <p:cNvSpPr txBox="1"/>
          <p:nvPr/>
        </p:nvSpPr>
        <p:spPr>
          <a:xfrm>
            <a:off x="6739128" y="2103120"/>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df[mask]["col"] = v writes to a copy and vanishes.</a:t>
            </a:r>
            <a:endParaRPr lang="en-US" sz="1050" dirty="0"/>
          </a:p>
        </p:txBody>
      </p:sp>
      <p:sp>
        <p:nvSpPr>
          <p:cNvPr id="30" name="Shape 28"/>
          <p:cNvSpPr/>
          <p:nvPr/>
        </p:nvSpPr>
        <p:spPr>
          <a:xfrm>
            <a:off x="6263640" y="2688336"/>
            <a:ext cx="329184" cy="329184"/>
          </a:xfrm>
          <a:prstGeom prst="ellipse">
            <a:avLst/>
          </a:prstGeom>
          <a:solidFill>
            <a:srgbClr val="3E7CB1"/>
          </a:solidFill>
          <a:ln w="12700">
            <a:solidFill>
              <a:srgbClr val="3E7CB1"/>
            </a:solidFill>
            <a:prstDash val="solid"/>
          </a:ln>
        </p:spPr>
      </p:sp>
      <p:sp>
        <p:nvSpPr>
          <p:cNvPr id="31" name="Text 29"/>
          <p:cNvSpPr txBox="1"/>
          <p:nvPr/>
        </p:nvSpPr>
        <p:spPr>
          <a:xfrm>
            <a:off x="6263640" y="26883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2" name="Text 30"/>
          <p:cNvSpPr txBox="1"/>
          <p:nvPr/>
        </p:nvSpPr>
        <p:spPr>
          <a:xfrm>
            <a:off x="6739128" y="2670048"/>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Filtering keeps the ORIGINAL labels — gaps appear.</a:t>
            </a:r>
            <a:endParaRPr lang="en-US" sz="1050" dirty="0"/>
          </a:p>
        </p:txBody>
      </p:sp>
      <p:sp>
        <p:nvSpPr>
          <p:cNvPr id="33" name="Shape 31"/>
          <p:cNvSpPr/>
          <p:nvPr/>
        </p:nvSpPr>
        <p:spPr>
          <a:xfrm>
            <a:off x="6263640" y="3255264"/>
            <a:ext cx="329184" cy="329184"/>
          </a:xfrm>
          <a:prstGeom prst="ellipse">
            <a:avLst/>
          </a:prstGeom>
          <a:solidFill>
            <a:srgbClr val="3E7CB1"/>
          </a:solidFill>
          <a:ln w="12700">
            <a:solidFill>
              <a:srgbClr val="3E7CB1"/>
            </a:solidFill>
            <a:prstDash val="solid"/>
          </a:ln>
        </p:spPr>
      </p:sp>
      <p:sp>
        <p:nvSpPr>
          <p:cNvPr id="34" name="Text 32"/>
          <p:cNvSpPr txBox="1"/>
          <p:nvPr/>
        </p:nvSpPr>
        <p:spPr>
          <a:xfrm>
            <a:off x="6263640" y="325526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35" name="Text 33"/>
          <p:cNvSpPr txBox="1"/>
          <p:nvPr/>
        </p:nvSpPr>
        <p:spPr>
          <a:xfrm>
            <a:off x="6739128" y="3236976"/>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So loc[2] can fail on a row you can see. Use iloc, or reset.</a:t>
            </a:r>
            <a:endParaRPr lang="en-US" sz="1050" dirty="0"/>
          </a:p>
        </p:txBody>
      </p:sp>
      <p:sp>
        <p:nvSpPr>
          <p:cNvPr id="36" name="Shape 34"/>
          <p:cNvSpPr/>
          <p:nvPr/>
        </p:nvSpPr>
        <p:spPr>
          <a:xfrm>
            <a:off x="6263640" y="3822192"/>
            <a:ext cx="329184" cy="329184"/>
          </a:xfrm>
          <a:prstGeom prst="ellipse">
            <a:avLst/>
          </a:prstGeom>
          <a:solidFill>
            <a:srgbClr val="3E7CB1"/>
          </a:solidFill>
          <a:ln w="12700">
            <a:solidFill>
              <a:srgbClr val="3E7CB1"/>
            </a:solidFill>
            <a:prstDash val="solid"/>
          </a:ln>
        </p:spPr>
      </p:sp>
      <p:sp>
        <p:nvSpPr>
          <p:cNvPr id="37" name="Text 35"/>
          <p:cNvSpPr txBox="1"/>
          <p:nvPr/>
        </p:nvSpPr>
        <p:spPr>
          <a:xfrm>
            <a:off x="6263640" y="38221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38" name="Text 36"/>
          <p:cNvSpPr txBox="1"/>
          <p:nvPr/>
        </p:nvSpPr>
        <p:spPr>
          <a:xfrm>
            <a:off x="6739128" y="3803904"/>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reset_index(drop=True) makes labels match positions again.</a:t>
            </a:r>
            <a:endParaRPr lang="en-US" sz="1050" dirty="0"/>
          </a:p>
        </p:txBody>
      </p:sp>
      <p:sp>
        <p:nvSpPr>
          <p:cNvPr id="39" name="Shape 37"/>
          <p:cNvSpPr/>
          <p:nvPr/>
        </p:nvSpPr>
        <p:spPr>
          <a:xfrm>
            <a:off x="6263640" y="4389120"/>
            <a:ext cx="329184" cy="329184"/>
          </a:xfrm>
          <a:prstGeom prst="ellipse">
            <a:avLst/>
          </a:prstGeom>
          <a:solidFill>
            <a:srgbClr val="3E7CB1"/>
          </a:solidFill>
          <a:ln w="12700">
            <a:solidFill>
              <a:srgbClr val="3E7CB1"/>
            </a:solidFill>
            <a:prstDash val="solid"/>
          </a:ln>
        </p:spPr>
      </p:sp>
      <p:sp>
        <p:nvSpPr>
          <p:cNvPr id="40" name="Text 38"/>
          <p:cNvSpPr txBox="1"/>
          <p:nvPr/>
        </p:nvSpPr>
        <p:spPr>
          <a:xfrm>
            <a:off x="6263640" y="43891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1" name="Text 39"/>
          <p:cNvSpPr txBox="1"/>
          <p:nvPr/>
        </p:nvSpPr>
        <p:spPr>
          <a:xfrm>
            <a:off x="6739128" y="4370832"/>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isin, between (inclusive!), query, nlargest, sort_values.</a:t>
            </a:r>
            <a:endParaRPr lang="en-US" sz="1050" dirty="0"/>
          </a:p>
        </p:txBody>
      </p:sp>
      <p:sp>
        <p:nvSpPr>
          <p:cNvPr id="42" name="Shape 40"/>
          <p:cNvSpPr/>
          <p:nvPr/>
        </p:nvSpPr>
        <p:spPr>
          <a:xfrm>
            <a:off x="640080" y="5230368"/>
            <a:ext cx="5349240" cy="1097280"/>
          </a:xfrm>
          <a:prstGeom prst="roundRect">
            <a:avLst>
              <a:gd name="adj" fmla="val 7500"/>
            </a:avLst>
          </a:prstGeom>
          <a:solidFill>
            <a:srgbClr val="1E3151"/>
          </a:solidFill>
          <a:ln w="12700">
            <a:solidFill>
              <a:srgbClr val="333333"/>
            </a:solidFill>
            <a:prstDash val="solid"/>
          </a:ln>
        </p:spPr>
      </p:sp>
      <p:sp>
        <p:nvSpPr>
          <p:cNvPr id="43" name="Text 41"/>
          <p:cNvSpPr txBox="1"/>
          <p:nvPr/>
        </p:nvSpPr>
        <p:spPr>
          <a:xfrm>
            <a:off x="868680" y="5358384"/>
            <a:ext cx="4846320" cy="274320"/>
          </a:xfrm>
          <a:prstGeom prst="rect">
            <a:avLst/>
          </a:prstGeom>
          <a:noFill/>
          <a:ln/>
        </p:spPr>
        <p:txBody>
          <a:bodyPr wrap="square" lIns="0" tIns="0" rIns="0" bIns="0" rtlCol="0" anchor="ctr"/>
          <a:lstStyle/>
          <a:p>
            <a:pPr indent="0" marL="0">
              <a:buNone/>
            </a:pPr>
            <a:r>
              <a:rPr lang="en-US" sz="1300" b="1" dirty="0">
                <a:solidFill>
                  <a:srgbClr val="FFC145"/>
                </a:solidFill>
                <a:latin typeface="Calibri" pitchFamily="34" charset="0"/>
                <a:ea typeface="Calibri" pitchFamily="34" charset="-122"/>
                <a:cs typeface="Calibri" pitchFamily="34" charset="-120"/>
              </a:rPr>
              <a:t>Homework</a:t>
            </a:r>
            <a:endParaRPr lang="en-US" sz="1300" dirty="0"/>
          </a:p>
        </p:txBody>
      </p:sp>
      <p:sp>
        <p:nvSpPr>
          <p:cNvPr id="44" name="Text 42"/>
          <p:cNvSpPr txBox="1"/>
          <p:nvPr/>
        </p:nvSpPr>
        <p:spPr>
          <a:xfrm>
            <a:off x="868680" y="5632704"/>
            <a:ext cx="4892040" cy="640080"/>
          </a:xfrm>
          <a:prstGeom prst="rect">
            <a:avLst/>
          </a:prstGeom>
          <a:noFill/>
          <a:ln/>
        </p:spPr>
        <p:txBody>
          <a:bodyPr wrap="square" lIns="0" tIns="0" rIns="0" bIns="0" rtlCol="0" anchor="ctr"/>
          <a:lstStyle/>
          <a:p>
            <a:pPr indent="0" marL="0">
              <a:lnSpc>
                <a:spcPct val="110000"/>
              </a:lnSpc>
              <a:buNone/>
            </a:pPr>
            <a:r>
              <a:rPr lang="en-US" sz="950" dirty="0">
                <a:solidFill>
                  <a:srgbClr val="AFC2DC"/>
                </a:solidFill>
                <a:latin typeface="Calibri" pitchFamily="34" charset="0"/>
                <a:ea typeface="Calibri" pitchFamily="34" charset="-122"/>
                <a:cs typeface="Calibri" pitchFamily="34" charset="-120"/>
              </a:rPr>
              <a:t>Filter a dataset, then show loc and iloc disagreeing on the same number  ·  Write five questions about a CSV and answer each with one filter  ·  Set a meaningful index on a dataset and look up three rows by name</a:t>
            </a:r>
            <a:endParaRPr lang="en-US" sz="950" dirty="0"/>
          </a:p>
        </p:txBody>
      </p:sp>
      <p:sp>
        <p:nvSpPr>
          <p:cNvPr id="45" name="Shape 43"/>
          <p:cNvSpPr/>
          <p:nvPr/>
        </p:nvSpPr>
        <p:spPr>
          <a:xfrm>
            <a:off x="6263640" y="5230368"/>
            <a:ext cx="5349240" cy="1097280"/>
          </a:xfrm>
          <a:prstGeom prst="roundRect">
            <a:avLst>
              <a:gd name="adj" fmla="val 7500"/>
            </a:avLst>
          </a:prstGeom>
          <a:solidFill>
            <a:srgbClr val="1E3151"/>
          </a:solidFill>
          <a:ln w="12700">
            <a:solidFill>
              <a:srgbClr val="333333"/>
            </a:solidFill>
            <a:prstDash val="solid"/>
          </a:ln>
        </p:spPr>
      </p:sp>
      <p:sp>
        <p:nvSpPr>
          <p:cNvPr id="46" name="Text 44"/>
          <p:cNvSpPr txBox="1"/>
          <p:nvPr/>
        </p:nvSpPr>
        <p:spPr>
          <a:xfrm>
            <a:off x="6492240" y="5358384"/>
            <a:ext cx="4846320" cy="274320"/>
          </a:xfrm>
          <a:prstGeom prst="rect">
            <a:avLst/>
          </a:prstGeom>
          <a:noFill/>
          <a:ln/>
        </p:spPr>
        <p:txBody>
          <a:bodyPr wrap="square" lIns="0" tIns="0" rIns="0" bIns="0" rtlCol="0" anchor="ctr"/>
          <a:lstStyle/>
          <a:p>
            <a:pPr indent="0" marL="0">
              <a:buNone/>
            </a:pPr>
            <a:r>
              <a:rPr lang="en-US" sz="1300" b="1" dirty="0">
                <a:solidFill>
                  <a:srgbClr val="FFC145"/>
                </a:solidFill>
                <a:latin typeface="Calibri" pitchFamily="34" charset="0"/>
                <a:ea typeface="Calibri" pitchFamily="34" charset="-122"/>
                <a:cs typeface="Calibri" pitchFamily="34" charset="-120"/>
              </a:rPr>
              <a:t>Next class  —  Topic 1.16</a:t>
            </a:r>
            <a:endParaRPr lang="en-US" sz="1300" dirty="0"/>
          </a:p>
        </p:txBody>
      </p:sp>
      <p:sp>
        <p:nvSpPr>
          <p:cNvPr id="47" name="Text 45"/>
          <p:cNvSpPr txBox="1"/>
          <p:nvPr/>
        </p:nvSpPr>
        <p:spPr>
          <a:xfrm>
            <a:off x="6492240" y="5632704"/>
            <a:ext cx="4892040" cy="640080"/>
          </a:xfrm>
          <a:prstGeom prst="rect">
            <a:avLst/>
          </a:prstGeom>
          <a:noFill/>
          <a:ln/>
        </p:spPr>
        <p:txBody>
          <a:bodyPr wrap="square" lIns="0" tIns="0" rIns="0" bIns="0" rtlCol="0" anchor="ctr"/>
          <a:lstStyle/>
          <a:p>
            <a:pPr indent="0" marL="0">
              <a:lnSpc>
                <a:spcPct val="110000"/>
              </a:lnSpc>
              <a:buNone/>
            </a:pPr>
            <a:r>
              <a:rPr lang="en-US" sz="1050" dirty="0">
                <a:solidFill>
                  <a:srgbClr val="AFC2DC"/>
                </a:solidFill>
                <a:latin typeface="Calibri" pitchFamily="34" charset="0"/>
                <a:ea typeface="Calibri" pitchFamily="34" charset="-122"/>
                <a:cs typeface="Calibri" pitchFamily="34" charset="-120"/>
              </a:rPr>
              <a:t>GroupBy &amp; aggregation:  split the table into groups, compute a summary for each, and put the answers back together</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16 - Filtering, Selection &amp; Indexing</dc:title>
  <dc:subject>PptxGenJS Presentation</dc:subject>
  <dc:creator>Data Science Program</dc:creator>
  <cp:lastModifiedBy>Data Science Program</cp:lastModifiedBy>
  <cp:revision>1</cp:revision>
  <dcterms:created xsi:type="dcterms:W3CDTF">2026-09-23T04:09:40Z</dcterms:created>
  <dcterms:modified xsi:type="dcterms:W3CDTF">2026-09-23T04:09:40Z</dcterms:modified>
</cp:coreProperties>
</file>