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18. Real data almost never arrives in one table. The interesting question in every merge is not which rows match - it is what happens to the ones that do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Signpost the connection: yesterday rows disappeared because of a missing key; today rows can disappear because a key does not exist in the other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duplicate-key explosion is the single most damaging merge bug and the least obvious. Protect its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 the join type as a business decision rather than a technical one is what stops students defaulting to inner without thinking.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Day 9 callback is worth making: they hand-built a lookup dict then. Merge is the grown-up 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inner is the default, which is exactly why students use it without deciding. Ask every time: what should happen to the rows that do not match?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'outer with indicator first' habit is genuinely professional practice. It surfaces data problems before they become silent losses.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 merge as the single tool to learn. Having three near-synonyms is a common source of confusion; one habit is better than three half-known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live. Seeing 3 and 3 become 5 is the moment it lands. Then show the inflated sum - that is what would reach a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same-things versus different-things test resolves nearly every merge-or-concat question students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 7 is the quietest failure of all - concat axis=1 pairing the wrong customer with the wrong order, with no error at any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professional pattern. Every merge in production code should have a row-count assertion beside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Enforce the row-count rule. It is the single habit that separates reliable merges from hopeful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twelve lines aloud. Today created NaNs through unmatched joins; tomorrow is about what to do with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754880" cy="4754880"/>
          </a:xfrm>
          <a:prstGeom prst="ellipse">
            <a:avLst/>
          </a:prstGeom>
          <a:solidFill>
            <a:srgbClr val="1D30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A2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FOR DATA SCIENCE  ·  MODULE 1  ·  TOPIC 1.17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Merge, Join</a:t>
            </a:r>
            <a:endParaRPr lang="en-US" sz="4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Concat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18  —  combining tables, and the rows that do not match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241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min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+ live code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661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673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min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767328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notebook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09360" y="4526280"/>
            <a:ext cx="2468880" cy="960120"/>
          </a:xfrm>
          <a:prstGeom prst="roundRect">
            <a:avLst>
              <a:gd name="adj" fmla="val 8571"/>
            </a:avLst>
          </a:prstGeom>
          <a:solidFill>
            <a:srgbClr val="1E3151"/>
          </a:solidFill>
          <a:ln w="12700">
            <a:solidFill>
              <a:srgbClr val="1E315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10528" y="462686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C1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5029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D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Kinds of join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98280" y="1371600"/>
            <a:ext cx="25146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0" descr="/home/claude/day18/b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2" y="1737360"/>
            <a:ext cx="1911096" cy="178308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9098280" y="39776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University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" y="58064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&amp; presented by  </a:t>
            </a:r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Srinivasa Sai Chava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 ·  5 MINUTES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we start — five questions from Day 17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746504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7393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group key become?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309360" y="177393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index of the result.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414016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587752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61518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by value or by key?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61518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key. Sort the result yourself.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255264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429000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45643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size() vs count()?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345643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 vs  non-missing values.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09651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270248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429768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 or transform for “above own group”?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429768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 —  it keeps the shape.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111496"/>
            <a:ext cx="384048" cy="384048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5111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13892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a missing group key?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513892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</a:t>
            </a:r>
            <a:pPr indent="0" marL="0">
              <a:buNone/>
            </a:pPr>
            <a:r>
              <a:rPr lang="en-US" sz="130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row is dropped, silently.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8521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 reshaped one table. Today combines two — and question 5's lesson returns in a new form.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today's two hours are structured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3911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874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of a join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240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key, two tables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7091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19672" y="2039112"/>
            <a:ext cx="420624" cy="420624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19672" y="20391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1874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joins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22402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inner, left, right, outer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424160" y="1874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" y="3364992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200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in practice</a:t>
            </a:r>
            <a:endParaRPr lang="en-US" sz="155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566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names, suffixes, indicator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301752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19672" y="3364992"/>
            <a:ext cx="420624" cy="420624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19672" y="3364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0" y="3200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keys &amp; concat</a:t>
            </a:r>
            <a:endParaRPr lang="en-US" sz="155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35661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explosion, and stacking tables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42416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4672" y="4690872"/>
            <a:ext cx="420624" cy="420624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4526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build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14173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tables into one report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70916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263640" y="4343400"/>
            <a:ext cx="5440680" cy="1115568"/>
          </a:xfrm>
          <a:prstGeom prst="roundRect">
            <a:avLst>
              <a:gd name="adj" fmla="val 73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19672" y="4690872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519672" y="4690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132320" y="45262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notebook</a:t>
            </a:r>
            <a:endParaRPr lang="en-US" sz="1550" dirty="0"/>
          </a:p>
        </p:txBody>
      </p:sp>
      <p:sp>
        <p:nvSpPr>
          <p:cNvPr id="39" name="Text 37"/>
          <p:cNvSpPr txBox="1"/>
          <p:nvPr/>
        </p:nvSpPr>
        <p:spPr>
          <a:xfrm>
            <a:off x="713232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code, I walk around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10424160" y="4526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contains the bug that silently multiplies your data. It is the reason to check row counts after every merge.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will be able 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two tables on a shared key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10712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66744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66744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66744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66744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inner, left, right or outer — and justify it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28816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28816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28816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528816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what happened to every row that did not match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134856" y="1828800"/>
            <a:ext cx="26060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390888" y="2084832"/>
            <a:ext cx="438912" cy="438912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90888" y="20848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390888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390888" y="3154680"/>
            <a:ext cx="21214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tables with concat, and know when not to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68680" y="48646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that matters in every merge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519379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“which rows match?” — pandas handles that. The question is what should happen to the rows that DON'T. Dropping a customer with no orders, or keeping them with a blank total, are different business answers to the same data. The join type is that decision, written in code.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 of a Join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key, two tables  ·  15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 lives in pieces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key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·  WHY JOIN AT ALL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 arrives in pieces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110642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14400" y="1755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384048" cy="274320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98448" y="2011680"/>
            <a:ext cx="987552" cy="274320"/>
          </a:xfrm>
          <a:prstGeom prst="rect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98448" y="20116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04288" y="2011680"/>
            <a:ext cx="987552" cy="274320"/>
          </a:xfrm>
          <a:prstGeom prst="rect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04288" y="20116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10128" y="2011680"/>
            <a:ext cx="987552" cy="274320"/>
          </a:xfrm>
          <a:prstGeom prst="rect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10128" y="20116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0" y="2304288"/>
            <a:ext cx="384048" cy="274320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230428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298448" y="2304288"/>
            <a:ext cx="9875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98448" y="2304288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304288" y="2304288"/>
            <a:ext cx="9875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304288" y="2304288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310128" y="2304288"/>
            <a:ext cx="9875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10128" y="2304288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14400" y="2596896"/>
            <a:ext cx="384048" cy="274320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14400" y="259689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298448" y="2596896"/>
            <a:ext cx="9875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298448" y="259689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304288" y="2596896"/>
            <a:ext cx="9875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304288" y="259689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10128" y="2596896"/>
            <a:ext cx="9875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310128" y="259689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Mumbai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14400" y="2889504"/>
            <a:ext cx="384048" cy="274320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4400" y="28895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298448" y="2889504"/>
            <a:ext cx="9875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298448" y="288950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304288" y="2889504"/>
            <a:ext cx="9875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304288" y="288950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310128" y="2889504"/>
            <a:ext cx="9875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310128" y="288950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Delhi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14400" y="3182112"/>
            <a:ext cx="384048" cy="274320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14400" y="318211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1298448" y="3182112"/>
            <a:ext cx="9875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298448" y="31821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304288" y="3182112"/>
            <a:ext cx="9875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304288" y="31821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Neha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310128" y="3182112"/>
            <a:ext cx="9875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310128" y="31821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Pune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5120640" y="175564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120640" y="2011680"/>
            <a:ext cx="384048" cy="274320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504688" y="2011680"/>
            <a:ext cx="987552" cy="274320"/>
          </a:xfrm>
          <a:prstGeom prst="rect">
            <a:avLst/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504688" y="20116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510528" y="2011680"/>
            <a:ext cx="987552" cy="274320"/>
          </a:xfrm>
          <a:prstGeom prst="rect">
            <a:avLst/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510528" y="201168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120640" y="2304288"/>
            <a:ext cx="384048" cy="274320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120640" y="230428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504688" y="2304288"/>
            <a:ext cx="9875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504688" y="2304288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510528" y="2304288"/>
            <a:ext cx="9875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510528" y="2304288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120640" y="2596896"/>
            <a:ext cx="384048" cy="274320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120640" y="259689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504688" y="2596896"/>
            <a:ext cx="9875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504688" y="259689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510528" y="2596896"/>
            <a:ext cx="9875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510528" y="259689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120640" y="2889504"/>
            <a:ext cx="384048" cy="274320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120640" y="28895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504688" y="2889504"/>
            <a:ext cx="9875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504688" y="288950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510528" y="2889504"/>
            <a:ext cx="9875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510528" y="2889504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120640" y="3182112"/>
            <a:ext cx="384048" cy="274320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5120640" y="318211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504688" y="3182112"/>
            <a:ext cx="9875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504688" y="31821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6510528" y="3182112"/>
            <a:ext cx="987552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6510528" y="31821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70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680960" y="2743200"/>
            <a:ext cx="640080" cy="0"/>
          </a:xfrm>
          <a:prstGeom prst="line">
            <a:avLst/>
          </a:prstGeom>
          <a:noFill/>
          <a:ln w="25400">
            <a:solidFill>
              <a:srgbClr val="8FA0B6"/>
            </a:solidFill>
            <a:prstDash val="solid"/>
            <a:tailEnd type="triangle"/>
          </a:ln>
        </p:spPr>
      </p:sp>
      <p:sp>
        <p:nvSpPr>
          <p:cNvPr id="77" name="Text 75"/>
          <p:cNvSpPr txBox="1"/>
          <p:nvPr/>
        </p:nvSpPr>
        <p:spPr>
          <a:xfrm>
            <a:off x="8458200" y="17556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students.merge(marks, on="id")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8458200" y="2011680"/>
            <a:ext cx="384048" cy="274320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842248" y="2011680"/>
            <a:ext cx="941832" cy="274320"/>
          </a:xfrm>
          <a:prstGeom prst="rect">
            <a:avLst/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8842248" y="20116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9802368" y="2011680"/>
            <a:ext cx="941832" cy="274320"/>
          </a:xfrm>
          <a:prstGeom prst="rect">
            <a:avLst/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9802368" y="20116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10762488" y="2011680"/>
            <a:ext cx="941832" cy="274320"/>
          </a:xfrm>
          <a:prstGeom prst="rect">
            <a:avLst/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10762488" y="2011680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8458200" y="2304288"/>
            <a:ext cx="384048" cy="274320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8458200" y="230428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8842248" y="2304288"/>
            <a:ext cx="941832" cy="274320"/>
          </a:xfrm>
          <a:prstGeom prst="rect">
            <a:avLst/>
          </a:prstGeom>
          <a:solidFill>
            <a:srgbClr val="E9F6F2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8842248" y="2304288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9802368" y="2304288"/>
            <a:ext cx="941832" cy="274320"/>
          </a:xfrm>
          <a:prstGeom prst="rect">
            <a:avLst/>
          </a:prstGeom>
          <a:solidFill>
            <a:srgbClr val="E9F6F2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9802368" y="2304288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10762488" y="2304288"/>
            <a:ext cx="941832" cy="274320"/>
          </a:xfrm>
          <a:prstGeom prst="rect">
            <a:avLst/>
          </a:prstGeom>
          <a:solidFill>
            <a:srgbClr val="E9F6F2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10762488" y="2304288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8458200" y="2596896"/>
            <a:ext cx="384048" cy="274320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8458200" y="259689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8842248" y="2596896"/>
            <a:ext cx="941832" cy="274320"/>
          </a:xfrm>
          <a:prstGeom prst="rect">
            <a:avLst/>
          </a:prstGeom>
          <a:solidFill>
            <a:srgbClr val="E9F6F2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8842248" y="259689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9802368" y="2596896"/>
            <a:ext cx="941832" cy="274320"/>
          </a:xfrm>
          <a:prstGeom prst="rect">
            <a:avLst/>
          </a:prstGeom>
          <a:solidFill>
            <a:srgbClr val="E9F6F2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9802368" y="259689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10762488" y="2596896"/>
            <a:ext cx="941832" cy="274320"/>
          </a:xfrm>
          <a:prstGeom prst="rect">
            <a:avLst/>
          </a:prstGeom>
          <a:solidFill>
            <a:srgbClr val="E9F6F2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10762488" y="259689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8458200" y="2889504"/>
            <a:ext cx="384048" cy="274320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8458200" y="288950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8842248" y="2889504"/>
            <a:ext cx="941832" cy="274320"/>
          </a:xfrm>
          <a:prstGeom prst="rect">
            <a:avLst/>
          </a:prstGeom>
          <a:solidFill>
            <a:srgbClr val="E9F6F2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8842248" y="288950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9802368" y="2889504"/>
            <a:ext cx="941832" cy="274320"/>
          </a:xfrm>
          <a:prstGeom prst="rect">
            <a:avLst/>
          </a:prstGeom>
          <a:solidFill>
            <a:srgbClr val="E9F6F2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9802368" y="288950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Amit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10762488" y="2889504"/>
            <a:ext cx="941832" cy="274320"/>
          </a:xfrm>
          <a:prstGeom prst="rect">
            <a:avLst/>
          </a:prstGeom>
          <a:solidFill>
            <a:srgbClr val="E9F6F2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10762488" y="2889504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endParaRPr lang="en-US" sz="850" dirty="0"/>
          </a:p>
        </p:txBody>
      </p:sp>
      <p:sp>
        <p:nvSpPr>
          <p:cNvPr id="109" name="Text 107"/>
          <p:cNvSpPr txBox="1"/>
          <p:nvPr/>
        </p:nvSpPr>
        <p:spPr>
          <a:xfrm>
            <a:off x="8458200" y="32461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4 has no marks.  id 5 has no student.  Both vanished.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548640" y="4206240"/>
            <a:ext cx="11064240" cy="1645920"/>
          </a:xfrm>
          <a:prstGeom prst="roundRect">
            <a:avLst>
              <a:gd name="adj" fmla="val 5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1" name="Text 109"/>
          <p:cNvSpPr txBox="1"/>
          <p:nvPr/>
        </p:nvSpPr>
        <p:spPr>
          <a:xfrm>
            <a:off x="868680" y="43525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key is what makes it possible</a:t>
            </a:r>
            <a:endParaRPr lang="en-US" sz="1450" dirty="0"/>
          </a:p>
        </p:txBody>
      </p:sp>
      <p:sp>
        <p:nvSpPr>
          <p:cNvPr id="112" name="Text 110"/>
          <p:cNvSpPr txBox="1"/>
          <p:nvPr/>
        </p:nvSpPr>
        <p:spPr>
          <a:xfrm>
            <a:off x="868680" y="46634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names once in a student table, rather than repeating them beside every mark, is how databases avoid duplication and contradictions. The price is that answering a real question needs two tables put back together — and that is a merge. You met the same idea on Day 9 when a CSV of cities sat beside a CSV of marks; today pandas does the lookup properly.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Joins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unmatched rows  ·  30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·  how=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joins — the same data, four answers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874520"/>
            <a:ext cx="868680" cy="868680"/>
          </a:xfrm>
          <a:prstGeom prst="ellipse">
            <a:avLst/>
          </a:prstGeom>
          <a:solidFill>
            <a:srgbClr val="EDF1F6"/>
          </a:solidFill>
          <a:ln w="12700">
            <a:solidFill>
              <a:srgbClr val="C6D0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81328" y="1874520"/>
            <a:ext cx="868680" cy="868680"/>
          </a:xfrm>
          <a:prstGeom prst="ellipse">
            <a:avLst/>
          </a:prstGeom>
          <a:solidFill>
            <a:srgbClr val="EDF1F6"/>
          </a:solidFill>
          <a:ln w="12700">
            <a:solidFill>
              <a:srgbClr val="C6D0D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81328" y="1970075"/>
            <a:ext cx="347472" cy="677570"/>
          </a:xfrm>
          <a:prstGeom prst="ellipse">
            <a:avLst/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880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how="inner"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1821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matching rows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520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A9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rows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10712" y="16002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22192" y="1874520"/>
            <a:ext cx="868680" cy="868680"/>
          </a:xfrm>
          <a:prstGeom prst="ellipse">
            <a:avLst/>
          </a:prstGeom>
          <a:solidFill>
            <a:srgbClr val="3E7CB1"/>
          </a:solidFill>
          <a:ln w="12700">
            <a:solidFill>
              <a:srgbClr val="C6D0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1874520"/>
            <a:ext cx="868680" cy="868680"/>
          </a:xfrm>
          <a:prstGeom prst="ellipse">
            <a:avLst/>
          </a:prstGeom>
          <a:solidFill>
            <a:srgbClr val="EDF1F6">
              <a:alpha val="70000"/>
            </a:srgbClr>
          </a:solidFill>
          <a:ln w="12700">
            <a:solidFill>
              <a:srgbClr val="C6D0D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47872" y="2880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how="left"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547872" y="31821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 LEFT table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547872" y="3520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rows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72784" y="16002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84264" y="1874520"/>
            <a:ext cx="868680" cy="868680"/>
          </a:xfrm>
          <a:prstGeom prst="ellipse">
            <a:avLst/>
          </a:prstGeom>
          <a:solidFill>
            <a:srgbClr val="EDF1F6"/>
          </a:solidFill>
          <a:ln w="12700">
            <a:solidFill>
              <a:srgbClr val="C6D0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05472" y="1874520"/>
            <a:ext cx="868680" cy="868680"/>
          </a:xfrm>
          <a:prstGeom prst="ellipse">
            <a:avLst/>
          </a:prstGeom>
          <a:solidFill>
            <a:srgbClr val="3E7CB1">
              <a:alpha val="70000"/>
            </a:srgbClr>
          </a:solidFill>
          <a:ln w="12700">
            <a:solidFill>
              <a:srgbClr val="C6D0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9944" y="2880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how="right"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9944" y="31821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 RIGHT table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409944" y="3520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rows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34856" y="1600200"/>
            <a:ext cx="260604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546336" y="1874520"/>
            <a:ext cx="868680" cy="86868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C6D0D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67544" y="1874520"/>
            <a:ext cx="868680" cy="868680"/>
          </a:xfrm>
          <a:prstGeom prst="ellipse">
            <a:avLst/>
          </a:prstGeom>
          <a:solidFill>
            <a:srgbClr val="FFC145">
              <a:alpha val="70000"/>
            </a:srgbClr>
          </a:solidFill>
          <a:ln w="12700">
            <a:solidFill>
              <a:srgbClr val="C6D0D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72016" y="28803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how="outer"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272016" y="31821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both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9272016" y="35204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02336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4187952"/>
          <a:ext cx="10515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03120"/>
                <a:gridCol w="2926080"/>
                <a:gridCol w="39319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Unmatched become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it when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"inner"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in BOTH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dropped entirely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need complete records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"left"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left rows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 in the right columns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left table is your population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"right"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right rows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 in the left columns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 — swap the tables instead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"outer"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everything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 on whichever side is missing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auditing: what is in one and not the other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·  how="left"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left join, in detail — the one you will use most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58368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83080"/>
            <a:ext cx="6080760" cy="457200"/>
          </a:xfrm>
          <a:prstGeom prst="roundRect">
            <a:avLst>
              <a:gd name="adj" fmla="val 140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1892808"/>
            <a:ext cx="5751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students.merge(marks, on="id", how="left")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80160" y="2395728"/>
            <a:ext cx="384048" cy="292608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64208" y="2395728"/>
            <a:ext cx="1124712" cy="292608"/>
          </a:xfrm>
          <a:prstGeom prst="rect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64208" y="2395728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807208" y="2395728"/>
            <a:ext cx="1124712" cy="292608"/>
          </a:xfrm>
          <a:prstGeom prst="rect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07208" y="2395728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950208" y="2395728"/>
            <a:ext cx="1124712" cy="292608"/>
          </a:xfrm>
          <a:prstGeom prst="rect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50208" y="2395728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93208" y="2395728"/>
            <a:ext cx="1124712" cy="292608"/>
          </a:xfrm>
          <a:prstGeom prst="rect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93208" y="2395728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280160" y="2706624"/>
            <a:ext cx="384048" cy="292608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80160" y="270662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664208" y="2706624"/>
            <a:ext cx="11247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64208" y="2706624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807208" y="2706624"/>
            <a:ext cx="11247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07208" y="2706624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950208" y="2706624"/>
            <a:ext cx="11247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50208" y="2706624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93208" y="2706624"/>
            <a:ext cx="11247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93208" y="2706624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88.0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280160" y="3017520"/>
            <a:ext cx="384048" cy="292608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280160" y="30175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664208" y="3017520"/>
            <a:ext cx="11247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64208" y="3017520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807208" y="3017520"/>
            <a:ext cx="11247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807208" y="3017520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950208" y="3017520"/>
            <a:ext cx="11247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950208" y="3017520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Mumbai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93208" y="3017520"/>
            <a:ext cx="11247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093208" y="3017520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91.0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280160" y="3328416"/>
            <a:ext cx="384048" cy="292608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280160" y="332841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664208" y="3328416"/>
            <a:ext cx="11247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664208" y="3328416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807208" y="3328416"/>
            <a:ext cx="11247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2807208" y="3328416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950208" y="3328416"/>
            <a:ext cx="11247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950208" y="3328416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Delhi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093208" y="3328416"/>
            <a:ext cx="1124712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093208" y="3328416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45.0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280160" y="3639312"/>
            <a:ext cx="384048" cy="292608"/>
          </a:xfrm>
          <a:prstGeom prst="rect">
            <a:avLst/>
          </a:prstGeom>
          <a:solidFill>
            <a:srgbClr val="E6EAF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280160" y="3639312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664208" y="3639312"/>
            <a:ext cx="1124712" cy="292608"/>
          </a:xfrm>
          <a:prstGeom prst="rect">
            <a:avLst/>
          </a:prstGeom>
          <a:solidFill>
            <a:srgbClr val="FBE3DC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664208" y="3639312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807208" y="3639312"/>
            <a:ext cx="1124712" cy="292608"/>
          </a:xfrm>
          <a:prstGeom prst="rect">
            <a:avLst/>
          </a:prstGeom>
          <a:solidFill>
            <a:srgbClr val="FBE3DC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807208" y="3639312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Neha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950208" y="3639312"/>
            <a:ext cx="1124712" cy="292608"/>
          </a:xfrm>
          <a:prstGeom prst="rect">
            <a:avLst/>
          </a:prstGeom>
          <a:solidFill>
            <a:srgbClr val="FBE3DC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950208" y="3639312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093208" y="3639312"/>
            <a:ext cx="1124712" cy="292608"/>
          </a:xfrm>
          <a:prstGeom prst="rect">
            <a:avLst/>
          </a:prstGeom>
          <a:solidFill>
            <a:srgbClr val="FBE3DC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093208" y="3639312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1280160" y="3767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Neha kept, with no mark  ↑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223760" y="1572768"/>
            <a:ext cx="4389120" cy="2651760"/>
          </a:xfrm>
          <a:prstGeom prst="roundRect">
            <a:avLst>
              <a:gd name="adj" fmla="val 3103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59" name="Text 57"/>
          <p:cNvSpPr txBox="1"/>
          <p:nvPr/>
        </p:nvSpPr>
        <p:spPr>
          <a:xfrm>
            <a:off x="7479792" y="1719072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Notice the dtype changed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7479792" y="2084832"/>
            <a:ext cx="3886200" cy="685800"/>
          </a:xfrm>
          <a:prstGeom prst="roundRect">
            <a:avLst>
              <a:gd name="adj" fmla="val 9333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644384" y="2194560"/>
            <a:ext cx="35570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 python  int64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  python  float64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7479792" y="28803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 again: an integer column cannot hold NaN, so the moment one unmatched row appears, the whole column becomes float. If your IDs or counts suddenly print as 88.0, an unmatched merge is a likely cause.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548640" y="4343400"/>
            <a:ext cx="11064240" cy="1508760"/>
          </a:xfrm>
          <a:prstGeom prst="roundRect">
            <a:avLst>
              <a:gd name="adj" fmla="val 5455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4" name="Text 62"/>
          <p:cNvSpPr txBox="1"/>
          <p:nvPr/>
        </p:nvSpPr>
        <p:spPr>
          <a:xfrm>
            <a:off x="868680" y="44988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indicator=True tells you exactly what happened</a:t>
            </a:r>
            <a:endParaRPr lang="en-US" sz="1450" dirty="0"/>
          </a:p>
        </p:txBody>
      </p:sp>
      <p:sp>
        <p:nvSpPr>
          <p:cNvPr id="65" name="Shape 63"/>
          <p:cNvSpPr/>
          <p:nvPr/>
        </p:nvSpPr>
        <p:spPr>
          <a:xfrm>
            <a:off x="868680" y="4809744"/>
            <a:ext cx="5212080" cy="868680"/>
          </a:xfrm>
          <a:prstGeom prst="roundRect">
            <a:avLst>
              <a:gd name="adj" fmla="val 736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033272" y="4919472"/>
            <a:ext cx="48828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students.merge(marks, on="id",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how="outer", indicator=True)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adds a _merge column: both / left_only / right_only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6400800" y="4791456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 outer join with indicator=True BEFORE choosing your real join. It answers “how many rows are in one table and not the other?” in a single step — and the answer often changes which join you actually want.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Merge in Practice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arguments you will actually need  ·  20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key names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columns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on the index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·  PRACTICALITIES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that come up every time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4937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with different names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" y="2084832"/>
            <a:ext cx="4983480" cy="1005840"/>
          </a:xfrm>
          <a:prstGeom prst="roundRect">
            <a:avLst>
              <a:gd name="adj" fmla="val 636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194560"/>
            <a:ext cx="46542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students.merge(marks,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left_on="student_id",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right_on="id")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you get BOTH columns - drop one after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18211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two tables call the same thing by different names — which is most of the time in real data.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572768"/>
            <a:ext cx="5303520" cy="2286000"/>
          </a:xfrm>
          <a:prstGeom prst="roundRect">
            <a:avLst>
              <a:gd name="adj" fmla="val 3600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65392" y="171907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Overlapping column names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65392" y="2084832"/>
            <a:ext cx="4800600" cy="1005840"/>
          </a:xfrm>
          <a:prstGeom prst="roundRect">
            <a:avLst>
              <a:gd name="adj" fmla="val 636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29984" y="2194560"/>
            <a:ext cx="44714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a.merge(b, on="id")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 score_x   score_y      unhelpful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a.merge(b, on="id",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suffixes=("_before", "_after"))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565392" y="3182112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both tables have a score column, pandas keeps both and tags them _x and _y. Always pass suffixes that mean something.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11064240" cy="1828800"/>
          </a:xfrm>
          <a:prstGeom prst="roundRect">
            <a:avLst>
              <a:gd name="adj" fmla="val 4500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68680" y="4169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on the index — and the family of names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68680" y="4480560"/>
            <a:ext cx="5212080" cy="1005840"/>
          </a:xfrm>
          <a:prstGeom prst="roundRect">
            <a:avLst>
              <a:gd name="adj" fmla="val 6364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33272" y="4590288"/>
            <a:ext cx="488289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left.join(right)          on the INDEX, how="left"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a.merge(b, on="id")       on a COLUMN, how="inner"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pd.merge(a, b, on="id")   same as a.merge(b, ...)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462272"/>
            <a:ext cx="4983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and merge do the same job with different defaults: join works on the index and keeps all left rows; merge works on columns and keeps only matches. Learn merge properly and use it everywhere — you can always call set_index first if you want index behaviour.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822960" y="2057400"/>
            <a:ext cx="777240" cy="777240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6596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Duplicates &amp; Concat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947672" y="27889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 that multiplies your data  ·  20 minutes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0" y="2011680"/>
            <a:ext cx="2468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explosion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·  DUPLICATE KEYS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bug that multiplies your data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583680" cy="2834640"/>
          </a:xfrm>
          <a:prstGeom prst="roundRect">
            <a:avLst>
              <a:gd name="adj" fmla="val 2903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6035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rows merged with three rows gives... five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0848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14400" y="2304288"/>
            <a:ext cx="758952" cy="256032"/>
          </a:xfrm>
          <a:prstGeom prst="rect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304288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91640" y="2304288"/>
            <a:ext cx="758952" cy="256032"/>
          </a:xfrm>
          <a:prstGeom prst="rect">
            <a:avLst/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91640" y="2304288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14400" y="2578608"/>
            <a:ext cx="7589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2578608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691640" y="2578608"/>
            <a:ext cx="7589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691640" y="2578608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14400" y="2852928"/>
            <a:ext cx="7589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2852928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691640" y="2852928"/>
            <a:ext cx="7589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91640" y="2852928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14400" y="3127248"/>
            <a:ext cx="7589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3127248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691640" y="3127248"/>
            <a:ext cx="7589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691640" y="3127248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2834640" y="20848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834640" y="2304288"/>
            <a:ext cx="804672" cy="256032"/>
          </a:xfrm>
          <a:prstGeom prst="rect">
            <a:avLst/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834640" y="230428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0" y="2304288"/>
            <a:ext cx="804672" cy="256032"/>
          </a:xfrm>
          <a:prstGeom prst="rect">
            <a:avLst/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657600" y="230428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834640" y="2578608"/>
            <a:ext cx="804672" cy="256032"/>
          </a:xfrm>
          <a:prstGeom prst="rect">
            <a:avLst/>
          </a:prstGeom>
          <a:solidFill>
            <a:srgbClr val="FBE3DC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834640" y="257860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0" y="2578608"/>
            <a:ext cx="804672" cy="256032"/>
          </a:xfrm>
          <a:prstGeom prst="rect">
            <a:avLst/>
          </a:prstGeom>
          <a:solidFill>
            <a:srgbClr val="FBE3DC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657600" y="257860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834640" y="2852928"/>
            <a:ext cx="804672" cy="256032"/>
          </a:xfrm>
          <a:prstGeom prst="rect">
            <a:avLst/>
          </a:prstGeom>
          <a:solidFill>
            <a:srgbClr val="FBE3DC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834640" y="285292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0" y="2852928"/>
            <a:ext cx="804672" cy="256032"/>
          </a:xfrm>
          <a:prstGeom prst="rect">
            <a:avLst/>
          </a:prstGeom>
          <a:solidFill>
            <a:srgbClr val="FBE3DC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657600" y="285292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A-dup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834640" y="3127248"/>
            <a:ext cx="80467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834640" y="312724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657600" y="3127248"/>
            <a:ext cx="80467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657600" y="3127248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09160" y="2743200"/>
            <a:ext cx="457200" cy="0"/>
          </a:xfrm>
          <a:prstGeom prst="line">
            <a:avLst/>
          </a:prstGeom>
          <a:noFill/>
          <a:ln w="25400">
            <a:solidFill>
              <a:srgbClr val="8FA0B6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303520" y="2304288"/>
            <a:ext cx="548640" cy="256032"/>
          </a:xfrm>
          <a:prstGeom prst="rect">
            <a:avLst/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303520" y="23042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870448" y="2304288"/>
            <a:ext cx="548640" cy="256032"/>
          </a:xfrm>
          <a:prstGeom prst="rect">
            <a:avLst/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870448" y="23042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amt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437376" y="2304288"/>
            <a:ext cx="548640" cy="256032"/>
          </a:xfrm>
          <a:prstGeom prst="rect">
            <a:avLst/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37376" y="23042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303520" y="2578608"/>
            <a:ext cx="548640" cy="256032"/>
          </a:xfrm>
          <a:prstGeom prst="rect">
            <a:avLst/>
          </a:prstGeom>
          <a:solidFill>
            <a:srgbClr val="FFF1C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303520" y="2578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870448" y="2578608"/>
            <a:ext cx="548640" cy="256032"/>
          </a:xfrm>
          <a:prstGeom prst="rect">
            <a:avLst/>
          </a:prstGeom>
          <a:solidFill>
            <a:srgbClr val="FFF1C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870448" y="2578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437376" y="2578608"/>
            <a:ext cx="548640" cy="256032"/>
          </a:xfrm>
          <a:prstGeom prst="rect">
            <a:avLst/>
          </a:prstGeom>
          <a:solidFill>
            <a:srgbClr val="FFF1C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6437376" y="2578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303520" y="2852928"/>
            <a:ext cx="548640" cy="256032"/>
          </a:xfrm>
          <a:prstGeom prst="rect">
            <a:avLst/>
          </a:prstGeom>
          <a:solidFill>
            <a:srgbClr val="FFF1C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303520" y="28529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870448" y="2852928"/>
            <a:ext cx="548640" cy="256032"/>
          </a:xfrm>
          <a:prstGeom prst="rect">
            <a:avLst/>
          </a:prstGeom>
          <a:solidFill>
            <a:srgbClr val="FFF1C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870448" y="28529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437376" y="2852928"/>
            <a:ext cx="548640" cy="256032"/>
          </a:xfrm>
          <a:prstGeom prst="rect">
            <a:avLst/>
          </a:prstGeom>
          <a:solidFill>
            <a:srgbClr val="FFF1C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437376" y="28529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A-dup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303520" y="3127248"/>
            <a:ext cx="548640" cy="256032"/>
          </a:xfrm>
          <a:prstGeom prst="rect">
            <a:avLst/>
          </a:prstGeom>
          <a:solidFill>
            <a:srgbClr val="FFF1C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5303520" y="31272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870448" y="3127248"/>
            <a:ext cx="548640" cy="256032"/>
          </a:xfrm>
          <a:prstGeom prst="rect">
            <a:avLst/>
          </a:prstGeom>
          <a:solidFill>
            <a:srgbClr val="FFF1C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870448" y="31272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437376" y="3127248"/>
            <a:ext cx="548640" cy="256032"/>
          </a:xfrm>
          <a:prstGeom prst="rect">
            <a:avLst/>
          </a:prstGeom>
          <a:solidFill>
            <a:srgbClr val="FFF1C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437376" y="31272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303520" y="3401568"/>
            <a:ext cx="548640" cy="256032"/>
          </a:xfrm>
          <a:prstGeom prst="rect">
            <a:avLst/>
          </a:prstGeom>
          <a:solidFill>
            <a:srgbClr val="FFF1C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303520" y="34015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870448" y="3401568"/>
            <a:ext cx="548640" cy="256032"/>
          </a:xfrm>
          <a:prstGeom prst="rect">
            <a:avLst/>
          </a:prstGeom>
          <a:solidFill>
            <a:srgbClr val="FFF1C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5870448" y="34015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437376" y="3401568"/>
            <a:ext cx="548640" cy="256032"/>
          </a:xfrm>
          <a:prstGeom prst="rect">
            <a:avLst/>
          </a:prstGeom>
          <a:solidFill>
            <a:srgbClr val="FFF1C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437376" y="34015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A-dup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303520" y="3675888"/>
            <a:ext cx="5486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5303520" y="36758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870448" y="3675888"/>
            <a:ext cx="5486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870448" y="36758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6437376" y="3675888"/>
            <a:ext cx="5486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E1E6EE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6437376" y="36758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850" dirty="0"/>
          </a:p>
        </p:txBody>
      </p:sp>
      <p:sp>
        <p:nvSpPr>
          <p:cNvPr id="78" name="Text 76"/>
          <p:cNvSpPr txBox="1"/>
          <p:nvPr/>
        </p:nvSpPr>
        <p:spPr>
          <a:xfrm>
            <a:off x="804672" y="39776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 1 appears twice on each side, so 2 x 2 = 4 rows come out of it.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7223760" y="1572768"/>
            <a:ext cx="4389120" cy="2834640"/>
          </a:xfrm>
          <a:prstGeom prst="roundRect">
            <a:avLst>
              <a:gd name="adj" fmla="val 2903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80" name="Text 78"/>
          <p:cNvSpPr txBox="1"/>
          <p:nvPr/>
        </p:nvSpPr>
        <p:spPr>
          <a:xfrm>
            <a:off x="7479792" y="1719072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defences</a:t>
            </a:r>
            <a:endParaRPr lang="en-US" sz="1450" dirty="0"/>
          </a:p>
        </p:txBody>
      </p:sp>
      <p:sp>
        <p:nvSpPr>
          <p:cNvPr id="81" name="Shape 79"/>
          <p:cNvSpPr/>
          <p:nvPr/>
        </p:nvSpPr>
        <p:spPr>
          <a:xfrm>
            <a:off x="7479792" y="2084832"/>
            <a:ext cx="3886200" cy="1051560"/>
          </a:xfrm>
          <a:prstGeom prst="roundRect">
            <a:avLst>
              <a:gd name="adj" fmla="val 6087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7644384" y="2194560"/>
            <a:ext cx="355701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orders.merge(custs, on="cust",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validate="many_to_one")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-&gt;  MergeError: keys are not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unique in right dataset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7479792" y="3246120"/>
            <a:ext cx="3886200" cy="685800"/>
          </a:xfrm>
          <a:prstGeom prst="roundRect">
            <a:avLst>
              <a:gd name="adj" fmla="val 9333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7644384" y="3355848"/>
            <a:ext cx="35570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= len(orders)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len(merged) == before</a:t>
            </a:r>
            <a:endParaRPr lang="en-US" sz="950" dirty="0"/>
          </a:p>
        </p:txBody>
      </p:sp>
      <p:sp>
        <p:nvSpPr>
          <p:cNvPr id="85" name="Text 83"/>
          <p:cNvSpPr txBox="1"/>
          <p:nvPr/>
        </p:nvSpPr>
        <p:spPr>
          <a:xfrm>
            <a:off x="7479792" y="402336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states your assumption; the assert proves it held.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548640" y="4526280"/>
            <a:ext cx="11064240" cy="1325880"/>
          </a:xfrm>
          <a:prstGeom prst="roundRect">
            <a:avLst>
              <a:gd name="adj" fmla="val 6207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87" name="Text 85"/>
          <p:cNvSpPr txBox="1"/>
          <p:nvPr/>
        </p:nvSpPr>
        <p:spPr>
          <a:xfrm>
            <a:off x="868680" y="46725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so dangerous</a:t>
            </a:r>
            <a:endParaRPr lang="en-US" sz="1450" dirty="0"/>
          </a:p>
        </p:txBody>
      </p:sp>
      <p:sp>
        <p:nvSpPr>
          <p:cNvPr id="88" name="Text 86"/>
          <p:cNvSpPr txBox="1"/>
          <p:nvPr/>
        </p:nvSpPr>
        <p:spPr>
          <a:xfrm>
            <a:off x="868680" y="498348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error, no warning — you simply have more rows than you started with, and every total computed afterwards is inflated. A duplicate in a lookup table is easy to create and invisible once merged. Check  len(df)  before and after every single merge; it costs one line and catches this immediately.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·  concat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concat — stacking, not matching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760720" cy="260604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04672" y="1719072"/>
            <a:ext cx="5212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ROWS  (axis=0, the default)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" y="2084832"/>
            <a:ext cx="5257800" cy="868680"/>
          </a:xfrm>
          <a:prstGeom prst="roundRect">
            <a:avLst>
              <a:gd name="adj" fmla="val 736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69264" y="2194560"/>
            <a:ext cx="492861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pd.concat([jan, feb, mar], ignore_index=True)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same columns, more rows - e.g. monthly files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06324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Without ignore_index the old labels are kept, so you get index values 0, 0, 0 — and every Day 16 trap returns at once.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" y="3657600"/>
            <a:ext cx="5257800" cy="457200"/>
          </a:xfrm>
          <a:prstGeom prst="roundRect">
            <a:avLst>
              <a:gd name="adj" fmla="val 14000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9264" y="3767328"/>
            <a:ext cx="4928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a missing column becomes NaN, not an error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583680" y="1572768"/>
            <a:ext cx="5029200" cy="2606040"/>
          </a:xfrm>
          <a:prstGeom prst="roundRect">
            <a:avLst>
              <a:gd name="adj" fmla="val 3158"/>
            </a:avLst>
          </a:prstGeom>
          <a:solidFill>
            <a:srgbClr val="FDECE8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39712" y="1719072"/>
            <a:ext cx="4480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3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axis=1 aligns on the INDEX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39712" y="2084832"/>
            <a:ext cx="4526280" cy="868680"/>
          </a:xfrm>
          <a:prstGeom prst="roundRect">
            <a:avLst>
              <a:gd name="adj" fmla="val 736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04304" y="2194560"/>
            <a:ext cx="41970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pd.concat([a, b], axis=1)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glues columns side by side BY POSITION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839712" y="3063240"/>
            <a:ext cx="4526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matches on the index, not on any key, so two tables whose rows are in different orders will be silently mismatched. If the rows mean something — a customer, a date — use merge, not concat. concat is for tables you already know line up.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97680"/>
            <a:ext cx="11064240" cy="1554480"/>
          </a:xfrm>
          <a:prstGeom prst="roundRect">
            <a:avLst>
              <a:gd name="adj" fmla="val 5294"/>
            </a:avLst>
          </a:prstGeom>
          <a:solidFill>
            <a:srgbClr val="E9F6F2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68680" y="44439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one-line way to decide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75488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two tables describe the SAME things, with different information about each?  →  merge, on a key.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they describe DIFFERENT things, with the same information about each?  →  concat, stacking rows.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monthly sales files are a concat. Sales plus a customer lookup is a merge.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 corner — eight merge bugs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114800"/>
                <a:gridCol w="292608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wrote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a.merge(b, on="id")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silently dropped — inner is the default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how="left"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duplicate keys in the lookup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rows out than 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validate="many_to_one"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 row-count check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inflated totals reach the report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assert len(after) == len(before)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 column now shows 88.0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unmatched row forced NaN 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after a left join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score_x and score_y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tables had that column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suffixes=("_a", "_b")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concat without ignore_index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index labels 0, 0,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ignore_index=True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concat(axis=1) on unsorted rows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silently mismatched — aligns on index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merge(on=key)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merged["id"] missing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34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 had different names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left_on=... right_on=...</a:t>
                      </a:r>
                      <a:endParaRPr lang="en-US" sz="13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55955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68680" y="56875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1 to 3 are all the same habit: check how many rows you have, before and after. All eight are in today's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·  MINI BUILD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Putting it together — three tables into one report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6583680" cy="4343400"/>
          </a:xfrm>
          <a:prstGeom prst="roundRect">
            <a:avLst>
              <a:gd name="adj" fmla="val 189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783080"/>
            <a:ext cx="6080760" cy="3931920"/>
          </a:xfrm>
          <a:prstGeom prst="roundRect">
            <a:avLst>
              <a:gd name="adj" fmla="val 1628"/>
            </a:avLst>
          </a:prstGeom>
          <a:solidFill>
            <a:srgbClr val="1B2B45"/>
          </a:solidFill>
          <a:ln w="12700">
            <a:solidFill>
              <a:srgbClr val="1B2B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1892808"/>
            <a:ext cx="575157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= pd.read_csv("students.csv")   # id, name, city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   = pd.read_csv("marks.csv")      # id, python, stats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cities   = pd.read_csv("cities.csv")     # city, state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---- 0. look BEFORE you join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= students.merge(marks, on="id", how="outer", indicator=True)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print(check["_merge"].value_counts())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---- 1. keep every student, even those with no marks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= len(students)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students.merge(marks, on="id", how="left",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validate="one_to_one")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len(df) == before, "the merge changed the row count!"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---- 2. add the state from a lookup table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df.merge(cities, on="city", how="left", validate="many_to_one")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len(df) == before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---- 3. report what is missing, do not hide it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print("students with no marks:", df["python"].isna().sum())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print("cities with no state  :", df["state"].isna().sum())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---- 4. now it is safe to summarise</a:t>
            </a:r>
            <a:endParaRPr lang="en-US" sz="8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00" dirty="0">
                <a:solidFill>
                  <a:srgbClr val="E7EE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print(df.groupby("state")["python"].mean().round(1))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406640" y="1572768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62088" y="1673352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90688" y="160934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+ indicator first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790688" y="182880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damage before choosing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06640" y="2148840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562088" y="2249424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90688" y="218541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how="left"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240487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survives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406640" y="2724912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62088" y="2825496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E867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90688" y="276148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validate=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790688" y="298094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your assumption out loud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06640" y="3300984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62088" y="3401568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FFC1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90688" y="33375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on len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7790688" y="355701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the row explosion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06640" y="3877056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562088" y="3977640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3E7C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90688" y="391363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one_to_one vs many_to_one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7790688" y="4133088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unique; cities repeat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406640" y="4453128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62088" y="4553712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90688" y="448970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the NaNs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790688" y="4709160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14's rule, still applying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406640" y="5029200"/>
            <a:ext cx="4206240" cy="4937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62088" y="5129784"/>
            <a:ext cx="118872" cy="292608"/>
          </a:xfrm>
          <a:prstGeom prst="roundRect">
            <a:avLst>
              <a:gd name="adj" fmla="val 38462"/>
            </a:avLst>
          </a:prstGeom>
          <a:solidFill>
            <a:srgbClr val="2FA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90688" y="506577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groupby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790688" y="5285232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tool, on joined data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99846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asserts and one indicator. That is the difference between a report you can defend and one you merely hope is right.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AA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TO YOU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session — 30 minutes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938528"/>
            <a:ext cx="420624" cy="42062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938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013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output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148840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counts, NaNs, dtypes, suffixes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9476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questions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15768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962656"/>
            <a:ext cx="420624" cy="420624"/>
          </a:xfrm>
          <a:prstGeom prst="ellipse">
            <a:avLst/>
          </a:prstGeom>
          <a:solidFill>
            <a:srgbClr val="E8674C"/>
          </a:solidFill>
          <a:ln w="12700">
            <a:solidFill>
              <a:srgbClr val="E867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9626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8254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&amp; fix the bug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17296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drops, explosion, concat misuse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questions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39896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986784"/>
            <a:ext cx="420624" cy="420624"/>
          </a:xfrm>
          <a:prstGeom prst="ellipse">
            <a:avLst/>
          </a:prstGeom>
          <a:solidFill>
            <a:srgbClr val="2FA98C"/>
          </a:solidFill>
          <a:ln w="12700">
            <a:solidFill>
              <a:srgbClr val="2FA9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986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84962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code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197096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Join, choose how, audit, stack, lookup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9959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tasks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764024"/>
            <a:ext cx="7589520" cy="896112"/>
          </a:xfrm>
          <a:prstGeom prst="roundRect">
            <a:avLst>
              <a:gd name="adj" fmla="val 918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5010912"/>
            <a:ext cx="420624" cy="42062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010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48737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221224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tables, and finding the duplicate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50200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tasks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412480" y="1691640"/>
            <a:ext cx="3200400" cy="2971800"/>
          </a:xfrm>
          <a:prstGeom prst="roundRect">
            <a:avLst>
              <a:gd name="adj" fmla="val 2769"/>
            </a:avLst>
          </a:prstGeom>
          <a:solidFill>
            <a:srgbClr val="EDF2F9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686800" y="1847088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2212848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Day18_Practice_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3E7C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Questions.ipynb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796528" y="2926080"/>
            <a:ext cx="2651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len() before and after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what happens to non-matches?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hand — I am walking around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B34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shared after class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6E0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127000" dist="25400" dir="5400000">
              <a:srgbClr val="9AA7BC">
                <a:alpha val="2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868680" y="51206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8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merge in this notebook must be followed by a row-count check. If the number changed, say why.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0" y="64373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by Srinivasa Sai Chava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9966960" y="4480560"/>
            <a:ext cx="3840480" cy="3840480"/>
          </a:xfrm>
          <a:prstGeom prst="ellipse">
            <a:avLst/>
          </a:prstGeom>
          <a:solidFill>
            <a:srgbClr val="1A2A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IN TWELVE LINES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498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combines two tables on a shared key.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121408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103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question is what happens to rows that DON'T match.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688336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2670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keeps matches only — and it is the DEFAULT.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255264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32369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keeps every left row, filling the rest with NaN.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3822192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keeps everything; right is rare — swap the tables.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389120"/>
            <a:ext cx="329184" cy="329184"/>
          </a:xfrm>
          <a:prstGeom prst="ellipse">
            <a:avLst/>
          </a:prstGeom>
          <a:solidFill>
            <a:srgbClr val="FFC145"/>
          </a:solidFill>
          <a:ln w="12700">
            <a:solidFill>
              <a:srgbClr val="FFC1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4370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unmatched row turns an int column into float.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1554480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63640" y="1554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739128" y="153619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indicator=True adds both / left_only / right_only.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2121408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6364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739128" y="21031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outer + indicator FIRST, then pick your real join.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2688336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3640" y="2688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39128" y="2670048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Duplicate keys multiply rows. 3 and 3 can give 5.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63640" y="3255264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63640" y="3255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739128" y="3236976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validate="many_to_one" states your assumption.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63640" y="3822192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63640" y="3822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739128" y="380390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len(after) == len(before) after every merge.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63640" y="4389120"/>
            <a:ext cx="329184" cy="329184"/>
          </a:xfrm>
          <a:prstGeom prst="ellipse">
            <a:avLst/>
          </a:prstGeom>
          <a:solidFill>
            <a:srgbClr val="3E7CB1"/>
          </a:solidFill>
          <a:ln w="12700">
            <a:solidFill>
              <a:srgbClr val="3E7CB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26364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739128" y="4370832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CE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 stacks; use ignore_index=True. axis=1 aligns on index.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" y="5230368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E3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68680" y="5358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868680" y="563270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two CSVs and run all four joins, recording the row count of each  ·  Deliberately duplicate a key and watch the row count explode  ·  Rebuild Day 9's city lookup as a merge instead of a dict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63640" y="5230368"/>
            <a:ext cx="5349240" cy="1097280"/>
          </a:xfrm>
          <a:prstGeom prst="roundRect">
            <a:avLst>
              <a:gd name="adj" fmla="val 7500"/>
            </a:avLst>
          </a:prstGeom>
          <a:solidFill>
            <a:srgbClr val="1E31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92240" y="5358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  —  Topic 1.18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492240" y="563270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cleaning: missing values &amp; duplicates — finding them, deciding what to do, and the cost of each choice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18 - Merge, Join &amp; Concat</dc:title>
  <dc:subject>PptxGenJS Presentation</dc:subject>
  <dc:creator>Data Science Program</dc:creator>
  <cp:lastModifiedBy>Data Science Program</cp:lastModifiedBy>
  <cp:revision>1</cp:revision>
  <dcterms:created xsi:type="dcterms:W3CDTF">2026-09-26T00:00:35Z</dcterms:created>
  <dcterms:modified xsi:type="dcterms:W3CDTF">2026-09-26T00:00:35Z</dcterms:modified>
</cp:coreProperties>
</file>